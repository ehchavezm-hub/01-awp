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 id="273" r:id="rId117"/>
    <p:sldId id="274" r:id="rId118"/>
    <p:sldId id="275" r:id="rId119"/>
    <p:sldId id="276" r:id="rId120"/>
    <p:sldId id="277" r:id="rId121"/>
    <p:sldId id="278" r:id="rId122"/>
    <p:sldId id="279" r:id="rId123"/>
    <p:sldId id="280" r:id="rId124"/>
    <p:sldId id="281" r:id="rId125"/>
    <p:sldId id="282" r:id="rId126"/>
    <p:sldId id="283" r:id="rId127"/>
    <p:sldId id="284" r:id="rId128"/>
    <p:sldId id="285" r:id="rId129"/>
    <p:sldId id="286" r:id="rId130"/>
    <p:sldId id="287" r:id="rId131"/>
    <p:sldId id="288" r:id="rId132"/>
    <p:sldId id="289" r:id="rId133"/>
    <p:sldId id="290" r:id="rId134"/>
    <p:sldId id="291" r:id="rId135"/>
    <p:sldId id="292" r:id="rId136"/>
    <p:sldId id="293" r:id="rId137"/>
    <p:sldId id="294" r:id="rId138"/>
    <p:sldId id="295" r:id="rId139"/>
    <p:sldId id="296" r:id="rId140"/>
    <p:sldId id="297" r:id="rId141"/>
    <p:sldId id="298" r:id="rId142"/>
    <p:sldId id="299" r:id="rId143"/>
    <p:sldId id="300" r:id="rId144"/>
    <p:sldId id="301" r:id="rId145"/>
    <p:sldId id="302" r:id="rId146"/>
    <p:sldId id="303" r:id="rId147"/>
    <p:sldId id="304" r:id="rId148"/>
    <p:sldId id="305" r:id="rId149"/>
    <p:sldId id="306" r:id="rId150"/>
    <p:sldId id="307" r:id="rId151"/>
    <p:sldId id="308" r:id="rId152"/>
    <p:sldId id="309" r:id="rId153"/>
    <p:sldId id="310" r:id="rId154"/>
    <p:sldId id="311" r:id="rId155"/>
    <p:sldId id="312" r:id="rId156"/>
    <p:sldId id="313" r:id="rId157"/>
    <p:sldId id="314" r:id="rId158"/>
    <p:sldId id="315" r:id="rId159"/>
    <p:sldId id="316" r:id="rId160"/>
    <p:sldId id="317" r:id="rId161"/>
    <p:sldId id="318" r:id="rId162"/>
    <p:sldId id="319" r:id="rId163"/>
    <p:sldId id="320" r:id="rId164"/>
    <p:sldId id="321" r:id="rId165"/>
    <p:sldId id="322" r:id="rId166"/>
    <p:sldId id="323" r:id="rId167"/>
    <p:sldId id="324" r:id="rId168"/>
    <p:sldId id="325" r:id="rId169"/>
    <p:sldId id="326" r:id="rId170"/>
    <p:sldId id="327" r:id="rId171"/>
    <p:sldId id="328" r:id="rId172"/>
    <p:sldId id="329" r:id="rId173"/>
    <p:sldId id="330" r:id="rId174"/>
    <p:sldId id="331" r:id="rId175"/>
    <p:sldId id="332" r:id="rId176"/>
    <p:sldId id="333" r:id="rId177"/>
    <p:sldId id="334" r:id="rId178"/>
    <p:sldId id="335" r:id="rId179"/>
    <p:sldId id="336" r:id="rId180"/>
    <p:sldId id="337" r:id="rId181"/>
    <p:sldId id="338" r:id="rId182"/>
    <p:sldId id="339" r:id="rId183"/>
    <p:sldId id="340" r:id="rId184"/>
    <p:sldId id="341" r:id="rId185"/>
    <p:sldId id="342" r:id="rId186"/>
    <p:sldId id="343" r:id="rId187"/>
    <p:sldId id="344" r:id="rId188"/>
    <p:sldId id="345" r:id="rId189"/>
    <p:sldId id="346" r:id="rId190"/>
    <p:sldId id="347" r:id="rId191"/>
    <p:sldId id="348" r:id="rId192"/>
    <p:sldId id="349" r:id="rId193"/>
    <p:sldId id="350" r:id="rId194"/>
    <p:sldId id="351" r:id="rId195"/>
    <p:sldId id="352" r:id="rId196"/>
    <p:sldId id="353" r:id="rId197"/>
    <p:sldId id="354" r:id="rId198"/>
    <p:sldId id="355" r:id="rId199"/>
    <p:sldId id="356" r:id="rId200"/>
    <p:sldId id="357" r:id="rId201"/>
    <p:sldId id="358" r:id="rId202"/>
    <p:sldId id="359" r:id="rId203"/>
    <p:sldId id="360" r:id="rId204"/>
    <p:sldId id="361" r:id="rId205"/>
    <p:sldId id="362" r:id="rId206"/>
    <p:sldId id="363" r:id="rId207"/>
    <p:sldId id="364" r:id="rId208"/>
    <p:sldId id="365" r:id="rId209"/>
    <p:sldId id="366" r:id="rId210"/>
    <p:sldId id="367" r:id="rId211"/>
    <p:sldId id="368" r:id="rId212"/>
    <p:sldId id="369" r:id="rId213"/>
    <p:sldId id="370" r:id="rId214"/>
    <p:sldId id="371" r:id="rId215"/>
    <p:sldId id="372" r:id="rId216"/>
    <p:sldId id="373" r:id="rId217"/>
    <p:sldId id="374" r:id="rId218"/>
    <p:sldId id="375" r:id="rId219"/>
    <p:sldId id="376" r:id="rId220"/>
    <p:sldId id="377" r:id="rId221"/>
    <p:sldId id="378" r:id="rId222"/>
    <p:sldId id="379" r:id="rId223"/>
    <p:sldId id="380" r:id="rId224"/>
    <p:sldId id="381" r:id="rId225"/>
    <p:sldId id="382" r:id="rId226"/>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 Id="rId117" Type="http://schemas.openxmlformats.org/officeDocument/2006/relationships/slide" Target="slides/slide17.xml"/><Relationship Id="rId118" Type="http://schemas.openxmlformats.org/officeDocument/2006/relationships/slide" Target="slides/slide18.xml"/><Relationship Id="rId119" Type="http://schemas.openxmlformats.org/officeDocument/2006/relationships/slide" Target="slides/slide19.xml"/><Relationship Id="rId120" Type="http://schemas.openxmlformats.org/officeDocument/2006/relationships/slide" Target="slides/slide20.xml"/><Relationship Id="rId121" Type="http://schemas.openxmlformats.org/officeDocument/2006/relationships/slide" Target="slides/slide21.xml"/><Relationship Id="rId122" Type="http://schemas.openxmlformats.org/officeDocument/2006/relationships/slide" Target="slides/slide22.xml"/><Relationship Id="rId123" Type="http://schemas.openxmlformats.org/officeDocument/2006/relationships/slide" Target="slides/slide23.xml"/><Relationship Id="rId124" Type="http://schemas.openxmlformats.org/officeDocument/2006/relationships/slide" Target="slides/slide24.xml"/><Relationship Id="rId125" Type="http://schemas.openxmlformats.org/officeDocument/2006/relationships/slide" Target="slides/slide25.xml"/><Relationship Id="rId126" Type="http://schemas.openxmlformats.org/officeDocument/2006/relationships/slide" Target="slides/slide26.xml"/><Relationship Id="rId127" Type="http://schemas.openxmlformats.org/officeDocument/2006/relationships/slide" Target="slides/slide27.xml"/><Relationship Id="rId128" Type="http://schemas.openxmlformats.org/officeDocument/2006/relationships/slide" Target="slides/slide28.xml"/><Relationship Id="rId129" Type="http://schemas.openxmlformats.org/officeDocument/2006/relationships/slide" Target="slides/slide29.xml"/><Relationship Id="rId130" Type="http://schemas.openxmlformats.org/officeDocument/2006/relationships/slide" Target="slides/slide30.xml"/><Relationship Id="rId131" Type="http://schemas.openxmlformats.org/officeDocument/2006/relationships/slide" Target="slides/slide31.xml"/><Relationship Id="rId132" Type="http://schemas.openxmlformats.org/officeDocument/2006/relationships/slide" Target="slides/slide32.xml"/><Relationship Id="rId133" Type="http://schemas.openxmlformats.org/officeDocument/2006/relationships/slide" Target="slides/slide33.xml"/><Relationship Id="rId134" Type="http://schemas.openxmlformats.org/officeDocument/2006/relationships/slide" Target="slides/slide34.xml"/><Relationship Id="rId135" Type="http://schemas.openxmlformats.org/officeDocument/2006/relationships/slide" Target="slides/slide35.xml"/><Relationship Id="rId136" Type="http://schemas.openxmlformats.org/officeDocument/2006/relationships/slide" Target="slides/slide36.xml"/><Relationship Id="rId137" Type="http://schemas.openxmlformats.org/officeDocument/2006/relationships/slide" Target="slides/slide37.xml"/><Relationship Id="rId138" Type="http://schemas.openxmlformats.org/officeDocument/2006/relationships/slide" Target="slides/slide38.xml"/><Relationship Id="rId139" Type="http://schemas.openxmlformats.org/officeDocument/2006/relationships/slide" Target="slides/slide39.xml"/><Relationship Id="rId140" Type="http://schemas.openxmlformats.org/officeDocument/2006/relationships/slide" Target="slides/slide40.xml"/><Relationship Id="rId141" Type="http://schemas.openxmlformats.org/officeDocument/2006/relationships/slide" Target="slides/slide41.xml"/><Relationship Id="rId142" Type="http://schemas.openxmlformats.org/officeDocument/2006/relationships/slide" Target="slides/slide42.xml"/><Relationship Id="rId143" Type="http://schemas.openxmlformats.org/officeDocument/2006/relationships/slide" Target="slides/slide43.xml"/><Relationship Id="rId144" Type="http://schemas.openxmlformats.org/officeDocument/2006/relationships/slide" Target="slides/slide44.xml"/><Relationship Id="rId145" Type="http://schemas.openxmlformats.org/officeDocument/2006/relationships/slide" Target="slides/slide45.xml"/><Relationship Id="rId146" Type="http://schemas.openxmlformats.org/officeDocument/2006/relationships/slide" Target="slides/slide46.xml"/><Relationship Id="rId147" Type="http://schemas.openxmlformats.org/officeDocument/2006/relationships/slide" Target="slides/slide47.xml"/><Relationship Id="rId148" Type="http://schemas.openxmlformats.org/officeDocument/2006/relationships/slide" Target="slides/slide48.xml"/><Relationship Id="rId149" Type="http://schemas.openxmlformats.org/officeDocument/2006/relationships/slide" Target="slides/slide49.xml"/><Relationship Id="rId150" Type="http://schemas.openxmlformats.org/officeDocument/2006/relationships/slide" Target="slides/slide50.xml"/><Relationship Id="rId151" Type="http://schemas.openxmlformats.org/officeDocument/2006/relationships/slide" Target="slides/slide51.xml"/><Relationship Id="rId152" Type="http://schemas.openxmlformats.org/officeDocument/2006/relationships/slide" Target="slides/slide52.xml"/><Relationship Id="rId153" Type="http://schemas.openxmlformats.org/officeDocument/2006/relationships/slide" Target="slides/slide53.xml"/><Relationship Id="rId154" Type="http://schemas.openxmlformats.org/officeDocument/2006/relationships/slide" Target="slides/slide54.xml"/><Relationship Id="rId155" Type="http://schemas.openxmlformats.org/officeDocument/2006/relationships/slide" Target="slides/slide55.xml"/><Relationship Id="rId156" Type="http://schemas.openxmlformats.org/officeDocument/2006/relationships/slide" Target="slides/slide56.xml"/><Relationship Id="rId157" Type="http://schemas.openxmlformats.org/officeDocument/2006/relationships/slide" Target="slides/slide57.xml"/><Relationship Id="rId158" Type="http://schemas.openxmlformats.org/officeDocument/2006/relationships/slide" Target="slides/slide58.xml"/><Relationship Id="rId159" Type="http://schemas.openxmlformats.org/officeDocument/2006/relationships/slide" Target="slides/slide59.xml"/><Relationship Id="rId160" Type="http://schemas.openxmlformats.org/officeDocument/2006/relationships/slide" Target="slides/slide60.xml"/><Relationship Id="rId161" Type="http://schemas.openxmlformats.org/officeDocument/2006/relationships/slide" Target="slides/slide61.xml"/><Relationship Id="rId162" Type="http://schemas.openxmlformats.org/officeDocument/2006/relationships/slide" Target="slides/slide62.xml"/><Relationship Id="rId163" Type="http://schemas.openxmlformats.org/officeDocument/2006/relationships/slide" Target="slides/slide63.xml"/><Relationship Id="rId164" Type="http://schemas.openxmlformats.org/officeDocument/2006/relationships/slide" Target="slides/slide64.xml"/><Relationship Id="rId165" Type="http://schemas.openxmlformats.org/officeDocument/2006/relationships/slide" Target="slides/slide65.xml"/><Relationship Id="rId166" Type="http://schemas.openxmlformats.org/officeDocument/2006/relationships/slide" Target="slides/slide66.xml"/><Relationship Id="rId167" Type="http://schemas.openxmlformats.org/officeDocument/2006/relationships/slide" Target="slides/slide67.xml"/><Relationship Id="rId168" Type="http://schemas.openxmlformats.org/officeDocument/2006/relationships/slide" Target="slides/slide68.xml"/><Relationship Id="rId169" Type="http://schemas.openxmlformats.org/officeDocument/2006/relationships/slide" Target="slides/slide69.xml"/><Relationship Id="rId170" Type="http://schemas.openxmlformats.org/officeDocument/2006/relationships/slide" Target="slides/slide70.xml"/><Relationship Id="rId171" Type="http://schemas.openxmlformats.org/officeDocument/2006/relationships/slide" Target="slides/slide71.xml"/><Relationship Id="rId172" Type="http://schemas.openxmlformats.org/officeDocument/2006/relationships/slide" Target="slides/slide72.xml"/><Relationship Id="rId173" Type="http://schemas.openxmlformats.org/officeDocument/2006/relationships/slide" Target="slides/slide73.xml"/><Relationship Id="rId174" Type="http://schemas.openxmlformats.org/officeDocument/2006/relationships/slide" Target="slides/slide74.xml"/><Relationship Id="rId175" Type="http://schemas.openxmlformats.org/officeDocument/2006/relationships/slide" Target="slides/slide75.xml"/><Relationship Id="rId176" Type="http://schemas.openxmlformats.org/officeDocument/2006/relationships/slide" Target="slides/slide76.xml"/><Relationship Id="rId177" Type="http://schemas.openxmlformats.org/officeDocument/2006/relationships/slide" Target="slides/slide77.xml"/><Relationship Id="rId178" Type="http://schemas.openxmlformats.org/officeDocument/2006/relationships/slide" Target="slides/slide78.xml"/><Relationship Id="rId179" Type="http://schemas.openxmlformats.org/officeDocument/2006/relationships/slide" Target="slides/slide79.xml"/><Relationship Id="rId180" Type="http://schemas.openxmlformats.org/officeDocument/2006/relationships/slide" Target="slides/slide80.xml"/><Relationship Id="rId181" Type="http://schemas.openxmlformats.org/officeDocument/2006/relationships/slide" Target="slides/slide81.xml"/><Relationship Id="rId182" Type="http://schemas.openxmlformats.org/officeDocument/2006/relationships/slide" Target="slides/slide82.xml"/><Relationship Id="rId183" Type="http://schemas.openxmlformats.org/officeDocument/2006/relationships/slide" Target="slides/slide83.xml"/><Relationship Id="rId184" Type="http://schemas.openxmlformats.org/officeDocument/2006/relationships/slide" Target="slides/slide84.xml"/><Relationship Id="rId185" Type="http://schemas.openxmlformats.org/officeDocument/2006/relationships/slide" Target="slides/slide85.xml"/><Relationship Id="rId186" Type="http://schemas.openxmlformats.org/officeDocument/2006/relationships/slide" Target="slides/slide86.xml"/><Relationship Id="rId187" Type="http://schemas.openxmlformats.org/officeDocument/2006/relationships/slide" Target="slides/slide87.xml"/><Relationship Id="rId188" Type="http://schemas.openxmlformats.org/officeDocument/2006/relationships/slide" Target="slides/slide88.xml"/><Relationship Id="rId189" Type="http://schemas.openxmlformats.org/officeDocument/2006/relationships/slide" Target="slides/slide89.xml"/><Relationship Id="rId190" Type="http://schemas.openxmlformats.org/officeDocument/2006/relationships/slide" Target="slides/slide90.xml"/><Relationship Id="rId191" Type="http://schemas.openxmlformats.org/officeDocument/2006/relationships/slide" Target="slides/slide91.xml"/><Relationship Id="rId192" Type="http://schemas.openxmlformats.org/officeDocument/2006/relationships/slide" Target="slides/slide92.xml"/><Relationship Id="rId193" Type="http://schemas.openxmlformats.org/officeDocument/2006/relationships/slide" Target="slides/slide93.xml"/><Relationship Id="rId194" Type="http://schemas.openxmlformats.org/officeDocument/2006/relationships/slide" Target="slides/slide94.xml"/><Relationship Id="rId195" Type="http://schemas.openxmlformats.org/officeDocument/2006/relationships/slide" Target="slides/slide95.xml"/><Relationship Id="rId196" Type="http://schemas.openxmlformats.org/officeDocument/2006/relationships/slide" Target="slides/slide96.xml"/><Relationship Id="rId197" Type="http://schemas.openxmlformats.org/officeDocument/2006/relationships/slide" Target="slides/slide97.xml"/><Relationship Id="rId198" Type="http://schemas.openxmlformats.org/officeDocument/2006/relationships/slide" Target="slides/slide98.xml"/><Relationship Id="rId199" Type="http://schemas.openxmlformats.org/officeDocument/2006/relationships/slide" Target="slides/slide99.xml"/><Relationship Id="rId200" Type="http://schemas.openxmlformats.org/officeDocument/2006/relationships/slide" Target="slides/slide100.xml"/><Relationship Id="rId201" Type="http://schemas.openxmlformats.org/officeDocument/2006/relationships/slide" Target="slides/slide101.xml"/><Relationship Id="rId202" Type="http://schemas.openxmlformats.org/officeDocument/2006/relationships/slide" Target="slides/slide102.xml"/><Relationship Id="rId203" Type="http://schemas.openxmlformats.org/officeDocument/2006/relationships/slide" Target="slides/slide103.xml"/><Relationship Id="rId204" Type="http://schemas.openxmlformats.org/officeDocument/2006/relationships/slide" Target="slides/slide104.xml"/><Relationship Id="rId205" Type="http://schemas.openxmlformats.org/officeDocument/2006/relationships/slide" Target="slides/slide105.xml"/><Relationship Id="rId206" Type="http://schemas.openxmlformats.org/officeDocument/2006/relationships/slide" Target="slides/slide106.xml"/><Relationship Id="rId207" Type="http://schemas.openxmlformats.org/officeDocument/2006/relationships/slide" Target="slides/slide107.xml"/><Relationship Id="rId208" Type="http://schemas.openxmlformats.org/officeDocument/2006/relationships/slide" Target="slides/slide108.xml"/><Relationship Id="rId209" Type="http://schemas.openxmlformats.org/officeDocument/2006/relationships/slide" Target="slides/slide109.xml"/><Relationship Id="rId210" Type="http://schemas.openxmlformats.org/officeDocument/2006/relationships/slide" Target="slides/slide110.xml"/><Relationship Id="rId211" Type="http://schemas.openxmlformats.org/officeDocument/2006/relationships/slide" Target="slides/slide111.xml"/><Relationship Id="rId212" Type="http://schemas.openxmlformats.org/officeDocument/2006/relationships/slide" Target="slides/slide112.xml"/><Relationship Id="rId213" Type="http://schemas.openxmlformats.org/officeDocument/2006/relationships/slide" Target="slides/slide113.xml"/><Relationship Id="rId214" Type="http://schemas.openxmlformats.org/officeDocument/2006/relationships/slide" Target="slides/slide114.xml"/><Relationship Id="rId215" Type="http://schemas.openxmlformats.org/officeDocument/2006/relationships/slide" Target="slides/slide115.xml"/><Relationship Id="rId216" Type="http://schemas.openxmlformats.org/officeDocument/2006/relationships/slide" Target="slides/slide116.xml"/><Relationship Id="rId217" Type="http://schemas.openxmlformats.org/officeDocument/2006/relationships/slide" Target="slides/slide117.xml"/><Relationship Id="rId218" Type="http://schemas.openxmlformats.org/officeDocument/2006/relationships/slide" Target="slides/slide118.xml"/><Relationship Id="rId219" Type="http://schemas.openxmlformats.org/officeDocument/2006/relationships/slide" Target="slides/slide119.xml"/><Relationship Id="rId220" Type="http://schemas.openxmlformats.org/officeDocument/2006/relationships/slide" Target="slides/slide120.xml"/><Relationship Id="rId221" Type="http://schemas.openxmlformats.org/officeDocument/2006/relationships/slide" Target="slides/slide121.xml"/><Relationship Id="rId222" Type="http://schemas.openxmlformats.org/officeDocument/2006/relationships/slide" Target="slides/slide122.xml"/><Relationship Id="rId223" Type="http://schemas.openxmlformats.org/officeDocument/2006/relationships/slide" Target="slides/slide123.xml"/><Relationship Id="rId224" Type="http://schemas.openxmlformats.org/officeDocument/2006/relationships/slide" Target="slides/slide124.xml"/><Relationship Id="rId225" Type="http://schemas.openxmlformats.org/officeDocument/2006/relationships/slide" Target="slides/slide125.xml"/><Relationship Id="rId226" Type="http://schemas.openxmlformats.org/officeDocument/2006/relationships/slide" Target="slides/slide126.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Oportunidad de Ahorro (%)</c:v>
                </c:pt>
              </c:strCache>
            </c:strRef>
          </c:tx>
          <c:spPr>
            <a:solidFill>
              <a:srgbClr val="0A74E3"/>
            </a:solidFill>
            <a:ln w="25400" cap="flat">
              <a:solidFill>
                <a:srgbClr val="0A74E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0A74E3"/>
              </a:solidFill>
              <a:ln w="9525" cap="flat">
                <a:solidFill>
                  <a:srgbClr val="0A74E3"/>
                </a:solidFill>
                <a:prstDash val="solid"/>
                <a:round/>
              </a:ln>
              <a:effectLst/>
            </c:spPr>
          </c:marker>
          <c:cat>
            <c:multiLvlStrRef>
              <c:f>Sheet1!$A$2:$A$7</c:f>
              <c:multiLvlStrCache>
                <c:ptCount val="6"/>
                <c:lvl>
                  <c:pt idx="0">
                    <c:v>Factibilidad</c:v>
                  </c:pt>
                  <c:pt idx="1">
                    <c:v>Diseño Básico</c:v>
                  </c:pt>
                  <c:pt idx="2">
                    <c:v>Diseño Detalle</c:v>
                  </c:pt>
                  <c:pt idx="3">
                    <c:v>Procura</c:v>
                  </c:pt>
                  <c:pt idx="4">
                    <c:v>Construcción</c:v>
                  </c:pt>
                  <c:pt idx="5">
                    <c:v>Arranque</c:v>
                  </c:pt>
                </c:lvl>
              </c:multiLvlStrCache>
            </c:multiLvlStrRef>
          </c:cat>
          <c:val>
            <c:numRef>
              <c:f>Sheet1!$B$2:$B$7</c:f>
              <c:numCache>
                <c:formatCode>General</c:formatCode>
                <c:ptCount val="6"/>
                <c:pt idx="0">
                  <c:v>95</c:v>
                </c:pt>
                <c:pt idx="1">
                  <c:v>80</c:v>
                </c:pt>
                <c:pt idx="2">
                  <c:v>55</c:v>
                </c:pt>
                <c:pt idx="3">
                  <c:v>30</c:v>
                </c:pt>
                <c:pt idx="4">
                  <c:v>10</c:v>
                </c:pt>
                <c:pt idx="5">
                  <c:v>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1D1D1F"/>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5E5EA"/>
              </a:solidFill>
              <a:prstDash val="dash"/>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1D1D1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image" Target="../media/image-12-9.png"/><Relationship Id="rId10" Type="http://schemas.openxmlformats.org/officeDocument/2006/relationships/image" Target="../media/image-12-10.svg"/><Relationship Id="rId11" Type="http://schemas.openxmlformats.org/officeDocument/2006/relationships/image" Target="../media/image-12-11.png"/><Relationship Id="rId12" Type="http://schemas.openxmlformats.org/officeDocument/2006/relationships/image" Target="../media/image-12-12.svg"/><Relationship Id="rId13" Type="http://schemas.openxmlformats.org/officeDocument/2006/relationships/slideLayout" Target="../slideLayouts/slideLayout1.xml"/><Relationship Id="rId1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image" Target="../media/image-14-6.sv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image" Target="../media/image-20-3.png"/><Relationship Id="rId4" Type="http://schemas.openxmlformats.org/officeDocument/2006/relationships/image" Target="../media/image-20-4.svg"/><Relationship Id="rId5" Type="http://schemas.openxmlformats.org/officeDocument/2006/relationships/image" Target="../media/image-20-5.png"/><Relationship Id="rId6" Type="http://schemas.openxmlformats.org/officeDocument/2006/relationships/image" Target="../media/image-20-6.svg"/><Relationship Id="rId7" Type="http://schemas.openxmlformats.org/officeDocument/2006/relationships/image" Target="../media/image-20-7.png"/><Relationship Id="rId8" Type="http://schemas.openxmlformats.org/officeDocument/2006/relationships/image" Target="../media/image-20-8.svg"/><Relationship Id="rId9" Type="http://schemas.openxmlformats.org/officeDocument/2006/relationships/image" Target="../media/image-20-9.png"/><Relationship Id="rId10" Type="http://schemas.openxmlformats.org/officeDocument/2006/relationships/image" Target="../media/image-20-10.svg"/><Relationship Id="rId11" Type="http://schemas.openxmlformats.org/officeDocument/2006/relationships/image" Target="../media/image-20-11.png"/><Relationship Id="rId12" Type="http://schemas.openxmlformats.org/officeDocument/2006/relationships/image" Target="../media/image-20-12.svg"/><Relationship Id="rId13" Type="http://schemas.openxmlformats.org/officeDocument/2006/relationships/slideLayout" Target="../slideLayouts/slideLayout1.xml"/><Relationship Id="rId1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svg"/><Relationship Id="rId3" Type="http://schemas.openxmlformats.org/officeDocument/2006/relationships/image" Target="../media/image-22-3.png"/><Relationship Id="rId4" Type="http://schemas.openxmlformats.org/officeDocument/2006/relationships/image" Target="../media/image-22-4.svg"/><Relationship Id="rId5" Type="http://schemas.openxmlformats.org/officeDocument/2006/relationships/image" Target="../media/image-22-5.png"/><Relationship Id="rId6" Type="http://schemas.openxmlformats.org/officeDocument/2006/relationships/image" Target="../media/image-22-6.svg"/><Relationship Id="rId7" Type="http://schemas.openxmlformats.org/officeDocument/2006/relationships/image" Target="../media/image-22-7.png"/><Relationship Id="rId8" Type="http://schemas.openxmlformats.org/officeDocument/2006/relationships/image" Target="../media/image-22-8.svg"/><Relationship Id="rId9" Type="http://schemas.openxmlformats.org/officeDocument/2006/relationships/image" Target="../media/image-22-9.png"/><Relationship Id="rId10" Type="http://schemas.openxmlformats.org/officeDocument/2006/relationships/image" Target="../media/image-22-10.svg"/><Relationship Id="rId11" Type="http://schemas.openxmlformats.org/officeDocument/2006/relationships/image" Target="../media/image-22-11.png"/><Relationship Id="rId12" Type="http://schemas.openxmlformats.org/officeDocument/2006/relationships/image" Target="../media/image-22-12.svg"/><Relationship Id="rId13" Type="http://schemas.openxmlformats.org/officeDocument/2006/relationships/slideLayout" Target="../slideLayouts/slideLayout1.xml"/><Relationship Id="rId1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svg"/><Relationship Id="rId3" Type="http://schemas.openxmlformats.org/officeDocument/2006/relationships/image" Target="../media/image-25-3.png"/><Relationship Id="rId4" Type="http://schemas.openxmlformats.org/officeDocument/2006/relationships/image" Target="../media/image-25-4.svg"/><Relationship Id="rId5" Type="http://schemas.openxmlformats.org/officeDocument/2006/relationships/image" Target="../media/image-25-5.png"/><Relationship Id="rId6" Type="http://schemas.openxmlformats.org/officeDocument/2006/relationships/image" Target="../media/image-25-6.svg"/><Relationship Id="rId7" Type="http://schemas.openxmlformats.org/officeDocument/2006/relationships/image" Target="../media/image-25-7.png"/><Relationship Id="rId8" Type="http://schemas.openxmlformats.org/officeDocument/2006/relationships/image" Target="../media/image-25-8.svg"/><Relationship Id="rId9" Type="http://schemas.openxmlformats.org/officeDocument/2006/relationships/image" Target="../media/image-25-9.png"/><Relationship Id="rId10" Type="http://schemas.openxmlformats.org/officeDocument/2006/relationships/image" Target="../media/image-25-10.svg"/><Relationship Id="rId11" Type="http://schemas.openxmlformats.org/officeDocument/2006/relationships/image" Target="../media/image-25-11.png"/><Relationship Id="rId12" Type="http://schemas.openxmlformats.org/officeDocument/2006/relationships/image" Target="../media/image-25-12.svg"/><Relationship Id="rId13" Type="http://schemas.openxmlformats.org/officeDocument/2006/relationships/slideLayout" Target="../slideLayouts/slideLayout1.xml"/><Relationship Id="rId1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3.png"/><Relationship Id="rId4" Type="http://schemas.openxmlformats.org/officeDocument/2006/relationships/image" Target="../media/image-26-4.svg"/><Relationship Id="rId5" Type="http://schemas.openxmlformats.org/officeDocument/2006/relationships/image" Target="../media/image-26-5.png"/><Relationship Id="rId6" Type="http://schemas.openxmlformats.org/officeDocument/2006/relationships/image" Target="../media/image-26-6.sv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image" Target="../media/image-31-3.png"/><Relationship Id="rId4" Type="http://schemas.openxmlformats.org/officeDocument/2006/relationships/image" Target="../media/image-31-4.svg"/><Relationship Id="rId5" Type="http://schemas.openxmlformats.org/officeDocument/2006/relationships/image" Target="../media/image-31-5.png"/><Relationship Id="rId6" Type="http://schemas.openxmlformats.org/officeDocument/2006/relationships/image" Target="../media/image-31-6.svg"/><Relationship Id="rId7" Type="http://schemas.openxmlformats.org/officeDocument/2006/relationships/image" Target="../media/image-31-7.png"/><Relationship Id="rId8" Type="http://schemas.openxmlformats.org/officeDocument/2006/relationships/image" Target="../media/image-31-8.svg"/><Relationship Id="rId9" Type="http://schemas.openxmlformats.org/officeDocument/2006/relationships/image" Target="../media/image-31-9.png"/><Relationship Id="rId10" Type="http://schemas.openxmlformats.org/officeDocument/2006/relationships/image" Target="../media/image-31-10.svg"/><Relationship Id="rId11" Type="http://schemas.openxmlformats.org/officeDocument/2006/relationships/image" Target="../media/image-31-11.png"/><Relationship Id="rId12" Type="http://schemas.openxmlformats.org/officeDocument/2006/relationships/image" Target="../media/image-31-12.svg"/><Relationship Id="rId13" Type="http://schemas.openxmlformats.org/officeDocument/2006/relationships/slideLayout" Target="../slideLayouts/slideLayout1.xml"/><Relationship Id="rId1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1-5.png"/><Relationship Id="rId6" Type="http://schemas.openxmlformats.org/officeDocument/2006/relationships/image" Target="../media/image-1-6.svg"/><Relationship Id="rId7" Type="http://schemas.openxmlformats.org/officeDocument/2006/relationships/image" Target="../media/image-1-7.png"/><Relationship Id="rId8" Type="http://schemas.openxmlformats.org/officeDocument/2006/relationships/image" Target="../media/image-1-8.svg"/><Relationship Id="rId9" Type="http://schemas.openxmlformats.org/officeDocument/2006/relationships/image" Target="../media/image-1-9.png"/><Relationship Id="rId10" Type="http://schemas.openxmlformats.org/officeDocument/2006/relationships/image" Target="../media/image-1-10.svg"/><Relationship Id="rId11" Type="http://schemas.openxmlformats.org/officeDocument/2006/relationships/image" Target="../media/image-1-11.png"/><Relationship Id="rId12" Type="http://schemas.openxmlformats.org/officeDocument/2006/relationships/image" Target="../media/image-1-12.svg"/><Relationship Id="rId13"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image" Target="../media/image-6-11.png"/><Relationship Id="rId12" Type="http://schemas.openxmlformats.org/officeDocument/2006/relationships/image" Target="../media/image-6-12.svg"/><Relationship Id="rId13"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image" Target="../media/image-14-6.svg"/><Relationship Id="rId7" Type="http://schemas.openxmlformats.org/officeDocument/2006/relationships/image" Target="../media/image-14-7.png"/><Relationship Id="rId8" Type="http://schemas.openxmlformats.org/officeDocument/2006/relationships/image" Target="../media/image-14-8.svg"/><Relationship Id="rId9"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image" Target="../media/image-15-5.png"/><Relationship Id="rId6" Type="http://schemas.openxmlformats.org/officeDocument/2006/relationships/image" Target="../media/image-15-6.svg"/><Relationship Id="rId7" Type="http://schemas.openxmlformats.org/officeDocument/2006/relationships/image" Target="../media/image-15-7.png"/><Relationship Id="rId8" Type="http://schemas.openxmlformats.org/officeDocument/2006/relationships/image" Target="../media/image-15-8.svg"/><Relationship Id="rId9" Type="http://schemas.openxmlformats.org/officeDocument/2006/relationships/image" Target="../media/image-15-9.png"/><Relationship Id="rId10" Type="http://schemas.openxmlformats.org/officeDocument/2006/relationships/image" Target="../media/image-15-10.svg"/><Relationship Id="rId11" Type="http://schemas.openxmlformats.org/officeDocument/2006/relationships/image" Target="../media/image-15-11.png"/><Relationship Id="rId12" Type="http://schemas.openxmlformats.org/officeDocument/2006/relationships/image" Target="../media/image-15-12.svg"/><Relationship Id="rId13"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image" Target="../media/image-17-3.png"/><Relationship Id="rId4" Type="http://schemas.openxmlformats.org/officeDocument/2006/relationships/image" Target="../media/image-17-4.svg"/><Relationship Id="rId5" Type="http://schemas.openxmlformats.org/officeDocument/2006/relationships/image" Target="../media/image-17-5.png"/><Relationship Id="rId6" Type="http://schemas.openxmlformats.org/officeDocument/2006/relationships/image" Target="../media/image-17-6.svg"/><Relationship Id="rId7" Type="http://schemas.openxmlformats.org/officeDocument/2006/relationships/image" Target="../media/image-17-7.png"/><Relationship Id="rId8" Type="http://schemas.openxmlformats.org/officeDocument/2006/relationships/image" Target="../media/image-17-8.svg"/><Relationship Id="rId9" Type="http://schemas.openxmlformats.org/officeDocument/2006/relationships/image" Target="../media/image-17-9.png"/><Relationship Id="rId10" Type="http://schemas.openxmlformats.org/officeDocument/2006/relationships/image" Target="../media/image-17-10.svg"/><Relationship Id="rId11" Type="http://schemas.openxmlformats.org/officeDocument/2006/relationships/image" Target="../media/image-17-11.png"/><Relationship Id="rId12" Type="http://schemas.openxmlformats.org/officeDocument/2006/relationships/image" Target="../media/image-17-12.svg"/><Relationship Id="rId13"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3.png"/><Relationship Id="rId4" Type="http://schemas.openxmlformats.org/officeDocument/2006/relationships/image" Target="../media/image-18-4.svg"/><Relationship Id="rId5" Type="http://schemas.openxmlformats.org/officeDocument/2006/relationships/image" Target="../media/image-18-5.png"/><Relationship Id="rId6" Type="http://schemas.openxmlformats.org/officeDocument/2006/relationships/image" Target="../media/image-18-6.svg"/><Relationship Id="rId7" Type="http://schemas.openxmlformats.org/officeDocument/2006/relationships/image" Target="../media/image-18-7.png"/><Relationship Id="rId8" Type="http://schemas.openxmlformats.org/officeDocument/2006/relationships/image" Target="../media/image-18-8.svg"/><Relationship Id="rId9"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image" Target="../media/image-23-3.png"/><Relationship Id="rId4" Type="http://schemas.openxmlformats.org/officeDocument/2006/relationships/image" Target="../media/image-23-4.svg"/><Relationship Id="rId5" Type="http://schemas.openxmlformats.org/officeDocument/2006/relationships/image" Target="../media/image-23-5.png"/><Relationship Id="rId6" Type="http://schemas.openxmlformats.org/officeDocument/2006/relationships/image" Target="../media/image-23-6.svg"/><Relationship Id="rId7" Type="http://schemas.openxmlformats.org/officeDocument/2006/relationships/image" Target="../media/image-23-7.png"/><Relationship Id="rId8" Type="http://schemas.openxmlformats.org/officeDocument/2006/relationships/image" Target="../media/image-23-8.svg"/><Relationship Id="rId9" Type="http://schemas.openxmlformats.org/officeDocument/2006/relationships/image" Target="../media/image-23-9.png"/><Relationship Id="rId10" Type="http://schemas.openxmlformats.org/officeDocument/2006/relationships/image" Target="../media/image-23-10.svg"/><Relationship Id="rId11" Type="http://schemas.openxmlformats.org/officeDocument/2006/relationships/image" Target="../media/image-23-11.png"/><Relationship Id="rId12" Type="http://schemas.openxmlformats.org/officeDocument/2006/relationships/image" Target="../media/image-23-12.svg"/><Relationship Id="rId13"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3.png"/><Relationship Id="rId4" Type="http://schemas.openxmlformats.org/officeDocument/2006/relationships/image" Target="../media/image-26-4.svg"/><Relationship Id="rId5"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image" Target="../media/image-27-3.png"/><Relationship Id="rId4" Type="http://schemas.openxmlformats.org/officeDocument/2006/relationships/image" Target="../media/image-27-4.svg"/><Relationship Id="rId5" Type="http://schemas.openxmlformats.org/officeDocument/2006/relationships/image" Target="../media/image-27-5.png"/><Relationship Id="rId6" Type="http://schemas.openxmlformats.org/officeDocument/2006/relationships/image" Target="../media/image-27-6.svg"/><Relationship Id="rId7" Type="http://schemas.openxmlformats.org/officeDocument/2006/relationships/image" Target="../media/image-27-7.png"/><Relationship Id="rId8" Type="http://schemas.openxmlformats.org/officeDocument/2006/relationships/image" Target="../media/image-27-8.svg"/><Relationship Id="rId9" Type="http://schemas.openxmlformats.org/officeDocument/2006/relationships/image" Target="../media/image-27-9.png"/><Relationship Id="rId10" Type="http://schemas.openxmlformats.org/officeDocument/2006/relationships/image" Target="../media/image-27-10.svg"/><Relationship Id="rId11" Type="http://schemas.openxmlformats.org/officeDocument/2006/relationships/image" Target="../media/image-27-11.png"/><Relationship Id="rId12" Type="http://schemas.openxmlformats.org/officeDocument/2006/relationships/image" Target="../media/image-27-12.svg"/><Relationship Id="rId13"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svg"/><Relationship Id="rId3" Type="http://schemas.openxmlformats.org/officeDocument/2006/relationships/image" Target="../media/image-30-3.png"/><Relationship Id="rId4" Type="http://schemas.openxmlformats.org/officeDocument/2006/relationships/image" Target="../media/image-30-4.svg"/><Relationship Id="rId5" Type="http://schemas.openxmlformats.org/officeDocument/2006/relationships/image" Target="../media/image-30-5.png"/><Relationship Id="rId6" Type="http://schemas.openxmlformats.org/officeDocument/2006/relationships/image" Target="../media/image-30-6.svg"/><Relationship Id="rId7" Type="http://schemas.openxmlformats.org/officeDocument/2006/relationships/image" Target="../media/image-30-7.png"/><Relationship Id="rId8" Type="http://schemas.openxmlformats.org/officeDocument/2006/relationships/image" Target="../media/image-30-8.svg"/><Relationship Id="rId9"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svg"/><Relationship Id="rId3" Type="http://schemas.openxmlformats.org/officeDocument/2006/relationships/image" Target="../media/image-32-3.png"/><Relationship Id="rId4" Type="http://schemas.openxmlformats.org/officeDocument/2006/relationships/image" Target="../media/image-32-4.svg"/><Relationship Id="rId5" Type="http://schemas.openxmlformats.org/officeDocument/2006/relationships/image" Target="../media/image-32-5.png"/><Relationship Id="rId6" Type="http://schemas.openxmlformats.org/officeDocument/2006/relationships/image" Target="../media/image-32-6.svg"/><Relationship Id="rId7" Type="http://schemas.openxmlformats.org/officeDocument/2006/relationships/image" Target="../media/image-32-7.png"/><Relationship Id="rId8" Type="http://schemas.openxmlformats.org/officeDocument/2006/relationships/image" Target="../media/image-32-8.svg"/><Relationship Id="rId9" Type="http://schemas.openxmlformats.org/officeDocument/2006/relationships/image" Target="../media/image-32-9.png"/><Relationship Id="rId10" Type="http://schemas.openxmlformats.org/officeDocument/2006/relationships/image" Target="../media/image-32-10.svg"/><Relationship Id="rId11" Type="http://schemas.openxmlformats.org/officeDocument/2006/relationships/image" Target="../media/image-32-11.png"/><Relationship Id="rId12" Type="http://schemas.openxmlformats.org/officeDocument/2006/relationships/image" Target="../media/image-32-12.svg"/><Relationship Id="rId13"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image" Target="../media/image-2-11.png"/><Relationship Id="rId12" Type="http://schemas.openxmlformats.org/officeDocument/2006/relationships/image" Target="../media/image-2-12.svg"/><Relationship Id="rId13"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image" Target="../media/image-13-7.png"/><Relationship Id="rId8" Type="http://schemas.openxmlformats.org/officeDocument/2006/relationships/image" Target="../media/image-13-8.svg"/><Relationship Id="rId9"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image" Target="../media/image-17-3.png"/><Relationship Id="rId4" Type="http://schemas.openxmlformats.org/officeDocument/2006/relationships/image" Target="../media/image-17-4.svg"/><Relationship Id="rId5" Type="http://schemas.openxmlformats.org/officeDocument/2006/relationships/image" Target="../media/image-17-5.png"/><Relationship Id="rId6" Type="http://schemas.openxmlformats.org/officeDocument/2006/relationships/image" Target="../media/image-17-6.svg"/><Relationship Id="rId7" Type="http://schemas.openxmlformats.org/officeDocument/2006/relationships/image" Target="../media/image-17-7.png"/><Relationship Id="rId8" Type="http://schemas.openxmlformats.org/officeDocument/2006/relationships/image" Target="../media/image-17-8.svg"/><Relationship Id="rId9" Type="http://schemas.openxmlformats.org/officeDocument/2006/relationships/image" Target="../media/image-17-9.png"/><Relationship Id="rId10" Type="http://schemas.openxmlformats.org/officeDocument/2006/relationships/image" Target="../media/image-17-10.svg"/><Relationship Id="rId11" Type="http://schemas.openxmlformats.org/officeDocument/2006/relationships/image" Target="../media/image-17-11.png"/><Relationship Id="rId12" Type="http://schemas.openxmlformats.org/officeDocument/2006/relationships/image" Target="../media/image-17-12.svg"/><Relationship Id="rId13"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image" Target="../media/image-19-5.png"/><Relationship Id="rId6" Type="http://schemas.openxmlformats.org/officeDocument/2006/relationships/image" Target="../media/image-19-6.svg"/><Relationship Id="rId7" Type="http://schemas.openxmlformats.org/officeDocument/2006/relationships/image" Target="../media/image-19-7.png"/><Relationship Id="rId8" Type="http://schemas.openxmlformats.org/officeDocument/2006/relationships/image" Target="../media/image-19-8.svg"/><Relationship Id="rId9"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svg"/><Relationship Id="rId3" Type="http://schemas.openxmlformats.org/officeDocument/2006/relationships/image" Target="../media/image-32-3.png"/><Relationship Id="rId4" Type="http://schemas.openxmlformats.org/officeDocument/2006/relationships/image" Target="../media/image-32-4.svg"/><Relationship Id="rId5" Type="http://schemas.openxmlformats.org/officeDocument/2006/relationships/image" Target="../media/image-32-5.png"/><Relationship Id="rId6" Type="http://schemas.openxmlformats.org/officeDocument/2006/relationships/image" Target="../media/image-32-6.svg"/><Relationship Id="rId7" Type="http://schemas.openxmlformats.org/officeDocument/2006/relationships/image" Target="../media/image-32-7.png"/><Relationship Id="rId8" Type="http://schemas.openxmlformats.org/officeDocument/2006/relationships/image" Target="../media/image-32-8.svg"/><Relationship Id="rId9"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image" Target="../media/image-9-11.png"/><Relationship Id="rId12" Type="http://schemas.openxmlformats.org/officeDocument/2006/relationships/image" Target="../media/image-9-12.svg"/><Relationship Id="rId13"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png"/><Relationship Id="rId8" Type="http://schemas.openxmlformats.org/officeDocument/2006/relationships/image" Target="../media/image-11-8.svg"/><Relationship Id="rId9"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image" Target="../media/image-14-6.svg"/><Relationship Id="rId7" Type="http://schemas.openxmlformats.org/officeDocument/2006/relationships/image" Target="../media/image-14-7.png"/><Relationship Id="rId8" Type="http://schemas.openxmlformats.org/officeDocument/2006/relationships/image" Target="../media/image-14-8.svg"/><Relationship Id="rId9"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image" Target="../media/image-20-3.png"/><Relationship Id="rId4" Type="http://schemas.openxmlformats.org/officeDocument/2006/relationships/image" Target="../media/image-20-4.svg"/><Relationship Id="rId5" Type="http://schemas.openxmlformats.org/officeDocument/2006/relationships/image" Target="../media/image-20-5.png"/><Relationship Id="rId6" Type="http://schemas.openxmlformats.org/officeDocument/2006/relationships/image" Target="../media/image-20-6.svg"/><Relationship Id="rId7" Type="http://schemas.openxmlformats.org/officeDocument/2006/relationships/image" Target="../media/image-20-7.png"/><Relationship Id="rId8" Type="http://schemas.openxmlformats.org/officeDocument/2006/relationships/image" Target="../media/image-20-8.svg"/><Relationship Id="rId9"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image" Target="../media/image-21-3.png"/><Relationship Id="rId4" Type="http://schemas.openxmlformats.org/officeDocument/2006/relationships/image" Target="../media/image-21-4.svg"/><Relationship Id="rId5" Type="http://schemas.openxmlformats.org/officeDocument/2006/relationships/image" Target="../media/image-21-5.png"/><Relationship Id="rId6" Type="http://schemas.openxmlformats.org/officeDocument/2006/relationships/image" Target="../media/image-21-6.svg"/><Relationship Id="rId7" Type="http://schemas.openxmlformats.org/officeDocument/2006/relationships/image" Target="../media/image-21-7.png"/><Relationship Id="rId8" Type="http://schemas.openxmlformats.org/officeDocument/2006/relationships/image" Target="../media/image-21-8.svg"/><Relationship Id="rId9"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image" Target="../media/image-23-3.png"/><Relationship Id="rId4" Type="http://schemas.openxmlformats.org/officeDocument/2006/relationships/image" Target="../media/image-23-4.svg"/><Relationship Id="rId5" Type="http://schemas.openxmlformats.org/officeDocument/2006/relationships/image" Target="../media/image-23-5.png"/><Relationship Id="rId6" Type="http://schemas.openxmlformats.org/officeDocument/2006/relationships/image" Target="../media/image-23-6.svg"/><Relationship Id="rId7" Type="http://schemas.openxmlformats.org/officeDocument/2006/relationships/image" Target="../media/image-23-7.png"/><Relationship Id="rId8" Type="http://schemas.openxmlformats.org/officeDocument/2006/relationships/image" Target="../media/image-23-8.svg"/><Relationship Id="rId9" Type="http://schemas.openxmlformats.org/officeDocument/2006/relationships/image" Target="../media/image-23-9.png"/><Relationship Id="rId10" Type="http://schemas.openxmlformats.org/officeDocument/2006/relationships/image" Target="../media/image-23-10.svg"/><Relationship Id="rId11" Type="http://schemas.openxmlformats.org/officeDocument/2006/relationships/image" Target="../media/image-23-11.png"/><Relationship Id="rId12" Type="http://schemas.openxmlformats.org/officeDocument/2006/relationships/image" Target="../media/image-23-12.svg"/><Relationship Id="rId13"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image" Target="../media/image-27-3.png"/><Relationship Id="rId4" Type="http://schemas.openxmlformats.org/officeDocument/2006/relationships/image" Target="../media/image-27-4.svg"/><Relationship Id="rId5" Type="http://schemas.openxmlformats.org/officeDocument/2006/relationships/image" Target="../media/image-27-5.png"/><Relationship Id="rId6" Type="http://schemas.openxmlformats.org/officeDocument/2006/relationships/image" Target="../media/image-27-6.svg"/><Relationship Id="rId7" Type="http://schemas.openxmlformats.org/officeDocument/2006/relationships/image" Target="../media/image-27-7.png"/><Relationship Id="rId8" Type="http://schemas.openxmlformats.org/officeDocument/2006/relationships/image" Target="../media/image-27-8.svg"/><Relationship Id="rId9"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w="12700">
            <a:solidFill>
              <a:srgbClr val="FFFFFF"/>
            </a:solidFill>
            <a:prstDash val="solid"/>
          </a:ln>
        </p:spPr>
      </p:sp>
      <p:sp>
        <p:nvSpPr>
          <p:cNvPr id="3" name="Shape 1"/>
          <p:cNvSpPr/>
          <p:nvPr/>
        </p:nvSpPr>
        <p:spPr>
          <a:xfrm>
            <a:off x="0" y="0"/>
            <a:ext cx="2377440" cy="5143500"/>
          </a:xfrm>
          <a:prstGeom prst="rect">
            <a:avLst/>
          </a:prstGeom>
          <a:solidFill>
            <a:srgbClr val="0A74E3"/>
          </a:solidFill>
          <a:ln w="12700">
            <a:solidFill>
              <a:srgbClr val="0A74E3"/>
            </a:solidFill>
            <a:prstDash val="solid"/>
          </a:ln>
        </p:spPr>
      </p:sp>
      <p:sp>
        <p:nvSpPr>
          <p:cNvPr id="4" name="Shape 2"/>
          <p:cNvSpPr/>
          <p:nvPr/>
        </p:nvSpPr>
        <p:spPr>
          <a:xfrm>
            <a:off x="-548640" y="274320"/>
            <a:ext cx="1828800" cy="1828800"/>
          </a:xfrm>
          <a:prstGeom prst="ellipse">
            <a:avLst/>
          </a:prstGeom>
          <a:solidFill>
            <a:srgbClr val="0A84FF"/>
          </a:solidFill>
          <a:ln w="12700">
            <a:solidFill>
              <a:srgbClr val="0A84FF"/>
            </a:solidFill>
            <a:prstDash val="solid"/>
          </a:ln>
        </p:spPr>
      </p:sp>
      <p:sp>
        <p:nvSpPr>
          <p:cNvPr id="5" name="Shape 3"/>
          <p:cNvSpPr/>
          <p:nvPr/>
        </p:nvSpPr>
        <p:spPr>
          <a:xfrm>
            <a:off x="182880" y="3474720"/>
            <a:ext cx="2560320" cy="2560320"/>
          </a:xfrm>
          <a:prstGeom prst="ellipse">
            <a:avLst/>
          </a:prstGeom>
          <a:solidFill>
            <a:srgbClr val="1E90FF"/>
          </a:solidFill>
          <a:ln w="12700">
            <a:solidFill>
              <a:srgbClr val="1E90FF"/>
            </a:solidFill>
            <a:prstDash val="solid"/>
          </a:ln>
        </p:spPr>
      </p:sp>
      <p:sp>
        <p:nvSpPr>
          <p:cNvPr id="6" name="Shape 4"/>
          <p:cNvSpPr/>
          <p:nvPr/>
        </p:nvSpPr>
        <p:spPr>
          <a:xfrm>
            <a:off x="320040" y="457200"/>
            <a:ext cx="914400" cy="457200"/>
          </a:xfrm>
          <a:prstGeom prst="roundRect">
            <a:avLst>
              <a:gd name="adj" fmla="val 12000"/>
            </a:avLst>
          </a:prstGeom>
          <a:solidFill>
            <a:srgbClr val="FFFFFF"/>
          </a:solidFill>
          <a:ln w="12700">
            <a:solidFill>
              <a:srgbClr val="FFFFFF"/>
            </a:solidFill>
            <a:prstDash val="solid"/>
          </a:ln>
        </p:spPr>
      </p:sp>
      <p:sp>
        <p:nvSpPr>
          <p:cNvPr id="7" name="Text 5"/>
          <p:cNvSpPr/>
          <p:nvPr/>
        </p:nvSpPr>
        <p:spPr>
          <a:xfrm>
            <a:off x="320040" y="457200"/>
            <a:ext cx="914400" cy="457200"/>
          </a:xfrm>
          <a:prstGeom prst="rect">
            <a:avLst/>
          </a:prstGeom>
          <a:noFill/>
          <a:ln/>
        </p:spPr>
        <p:txBody>
          <a:bodyPr wrap="square" rtlCol="0" anchor="ctr"/>
          <a:lstStyle/>
          <a:p>
            <a:pPr algn="ctr" indent="0" marL="0">
              <a:buNone/>
            </a:pPr>
            <a:r>
              <a:rPr lang="en-US" sz="1400" b="1" dirty="0">
                <a:solidFill>
                  <a:srgbClr val="0A74E3"/>
                </a:solidFill>
                <a:latin typeface="Atkinson Hyperlegible" pitchFamily="34" charset="0"/>
                <a:ea typeface="Atkinson Hyperlegible" pitchFamily="34" charset="-122"/>
                <a:cs typeface="Atkinson Hyperlegible" pitchFamily="34" charset="-120"/>
              </a:rPr>
              <a:t>CII</a:t>
            </a:r>
            <a:endParaRPr lang="en-US" sz="1400" dirty="0"/>
          </a:p>
        </p:txBody>
      </p:sp>
      <p:sp>
        <p:nvSpPr>
          <p:cNvPr id="8" name="Text 6"/>
          <p:cNvSpPr/>
          <p:nvPr/>
        </p:nvSpPr>
        <p:spPr>
          <a:xfrm>
            <a:off x="73152" y="2560320"/>
            <a:ext cx="2194560" cy="365760"/>
          </a:xfrm>
          <a:prstGeom prst="rect">
            <a:avLst/>
          </a:prstGeom>
          <a:noFill/>
          <a:ln/>
        </p:spPr>
        <p:txBody>
          <a:bodyPr wrap="square" rtlCol="0" anchor="ctr"/>
          <a:lstStyle/>
          <a:p>
            <a:pPr algn="ctr" indent="0" marL="0">
              <a:buNone/>
            </a:pPr>
            <a:r>
              <a:rPr lang="en-US" sz="600" dirty="0">
                <a:solidFill>
                  <a:srgbClr val="FFFFFF">
                    <a:alpha val="80000"/>
                  </a:srgbClr>
                </a:solidFill>
                <a:latin typeface="Atkinson Hyperlegible" pitchFamily="34" charset="0"/>
                <a:ea typeface="Atkinson Hyperlegible" pitchFamily="34" charset="-122"/>
                <a:cs typeface="Atkinson Hyperlegible" pitchFamily="34" charset="-120"/>
              </a:rPr>
              <a:t>CONSTRUCTION INDUSTRY INSTITUTE</a:t>
            </a:r>
            <a:endParaRPr lang="en-US" sz="600" dirty="0"/>
          </a:p>
        </p:txBody>
      </p:sp>
      <p:sp>
        <p:nvSpPr>
          <p:cNvPr id="9" name="Text 7"/>
          <p:cNvSpPr/>
          <p:nvPr/>
        </p:nvSpPr>
        <p:spPr>
          <a:xfrm>
            <a:off x="2560320" y="548640"/>
            <a:ext cx="6400800" cy="2194560"/>
          </a:xfrm>
          <a:prstGeom prst="rect">
            <a:avLst/>
          </a:prstGeom>
          <a:noFill/>
          <a:ln/>
        </p:spPr>
        <p:txBody>
          <a:bodyPr wrap="square" rtlCol="0" anchor="ctr"/>
          <a:lstStyle/>
          <a:p>
            <a:pPr indent="0" marL="0">
              <a:lnSpc>
                <a:spcPct val="110000"/>
              </a:lnSpc>
              <a:buNone/>
            </a:pPr>
            <a:r>
              <a:rPr lang="en-US" sz="4400" b="1" dirty="0">
                <a:solidFill>
                  <a:srgbClr val="1D1D1F"/>
                </a:solidFill>
                <a:latin typeface="Atkinson Hyperlegible" pitchFamily="34" charset="0"/>
                <a:ea typeface="Atkinson Hyperlegible" pitchFamily="34" charset="-122"/>
                <a:cs typeface="Atkinson Hyperlegible" pitchFamily="34" charset="-120"/>
              </a:rPr>
              <a:t>CONSTRUCTA-</a:t>
            </a:r>
            <a:endParaRPr lang="en-US" sz="4400" dirty="0"/>
          </a:p>
          <a:p>
            <a:pPr indent="0" marL="0">
              <a:lnSpc>
                <a:spcPct val="110000"/>
              </a:lnSpc>
              <a:buNone/>
            </a:pPr>
            <a:r>
              <a:rPr lang="en-US" sz="4400" b="1" dirty="0">
                <a:solidFill>
                  <a:srgbClr val="1D1D1F"/>
                </a:solidFill>
                <a:latin typeface="Atkinson Hyperlegible" pitchFamily="34" charset="0"/>
                <a:ea typeface="Atkinson Hyperlegible" pitchFamily="34" charset="-122"/>
                <a:cs typeface="Atkinson Hyperlegible" pitchFamily="34" charset="-120"/>
              </a:rPr>
              <a:t>BILIDAD</a:t>
            </a:r>
            <a:endParaRPr lang="en-US" sz="4400" dirty="0"/>
          </a:p>
        </p:txBody>
      </p:sp>
      <p:sp>
        <p:nvSpPr>
          <p:cNvPr id="10" name="Shape 8"/>
          <p:cNvSpPr/>
          <p:nvPr/>
        </p:nvSpPr>
        <p:spPr>
          <a:xfrm>
            <a:off x="2560320" y="2834640"/>
            <a:ext cx="6217920" cy="45720"/>
          </a:xfrm>
          <a:prstGeom prst="rect">
            <a:avLst/>
          </a:prstGeom>
          <a:solidFill>
            <a:srgbClr val="0A74E3"/>
          </a:solidFill>
          <a:ln w="12700">
            <a:solidFill>
              <a:srgbClr val="0A74E3"/>
            </a:solidFill>
            <a:prstDash val="solid"/>
          </a:ln>
        </p:spPr>
      </p:sp>
      <p:sp>
        <p:nvSpPr>
          <p:cNvPr id="11" name="Text 9"/>
          <p:cNvSpPr/>
          <p:nvPr/>
        </p:nvSpPr>
        <p:spPr>
          <a:xfrm>
            <a:off x="2560320" y="2926080"/>
            <a:ext cx="6400800" cy="502920"/>
          </a:xfrm>
          <a:prstGeom prst="rect">
            <a:avLst/>
          </a:prstGeom>
          <a:noFill/>
          <a:ln/>
        </p:spPr>
        <p:txBody>
          <a:bodyPr wrap="square" rtlCol="0" anchor="ctr"/>
          <a:lstStyle/>
          <a:p>
            <a:pPr indent="0" marL="0">
              <a:buNone/>
            </a:pPr>
            <a:r>
              <a:rPr lang="en-US" sz="1400" b="1" dirty="0">
                <a:solidFill>
                  <a:srgbClr val="0A74E3"/>
                </a:solidFill>
                <a:latin typeface="Atkinson Hyperlegible" pitchFamily="34" charset="0"/>
                <a:ea typeface="Atkinson Hyperlegible" pitchFamily="34" charset="-122"/>
                <a:cs typeface="Atkinson Hyperlegible" pitchFamily="34" charset="-120"/>
              </a:rPr>
              <a:t>Principios, Conceptos e Implementación</a:t>
            </a:r>
            <a:endParaRPr lang="en-US" sz="1400" dirty="0"/>
          </a:p>
        </p:txBody>
      </p:sp>
      <p:sp>
        <p:nvSpPr>
          <p:cNvPr id="12" name="Text 10"/>
          <p:cNvSpPr/>
          <p:nvPr/>
        </p:nvSpPr>
        <p:spPr>
          <a:xfrm>
            <a:off x="2560320" y="3520440"/>
            <a:ext cx="6400800" cy="365760"/>
          </a:xfrm>
          <a:prstGeom prst="rect">
            <a:avLst/>
          </a:prstGeom>
          <a:noFill/>
          <a:ln/>
        </p:spPr>
        <p:txBody>
          <a:bodyPr wrap="square"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Basado en publicaciones del Construction Industry Institute (CII)</a:t>
            </a:r>
            <a:endParaRPr lang="en-US" sz="950" dirty="0"/>
          </a:p>
        </p:txBody>
      </p:sp>
      <p:sp>
        <p:nvSpPr>
          <p:cNvPr id="13" name="Text 11"/>
          <p:cNvSpPr/>
          <p:nvPr/>
        </p:nvSpPr>
        <p:spPr>
          <a:xfrm>
            <a:off x="2560320" y="3913632"/>
            <a:ext cx="6400800" cy="320040"/>
          </a:xfrm>
          <a:prstGeom prst="rect">
            <a:avLst/>
          </a:prstGeom>
          <a:noFill/>
          <a:ln/>
        </p:spPr>
        <p:txBody>
          <a:bodyPr wrap="square" rtlCol="0" anchor="ctr"/>
          <a:lstStyle/>
          <a:p>
            <a:pPr indent="0" marL="0">
              <a:buNone/>
            </a:pPr>
            <a:r>
              <a:rPr lang="en-US" sz="800" dirty="0">
                <a:solidFill>
                  <a:srgbClr val="8E8E93">
                    <a:alpha val="80000"/>
                  </a:srgbClr>
                </a:solidFill>
                <a:latin typeface="Atkinson Hyperlegible" pitchFamily="34" charset="0"/>
                <a:ea typeface="Atkinson Hyperlegible" pitchFamily="34" charset="-122"/>
                <a:cs typeface="Atkinson Hyperlegible" pitchFamily="34" charset="-120"/>
              </a:rPr>
              <a:t>SP 34-1  ·  SD-4  ·  SD-5  ·  SD-25  ·  SD-34  ·  Publication 3-1</a:t>
            </a:r>
            <a:endParaRPr lang="en-US" sz="800" dirty="0"/>
          </a:p>
        </p:txBody>
      </p:sp>
      <p:sp>
        <p:nvSpPr>
          <p:cNvPr id="14" name="Shape 12"/>
          <p:cNvSpPr/>
          <p:nvPr/>
        </p:nvSpPr>
        <p:spPr>
          <a:xfrm>
            <a:off x="4389120" y="4480560"/>
            <a:ext cx="128016" cy="128016"/>
          </a:xfrm>
          <a:prstGeom prst="ellipse">
            <a:avLst/>
          </a:prstGeom>
          <a:solidFill>
            <a:srgbClr val="0A74E3"/>
          </a:solidFill>
          <a:ln w="12700">
            <a:solidFill>
              <a:srgbClr val="E5E5EA"/>
            </a:solidFill>
            <a:prstDash val="solid"/>
          </a:ln>
        </p:spPr>
      </p:sp>
      <p:sp>
        <p:nvSpPr>
          <p:cNvPr id="15" name="Shape 13"/>
          <p:cNvSpPr/>
          <p:nvPr/>
        </p:nvSpPr>
        <p:spPr>
          <a:xfrm>
            <a:off x="4663440" y="4480560"/>
            <a:ext cx="128016" cy="128016"/>
          </a:xfrm>
          <a:prstGeom prst="ellipse">
            <a:avLst/>
          </a:prstGeom>
          <a:solidFill>
            <a:srgbClr val="E5E5EA"/>
          </a:solidFill>
          <a:ln w="12700">
            <a:solidFill>
              <a:srgbClr val="E5E5EA"/>
            </a:solidFill>
            <a:prstDash val="solid"/>
          </a:ln>
        </p:spPr>
      </p:sp>
      <p:sp>
        <p:nvSpPr>
          <p:cNvPr id="16" name="Shape 14"/>
          <p:cNvSpPr/>
          <p:nvPr/>
        </p:nvSpPr>
        <p:spPr>
          <a:xfrm>
            <a:off x="4937760" y="4480560"/>
            <a:ext cx="128016" cy="128016"/>
          </a:xfrm>
          <a:prstGeom prst="ellipse">
            <a:avLst/>
          </a:prstGeom>
          <a:solidFill>
            <a:srgbClr val="E5E5EA"/>
          </a:solidFill>
          <a:ln w="12700">
            <a:solidFill>
              <a:srgbClr val="E5E5EA"/>
            </a:solidFill>
            <a:prstDash val="solid"/>
          </a:ln>
        </p:spPr>
      </p:sp>
      <p:sp>
        <p:nvSpPr>
          <p:cNvPr id="17" name="Shape 15"/>
          <p:cNvSpPr/>
          <p:nvPr/>
        </p:nvSpPr>
        <p:spPr>
          <a:xfrm>
            <a:off x="182880" y="4956048"/>
            <a:ext cx="8961120" cy="182880"/>
          </a:xfrm>
          <a:prstGeom prst="rect">
            <a:avLst/>
          </a:prstGeom>
          <a:solidFill>
            <a:srgbClr val="0A74E3"/>
          </a:solidFill>
          <a:ln w="12700">
            <a:solidFill>
              <a:srgbClr val="0A74E3"/>
            </a:solidFill>
            <a:prstDash val="solid"/>
          </a:ln>
        </p:spPr>
      </p:sp>
      <p:sp>
        <p:nvSpPr>
          <p:cNvPr id="18" name="Text 16"/>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 / 126</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A74E3"/>
          </a:solidFill>
          <a:ln w="12700">
            <a:solidFill>
              <a:srgbClr val="0A74E3"/>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Tabla de Contenidos</a:t>
            </a:r>
            <a:endParaRPr lang="en-US" sz="1800" dirty="0"/>
          </a:p>
        </p:txBody>
      </p:sp>
      <p:sp>
        <p:nvSpPr>
          <p:cNvPr id="4" name="Shape 2"/>
          <p:cNvSpPr/>
          <p:nvPr/>
        </p:nvSpPr>
        <p:spPr>
          <a:xfrm>
            <a:off x="320040" y="640080"/>
            <a:ext cx="8503920" cy="41148"/>
          </a:xfrm>
          <a:prstGeom prst="rect">
            <a:avLst/>
          </a:prstGeom>
          <a:solidFill>
            <a:srgbClr val="0A74E3"/>
          </a:solidFill>
          <a:ln w="12700">
            <a:solidFill>
              <a:srgbClr val="0A74E3"/>
            </a:solidFill>
            <a:prstDash val="solid"/>
          </a:ln>
        </p:spPr>
      </p:sp>
      <p:sp>
        <p:nvSpPr>
          <p:cNvPr id="5" name="Shape 3"/>
          <p:cNvSpPr/>
          <p:nvPr/>
        </p:nvSpPr>
        <p:spPr>
          <a:xfrm>
            <a:off x="320040" y="841248"/>
            <a:ext cx="2743200" cy="1417320"/>
          </a:xfrm>
          <a:prstGeom prst="roundRect">
            <a:avLst>
              <a:gd name="adj" fmla="val 6452"/>
            </a:avLst>
          </a:prstGeom>
          <a:solidFill>
            <a:srgbClr val="0A74E3"/>
          </a:solidFill>
          <a:ln w="12700">
            <a:solidFill>
              <a:srgbClr val="0A74E3"/>
            </a:solidFill>
            <a:prstDash val="solid"/>
          </a:ln>
        </p:spPr>
      </p:sp>
      <p:sp>
        <p:nvSpPr>
          <p:cNvPr id="6" name="Shape 4"/>
          <p:cNvSpPr/>
          <p:nvPr/>
        </p:nvSpPr>
        <p:spPr>
          <a:xfrm>
            <a:off x="2468880" y="1755648"/>
            <a:ext cx="731520" cy="731520"/>
          </a:xfrm>
          <a:prstGeom prst="ellipse">
            <a:avLst/>
          </a:prstGeom>
          <a:solidFill>
            <a:srgbClr val="FFFFFF"/>
          </a:solidFill>
          <a:ln w="12700">
            <a:solidFill>
              <a:srgbClr val="FFFFFF"/>
            </a:solidFill>
            <a:prstDash val="solid"/>
          </a:ln>
        </p:spPr>
      </p:sp>
      <p:sp>
        <p:nvSpPr>
          <p:cNvPr id="7" name="Text 5"/>
          <p:cNvSpPr/>
          <p:nvPr/>
        </p:nvSpPr>
        <p:spPr>
          <a:xfrm>
            <a:off x="457200" y="950976"/>
            <a:ext cx="640080" cy="594360"/>
          </a:xfrm>
          <a:prstGeom prst="rect">
            <a:avLst/>
          </a:prstGeom>
          <a:noFill/>
          <a:ln/>
        </p:spPr>
        <p:txBody>
          <a:bodyPr wrap="square" rtlCol="0" anchor="ctr"/>
          <a:lstStyle/>
          <a:p>
            <a:pPr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01</a:t>
            </a:r>
            <a:endParaRPr lang="en-US" sz="2800" dirty="0"/>
          </a:p>
        </p:txBody>
      </p:sp>
      <p:sp>
        <p:nvSpPr>
          <p:cNvPr id="8" name="Text 6"/>
          <p:cNvSpPr/>
          <p:nvPr/>
        </p:nvSpPr>
        <p:spPr>
          <a:xfrm>
            <a:off x="411480" y="1481328"/>
            <a:ext cx="2578608" cy="713232"/>
          </a:xfrm>
          <a:prstGeom prst="rect">
            <a:avLst/>
          </a:prstGeom>
          <a:noFill/>
          <a:ln/>
        </p:spPr>
        <p:txBody>
          <a:bodyPr wrap="square" rtlCol="0" anchor="b"/>
          <a:lstStyle/>
          <a:p>
            <a:pPr indent="0" marL="0">
              <a:buNone/>
            </a:pPr>
            <a:r>
              <a:rPr lang="en-US" sz="850" dirty="0">
                <a:solidFill>
                  <a:srgbClr val="FFFFFF"/>
                </a:solidFill>
                <a:latin typeface="Atkinson Hyperlegible" pitchFamily="34" charset="0"/>
                <a:ea typeface="Atkinson Hyperlegible" pitchFamily="34" charset="-122"/>
                <a:cs typeface="Atkinson Hyperlegible" pitchFamily="34" charset="-120"/>
              </a:rPr>
              <a:t>Introducción y Definición</a:t>
            </a:r>
            <a:endParaRPr lang="en-US" sz="850" dirty="0"/>
          </a:p>
        </p:txBody>
      </p:sp>
      <p:sp>
        <p:nvSpPr>
          <p:cNvPr id="9" name="Shape 7"/>
          <p:cNvSpPr/>
          <p:nvPr/>
        </p:nvSpPr>
        <p:spPr>
          <a:xfrm>
            <a:off x="3172968" y="841248"/>
            <a:ext cx="2743200" cy="1417320"/>
          </a:xfrm>
          <a:prstGeom prst="roundRect">
            <a:avLst>
              <a:gd name="adj" fmla="val 6452"/>
            </a:avLst>
          </a:prstGeom>
          <a:solidFill>
            <a:srgbClr val="0E9E9E"/>
          </a:solidFill>
          <a:ln w="12700">
            <a:solidFill>
              <a:srgbClr val="0E9E9E"/>
            </a:solidFill>
            <a:prstDash val="solid"/>
          </a:ln>
        </p:spPr>
      </p:sp>
      <p:sp>
        <p:nvSpPr>
          <p:cNvPr id="10" name="Shape 8"/>
          <p:cNvSpPr/>
          <p:nvPr/>
        </p:nvSpPr>
        <p:spPr>
          <a:xfrm>
            <a:off x="5321808" y="1755648"/>
            <a:ext cx="731520" cy="731520"/>
          </a:xfrm>
          <a:prstGeom prst="ellipse">
            <a:avLst/>
          </a:prstGeom>
          <a:solidFill>
            <a:srgbClr val="FFFFFF"/>
          </a:solidFill>
          <a:ln w="12700">
            <a:solidFill>
              <a:srgbClr val="FFFFFF"/>
            </a:solidFill>
            <a:prstDash val="solid"/>
          </a:ln>
        </p:spPr>
      </p:sp>
      <p:sp>
        <p:nvSpPr>
          <p:cNvPr id="11" name="Text 9"/>
          <p:cNvSpPr/>
          <p:nvPr/>
        </p:nvSpPr>
        <p:spPr>
          <a:xfrm>
            <a:off x="3310128" y="950976"/>
            <a:ext cx="640080" cy="594360"/>
          </a:xfrm>
          <a:prstGeom prst="rect">
            <a:avLst/>
          </a:prstGeom>
          <a:noFill/>
          <a:ln/>
        </p:spPr>
        <p:txBody>
          <a:bodyPr wrap="square" rtlCol="0" anchor="ctr"/>
          <a:lstStyle/>
          <a:p>
            <a:pPr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02</a:t>
            </a:r>
            <a:endParaRPr lang="en-US" sz="2800" dirty="0"/>
          </a:p>
        </p:txBody>
      </p:sp>
      <p:sp>
        <p:nvSpPr>
          <p:cNvPr id="12" name="Text 10"/>
          <p:cNvSpPr/>
          <p:nvPr/>
        </p:nvSpPr>
        <p:spPr>
          <a:xfrm>
            <a:off x="3264408" y="1481328"/>
            <a:ext cx="2578608" cy="713232"/>
          </a:xfrm>
          <a:prstGeom prst="rect">
            <a:avLst/>
          </a:prstGeom>
          <a:noFill/>
          <a:ln/>
        </p:spPr>
        <p:txBody>
          <a:bodyPr wrap="square" rtlCol="0" anchor="b"/>
          <a:lstStyle/>
          <a:p>
            <a:pPr indent="0" marL="0">
              <a:buNone/>
            </a:pPr>
            <a:r>
              <a:rPr lang="en-US" sz="850" dirty="0">
                <a:solidFill>
                  <a:srgbClr val="FFFFFF"/>
                </a:solidFill>
                <a:latin typeface="Atkinson Hyperlegible" pitchFamily="34" charset="0"/>
                <a:ea typeface="Atkinson Hyperlegible" pitchFamily="34" charset="-122"/>
                <a:cs typeface="Atkinson Hyperlegible" pitchFamily="34" charset="-120"/>
              </a:rPr>
              <a:t>Fundamentos CII — Publicaciones Clave</a:t>
            </a:r>
            <a:endParaRPr lang="en-US" sz="850" dirty="0"/>
          </a:p>
        </p:txBody>
      </p:sp>
      <p:sp>
        <p:nvSpPr>
          <p:cNvPr id="13" name="Shape 11"/>
          <p:cNvSpPr/>
          <p:nvPr/>
        </p:nvSpPr>
        <p:spPr>
          <a:xfrm>
            <a:off x="6025896" y="841248"/>
            <a:ext cx="2743200" cy="1417320"/>
          </a:xfrm>
          <a:prstGeom prst="roundRect">
            <a:avLst>
              <a:gd name="adj" fmla="val 6452"/>
            </a:avLst>
          </a:prstGeom>
          <a:solidFill>
            <a:srgbClr val="27AE60"/>
          </a:solidFill>
          <a:ln w="12700">
            <a:solidFill>
              <a:srgbClr val="27AE60"/>
            </a:solidFill>
            <a:prstDash val="solid"/>
          </a:ln>
        </p:spPr>
      </p:sp>
      <p:sp>
        <p:nvSpPr>
          <p:cNvPr id="14" name="Shape 12"/>
          <p:cNvSpPr/>
          <p:nvPr/>
        </p:nvSpPr>
        <p:spPr>
          <a:xfrm>
            <a:off x="8174736" y="1755648"/>
            <a:ext cx="731520" cy="731520"/>
          </a:xfrm>
          <a:prstGeom prst="ellipse">
            <a:avLst/>
          </a:prstGeom>
          <a:solidFill>
            <a:srgbClr val="FFFFFF"/>
          </a:solidFill>
          <a:ln w="12700">
            <a:solidFill>
              <a:srgbClr val="FFFFFF"/>
            </a:solidFill>
            <a:prstDash val="solid"/>
          </a:ln>
        </p:spPr>
      </p:sp>
      <p:sp>
        <p:nvSpPr>
          <p:cNvPr id="15" name="Text 13"/>
          <p:cNvSpPr/>
          <p:nvPr/>
        </p:nvSpPr>
        <p:spPr>
          <a:xfrm>
            <a:off x="6163056" y="950976"/>
            <a:ext cx="640080" cy="594360"/>
          </a:xfrm>
          <a:prstGeom prst="rect">
            <a:avLst/>
          </a:prstGeom>
          <a:noFill/>
          <a:ln/>
        </p:spPr>
        <p:txBody>
          <a:bodyPr wrap="square" rtlCol="0" anchor="ctr"/>
          <a:lstStyle/>
          <a:p>
            <a:pPr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03</a:t>
            </a:r>
            <a:endParaRPr lang="en-US" sz="2800" dirty="0"/>
          </a:p>
        </p:txBody>
      </p:sp>
      <p:sp>
        <p:nvSpPr>
          <p:cNvPr id="16" name="Text 14"/>
          <p:cNvSpPr/>
          <p:nvPr/>
        </p:nvSpPr>
        <p:spPr>
          <a:xfrm>
            <a:off x="6117336" y="1481328"/>
            <a:ext cx="2578608" cy="713232"/>
          </a:xfrm>
          <a:prstGeom prst="rect">
            <a:avLst/>
          </a:prstGeom>
          <a:noFill/>
          <a:ln/>
        </p:spPr>
        <p:txBody>
          <a:bodyPr wrap="square" rtlCol="0" anchor="b"/>
          <a:lstStyle/>
          <a:p>
            <a:pPr indent="0" marL="0">
              <a:buNone/>
            </a:pPr>
            <a:r>
              <a:rPr lang="en-US" sz="850" dirty="0">
                <a:solidFill>
                  <a:srgbClr val="FFFFFF"/>
                </a:solidFill>
                <a:latin typeface="Atkinson Hyperlegible" pitchFamily="34" charset="0"/>
                <a:ea typeface="Atkinson Hyperlegible" pitchFamily="34" charset="-122"/>
                <a:cs typeface="Atkinson Hyperlegible" pitchFamily="34" charset="-120"/>
              </a:rPr>
              <a:t>Conceptos Fase I: Planificación Conceptual</a:t>
            </a:r>
            <a:endParaRPr lang="en-US" sz="850" dirty="0"/>
          </a:p>
        </p:txBody>
      </p:sp>
      <p:sp>
        <p:nvSpPr>
          <p:cNvPr id="17" name="Shape 15"/>
          <p:cNvSpPr/>
          <p:nvPr/>
        </p:nvSpPr>
        <p:spPr>
          <a:xfrm>
            <a:off x="320040" y="2368296"/>
            <a:ext cx="2743200" cy="1417320"/>
          </a:xfrm>
          <a:prstGeom prst="roundRect">
            <a:avLst>
              <a:gd name="adj" fmla="val 6452"/>
            </a:avLst>
          </a:prstGeom>
          <a:solidFill>
            <a:srgbClr val="D4620A"/>
          </a:solidFill>
          <a:ln w="12700">
            <a:solidFill>
              <a:srgbClr val="D4620A"/>
            </a:solidFill>
            <a:prstDash val="solid"/>
          </a:ln>
        </p:spPr>
      </p:sp>
      <p:sp>
        <p:nvSpPr>
          <p:cNvPr id="18" name="Shape 16"/>
          <p:cNvSpPr/>
          <p:nvPr/>
        </p:nvSpPr>
        <p:spPr>
          <a:xfrm>
            <a:off x="2468880" y="3282696"/>
            <a:ext cx="731520" cy="731520"/>
          </a:xfrm>
          <a:prstGeom prst="ellipse">
            <a:avLst/>
          </a:prstGeom>
          <a:solidFill>
            <a:srgbClr val="FFFFFF"/>
          </a:solidFill>
          <a:ln w="12700">
            <a:solidFill>
              <a:srgbClr val="FFFFFF"/>
            </a:solidFill>
            <a:prstDash val="solid"/>
          </a:ln>
        </p:spPr>
      </p:sp>
      <p:sp>
        <p:nvSpPr>
          <p:cNvPr id="19" name="Text 17"/>
          <p:cNvSpPr/>
          <p:nvPr/>
        </p:nvSpPr>
        <p:spPr>
          <a:xfrm>
            <a:off x="457200" y="2478024"/>
            <a:ext cx="640080" cy="594360"/>
          </a:xfrm>
          <a:prstGeom prst="rect">
            <a:avLst/>
          </a:prstGeom>
          <a:noFill/>
          <a:ln/>
        </p:spPr>
        <p:txBody>
          <a:bodyPr wrap="square" rtlCol="0" anchor="ctr"/>
          <a:lstStyle/>
          <a:p>
            <a:pPr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04</a:t>
            </a:r>
            <a:endParaRPr lang="en-US" sz="2800" dirty="0"/>
          </a:p>
        </p:txBody>
      </p:sp>
      <p:sp>
        <p:nvSpPr>
          <p:cNvPr id="20" name="Text 18"/>
          <p:cNvSpPr/>
          <p:nvPr/>
        </p:nvSpPr>
        <p:spPr>
          <a:xfrm>
            <a:off x="411480" y="3008376"/>
            <a:ext cx="2578608" cy="713232"/>
          </a:xfrm>
          <a:prstGeom prst="rect">
            <a:avLst/>
          </a:prstGeom>
          <a:noFill/>
          <a:ln/>
        </p:spPr>
        <p:txBody>
          <a:bodyPr wrap="square" rtlCol="0" anchor="b"/>
          <a:lstStyle/>
          <a:p>
            <a:pPr indent="0" marL="0">
              <a:buNone/>
            </a:pPr>
            <a:r>
              <a:rPr lang="en-US" sz="850" dirty="0">
                <a:solidFill>
                  <a:srgbClr val="FFFFFF"/>
                </a:solidFill>
                <a:latin typeface="Atkinson Hyperlegible" pitchFamily="34" charset="0"/>
                <a:ea typeface="Atkinson Hyperlegible" pitchFamily="34" charset="-122"/>
                <a:cs typeface="Atkinson Hyperlegible" pitchFamily="34" charset="-120"/>
              </a:rPr>
              <a:t>Conceptos Fase II: Diseño y Procura</a:t>
            </a:r>
            <a:endParaRPr lang="en-US" sz="850" dirty="0"/>
          </a:p>
        </p:txBody>
      </p:sp>
      <p:sp>
        <p:nvSpPr>
          <p:cNvPr id="21" name="Shape 19"/>
          <p:cNvSpPr/>
          <p:nvPr/>
        </p:nvSpPr>
        <p:spPr>
          <a:xfrm>
            <a:off x="3172968" y="2368296"/>
            <a:ext cx="2743200" cy="1417320"/>
          </a:xfrm>
          <a:prstGeom prst="roundRect">
            <a:avLst>
              <a:gd name="adj" fmla="val 6452"/>
            </a:avLst>
          </a:prstGeom>
          <a:solidFill>
            <a:srgbClr val="8E44AD"/>
          </a:solidFill>
          <a:ln w="12700">
            <a:solidFill>
              <a:srgbClr val="8E44AD"/>
            </a:solidFill>
            <a:prstDash val="solid"/>
          </a:ln>
        </p:spPr>
      </p:sp>
      <p:sp>
        <p:nvSpPr>
          <p:cNvPr id="22" name="Shape 20"/>
          <p:cNvSpPr/>
          <p:nvPr/>
        </p:nvSpPr>
        <p:spPr>
          <a:xfrm>
            <a:off x="5321808" y="3282696"/>
            <a:ext cx="731520" cy="731520"/>
          </a:xfrm>
          <a:prstGeom prst="ellipse">
            <a:avLst/>
          </a:prstGeom>
          <a:solidFill>
            <a:srgbClr val="FFFFFF"/>
          </a:solidFill>
          <a:ln w="12700">
            <a:solidFill>
              <a:srgbClr val="FFFFFF"/>
            </a:solidFill>
            <a:prstDash val="solid"/>
          </a:ln>
        </p:spPr>
      </p:sp>
      <p:sp>
        <p:nvSpPr>
          <p:cNvPr id="23" name="Text 21"/>
          <p:cNvSpPr/>
          <p:nvPr/>
        </p:nvSpPr>
        <p:spPr>
          <a:xfrm>
            <a:off x="3310128" y="2478024"/>
            <a:ext cx="640080" cy="594360"/>
          </a:xfrm>
          <a:prstGeom prst="rect">
            <a:avLst/>
          </a:prstGeom>
          <a:noFill/>
          <a:ln/>
        </p:spPr>
        <p:txBody>
          <a:bodyPr wrap="square" rtlCol="0" anchor="ctr"/>
          <a:lstStyle/>
          <a:p>
            <a:pPr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05</a:t>
            </a:r>
            <a:endParaRPr lang="en-US" sz="2800" dirty="0"/>
          </a:p>
        </p:txBody>
      </p:sp>
      <p:sp>
        <p:nvSpPr>
          <p:cNvPr id="24" name="Text 22"/>
          <p:cNvSpPr/>
          <p:nvPr/>
        </p:nvSpPr>
        <p:spPr>
          <a:xfrm>
            <a:off x="3264408" y="3008376"/>
            <a:ext cx="2578608" cy="713232"/>
          </a:xfrm>
          <a:prstGeom prst="rect">
            <a:avLst/>
          </a:prstGeom>
          <a:noFill/>
          <a:ln/>
        </p:spPr>
        <p:txBody>
          <a:bodyPr wrap="square" rtlCol="0" anchor="b"/>
          <a:lstStyle/>
          <a:p>
            <a:pPr indent="0" marL="0">
              <a:buNone/>
            </a:pPr>
            <a:r>
              <a:rPr lang="en-US" sz="850" dirty="0">
                <a:solidFill>
                  <a:srgbClr val="FFFFFF"/>
                </a:solidFill>
                <a:latin typeface="Atkinson Hyperlegible" pitchFamily="34" charset="0"/>
                <a:ea typeface="Atkinson Hyperlegible" pitchFamily="34" charset="-122"/>
                <a:cs typeface="Atkinson Hyperlegible" pitchFamily="34" charset="-120"/>
              </a:rPr>
              <a:t>Conceptos Fase III: Operaciones de Campo</a:t>
            </a:r>
            <a:endParaRPr lang="en-US" sz="850" dirty="0"/>
          </a:p>
        </p:txBody>
      </p:sp>
      <p:sp>
        <p:nvSpPr>
          <p:cNvPr id="25" name="Shape 23"/>
          <p:cNvSpPr/>
          <p:nvPr/>
        </p:nvSpPr>
        <p:spPr>
          <a:xfrm>
            <a:off x="6025896" y="2368296"/>
            <a:ext cx="2743200" cy="1417320"/>
          </a:xfrm>
          <a:prstGeom prst="roundRect">
            <a:avLst>
              <a:gd name="adj" fmla="val 6452"/>
            </a:avLst>
          </a:prstGeom>
          <a:solidFill>
            <a:srgbClr val="C0392B"/>
          </a:solidFill>
          <a:ln w="12700">
            <a:solidFill>
              <a:srgbClr val="C0392B"/>
            </a:solidFill>
            <a:prstDash val="solid"/>
          </a:ln>
        </p:spPr>
      </p:sp>
      <p:sp>
        <p:nvSpPr>
          <p:cNvPr id="26" name="Shape 24"/>
          <p:cNvSpPr/>
          <p:nvPr/>
        </p:nvSpPr>
        <p:spPr>
          <a:xfrm>
            <a:off x="8174736" y="3282696"/>
            <a:ext cx="731520" cy="731520"/>
          </a:xfrm>
          <a:prstGeom prst="ellipse">
            <a:avLst/>
          </a:prstGeom>
          <a:solidFill>
            <a:srgbClr val="FFFFFF"/>
          </a:solidFill>
          <a:ln w="12700">
            <a:solidFill>
              <a:srgbClr val="FFFFFF"/>
            </a:solidFill>
            <a:prstDash val="solid"/>
          </a:ln>
        </p:spPr>
      </p:sp>
      <p:sp>
        <p:nvSpPr>
          <p:cNvPr id="27" name="Text 25"/>
          <p:cNvSpPr/>
          <p:nvPr/>
        </p:nvSpPr>
        <p:spPr>
          <a:xfrm>
            <a:off x="6163056" y="2478024"/>
            <a:ext cx="640080" cy="594360"/>
          </a:xfrm>
          <a:prstGeom prst="rect">
            <a:avLst/>
          </a:prstGeom>
          <a:noFill/>
          <a:ln/>
        </p:spPr>
        <p:txBody>
          <a:bodyPr wrap="square" rtlCol="0" anchor="ctr"/>
          <a:lstStyle/>
          <a:p>
            <a:pPr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06</a:t>
            </a:r>
            <a:endParaRPr lang="en-US" sz="2800" dirty="0"/>
          </a:p>
        </p:txBody>
      </p:sp>
      <p:sp>
        <p:nvSpPr>
          <p:cNvPr id="28" name="Text 26"/>
          <p:cNvSpPr/>
          <p:nvPr/>
        </p:nvSpPr>
        <p:spPr>
          <a:xfrm>
            <a:off x="6117336" y="3008376"/>
            <a:ext cx="2578608" cy="713232"/>
          </a:xfrm>
          <a:prstGeom prst="rect">
            <a:avLst/>
          </a:prstGeom>
          <a:noFill/>
          <a:ln/>
        </p:spPr>
        <p:txBody>
          <a:bodyPr wrap="square" rtlCol="0" anchor="b"/>
          <a:lstStyle/>
          <a:p>
            <a:pPr indent="0" marL="0">
              <a:buNone/>
            </a:pPr>
            <a:r>
              <a:rPr lang="en-US" sz="850" dirty="0">
                <a:solidFill>
                  <a:srgbClr val="FFFFFF"/>
                </a:solidFill>
                <a:latin typeface="Atkinson Hyperlegible" pitchFamily="34" charset="0"/>
                <a:ea typeface="Atkinson Hyperlegible" pitchFamily="34" charset="-122"/>
                <a:cs typeface="Atkinson Hyperlegible" pitchFamily="34" charset="-120"/>
              </a:rPr>
              <a:t>Implementación del Programa</a:t>
            </a:r>
            <a:endParaRPr lang="en-US" sz="850" dirty="0"/>
          </a:p>
        </p:txBody>
      </p:sp>
      <p:sp>
        <p:nvSpPr>
          <p:cNvPr id="29" name="Shape 27"/>
          <p:cNvSpPr/>
          <p:nvPr/>
        </p:nvSpPr>
        <p:spPr>
          <a:xfrm>
            <a:off x="320040" y="3895344"/>
            <a:ext cx="2743200" cy="1417320"/>
          </a:xfrm>
          <a:prstGeom prst="roundRect">
            <a:avLst>
              <a:gd name="adj" fmla="val 6452"/>
            </a:avLst>
          </a:prstGeom>
          <a:solidFill>
            <a:srgbClr val="2C3E8C"/>
          </a:solidFill>
          <a:ln w="12700">
            <a:solidFill>
              <a:srgbClr val="2C3E8C"/>
            </a:solidFill>
            <a:prstDash val="solid"/>
          </a:ln>
        </p:spPr>
      </p:sp>
      <p:sp>
        <p:nvSpPr>
          <p:cNvPr id="30" name="Shape 28"/>
          <p:cNvSpPr/>
          <p:nvPr/>
        </p:nvSpPr>
        <p:spPr>
          <a:xfrm>
            <a:off x="2468880" y="4809744"/>
            <a:ext cx="731520" cy="731520"/>
          </a:xfrm>
          <a:prstGeom prst="ellipse">
            <a:avLst/>
          </a:prstGeom>
          <a:solidFill>
            <a:srgbClr val="FFFFFF"/>
          </a:solidFill>
          <a:ln w="12700">
            <a:solidFill>
              <a:srgbClr val="FFFFFF"/>
            </a:solidFill>
            <a:prstDash val="solid"/>
          </a:ln>
        </p:spPr>
      </p:sp>
      <p:sp>
        <p:nvSpPr>
          <p:cNvPr id="31" name="Text 29"/>
          <p:cNvSpPr/>
          <p:nvPr/>
        </p:nvSpPr>
        <p:spPr>
          <a:xfrm>
            <a:off x="457200" y="4005072"/>
            <a:ext cx="640080" cy="594360"/>
          </a:xfrm>
          <a:prstGeom prst="rect">
            <a:avLst/>
          </a:prstGeom>
          <a:noFill/>
          <a:ln/>
        </p:spPr>
        <p:txBody>
          <a:bodyPr wrap="square" rtlCol="0" anchor="ctr"/>
          <a:lstStyle/>
          <a:p>
            <a:pPr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07</a:t>
            </a:r>
            <a:endParaRPr lang="en-US" sz="2800" dirty="0"/>
          </a:p>
        </p:txBody>
      </p:sp>
      <p:sp>
        <p:nvSpPr>
          <p:cNvPr id="32" name="Text 30"/>
          <p:cNvSpPr/>
          <p:nvPr/>
        </p:nvSpPr>
        <p:spPr>
          <a:xfrm>
            <a:off x="411480" y="4535424"/>
            <a:ext cx="2578608" cy="713232"/>
          </a:xfrm>
          <a:prstGeom prst="rect">
            <a:avLst/>
          </a:prstGeom>
          <a:noFill/>
          <a:ln/>
        </p:spPr>
        <p:txBody>
          <a:bodyPr wrap="square" rtlCol="0" anchor="b"/>
          <a:lstStyle/>
          <a:p>
            <a:pPr indent="0" marL="0">
              <a:buNone/>
            </a:pPr>
            <a:r>
              <a:rPr lang="en-US" sz="850" dirty="0">
                <a:solidFill>
                  <a:srgbClr val="FFFFFF"/>
                </a:solidFill>
                <a:latin typeface="Atkinson Hyperlegible" pitchFamily="34" charset="0"/>
                <a:ea typeface="Atkinson Hyperlegible" pitchFamily="34" charset="-122"/>
                <a:cs typeface="Atkinson Hyperlegible" pitchFamily="34" charset="-120"/>
              </a:rPr>
              <a:t>Casos de Estudio</a:t>
            </a:r>
            <a:endParaRPr lang="en-US" sz="850" dirty="0"/>
          </a:p>
        </p:txBody>
      </p:sp>
      <p:sp>
        <p:nvSpPr>
          <p:cNvPr id="33" name="Shape 31"/>
          <p:cNvSpPr/>
          <p:nvPr/>
        </p:nvSpPr>
        <p:spPr>
          <a:xfrm>
            <a:off x="182880" y="4956048"/>
            <a:ext cx="8961120" cy="182880"/>
          </a:xfrm>
          <a:prstGeom prst="rect">
            <a:avLst/>
          </a:prstGeom>
          <a:solidFill>
            <a:srgbClr val="0A74E3"/>
          </a:solidFill>
          <a:ln w="12700">
            <a:solidFill>
              <a:srgbClr val="0A74E3"/>
            </a:solidFill>
            <a:prstDash val="solid"/>
          </a:ln>
        </p:spPr>
      </p:sp>
      <p:sp>
        <p:nvSpPr>
          <p:cNvPr id="34" name="Text 32"/>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2 / 126</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A74E3"/>
          </a:solidFill>
          <a:ln w="12700">
            <a:solidFill>
              <a:srgbClr val="0A74E3"/>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¿Qué es la Constructabilidad?</a:t>
            </a:r>
            <a:endParaRPr lang="en-US" sz="1800" dirty="0"/>
          </a:p>
        </p:txBody>
      </p:sp>
      <p:sp>
        <p:nvSpPr>
          <p:cNvPr id="4" name="Shape 2"/>
          <p:cNvSpPr/>
          <p:nvPr/>
        </p:nvSpPr>
        <p:spPr>
          <a:xfrm>
            <a:off x="320040" y="640080"/>
            <a:ext cx="8503920" cy="41148"/>
          </a:xfrm>
          <a:prstGeom prst="rect">
            <a:avLst/>
          </a:prstGeom>
          <a:solidFill>
            <a:srgbClr val="0A74E3"/>
          </a:solidFill>
          <a:ln w="12700">
            <a:solidFill>
              <a:srgbClr val="0A74E3"/>
            </a:solidFill>
            <a:prstDash val="solid"/>
          </a:ln>
        </p:spPr>
      </p:sp>
      <p:sp>
        <p:nvSpPr>
          <p:cNvPr id="5" name="Shape 3"/>
          <p:cNvSpPr/>
          <p:nvPr/>
        </p:nvSpPr>
        <p:spPr>
          <a:xfrm>
            <a:off x="320040" y="822960"/>
            <a:ext cx="4069080" cy="1920240"/>
          </a:xfrm>
          <a:prstGeom prst="roundRect">
            <a:avLst>
              <a:gd name="adj" fmla="val 4762"/>
            </a:avLst>
          </a:prstGeom>
          <a:solidFill>
            <a:srgbClr val="0A74E3"/>
          </a:solidFill>
          <a:ln w="12700">
            <a:solidFill>
              <a:srgbClr val="0A74E3"/>
            </a:solidFill>
            <a:prstDash val="solid"/>
          </a:ln>
        </p:spPr>
      </p:sp>
      <p:sp>
        <p:nvSpPr>
          <p:cNvPr id="6" name="Text 4"/>
          <p:cNvSpPr/>
          <p:nvPr/>
        </p:nvSpPr>
        <p:spPr>
          <a:xfrm>
            <a:off x="457200" y="713232"/>
            <a:ext cx="731520" cy="822960"/>
          </a:xfrm>
          <a:prstGeom prst="rect">
            <a:avLst/>
          </a:prstGeom>
          <a:noFill/>
          <a:ln/>
        </p:spPr>
        <p:txBody>
          <a:bodyPr wrap="square" rtlCol="0" anchor="ctr"/>
          <a:lstStyle/>
          <a:p>
            <a:pPr indent="0" marL="0">
              <a:buNone/>
            </a:pPr>
            <a:r>
              <a:rPr lang="en-US" sz="6000" b="1" dirty="0">
                <a:solidFill>
                  <a:srgbClr val="FFFFFF">
                    <a:alpha val="75000"/>
                  </a:srgbClr>
                </a:solidFill>
                <a:latin typeface="Atkinson Hyperlegible" pitchFamily="34" charset="0"/>
                <a:ea typeface="Atkinson Hyperlegible" pitchFamily="34" charset="-122"/>
                <a:cs typeface="Atkinson Hyperlegible" pitchFamily="34" charset="-120"/>
              </a:rPr>
              <a:t>"</a:t>
            </a:r>
            <a:endParaRPr lang="en-US" sz="6000" dirty="0"/>
          </a:p>
        </p:txBody>
      </p:sp>
      <p:sp>
        <p:nvSpPr>
          <p:cNvPr id="7" name="Text 5"/>
          <p:cNvSpPr/>
          <p:nvPr/>
        </p:nvSpPr>
        <p:spPr>
          <a:xfrm>
            <a:off x="502920" y="1051560"/>
            <a:ext cx="3703320" cy="1463040"/>
          </a:xfrm>
          <a:prstGeom prst="rect">
            <a:avLst/>
          </a:prstGeom>
          <a:noFill/>
          <a:ln/>
        </p:spPr>
        <p:txBody>
          <a:bodyPr wrap="square" rtlCol="0" anchor="ctr"/>
          <a:lstStyle/>
          <a:p>
            <a:pPr indent="0" marL="0">
              <a:buNone/>
            </a:pPr>
            <a:r>
              <a:rPr lang="en-US" sz="950" i="1" dirty="0">
                <a:solidFill>
                  <a:srgbClr val="FFFFFF"/>
                </a:solidFill>
                <a:latin typeface="Atkinson Hyperlegible" pitchFamily="34" charset="0"/>
                <a:ea typeface="Atkinson Hyperlegible" pitchFamily="34" charset="-122"/>
                <a:cs typeface="Atkinson Hyperlegible" pitchFamily="34" charset="-120"/>
              </a:rPr>
              <a:t>El uso óptimo del conocimiento y experiencia de construcción en la planificación, diseño, adquisiciones y operaciones de campo para alcanzar los objetivos del proyecto.</a:t>
            </a:r>
            <a:endParaRPr lang="en-US" sz="950" dirty="0"/>
          </a:p>
        </p:txBody>
      </p:sp>
      <p:sp>
        <p:nvSpPr>
          <p:cNvPr id="8" name="Text 6"/>
          <p:cNvSpPr/>
          <p:nvPr/>
        </p:nvSpPr>
        <p:spPr>
          <a:xfrm>
            <a:off x="502920" y="2633472"/>
            <a:ext cx="3703320" cy="274320"/>
          </a:xfrm>
          <a:prstGeom prst="rect">
            <a:avLst/>
          </a:prstGeom>
          <a:noFill/>
          <a:ln/>
        </p:spPr>
        <p:txBody>
          <a:bodyPr wrap="square" rtlCol="0" anchor="ctr"/>
          <a:lstStyle/>
          <a:p>
            <a:pPr indent="0" marL="0">
              <a:buNone/>
            </a:pPr>
            <a:r>
              <a:rPr lang="en-US" sz="750" dirty="0">
                <a:solidFill>
                  <a:srgbClr val="FFFFFF">
                    <a:alpha val="80000"/>
                  </a:srgbClr>
                </a:solidFill>
                <a:latin typeface="Atkinson Hyperlegible" pitchFamily="34" charset="0"/>
                <a:ea typeface="Atkinson Hyperlegible" pitchFamily="34" charset="-122"/>
                <a:cs typeface="Atkinson Hyperlegible" pitchFamily="34" charset="-120"/>
              </a:rPr>
              <a:t>— Construction Industry Institute (CII), 1986</a:t>
            </a:r>
            <a:endParaRPr lang="en-US" sz="750" dirty="0"/>
          </a:p>
        </p:txBody>
      </p:sp>
      <p:sp>
        <p:nvSpPr>
          <p:cNvPr id="9" name="Shape 7"/>
          <p:cNvSpPr/>
          <p:nvPr/>
        </p:nvSpPr>
        <p:spPr>
          <a:xfrm>
            <a:off x="4617720" y="822960"/>
            <a:ext cx="4251960" cy="987552"/>
          </a:xfrm>
          <a:prstGeom prst="roundRect">
            <a:avLst>
              <a:gd name="adj" fmla="val 7407"/>
            </a:avLst>
          </a:prstGeom>
          <a:solidFill>
            <a:srgbClr val="FFFFFF"/>
          </a:solidFill>
          <a:ln w="19050">
            <a:solidFill>
              <a:srgbClr val="0A74E3"/>
            </a:solidFill>
            <a:prstDash val="solid"/>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27448" y="914400"/>
            <a:ext cx="347472" cy="347472"/>
          </a:xfrm>
          <a:prstGeom prst="rect">
            <a:avLst/>
          </a:prstGeom>
        </p:spPr>
      </p:pic>
      <p:sp>
        <p:nvSpPr>
          <p:cNvPr id="11" name="Text 8"/>
          <p:cNvSpPr/>
          <p:nvPr/>
        </p:nvSpPr>
        <p:spPr>
          <a:xfrm>
            <a:off x="5120640" y="896112"/>
            <a:ext cx="3657600" cy="365760"/>
          </a:xfrm>
          <a:prstGeom prst="rect">
            <a:avLst/>
          </a:prstGeom>
          <a:noFill/>
          <a:ln/>
        </p:spPr>
        <p:txBody>
          <a:bodyPr wrap="square" rtlCol="0" anchor="ctr"/>
          <a:lstStyle/>
          <a:p>
            <a:pPr indent="0" marL="0">
              <a:buNone/>
            </a:pPr>
            <a:r>
              <a:rPr lang="en-US" sz="850" b="1" dirty="0">
                <a:solidFill>
                  <a:srgbClr val="0A74E3"/>
                </a:solidFill>
                <a:latin typeface="Atkinson Hyperlegible" pitchFamily="34" charset="0"/>
                <a:ea typeface="Atkinson Hyperlegible" pitchFamily="34" charset="-122"/>
                <a:cs typeface="Atkinson Hyperlegible" pitchFamily="34" charset="-120"/>
              </a:rPr>
              <a:t>Integración</a:t>
            </a:r>
            <a:endParaRPr lang="en-US" sz="850" dirty="0"/>
          </a:p>
        </p:txBody>
      </p:sp>
      <p:sp>
        <p:nvSpPr>
          <p:cNvPr id="12" name="Text 9"/>
          <p:cNvSpPr/>
          <p:nvPr/>
        </p:nvSpPr>
        <p:spPr>
          <a:xfrm>
            <a:off x="4727448" y="1298448"/>
            <a:ext cx="4050792" cy="39319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Une diseño y construcción, disciplinas tradicionalmente separadas desde ~1750.</a:t>
            </a:r>
            <a:endParaRPr lang="en-US" sz="750" dirty="0"/>
          </a:p>
        </p:txBody>
      </p:sp>
      <p:sp>
        <p:nvSpPr>
          <p:cNvPr id="13" name="Shape 10"/>
          <p:cNvSpPr/>
          <p:nvPr/>
        </p:nvSpPr>
        <p:spPr>
          <a:xfrm>
            <a:off x="4617720" y="1920240"/>
            <a:ext cx="4251960" cy="987552"/>
          </a:xfrm>
          <a:prstGeom prst="roundRect">
            <a:avLst>
              <a:gd name="adj" fmla="val 7407"/>
            </a:avLst>
          </a:prstGeom>
          <a:solidFill>
            <a:srgbClr val="0A74E3"/>
          </a:solidFill>
          <a:ln w="19050">
            <a:solidFill>
              <a:srgbClr val="0A74E3"/>
            </a:solidFill>
            <a:prstDash val="solid"/>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27448" y="2011680"/>
            <a:ext cx="347472" cy="347472"/>
          </a:xfrm>
          <a:prstGeom prst="rect">
            <a:avLst/>
          </a:prstGeom>
        </p:spPr>
      </p:pic>
      <p:sp>
        <p:nvSpPr>
          <p:cNvPr id="15" name="Text 11"/>
          <p:cNvSpPr/>
          <p:nvPr/>
        </p:nvSpPr>
        <p:spPr>
          <a:xfrm>
            <a:off x="5120640" y="1993392"/>
            <a:ext cx="3657600" cy="365760"/>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Anticipación</a:t>
            </a:r>
            <a:endParaRPr lang="en-US" sz="850" dirty="0"/>
          </a:p>
        </p:txBody>
      </p:sp>
      <p:sp>
        <p:nvSpPr>
          <p:cNvPr id="16" name="Text 12"/>
          <p:cNvSpPr/>
          <p:nvPr/>
        </p:nvSpPr>
        <p:spPr>
          <a:xfrm>
            <a:off x="4727448" y="2395728"/>
            <a:ext cx="4050792" cy="393192"/>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Incorpora conocimiento constructivo ANTES de que se completen los diseños.</a:t>
            </a:r>
            <a:endParaRPr lang="en-US" sz="750" dirty="0"/>
          </a:p>
        </p:txBody>
      </p:sp>
      <p:sp>
        <p:nvSpPr>
          <p:cNvPr id="17" name="Shape 13"/>
          <p:cNvSpPr/>
          <p:nvPr/>
        </p:nvSpPr>
        <p:spPr>
          <a:xfrm>
            <a:off x="4617720" y="3017520"/>
            <a:ext cx="4251960" cy="987552"/>
          </a:xfrm>
          <a:prstGeom prst="roundRect">
            <a:avLst>
              <a:gd name="adj" fmla="val 7407"/>
            </a:avLst>
          </a:prstGeom>
          <a:solidFill>
            <a:srgbClr val="FFFFFF"/>
          </a:solidFill>
          <a:ln w="19050">
            <a:solidFill>
              <a:srgbClr val="0A74E3"/>
            </a:solidFill>
            <a:prstDash val="solid"/>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27448" y="3108960"/>
            <a:ext cx="347472" cy="347472"/>
          </a:xfrm>
          <a:prstGeom prst="rect">
            <a:avLst/>
          </a:prstGeom>
        </p:spPr>
      </p:pic>
      <p:sp>
        <p:nvSpPr>
          <p:cNvPr id="19" name="Text 14"/>
          <p:cNvSpPr/>
          <p:nvPr/>
        </p:nvSpPr>
        <p:spPr>
          <a:xfrm>
            <a:off x="5120640" y="3090672"/>
            <a:ext cx="3657600" cy="365760"/>
          </a:xfrm>
          <a:prstGeom prst="rect">
            <a:avLst/>
          </a:prstGeom>
          <a:noFill/>
          <a:ln/>
        </p:spPr>
        <p:txBody>
          <a:bodyPr wrap="square" rtlCol="0" anchor="ctr"/>
          <a:lstStyle/>
          <a:p>
            <a:pPr indent="0" marL="0">
              <a:buNone/>
            </a:pPr>
            <a:r>
              <a:rPr lang="en-US" sz="850" b="1" dirty="0">
                <a:solidFill>
                  <a:srgbClr val="0A74E3"/>
                </a:solidFill>
                <a:latin typeface="Atkinson Hyperlegible" pitchFamily="34" charset="0"/>
                <a:ea typeface="Atkinson Hyperlegible" pitchFamily="34" charset="-122"/>
                <a:cs typeface="Atkinson Hyperlegible" pitchFamily="34" charset="-120"/>
              </a:rPr>
              <a:t>Proactividad — Retorno</a:t>
            </a:r>
            <a:endParaRPr lang="en-US" sz="850" dirty="0"/>
          </a:p>
        </p:txBody>
      </p:sp>
      <p:sp>
        <p:nvSpPr>
          <p:cNvPr id="20" name="Text 15"/>
          <p:cNvSpPr/>
          <p:nvPr/>
        </p:nvSpPr>
        <p:spPr>
          <a:xfrm>
            <a:off x="4727448" y="3493008"/>
            <a:ext cx="4050792" cy="39319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No es solo revisión: es co-creación del diseño. Retornos documentados de hasta 75:1 sobre la inversión.</a:t>
            </a:r>
            <a:endParaRPr lang="en-US" sz="750" dirty="0"/>
          </a:p>
        </p:txBody>
      </p:sp>
      <p:sp>
        <p:nvSpPr>
          <p:cNvPr id="21" name="Shape 16"/>
          <p:cNvSpPr/>
          <p:nvPr/>
        </p:nvSpPr>
        <p:spPr>
          <a:xfrm>
            <a:off x="182880" y="4956048"/>
            <a:ext cx="8961120" cy="182880"/>
          </a:xfrm>
          <a:prstGeom prst="rect">
            <a:avLst/>
          </a:prstGeom>
          <a:solidFill>
            <a:srgbClr val="0A74E3"/>
          </a:solidFill>
          <a:ln w="12700">
            <a:solidFill>
              <a:srgbClr val="0A74E3"/>
            </a:solidFill>
            <a:prstDash val="solid"/>
          </a:ln>
        </p:spPr>
      </p:sp>
      <p:sp>
        <p:nvSpPr>
          <p:cNvPr id="22" name="Text 17"/>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3 / 126</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A74E3"/>
          </a:solidFill>
          <a:ln w="12700">
            <a:solidFill>
              <a:srgbClr val="0A74E3"/>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Origen e Historia de la Constructabilidad</a:t>
            </a:r>
            <a:endParaRPr lang="en-US" sz="1800" dirty="0"/>
          </a:p>
        </p:txBody>
      </p:sp>
      <p:sp>
        <p:nvSpPr>
          <p:cNvPr id="4" name="Shape 2"/>
          <p:cNvSpPr/>
          <p:nvPr/>
        </p:nvSpPr>
        <p:spPr>
          <a:xfrm>
            <a:off x="320040" y="640080"/>
            <a:ext cx="8503920" cy="41148"/>
          </a:xfrm>
          <a:prstGeom prst="rect">
            <a:avLst/>
          </a:prstGeom>
          <a:solidFill>
            <a:srgbClr val="0A74E3"/>
          </a:solidFill>
          <a:ln w="12700">
            <a:solidFill>
              <a:srgbClr val="0A74E3"/>
            </a:solidFill>
            <a:prstDash val="solid"/>
          </a:ln>
        </p:spPr>
      </p:sp>
      <p:sp>
        <p:nvSpPr>
          <p:cNvPr id="5" name="Text 3"/>
          <p:cNvSpPr/>
          <p:nvPr/>
        </p:nvSpPr>
        <p:spPr>
          <a:xfrm>
            <a:off x="320040" y="704088"/>
            <a:ext cx="8503920" cy="274320"/>
          </a:xfrm>
          <a:prstGeom prst="rect">
            <a:avLst/>
          </a:prstGeom>
          <a:noFill/>
          <a:ln/>
        </p:spPr>
        <p:txBody>
          <a:bodyPr wrap="square" rtlCol="0" anchor="ctr"/>
          <a:lstStyle/>
          <a:p>
            <a:pPr indent="0" marL="0">
              <a:buNone/>
            </a:pPr>
            <a:r>
              <a:rPr lang="en-US" sz="900" i="1" dirty="0">
                <a:solidFill>
                  <a:srgbClr val="0A74E3"/>
                </a:solidFill>
                <a:latin typeface="Atkinson Hyperlegible" pitchFamily="34" charset="0"/>
                <a:ea typeface="Atkinson Hyperlegible" pitchFamily="34" charset="-122"/>
                <a:cs typeface="Atkinson Hyperlegible" pitchFamily="34" charset="-120"/>
              </a:rPr>
              <a:t>Desde la integración artesanal hasta la disciplina formal moderna</a:t>
            </a:r>
            <a:endParaRPr lang="en-US" sz="900" dirty="0"/>
          </a:p>
        </p:txBody>
      </p:sp>
      <p:sp>
        <p:nvSpPr>
          <p:cNvPr id="6" name="Shape 4"/>
          <p:cNvSpPr/>
          <p:nvPr/>
        </p:nvSpPr>
        <p:spPr>
          <a:xfrm>
            <a:off x="457200" y="2724912"/>
            <a:ext cx="8229600" cy="36576"/>
          </a:xfrm>
          <a:prstGeom prst="rect">
            <a:avLst/>
          </a:prstGeom>
          <a:solidFill>
            <a:srgbClr val="0A74E3"/>
          </a:solidFill>
          <a:ln w="12700">
            <a:solidFill>
              <a:srgbClr val="0A74E3"/>
            </a:solidFill>
            <a:prstDash val="solid"/>
          </a:ln>
        </p:spPr>
      </p:sp>
      <p:sp>
        <p:nvSpPr>
          <p:cNvPr id="7" name="Shape 5"/>
          <p:cNvSpPr/>
          <p:nvPr/>
        </p:nvSpPr>
        <p:spPr>
          <a:xfrm flipV="1">
            <a:off x="457200" y="2240280"/>
            <a:ext cx="18288" cy="466344"/>
          </a:xfrm>
          <a:prstGeom prst="line">
            <a:avLst/>
          </a:prstGeom>
          <a:noFill/>
          <a:ln w="12700">
            <a:solidFill>
              <a:srgbClr val="0A74E3"/>
            </a:solidFill>
            <a:prstDash val="solid"/>
          </a:ln>
        </p:spPr>
      </p:sp>
      <p:sp>
        <p:nvSpPr>
          <p:cNvPr id="8" name="Shape 6"/>
          <p:cNvSpPr/>
          <p:nvPr/>
        </p:nvSpPr>
        <p:spPr>
          <a:xfrm>
            <a:off x="329184" y="2615184"/>
            <a:ext cx="256032" cy="256032"/>
          </a:xfrm>
          <a:prstGeom prst="ellipse">
            <a:avLst/>
          </a:prstGeom>
          <a:solidFill>
            <a:srgbClr val="0A74E3"/>
          </a:solidFill>
          <a:ln w="25400">
            <a:solidFill>
              <a:srgbClr val="FFFFFF"/>
            </a:solidFill>
            <a:prstDash val="solid"/>
          </a:ln>
        </p:spPr>
      </p:sp>
      <p:sp>
        <p:nvSpPr>
          <p:cNvPr id="9" name="Shape 7"/>
          <p:cNvSpPr/>
          <p:nvPr/>
        </p:nvSpPr>
        <p:spPr>
          <a:xfrm>
            <a:off x="164592" y="2221992"/>
            <a:ext cx="585216" cy="256032"/>
          </a:xfrm>
          <a:prstGeom prst="roundRect">
            <a:avLst>
              <a:gd name="adj" fmla="val 17857"/>
            </a:avLst>
          </a:prstGeom>
          <a:solidFill>
            <a:srgbClr val="0A74E3"/>
          </a:solidFill>
          <a:ln w="12700">
            <a:solidFill>
              <a:srgbClr val="0A74E3"/>
            </a:solidFill>
            <a:prstDash val="solid"/>
          </a:ln>
        </p:spPr>
      </p:sp>
      <p:sp>
        <p:nvSpPr>
          <p:cNvPr id="10" name="Text 8"/>
          <p:cNvSpPr/>
          <p:nvPr/>
        </p:nvSpPr>
        <p:spPr>
          <a:xfrm>
            <a:off x="164592" y="2221992"/>
            <a:ext cx="585216" cy="256032"/>
          </a:xfrm>
          <a:prstGeom prst="rect">
            <a:avLst/>
          </a:prstGeom>
          <a:noFill/>
          <a:ln/>
        </p:spPr>
        <p:txBody>
          <a:bodyPr wrap="square" rtlCol="0" anchor="ctr"/>
          <a:lstStyle/>
          <a:p>
            <a:pPr algn="ctr" indent="0" marL="0">
              <a:buNone/>
            </a:pPr>
            <a:r>
              <a:rPr lang="en-US" sz="700" b="1" dirty="0">
                <a:solidFill>
                  <a:srgbClr val="FFFFFF"/>
                </a:solidFill>
                <a:latin typeface="Atkinson Hyperlegible" pitchFamily="34" charset="0"/>
                <a:ea typeface="Atkinson Hyperlegible" pitchFamily="34" charset="-122"/>
                <a:cs typeface="Atkinson Hyperlegible" pitchFamily="34" charset="-120"/>
              </a:rPr>
              <a:t>~1750</a:t>
            </a:r>
            <a:endParaRPr lang="en-US" sz="700" dirty="0"/>
          </a:p>
        </p:txBody>
      </p:sp>
      <p:sp>
        <p:nvSpPr>
          <p:cNvPr id="11" name="Shape 9"/>
          <p:cNvSpPr/>
          <p:nvPr/>
        </p:nvSpPr>
        <p:spPr>
          <a:xfrm>
            <a:off x="-182880" y="1051560"/>
            <a:ext cx="1280160" cy="914400"/>
          </a:xfrm>
          <a:prstGeom prst="roundRect">
            <a:avLst>
              <a:gd name="adj" fmla="val 6000"/>
            </a:avLst>
          </a:prstGeom>
          <a:solidFill>
            <a:srgbClr val="FFFFFF"/>
          </a:solidFill>
          <a:ln w="15240">
            <a:solidFill>
              <a:srgbClr val="0A74E3"/>
            </a:solidFill>
            <a:prstDash val="solid"/>
          </a:ln>
        </p:spPr>
      </p:sp>
      <p:sp>
        <p:nvSpPr>
          <p:cNvPr id="12" name="Text 10"/>
          <p:cNvSpPr/>
          <p:nvPr/>
        </p:nvSpPr>
        <p:spPr>
          <a:xfrm>
            <a:off x="-137160" y="1097280"/>
            <a:ext cx="1188720" cy="457200"/>
          </a:xfrm>
          <a:prstGeom prst="rect">
            <a:avLst/>
          </a:prstGeom>
          <a:noFill/>
          <a:ln/>
        </p:spPr>
        <p:txBody>
          <a:bodyPr wrap="square" rtlCol="0" anchor="ctr"/>
          <a:lstStyle/>
          <a:p>
            <a:pPr algn="ctr" indent="0" marL="0">
              <a:buNone/>
            </a:pPr>
            <a:r>
              <a:rPr lang="en-US" sz="700" b="1" dirty="0">
                <a:solidFill>
                  <a:srgbClr val="0A74E3"/>
                </a:solidFill>
                <a:latin typeface="Atkinson Hyperlegible" pitchFamily="34" charset="0"/>
                <a:ea typeface="Atkinson Hyperlegible" pitchFamily="34" charset="-122"/>
                <a:cs typeface="Atkinson Hyperlegible" pitchFamily="34" charset="-120"/>
              </a:rPr>
              <a:t>Separación</a:t>
            </a:r>
            <a:endParaRPr lang="en-US" sz="700" dirty="0"/>
          </a:p>
        </p:txBody>
      </p:sp>
      <p:sp>
        <p:nvSpPr>
          <p:cNvPr id="13" name="Text 11"/>
          <p:cNvSpPr/>
          <p:nvPr/>
        </p:nvSpPr>
        <p:spPr>
          <a:xfrm>
            <a:off x="-137160" y="1527048"/>
            <a:ext cx="1188720" cy="457200"/>
          </a:xfrm>
          <a:prstGeom prst="rect">
            <a:avLst/>
          </a:prstGeom>
          <a:noFill/>
          <a:ln/>
        </p:spPr>
        <p:txBody>
          <a:bodyPr wrap="square" rtlCol="0" anchor="ctr"/>
          <a:lstStyle/>
          <a:p>
            <a:pPr algn="ctr" indent="0" marL="0">
              <a:buNone/>
            </a:pPr>
            <a:r>
              <a:rPr lang="en-US" sz="600" dirty="0">
                <a:solidFill>
                  <a:srgbClr val="1D1D1F"/>
                </a:solidFill>
                <a:latin typeface="Atkinson Hyperlegible" pitchFamily="34" charset="0"/>
                <a:ea typeface="Atkinson Hyperlegible" pitchFamily="34" charset="-122"/>
                <a:cs typeface="Atkinson Hyperlegible" pitchFamily="34" charset="-120"/>
              </a:rPr>
              <a:t>Arquitectos y constructores se dividen</a:t>
            </a:r>
            <a:endParaRPr lang="en-US" sz="600" dirty="0"/>
          </a:p>
        </p:txBody>
      </p:sp>
      <p:sp>
        <p:nvSpPr>
          <p:cNvPr id="14" name="Shape 12"/>
          <p:cNvSpPr/>
          <p:nvPr/>
        </p:nvSpPr>
        <p:spPr>
          <a:xfrm>
            <a:off x="1828800" y="2779776"/>
            <a:ext cx="18288" cy="329184"/>
          </a:xfrm>
          <a:prstGeom prst="line">
            <a:avLst/>
          </a:prstGeom>
          <a:noFill/>
          <a:ln w="12700">
            <a:solidFill>
              <a:srgbClr val="0A74E3"/>
            </a:solidFill>
            <a:prstDash val="solid"/>
          </a:ln>
        </p:spPr>
      </p:sp>
      <p:sp>
        <p:nvSpPr>
          <p:cNvPr id="15" name="Shape 13"/>
          <p:cNvSpPr/>
          <p:nvPr/>
        </p:nvSpPr>
        <p:spPr>
          <a:xfrm>
            <a:off x="1700784" y="2615184"/>
            <a:ext cx="256032" cy="256032"/>
          </a:xfrm>
          <a:prstGeom prst="ellipse">
            <a:avLst/>
          </a:prstGeom>
          <a:solidFill>
            <a:srgbClr val="0A74E3"/>
          </a:solidFill>
          <a:ln w="25400">
            <a:solidFill>
              <a:srgbClr val="FFFFFF"/>
            </a:solidFill>
            <a:prstDash val="solid"/>
          </a:ln>
        </p:spPr>
      </p:sp>
      <p:sp>
        <p:nvSpPr>
          <p:cNvPr id="16" name="Shape 14"/>
          <p:cNvSpPr/>
          <p:nvPr/>
        </p:nvSpPr>
        <p:spPr>
          <a:xfrm>
            <a:off x="1536192" y="2852928"/>
            <a:ext cx="585216" cy="256032"/>
          </a:xfrm>
          <a:prstGeom prst="roundRect">
            <a:avLst>
              <a:gd name="adj" fmla="val 17857"/>
            </a:avLst>
          </a:prstGeom>
          <a:solidFill>
            <a:srgbClr val="0A74E3"/>
          </a:solidFill>
          <a:ln w="12700">
            <a:solidFill>
              <a:srgbClr val="0A74E3"/>
            </a:solidFill>
            <a:prstDash val="solid"/>
          </a:ln>
        </p:spPr>
      </p:sp>
      <p:sp>
        <p:nvSpPr>
          <p:cNvPr id="17" name="Text 15"/>
          <p:cNvSpPr/>
          <p:nvPr/>
        </p:nvSpPr>
        <p:spPr>
          <a:xfrm>
            <a:off x="1536192" y="2852928"/>
            <a:ext cx="585216" cy="256032"/>
          </a:xfrm>
          <a:prstGeom prst="rect">
            <a:avLst/>
          </a:prstGeom>
          <a:noFill/>
          <a:ln/>
        </p:spPr>
        <p:txBody>
          <a:bodyPr wrap="square" rtlCol="0" anchor="ctr"/>
          <a:lstStyle/>
          <a:p>
            <a:pPr algn="ctr" indent="0" marL="0">
              <a:buNone/>
            </a:pPr>
            <a:r>
              <a:rPr lang="en-US" sz="700" b="1" dirty="0">
                <a:solidFill>
                  <a:srgbClr val="FFFFFF"/>
                </a:solidFill>
                <a:latin typeface="Atkinson Hyperlegible" pitchFamily="34" charset="0"/>
                <a:ea typeface="Atkinson Hyperlegible" pitchFamily="34" charset="-122"/>
                <a:cs typeface="Atkinson Hyperlegible" pitchFamily="34" charset="-120"/>
              </a:rPr>
              <a:t>1970s</a:t>
            </a:r>
            <a:endParaRPr lang="en-US" sz="700" dirty="0"/>
          </a:p>
        </p:txBody>
      </p:sp>
      <p:sp>
        <p:nvSpPr>
          <p:cNvPr id="18" name="Shape 16"/>
          <p:cNvSpPr/>
          <p:nvPr/>
        </p:nvSpPr>
        <p:spPr>
          <a:xfrm>
            <a:off x="1188720" y="3108960"/>
            <a:ext cx="1280160" cy="914400"/>
          </a:xfrm>
          <a:prstGeom prst="roundRect">
            <a:avLst>
              <a:gd name="adj" fmla="val 6000"/>
            </a:avLst>
          </a:prstGeom>
          <a:solidFill>
            <a:srgbClr val="FFFFFF"/>
          </a:solidFill>
          <a:ln w="15240">
            <a:solidFill>
              <a:srgbClr val="0A74E3"/>
            </a:solidFill>
            <a:prstDash val="solid"/>
          </a:ln>
        </p:spPr>
      </p:sp>
      <p:sp>
        <p:nvSpPr>
          <p:cNvPr id="19" name="Text 17"/>
          <p:cNvSpPr/>
          <p:nvPr/>
        </p:nvSpPr>
        <p:spPr>
          <a:xfrm>
            <a:off x="1234440" y="3154680"/>
            <a:ext cx="1188720" cy="457200"/>
          </a:xfrm>
          <a:prstGeom prst="rect">
            <a:avLst/>
          </a:prstGeom>
          <a:noFill/>
          <a:ln/>
        </p:spPr>
        <p:txBody>
          <a:bodyPr wrap="square" rtlCol="0" anchor="ctr"/>
          <a:lstStyle/>
          <a:p>
            <a:pPr algn="ctr" indent="0" marL="0">
              <a:buNone/>
            </a:pPr>
            <a:r>
              <a:rPr lang="en-US" sz="700" b="1" dirty="0">
                <a:solidFill>
                  <a:srgbClr val="0A74E3"/>
                </a:solidFill>
                <a:latin typeface="Atkinson Hyperlegible" pitchFamily="34" charset="0"/>
                <a:ea typeface="Atkinson Hyperlegible" pitchFamily="34" charset="-122"/>
                <a:cs typeface="Atkinson Hyperlegible" pitchFamily="34" charset="-120"/>
              </a:rPr>
              <a:t>Movimiento</a:t>
            </a:r>
            <a:endParaRPr lang="en-US" sz="700" dirty="0"/>
          </a:p>
        </p:txBody>
      </p:sp>
      <p:sp>
        <p:nvSpPr>
          <p:cNvPr id="20" name="Text 18"/>
          <p:cNvSpPr/>
          <p:nvPr/>
        </p:nvSpPr>
        <p:spPr>
          <a:xfrm>
            <a:off x="1234440" y="3584448"/>
            <a:ext cx="1188720" cy="457200"/>
          </a:xfrm>
          <a:prstGeom prst="rect">
            <a:avLst/>
          </a:prstGeom>
          <a:noFill/>
          <a:ln/>
        </p:spPr>
        <p:txBody>
          <a:bodyPr wrap="square" rtlCol="0" anchor="ctr"/>
          <a:lstStyle/>
          <a:p>
            <a:pPr algn="ctr" indent="0" marL="0">
              <a:buNone/>
            </a:pPr>
            <a:r>
              <a:rPr lang="en-US" sz="600" dirty="0">
                <a:solidFill>
                  <a:srgbClr val="1D1D1F"/>
                </a:solidFill>
                <a:latin typeface="Atkinson Hyperlegible" pitchFamily="34" charset="0"/>
                <a:ea typeface="Atkinson Hyperlegible" pitchFamily="34" charset="-122"/>
                <a:cs typeface="Atkinson Hyperlegible" pitchFamily="34" charset="-120"/>
              </a:rPr>
              <a:t>CII reconoce el problema</a:t>
            </a:r>
            <a:endParaRPr lang="en-US" sz="600" dirty="0"/>
          </a:p>
        </p:txBody>
      </p:sp>
      <p:sp>
        <p:nvSpPr>
          <p:cNvPr id="21" name="Shape 19"/>
          <p:cNvSpPr/>
          <p:nvPr/>
        </p:nvSpPr>
        <p:spPr>
          <a:xfrm flipV="1">
            <a:off x="3200400" y="2240280"/>
            <a:ext cx="18288" cy="466344"/>
          </a:xfrm>
          <a:prstGeom prst="line">
            <a:avLst/>
          </a:prstGeom>
          <a:noFill/>
          <a:ln w="12700">
            <a:solidFill>
              <a:srgbClr val="0A74E3"/>
            </a:solidFill>
            <a:prstDash val="solid"/>
          </a:ln>
        </p:spPr>
      </p:sp>
      <p:sp>
        <p:nvSpPr>
          <p:cNvPr id="22" name="Shape 20"/>
          <p:cNvSpPr/>
          <p:nvPr/>
        </p:nvSpPr>
        <p:spPr>
          <a:xfrm>
            <a:off x="3072384" y="2615184"/>
            <a:ext cx="256032" cy="256032"/>
          </a:xfrm>
          <a:prstGeom prst="ellipse">
            <a:avLst/>
          </a:prstGeom>
          <a:solidFill>
            <a:srgbClr val="0A74E3"/>
          </a:solidFill>
          <a:ln w="25400">
            <a:solidFill>
              <a:srgbClr val="FFFFFF"/>
            </a:solidFill>
            <a:prstDash val="solid"/>
          </a:ln>
        </p:spPr>
      </p:sp>
      <p:sp>
        <p:nvSpPr>
          <p:cNvPr id="23" name="Shape 21"/>
          <p:cNvSpPr/>
          <p:nvPr/>
        </p:nvSpPr>
        <p:spPr>
          <a:xfrm>
            <a:off x="2907792" y="2221992"/>
            <a:ext cx="585216" cy="256032"/>
          </a:xfrm>
          <a:prstGeom prst="roundRect">
            <a:avLst>
              <a:gd name="adj" fmla="val 17857"/>
            </a:avLst>
          </a:prstGeom>
          <a:solidFill>
            <a:srgbClr val="0A74E3"/>
          </a:solidFill>
          <a:ln w="12700">
            <a:solidFill>
              <a:srgbClr val="0A74E3"/>
            </a:solidFill>
            <a:prstDash val="solid"/>
          </a:ln>
        </p:spPr>
      </p:sp>
      <p:sp>
        <p:nvSpPr>
          <p:cNvPr id="24" name="Text 22"/>
          <p:cNvSpPr/>
          <p:nvPr/>
        </p:nvSpPr>
        <p:spPr>
          <a:xfrm>
            <a:off x="2907792" y="2221992"/>
            <a:ext cx="585216" cy="256032"/>
          </a:xfrm>
          <a:prstGeom prst="rect">
            <a:avLst/>
          </a:prstGeom>
          <a:noFill/>
          <a:ln/>
        </p:spPr>
        <p:txBody>
          <a:bodyPr wrap="square" rtlCol="0" anchor="ctr"/>
          <a:lstStyle/>
          <a:p>
            <a:pPr algn="ctr" indent="0" marL="0">
              <a:buNone/>
            </a:pPr>
            <a:r>
              <a:rPr lang="en-US" sz="700" b="1" dirty="0">
                <a:solidFill>
                  <a:srgbClr val="FFFFFF"/>
                </a:solidFill>
                <a:latin typeface="Atkinson Hyperlegible" pitchFamily="34" charset="0"/>
                <a:ea typeface="Atkinson Hyperlegible" pitchFamily="34" charset="-122"/>
                <a:cs typeface="Atkinson Hyperlegible" pitchFamily="34" charset="-120"/>
              </a:rPr>
              <a:t>1982</a:t>
            </a:r>
            <a:endParaRPr lang="en-US" sz="700" dirty="0"/>
          </a:p>
        </p:txBody>
      </p:sp>
      <p:sp>
        <p:nvSpPr>
          <p:cNvPr id="25" name="Shape 23"/>
          <p:cNvSpPr/>
          <p:nvPr/>
        </p:nvSpPr>
        <p:spPr>
          <a:xfrm>
            <a:off x="2560320" y="1051560"/>
            <a:ext cx="1280160" cy="914400"/>
          </a:xfrm>
          <a:prstGeom prst="roundRect">
            <a:avLst>
              <a:gd name="adj" fmla="val 6000"/>
            </a:avLst>
          </a:prstGeom>
          <a:solidFill>
            <a:srgbClr val="FFFFFF"/>
          </a:solidFill>
          <a:ln w="15240">
            <a:solidFill>
              <a:srgbClr val="0A74E3"/>
            </a:solidFill>
            <a:prstDash val="solid"/>
          </a:ln>
        </p:spPr>
      </p:sp>
      <p:sp>
        <p:nvSpPr>
          <p:cNvPr id="26" name="Text 24"/>
          <p:cNvSpPr/>
          <p:nvPr/>
        </p:nvSpPr>
        <p:spPr>
          <a:xfrm>
            <a:off x="2606040" y="1097280"/>
            <a:ext cx="1188720" cy="457200"/>
          </a:xfrm>
          <a:prstGeom prst="rect">
            <a:avLst/>
          </a:prstGeom>
          <a:noFill/>
          <a:ln/>
        </p:spPr>
        <p:txBody>
          <a:bodyPr wrap="square" rtlCol="0" anchor="ctr"/>
          <a:lstStyle/>
          <a:p>
            <a:pPr algn="ctr" indent="0" marL="0">
              <a:buNone/>
            </a:pPr>
            <a:r>
              <a:rPr lang="en-US" sz="700" b="1" dirty="0">
                <a:solidFill>
                  <a:srgbClr val="0A74E3"/>
                </a:solidFill>
                <a:latin typeface="Atkinson Hyperlegible" pitchFamily="34" charset="0"/>
                <a:ea typeface="Atkinson Hyperlegible" pitchFamily="34" charset="-122"/>
                <a:cs typeface="Atkinson Hyperlegible" pitchFamily="34" charset="-120"/>
              </a:rPr>
              <a:t>CII fundado</a:t>
            </a:r>
            <a:endParaRPr lang="en-US" sz="700" dirty="0"/>
          </a:p>
        </p:txBody>
      </p:sp>
      <p:sp>
        <p:nvSpPr>
          <p:cNvPr id="27" name="Text 25"/>
          <p:cNvSpPr/>
          <p:nvPr/>
        </p:nvSpPr>
        <p:spPr>
          <a:xfrm>
            <a:off x="2606040" y="1527048"/>
            <a:ext cx="1188720" cy="457200"/>
          </a:xfrm>
          <a:prstGeom prst="rect">
            <a:avLst/>
          </a:prstGeom>
          <a:noFill/>
          <a:ln/>
        </p:spPr>
        <p:txBody>
          <a:bodyPr wrap="square" rtlCol="0" anchor="ctr"/>
          <a:lstStyle/>
          <a:p>
            <a:pPr algn="ctr" indent="0" marL="0">
              <a:buNone/>
            </a:pPr>
            <a:r>
              <a:rPr lang="en-US" sz="600" dirty="0">
                <a:solidFill>
                  <a:srgbClr val="1D1D1F"/>
                </a:solidFill>
                <a:latin typeface="Atkinson Hyperlegible" pitchFamily="34" charset="0"/>
                <a:ea typeface="Atkinson Hyperlegible" pitchFamily="34" charset="-122"/>
                <a:cs typeface="Atkinson Hyperlegible" pitchFamily="34" charset="-120"/>
              </a:rPr>
              <a:t>Construction Industry Institute, UT Austin</a:t>
            </a:r>
            <a:endParaRPr lang="en-US" sz="600" dirty="0"/>
          </a:p>
        </p:txBody>
      </p:sp>
      <p:sp>
        <p:nvSpPr>
          <p:cNvPr id="28" name="Shape 26"/>
          <p:cNvSpPr/>
          <p:nvPr/>
        </p:nvSpPr>
        <p:spPr>
          <a:xfrm>
            <a:off x="4572000" y="2779776"/>
            <a:ext cx="18288" cy="329184"/>
          </a:xfrm>
          <a:prstGeom prst="line">
            <a:avLst/>
          </a:prstGeom>
          <a:noFill/>
          <a:ln w="12700">
            <a:solidFill>
              <a:srgbClr val="0A74E3"/>
            </a:solidFill>
            <a:prstDash val="solid"/>
          </a:ln>
        </p:spPr>
      </p:sp>
      <p:sp>
        <p:nvSpPr>
          <p:cNvPr id="29" name="Shape 27"/>
          <p:cNvSpPr/>
          <p:nvPr/>
        </p:nvSpPr>
        <p:spPr>
          <a:xfrm>
            <a:off x="4443984" y="2615184"/>
            <a:ext cx="256032" cy="256032"/>
          </a:xfrm>
          <a:prstGeom prst="ellipse">
            <a:avLst/>
          </a:prstGeom>
          <a:solidFill>
            <a:srgbClr val="0A74E3"/>
          </a:solidFill>
          <a:ln w="25400">
            <a:solidFill>
              <a:srgbClr val="FFFFFF"/>
            </a:solidFill>
            <a:prstDash val="solid"/>
          </a:ln>
        </p:spPr>
      </p:sp>
      <p:sp>
        <p:nvSpPr>
          <p:cNvPr id="30" name="Shape 28"/>
          <p:cNvSpPr/>
          <p:nvPr/>
        </p:nvSpPr>
        <p:spPr>
          <a:xfrm>
            <a:off x="4279392" y="2852928"/>
            <a:ext cx="585216" cy="256032"/>
          </a:xfrm>
          <a:prstGeom prst="roundRect">
            <a:avLst>
              <a:gd name="adj" fmla="val 17857"/>
            </a:avLst>
          </a:prstGeom>
          <a:solidFill>
            <a:srgbClr val="0A74E3"/>
          </a:solidFill>
          <a:ln w="12700">
            <a:solidFill>
              <a:srgbClr val="0A74E3"/>
            </a:solidFill>
            <a:prstDash val="solid"/>
          </a:ln>
        </p:spPr>
      </p:sp>
      <p:sp>
        <p:nvSpPr>
          <p:cNvPr id="31" name="Text 29"/>
          <p:cNvSpPr/>
          <p:nvPr/>
        </p:nvSpPr>
        <p:spPr>
          <a:xfrm>
            <a:off x="4279392" y="2852928"/>
            <a:ext cx="585216" cy="256032"/>
          </a:xfrm>
          <a:prstGeom prst="rect">
            <a:avLst/>
          </a:prstGeom>
          <a:noFill/>
          <a:ln/>
        </p:spPr>
        <p:txBody>
          <a:bodyPr wrap="square" rtlCol="0" anchor="ctr"/>
          <a:lstStyle/>
          <a:p>
            <a:pPr algn="ctr" indent="0" marL="0">
              <a:buNone/>
            </a:pPr>
            <a:r>
              <a:rPr lang="en-US" sz="700" b="1" dirty="0">
                <a:solidFill>
                  <a:srgbClr val="FFFFFF"/>
                </a:solidFill>
                <a:latin typeface="Atkinson Hyperlegible" pitchFamily="34" charset="0"/>
                <a:ea typeface="Atkinson Hyperlegible" pitchFamily="34" charset="-122"/>
                <a:cs typeface="Atkinson Hyperlegible" pitchFamily="34" charset="-120"/>
              </a:rPr>
              <a:t>1986</a:t>
            </a:r>
            <a:endParaRPr lang="en-US" sz="700" dirty="0"/>
          </a:p>
        </p:txBody>
      </p:sp>
      <p:sp>
        <p:nvSpPr>
          <p:cNvPr id="32" name="Shape 30"/>
          <p:cNvSpPr/>
          <p:nvPr/>
        </p:nvSpPr>
        <p:spPr>
          <a:xfrm>
            <a:off x="3931920" y="3108960"/>
            <a:ext cx="1280160" cy="914400"/>
          </a:xfrm>
          <a:prstGeom prst="roundRect">
            <a:avLst>
              <a:gd name="adj" fmla="val 6000"/>
            </a:avLst>
          </a:prstGeom>
          <a:solidFill>
            <a:srgbClr val="FFFFFF"/>
          </a:solidFill>
          <a:ln w="15240">
            <a:solidFill>
              <a:srgbClr val="0A74E3"/>
            </a:solidFill>
            <a:prstDash val="solid"/>
          </a:ln>
        </p:spPr>
      </p:sp>
      <p:sp>
        <p:nvSpPr>
          <p:cNvPr id="33" name="Text 31"/>
          <p:cNvSpPr/>
          <p:nvPr/>
        </p:nvSpPr>
        <p:spPr>
          <a:xfrm>
            <a:off x="3977640" y="3154680"/>
            <a:ext cx="1188720" cy="457200"/>
          </a:xfrm>
          <a:prstGeom prst="rect">
            <a:avLst/>
          </a:prstGeom>
          <a:noFill/>
          <a:ln/>
        </p:spPr>
        <p:txBody>
          <a:bodyPr wrap="square" rtlCol="0" anchor="ctr"/>
          <a:lstStyle/>
          <a:p>
            <a:pPr algn="ctr" indent="0" marL="0">
              <a:buNone/>
            </a:pPr>
            <a:r>
              <a:rPr lang="en-US" sz="700" b="1" dirty="0">
                <a:solidFill>
                  <a:srgbClr val="0A74E3"/>
                </a:solidFill>
                <a:latin typeface="Atkinson Hyperlegible" pitchFamily="34" charset="0"/>
                <a:ea typeface="Atkinson Hyperlegible" pitchFamily="34" charset="-122"/>
                <a:cs typeface="Atkinson Hyperlegible" pitchFamily="34" charset="-120"/>
              </a:rPr>
              <a:t>Definición</a:t>
            </a:r>
            <a:endParaRPr lang="en-US" sz="700" dirty="0"/>
          </a:p>
        </p:txBody>
      </p:sp>
      <p:sp>
        <p:nvSpPr>
          <p:cNvPr id="34" name="Text 32"/>
          <p:cNvSpPr/>
          <p:nvPr/>
        </p:nvSpPr>
        <p:spPr>
          <a:xfrm>
            <a:off x="3977640" y="3584448"/>
            <a:ext cx="1188720" cy="457200"/>
          </a:xfrm>
          <a:prstGeom prst="rect">
            <a:avLst/>
          </a:prstGeom>
          <a:noFill/>
          <a:ln/>
        </p:spPr>
        <p:txBody>
          <a:bodyPr wrap="square" rtlCol="0" anchor="ctr"/>
          <a:lstStyle/>
          <a:p>
            <a:pPr algn="ctr" indent="0" marL="0">
              <a:buNone/>
            </a:pPr>
            <a:r>
              <a:rPr lang="en-US" sz="600" dirty="0">
                <a:solidFill>
                  <a:srgbClr val="1D1D1F"/>
                </a:solidFill>
                <a:latin typeface="Atkinson Hyperlegible" pitchFamily="34" charset="0"/>
                <a:ea typeface="Atkinson Hyperlegible" pitchFamily="34" charset="-122"/>
                <a:cs typeface="Atkinson Hyperlegible" pitchFamily="34" charset="-120"/>
              </a:rPr>
              <a:t>CII publica definición formal</a:t>
            </a:r>
            <a:endParaRPr lang="en-US" sz="600" dirty="0"/>
          </a:p>
        </p:txBody>
      </p:sp>
      <p:sp>
        <p:nvSpPr>
          <p:cNvPr id="35" name="Shape 33"/>
          <p:cNvSpPr/>
          <p:nvPr/>
        </p:nvSpPr>
        <p:spPr>
          <a:xfrm flipV="1">
            <a:off x="5943600" y="2240280"/>
            <a:ext cx="18288" cy="466344"/>
          </a:xfrm>
          <a:prstGeom prst="line">
            <a:avLst/>
          </a:prstGeom>
          <a:noFill/>
          <a:ln w="12700">
            <a:solidFill>
              <a:srgbClr val="0A74E3"/>
            </a:solidFill>
            <a:prstDash val="solid"/>
          </a:ln>
        </p:spPr>
      </p:sp>
      <p:sp>
        <p:nvSpPr>
          <p:cNvPr id="36" name="Shape 34"/>
          <p:cNvSpPr/>
          <p:nvPr/>
        </p:nvSpPr>
        <p:spPr>
          <a:xfrm>
            <a:off x="5815584" y="2615184"/>
            <a:ext cx="256032" cy="256032"/>
          </a:xfrm>
          <a:prstGeom prst="ellipse">
            <a:avLst/>
          </a:prstGeom>
          <a:solidFill>
            <a:srgbClr val="0A74E3"/>
          </a:solidFill>
          <a:ln w="25400">
            <a:solidFill>
              <a:srgbClr val="FFFFFF"/>
            </a:solidFill>
            <a:prstDash val="solid"/>
          </a:ln>
        </p:spPr>
      </p:sp>
      <p:sp>
        <p:nvSpPr>
          <p:cNvPr id="37" name="Shape 35"/>
          <p:cNvSpPr/>
          <p:nvPr/>
        </p:nvSpPr>
        <p:spPr>
          <a:xfrm>
            <a:off x="5650992" y="2221992"/>
            <a:ext cx="585216" cy="256032"/>
          </a:xfrm>
          <a:prstGeom prst="roundRect">
            <a:avLst>
              <a:gd name="adj" fmla="val 17857"/>
            </a:avLst>
          </a:prstGeom>
          <a:solidFill>
            <a:srgbClr val="0A74E3"/>
          </a:solidFill>
          <a:ln w="12700">
            <a:solidFill>
              <a:srgbClr val="0A74E3"/>
            </a:solidFill>
            <a:prstDash val="solid"/>
          </a:ln>
        </p:spPr>
      </p:sp>
      <p:sp>
        <p:nvSpPr>
          <p:cNvPr id="38" name="Text 36"/>
          <p:cNvSpPr/>
          <p:nvPr/>
        </p:nvSpPr>
        <p:spPr>
          <a:xfrm>
            <a:off x="5650992" y="2221992"/>
            <a:ext cx="585216" cy="256032"/>
          </a:xfrm>
          <a:prstGeom prst="rect">
            <a:avLst/>
          </a:prstGeom>
          <a:noFill/>
          <a:ln/>
        </p:spPr>
        <p:txBody>
          <a:bodyPr wrap="square" rtlCol="0" anchor="ctr"/>
          <a:lstStyle/>
          <a:p>
            <a:pPr algn="ctr" indent="0" marL="0">
              <a:buNone/>
            </a:pPr>
            <a:r>
              <a:rPr lang="en-US" sz="700" b="1" dirty="0">
                <a:solidFill>
                  <a:srgbClr val="FFFFFF"/>
                </a:solidFill>
                <a:latin typeface="Atkinson Hyperlegible" pitchFamily="34" charset="0"/>
                <a:ea typeface="Atkinson Hyperlegible" pitchFamily="34" charset="-122"/>
                <a:cs typeface="Atkinson Hyperlegible" pitchFamily="34" charset="-120"/>
              </a:rPr>
              <a:t>1993</a:t>
            </a:r>
            <a:endParaRPr lang="en-US" sz="700" dirty="0"/>
          </a:p>
        </p:txBody>
      </p:sp>
      <p:sp>
        <p:nvSpPr>
          <p:cNvPr id="39" name="Shape 37"/>
          <p:cNvSpPr/>
          <p:nvPr/>
        </p:nvSpPr>
        <p:spPr>
          <a:xfrm>
            <a:off x="5303520" y="1051560"/>
            <a:ext cx="1280160" cy="914400"/>
          </a:xfrm>
          <a:prstGeom prst="roundRect">
            <a:avLst>
              <a:gd name="adj" fmla="val 6000"/>
            </a:avLst>
          </a:prstGeom>
          <a:solidFill>
            <a:srgbClr val="FFFFFF"/>
          </a:solidFill>
          <a:ln w="15240">
            <a:solidFill>
              <a:srgbClr val="0A74E3"/>
            </a:solidFill>
            <a:prstDash val="solid"/>
          </a:ln>
        </p:spPr>
      </p:sp>
      <p:sp>
        <p:nvSpPr>
          <p:cNvPr id="40" name="Text 38"/>
          <p:cNvSpPr/>
          <p:nvPr/>
        </p:nvSpPr>
        <p:spPr>
          <a:xfrm>
            <a:off x="5349240" y="1097280"/>
            <a:ext cx="1188720" cy="457200"/>
          </a:xfrm>
          <a:prstGeom prst="rect">
            <a:avLst/>
          </a:prstGeom>
          <a:noFill/>
          <a:ln/>
        </p:spPr>
        <p:txBody>
          <a:bodyPr wrap="square" rtlCol="0" anchor="ctr"/>
          <a:lstStyle/>
          <a:p>
            <a:pPr algn="ctr" indent="0" marL="0">
              <a:buNone/>
            </a:pPr>
            <a:r>
              <a:rPr lang="en-US" sz="700" b="1" dirty="0">
                <a:solidFill>
                  <a:srgbClr val="0A74E3"/>
                </a:solidFill>
                <a:latin typeface="Atkinson Hyperlegible" pitchFamily="34" charset="0"/>
                <a:ea typeface="Atkinson Hyperlegible" pitchFamily="34" charset="-122"/>
                <a:cs typeface="Atkinson Hyperlegible" pitchFamily="34" charset="-120"/>
              </a:rPr>
              <a:t>SP 34-1</a:t>
            </a:r>
            <a:endParaRPr lang="en-US" sz="700" dirty="0"/>
          </a:p>
        </p:txBody>
      </p:sp>
      <p:sp>
        <p:nvSpPr>
          <p:cNvPr id="41" name="Text 39"/>
          <p:cNvSpPr/>
          <p:nvPr/>
        </p:nvSpPr>
        <p:spPr>
          <a:xfrm>
            <a:off x="5349240" y="1527048"/>
            <a:ext cx="1188720" cy="457200"/>
          </a:xfrm>
          <a:prstGeom prst="rect">
            <a:avLst/>
          </a:prstGeom>
          <a:noFill/>
          <a:ln/>
        </p:spPr>
        <p:txBody>
          <a:bodyPr wrap="square" rtlCol="0" anchor="ctr"/>
          <a:lstStyle/>
          <a:p>
            <a:pPr algn="ctr" indent="0" marL="0">
              <a:buNone/>
            </a:pPr>
            <a:r>
              <a:rPr lang="en-US" sz="600" dirty="0">
                <a:solidFill>
                  <a:srgbClr val="1D1D1F"/>
                </a:solidFill>
                <a:latin typeface="Atkinson Hyperlegible" pitchFamily="34" charset="0"/>
                <a:ea typeface="Atkinson Hyperlegible" pitchFamily="34" charset="-122"/>
                <a:cs typeface="Atkinson Hyperlegible" pitchFamily="34" charset="-120"/>
              </a:rPr>
              <a:t>Guía práctica: 17 conceptos</a:t>
            </a:r>
            <a:endParaRPr lang="en-US" sz="600" dirty="0"/>
          </a:p>
        </p:txBody>
      </p:sp>
      <p:sp>
        <p:nvSpPr>
          <p:cNvPr id="42" name="Shape 40"/>
          <p:cNvSpPr/>
          <p:nvPr/>
        </p:nvSpPr>
        <p:spPr>
          <a:xfrm>
            <a:off x="7315200" y="2779776"/>
            <a:ext cx="18288" cy="329184"/>
          </a:xfrm>
          <a:prstGeom prst="line">
            <a:avLst/>
          </a:prstGeom>
          <a:noFill/>
          <a:ln w="12700">
            <a:solidFill>
              <a:srgbClr val="0A74E3"/>
            </a:solidFill>
            <a:prstDash val="solid"/>
          </a:ln>
        </p:spPr>
      </p:sp>
      <p:sp>
        <p:nvSpPr>
          <p:cNvPr id="43" name="Shape 41"/>
          <p:cNvSpPr/>
          <p:nvPr/>
        </p:nvSpPr>
        <p:spPr>
          <a:xfrm>
            <a:off x="7187184" y="2615184"/>
            <a:ext cx="256032" cy="256032"/>
          </a:xfrm>
          <a:prstGeom prst="ellipse">
            <a:avLst/>
          </a:prstGeom>
          <a:solidFill>
            <a:srgbClr val="0A74E3"/>
          </a:solidFill>
          <a:ln w="25400">
            <a:solidFill>
              <a:srgbClr val="FFFFFF"/>
            </a:solidFill>
            <a:prstDash val="solid"/>
          </a:ln>
        </p:spPr>
      </p:sp>
      <p:sp>
        <p:nvSpPr>
          <p:cNvPr id="44" name="Shape 42"/>
          <p:cNvSpPr/>
          <p:nvPr/>
        </p:nvSpPr>
        <p:spPr>
          <a:xfrm>
            <a:off x="7022592" y="2852928"/>
            <a:ext cx="585216" cy="256032"/>
          </a:xfrm>
          <a:prstGeom prst="roundRect">
            <a:avLst>
              <a:gd name="adj" fmla="val 17857"/>
            </a:avLst>
          </a:prstGeom>
          <a:solidFill>
            <a:srgbClr val="0A74E3"/>
          </a:solidFill>
          <a:ln w="12700">
            <a:solidFill>
              <a:srgbClr val="0A74E3"/>
            </a:solidFill>
            <a:prstDash val="solid"/>
          </a:ln>
        </p:spPr>
      </p:sp>
      <p:sp>
        <p:nvSpPr>
          <p:cNvPr id="45" name="Text 43"/>
          <p:cNvSpPr/>
          <p:nvPr/>
        </p:nvSpPr>
        <p:spPr>
          <a:xfrm>
            <a:off x="7022592" y="2852928"/>
            <a:ext cx="585216" cy="256032"/>
          </a:xfrm>
          <a:prstGeom prst="rect">
            <a:avLst/>
          </a:prstGeom>
          <a:noFill/>
          <a:ln/>
        </p:spPr>
        <p:txBody>
          <a:bodyPr wrap="square" rtlCol="0" anchor="ctr"/>
          <a:lstStyle/>
          <a:p>
            <a:pPr algn="ctr" indent="0" marL="0">
              <a:buNone/>
            </a:pPr>
            <a:r>
              <a:rPr lang="en-US" sz="700" b="1" dirty="0">
                <a:solidFill>
                  <a:srgbClr val="FFFFFF"/>
                </a:solidFill>
                <a:latin typeface="Atkinson Hyperlegible" pitchFamily="34" charset="0"/>
                <a:ea typeface="Atkinson Hyperlegible" pitchFamily="34" charset="-122"/>
                <a:cs typeface="Atkinson Hyperlegible" pitchFamily="34" charset="-120"/>
              </a:rPr>
              <a:t>2000s</a:t>
            </a:r>
            <a:endParaRPr lang="en-US" sz="700" dirty="0"/>
          </a:p>
        </p:txBody>
      </p:sp>
      <p:sp>
        <p:nvSpPr>
          <p:cNvPr id="46" name="Shape 44"/>
          <p:cNvSpPr/>
          <p:nvPr/>
        </p:nvSpPr>
        <p:spPr>
          <a:xfrm>
            <a:off x="6675120" y="3108960"/>
            <a:ext cx="1280160" cy="914400"/>
          </a:xfrm>
          <a:prstGeom prst="roundRect">
            <a:avLst>
              <a:gd name="adj" fmla="val 6000"/>
            </a:avLst>
          </a:prstGeom>
          <a:solidFill>
            <a:srgbClr val="FFFFFF"/>
          </a:solidFill>
          <a:ln w="15240">
            <a:solidFill>
              <a:srgbClr val="0A74E3"/>
            </a:solidFill>
            <a:prstDash val="solid"/>
          </a:ln>
        </p:spPr>
      </p:sp>
      <p:sp>
        <p:nvSpPr>
          <p:cNvPr id="47" name="Text 45"/>
          <p:cNvSpPr/>
          <p:nvPr/>
        </p:nvSpPr>
        <p:spPr>
          <a:xfrm>
            <a:off x="6720840" y="3154680"/>
            <a:ext cx="1188720" cy="457200"/>
          </a:xfrm>
          <a:prstGeom prst="rect">
            <a:avLst/>
          </a:prstGeom>
          <a:noFill/>
          <a:ln/>
        </p:spPr>
        <p:txBody>
          <a:bodyPr wrap="square" rtlCol="0" anchor="ctr"/>
          <a:lstStyle/>
          <a:p>
            <a:pPr algn="ctr" indent="0" marL="0">
              <a:buNone/>
            </a:pPr>
            <a:r>
              <a:rPr lang="en-US" sz="700" b="1" dirty="0">
                <a:solidFill>
                  <a:srgbClr val="0A74E3"/>
                </a:solidFill>
                <a:latin typeface="Atkinson Hyperlegible" pitchFamily="34" charset="0"/>
                <a:ea typeface="Atkinson Hyperlegible" pitchFamily="34" charset="-122"/>
                <a:cs typeface="Atkinson Hyperlegible" pitchFamily="34" charset="-120"/>
              </a:rPr>
              <a:t>Global</a:t>
            </a:r>
            <a:endParaRPr lang="en-US" sz="700" dirty="0"/>
          </a:p>
        </p:txBody>
      </p:sp>
      <p:sp>
        <p:nvSpPr>
          <p:cNvPr id="48" name="Text 46"/>
          <p:cNvSpPr/>
          <p:nvPr/>
        </p:nvSpPr>
        <p:spPr>
          <a:xfrm>
            <a:off x="6720840" y="3584448"/>
            <a:ext cx="1188720" cy="457200"/>
          </a:xfrm>
          <a:prstGeom prst="rect">
            <a:avLst/>
          </a:prstGeom>
          <a:noFill/>
          <a:ln/>
        </p:spPr>
        <p:txBody>
          <a:bodyPr wrap="square" rtlCol="0" anchor="ctr"/>
          <a:lstStyle/>
          <a:p>
            <a:pPr algn="ctr" indent="0" marL="0">
              <a:buNone/>
            </a:pPr>
            <a:r>
              <a:rPr lang="en-US" sz="600" dirty="0">
                <a:solidFill>
                  <a:srgbClr val="1D1D1F"/>
                </a:solidFill>
                <a:latin typeface="Atkinson Hyperlegible" pitchFamily="34" charset="0"/>
                <a:ea typeface="Atkinson Hyperlegible" pitchFamily="34" charset="-122"/>
                <a:cs typeface="Atkinson Hyperlegible" pitchFamily="34" charset="-120"/>
              </a:rPr>
              <a:t>Adopción en megaproyectos mundiales</a:t>
            </a:r>
            <a:endParaRPr lang="en-US" sz="600" dirty="0"/>
          </a:p>
        </p:txBody>
      </p:sp>
      <p:sp>
        <p:nvSpPr>
          <p:cNvPr id="49" name="Shape 47"/>
          <p:cNvSpPr/>
          <p:nvPr/>
        </p:nvSpPr>
        <p:spPr>
          <a:xfrm flipV="1">
            <a:off x="8686800" y="2240280"/>
            <a:ext cx="18288" cy="466344"/>
          </a:xfrm>
          <a:prstGeom prst="line">
            <a:avLst/>
          </a:prstGeom>
          <a:noFill/>
          <a:ln w="12700">
            <a:solidFill>
              <a:srgbClr val="0A74E3"/>
            </a:solidFill>
            <a:prstDash val="solid"/>
          </a:ln>
        </p:spPr>
      </p:sp>
      <p:sp>
        <p:nvSpPr>
          <p:cNvPr id="50" name="Shape 48"/>
          <p:cNvSpPr/>
          <p:nvPr/>
        </p:nvSpPr>
        <p:spPr>
          <a:xfrm>
            <a:off x="8558784" y="2615184"/>
            <a:ext cx="256032" cy="256032"/>
          </a:xfrm>
          <a:prstGeom prst="ellipse">
            <a:avLst/>
          </a:prstGeom>
          <a:solidFill>
            <a:srgbClr val="0A74E3"/>
          </a:solidFill>
          <a:ln w="25400">
            <a:solidFill>
              <a:srgbClr val="FFFFFF"/>
            </a:solidFill>
            <a:prstDash val="solid"/>
          </a:ln>
        </p:spPr>
      </p:sp>
      <p:sp>
        <p:nvSpPr>
          <p:cNvPr id="51" name="Shape 49"/>
          <p:cNvSpPr/>
          <p:nvPr/>
        </p:nvSpPr>
        <p:spPr>
          <a:xfrm>
            <a:off x="8394192" y="2221992"/>
            <a:ext cx="585216" cy="256032"/>
          </a:xfrm>
          <a:prstGeom prst="roundRect">
            <a:avLst>
              <a:gd name="adj" fmla="val 17857"/>
            </a:avLst>
          </a:prstGeom>
          <a:solidFill>
            <a:srgbClr val="0A74E3"/>
          </a:solidFill>
          <a:ln w="12700">
            <a:solidFill>
              <a:srgbClr val="0A74E3"/>
            </a:solidFill>
            <a:prstDash val="solid"/>
          </a:ln>
        </p:spPr>
      </p:sp>
      <p:sp>
        <p:nvSpPr>
          <p:cNvPr id="52" name="Text 50"/>
          <p:cNvSpPr/>
          <p:nvPr/>
        </p:nvSpPr>
        <p:spPr>
          <a:xfrm>
            <a:off x="8394192" y="2221992"/>
            <a:ext cx="585216" cy="256032"/>
          </a:xfrm>
          <a:prstGeom prst="rect">
            <a:avLst/>
          </a:prstGeom>
          <a:noFill/>
          <a:ln/>
        </p:spPr>
        <p:txBody>
          <a:bodyPr wrap="square" rtlCol="0" anchor="ctr"/>
          <a:lstStyle/>
          <a:p>
            <a:pPr algn="ctr" indent="0" marL="0">
              <a:buNone/>
            </a:pPr>
            <a:r>
              <a:rPr lang="en-US" sz="700" b="1" dirty="0">
                <a:solidFill>
                  <a:srgbClr val="FFFFFF"/>
                </a:solidFill>
                <a:latin typeface="Atkinson Hyperlegible" pitchFamily="34" charset="0"/>
                <a:ea typeface="Atkinson Hyperlegible" pitchFamily="34" charset="-122"/>
                <a:cs typeface="Atkinson Hyperlegible" pitchFamily="34" charset="-120"/>
              </a:rPr>
              <a:t>2020s</a:t>
            </a:r>
            <a:endParaRPr lang="en-US" sz="700" dirty="0"/>
          </a:p>
        </p:txBody>
      </p:sp>
      <p:sp>
        <p:nvSpPr>
          <p:cNvPr id="53" name="Shape 51"/>
          <p:cNvSpPr/>
          <p:nvPr/>
        </p:nvSpPr>
        <p:spPr>
          <a:xfrm>
            <a:off x="8046720" y="1051560"/>
            <a:ext cx="1280160" cy="914400"/>
          </a:xfrm>
          <a:prstGeom prst="roundRect">
            <a:avLst>
              <a:gd name="adj" fmla="val 6000"/>
            </a:avLst>
          </a:prstGeom>
          <a:solidFill>
            <a:srgbClr val="FFFFFF"/>
          </a:solidFill>
          <a:ln w="15240">
            <a:solidFill>
              <a:srgbClr val="0A74E3"/>
            </a:solidFill>
            <a:prstDash val="solid"/>
          </a:ln>
        </p:spPr>
      </p:sp>
      <p:sp>
        <p:nvSpPr>
          <p:cNvPr id="54" name="Text 52"/>
          <p:cNvSpPr/>
          <p:nvPr/>
        </p:nvSpPr>
        <p:spPr>
          <a:xfrm>
            <a:off x="8092440" y="1097280"/>
            <a:ext cx="1188720" cy="457200"/>
          </a:xfrm>
          <a:prstGeom prst="rect">
            <a:avLst/>
          </a:prstGeom>
          <a:noFill/>
          <a:ln/>
        </p:spPr>
        <p:txBody>
          <a:bodyPr wrap="square" rtlCol="0" anchor="ctr"/>
          <a:lstStyle/>
          <a:p>
            <a:pPr algn="ctr" indent="0" marL="0">
              <a:buNone/>
            </a:pPr>
            <a:r>
              <a:rPr lang="en-US" sz="700" b="1" dirty="0">
                <a:solidFill>
                  <a:srgbClr val="0A74E3"/>
                </a:solidFill>
                <a:latin typeface="Atkinson Hyperlegible" pitchFamily="34" charset="0"/>
                <a:ea typeface="Atkinson Hyperlegible" pitchFamily="34" charset="-122"/>
                <a:cs typeface="Atkinson Hyperlegible" pitchFamily="34" charset="-120"/>
              </a:rPr>
              <a:t>Digital</a:t>
            </a:r>
            <a:endParaRPr lang="en-US" sz="700" dirty="0"/>
          </a:p>
        </p:txBody>
      </p:sp>
      <p:sp>
        <p:nvSpPr>
          <p:cNvPr id="55" name="Text 53"/>
          <p:cNvSpPr/>
          <p:nvPr/>
        </p:nvSpPr>
        <p:spPr>
          <a:xfrm>
            <a:off x="8092440" y="1527048"/>
            <a:ext cx="1188720" cy="457200"/>
          </a:xfrm>
          <a:prstGeom prst="rect">
            <a:avLst/>
          </a:prstGeom>
          <a:noFill/>
          <a:ln/>
        </p:spPr>
        <p:txBody>
          <a:bodyPr wrap="square" rtlCol="0" anchor="ctr"/>
          <a:lstStyle/>
          <a:p>
            <a:pPr algn="ctr" indent="0" marL="0">
              <a:buNone/>
            </a:pPr>
            <a:r>
              <a:rPr lang="en-US" sz="600" dirty="0">
                <a:solidFill>
                  <a:srgbClr val="1D1D1F"/>
                </a:solidFill>
                <a:latin typeface="Atkinson Hyperlegible" pitchFamily="34" charset="0"/>
                <a:ea typeface="Atkinson Hyperlegible" pitchFamily="34" charset="-122"/>
                <a:cs typeface="Atkinson Hyperlegible" pitchFamily="34" charset="-120"/>
              </a:rPr>
              <a:t>BIM, gemelos digitales, AWP</a:t>
            </a:r>
            <a:endParaRPr lang="en-US" sz="600" dirty="0"/>
          </a:p>
        </p:txBody>
      </p:sp>
      <p:sp>
        <p:nvSpPr>
          <p:cNvPr id="56" name="Shape 54"/>
          <p:cNvSpPr/>
          <p:nvPr/>
        </p:nvSpPr>
        <p:spPr>
          <a:xfrm>
            <a:off x="182880" y="4956048"/>
            <a:ext cx="8961120" cy="182880"/>
          </a:xfrm>
          <a:prstGeom prst="rect">
            <a:avLst/>
          </a:prstGeom>
          <a:solidFill>
            <a:srgbClr val="0A74E3"/>
          </a:solidFill>
          <a:ln w="12700">
            <a:solidFill>
              <a:srgbClr val="0A74E3"/>
            </a:solidFill>
            <a:prstDash val="solid"/>
          </a:ln>
        </p:spPr>
      </p:sp>
      <p:sp>
        <p:nvSpPr>
          <p:cNvPr id="57" name="Text 55"/>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4 / 126</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A74E3"/>
          </a:solidFill>
          <a:ln w="12700">
            <a:solidFill>
              <a:srgbClr val="0A74E3"/>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¿Por qué no ocurre naturalmente?</a:t>
            </a:r>
            <a:endParaRPr lang="en-US" sz="1800" dirty="0"/>
          </a:p>
        </p:txBody>
      </p:sp>
      <p:sp>
        <p:nvSpPr>
          <p:cNvPr id="4" name="Shape 2"/>
          <p:cNvSpPr/>
          <p:nvPr/>
        </p:nvSpPr>
        <p:spPr>
          <a:xfrm>
            <a:off x="320040" y="640080"/>
            <a:ext cx="8503920" cy="41148"/>
          </a:xfrm>
          <a:prstGeom prst="rect">
            <a:avLst/>
          </a:prstGeom>
          <a:solidFill>
            <a:srgbClr val="0A74E3"/>
          </a:solidFill>
          <a:ln w="12700">
            <a:solidFill>
              <a:srgbClr val="0A74E3"/>
            </a:solidFill>
            <a:prstDash val="solid"/>
          </a:ln>
        </p:spPr>
      </p:sp>
      <p:sp>
        <p:nvSpPr>
          <p:cNvPr id="5" name="Text 3"/>
          <p:cNvSpPr/>
          <p:nvPr/>
        </p:nvSpPr>
        <p:spPr>
          <a:xfrm>
            <a:off x="320040" y="704088"/>
            <a:ext cx="8503920" cy="274320"/>
          </a:xfrm>
          <a:prstGeom prst="rect">
            <a:avLst/>
          </a:prstGeom>
          <a:noFill/>
          <a:ln/>
        </p:spPr>
        <p:txBody>
          <a:bodyPr wrap="square" rtlCol="0" anchor="ctr"/>
          <a:lstStyle/>
          <a:p>
            <a:pPr indent="0" marL="0">
              <a:buNone/>
            </a:pPr>
            <a:r>
              <a:rPr lang="en-US" sz="900" i="1" dirty="0">
                <a:solidFill>
                  <a:srgbClr val="0A74E3"/>
                </a:solidFill>
                <a:latin typeface="Atkinson Hyperlegible" pitchFamily="34" charset="0"/>
                <a:ea typeface="Atkinson Hyperlegible" pitchFamily="34" charset="-122"/>
                <a:cs typeface="Atkinson Hyperlegible" pitchFamily="34" charset="-120"/>
              </a:rPr>
              <a:t>Barreras sistémicas que impiden la integración constructiva</a:t>
            </a:r>
            <a:endParaRPr lang="en-US" sz="900" dirty="0"/>
          </a:p>
        </p:txBody>
      </p:sp>
      <p:sp>
        <p:nvSpPr>
          <p:cNvPr id="6" name="Shape 4"/>
          <p:cNvSpPr/>
          <p:nvPr/>
        </p:nvSpPr>
        <p:spPr>
          <a:xfrm>
            <a:off x="320040" y="804672"/>
            <a:ext cx="4169664" cy="1943100"/>
          </a:xfrm>
          <a:prstGeom prst="roundRect">
            <a:avLst>
              <a:gd name="adj" fmla="val 4235"/>
            </a:avLst>
          </a:prstGeom>
          <a:solidFill>
            <a:srgbClr val="0A74E3"/>
          </a:solidFill>
          <a:ln w="19050">
            <a:solidFill>
              <a:srgbClr val="0A74E3"/>
            </a:solidFill>
            <a:prstDash val="solid"/>
          </a:ln>
        </p:spPr>
      </p:sp>
      <p:sp>
        <p:nvSpPr>
          <p:cNvPr id="7" name="Shape 5"/>
          <p:cNvSpPr/>
          <p:nvPr/>
        </p:nvSpPr>
        <p:spPr>
          <a:xfrm>
            <a:off x="320040" y="804672"/>
            <a:ext cx="4169664" cy="54864"/>
          </a:xfrm>
          <a:prstGeom prst="rect">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8056" y="932688"/>
            <a:ext cx="365760" cy="365760"/>
          </a:xfrm>
          <a:prstGeom prst="rect">
            <a:avLst/>
          </a:prstGeom>
        </p:spPr>
      </p:pic>
      <p:sp>
        <p:nvSpPr>
          <p:cNvPr id="9" name="Text 6"/>
          <p:cNvSpPr/>
          <p:nvPr/>
        </p:nvSpPr>
        <p:spPr>
          <a:xfrm>
            <a:off x="868680" y="914400"/>
            <a:ext cx="3511296"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Cultura de Silos</a:t>
            </a:r>
            <a:endParaRPr lang="en-US" sz="850" dirty="0"/>
          </a:p>
        </p:txBody>
      </p:sp>
      <p:sp>
        <p:nvSpPr>
          <p:cNvPr id="10" name="Text 7"/>
          <p:cNvSpPr/>
          <p:nvPr/>
        </p:nvSpPr>
        <p:spPr>
          <a:xfrm>
            <a:off x="429768" y="1316736"/>
            <a:ext cx="3968496"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Diseñadores y constructores trabajan en compartimentos separados. La comunicación es tardía y formal.</a:t>
            </a:r>
            <a:endParaRPr lang="en-US" sz="750" dirty="0"/>
          </a:p>
        </p:txBody>
      </p:sp>
      <p:sp>
        <p:nvSpPr>
          <p:cNvPr id="11" name="Shape 8"/>
          <p:cNvSpPr/>
          <p:nvPr/>
        </p:nvSpPr>
        <p:spPr>
          <a:xfrm>
            <a:off x="4654296" y="804672"/>
            <a:ext cx="4169664" cy="1943100"/>
          </a:xfrm>
          <a:prstGeom prst="roundRect">
            <a:avLst>
              <a:gd name="adj" fmla="val 4235"/>
            </a:avLst>
          </a:prstGeom>
          <a:solidFill>
            <a:srgbClr val="FFFFFF"/>
          </a:solidFill>
          <a:ln w="19050">
            <a:solidFill>
              <a:srgbClr val="0A74E3"/>
            </a:solidFill>
            <a:prstDash val="solid"/>
          </a:ln>
        </p:spPr>
      </p:sp>
      <p:sp>
        <p:nvSpPr>
          <p:cNvPr id="12" name="Shape 9"/>
          <p:cNvSpPr/>
          <p:nvPr/>
        </p:nvSpPr>
        <p:spPr>
          <a:xfrm>
            <a:off x="4654296" y="804672"/>
            <a:ext cx="4169664" cy="54864"/>
          </a:xfrm>
          <a:prstGeom prst="rect">
            <a:avLst/>
          </a:prstGeom>
          <a:solidFill>
            <a:srgbClr val="0A74E3"/>
          </a:solidFill>
          <a:ln w="12700">
            <a:solidFill>
              <a:srgbClr val="0A74E3"/>
            </a:solidFill>
            <a:prstDash val="solid"/>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82312" y="932688"/>
            <a:ext cx="365760" cy="365760"/>
          </a:xfrm>
          <a:prstGeom prst="rect">
            <a:avLst/>
          </a:prstGeom>
        </p:spPr>
      </p:pic>
      <p:sp>
        <p:nvSpPr>
          <p:cNvPr id="14" name="Text 10"/>
          <p:cNvSpPr/>
          <p:nvPr/>
        </p:nvSpPr>
        <p:spPr>
          <a:xfrm>
            <a:off x="5202936" y="914400"/>
            <a:ext cx="3511296" cy="347472"/>
          </a:xfrm>
          <a:prstGeom prst="rect">
            <a:avLst/>
          </a:prstGeom>
          <a:noFill/>
          <a:ln/>
        </p:spPr>
        <p:txBody>
          <a:bodyPr wrap="square" rtlCol="0" anchor="ctr"/>
          <a:lstStyle/>
          <a:p>
            <a:pPr indent="0" marL="0">
              <a:buNone/>
            </a:pPr>
            <a:r>
              <a:rPr lang="en-US" sz="850" b="1" dirty="0">
                <a:solidFill>
                  <a:srgbClr val="0A74E3"/>
                </a:solidFill>
                <a:latin typeface="Atkinson Hyperlegible" pitchFamily="34" charset="0"/>
                <a:ea typeface="Atkinson Hyperlegible" pitchFamily="34" charset="-122"/>
                <a:cs typeface="Atkinson Hyperlegible" pitchFamily="34" charset="-120"/>
              </a:rPr>
              <a:t>Presión de Cronograma</a:t>
            </a:r>
            <a:endParaRPr lang="en-US" sz="850" dirty="0"/>
          </a:p>
        </p:txBody>
      </p:sp>
      <p:sp>
        <p:nvSpPr>
          <p:cNvPr id="15" name="Text 11"/>
          <p:cNvSpPr/>
          <p:nvPr/>
        </p:nvSpPr>
        <p:spPr>
          <a:xfrm>
            <a:off x="4764024" y="1316736"/>
            <a:ext cx="3968496"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Los equipos priorizan velocidad de diseño sobre calidad constructiva. "Primero diseñar, luego ver cómo se construye."</a:t>
            </a:r>
            <a:endParaRPr lang="en-US" sz="750" dirty="0"/>
          </a:p>
        </p:txBody>
      </p:sp>
      <p:sp>
        <p:nvSpPr>
          <p:cNvPr id="16" name="Shape 12"/>
          <p:cNvSpPr/>
          <p:nvPr/>
        </p:nvSpPr>
        <p:spPr>
          <a:xfrm>
            <a:off x="320040" y="2884932"/>
            <a:ext cx="4169664" cy="1943100"/>
          </a:xfrm>
          <a:prstGeom prst="roundRect">
            <a:avLst>
              <a:gd name="adj" fmla="val 4235"/>
            </a:avLst>
          </a:prstGeom>
          <a:solidFill>
            <a:srgbClr val="0A74E3"/>
          </a:solidFill>
          <a:ln w="19050">
            <a:solidFill>
              <a:srgbClr val="0A74E3"/>
            </a:solidFill>
            <a:prstDash val="solid"/>
          </a:ln>
        </p:spPr>
      </p:sp>
      <p:sp>
        <p:nvSpPr>
          <p:cNvPr id="17" name="Shape 13"/>
          <p:cNvSpPr/>
          <p:nvPr/>
        </p:nvSpPr>
        <p:spPr>
          <a:xfrm>
            <a:off x="320040" y="2884932"/>
            <a:ext cx="4169664" cy="54864"/>
          </a:xfrm>
          <a:prstGeom prst="rect">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8056" y="3012948"/>
            <a:ext cx="365760" cy="365760"/>
          </a:xfrm>
          <a:prstGeom prst="rect">
            <a:avLst/>
          </a:prstGeom>
        </p:spPr>
      </p:pic>
      <p:sp>
        <p:nvSpPr>
          <p:cNvPr id="19" name="Text 14"/>
          <p:cNvSpPr/>
          <p:nvPr/>
        </p:nvSpPr>
        <p:spPr>
          <a:xfrm>
            <a:off x="868680" y="2994660"/>
            <a:ext cx="3511296"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Contratos Inadecuados</a:t>
            </a:r>
            <a:endParaRPr lang="en-US" sz="850" dirty="0"/>
          </a:p>
        </p:txBody>
      </p:sp>
      <p:sp>
        <p:nvSpPr>
          <p:cNvPr id="20" name="Text 15"/>
          <p:cNvSpPr/>
          <p:nvPr/>
        </p:nvSpPr>
        <p:spPr>
          <a:xfrm>
            <a:off x="429768" y="3396996"/>
            <a:ext cx="3968496"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Los contratos EPC/EPCM no incentivan la integración temprana. El conocimiento de campo no tiene valor contractual.</a:t>
            </a:r>
            <a:endParaRPr lang="en-US" sz="750" dirty="0"/>
          </a:p>
        </p:txBody>
      </p:sp>
      <p:sp>
        <p:nvSpPr>
          <p:cNvPr id="21" name="Shape 16"/>
          <p:cNvSpPr/>
          <p:nvPr/>
        </p:nvSpPr>
        <p:spPr>
          <a:xfrm>
            <a:off x="4654296" y="2884932"/>
            <a:ext cx="4169664" cy="1943100"/>
          </a:xfrm>
          <a:prstGeom prst="roundRect">
            <a:avLst>
              <a:gd name="adj" fmla="val 4235"/>
            </a:avLst>
          </a:prstGeom>
          <a:solidFill>
            <a:srgbClr val="FFFFFF"/>
          </a:solidFill>
          <a:ln w="19050">
            <a:solidFill>
              <a:srgbClr val="0A74E3"/>
            </a:solidFill>
            <a:prstDash val="solid"/>
          </a:ln>
        </p:spPr>
      </p:sp>
      <p:sp>
        <p:nvSpPr>
          <p:cNvPr id="22" name="Shape 17"/>
          <p:cNvSpPr/>
          <p:nvPr/>
        </p:nvSpPr>
        <p:spPr>
          <a:xfrm>
            <a:off x="4654296" y="2884932"/>
            <a:ext cx="4169664" cy="54864"/>
          </a:xfrm>
          <a:prstGeom prst="rect">
            <a:avLst/>
          </a:prstGeom>
          <a:solidFill>
            <a:srgbClr val="0A74E3"/>
          </a:solidFill>
          <a:ln w="12700">
            <a:solidFill>
              <a:srgbClr val="0A74E3"/>
            </a:solidFill>
            <a:prstDash val="solid"/>
          </a:ln>
        </p:spPr>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82312" y="3012948"/>
            <a:ext cx="365760" cy="365760"/>
          </a:xfrm>
          <a:prstGeom prst="rect">
            <a:avLst/>
          </a:prstGeom>
        </p:spPr>
      </p:pic>
      <p:sp>
        <p:nvSpPr>
          <p:cNvPr id="24" name="Text 18"/>
          <p:cNvSpPr/>
          <p:nvPr/>
        </p:nvSpPr>
        <p:spPr>
          <a:xfrm>
            <a:off x="5202936" y="2994660"/>
            <a:ext cx="3511296" cy="347472"/>
          </a:xfrm>
          <a:prstGeom prst="rect">
            <a:avLst/>
          </a:prstGeom>
          <a:noFill/>
          <a:ln/>
        </p:spPr>
        <p:txBody>
          <a:bodyPr wrap="square" rtlCol="0" anchor="ctr"/>
          <a:lstStyle/>
          <a:p>
            <a:pPr indent="0" marL="0">
              <a:buNone/>
            </a:pPr>
            <a:r>
              <a:rPr lang="en-US" sz="850" b="1" dirty="0">
                <a:solidFill>
                  <a:srgbClr val="0A74E3"/>
                </a:solidFill>
                <a:latin typeface="Atkinson Hyperlegible" pitchFamily="34" charset="0"/>
                <a:ea typeface="Atkinson Hyperlegible" pitchFamily="34" charset="-122"/>
                <a:cs typeface="Atkinson Hyperlegible" pitchFamily="34" charset="-120"/>
              </a:rPr>
              <a:t>Falta de Conocimiento</a:t>
            </a:r>
            <a:endParaRPr lang="en-US" sz="850" dirty="0"/>
          </a:p>
        </p:txBody>
      </p:sp>
      <p:sp>
        <p:nvSpPr>
          <p:cNvPr id="25" name="Text 19"/>
          <p:cNvSpPr/>
          <p:nvPr/>
        </p:nvSpPr>
        <p:spPr>
          <a:xfrm>
            <a:off x="4764024" y="3396996"/>
            <a:ext cx="3968496"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Ingenieros de diseño sin experiencia en campo. Constructores sin participación en etapas tempranas.</a:t>
            </a:r>
            <a:endParaRPr lang="en-US" sz="750" dirty="0"/>
          </a:p>
        </p:txBody>
      </p:sp>
      <p:sp>
        <p:nvSpPr>
          <p:cNvPr id="26" name="Shape 20"/>
          <p:cNvSpPr/>
          <p:nvPr/>
        </p:nvSpPr>
        <p:spPr>
          <a:xfrm>
            <a:off x="182880" y="4956048"/>
            <a:ext cx="8961120" cy="182880"/>
          </a:xfrm>
          <a:prstGeom prst="rect">
            <a:avLst/>
          </a:prstGeom>
          <a:solidFill>
            <a:srgbClr val="0A74E3"/>
          </a:solidFill>
          <a:ln w="12700">
            <a:solidFill>
              <a:srgbClr val="0A74E3"/>
            </a:solidFill>
            <a:prstDash val="solid"/>
          </a:ln>
        </p:spPr>
      </p:sp>
      <p:sp>
        <p:nvSpPr>
          <p:cNvPr id="27" name="Text 21"/>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5 / 126</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A74E3"/>
          </a:solidFill>
          <a:ln w="12700">
            <a:solidFill>
              <a:srgbClr val="0A74E3"/>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Constructabilidad vs. Ingeniería de Valor</a:t>
            </a:r>
            <a:endParaRPr lang="en-US" sz="1800" dirty="0"/>
          </a:p>
        </p:txBody>
      </p:sp>
      <p:sp>
        <p:nvSpPr>
          <p:cNvPr id="4" name="Shape 2"/>
          <p:cNvSpPr/>
          <p:nvPr/>
        </p:nvSpPr>
        <p:spPr>
          <a:xfrm>
            <a:off x="320040" y="640080"/>
            <a:ext cx="8503920" cy="41148"/>
          </a:xfrm>
          <a:prstGeom prst="rect">
            <a:avLst/>
          </a:prstGeom>
          <a:solidFill>
            <a:srgbClr val="0A74E3"/>
          </a:solidFill>
          <a:ln w="12700">
            <a:solidFill>
              <a:srgbClr val="0A74E3"/>
            </a:solidFill>
            <a:prstDash val="solid"/>
          </a:ln>
        </p:spPr>
      </p:sp>
      <p:sp>
        <p:nvSpPr>
          <p:cNvPr id="5" name="Shape 3"/>
          <p:cNvSpPr/>
          <p:nvPr/>
        </p:nvSpPr>
        <p:spPr>
          <a:xfrm>
            <a:off x="320040" y="804672"/>
            <a:ext cx="4160520" cy="4114800"/>
          </a:xfrm>
          <a:prstGeom prst="roundRect">
            <a:avLst>
              <a:gd name="adj" fmla="val 2222"/>
            </a:avLst>
          </a:prstGeom>
          <a:solidFill>
            <a:srgbClr val="0A74E3"/>
          </a:solidFill>
          <a:ln w="12700">
            <a:solidFill>
              <a:srgbClr val="0A74E3"/>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2920" y="896112"/>
            <a:ext cx="475488" cy="475488"/>
          </a:xfrm>
          <a:prstGeom prst="rect">
            <a:avLst/>
          </a:prstGeom>
        </p:spPr>
      </p:pic>
      <p:sp>
        <p:nvSpPr>
          <p:cNvPr id="7" name="Text 4"/>
          <p:cNvSpPr/>
          <p:nvPr/>
        </p:nvSpPr>
        <p:spPr>
          <a:xfrm>
            <a:off x="1024128" y="868680"/>
            <a:ext cx="3291840" cy="475488"/>
          </a:xfrm>
          <a:prstGeom prst="rect">
            <a:avLst/>
          </a:prstGeom>
          <a:noFill/>
          <a:ln/>
        </p:spPr>
        <p:txBody>
          <a:bodyPr wrap="square" rtlCol="0" anchor="ctr"/>
          <a:lstStyle/>
          <a:p>
            <a:pP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CONSTRUCTABILIDAD</a:t>
            </a:r>
            <a:endParaRPr lang="en-US" sz="1000" dirty="0"/>
          </a:p>
        </p:txBody>
      </p:sp>
      <p:sp>
        <p:nvSpPr>
          <p:cNvPr id="8" name="Shape 5"/>
          <p:cNvSpPr/>
          <p:nvPr/>
        </p:nvSpPr>
        <p:spPr>
          <a:xfrm>
            <a:off x="457200" y="1600200"/>
            <a:ext cx="164592" cy="164592"/>
          </a:xfrm>
          <a:prstGeom prst="ellipse">
            <a:avLst/>
          </a:prstGeom>
          <a:solidFill>
            <a:srgbClr val="FFFFFF"/>
          </a:solidFill>
          <a:ln w="12700">
            <a:solidFill>
              <a:srgbClr val="FFFFFF"/>
            </a:solidFill>
            <a:prstDash val="solid"/>
          </a:ln>
        </p:spPr>
      </p:sp>
      <p:sp>
        <p:nvSpPr>
          <p:cNvPr id="9" name="Text 6"/>
          <p:cNvSpPr/>
          <p:nvPr/>
        </p:nvSpPr>
        <p:spPr>
          <a:xfrm>
            <a:off x="676656" y="1508760"/>
            <a:ext cx="3611880" cy="475488"/>
          </a:xfrm>
          <a:prstGeom prst="rect">
            <a:avLst/>
          </a:prstGeom>
          <a:noFill/>
          <a:ln/>
        </p:spPr>
        <p:txBody>
          <a:bodyPr wrap="square" rtlCol="0" anchor="ctr"/>
          <a:lstStyle/>
          <a:p>
            <a:pPr indent="0" marL="0">
              <a:buNone/>
            </a:pPr>
            <a:r>
              <a:rPr lang="en-US" sz="850" dirty="0">
                <a:solidFill>
                  <a:srgbClr val="FFFFFF"/>
                </a:solidFill>
                <a:latin typeface="Atkinson Hyperlegible" pitchFamily="34" charset="0"/>
                <a:ea typeface="Atkinson Hyperlegible" pitchFamily="34" charset="-122"/>
                <a:cs typeface="Atkinson Hyperlegible" pitchFamily="34" charset="-120"/>
              </a:rPr>
              <a:t>Involucra conocimiento de campo DURANTE diseño</a:t>
            </a:r>
            <a:endParaRPr lang="en-US" sz="850" dirty="0"/>
          </a:p>
        </p:txBody>
      </p:sp>
      <p:sp>
        <p:nvSpPr>
          <p:cNvPr id="10" name="Shape 7"/>
          <p:cNvSpPr/>
          <p:nvPr/>
        </p:nvSpPr>
        <p:spPr>
          <a:xfrm>
            <a:off x="457200" y="2112264"/>
            <a:ext cx="164592" cy="164592"/>
          </a:xfrm>
          <a:prstGeom prst="ellipse">
            <a:avLst/>
          </a:prstGeom>
          <a:solidFill>
            <a:srgbClr val="FFFFFF"/>
          </a:solidFill>
          <a:ln w="12700">
            <a:solidFill>
              <a:srgbClr val="FFFFFF"/>
            </a:solidFill>
            <a:prstDash val="solid"/>
          </a:ln>
        </p:spPr>
      </p:sp>
      <p:sp>
        <p:nvSpPr>
          <p:cNvPr id="11" name="Text 8"/>
          <p:cNvSpPr/>
          <p:nvPr/>
        </p:nvSpPr>
        <p:spPr>
          <a:xfrm>
            <a:off x="676656" y="2020824"/>
            <a:ext cx="3611880" cy="475488"/>
          </a:xfrm>
          <a:prstGeom prst="rect">
            <a:avLst/>
          </a:prstGeom>
          <a:noFill/>
          <a:ln/>
        </p:spPr>
        <p:txBody>
          <a:bodyPr wrap="square" rtlCol="0" anchor="ctr"/>
          <a:lstStyle/>
          <a:p>
            <a:pPr indent="0" marL="0">
              <a:buNone/>
            </a:pPr>
            <a:r>
              <a:rPr lang="en-US" sz="850" dirty="0">
                <a:solidFill>
                  <a:srgbClr val="FFFFFF"/>
                </a:solidFill>
                <a:latin typeface="Atkinson Hyperlegible" pitchFamily="34" charset="0"/>
                <a:ea typeface="Atkinson Hyperlegible" pitchFamily="34" charset="-122"/>
                <a:cs typeface="Atkinson Hyperlegible" pitchFamily="34" charset="-120"/>
              </a:rPr>
              <a:t>Se aplica desde conceptualización hasta operaciones</a:t>
            </a:r>
            <a:endParaRPr lang="en-US" sz="850" dirty="0"/>
          </a:p>
        </p:txBody>
      </p:sp>
      <p:sp>
        <p:nvSpPr>
          <p:cNvPr id="12" name="Shape 9"/>
          <p:cNvSpPr/>
          <p:nvPr/>
        </p:nvSpPr>
        <p:spPr>
          <a:xfrm>
            <a:off x="457200" y="2624328"/>
            <a:ext cx="164592" cy="164592"/>
          </a:xfrm>
          <a:prstGeom prst="ellipse">
            <a:avLst/>
          </a:prstGeom>
          <a:solidFill>
            <a:srgbClr val="FFFFFF"/>
          </a:solidFill>
          <a:ln w="12700">
            <a:solidFill>
              <a:srgbClr val="FFFFFF"/>
            </a:solidFill>
            <a:prstDash val="solid"/>
          </a:ln>
        </p:spPr>
      </p:sp>
      <p:sp>
        <p:nvSpPr>
          <p:cNvPr id="13" name="Text 10"/>
          <p:cNvSpPr/>
          <p:nvPr/>
        </p:nvSpPr>
        <p:spPr>
          <a:xfrm>
            <a:off x="676656" y="2532888"/>
            <a:ext cx="3611880" cy="475488"/>
          </a:xfrm>
          <a:prstGeom prst="rect">
            <a:avLst/>
          </a:prstGeom>
          <a:noFill/>
          <a:ln/>
        </p:spPr>
        <p:txBody>
          <a:bodyPr wrap="square" rtlCol="0" anchor="ctr"/>
          <a:lstStyle/>
          <a:p>
            <a:pPr indent="0" marL="0">
              <a:buNone/>
            </a:pPr>
            <a:r>
              <a:rPr lang="en-US" sz="850" dirty="0">
                <a:solidFill>
                  <a:srgbClr val="FFFFFF"/>
                </a:solidFill>
                <a:latin typeface="Atkinson Hyperlegible" pitchFamily="34" charset="0"/>
                <a:ea typeface="Atkinson Hyperlegible" pitchFamily="34" charset="-122"/>
                <a:cs typeface="Atkinson Hyperlegible" pitchFamily="34" charset="-120"/>
              </a:rPr>
              <a:t>Proactiva: diseño pensado para ser construido</a:t>
            </a:r>
            <a:endParaRPr lang="en-US" sz="850" dirty="0"/>
          </a:p>
        </p:txBody>
      </p:sp>
      <p:sp>
        <p:nvSpPr>
          <p:cNvPr id="14" name="Shape 11"/>
          <p:cNvSpPr/>
          <p:nvPr/>
        </p:nvSpPr>
        <p:spPr>
          <a:xfrm>
            <a:off x="457200" y="3136392"/>
            <a:ext cx="164592" cy="164592"/>
          </a:xfrm>
          <a:prstGeom prst="ellipse">
            <a:avLst/>
          </a:prstGeom>
          <a:solidFill>
            <a:srgbClr val="FFFFFF"/>
          </a:solidFill>
          <a:ln w="12700">
            <a:solidFill>
              <a:srgbClr val="FFFFFF"/>
            </a:solidFill>
            <a:prstDash val="solid"/>
          </a:ln>
        </p:spPr>
      </p:sp>
      <p:sp>
        <p:nvSpPr>
          <p:cNvPr id="15" name="Text 12"/>
          <p:cNvSpPr/>
          <p:nvPr/>
        </p:nvSpPr>
        <p:spPr>
          <a:xfrm>
            <a:off x="676656" y="3044952"/>
            <a:ext cx="3611880" cy="475488"/>
          </a:xfrm>
          <a:prstGeom prst="rect">
            <a:avLst/>
          </a:prstGeom>
          <a:noFill/>
          <a:ln/>
        </p:spPr>
        <p:txBody>
          <a:bodyPr wrap="square" rtlCol="0" anchor="ctr"/>
          <a:lstStyle/>
          <a:p>
            <a:pPr indent="0" marL="0">
              <a:buNone/>
            </a:pPr>
            <a:r>
              <a:rPr lang="en-US" sz="850" dirty="0">
                <a:solidFill>
                  <a:srgbClr val="FFFFFF"/>
                </a:solidFill>
                <a:latin typeface="Atkinson Hyperlegible" pitchFamily="34" charset="0"/>
                <a:ea typeface="Atkinson Hyperlegible" pitchFamily="34" charset="-122"/>
                <a:cs typeface="Atkinson Hyperlegible" pitchFamily="34" charset="-120"/>
              </a:rPr>
              <a:t>Alcance: todo el ciclo de vida del proyecto</a:t>
            </a:r>
            <a:endParaRPr lang="en-US" sz="850" dirty="0"/>
          </a:p>
        </p:txBody>
      </p:sp>
      <p:sp>
        <p:nvSpPr>
          <p:cNvPr id="16" name="Shape 13"/>
          <p:cNvSpPr/>
          <p:nvPr/>
        </p:nvSpPr>
        <p:spPr>
          <a:xfrm>
            <a:off x="457200" y="3648456"/>
            <a:ext cx="164592" cy="164592"/>
          </a:xfrm>
          <a:prstGeom prst="ellipse">
            <a:avLst/>
          </a:prstGeom>
          <a:solidFill>
            <a:srgbClr val="FFFFFF"/>
          </a:solidFill>
          <a:ln w="12700">
            <a:solidFill>
              <a:srgbClr val="FFFFFF"/>
            </a:solidFill>
            <a:prstDash val="solid"/>
          </a:ln>
        </p:spPr>
      </p:sp>
      <p:sp>
        <p:nvSpPr>
          <p:cNvPr id="17" name="Text 14"/>
          <p:cNvSpPr/>
          <p:nvPr/>
        </p:nvSpPr>
        <p:spPr>
          <a:xfrm>
            <a:off x="676656" y="3557016"/>
            <a:ext cx="3611880" cy="475488"/>
          </a:xfrm>
          <a:prstGeom prst="rect">
            <a:avLst/>
          </a:prstGeom>
          <a:noFill/>
          <a:ln/>
        </p:spPr>
        <p:txBody>
          <a:bodyPr wrap="square" rtlCol="0" anchor="ctr"/>
          <a:lstStyle/>
          <a:p>
            <a:pPr indent="0" marL="0">
              <a:buNone/>
            </a:pPr>
            <a:r>
              <a:rPr lang="en-US" sz="850" dirty="0">
                <a:solidFill>
                  <a:srgbClr val="FFFFFF"/>
                </a:solidFill>
                <a:latin typeface="Atkinson Hyperlegible" pitchFamily="34" charset="0"/>
                <a:ea typeface="Atkinson Hyperlegible" pitchFamily="34" charset="-122"/>
                <a:cs typeface="Atkinson Hyperlegible" pitchFamily="34" charset="-120"/>
              </a:rPr>
              <a:t>Busca óptimo: costo + tiempo + calidad + seguridad</a:t>
            </a:r>
            <a:endParaRPr lang="en-US" sz="850" dirty="0"/>
          </a:p>
        </p:txBody>
      </p:sp>
      <p:sp>
        <p:nvSpPr>
          <p:cNvPr id="18" name="Shape 15"/>
          <p:cNvSpPr/>
          <p:nvPr/>
        </p:nvSpPr>
        <p:spPr>
          <a:xfrm>
            <a:off x="4617720" y="804672"/>
            <a:ext cx="4251960" cy="4114800"/>
          </a:xfrm>
          <a:prstGeom prst="roundRect">
            <a:avLst>
              <a:gd name="adj" fmla="val 2222"/>
            </a:avLst>
          </a:prstGeom>
          <a:solidFill>
            <a:srgbClr val="FFFFFF"/>
          </a:solidFill>
          <a:ln w="25400">
            <a:solidFill>
              <a:srgbClr val="0A74E3"/>
            </a:solidFill>
            <a:prstDash val="solid"/>
          </a:ln>
        </p:spPr>
      </p:sp>
      <p:pic>
        <p:nvPicPr>
          <p:cNvPr id="1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54880" y="896112"/>
            <a:ext cx="475488" cy="475488"/>
          </a:xfrm>
          <a:prstGeom prst="rect">
            <a:avLst/>
          </a:prstGeom>
        </p:spPr>
      </p:pic>
      <p:sp>
        <p:nvSpPr>
          <p:cNvPr id="20" name="Text 16"/>
          <p:cNvSpPr/>
          <p:nvPr/>
        </p:nvSpPr>
        <p:spPr>
          <a:xfrm>
            <a:off x="5285232" y="868680"/>
            <a:ext cx="3474720" cy="475488"/>
          </a:xfrm>
          <a:prstGeom prst="rect">
            <a:avLst/>
          </a:prstGeom>
          <a:noFill/>
          <a:ln/>
        </p:spPr>
        <p:txBody>
          <a:bodyPr wrap="square" rtlCol="0" anchor="ctr"/>
          <a:lstStyle/>
          <a:p>
            <a:pPr indent="0" marL="0">
              <a:buNone/>
            </a:pPr>
            <a:r>
              <a:rPr lang="en-US" sz="1000" b="1" dirty="0">
                <a:solidFill>
                  <a:srgbClr val="0A74E3"/>
                </a:solidFill>
                <a:latin typeface="Atkinson Hyperlegible" pitchFamily="34" charset="0"/>
                <a:ea typeface="Atkinson Hyperlegible" pitchFamily="34" charset="-122"/>
                <a:cs typeface="Atkinson Hyperlegible" pitchFamily="34" charset="-120"/>
              </a:rPr>
              <a:t>INGENIERÍA DE VALOR</a:t>
            </a:r>
            <a:endParaRPr lang="en-US" sz="1000" dirty="0"/>
          </a:p>
        </p:txBody>
      </p:sp>
      <p:sp>
        <p:nvSpPr>
          <p:cNvPr id="21" name="Shape 17"/>
          <p:cNvSpPr/>
          <p:nvPr/>
        </p:nvSpPr>
        <p:spPr>
          <a:xfrm>
            <a:off x="4709160" y="1600200"/>
            <a:ext cx="164592" cy="164592"/>
          </a:xfrm>
          <a:prstGeom prst="ellipse">
            <a:avLst/>
          </a:prstGeom>
          <a:solidFill>
            <a:srgbClr val="0A74E3"/>
          </a:solidFill>
          <a:ln w="12700">
            <a:solidFill>
              <a:srgbClr val="0A74E3"/>
            </a:solidFill>
            <a:prstDash val="solid"/>
          </a:ln>
        </p:spPr>
      </p:sp>
      <p:sp>
        <p:nvSpPr>
          <p:cNvPr id="22" name="Text 18"/>
          <p:cNvSpPr/>
          <p:nvPr/>
        </p:nvSpPr>
        <p:spPr>
          <a:xfrm>
            <a:off x="4919472" y="1508760"/>
            <a:ext cx="3749040" cy="475488"/>
          </a:xfrm>
          <a:prstGeom prst="rect">
            <a:avLst/>
          </a:prstGeom>
          <a:noFill/>
          <a:ln/>
        </p:spPr>
        <p:txBody>
          <a:bodyPr wrap="square" rtlCol="0" anchor="ctr"/>
          <a:lstStyle/>
          <a:p>
            <a:pPr indent="0" marL="0">
              <a:buNone/>
            </a:pPr>
            <a:r>
              <a:rPr lang="en-US" sz="850" dirty="0">
                <a:solidFill>
                  <a:srgbClr val="1D1D1F"/>
                </a:solidFill>
                <a:latin typeface="Atkinson Hyperlegible" pitchFamily="34" charset="0"/>
                <a:ea typeface="Atkinson Hyperlegible" pitchFamily="34" charset="-122"/>
                <a:cs typeface="Atkinson Hyperlegible" pitchFamily="34" charset="-120"/>
              </a:rPr>
              <a:t>Evalúa funciones vs. costo DESPUÉS del diseño</a:t>
            </a:r>
            <a:endParaRPr lang="en-US" sz="850" dirty="0"/>
          </a:p>
        </p:txBody>
      </p:sp>
      <p:sp>
        <p:nvSpPr>
          <p:cNvPr id="23" name="Shape 19"/>
          <p:cNvSpPr/>
          <p:nvPr/>
        </p:nvSpPr>
        <p:spPr>
          <a:xfrm>
            <a:off x="4709160" y="2112264"/>
            <a:ext cx="164592" cy="164592"/>
          </a:xfrm>
          <a:prstGeom prst="ellipse">
            <a:avLst/>
          </a:prstGeom>
          <a:solidFill>
            <a:srgbClr val="0A74E3"/>
          </a:solidFill>
          <a:ln w="12700">
            <a:solidFill>
              <a:srgbClr val="0A74E3"/>
            </a:solidFill>
            <a:prstDash val="solid"/>
          </a:ln>
        </p:spPr>
      </p:sp>
      <p:sp>
        <p:nvSpPr>
          <p:cNvPr id="24" name="Text 20"/>
          <p:cNvSpPr/>
          <p:nvPr/>
        </p:nvSpPr>
        <p:spPr>
          <a:xfrm>
            <a:off x="4919472" y="2020824"/>
            <a:ext cx="3749040" cy="475488"/>
          </a:xfrm>
          <a:prstGeom prst="rect">
            <a:avLst/>
          </a:prstGeom>
          <a:noFill/>
          <a:ln/>
        </p:spPr>
        <p:txBody>
          <a:bodyPr wrap="square" rtlCol="0" anchor="ctr"/>
          <a:lstStyle/>
          <a:p>
            <a:pPr indent="0" marL="0">
              <a:buNone/>
            </a:pPr>
            <a:r>
              <a:rPr lang="en-US" sz="850" dirty="0">
                <a:solidFill>
                  <a:srgbClr val="1D1D1F"/>
                </a:solidFill>
                <a:latin typeface="Atkinson Hyperlegible" pitchFamily="34" charset="0"/>
                <a:ea typeface="Atkinson Hyperlegible" pitchFamily="34" charset="-122"/>
                <a:cs typeface="Atkinson Hyperlegible" pitchFamily="34" charset="-120"/>
              </a:rPr>
              <a:t>Reactiva: analiza lo ya diseñado</a:t>
            </a:r>
            <a:endParaRPr lang="en-US" sz="850" dirty="0"/>
          </a:p>
        </p:txBody>
      </p:sp>
      <p:sp>
        <p:nvSpPr>
          <p:cNvPr id="25" name="Shape 21"/>
          <p:cNvSpPr/>
          <p:nvPr/>
        </p:nvSpPr>
        <p:spPr>
          <a:xfrm>
            <a:off x="4709160" y="2624328"/>
            <a:ext cx="164592" cy="164592"/>
          </a:xfrm>
          <a:prstGeom prst="ellipse">
            <a:avLst/>
          </a:prstGeom>
          <a:solidFill>
            <a:srgbClr val="0A74E3"/>
          </a:solidFill>
          <a:ln w="12700">
            <a:solidFill>
              <a:srgbClr val="0A74E3"/>
            </a:solidFill>
            <a:prstDash val="solid"/>
          </a:ln>
        </p:spPr>
      </p:sp>
      <p:sp>
        <p:nvSpPr>
          <p:cNvPr id="26" name="Text 22"/>
          <p:cNvSpPr/>
          <p:nvPr/>
        </p:nvSpPr>
        <p:spPr>
          <a:xfrm>
            <a:off x="4919472" y="2532888"/>
            <a:ext cx="3749040" cy="475488"/>
          </a:xfrm>
          <a:prstGeom prst="rect">
            <a:avLst/>
          </a:prstGeom>
          <a:noFill/>
          <a:ln/>
        </p:spPr>
        <p:txBody>
          <a:bodyPr wrap="square" rtlCol="0" anchor="ctr"/>
          <a:lstStyle/>
          <a:p>
            <a:pPr indent="0" marL="0">
              <a:buNone/>
            </a:pPr>
            <a:r>
              <a:rPr lang="en-US" sz="850" dirty="0">
                <a:solidFill>
                  <a:srgbClr val="1D1D1F"/>
                </a:solidFill>
                <a:latin typeface="Atkinson Hyperlegible" pitchFamily="34" charset="0"/>
                <a:ea typeface="Atkinson Hyperlegible" pitchFamily="34" charset="-122"/>
                <a:cs typeface="Atkinson Hyperlegible" pitchFamily="34" charset="-120"/>
              </a:rPr>
              <a:t>Alcance: principalmente fase de diseño</a:t>
            </a:r>
            <a:endParaRPr lang="en-US" sz="850" dirty="0"/>
          </a:p>
        </p:txBody>
      </p:sp>
      <p:sp>
        <p:nvSpPr>
          <p:cNvPr id="27" name="Shape 23"/>
          <p:cNvSpPr/>
          <p:nvPr/>
        </p:nvSpPr>
        <p:spPr>
          <a:xfrm>
            <a:off x="4709160" y="3136392"/>
            <a:ext cx="164592" cy="164592"/>
          </a:xfrm>
          <a:prstGeom prst="ellipse">
            <a:avLst/>
          </a:prstGeom>
          <a:solidFill>
            <a:srgbClr val="0A74E3"/>
          </a:solidFill>
          <a:ln w="12700">
            <a:solidFill>
              <a:srgbClr val="0A74E3"/>
            </a:solidFill>
            <a:prstDash val="solid"/>
          </a:ln>
        </p:spPr>
      </p:sp>
      <p:sp>
        <p:nvSpPr>
          <p:cNvPr id="28" name="Text 24"/>
          <p:cNvSpPr/>
          <p:nvPr/>
        </p:nvSpPr>
        <p:spPr>
          <a:xfrm>
            <a:off x="4919472" y="3044952"/>
            <a:ext cx="3749040" cy="475488"/>
          </a:xfrm>
          <a:prstGeom prst="rect">
            <a:avLst/>
          </a:prstGeom>
          <a:noFill/>
          <a:ln/>
        </p:spPr>
        <p:txBody>
          <a:bodyPr wrap="square" rtlCol="0" anchor="ctr"/>
          <a:lstStyle/>
          <a:p>
            <a:pPr indent="0" marL="0">
              <a:buNone/>
            </a:pPr>
            <a:r>
              <a:rPr lang="en-US" sz="850" dirty="0">
                <a:solidFill>
                  <a:srgbClr val="1D1D1F"/>
                </a:solidFill>
                <a:latin typeface="Atkinson Hyperlegible" pitchFamily="34" charset="0"/>
                <a:ea typeface="Atkinson Hyperlegible" pitchFamily="34" charset="-122"/>
                <a:cs typeface="Atkinson Hyperlegible" pitchFamily="34" charset="-120"/>
              </a:rPr>
              <a:t>Enfoque: reducción de costos del diseño</a:t>
            </a:r>
            <a:endParaRPr lang="en-US" sz="850" dirty="0"/>
          </a:p>
        </p:txBody>
      </p:sp>
      <p:sp>
        <p:nvSpPr>
          <p:cNvPr id="29" name="Shape 25"/>
          <p:cNvSpPr/>
          <p:nvPr/>
        </p:nvSpPr>
        <p:spPr>
          <a:xfrm>
            <a:off x="4709160" y="3648456"/>
            <a:ext cx="164592" cy="164592"/>
          </a:xfrm>
          <a:prstGeom prst="ellipse">
            <a:avLst/>
          </a:prstGeom>
          <a:solidFill>
            <a:srgbClr val="0A74E3"/>
          </a:solidFill>
          <a:ln w="12700">
            <a:solidFill>
              <a:srgbClr val="0A74E3"/>
            </a:solidFill>
            <a:prstDash val="solid"/>
          </a:ln>
        </p:spPr>
      </p:sp>
      <p:sp>
        <p:nvSpPr>
          <p:cNvPr id="30" name="Text 26"/>
          <p:cNvSpPr/>
          <p:nvPr/>
        </p:nvSpPr>
        <p:spPr>
          <a:xfrm>
            <a:off x="4919472" y="3557016"/>
            <a:ext cx="3749040" cy="475488"/>
          </a:xfrm>
          <a:prstGeom prst="rect">
            <a:avLst/>
          </a:prstGeom>
          <a:noFill/>
          <a:ln/>
        </p:spPr>
        <p:txBody>
          <a:bodyPr wrap="square" rtlCol="0" anchor="ctr"/>
          <a:lstStyle/>
          <a:p>
            <a:pPr indent="0" marL="0">
              <a:buNone/>
            </a:pPr>
            <a:r>
              <a:rPr lang="en-US" sz="850" dirty="0">
                <a:solidFill>
                  <a:srgbClr val="1D1D1F"/>
                </a:solidFill>
                <a:latin typeface="Atkinson Hyperlegible" pitchFamily="34" charset="0"/>
                <a:ea typeface="Atkinson Hyperlegible" pitchFamily="34" charset="-122"/>
                <a:cs typeface="Atkinson Hyperlegible" pitchFamily="34" charset="-120"/>
              </a:rPr>
              <a:t>Puede ignorar costos de construcción/operación</a:t>
            </a:r>
            <a:endParaRPr lang="en-US" sz="850" dirty="0"/>
          </a:p>
        </p:txBody>
      </p:sp>
      <p:sp>
        <p:nvSpPr>
          <p:cNvPr id="31" name="Shape 27"/>
          <p:cNvSpPr/>
          <p:nvPr/>
        </p:nvSpPr>
        <p:spPr>
          <a:xfrm>
            <a:off x="182880" y="4956048"/>
            <a:ext cx="8961120" cy="182880"/>
          </a:xfrm>
          <a:prstGeom prst="rect">
            <a:avLst/>
          </a:prstGeom>
          <a:solidFill>
            <a:srgbClr val="0A74E3"/>
          </a:solidFill>
          <a:ln w="12700">
            <a:solidFill>
              <a:srgbClr val="0A74E3"/>
            </a:solidFill>
            <a:prstDash val="solid"/>
          </a:ln>
        </p:spPr>
      </p:sp>
      <p:sp>
        <p:nvSpPr>
          <p:cNvPr id="32" name="Text 28"/>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6 / 126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A74E3"/>
          </a:solidFill>
          <a:ln w="12700">
            <a:solidFill>
              <a:srgbClr val="0A74E3"/>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Las "Abilities" del Proyecto — Sistemas Integrados</a:t>
            </a:r>
            <a:endParaRPr lang="en-US" sz="1800" dirty="0"/>
          </a:p>
        </p:txBody>
      </p:sp>
      <p:sp>
        <p:nvSpPr>
          <p:cNvPr id="4" name="Shape 2"/>
          <p:cNvSpPr/>
          <p:nvPr/>
        </p:nvSpPr>
        <p:spPr>
          <a:xfrm>
            <a:off x="320040" y="640080"/>
            <a:ext cx="8503920" cy="41148"/>
          </a:xfrm>
          <a:prstGeom prst="rect">
            <a:avLst/>
          </a:prstGeom>
          <a:solidFill>
            <a:srgbClr val="0A74E3"/>
          </a:solidFill>
          <a:ln w="12700">
            <a:solidFill>
              <a:srgbClr val="0A74E3"/>
            </a:solidFill>
            <a:prstDash val="solid"/>
          </a:ln>
        </p:spPr>
      </p:sp>
      <p:sp>
        <p:nvSpPr>
          <p:cNvPr id="5" name="Shape 3"/>
          <p:cNvSpPr/>
          <p:nvPr/>
        </p:nvSpPr>
        <p:spPr>
          <a:xfrm>
            <a:off x="3931920" y="2450592"/>
            <a:ext cx="1280160" cy="768096"/>
          </a:xfrm>
          <a:prstGeom prst="ellipse">
            <a:avLst/>
          </a:prstGeom>
          <a:solidFill>
            <a:srgbClr val="0A74E3"/>
          </a:solidFill>
          <a:ln w="12700">
            <a:solidFill>
              <a:srgbClr val="0A74E3"/>
            </a:solidFill>
            <a:prstDash val="solid"/>
          </a:ln>
        </p:spPr>
      </p:sp>
      <p:sp>
        <p:nvSpPr>
          <p:cNvPr id="6" name="Text 4"/>
          <p:cNvSpPr/>
          <p:nvPr/>
        </p:nvSpPr>
        <p:spPr>
          <a:xfrm>
            <a:off x="3931920" y="2450592"/>
            <a:ext cx="1280160" cy="768096"/>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Project</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Delivery</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System</a:t>
            </a:r>
            <a:endParaRPr lang="en-US" sz="800" dirty="0"/>
          </a:p>
        </p:txBody>
      </p:sp>
      <p:sp>
        <p:nvSpPr>
          <p:cNvPr id="7" name="Shape 5"/>
          <p:cNvSpPr/>
          <p:nvPr/>
        </p:nvSpPr>
        <p:spPr>
          <a:xfrm flipV="1">
            <a:off x="4572000" y="1725473"/>
            <a:ext cx="18288" cy="706831"/>
          </a:xfrm>
          <a:prstGeom prst="line">
            <a:avLst/>
          </a:prstGeom>
          <a:noFill/>
          <a:ln w="15240">
            <a:solidFill>
              <a:srgbClr val="0A74E3"/>
            </a:solidFill>
            <a:prstDash val="solid"/>
          </a:ln>
        </p:spPr>
      </p:sp>
      <p:sp>
        <p:nvSpPr>
          <p:cNvPr id="8" name="Shape 6"/>
          <p:cNvSpPr/>
          <p:nvPr/>
        </p:nvSpPr>
        <p:spPr>
          <a:xfrm>
            <a:off x="3954780" y="1195121"/>
            <a:ext cx="1234440" cy="512064"/>
          </a:xfrm>
          <a:prstGeom prst="roundRect">
            <a:avLst>
              <a:gd name="adj" fmla="val 12500"/>
            </a:avLst>
          </a:prstGeom>
          <a:solidFill>
            <a:srgbClr val="0A74E3"/>
          </a:solidFill>
          <a:ln w="12700">
            <a:solidFill>
              <a:srgbClr val="0A74E3"/>
            </a:solidFill>
            <a:prstDash val="solid"/>
          </a:ln>
        </p:spPr>
      </p:sp>
      <p:sp>
        <p:nvSpPr>
          <p:cNvPr id="9" name="Text 7"/>
          <p:cNvSpPr/>
          <p:nvPr/>
        </p:nvSpPr>
        <p:spPr>
          <a:xfrm>
            <a:off x="3954780" y="1195121"/>
            <a:ext cx="1234440"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Constructabilidad</a:t>
            </a:r>
            <a:endParaRPr lang="en-US" sz="750" dirty="0"/>
          </a:p>
        </p:txBody>
      </p:sp>
      <p:sp>
        <p:nvSpPr>
          <p:cNvPr id="10" name="Text 8"/>
          <p:cNvSpPr/>
          <p:nvPr/>
        </p:nvSpPr>
        <p:spPr>
          <a:xfrm>
            <a:off x="3954780" y="1451153"/>
            <a:ext cx="1234440" cy="256032"/>
          </a:xfrm>
          <a:prstGeom prst="rect">
            <a:avLst/>
          </a:prstGeom>
          <a:noFill/>
          <a:ln/>
        </p:spPr>
        <p:txBody>
          <a:bodyPr wrap="square" rtlCol="0" anchor="ctr"/>
          <a:lstStyle/>
          <a:p>
            <a:pPr algn="ctr" indent="0" marL="0">
              <a:buNone/>
            </a:pPr>
            <a:r>
              <a:rPr lang="en-US" sz="600" i="1" dirty="0">
                <a:solidFill>
                  <a:srgbClr val="FFFFFF"/>
                </a:solidFill>
                <a:latin typeface="Atkinson Hyperlegible" pitchFamily="34" charset="0"/>
                <a:ea typeface="Atkinson Hyperlegible" pitchFamily="34" charset="-122"/>
                <a:cs typeface="Atkinson Hyperlegible" pitchFamily="34" charset="-120"/>
              </a:rPr>
              <a:t>Optimizar construcción</a:t>
            </a:r>
            <a:endParaRPr lang="en-US" sz="600" dirty="0"/>
          </a:p>
        </p:txBody>
      </p:sp>
      <p:sp>
        <p:nvSpPr>
          <p:cNvPr id="11" name="Shape 9"/>
          <p:cNvSpPr/>
          <p:nvPr/>
        </p:nvSpPr>
        <p:spPr>
          <a:xfrm flipV="1">
            <a:off x="5142163" y="2280056"/>
            <a:ext cx="300920" cy="353416"/>
          </a:xfrm>
          <a:prstGeom prst="line">
            <a:avLst/>
          </a:prstGeom>
          <a:noFill/>
          <a:ln w="15240">
            <a:solidFill>
              <a:srgbClr val="0A74E3"/>
            </a:solidFill>
            <a:prstDash val="solid"/>
          </a:ln>
        </p:spPr>
      </p:sp>
      <p:sp>
        <p:nvSpPr>
          <p:cNvPr id="12" name="Shape 10"/>
          <p:cNvSpPr/>
          <p:nvPr/>
        </p:nvSpPr>
        <p:spPr>
          <a:xfrm>
            <a:off x="5364351" y="1886864"/>
            <a:ext cx="1234440" cy="512064"/>
          </a:xfrm>
          <a:prstGeom prst="roundRect">
            <a:avLst>
              <a:gd name="adj" fmla="val 12500"/>
            </a:avLst>
          </a:prstGeom>
          <a:solidFill>
            <a:srgbClr val="0E9E9E"/>
          </a:solidFill>
          <a:ln w="12700">
            <a:solidFill>
              <a:srgbClr val="0A74E3"/>
            </a:solidFill>
            <a:prstDash val="solid"/>
          </a:ln>
        </p:spPr>
      </p:sp>
      <p:sp>
        <p:nvSpPr>
          <p:cNvPr id="13" name="Text 11"/>
          <p:cNvSpPr/>
          <p:nvPr/>
        </p:nvSpPr>
        <p:spPr>
          <a:xfrm>
            <a:off x="5364351" y="1886864"/>
            <a:ext cx="1234440"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Operabilidad</a:t>
            </a:r>
            <a:endParaRPr lang="en-US" sz="750" dirty="0"/>
          </a:p>
        </p:txBody>
      </p:sp>
      <p:sp>
        <p:nvSpPr>
          <p:cNvPr id="14" name="Text 12"/>
          <p:cNvSpPr/>
          <p:nvPr/>
        </p:nvSpPr>
        <p:spPr>
          <a:xfrm>
            <a:off x="5364351" y="2142896"/>
            <a:ext cx="1234440" cy="256032"/>
          </a:xfrm>
          <a:prstGeom prst="rect">
            <a:avLst/>
          </a:prstGeom>
          <a:noFill/>
          <a:ln/>
        </p:spPr>
        <p:txBody>
          <a:bodyPr wrap="square" rtlCol="0" anchor="ctr"/>
          <a:lstStyle/>
          <a:p>
            <a:pPr algn="ctr" indent="0" marL="0">
              <a:buNone/>
            </a:pPr>
            <a:r>
              <a:rPr lang="en-US" sz="600" i="1" dirty="0">
                <a:solidFill>
                  <a:srgbClr val="FFFFFF"/>
                </a:solidFill>
                <a:latin typeface="Atkinson Hyperlegible" pitchFamily="34" charset="0"/>
                <a:ea typeface="Atkinson Hyperlegible" pitchFamily="34" charset="-122"/>
                <a:cs typeface="Atkinson Hyperlegible" pitchFamily="34" charset="-120"/>
              </a:rPr>
              <a:t>Facilitar operación</a:t>
            </a:r>
            <a:endParaRPr lang="en-US" sz="600" dirty="0"/>
          </a:p>
        </p:txBody>
      </p:sp>
      <p:sp>
        <p:nvSpPr>
          <p:cNvPr id="15" name="Shape 13"/>
          <p:cNvSpPr/>
          <p:nvPr/>
        </p:nvSpPr>
        <p:spPr>
          <a:xfrm>
            <a:off x="5142163" y="3035808"/>
            <a:ext cx="300920" cy="353416"/>
          </a:xfrm>
          <a:prstGeom prst="line">
            <a:avLst/>
          </a:prstGeom>
          <a:noFill/>
          <a:ln w="15240">
            <a:solidFill>
              <a:srgbClr val="0A74E3"/>
            </a:solidFill>
            <a:prstDash val="solid"/>
          </a:ln>
        </p:spPr>
      </p:sp>
      <p:sp>
        <p:nvSpPr>
          <p:cNvPr id="16" name="Shape 14"/>
          <p:cNvSpPr/>
          <p:nvPr/>
        </p:nvSpPr>
        <p:spPr>
          <a:xfrm>
            <a:off x="5364351" y="3270352"/>
            <a:ext cx="1234440" cy="512064"/>
          </a:xfrm>
          <a:prstGeom prst="roundRect">
            <a:avLst>
              <a:gd name="adj" fmla="val 12500"/>
            </a:avLst>
          </a:prstGeom>
          <a:solidFill>
            <a:srgbClr val="27AE60"/>
          </a:solidFill>
          <a:ln w="12700">
            <a:solidFill>
              <a:srgbClr val="0A74E3"/>
            </a:solidFill>
            <a:prstDash val="solid"/>
          </a:ln>
        </p:spPr>
      </p:sp>
      <p:sp>
        <p:nvSpPr>
          <p:cNvPr id="17" name="Text 15"/>
          <p:cNvSpPr/>
          <p:nvPr/>
        </p:nvSpPr>
        <p:spPr>
          <a:xfrm>
            <a:off x="5364351" y="3270352"/>
            <a:ext cx="1234440"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Mantenibilidad</a:t>
            </a:r>
            <a:endParaRPr lang="en-US" sz="750" dirty="0"/>
          </a:p>
        </p:txBody>
      </p:sp>
      <p:sp>
        <p:nvSpPr>
          <p:cNvPr id="18" name="Text 16"/>
          <p:cNvSpPr/>
          <p:nvPr/>
        </p:nvSpPr>
        <p:spPr>
          <a:xfrm>
            <a:off x="5364351" y="3526384"/>
            <a:ext cx="1234440" cy="256032"/>
          </a:xfrm>
          <a:prstGeom prst="rect">
            <a:avLst/>
          </a:prstGeom>
          <a:noFill/>
          <a:ln/>
        </p:spPr>
        <p:txBody>
          <a:bodyPr wrap="square" rtlCol="0" anchor="ctr"/>
          <a:lstStyle/>
          <a:p>
            <a:pPr algn="ctr" indent="0" marL="0">
              <a:buNone/>
            </a:pPr>
            <a:r>
              <a:rPr lang="en-US" sz="600" i="1" dirty="0">
                <a:solidFill>
                  <a:srgbClr val="FFFFFF"/>
                </a:solidFill>
                <a:latin typeface="Atkinson Hyperlegible" pitchFamily="34" charset="0"/>
                <a:ea typeface="Atkinson Hyperlegible" pitchFamily="34" charset="-122"/>
                <a:cs typeface="Atkinson Hyperlegible" pitchFamily="34" charset="-120"/>
              </a:rPr>
              <a:t>Reducir mantenimiento</a:t>
            </a:r>
            <a:endParaRPr lang="en-US" sz="600" dirty="0"/>
          </a:p>
        </p:txBody>
      </p:sp>
      <p:sp>
        <p:nvSpPr>
          <p:cNvPr id="19" name="Shape 17"/>
          <p:cNvSpPr/>
          <p:nvPr/>
        </p:nvSpPr>
        <p:spPr>
          <a:xfrm>
            <a:off x="4572000" y="3236976"/>
            <a:ext cx="18288" cy="706831"/>
          </a:xfrm>
          <a:prstGeom prst="line">
            <a:avLst/>
          </a:prstGeom>
          <a:noFill/>
          <a:ln w="15240">
            <a:solidFill>
              <a:srgbClr val="0A74E3"/>
            </a:solidFill>
            <a:prstDash val="solid"/>
          </a:ln>
        </p:spPr>
      </p:sp>
      <p:sp>
        <p:nvSpPr>
          <p:cNvPr id="20" name="Shape 18"/>
          <p:cNvSpPr/>
          <p:nvPr/>
        </p:nvSpPr>
        <p:spPr>
          <a:xfrm>
            <a:off x="3954780" y="3962095"/>
            <a:ext cx="1234440" cy="512064"/>
          </a:xfrm>
          <a:prstGeom prst="roundRect">
            <a:avLst>
              <a:gd name="adj" fmla="val 12500"/>
            </a:avLst>
          </a:prstGeom>
          <a:solidFill>
            <a:srgbClr val="D4620A"/>
          </a:solidFill>
          <a:ln w="12700">
            <a:solidFill>
              <a:srgbClr val="0A74E3"/>
            </a:solidFill>
            <a:prstDash val="solid"/>
          </a:ln>
        </p:spPr>
      </p:sp>
      <p:sp>
        <p:nvSpPr>
          <p:cNvPr id="21" name="Text 19"/>
          <p:cNvSpPr/>
          <p:nvPr/>
        </p:nvSpPr>
        <p:spPr>
          <a:xfrm>
            <a:off x="3954780" y="3962095"/>
            <a:ext cx="1234440"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Sustentabilidad</a:t>
            </a:r>
            <a:endParaRPr lang="en-US" sz="750" dirty="0"/>
          </a:p>
        </p:txBody>
      </p:sp>
      <p:sp>
        <p:nvSpPr>
          <p:cNvPr id="22" name="Text 20"/>
          <p:cNvSpPr/>
          <p:nvPr/>
        </p:nvSpPr>
        <p:spPr>
          <a:xfrm>
            <a:off x="3954780" y="4218127"/>
            <a:ext cx="1234440" cy="256032"/>
          </a:xfrm>
          <a:prstGeom prst="rect">
            <a:avLst/>
          </a:prstGeom>
          <a:noFill/>
          <a:ln/>
        </p:spPr>
        <p:txBody>
          <a:bodyPr wrap="square" rtlCol="0" anchor="ctr"/>
          <a:lstStyle/>
          <a:p>
            <a:pPr algn="ctr" indent="0" marL="0">
              <a:buNone/>
            </a:pPr>
            <a:r>
              <a:rPr lang="en-US" sz="600" i="1" dirty="0">
                <a:solidFill>
                  <a:srgbClr val="FFFFFF"/>
                </a:solidFill>
                <a:latin typeface="Atkinson Hyperlegible" pitchFamily="34" charset="0"/>
                <a:ea typeface="Atkinson Hyperlegible" pitchFamily="34" charset="-122"/>
                <a:cs typeface="Atkinson Hyperlegible" pitchFamily="34" charset="-120"/>
              </a:rPr>
              <a:t>Minimizar impacto</a:t>
            </a:r>
            <a:endParaRPr lang="en-US" sz="600" dirty="0"/>
          </a:p>
        </p:txBody>
      </p:sp>
      <p:sp>
        <p:nvSpPr>
          <p:cNvPr id="23" name="Shape 21"/>
          <p:cNvSpPr/>
          <p:nvPr/>
        </p:nvSpPr>
        <p:spPr>
          <a:xfrm flipH="1">
            <a:off x="3700917" y="3035808"/>
            <a:ext cx="300920" cy="353416"/>
          </a:xfrm>
          <a:prstGeom prst="line">
            <a:avLst/>
          </a:prstGeom>
          <a:noFill/>
          <a:ln w="15240">
            <a:solidFill>
              <a:srgbClr val="0A74E3"/>
            </a:solidFill>
            <a:prstDash val="solid"/>
          </a:ln>
        </p:spPr>
      </p:sp>
      <p:sp>
        <p:nvSpPr>
          <p:cNvPr id="24" name="Shape 22"/>
          <p:cNvSpPr/>
          <p:nvPr/>
        </p:nvSpPr>
        <p:spPr>
          <a:xfrm>
            <a:off x="2545209" y="3270352"/>
            <a:ext cx="1234440" cy="512064"/>
          </a:xfrm>
          <a:prstGeom prst="roundRect">
            <a:avLst>
              <a:gd name="adj" fmla="val 12500"/>
            </a:avLst>
          </a:prstGeom>
          <a:solidFill>
            <a:srgbClr val="8E44AD"/>
          </a:solidFill>
          <a:ln w="12700">
            <a:solidFill>
              <a:srgbClr val="0A74E3"/>
            </a:solidFill>
            <a:prstDash val="solid"/>
          </a:ln>
        </p:spPr>
      </p:sp>
      <p:sp>
        <p:nvSpPr>
          <p:cNvPr id="25" name="Text 23"/>
          <p:cNvSpPr/>
          <p:nvPr/>
        </p:nvSpPr>
        <p:spPr>
          <a:xfrm>
            <a:off x="2545209" y="3270352"/>
            <a:ext cx="1234440"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Programabilidad</a:t>
            </a:r>
            <a:endParaRPr lang="en-US" sz="750" dirty="0"/>
          </a:p>
        </p:txBody>
      </p:sp>
      <p:sp>
        <p:nvSpPr>
          <p:cNvPr id="26" name="Text 24"/>
          <p:cNvSpPr/>
          <p:nvPr/>
        </p:nvSpPr>
        <p:spPr>
          <a:xfrm>
            <a:off x="2545209" y="3526384"/>
            <a:ext cx="1234440" cy="256032"/>
          </a:xfrm>
          <a:prstGeom prst="rect">
            <a:avLst/>
          </a:prstGeom>
          <a:noFill/>
          <a:ln/>
        </p:spPr>
        <p:txBody>
          <a:bodyPr wrap="square" rtlCol="0" anchor="ctr"/>
          <a:lstStyle/>
          <a:p>
            <a:pPr algn="ctr" indent="0" marL="0">
              <a:buNone/>
            </a:pPr>
            <a:r>
              <a:rPr lang="en-US" sz="600" i="1" dirty="0">
                <a:solidFill>
                  <a:srgbClr val="FFFFFF"/>
                </a:solidFill>
                <a:latin typeface="Atkinson Hyperlegible" pitchFamily="34" charset="0"/>
                <a:ea typeface="Atkinson Hyperlegible" pitchFamily="34" charset="-122"/>
                <a:cs typeface="Atkinson Hyperlegible" pitchFamily="34" charset="-120"/>
              </a:rPr>
              <a:t>Alinear con cronograma</a:t>
            </a:r>
            <a:endParaRPr lang="en-US" sz="600" dirty="0"/>
          </a:p>
        </p:txBody>
      </p:sp>
      <p:sp>
        <p:nvSpPr>
          <p:cNvPr id="27" name="Shape 25"/>
          <p:cNvSpPr/>
          <p:nvPr/>
        </p:nvSpPr>
        <p:spPr>
          <a:xfrm flipH="1" flipV="1">
            <a:off x="3700917" y="2280056"/>
            <a:ext cx="300920" cy="353416"/>
          </a:xfrm>
          <a:prstGeom prst="line">
            <a:avLst/>
          </a:prstGeom>
          <a:noFill/>
          <a:ln w="15240">
            <a:solidFill>
              <a:srgbClr val="0A74E3"/>
            </a:solidFill>
            <a:prstDash val="solid"/>
          </a:ln>
        </p:spPr>
      </p:sp>
      <p:sp>
        <p:nvSpPr>
          <p:cNvPr id="28" name="Shape 26"/>
          <p:cNvSpPr/>
          <p:nvPr/>
        </p:nvSpPr>
        <p:spPr>
          <a:xfrm>
            <a:off x="2545209" y="1886864"/>
            <a:ext cx="1234440" cy="512064"/>
          </a:xfrm>
          <a:prstGeom prst="roundRect">
            <a:avLst>
              <a:gd name="adj" fmla="val 12500"/>
            </a:avLst>
          </a:prstGeom>
          <a:solidFill>
            <a:srgbClr val="C0392B"/>
          </a:solidFill>
          <a:ln w="12700">
            <a:solidFill>
              <a:srgbClr val="0A74E3"/>
            </a:solidFill>
            <a:prstDash val="solid"/>
          </a:ln>
        </p:spPr>
      </p:sp>
      <p:sp>
        <p:nvSpPr>
          <p:cNvPr id="29" name="Text 27"/>
          <p:cNvSpPr/>
          <p:nvPr/>
        </p:nvSpPr>
        <p:spPr>
          <a:xfrm>
            <a:off x="2545209" y="1886864"/>
            <a:ext cx="1234440"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Confiabilidad</a:t>
            </a:r>
            <a:endParaRPr lang="en-US" sz="750" dirty="0"/>
          </a:p>
        </p:txBody>
      </p:sp>
      <p:sp>
        <p:nvSpPr>
          <p:cNvPr id="30" name="Text 28"/>
          <p:cNvSpPr/>
          <p:nvPr/>
        </p:nvSpPr>
        <p:spPr>
          <a:xfrm>
            <a:off x="2545209" y="2142896"/>
            <a:ext cx="1234440" cy="256032"/>
          </a:xfrm>
          <a:prstGeom prst="rect">
            <a:avLst/>
          </a:prstGeom>
          <a:noFill/>
          <a:ln/>
        </p:spPr>
        <p:txBody>
          <a:bodyPr wrap="square" rtlCol="0" anchor="ctr"/>
          <a:lstStyle/>
          <a:p>
            <a:pPr algn="ctr" indent="0" marL="0">
              <a:buNone/>
            </a:pPr>
            <a:r>
              <a:rPr lang="en-US" sz="600" i="1" dirty="0">
                <a:solidFill>
                  <a:srgbClr val="FFFFFF"/>
                </a:solidFill>
                <a:latin typeface="Atkinson Hyperlegible" pitchFamily="34" charset="0"/>
                <a:ea typeface="Atkinson Hyperlegible" pitchFamily="34" charset="-122"/>
                <a:cs typeface="Atkinson Hyperlegible" pitchFamily="34" charset="-120"/>
              </a:rPr>
              <a:t>Disponibilidad del sistema</a:t>
            </a:r>
            <a:endParaRPr lang="en-US" sz="600" dirty="0"/>
          </a:p>
        </p:txBody>
      </p:sp>
      <p:sp>
        <p:nvSpPr>
          <p:cNvPr id="31" name="Shape 29"/>
          <p:cNvSpPr/>
          <p:nvPr/>
        </p:nvSpPr>
        <p:spPr>
          <a:xfrm>
            <a:off x="182880" y="4956048"/>
            <a:ext cx="8961120" cy="182880"/>
          </a:xfrm>
          <a:prstGeom prst="rect">
            <a:avLst/>
          </a:prstGeom>
          <a:solidFill>
            <a:srgbClr val="0A74E3"/>
          </a:solidFill>
          <a:ln w="12700">
            <a:solidFill>
              <a:srgbClr val="0A74E3"/>
            </a:solidFill>
            <a:prstDash val="solid"/>
          </a:ln>
        </p:spPr>
      </p:sp>
      <p:sp>
        <p:nvSpPr>
          <p:cNvPr id="32" name="Text 30"/>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7 / 126</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A74E3"/>
          </a:solidFill>
          <a:ln w="12700">
            <a:solidFill>
              <a:srgbClr val="0A74E3"/>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Beneficios Documentados de la Constructabilidad</a:t>
            </a:r>
            <a:endParaRPr lang="en-US" sz="1800" dirty="0"/>
          </a:p>
        </p:txBody>
      </p:sp>
      <p:sp>
        <p:nvSpPr>
          <p:cNvPr id="4" name="Shape 2"/>
          <p:cNvSpPr/>
          <p:nvPr/>
        </p:nvSpPr>
        <p:spPr>
          <a:xfrm>
            <a:off x="320040" y="640080"/>
            <a:ext cx="8503920" cy="41148"/>
          </a:xfrm>
          <a:prstGeom prst="rect">
            <a:avLst/>
          </a:prstGeom>
          <a:solidFill>
            <a:srgbClr val="0A74E3"/>
          </a:solidFill>
          <a:ln w="12700">
            <a:solidFill>
              <a:srgbClr val="0A74E3"/>
            </a:solidFill>
            <a:prstDash val="solid"/>
          </a:ln>
        </p:spPr>
      </p:sp>
      <p:sp>
        <p:nvSpPr>
          <p:cNvPr id="5" name="Text 3"/>
          <p:cNvSpPr/>
          <p:nvPr/>
        </p:nvSpPr>
        <p:spPr>
          <a:xfrm>
            <a:off x="320040" y="704088"/>
            <a:ext cx="8503920" cy="274320"/>
          </a:xfrm>
          <a:prstGeom prst="rect">
            <a:avLst/>
          </a:prstGeom>
          <a:noFill/>
          <a:ln/>
        </p:spPr>
        <p:txBody>
          <a:bodyPr wrap="square" rtlCol="0" anchor="ctr"/>
          <a:lstStyle/>
          <a:p>
            <a:pPr indent="0" marL="0">
              <a:buNone/>
            </a:pPr>
            <a:r>
              <a:rPr lang="en-US" sz="900" i="1" dirty="0">
                <a:solidFill>
                  <a:srgbClr val="0A74E3"/>
                </a:solidFill>
                <a:latin typeface="Atkinson Hyperlegible" pitchFamily="34" charset="0"/>
                <a:ea typeface="Atkinson Hyperlegible" pitchFamily="34" charset="-122"/>
                <a:cs typeface="Atkinson Hyperlegible" pitchFamily="34" charset="-120"/>
              </a:rPr>
              <a:t>Datos de investigación CII basados en &gt;100 proyectos de capital</a:t>
            </a:r>
            <a:endParaRPr lang="en-US" sz="900" dirty="0"/>
          </a:p>
        </p:txBody>
      </p:sp>
      <p:sp>
        <p:nvSpPr>
          <p:cNvPr id="6" name="Shape 4"/>
          <p:cNvSpPr/>
          <p:nvPr/>
        </p:nvSpPr>
        <p:spPr>
          <a:xfrm>
            <a:off x="320040" y="960120"/>
            <a:ext cx="2560320" cy="3474720"/>
          </a:xfrm>
          <a:prstGeom prst="roundRect">
            <a:avLst>
              <a:gd name="adj" fmla="val 4286"/>
            </a:avLst>
          </a:prstGeom>
          <a:solidFill>
            <a:srgbClr val="FFFFFF"/>
          </a:solidFill>
          <a:ln w="25400">
            <a:solidFill>
              <a:srgbClr val="0A74E3"/>
            </a:solidFill>
            <a:prstDash val="solid"/>
          </a:ln>
        </p:spPr>
      </p:sp>
      <p:sp>
        <p:nvSpPr>
          <p:cNvPr id="7" name="Shape 5"/>
          <p:cNvSpPr/>
          <p:nvPr/>
        </p:nvSpPr>
        <p:spPr>
          <a:xfrm>
            <a:off x="320040" y="960120"/>
            <a:ext cx="2560320" cy="73152"/>
          </a:xfrm>
          <a:prstGeom prst="rect">
            <a:avLst/>
          </a:prstGeom>
          <a:solidFill>
            <a:srgbClr val="0A74E3"/>
          </a:solidFill>
          <a:ln w="12700">
            <a:solidFill>
              <a:srgbClr val="0A74E3"/>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80160" y="1170432"/>
            <a:ext cx="640080" cy="640080"/>
          </a:xfrm>
          <a:prstGeom prst="rect">
            <a:avLst/>
          </a:prstGeom>
        </p:spPr>
      </p:pic>
      <p:sp>
        <p:nvSpPr>
          <p:cNvPr id="9" name="Text 6"/>
          <p:cNvSpPr/>
          <p:nvPr/>
        </p:nvSpPr>
        <p:spPr>
          <a:xfrm>
            <a:off x="411480" y="1920240"/>
            <a:ext cx="2377440" cy="914400"/>
          </a:xfrm>
          <a:prstGeom prst="rect">
            <a:avLst/>
          </a:prstGeom>
          <a:noFill/>
          <a:ln/>
        </p:spPr>
        <p:txBody>
          <a:bodyPr wrap="square" rtlCol="0" anchor="ctr"/>
          <a:lstStyle/>
          <a:p>
            <a:pPr algn="ctr" indent="0" marL="0">
              <a:buNone/>
            </a:pPr>
            <a:r>
              <a:rPr lang="en-US" sz="3200" b="1" dirty="0">
                <a:solidFill>
                  <a:srgbClr val="0A74E3"/>
                </a:solidFill>
                <a:latin typeface="Atkinson Hyperlegible" pitchFamily="34" charset="0"/>
                <a:ea typeface="Atkinson Hyperlegible" pitchFamily="34" charset="-122"/>
                <a:cs typeface="Atkinson Hyperlegible" pitchFamily="34" charset="-120"/>
              </a:rPr>
              <a:t>6–23%</a:t>
            </a:r>
            <a:endParaRPr lang="en-US" sz="3200" dirty="0"/>
          </a:p>
        </p:txBody>
      </p:sp>
      <p:sp>
        <p:nvSpPr>
          <p:cNvPr id="10" name="Shape 7"/>
          <p:cNvSpPr/>
          <p:nvPr/>
        </p:nvSpPr>
        <p:spPr>
          <a:xfrm>
            <a:off x="832104" y="2880360"/>
            <a:ext cx="1536192" cy="36576"/>
          </a:xfrm>
          <a:prstGeom prst="rect">
            <a:avLst/>
          </a:prstGeom>
          <a:solidFill>
            <a:srgbClr val="0A74E3"/>
          </a:solidFill>
          <a:ln w="12700">
            <a:solidFill>
              <a:srgbClr val="0A74E3"/>
            </a:solidFill>
            <a:prstDash val="solid"/>
          </a:ln>
        </p:spPr>
      </p:sp>
      <p:sp>
        <p:nvSpPr>
          <p:cNvPr id="11" name="Text 8"/>
          <p:cNvSpPr/>
          <p:nvPr/>
        </p:nvSpPr>
        <p:spPr>
          <a:xfrm>
            <a:off x="411480" y="2971800"/>
            <a:ext cx="2377440" cy="457200"/>
          </a:xfrm>
          <a:prstGeom prst="rect">
            <a:avLst/>
          </a:prstGeom>
          <a:noFill/>
          <a:ln/>
        </p:spPr>
        <p:txBody>
          <a:bodyPr wrap="square" rtlCol="0" anchor="ctr"/>
          <a:lstStyle/>
          <a:p>
            <a:pPr algn="ct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Reducción en Costo Total</a:t>
            </a:r>
            <a:endParaRPr lang="en-US" sz="900" dirty="0"/>
          </a:p>
        </p:txBody>
      </p:sp>
      <p:sp>
        <p:nvSpPr>
          <p:cNvPr id="12" name="Text 9"/>
          <p:cNvSpPr/>
          <p:nvPr/>
        </p:nvSpPr>
        <p:spPr>
          <a:xfrm>
            <a:off x="411480" y="3456432"/>
            <a:ext cx="2377440" cy="822960"/>
          </a:xfrm>
          <a:prstGeom prst="rect">
            <a:avLst/>
          </a:prstGeom>
          <a:noFill/>
          <a:ln/>
        </p:spPr>
        <p:txBody>
          <a:bodyPr wrap="square" rtlCol="0" anchor="ctr"/>
          <a:lstStyle/>
          <a:p>
            <a:pPr algn="ctr" indent="0" marL="0">
              <a:buNone/>
            </a:pPr>
            <a:r>
              <a:rPr lang="en-US" sz="700" dirty="0">
                <a:solidFill>
                  <a:srgbClr val="8E8E93"/>
                </a:solidFill>
                <a:latin typeface="Atkinson Hyperlegible" pitchFamily="34" charset="0"/>
                <a:ea typeface="Atkinson Hyperlegible" pitchFamily="34" charset="-122"/>
                <a:cs typeface="Atkinson Hyperlegible" pitchFamily="34" charset="-120"/>
              </a:rPr>
              <a:t>CII RT-34. Rango según madurez del programa y tipo de proyecto industrial.</a:t>
            </a:r>
            <a:endParaRPr lang="en-US" sz="700" dirty="0"/>
          </a:p>
        </p:txBody>
      </p:sp>
      <p:sp>
        <p:nvSpPr>
          <p:cNvPr id="13" name="Shape 10"/>
          <p:cNvSpPr/>
          <p:nvPr/>
        </p:nvSpPr>
        <p:spPr>
          <a:xfrm>
            <a:off x="3291840" y="960120"/>
            <a:ext cx="2560320" cy="3474720"/>
          </a:xfrm>
          <a:prstGeom prst="roundRect">
            <a:avLst>
              <a:gd name="adj" fmla="val 4286"/>
            </a:avLst>
          </a:prstGeom>
          <a:solidFill>
            <a:srgbClr val="FFFFFF"/>
          </a:solidFill>
          <a:ln w="25400">
            <a:solidFill>
              <a:srgbClr val="0A74E3"/>
            </a:solidFill>
            <a:prstDash val="solid"/>
          </a:ln>
        </p:spPr>
      </p:sp>
      <p:sp>
        <p:nvSpPr>
          <p:cNvPr id="14" name="Shape 11"/>
          <p:cNvSpPr/>
          <p:nvPr/>
        </p:nvSpPr>
        <p:spPr>
          <a:xfrm>
            <a:off x="3291840" y="960120"/>
            <a:ext cx="2560320" cy="73152"/>
          </a:xfrm>
          <a:prstGeom prst="rect">
            <a:avLst/>
          </a:prstGeom>
          <a:solidFill>
            <a:srgbClr val="0A74E3"/>
          </a:solidFill>
          <a:ln w="12700">
            <a:solidFill>
              <a:srgbClr val="0A74E3"/>
            </a:solidFill>
            <a:prstDash val="solid"/>
          </a:ln>
        </p:spPr>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51960" y="1170432"/>
            <a:ext cx="640080" cy="640080"/>
          </a:xfrm>
          <a:prstGeom prst="rect">
            <a:avLst/>
          </a:prstGeom>
        </p:spPr>
      </p:pic>
      <p:sp>
        <p:nvSpPr>
          <p:cNvPr id="16" name="Text 12"/>
          <p:cNvSpPr/>
          <p:nvPr/>
        </p:nvSpPr>
        <p:spPr>
          <a:xfrm>
            <a:off x="3383280" y="1920240"/>
            <a:ext cx="2377440" cy="914400"/>
          </a:xfrm>
          <a:prstGeom prst="rect">
            <a:avLst/>
          </a:prstGeom>
          <a:noFill/>
          <a:ln/>
        </p:spPr>
        <p:txBody>
          <a:bodyPr wrap="square" rtlCol="0" anchor="ctr"/>
          <a:lstStyle/>
          <a:p>
            <a:pPr algn="ctr" indent="0" marL="0">
              <a:buNone/>
            </a:pPr>
            <a:r>
              <a:rPr lang="en-US" sz="3200" b="1" dirty="0">
                <a:solidFill>
                  <a:srgbClr val="0A74E3"/>
                </a:solidFill>
                <a:latin typeface="Atkinson Hyperlegible" pitchFamily="34" charset="0"/>
                <a:ea typeface="Atkinson Hyperlegible" pitchFamily="34" charset="-122"/>
                <a:cs typeface="Atkinson Hyperlegible" pitchFamily="34" charset="-120"/>
              </a:rPr>
              <a:t>15:1</a:t>
            </a:r>
            <a:endParaRPr lang="en-US" sz="3200" dirty="0"/>
          </a:p>
        </p:txBody>
      </p:sp>
      <p:sp>
        <p:nvSpPr>
          <p:cNvPr id="17" name="Shape 13"/>
          <p:cNvSpPr/>
          <p:nvPr/>
        </p:nvSpPr>
        <p:spPr>
          <a:xfrm>
            <a:off x="3803904" y="2880360"/>
            <a:ext cx="1536192" cy="36576"/>
          </a:xfrm>
          <a:prstGeom prst="rect">
            <a:avLst/>
          </a:prstGeom>
          <a:solidFill>
            <a:srgbClr val="0A74E3"/>
          </a:solidFill>
          <a:ln w="12700">
            <a:solidFill>
              <a:srgbClr val="0A74E3"/>
            </a:solidFill>
            <a:prstDash val="solid"/>
          </a:ln>
        </p:spPr>
      </p:sp>
      <p:sp>
        <p:nvSpPr>
          <p:cNvPr id="18" name="Text 14"/>
          <p:cNvSpPr/>
          <p:nvPr/>
        </p:nvSpPr>
        <p:spPr>
          <a:xfrm>
            <a:off x="3383280" y="2971800"/>
            <a:ext cx="2377440" cy="457200"/>
          </a:xfrm>
          <a:prstGeom prst="rect">
            <a:avLst/>
          </a:prstGeom>
          <a:noFill/>
          <a:ln/>
        </p:spPr>
        <p:txBody>
          <a:bodyPr wrap="square" rtlCol="0" anchor="ctr"/>
          <a:lstStyle/>
          <a:p>
            <a:pPr algn="ct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Retorno sobre la Inversión</a:t>
            </a:r>
            <a:endParaRPr lang="en-US" sz="900" dirty="0"/>
          </a:p>
        </p:txBody>
      </p:sp>
      <p:sp>
        <p:nvSpPr>
          <p:cNvPr id="19" name="Text 15"/>
          <p:cNvSpPr/>
          <p:nvPr/>
        </p:nvSpPr>
        <p:spPr>
          <a:xfrm>
            <a:off x="3383280" y="3456432"/>
            <a:ext cx="2377440" cy="822960"/>
          </a:xfrm>
          <a:prstGeom prst="rect">
            <a:avLst/>
          </a:prstGeom>
          <a:noFill/>
          <a:ln/>
        </p:spPr>
        <p:txBody>
          <a:bodyPr wrap="square" rtlCol="0" anchor="ctr"/>
          <a:lstStyle/>
          <a:p>
            <a:pPr algn="ctr" indent="0" marL="0">
              <a:buNone/>
            </a:pPr>
            <a:r>
              <a:rPr lang="en-US" sz="700" dirty="0">
                <a:solidFill>
                  <a:srgbClr val="8E8E93"/>
                </a:solidFill>
                <a:latin typeface="Atkinson Hyperlegible" pitchFamily="34" charset="0"/>
                <a:ea typeface="Atkinson Hyperlegible" pitchFamily="34" charset="-122"/>
                <a:cs typeface="Atkinson Hyperlegible" pitchFamily="34" charset="-120"/>
              </a:rPr>
              <a:t>Promedio de 15:1 — cada $1 invertido en el programa genera $15 en ahorro.</a:t>
            </a:r>
            <a:endParaRPr lang="en-US" sz="700" dirty="0"/>
          </a:p>
        </p:txBody>
      </p:sp>
      <p:sp>
        <p:nvSpPr>
          <p:cNvPr id="20" name="Shape 16"/>
          <p:cNvSpPr/>
          <p:nvPr/>
        </p:nvSpPr>
        <p:spPr>
          <a:xfrm>
            <a:off x="6263640" y="960120"/>
            <a:ext cx="2560320" cy="3474720"/>
          </a:xfrm>
          <a:prstGeom prst="roundRect">
            <a:avLst>
              <a:gd name="adj" fmla="val 4286"/>
            </a:avLst>
          </a:prstGeom>
          <a:solidFill>
            <a:srgbClr val="FFFFFF"/>
          </a:solidFill>
          <a:ln w="25400">
            <a:solidFill>
              <a:srgbClr val="0A74E3"/>
            </a:solidFill>
            <a:prstDash val="solid"/>
          </a:ln>
        </p:spPr>
      </p:sp>
      <p:sp>
        <p:nvSpPr>
          <p:cNvPr id="21" name="Shape 17"/>
          <p:cNvSpPr/>
          <p:nvPr/>
        </p:nvSpPr>
        <p:spPr>
          <a:xfrm>
            <a:off x="6263640" y="960120"/>
            <a:ext cx="2560320" cy="73152"/>
          </a:xfrm>
          <a:prstGeom prst="rect">
            <a:avLst/>
          </a:prstGeom>
          <a:solidFill>
            <a:srgbClr val="0A74E3"/>
          </a:solidFill>
          <a:ln w="12700">
            <a:solidFill>
              <a:srgbClr val="0A74E3"/>
            </a:solidFill>
            <a:prstDash val="solid"/>
          </a:ln>
        </p:spPr>
      </p:sp>
      <p:pic>
        <p:nvPicPr>
          <p:cNvPr id="2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23760" y="1170432"/>
            <a:ext cx="640080" cy="640080"/>
          </a:xfrm>
          <a:prstGeom prst="rect">
            <a:avLst/>
          </a:prstGeom>
        </p:spPr>
      </p:pic>
      <p:sp>
        <p:nvSpPr>
          <p:cNvPr id="23" name="Text 18"/>
          <p:cNvSpPr/>
          <p:nvPr/>
        </p:nvSpPr>
        <p:spPr>
          <a:xfrm>
            <a:off x="6355080" y="1920240"/>
            <a:ext cx="2377440" cy="914400"/>
          </a:xfrm>
          <a:prstGeom prst="rect">
            <a:avLst/>
          </a:prstGeom>
          <a:noFill/>
          <a:ln/>
        </p:spPr>
        <p:txBody>
          <a:bodyPr wrap="square" rtlCol="0" anchor="ctr"/>
          <a:lstStyle/>
          <a:p>
            <a:pPr algn="ctr" indent="0" marL="0">
              <a:buNone/>
            </a:pPr>
            <a:r>
              <a:rPr lang="en-US" sz="3200" b="1" dirty="0">
                <a:solidFill>
                  <a:srgbClr val="0A74E3"/>
                </a:solidFill>
                <a:latin typeface="Atkinson Hyperlegible" pitchFamily="34" charset="0"/>
                <a:ea typeface="Atkinson Hyperlegible" pitchFamily="34" charset="-122"/>
                <a:cs typeface="Atkinson Hyperlegible" pitchFamily="34" charset="-120"/>
              </a:rPr>
              <a:t>4–10%</a:t>
            </a:r>
            <a:endParaRPr lang="en-US" sz="3200" dirty="0"/>
          </a:p>
        </p:txBody>
      </p:sp>
      <p:sp>
        <p:nvSpPr>
          <p:cNvPr id="24" name="Shape 19"/>
          <p:cNvSpPr/>
          <p:nvPr/>
        </p:nvSpPr>
        <p:spPr>
          <a:xfrm>
            <a:off x="6775704" y="2880360"/>
            <a:ext cx="1536192" cy="36576"/>
          </a:xfrm>
          <a:prstGeom prst="rect">
            <a:avLst/>
          </a:prstGeom>
          <a:solidFill>
            <a:srgbClr val="0A74E3"/>
          </a:solidFill>
          <a:ln w="12700">
            <a:solidFill>
              <a:srgbClr val="0A74E3"/>
            </a:solidFill>
            <a:prstDash val="solid"/>
          </a:ln>
        </p:spPr>
      </p:sp>
      <p:sp>
        <p:nvSpPr>
          <p:cNvPr id="25" name="Text 20"/>
          <p:cNvSpPr/>
          <p:nvPr/>
        </p:nvSpPr>
        <p:spPr>
          <a:xfrm>
            <a:off x="6355080" y="2971800"/>
            <a:ext cx="2377440" cy="457200"/>
          </a:xfrm>
          <a:prstGeom prst="rect">
            <a:avLst/>
          </a:prstGeom>
          <a:noFill/>
          <a:ln/>
        </p:spPr>
        <p:txBody>
          <a:bodyPr wrap="square" rtlCol="0" anchor="ctr"/>
          <a:lstStyle/>
          <a:p>
            <a:pPr algn="ct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Reducción en Cronograma</a:t>
            </a:r>
            <a:endParaRPr lang="en-US" sz="900" dirty="0"/>
          </a:p>
        </p:txBody>
      </p:sp>
      <p:sp>
        <p:nvSpPr>
          <p:cNvPr id="26" name="Text 21"/>
          <p:cNvSpPr/>
          <p:nvPr/>
        </p:nvSpPr>
        <p:spPr>
          <a:xfrm>
            <a:off x="6355080" y="3456432"/>
            <a:ext cx="2377440" cy="822960"/>
          </a:xfrm>
          <a:prstGeom prst="rect">
            <a:avLst/>
          </a:prstGeom>
          <a:noFill/>
          <a:ln/>
        </p:spPr>
        <p:txBody>
          <a:bodyPr wrap="square" rtlCol="0" anchor="ctr"/>
          <a:lstStyle/>
          <a:p>
            <a:pPr algn="ctr" indent="0" marL="0">
              <a:buNone/>
            </a:pPr>
            <a:r>
              <a:rPr lang="en-US" sz="700" dirty="0">
                <a:solidFill>
                  <a:srgbClr val="8E8E93"/>
                </a:solidFill>
                <a:latin typeface="Atkinson Hyperlegible" pitchFamily="34" charset="0"/>
                <a:ea typeface="Atkinson Hyperlegible" pitchFamily="34" charset="-122"/>
                <a:cs typeface="Atkinson Hyperlegible" pitchFamily="34" charset="-120"/>
              </a:rPr>
              <a:t>Reducción en duración del proyecto. Impacto mayor en fases de construcción.</a:t>
            </a:r>
            <a:endParaRPr lang="en-US" sz="700" dirty="0"/>
          </a:p>
        </p:txBody>
      </p:sp>
      <p:sp>
        <p:nvSpPr>
          <p:cNvPr id="27" name="Shape 22"/>
          <p:cNvSpPr/>
          <p:nvPr/>
        </p:nvSpPr>
        <p:spPr>
          <a:xfrm>
            <a:off x="182880" y="4956048"/>
            <a:ext cx="8961120" cy="182880"/>
          </a:xfrm>
          <a:prstGeom prst="rect">
            <a:avLst/>
          </a:prstGeom>
          <a:solidFill>
            <a:srgbClr val="0A74E3"/>
          </a:solidFill>
          <a:ln w="12700">
            <a:solidFill>
              <a:srgbClr val="0A74E3"/>
            </a:solidFill>
            <a:prstDash val="solid"/>
          </a:ln>
        </p:spPr>
      </p:sp>
      <p:sp>
        <p:nvSpPr>
          <p:cNvPr id="28" name="Text 23"/>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8 / 126</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A74E3"/>
          </a:solidFill>
          <a:ln w="12700">
            <a:solidFill>
              <a:srgbClr val="0A74E3"/>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Curva de Influencia de Costos del Proyecto</a:t>
            </a:r>
            <a:endParaRPr lang="en-US" sz="1800" dirty="0"/>
          </a:p>
        </p:txBody>
      </p:sp>
      <p:sp>
        <p:nvSpPr>
          <p:cNvPr id="4" name="Shape 2"/>
          <p:cNvSpPr/>
          <p:nvPr/>
        </p:nvSpPr>
        <p:spPr>
          <a:xfrm>
            <a:off x="320040" y="640080"/>
            <a:ext cx="8503920" cy="41148"/>
          </a:xfrm>
          <a:prstGeom prst="rect">
            <a:avLst/>
          </a:prstGeom>
          <a:solidFill>
            <a:srgbClr val="0A74E3"/>
          </a:solidFill>
          <a:ln w="12700">
            <a:solidFill>
              <a:srgbClr val="0A74E3"/>
            </a:solidFill>
            <a:prstDash val="solid"/>
          </a:ln>
        </p:spPr>
      </p:sp>
      <p:graphicFrame>
        <p:nvGraphicFramePr>
          <p:cNvPr id="5" name="Chart 0" descr=""/>
          <p:cNvGraphicFramePr/>
          <p:nvPr/>
        </p:nvGraphicFramePr>
        <p:xfrm>
          <a:off x="320040" y="822960"/>
          <a:ext cx="5303520" cy="39319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868680"/>
            <a:ext cx="3200400" cy="868680"/>
          </a:xfrm>
          <a:prstGeom prst="roundRect">
            <a:avLst>
              <a:gd name="adj" fmla="val 7368"/>
            </a:avLst>
          </a:prstGeom>
          <a:solidFill>
            <a:srgbClr val="0A74E3"/>
          </a:solidFill>
          <a:ln w="12700">
            <a:solidFill>
              <a:srgbClr val="0A74E3"/>
            </a:solidFill>
            <a:prstDash val="solid"/>
          </a:ln>
        </p:spPr>
      </p:sp>
      <p:sp>
        <p:nvSpPr>
          <p:cNvPr id="7" name="Shape 4"/>
          <p:cNvSpPr/>
          <p:nvPr/>
        </p:nvSpPr>
        <p:spPr>
          <a:xfrm>
            <a:off x="5760720" y="868680"/>
            <a:ext cx="54864" cy="868680"/>
          </a:xfrm>
          <a:prstGeom prst="rect">
            <a:avLst/>
          </a:prstGeom>
          <a:solidFill>
            <a:srgbClr val="0A74E3"/>
          </a:solidFill>
          <a:ln w="12700">
            <a:solidFill>
              <a:srgbClr val="0A74E3"/>
            </a:solidFill>
            <a:prstDash val="solid"/>
          </a:ln>
        </p:spPr>
      </p:sp>
      <p:sp>
        <p:nvSpPr>
          <p:cNvPr id="8" name="Text 5"/>
          <p:cNvSpPr/>
          <p:nvPr/>
        </p:nvSpPr>
        <p:spPr>
          <a:xfrm>
            <a:off x="5870448" y="914400"/>
            <a:ext cx="3017520" cy="77724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El 80% del potencial de ahorro se concentra en Factibilidad y Diseño Básico, antes de comprometer el 15% del presupuesto.</a:t>
            </a:r>
            <a:endParaRPr lang="en-US" sz="750" dirty="0"/>
          </a:p>
        </p:txBody>
      </p:sp>
      <p:sp>
        <p:nvSpPr>
          <p:cNvPr id="9" name="Shape 6"/>
          <p:cNvSpPr/>
          <p:nvPr/>
        </p:nvSpPr>
        <p:spPr>
          <a:xfrm>
            <a:off x="5760720" y="1874520"/>
            <a:ext cx="3200400" cy="868680"/>
          </a:xfrm>
          <a:prstGeom prst="roundRect">
            <a:avLst>
              <a:gd name="adj" fmla="val 7368"/>
            </a:avLst>
          </a:prstGeom>
          <a:solidFill>
            <a:srgbClr val="27AE60"/>
          </a:solidFill>
          <a:ln w="12700">
            <a:solidFill>
              <a:srgbClr val="27AE60"/>
            </a:solidFill>
            <a:prstDash val="solid"/>
          </a:ln>
        </p:spPr>
      </p:sp>
      <p:sp>
        <p:nvSpPr>
          <p:cNvPr id="10" name="Shape 7"/>
          <p:cNvSpPr/>
          <p:nvPr/>
        </p:nvSpPr>
        <p:spPr>
          <a:xfrm>
            <a:off x="5760720" y="1874520"/>
            <a:ext cx="54864" cy="868680"/>
          </a:xfrm>
          <a:prstGeom prst="rect">
            <a:avLst/>
          </a:prstGeom>
          <a:solidFill>
            <a:srgbClr val="27AE60"/>
          </a:solidFill>
          <a:ln w="12700">
            <a:solidFill>
              <a:srgbClr val="27AE60"/>
            </a:solidFill>
            <a:prstDash val="solid"/>
          </a:ln>
        </p:spPr>
      </p:sp>
      <p:sp>
        <p:nvSpPr>
          <p:cNvPr id="11" name="Text 8"/>
          <p:cNvSpPr/>
          <p:nvPr/>
        </p:nvSpPr>
        <p:spPr>
          <a:xfrm>
            <a:off x="5870448" y="1920240"/>
            <a:ext cx="3017520" cy="77724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La ventana de mayor impacto: intervención ANTES de que el diseño esté comprometido.</a:t>
            </a:r>
            <a:endParaRPr lang="en-US" sz="750" dirty="0"/>
          </a:p>
        </p:txBody>
      </p:sp>
      <p:sp>
        <p:nvSpPr>
          <p:cNvPr id="12" name="Shape 9"/>
          <p:cNvSpPr/>
          <p:nvPr/>
        </p:nvSpPr>
        <p:spPr>
          <a:xfrm>
            <a:off x="5760720" y="2880360"/>
            <a:ext cx="3200400" cy="868680"/>
          </a:xfrm>
          <a:prstGeom prst="roundRect">
            <a:avLst>
              <a:gd name="adj" fmla="val 7368"/>
            </a:avLst>
          </a:prstGeom>
          <a:solidFill>
            <a:srgbClr val="D4620A"/>
          </a:solidFill>
          <a:ln w="12700">
            <a:solidFill>
              <a:srgbClr val="D4620A"/>
            </a:solidFill>
            <a:prstDash val="solid"/>
          </a:ln>
        </p:spPr>
      </p:sp>
      <p:sp>
        <p:nvSpPr>
          <p:cNvPr id="13" name="Shape 10"/>
          <p:cNvSpPr/>
          <p:nvPr/>
        </p:nvSpPr>
        <p:spPr>
          <a:xfrm>
            <a:off x="5760720" y="2880360"/>
            <a:ext cx="54864" cy="868680"/>
          </a:xfrm>
          <a:prstGeom prst="rect">
            <a:avLst/>
          </a:prstGeom>
          <a:solidFill>
            <a:srgbClr val="D4620A"/>
          </a:solidFill>
          <a:ln w="12700">
            <a:solidFill>
              <a:srgbClr val="D4620A"/>
            </a:solidFill>
            <a:prstDash val="solid"/>
          </a:ln>
        </p:spPr>
      </p:sp>
      <p:sp>
        <p:nvSpPr>
          <p:cNvPr id="14" name="Text 11"/>
          <p:cNvSpPr/>
          <p:nvPr/>
        </p:nvSpPr>
        <p:spPr>
          <a:xfrm>
            <a:off x="5870448" y="2926080"/>
            <a:ext cx="3017520" cy="77724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Implicación: cada semana de retraso en incorporar constructabilidad tiene un costo exponencialmente mayor.</a:t>
            </a:r>
            <a:endParaRPr lang="en-US" sz="750" dirty="0"/>
          </a:p>
        </p:txBody>
      </p:sp>
      <p:sp>
        <p:nvSpPr>
          <p:cNvPr id="15" name="Shape 12"/>
          <p:cNvSpPr/>
          <p:nvPr/>
        </p:nvSpPr>
        <p:spPr>
          <a:xfrm>
            <a:off x="5760720" y="3886200"/>
            <a:ext cx="3200400" cy="868680"/>
          </a:xfrm>
          <a:prstGeom prst="roundRect">
            <a:avLst>
              <a:gd name="adj" fmla="val 7368"/>
            </a:avLst>
          </a:prstGeom>
          <a:solidFill>
            <a:srgbClr val="C0392B"/>
          </a:solidFill>
          <a:ln w="12700">
            <a:solidFill>
              <a:srgbClr val="C0392B"/>
            </a:solidFill>
            <a:prstDash val="solid"/>
          </a:ln>
        </p:spPr>
      </p:sp>
      <p:sp>
        <p:nvSpPr>
          <p:cNvPr id="16" name="Shape 13"/>
          <p:cNvSpPr/>
          <p:nvPr/>
        </p:nvSpPr>
        <p:spPr>
          <a:xfrm>
            <a:off x="5760720" y="3886200"/>
            <a:ext cx="54864" cy="868680"/>
          </a:xfrm>
          <a:prstGeom prst="rect">
            <a:avLst/>
          </a:prstGeom>
          <a:solidFill>
            <a:srgbClr val="C0392B"/>
          </a:solidFill>
          <a:ln w="12700">
            <a:solidFill>
              <a:srgbClr val="C0392B"/>
            </a:solidFill>
            <a:prstDash val="solid"/>
          </a:ln>
        </p:spPr>
      </p:sp>
      <p:sp>
        <p:nvSpPr>
          <p:cNvPr id="17" name="Text 14"/>
          <p:cNvSpPr/>
          <p:nvPr/>
        </p:nvSpPr>
        <p:spPr>
          <a:xfrm>
            <a:off x="5870448" y="3931920"/>
            <a:ext cx="3017520" cy="77724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Regla práctica: el costo de cambiar en construcción es 100× el costo de cambiar en diseño básico.</a:t>
            </a:r>
            <a:endParaRPr lang="en-US" sz="750" dirty="0"/>
          </a:p>
        </p:txBody>
      </p:sp>
      <p:sp>
        <p:nvSpPr>
          <p:cNvPr id="18" name="Shape 15"/>
          <p:cNvSpPr/>
          <p:nvPr/>
        </p:nvSpPr>
        <p:spPr>
          <a:xfrm>
            <a:off x="182880" y="4956048"/>
            <a:ext cx="8961120" cy="182880"/>
          </a:xfrm>
          <a:prstGeom prst="rect">
            <a:avLst/>
          </a:prstGeom>
          <a:solidFill>
            <a:srgbClr val="0A74E3"/>
          </a:solidFill>
          <a:ln w="12700">
            <a:solidFill>
              <a:srgbClr val="0A74E3"/>
            </a:solidFill>
            <a:prstDash val="solid"/>
          </a:ln>
        </p:spPr>
      </p:sp>
      <p:sp>
        <p:nvSpPr>
          <p:cNvPr id="19" name="Text 16"/>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9 / 126</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A74E3"/>
          </a:solidFill>
          <a:ln w="12700">
            <a:solidFill>
              <a:srgbClr val="0A74E3"/>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Sinergias con Lean Construction</a:t>
            </a:r>
            <a:endParaRPr lang="en-US" sz="1800" dirty="0"/>
          </a:p>
        </p:txBody>
      </p:sp>
      <p:sp>
        <p:nvSpPr>
          <p:cNvPr id="4" name="Shape 2"/>
          <p:cNvSpPr/>
          <p:nvPr/>
        </p:nvSpPr>
        <p:spPr>
          <a:xfrm>
            <a:off x="320040" y="640080"/>
            <a:ext cx="8503920" cy="41148"/>
          </a:xfrm>
          <a:prstGeom prst="rect">
            <a:avLst/>
          </a:prstGeom>
          <a:solidFill>
            <a:srgbClr val="0A74E3"/>
          </a:solidFill>
          <a:ln w="12700">
            <a:solidFill>
              <a:srgbClr val="0A74E3"/>
            </a:solidFill>
            <a:prstDash val="solid"/>
          </a:ln>
        </p:spPr>
      </p:sp>
      <p:sp>
        <p:nvSpPr>
          <p:cNvPr id="5" name="Shape 3"/>
          <p:cNvSpPr/>
          <p:nvPr/>
        </p:nvSpPr>
        <p:spPr>
          <a:xfrm>
            <a:off x="274320" y="804672"/>
            <a:ext cx="4160520" cy="4114800"/>
          </a:xfrm>
          <a:prstGeom prst="roundRect">
            <a:avLst>
              <a:gd name="adj" fmla="val 2222"/>
            </a:avLst>
          </a:prstGeom>
          <a:solidFill>
            <a:srgbClr val="0A74E3"/>
          </a:solidFill>
          <a:ln w="12700">
            <a:solidFill>
              <a:srgbClr val="0A74E3"/>
            </a:solidFill>
            <a:prstDash val="solid"/>
          </a:ln>
        </p:spPr>
      </p:sp>
      <p:sp>
        <p:nvSpPr>
          <p:cNvPr id="6" name="Shape 4"/>
          <p:cNvSpPr/>
          <p:nvPr/>
        </p:nvSpPr>
        <p:spPr>
          <a:xfrm>
            <a:off x="274320" y="804672"/>
            <a:ext cx="45720" cy="4114800"/>
          </a:xfrm>
          <a:prstGeom prst="rect">
            <a:avLst/>
          </a:prstGeom>
          <a:solidFill>
            <a:srgbClr val="0A74E3"/>
          </a:solidFill>
          <a:ln w="12700">
            <a:solidFill>
              <a:srgbClr val="0A74E3"/>
            </a:solidFill>
            <a:prstDash val="solid"/>
          </a:ln>
        </p:spPr>
      </p:sp>
      <p:sp>
        <p:nvSpPr>
          <p:cNvPr id="7" name="Text 5"/>
          <p:cNvSpPr/>
          <p:nvPr/>
        </p:nvSpPr>
        <p:spPr>
          <a:xfrm>
            <a:off x="384048" y="822960"/>
            <a:ext cx="3977640" cy="347472"/>
          </a:xfrm>
          <a:prstGeom prst="rect">
            <a:avLst/>
          </a:prstGeom>
          <a:noFill/>
          <a:ln/>
        </p:spPr>
        <p:txBody>
          <a:bodyPr wrap="square" rtlCol="0" anchor="ctr"/>
          <a:lstStyle/>
          <a:p>
            <a:pPr indent="0" marL="0">
              <a:buNone/>
            </a:pPr>
            <a:r>
              <a:rPr lang="en-US" sz="900" b="1" dirty="0">
                <a:solidFill>
                  <a:srgbClr val="0A74E3"/>
                </a:solidFill>
                <a:latin typeface="Atkinson Hyperlegible" pitchFamily="34" charset="0"/>
                <a:ea typeface="Atkinson Hyperlegible" pitchFamily="34" charset="-122"/>
                <a:cs typeface="Atkinson Hyperlegible" pitchFamily="34" charset="-120"/>
              </a:rPr>
              <a:t>Constructabilidad CII</a:t>
            </a:r>
            <a:endParaRPr lang="en-US" sz="900" dirty="0"/>
          </a:p>
        </p:txBody>
      </p:sp>
      <p:sp>
        <p:nvSpPr>
          <p:cNvPr id="8" name="Shape 6"/>
          <p:cNvSpPr/>
          <p:nvPr/>
        </p:nvSpPr>
        <p:spPr>
          <a:xfrm>
            <a:off x="384048" y="1316736"/>
            <a:ext cx="164592" cy="164592"/>
          </a:xfrm>
          <a:prstGeom prst="ellipse">
            <a:avLst/>
          </a:prstGeom>
          <a:solidFill>
            <a:srgbClr val="0A74E3"/>
          </a:solidFill>
          <a:ln w="12700">
            <a:solidFill>
              <a:srgbClr val="0A74E3"/>
            </a:solidFill>
            <a:prstDash val="solid"/>
          </a:ln>
        </p:spPr>
      </p:sp>
      <p:sp>
        <p:nvSpPr>
          <p:cNvPr id="9" name="Text 7"/>
          <p:cNvSpPr/>
          <p:nvPr/>
        </p:nvSpPr>
        <p:spPr>
          <a:xfrm>
            <a:off x="612648" y="1234440"/>
            <a:ext cx="365760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Flujo Continuo</a:t>
            </a:r>
            <a:endParaRPr lang="en-US" sz="850" dirty="0"/>
          </a:p>
        </p:txBody>
      </p:sp>
      <p:sp>
        <p:nvSpPr>
          <p:cNvPr id="10" name="Text 8"/>
          <p:cNvSpPr/>
          <p:nvPr/>
        </p:nvSpPr>
        <p:spPr>
          <a:xfrm>
            <a:off x="612648" y="1490472"/>
            <a:ext cx="365760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Ambas metodologías buscan eliminar esperas e interrupciones en el flujo de trabajo.</a:t>
            </a:r>
            <a:endParaRPr lang="en-US" sz="750" dirty="0"/>
          </a:p>
        </p:txBody>
      </p:sp>
      <p:sp>
        <p:nvSpPr>
          <p:cNvPr id="11" name="Shape 9"/>
          <p:cNvSpPr/>
          <p:nvPr/>
        </p:nvSpPr>
        <p:spPr>
          <a:xfrm>
            <a:off x="384048" y="1847088"/>
            <a:ext cx="164592" cy="164592"/>
          </a:xfrm>
          <a:prstGeom prst="ellipse">
            <a:avLst/>
          </a:prstGeom>
          <a:solidFill>
            <a:srgbClr val="0A74E3"/>
          </a:solidFill>
          <a:ln w="12700">
            <a:solidFill>
              <a:srgbClr val="0A74E3"/>
            </a:solidFill>
            <a:prstDash val="solid"/>
          </a:ln>
        </p:spPr>
      </p:sp>
      <p:sp>
        <p:nvSpPr>
          <p:cNvPr id="12" name="Text 10"/>
          <p:cNvSpPr/>
          <p:nvPr/>
        </p:nvSpPr>
        <p:spPr>
          <a:xfrm>
            <a:off x="612648" y="1764792"/>
            <a:ext cx="365760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Trabajo Colaborativo</a:t>
            </a:r>
            <a:endParaRPr lang="en-US" sz="850" dirty="0"/>
          </a:p>
        </p:txBody>
      </p:sp>
      <p:sp>
        <p:nvSpPr>
          <p:cNvPr id="13" name="Text 11"/>
          <p:cNvSpPr/>
          <p:nvPr/>
        </p:nvSpPr>
        <p:spPr>
          <a:xfrm>
            <a:off x="612648" y="2020824"/>
            <a:ext cx="365760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Lean y constructabilidad requieren equipos multidisciplinarios desde el inicio.</a:t>
            </a:r>
            <a:endParaRPr lang="en-US" sz="750" dirty="0"/>
          </a:p>
        </p:txBody>
      </p:sp>
      <p:sp>
        <p:nvSpPr>
          <p:cNvPr id="14" name="Shape 12"/>
          <p:cNvSpPr/>
          <p:nvPr/>
        </p:nvSpPr>
        <p:spPr>
          <a:xfrm>
            <a:off x="384048" y="2377440"/>
            <a:ext cx="164592" cy="164592"/>
          </a:xfrm>
          <a:prstGeom prst="ellipse">
            <a:avLst/>
          </a:prstGeom>
          <a:solidFill>
            <a:srgbClr val="0A74E3"/>
          </a:solidFill>
          <a:ln w="12700">
            <a:solidFill>
              <a:srgbClr val="0A74E3"/>
            </a:solidFill>
            <a:prstDash val="solid"/>
          </a:ln>
        </p:spPr>
      </p:sp>
      <p:sp>
        <p:nvSpPr>
          <p:cNvPr id="15" name="Text 13"/>
          <p:cNvSpPr/>
          <p:nvPr/>
        </p:nvSpPr>
        <p:spPr>
          <a:xfrm>
            <a:off x="612648" y="2295144"/>
            <a:ext cx="365760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Reducción de Reprocesos</a:t>
            </a:r>
            <a:endParaRPr lang="en-US" sz="850" dirty="0"/>
          </a:p>
        </p:txBody>
      </p:sp>
      <p:sp>
        <p:nvSpPr>
          <p:cNvPr id="16" name="Text 14"/>
          <p:cNvSpPr/>
          <p:nvPr/>
        </p:nvSpPr>
        <p:spPr>
          <a:xfrm>
            <a:off x="612648" y="2551176"/>
            <a:ext cx="365760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Detectar problemas antes de que lleguen a obra es el núcleo de ambos enfoques.</a:t>
            </a:r>
            <a:endParaRPr lang="en-US" sz="750" dirty="0"/>
          </a:p>
        </p:txBody>
      </p:sp>
      <p:sp>
        <p:nvSpPr>
          <p:cNvPr id="17" name="Shape 15"/>
          <p:cNvSpPr/>
          <p:nvPr/>
        </p:nvSpPr>
        <p:spPr>
          <a:xfrm>
            <a:off x="384048" y="2907792"/>
            <a:ext cx="164592" cy="164592"/>
          </a:xfrm>
          <a:prstGeom prst="ellipse">
            <a:avLst/>
          </a:prstGeom>
          <a:solidFill>
            <a:srgbClr val="0A74E3"/>
          </a:solidFill>
          <a:ln w="12700">
            <a:solidFill>
              <a:srgbClr val="0A74E3"/>
            </a:solidFill>
            <a:prstDash val="solid"/>
          </a:ln>
        </p:spPr>
      </p:sp>
      <p:sp>
        <p:nvSpPr>
          <p:cNvPr id="18" name="Text 16"/>
          <p:cNvSpPr/>
          <p:nvPr/>
        </p:nvSpPr>
        <p:spPr>
          <a:xfrm>
            <a:off x="612648" y="2825496"/>
            <a:ext cx="365760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Last Planner System</a:t>
            </a:r>
            <a:endParaRPr lang="en-US" sz="850" dirty="0"/>
          </a:p>
        </p:txBody>
      </p:sp>
      <p:sp>
        <p:nvSpPr>
          <p:cNvPr id="19" name="Text 17"/>
          <p:cNvSpPr/>
          <p:nvPr/>
        </p:nvSpPr>
        <p:spPr>
          <a:xfrm>
            <a:off x="612648" y="3081528"/>
            <a:ext cx="365760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Incorporar constructabilidad mejora la confiabilidad de los planes semanales.</a:t>
            </a:r>
            <a:endParaRPr lang="en-US" sz="750" dirty="0"/>
          </a:p>
        </p:txBody>
      </p:sp>
      <p:sp>
        <p:nvSpPr>
          <p:cNvPr id="20" name="Shape 18"/>
          <p:cNvSpPr/>
          <p:nvPr/>
        </p:nvSpPr>
        <p:spPr>
          <a:xfrm>
            <a:off x="384048" y="3438144"/>
            <a:ext cx="164592" cy="164592"/>
          </a:xfrm>
          <a:prstGeom prst="ellipse">
            <a:avLst/>
          </a:prstGeom>
          <a:solidFill>
            <a:srgbClr val="0A74E3"/>
          </a:solidFill>
          <a:ln w="12700">
            <a:solidFill>
              <a:srgbClr val="0A74E3"/>
            </a:solidFill>
            <a:prstDash val="solid"/>
          </a:ln>
        </p:spPr>
      </p:sp>
      <p:sp>
        <p:nvSpPr>
          <p:cNvPr id="21" name="Text 19"/>
          <p:cNvSpPr/>
          <p:nvPr/>
        </p:nvSpPr>
        <p:spPr>
          <a:xfrm>
            <a:off x="612648" y="3355848"/>
            <a:ext cx="365760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Pull Planning</a:t>
            </a:r>
            <a:endParaRPr lang="en-US" sz="850" dirty="0"/>
          </a:p>
        </p:txBody>
      </p:sp>
      <p:sp>
        <p:nvSpPr>
          <p:cNvPr id="22" name="Text 20"/>
          <p:cNvSpPr/>
          <p:nvPr/>
        </p:nvSpPr>
        <p:spPr>
          <a:xfrm>
            <a:off x="612648" y="3611880"/>
            <a:ext cx="365760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El conocimiento constructivo temprano permite planes más precisos y realistas.</a:t>
            </a:r>
            <a:endParaRPr lang="en-US" sz="750" dirty="0"/>
          </a:p>
        </p:txBody>
      </p:sp>
      <p:sp>
        <p:nvSpPr>
          <p:cNvPr id="23" name="Text 21"/>
          <p:cNvSpPr/>
          <p:nvPr/>
        </p:nvSpPr>
        <p:spPr>
          <a:xfrm>
            <a:off x="4617720" y="822960"/>
            <a:ext cx="4251960" cy="347472"/>
          </a:xfrm>
          <a:prstGeom prst="rect">
            <a:avLst/>
          </a:prstGeom>
          <a:noFill/>
          <a:ln/>
        </p:spPr>
        <p:txBody>
          <a:bodyPr wrap="square" rtlCol="0" anchor="ctr"/>
          <a:lstStyle/>
          <a:p>
            <a:pPr indent="0" marL="0">
              <a:buNone/>
            </a:pPr>
            <a:r>
              <a:rPr lang="en-US" sz="900" b="1" dirty="0">
                <a:solidFill>
                  <a:srgbClr val="0A74E3"/>
                </a:solidFill>
                <a:latin typeface="Atkinson Hyperlegible" pitchFamily="34" charset="0"/>
                <a:ea typeface="Atkinson Hyperlegible" pitchFamily="34" charset="-122"/>
                <a:cs typeface="Atkinson Hyperlegible" pitchFamily="34" charset="-120"/>
              </a:rPr>
              <a:t>Lean Construction</a:t>
            </a:r>
            <a:endParaRPr lang="en-US" sz="900" dirty="0"/>
          </a:p>
        </p:txBody>
      </p:sp>
      <p:sp>
        <p:nvSpPr>
          <p:cNvPr id="24" name="Shape 22"/>
          <p:cNvSpPr/>
          <p:nvPr/>
        </p:nvSpPr>
        <p:spPr>
          <a:xfrm>
            <a:off x="4617720" y="1316736"/>
            <a:ext cx="164592" cy="164592"/>
          </a:xfrm>
          <a:prstGeom prst="ellipse">
            <a:avLst/>
          </a:prstGeom>
          <a:solidFill>
            <a:srgbClr val="1D1D1F"/>
          </a:solidFill>
          <a:ln w="12700">
            <a:solidFill>
              <a:srgbClr val="1D1D1F"/>
            </a:solidFill>
            <a:prstDash val="solid"/>
          </a:ln>
        </p:spPr>
      </p:sp>
      <p:sp>
        <p:nvSpPr>
          <p:cNvPr id="25" name="Text 23"/>
          <p:cNvSpPr/>
          <p:nvPr/>
        </p:nvSpPr>
        <p:spPr>
          <a:xfrm>
            <a:off x="4846320" y="1234440"/>
            <a:ext cx="384048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Diferencias Clave</a:t>
            </a:r>
            <a:endParaRPr lang="en-US" sz="850" dirty="0"/>
          </a:p>
        </p:txBody>
      </p:sp>
      <p:sp>
        <p:nvSpPr>
          <p:cNvPr id="26" name="Text 24"/>
          <p:cNvSpPr/>
          <p:nvPr/>
        </p:nvSpPr>
        <p:spPr>
          <a:xfrm>
            <a:off x="4846320" y="1490472"/>
            <a:ext cx="384048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Lean focaliza en flujo de producción; constructabilidad en transferencia de conocimiento campo→diseño.</a:t>
            </a:r>
            <a:endParaRPr lang="en-US" sz="750" dirty="0"/>
          </a:p>
        </p:txBody>
      </p:sp>
      <p:sp>
        <p:nvSpPr>
          <p:cNvPr id="27" name="Shape 25"/>
          <p:cNvSpPr/>
          <p:nvPr/>
        </p:nvSpPr>
        <p:spPr>
          <a:xfrm>
            <a:off x="4617720" y="1847088"/>
            <a:ext cx="164592" cy="164592"/>
          </a:xfrm>
          <a:prstGeom prst="ellipse">
            <a:avLst/>
          </a:prstGeom>
          <a:solidFill>
            <a:srgbClr val="1D1D1F"/>
          </a:solidFill>
          <a:ln w="12700">
            <a:solidFill>
              <a:srgbClr val="1D1D1F"/>
            </a:solidFill>
            <a:prstDash val="solid"/>
          </a:ln>
        </p:spPr>
      </p:sp>
      <p:sp>
        <p:nvSpPr>
          <p:cNvPr id="28" name="Text 26"/>
          <p:cNvSpPr/>
          <p:nvPr/>
        </p:nvSpPr>
        <p:spPr>
          <a:xfrm>
            <a:off x="4846320" y="1764792"/>
            <a:ext cx="384048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Integración Recomendada</a:t>
            </a:r>
            <a:endParaRPr lang="en-US" sz="850" dirty="0"/>
          </a:p>
        </p:txBody>
      </p:sp>
      <p:sp>
        <p:nvSpPr>
          <p:cNvPr id="29" name="Text 27"/>
          <p:cNvSpPr/>
          <p:nvPr/>
        </p:nvSpPr>
        <p:spPr>
          <a:xfrm>
            <a:off x="4846320" y="2020824"/>
            <a:ext cx="384048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Usar constructabilidad CII como capa de conocimiento dentro de un entorno Lean-IPD.</a:t>
            </a:r>
            <a:endParaRPr lang="en-US" sz="750" dirty="0"/>
          </a:p>
        </p:txBody>
      </p:sp>
      <p:sp>
        <p:nvSpPr>
          <p:cNvPr id="30" name="Shape 28"/>
          <p:cNvSpPr/>
          <p:nvPr/>
        </p:nvSpPr>
        <p:spPr>
          <a:xfrm>
            <a:off x="4617720" y="2377440"/>
            <a:ext cx="164592" cy="164592"/>
          </a:xfrm>
          <a:prstGeom prst="ellipse">
            <a:avLst/>
          </a:prstGeom>
          <a:solidFill>
            <a:srgbClr val="1D1D1F"/>
          </a:solidFill>
          <a:ln w="12700">
            <a:solidFill>
              <a:srgbClr val="1D1D1F"/>
            </a:solidFill>
            <a:prstDash val="solid"/>
          </a:ln>
        </p:spPr>
      </p:sp>
      <p:sp>
        <p:nvSpPr>
          <p:cNvPr id="31" name="Text 29"/>
          <p:cNvSpPr/>
          <p:nvPr/>
        </p:nvSpPr>
        <p:spPr>
          <a:xfrm>
            <a:off x="4846320" y="2295144"/>
            <a:ext cx="384048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Impacto Combinado</a:t>
            </a:r>
            <a:endParaRPr lang="en-US" sz="850" dirty="0"/>
          </a:p>
        </p:txBody>
      </p:sp>
      <p:sp>
        <p:nvSpPr>
          <p:cNvPr id="32" name="Text 30"/>
          <p:cNvSpPr/>
          <p:nvPr/>
        </p:nvSpPr>
        <p:spPr>
          <a:xfrm>
            <a:off x="4846320" y="2551176"/>
            <a:ext cx="384048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Proyectos que combinan Lean + constructabilidad reportan hasta 35% menos reprocesos vs. ninguno.</a:t>
            </a:r>
            <a:endParaRPr lang="en-US" sz="750" dirty="0"/>
          </a:p>
        </p:txBody>
      </p:sp>
      <p:sp>
        <p:nvSpPr>
          <p:cNvPr id="33" name="Shape 31"/>
          <p:cNvSpPr/>
          <p:nvPr/>
        </p:nvSpPr>
        <p:spPr>
          <a:xfrm>
            <a:off x="4617720" y="2907792"/>
            <a:ext cx="164592" cy="164592"/>
          </a:xfrm>
          <a:prstGeom prst="ellipse">
            <a:avLst/>
          </a:prstGeom>
          <a:solidFill>
            <a:srgbClr val="1D1D1F"/>
          </a:solidFill>
          <a:ln w="12700">
            <a:solidFill>
              <a:srgbClr val="1D1D1F"/>
            </a:solidFill>
            <a:prstDash val="solid"/>
          </a:ln>
        </p:spPr>
      </p:sp>
      <p:sp>
        <p:nvSpPr>
          <p:cNvPr id="34" name="Text 32"/>
          <p:cNvSpPr/>
          <p:nvPr/>
        </p:nvSpPr>
        <p:spPr>
          <a:xfrm>
            <a:off x="4846320" y="2825496"/>
            <a:ext cx="384048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BIM como Conector</a:t>
            </a:r>
            <a:endParaRPr lang="en-US" sz="850" dirty="0"/>
          </a:p>
        </p:txBody>
      </p:sp>
      <p:sp>
        <p:nvSpPr>
          <p:cNvPr id="35" name="Text 33"/>
          <p:cNvSpPr/>
          <p:nvPr/>
        </p:nvSpPr>
        <p:spPr>
          <a:xfrm>
            <a:off x="4846320" y="3081528"/>
            <a:ext cx="384048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El modelo BIM 3D/4D/5D es el medio donde convergen Lean, constructabilidad y planificación.</a:t>
            </a:r>
            <a:endParaRPr lang="en-US" sz="750" dirty="0"/>
          </a:p>
        </p:txBody>
      </p:sp>
      <p:sp>
        <p:nvSpPr>
          <p:cNvPr id="36" name="Shape 34"/>
          <p:cNvSpPr/>
          <p:nvPr/>
        </p:nvSpPr>
        <p:spPr>
          <a:xfrm>
            <a:off x="4617720" y="3438144"/>
            <a:ext cx="164592" cy="164592"/>
          </a:xfrm>
          <a:prstGeom prst="ellipse">
            <a:avLst/>
          </a:prstGeom>
          <a:solidFill>
            <a:srgbClr val="1D1D1F"/>
          </a:solidFill>
          <a:ln w="12700">
            <a:solidFill>
              <a:srgbClr val="1D1D1F"/>
            </a:solidFill>
            <a:prstDash val="solid"/>
          </a:ln>
        </p:spPr>
      </p:sp>
      <p:sp>
        <p:nvSpPr>
          <p:cNvPr id="37" name="Text 35"/>
          <p:cNvSpPr/>
          <p:nvPr/>
        </p:nvSpPr>
        <p:spPr>
          <a:xfrm>
            <a:off x="4846320" y="3355848"/>
            <a:ext cx="384048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Evidencia CII</a:t>
            </a:r>
            <a:endParaRPr lang="en-US" sz="850" dirty="0"/>
          </a:p>
        </p:txBody>
      </p:sp>
      <p:sp>
        <p:nvSpPr>
          <p:cNvPr id="38" name="Text 36"/>
          <p:cNvSpPr/>
          <p:nvPr/>
        </p:nvSpPr>
        <p:spPr>
          <a:xfrm>
            <a:off x="4846320" y="3611880"/>
            <a:ext cx="384048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CII RT-272: la integración Lean-constructabilidad multiplica el ROI de cada enfoque individual.</a:t>
            </a:r>
            <a:endParaRPr lang="en-US" sz="750" dirty="0"/>
          </a:p>
        </p:txBody>
      </p:sp>
      <p:sp>
        <p:nvSpPr>
          <p:cNvPr id="39" name="Shape 37"/>
          <p:cNvSpPr/>
          <p:nvPr/>
        </p:nvSpPr>
        <p:spPr>
          <a:xfrm>
            <a:off x="182880" y="4956048"/>
            <a:ext cx="8961120" cy="182880"/>
          </a:xfrm>
          <a:prstGeom prst="rect">
            <a:avLst/>
          </a:prstGeom>
          <a:solidFill>
            <a:srgbClr val="0A74E3"/>
          </a:solidFill>
          <a:ln w="12700">
            <a:solidFill>
              <a:srgbClr val="0A74E3"/>
            </a:solidFill>
            <a:prstDash val="solid"/>
          </a:ln>
        </p:spPr>
      </p:sp>
      <p:sp>
        <p:nvSpPr>
          <p:cNvPr id="40" name="Text 38"/>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10 / 126</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9E9E"/>
          </a:solidFill>
          <a:ln w="12700">
            <a:solidFill>
              <a:srgbClr val="0E9E9E"/>
            </a:solidFill>
            <a:prstDash val="solid"/>
          </a:ln>
        </p:spPr>
      </p:sp>
      <p:sp>
        <p:nvSpPr>
          <p:cNvPr id="3" name="Shape 1"/>
          <p:cNvSpPr/>
          <p:nvPr/>
        </p:nvSpPr>
        <p:spPr>
          <a:xfrm>
            <a:off x="0" y="0"/>
            <a:ext cx="2011680" cy="5143500"/>
          </a:xfrm>
          <a:prstGeom prst="rect">
            <a:avLst/>
          </a:prstGeom>
          <a:solidFill>
            <a:srgbClr val="FFFFFF"/>
          </a:solidFill>
          <a:ln w="12700">
            <a:solidFill>
              <a:srgbClr val="FFFFFF"/>
            </a:solidFill>
            <a:prstDash val="solid"/>
          </a:ln>
        </p:spPr>
      </p:sp>
      <p:sp>
        <p:nvSpPr>
          <p:cNvPr id="4" name="Text 2"/>
          <p:cNvSpPr/>
          <p:nvPr/>
        </p:nvSpPr>
        <p:spPr>
          <a:xfrm>
            <a:off x="320040" y="1463040"/>
            <a:ext cx="1828800" cy="1371600"/>
          </a:xfrm>
          <a:prstGeom prst="rect">
            <a:avLst/>
          </a:prstGeom>
          <a:noFill/>
          <a:ln/>
        </p:spPr>
        <p:txBody>
          <a:bodyPr wrap="square" rtlCol="0" anchor="ctr"/>
          <a:lstStyle/>
          <a:p>
            <a:pPr indent="0" marL="0">
              <a:buNone/>
            </a:pPr>
            <a:r>
              <a:rPr lang="en-US" sz="9000" b="1" dirty="0">
                <a:solidFill>
                  <a:srgbClr val="FFFFFF">
                    <a:alpha val="80000"/>
                  </a:srgbClr>
                </a:solidFill>
                <a:latin typeface="Atkinson Hyperlegible" pitchFamily="34" charset="0"/>
                <a:ea typeface="Atkinson Hyperlegible" pitchFamily="34" charset="-122"/>
                <a:cs typeface="Atkinson Hyperlegible" pitchFamily="34" charset="-120"/>
              </a:rPr>
              <a:t>02</a:t>
            </a:r>
            <a:endParaRPr lang="en-US" sz="9000" dirty="0"/>
          </a:p>
        </p:txBody>
      </p:sp>
      <p:sp>
        <p:nvSpPr>
          <p:cNvPr id="5" name="Shape 3"/>
          <p:cNvSpPr/>
          <p:nvPr/>
        </p:nvSpPr>
        <p:spPr>
          <a:xfrm>
            <a:off x="2286000" y="1371600"/>
            <a:ext cx="54864" cy="2286000"/>
          </a:xfrm>
          <a:prstGeom prst="rect">
            <a:avLst/>
          </a:prstGeom>
          <a:solidFill>
            <a:srgbClr val="FFFFFF"/>
          </a:solidFill>
          <a:ln w="12700">
            <a:solidFill>
              <a:srgbClr val="FFFFFF"/>
            </a:solidFill>
            <a:prstDash val="solid"/>
          </a:ln>
        </p:spPr>
      </p:sp>
      <p:sp>
        <p:nvSpPr>
          <p:cNvPr id="6" name="Text 4"/>
          <p:cNvSpPr/>
          <p:nvPr/>
        </p:nvSpPr>
        <p:spPr>
          <a:xfrm>
            <a:off x="2560320" y="1554480"/>
            <a:ext cx="6217920" cy="1005840"/>
          </a:xfrm>
          <a:prstGeom prst="rect">
            <a:avLst/>
          </a:prstGeom>
          <a:noFill/>
          <a:ln/>
        </p:spPr>
        <p:txBody>
          <a:bodyPr wrap="square" rtlCol="0" anchor="ctr"/>
          <a:lstStyle/>
          <a:p>
            <a:pPr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Fundamentos CII</a:t>
            </a:r>
            <a:endParaRPr lang="en-US" sz="2800" dirty="0"/>
          </a:p>
          <a:p>
            <a:pPr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Publicaciones Clave</a:t>
            </a:r>
            <a:endParaRPr lang="en-US" sz="2800" dirty="0"/>
          </a:p>
        </p:txBody>
      </p:sp>
      <p:sp>
        <p:nvSpPr>
          <p:cNvPr id="7" name="Text 5"/>
          <p:cNvSpPr/>
          <p:nvPr/>
        </p:nvSpPr>
        <p:spPr>
          <a:xfrm>
            <a:off x="2560320" y="2651760"/>
            <a:ext cx="6217920" cy="1097280"/>
          </a:xfrm>
          <a:prstGeom prst="rect">
            <a:avLst/>
          </a:prstGeom>
          <a:noFill/>
          <a:ln/>
        </p:spPr>
        <p:txBody>
          <a:bodyPr wrap="square" rtlCol="0" anchor="ctr"/>
          <a:lstStyle/>
          <a:p>
            <a:pPr indent="0" marL="0">
              <a:buNone/>
            </a:pPr>
            <a:r>
              <a:rPr lang="en-US" sz="1200" dirty="0">
                <a:solidFill>
                  <a:srgbClr val="FFFFFF">
                    <a:alpha val="85000"/>
                  </a:srgbClr>
                </a:solidFill>
                <a:latin typeface="Atkinson Hyperlegible" pitchFamily="34" charset="0"/>
                <a:ea typeface="Atkinson Hyperlegible" pitchFamily="34" charset="-122"/>
                <a:cs typeface="Atkinson Hyperlegible" pitchFamily="34" charset="-120"/>
              </a:rPr>
              <a:t>Construction Industry Institute — Base científica de la constructabilidad moderna</a:t>
            </a:r>
            <a:endParaRPr lang="en-US" sz="1200" dirty="0"/>
          </a:p>
        </p:txBody>
      </p:sp>
      <p:sp>
        <p:nvSpPr>
          <p:cNvPr id="8" name="Shape 6"/>
          <p:cNvSpPr/>
          <p:nvPr/>
        </p:nvSpPr>
        <p:spPr>
          <a:xfrm>
            <a:off x="182880" y="4956048"/>
            <a:ext cx="8961120" cy="182880"/>
          </a:xfrm>
          <a:prstGeom prst="rect">
            <a:avLst/>
          </a:prstGeom>
          <a:solidFill>
            <a:srgbClr val="1D1D1F"/>
          </a:solidFill>
          <a:ln w="12700">
            <a:solidFill>
              <a:srgbClr val="1D1D1F"/>
            </a:solidFill>
            <a:prstDash val="solid"/>
          </a:ln>
        </p:spPr>
      </p:sp>
      <p:sp>
        <p:nvSpPr>
          <p:cNvPr id="9" name="Text 7"/>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11 / 126</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E9E9E"/>
          </a:solidFill>
          <a:ln w="12700">
            <a:solidFill>
              <a:srgbClr val="0E9E9E"/>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Publicaciones CII sobre Constructabilidad</a:t>
            </a:r>
            <a:endParaRPr lang="en-US" sz="1800" dirty="0"/>
          </a:p>
        </p:txBody>
      </p:sp>
      <p:sp>
        <p:nvSpPr>
          <p:cNvPr id="4" name="Shape 2"/>
          <p:cNvSpPr/>
          <p:nvPr/>
        </p:nvSpPr>
        <p:spPr>
          <a:xfrm>
            <a:off x="320040" y="640080"/>
            <a:ext cx="8503920" cy="41148"/>
          </a:xfrm>
          <a:prstGeom prst="rect">
            <a:avLst/>
          </a:prstGeom>
          <a:solidFill>
            <a:srgbClr val="0E9E9E"/>
          </a:solidFill>
          <a:ln w="12700">
            <a:solidFill>
              <a:srgbClr val="0E9E9E"/>
            </a:solidFill>
            <a:prstDash val="solid"/>
          </a:ln>
        </p:spPr>
      </p:sp>
      <p:sp>
        <p:nvSpPr>
          <p:cNvPr id="5" name="Shape 3"/>
          <p:cNvSpPr/>
          <p:nvPr/>
        </p:nvSpPr>
        <p:spPr>
          <a:xfrm>
            <a:off x="320040" y="804672"/>
            <a:ext cx="2724912" cy="1943100"/>
          </a:xfrm>
          <a:prstGeom prst="roundRect">
            <a:avLst>
              <a:gd name="adj" fmla="val 4235"/>
            </a:avLst>
          </a:prstGeom>
          <a:solidFill>
            <a:srgbClr val="0E9E9E"/>
          </a:solidFill>
          <a:ln w="19050">
            <a:solidFill>
              <a:srgbClr val="0E9E9E"/>
            </a:solidFill>
            <a:prstDash val="solid"/>
          </a:ln>
        </p:spPr>
      </p:sp>
      <p:sp>
        <p:nvSpPr>
          <p:cNvPr id="6" name="Shape 4"/>
          <p:cNvSpPr/>
          <p:nvPr/>
        </p:nvSpPr>
        <p:spPr>
          <a:xfrm>
            <a:off x="320040" y="804672"/>
            <a:ext cx="2724912" cy="54864"/>
          </a:xfrm>
          <a:prstGeom prst="rect">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8056" y="932688"/>
            <a:ext cx="365760" cy="365760"/>
          </a:xfrm>
          <a:prstGeom prst="rect">
            <a:avLst/>
          </a:prstGeom>
        </p:spPr>
      </p:pic>
      <p:sp>
        <p:nvSpPr>
          <p:cNvPr id="8" name="Text 5"/>
          <p:cNvSpPr/>
          <p:nvPr/>
        </p:nvSpPr>
        <p:spPr>
          <a:xfrm>
            <a:off x="868680"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SP 34-1</a:t>
            </a:r>
            <a:endParaRPr lang="en-US" sz="850" dirty="0"/>
          </a:p>
        </p:txBody>
      </p:sp>
      <p:sp>
        <p:nvSpPr>
          <p:cNvPr id="9" name="Text 6"/>
          <p:cNvSpPr/>
          <p:nvPr/>
        </p:nvSpPr>
        <p:spPr>
          <a:xfrm>
            <a:off x="429768"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Constructability Implementation Guide. 17 conceptos prácticos, herramientas, matrices. La guía de implementación más completa.</a:t>
            </a:r>
            <a:endParaRPr lang="en-US" sz="750" dirty="0"/>
          </a:p>
        </p:txBody>
      </p:sp>
      <p:sp>
        <p:nvSpPr>
          <p:cNvPr id="10" name="Shape 7"/>
          <p:cNvSpPr/>
          <p:nvPr/>
        </p:nvSpPr>
        <p:spPr>
          <a:xfrm>
            <a:off x="3209544" y="804672"/>
            <a:ext cx="2724912" cy="1943100"/>
          </a:xfrm>
          <a:prstGeom prst="roundRect">
            <a:avLst>
              <a:gd name="adj" fmla="val 4235"/>
            </a:avLst>
          </a:prstGeom>
          <a:solidFill>
            <a:srgbClr val="FFFFFF"/>
          </a:solidFill>
          <a:ln w="19050">
            <a:solidFill>
              <a:srgbClr val="0E9E9E"/>
            </a:solidFill>
            <a:prstDash val="solid"/>
          </a:ln>
        </p:spPr>
      </p:sp>
      <p:sp>
        <p:nvSpPr>
          <p:cNvPr id="11" name="Shape 8"/>
          <p:cNvSpPr/>
          <p:nvPr/>
        </p:nvSpPr>
        <p:spPr>
          <a:xfrm>
            <a:off x="3209544" y="804672"/>
            <a:ext cx="2724912" cy="54864"/>
          </a:xfrm>
          <a:prstGeom prst="rect">
            <a:avLst/>
          </a:prstGeom>
          <a:solidFill>
            <a:srgbClr val="0E9E9E"/>
          </a:solidFill>
          <a:ln w="12700">
            <a:solidFill>
              <a:srgbClr val="0E9E9E"/>
            </a:solidFill>
            <a:prstDash val="solid"/>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37560" y="932688"/>
            <a:ext cx="365760" cy="365760"/>
          </a:xfrm>
          <a:prstGeom prst="rect">
            <a:avLst/>
          </a:prstGeom>
        </p:spPr>
      </p:pic>
      <p:sp>
        <p:nvSpPr>
          <p:cNvPr id="13" name="Text 9"/>
          <p:cNvSpPr/>
          <p:nvPr/>
        </p:nvSpPr>
        <p:spPr>
          <a:xfrm>
            <a:off x="3758184" y="914400"/>
            <a:ext cx="2066544" cy="347472"/>
          </a:xfrm>
          <a:prstGeom prst="rect">
            <a:avLst/>
          </a:prstGeom>
          <a:noFill/>
          <a:ln/>
        </p:spPr>
        <p:txBody>
          <a:bodyPr wrap="square" rtlCol="0" anchor="ctr"/>
          <a:lstStyle/>
          <a:p>
            <a:pPr indent="0" marL="0">
              <a:buNone/>
            </a:pPr>
            <a:r>
              <a:rPr lang="en-US" sz="850" b="1" dirty="0">
                <a:solidFill>
                  <a:srgbClr val="0E9E9E"/>
                </a:solidFill>
                <a:latin typeface="Atkinson Hyperlegible" pitchFamily="34" charset="0"/>
                <a:ea typeface="Atkinson Hyperlegible" pitchFamily="34" charset="-122"/>
                <a:cs typeface="Atkinson Hyperlegible" pitchFamily="34" charset="-120"/>
              </a:rPr>
              <a:t>SD-4</a:t>
            </a:r>
            <a:endParaRPr lang="en-US" sz="850" dirty="0"/>
          </a:p>
        </p:txBody>
      </p:sp>
      <p:sp>
        <p:nvSpPr>
          <p:cNvPr id="14" name="Text 10"/>
          <p:cNvSpPr/>
          <p:nvPr/>
        </p:nvSpPr>
        <p:spPr>
          <a:xfrm>
            <a:off x="3319272" y="131673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Constructability: A Primer. Introducción a los principios fundamentales. Punto de partida para programas nuevos.</a:t>
            </a:r>
            <a:endParaRPr lang="en-US" sz="750" dirty="0"/>
          </a:p>
        </p:txBody>
      </p:sp>
      <p:sp>
        <p:nvSpPr>
          <p:cNvPr id="15" name="Shape 11"/>
          <p:cNvSpPr/>
          <p:nvPr/>
        </p:nvSpPr>
        <p:spPr>
          <a:xfrm>
            <a:off x="6099048" y="804672"/>
            <a:ext cx="2724912" cy="1943100"/>
          </a:xfrm>
          <a:prstGeom prst="roundRect">
            <a:avLst>
              <a:gd name="adj" fmla="val 4235"/>
            </a:avLst>
          </a:prstGeom>
          <a:solidFill>
            <a:srgbClr val="0E9E9E"/>
          </a:solidFill>
          <a:ln w="19050">
            <a:solidFill>
              <a:srgbClr val="0E9E9E"/>
            </a:solidFill>
            <a:prstDash val="solid"/>
          </a:ln>
        </p:spPr>
      </p:sp>
      <p:sp>
        <p:nvSpPr>
          <p:cNvPr id="16" name="Shape 12"/>
          <p:cNvSpPr/>
          <p:nvPr/>
        </p:nvSpPr>
        <p:spPr>
          <a:xfrm>
            <a:off x="6099048" y="804672"/>
            <a:ext cx="2724912" cy="54864"/>
          </a:xfrm>
          <a:prstGeom prst="rect">
            <a:avLst/>
          </a:prstGeom>
          <a:solidFill>
            <a:srgbClr val="FFFFFF"/>
          </a:solidFill>
          <a:ln w="12700">
            <a:solidFill>
              <a:srgbClr val="FFFFFF"/>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27064" y="932688"/>
            <a:ext cx="365760" cy="365760"/>
          </a:xfrm>
          <a:prstGeom prst="rect">
            <a:avLst/>
          </a:prstGeom>
        </p:spPr>
      </p:pic>
      <p:sp>
        <p:nvSpPr>
          <p:cNvPr id="18" name="Text 13"/>
          <p:cNvSpPr/>
          <p:nvPr/>
        </p:nvSpPr>
        <p:spPr>
          <a:xfrm>
            <a:off x="6647688"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SD-5</a:t>
            </a:r>
            <a:endParaRPr lang="en-US" sz="850" dirty="0"/>
          </a:p>
        </p:txBody>
      </p:sp>
      <p:sp>
        <p:nvSpPr>
          <p:cNvPr id="19" name="Text 14"/>
          <p:cNvSpPr/>
          <p:nvPr/>
        </p:nvSpPr>
        <p:spPr>
          <a:xfrm>
            <a:off x="6208776"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Constructability Improvement Using Prefabrication, Preassembly and Modularization. Estrategias PAM.</a:t>
            </a:r>
            <a:endParaRPr lang="en-US" sz="750" dirty="0"/>
          </a:p>
        </p:txBody>
      </p:sp>
      <p:sp>
        <p:nvSpPr>
          <p:cNvPr id="20" name="Shape 15"/>
          <p:cNvSpPr/>
          <p:nvPr/>
        </p:nvSpPr>
        <p:spPr>
          <a:xfrm>
            <a:off x="320040" y="2884932"/>
            <a:ext cx="2724912" cy="1943100"/>
          </a:xfrm>
          <a:prstGeom prst="roundRect">
            <a:avLst>
              <a:gd name="adj" fmla="val 4235"/>
            </a:avLst>
          </a:prstGeom>
          <a:solidFill>
            <a:srgbClr val="FFFFFF"/>
          </a:solidFill>
          <a:ln w="19050">
            <a:solidFill>
              <a:srgbClr val="0E9E9E"/>
            </a:solidFill>
            <a:prstDash val="solid"/>
          </a:ln>
        </p:spPr>
      </p:sp>
      <p:sp>
        <p:nvSpPr>
          <p:cNvPr id="21" name="Shape 16"/>
          <p:cNvSpPr/>
          <p:nvPr/>
        </p:nvSpPr>
        <p:spPr>
          <a:xfrm>
            <a:off x="320040" y="2884932"/>
            <a:ext cx="2724912" cy="54864"/>
          </a:xfrm>
          <a:prstGeom prst="rect">
            <a:avLst/>
          </a:prstGeom>
          <a:solidFill>
            <a:srgbClr val="0E9E9E"/>
          </a:solidFill>
          <a:ln w="12700">
            <a:solidFill>
              <a:srgbClr val="0E9E9E"/>
            </a:solidFill>
            <a:prstDash val="solid"/>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8056" y="3012948"/>
            <a:ext cx="365760" cy="365760"/>
          </a:xfrm>
          <a:prstGeom prst="rect">
            <a:avLst/>
          </a:prstGeom>
        </p:spPr>
      </p:pic>
      <p:sp>
        <p:nvSpPr>
          <p:cNvPr id="23" name="Text 17"/>
          <p:cNvSpPr/>
          <p:nvPr/>
        </p:nvSpPr>
        <p:spPr>
          <a:xfrm>
            <a:off x="868680" y="2994660"/>
            <a:ext cx="2066544" cy="347472"/>
          </a:xfrm>
          <a:prstGeom prst="rect">
            <a:avLst/>
          </a:prstGeom>
          <a:noFill/>
          <a:ln/>
        </p:spPr>
        <p:txBody>
          <a:bodyPr wrap="square" rtlCol="0" anchor="ctr"/>
          <a:lstStyle/>
          <a:p>
            <a:pPr indent="0" marL="0">
              <a:buNone/>
            </a:pPr>
            <a:r>
              <a:rPr lang="en-US" sz="850" b="1" dirty="0">
                <a:solidFill>
                  <a:srgbClr val="0E9E9E"/>
                </a:solidFill>
                <a:latin typeface="Atkinson Hyperlegible" pitchFamily="34" charset="0"/>
                <a:ea typeface="Atkinson Hyperlegible" pitchFamily="34" charset="-122"/>
                <a:cs typeface="Atkinson Hyperlegible" pitchFamily="34" charset="-120"/>
              </a:rPr>
              <a:t>SD-25</a:t>
            </a:r>
            <a:endParaRPr lang="en-US" sz="850" dirty="0"/>
          </a:p>
        </p:txBody>
      </p:sp>
      <p:sp>
        <p:nvSpPr>
          <p:cNvPr id="24" name="Text 18"/>
          <p:cNvSpPr/>
          <p:nvPr/>
        </p:nvSpPr>
        <p:spPr>
          <a:xfrm>
            <a:off x="429768"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Constructability Implementation: A How-To Guide. Implementación paso a paso con casos reales.</a:t>
            </a:r>
            <a:endParaRPr lang="en-US" sz="750" dirty="0"/>
          </a:p>
        </p:txBody>
      </p:sp>
      <p:sp>
        <p:nvSpPr>
          <p:cNvPr id="25" name="Shape 19"/>
          <p:cNvSpPr/>
          <p:nvPr/>
        </p:nvSpPr>
        <p:spPr>
          <a:xfrm>
            <a:off x="3209544" y="2884932"/>
            <a:ext cx="2724912" cy="1943100"/>
          </a:xfrm>
          <a:prstGeom prst="roundRect">
            <a:avLst>
              <a:gd name="adj" fmla="val 4235"/>
            </a:avLst>
          </a:prstGeom>
          <a:solidFill>
            <a:srgbClr val="0E9E9E"/>
          </a:solidFill>
          <a:ln w="19050">
            <a:solidFill>
              <a:srgbClr val="0E9E9E"/>
            </a:solidFill>
            <a:prstDash val="solid"/>
          </a:ln>
        </p:spPr>
      </p:sp>
      <p:sp>
        <p:nvSpPr>
          <p:cNvPr id="26" name="Shape 20"/>
          <p:cNvSpPr/>
          <p:nvPr/>
        </p:nvSpPr>
        <p:spPr>
          <a:xfrm>
            <a:off x="3209544" y="2884932"/>
            <a:ext cx="2724912" cy="54864"/>
          </a:xfrm>
          <a:prstGeom prst="rect">
            <a:avLst/>
          </a:prstGeom>
          <a:solidFill>
            <a:srgbClr val="FFFFFF"/>
          </a:solidFill>
          <a:ln w="12700">
            <a:solidFill>
              <a:srgbClr val="FFFFFF"/>
            </a:solidFill>
            <a:prstDash val="solid"/>
          </a:ln>
        </p:spPr>
      </p:sp>
      <p:pic>
        <p:nvPicPr>
          <p:cNvPr id="2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37560" y="3012948"/>
            <a:ext cx="365760" cy="365760"/>
          </a:xfrm>
          <a:prstGeom prst="rect">
            <a:avLst/>
          </a:prstGeom>
        </p:spPr>
      </p:pic>
      <p:sp>
        <p:nvSpPr>
          <p:cNvPr id="28" name="Text 21"/>
          <p:cNvSpPr/>
          <p:nvPr/>
        </p:nvSpPr>
        <p:spPr>
          <a:xfrm>
            <a:off x="3758184" y="299466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SD-34</a:t>
            </a:r>
            <a:endParaRPr lang="en-US" sz="850" dirty="0"/>
          </a:p>
        </p:txBody>
      </p:sp>
      <p:sp>
        <p:nvSpPr>
          <p:cNvPr id="29" name="Text 22"/>
          <p:cNvSpPr/>
          <p:nvPr/>
        </p:nvSpPr>
        <p:spPr>
          <a:xfrm>
            <a:off x="3319272" y="339699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Constructability Enhancement Through Work Packaging. Integración con AWP y WBS de construcción.</a:t>
            </a:r>
            <a:endParaRPr lang="en-US" sz="750" dirty="0"/>
          </a:p>
        </p:txBody>
      </p:sp>
      <p:sp>
        <p:nvSpPr>
          <p:cNvPr id="30" name="Shape 23"/>
          <p:cNvSpPr/>
          <p:nvPr/>
        </p:nvSpPr>
        <p:spPr>
          <a:xfrm>
            <a:off x="6099048" y="2884932"/>
            <a:ext cx="2724912" cy="1943100"/>
          </a:xfrm>
          <a:prstGeom prst="roundRect">
            <a:avLst>
              <a:gd name="adj" fmla="val 4235"/>
            </a:avLst>
          </a:prstGeom>
          <a:solidFill>
            <a:srgbClr val="FFFFFF"/>
          </a:solidFill>
          <a:ln w="19050">
            <a:solidFill>
              <a:srgbClr val="0E9E9E"/>
            </a:solidFill>
            <a:prstDash val="solid"/>
          </a:ln>
        </p:spPr>
      </p:sp>
      <p:sp>
        <p:nvSpPr>
          <p:cNvPr id="31" name="Shape 24"/>
          <p:cNvSpPr/>
          <p:nvPr/>
        </p:nvSpPr>
        <p:spPr>
          <a:xfrm>
            <a:off x="6099048" y="2884932"/>
            <a:ext cx="2724912" cy="54864"/>
          </a:xfrm>
          <a:prstGeom prst="rect">
            <a:avLst/>
          </a:prstGeom>
          <a:solidFill>
            <a:srgbClr val="0E9E9E"/>
          </a:solidFill>
          <a:ln w="12700">
            <a:solidFill>
              <a:srgbClr val="0E9E9E"/>
            </a:solidFill>
            <a:prstDash val="solid"/>
          </a:ln>
        </p:spPr>
      </p:sp>
      <p:pic>
        <p:nvPicPr>
          <p:cNvPr id="3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27064" y="3012948"/>
            <a:ext cx="365760" cy="365760"/>
          </a:xfrm>
          <a:prstGeom prst="rect">
            <a:avLst/>
          </a:prstGeom>
        </p:spPr>
      </p:pic>
      <p:sp>
        <p:nvSpPr>
          <p:cNvPr id="33" name="Text 25"/>
          <p:cNvSpPr/>
          <p:nvPr/>
        </p:nvSpPr>
        <p:spPr>
          <a:xfrm>
            <a:off x="6647688" y="2994660"/>
            <a:ext cx="2066544" cy="347472"/>
          </a:xfrm>
          <a:prstGeom prst="rect">
            <a:avLst/>
          </a:prstGeom>
          <a:noFill/>
          <a:ln/>
        </p:spPr>
        <p:txBody>
          <a:bodyPr wrap="square" rtlCol="0" anchor="ctr"/>
          <a:lstStyle/>
          <a:p>
            <a:pPr indent="0" marL="0">
              <a:buNone/>
            </a:pPr>
            <a:r>
              <a:rPr lang="en-US" sz="850" b="1" dirty="0">
                <a:solidFill>
                  <a:srgbClr val="0E9E9E"/>
                </a:solidFill>
                <a:latin typeface="Atkinson Hyperlegible" pitchFamily="34" charset="0"/>
                <a:ea typeface="Atkinson Hyperlegible" pitchFamily="34" charset="-122"/>
                <a:cs typeface="Atkinson Hyperlegible" pitchFamily="34" charset="-120"/>
              </a:rPr>
              <a:t>Pub. 3-1</a:t>
            </a:r>
            <a:endParaRPr lang="en-US" sz="850" dirty="0"/>
          </a:p>
        </p:txBody>
      </p:sp>
      <p:sp>
        <p:nvSpPr>
          <p:cNvPr id="34" name="Text 26"/>
          <p:cNvSpPr/>
          <p:nvPr/>
        </p:nvSpPr>
        <p:spPr>
          <a:xfrm>
            <a:off x="6208776"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Constructability Concepts File. Descripción detallada de cada uno de los 17 conceptos CII.</a:t>
            </a:r>
            <a:endParaRPr lang="en-US" sz="750" dirty="0"/>
          </a:p>
        </p:txBody>
      </p:sp>
      <p:sp>
        <p:nvSpPr>
          <p:cNvPr id="35" name="Shape 27"/>
          <p:cNvSpPr/>
          <p:nvPr/>
        </p:nvSpPr>
        <p:spPr>
          <a:xfrm>
            <a:off x="182880" y="4956048"/>
            <a:ext cx="8961120" cy="182880"/>
          </a:xfrm>
          <a:prstGeom prst="rect">
            <a:avLst/>
          </a:prstGeom>
          <a:solidFill>
            <a:srgbClr val="0E9E9E"/>
          </a:solidFill>
          <a:ln w="12700">
            <a:solidFill>
              <a:srgbClr val="0E9E9E"/>
            </a:solidFill>
            <a:prstDash val="solid"/>
          </a:ln>
        </p:spPr>
      </p:sp>
      <p:sp>
        <p:nvSpPr>
          <p:cNvPr id="36" name="Text 28"/>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12 / 126</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E9E9E"/>
          </a:solidFill>
          <a:ln w="12700">
            <a:solidFill>
              <a:srgbClr val="0E9E9E"/>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Los 17 Conceptos de Constructabilidad CII</a:t>
            </a:r>
            <a:endParaRPr lang="en-US" sz="1800" dirty="0"/>
          </a:p>
        </p:txBody>
      </p:sp>
      <p:sp>
        <p:nvSpPr>
          <p:cNvPr id="4" name="Shape 2"/>
          <p:cNvSpPr/>
          <p:nvPr/>
        </p:nvSpPr>
        <p:spPr>
          <a:xfrm>
            <a:off x="320040" y="640080"/>
            <a:ext cx="8503920" cy="41148"/>
          </a:xfrm>
          <a:prstGeom prst="rect">
            <a:avLst/>
          </a:prstGeom>
          <a:solidFill>
            <a:srgbClr val="0E9E9E"/>
          </a:solidFill>
          <a:ln w="12700">
            <a:solidFill>
              <a:srgbClr val="0E9E9E"/>
            </a:solidFill>
            <a:prstDash val="solid"/>
          </a:ln>
        </p:spPr>
      </p:sp>
      <p:sp>
        <p:nvSpPr>
          <p:cNvPr id="5" name="Text 3"/>
          <p:cNvSpPr/>
          <p:nvPr/>
        </p:nvSpPr>
        <p:spPr>
          <a:xfrm>
            <a:off x="320040" y="704088"/>
            <a:ext cx="8503920" cy="274320"/>
          </a:xfrm>
          <a:prstGeom prst="rect">
            <a:avLst/>
          </a:prstGeom>
          <a:noFill/>
          <a:ln/>
        </p:spPr>
        <p:txBody>
          <a:bodyPr wrap="square" rtlCol="0" anchor="ctr"/>
          <a:lstStyle/>
          <a:p>
            <a:pPr indent="0" marL="0">
              <a:buNone/>
            </a:pPr>
            <a:r>
              <a:rPr lang="en-US" sz="900" i="1" dirty="0">
                <a:solidFill>
                  <a:srgbClr val="0E9E9E"/>
                </a:solidFill>
                <a:latin typeface="Atkinson Hyperlegible" pitchFamily="34" charset="0"/>
                <a:ea typeface="Atkinson Hyperlegible" pitchFamily="34" charset="-122"/>
                <a:cs typeface="Atkinson Hyperlegible" pitchFamily="34" charset="-120"/>
              </a:rPr>
              <a:t>Organizados en tres fases del ciclo de vida del proyecto</a:t>
            </a:r>
            <a:endParaRPr lang="en-US" sz="900" dirty="0"/>
          </a:p>
        </p:txBody>
      </p:sp>
      <p:sp>
        <p:nvSpPr>
          <p:cNvPr id="6" name="Shape 4"/>
          <p:cNvSpPr/>
          <p:nvPr/>
        </p:nvSpPr>
        <p:spPr>
          <a:xfrm>
            <a:off x="320040" y="841248"/>
            <a:ext cx="2743200" cy="411480"/>
          </a:xfrm>
          <a:prstGeom prst="roundRect">
            <a:avLst>
              <a:gd name="adj" fmla="val 15556"/>
            </a:avLst>
          </a:prstGeom>
          <a:solidFill>
            <a:srgbClr val="27AE60"/>
          </a:solidFill>
          <a:ln w="12700">
            <a:solidFill>
              <a:srgbClr val="27AE60"/>
            </a:solidFill>
            <a:prstDash val="solid"/>
          </a:ln>
        </p:spPr>
      </p:sp>
      <p:sp>
        <p:nvSpPr>
          <p:cNvPr id="7" name="Text 5"/>
          <p:cNvSpPr/>
          <p:nvPr/>
        </p:nvSpPr>
        <p:spPr>
          <a:xfrm>
            <a:off x="393192" y="841248"/>
            <a:ext cx="2606040" cy="411480"/>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FASE I: Planificación</a:t>
            </a:r>
            <a:endParaRPr lang="en-US" sz="800" dirty="0"/>
          </a:p>
        </p:txBody>
      </p:sp>
      <p:sp>
        <p:nvSpPr>
          <p:cNvPr id="8" name="Shape 6"/>
          <p:cNvSpPr/>
          <p:nvPr/>
        </p:nvSpPr>
        <p:spPr>
          <a:xfrm>
            <a:off x="320040" y="1325880"/>
            <a:ext cx="2743200" cy="384048"/>
          </a:xfrm>
          <a:prstGeom prst="roundRect">
            <a:avLst>
              <a:gd name="adj" fmla="val 9524"/>
            </a:avLst>
          </a:prstGeom>
          <a:solidFill>
            <a:srgbClr val="FFFFFF"/>
          </a:solidFill>
          <a:ln w="9525">
            <a:solidFill>
              <a:srgbClr val="E5E5EA"/>
            </a:solidFill>
            <a:prstDash val="solid"/>
          </a:ln>
        </p:spPr>
      </p:sp>
      <p:sp>
        <p:nvSpPr>
          <p:cNvPr id="9" name="Shape 7"/>
          <p:cNvSpPr/>
          <p:nvPr/>
        </p:nvSpPr>
        <p:spPr>
          <a:xfrm>
            <a:off x="411480" y="1435608"/>
            <a:ext cx="182880" cy="182880"/>
          </a:xfrm>
          <a:prstGeom prst="ellipse">
            <a:avLst/>
          </a:prstGeom>
          <a:solidFill>
            <a:srgbClr val="27AE60"/>
          </a:solidFill>
          <a:ln w="12700">
            <a:solidFill>
              <a:srgbClr val="27AE60"/>
            </a:solidFill>
            <a:prstDash val="solid"/>
          </a:ln>
        </p:spPr>
      </p:sp>
      <p:sp>
        <p:nvSpPr>
          <p:cNvPr id="10" name="Text 8"/>
          <p:cNvSpPr/>
          <p:nvPr/>
        </p:nvSpPr>
        <p:spPr>
          <a:xfrm>
            <a:off x="649224" y="1325880"/>
            <a:ext cx="2340864"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I-1 Conocimiento constructor en planificación</a:t>
            </a:r>
            <a:endParaRPr lang="en-US" sz="750" dirty="0"/>
          </a:p>
        </p:txBody>
      </p:sp>
      <p:sp>
        <p:nvSpPr>
          <p:cNvPr id="11" name="Shape 9"/>
          <p:cNvSpPr/>
          <p:nvPr/>
        </p:nvSpPr>
        <p:spPr>
          <a:xfrm>
            <a:off x="320040" y="1737360"/>
            <a:ext cx="2743200" cy="384048"/>
          </a:xfrm>
          <a:prstGeom prst="roundRect">
            <a:avLst>
              <a:gd name="adj" fmla="val 9524"/>
            </a:avLst>
          </a:prstGeom>
          <a:solidFill>
            <a:srgbClr val="F8F8FA"/>
          </a:solidFill>
          <a:ln w="9525">
            <a:solidFill>
              <a:srgbClr val="E5E5EA"/>
            </a:solidFill>
            <a:prstDash val="solid"/>
          </a:ln>
        </p:spPr>
      </p:sp>
      <p:sp>
        <p:nvSpPr>
          <p:cNvPr id="12" name="Shape 10"/>
          <p:cNvSpPr/>
          <p:nvPr/>
        </p:nvSpPr>
        <p:spPr>
          <a:xfrm>
            <a:off x="411480" y="1847088"/>
            <a:ext cx="182880" cy="182880"/>
          </a:xfrm>
          <a:prstGeom prst="ellipse">
            <a:avLst/>
          </a:prstGeom>
          <a:solidFill>
            <a:srgbClr val="27AE60"/>
          </a:solidFill>
          <a:ln w="12700">
            <a:solidFill>
              <a:srgbClr val="27AE60"/>
            </a:solidFill>
            <a:prstDash val="solid"/>
          </a:ln>
        </p:spPr>
      </p:sp>
      <p:sp>
        <p:nvSpPr>
          <p:cNvPr id="13" name="Text 11"/>
          <p:cNvSpPr/>
          <p:nvPr/>
        </p:nvSpPr>
        <p:spPr>
          <a:xfrm>
            <a:off x="649224" y="1737360"/>
            <a:ext cx="2340864"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I-2 Programa de constructabilidad</a:t>
            </a:r>
            <a:endParaRPr lang="en-US" sz="750" dirty="0"/>
          </a:p>
        </p:txBody>
      </p:sp>
      <p:sp>
        <p:nvSpPr>
          <p:cNvPr id="14" name="Shape 12"/>
          <p:cNvSpPr/>
          <p:nvPr/>
        </p:nvSpPr>
        <p:spPr>
          <a:xfrm>
            <a:off x="320040" y="2148840"/>
            <a:ext cx="2743200" cy="384048"/>
          </a:xfrm>
          <a:prstGeom prst="roundRect">
            <a:avLst>
              <a:gd name="adj" fmla="val 9524"/>
            </a:avLst>
          </a:prstGeom>
          <a:solidFill>
            <a:srgbClr val="FFFFFF"/>
          </a:solidFill>
          <a:ln w="9525">
            <a:solidFill>
              <a:srgbClr val="E5E5EA"/>
            </a:solidFill>
            <a:prstDash val="solid"/>
          </a:ln>
        </p:spPr>
      </p:sp>
      <p:sp>
        <p:nvSpPr>
          <p:cNvPr id="15" name="Shape 13"/>
          <p:cNvSpPr/>
          <p:nvPr/>
        </p:nvSpPr>
        <p:spPr>
          <a:xfrm>
            <a:off x="411480" y="2258568"/>
            <a:ext cx="182880" cy="182880"/>
          </a:xfrm>
          <a:prstGeom prst="ellipse">
            <a:avLst/>
          </a:prstGeom>
          <a:solidFill>
            <a:srgbClr val="27AE60"/>
          </a:solidFill>
          <a:ln w="12700">
            <a:solidFill>
              <a:srgbClr val="27AE60"/>
            </a:solidFill>
            <a:prstDash val="solid"/>
          </a:ln>
        </p:spPr>
      </p:sp>
      <p:sp>
        <p:nvSpPr>
          <p:cNvPr id="16" name="Text 14"/>
          <p:cNvSpPr/>
          <p:nvPr/>
        </p:nvSpPr>
        <p:spPr>
          <a:xfrm>
            <a:off x="649224" y="2148840"/>
            <a:ext cx="2340864"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I-3 Información temprana del sitio</a:t>
            </a:r>
            <a:endParaRPr lang="en-US" sz="750" dirty="0"/>
          </a:p>
        </p:txBody>
      </p:sp>
      <p:sp>
        <p:nvSpPr>
          <p:cNvPr id="17" name="Shape 15"/>
          <p:cNvSpPr/>
          <p:nvPr/>
        </p:nvSpPr>
        <p:spPr>
          <a:xfrm>
            <a:off x="320040" y="2560320"/>
            <a:ext cx="2743200" cy="384048"/>
          </a:xfrm>
          <a:prstGeom prst="roundRect">
            <a:avLst>
              <a:gd name="adj" fmla="val 9524"/>
            </a:avLst>
          </a:prstGeom>
          <a:solidFill>
            <a:srgbClr val="F8F8FA"/>
          </a:solidFill>
          <a:ln w="9525">
            <a:solidFill>
              <a:srgbClr val="E5E5EA"/>
            </a:solidFill>
            <a:prstDash val="solid"/>
          </a:ln>
        </p:spPr>
      </p:sp>
      <p:sp>
        <p:nvSpPr>
          <p:cNvPr id="18" name="Shape 16"/>
          <p:cNvSpPr/>
          <p:nvPr/>
        </p:nvSpPr>
        <p:spPr>
          <a:xfrm>
            <a:off x="411480" y="2670048"/>
            <a:ext cx="182880" cy="182880"/>
          </a:xfrm>
          <a:prstGeom prst="ellipse">
            <a:avLst/>
          </a:prstGeom>
          <a:solidFill>
            <a:srgbClr val="27AE60"/>
          </a:solidFill>
          <a:ln w="12700">
            <a:solidFill>
              <a:srgbClr val="27AE60"/>
            </a:solidFill>
            <a:prstDash val="solid"/>
          </a:ln>
        </p:spPr>
      </p:sp>
      <p:sp>
        <p:nvSpPr>
          <p:cNvPr id="19" name="Text 17"/>
          <p:cNvSpPr/>
          <p:nvPr/>
        </p:nvSpPr>
        <p:spPr>
          <a:xfrm>
            <a:off x="649224" y="2560320"/>
            <a:ext cx="2340864"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I-4 Configuración del equipo de proyecto</a:t>
            </a:r>
            <a:endParaRPr lang="en-US" sz="750" dirty="0"/>
          </a:p>
        </p:txBody>
      </p:sp>
      <p:sp>
        <p:nvSpPr>
          <p:cNvPr id="20" name="Shape 18"/>
          <p:cNvSpPr/>
          <p:nvPr/>
        </p:nvSpPr>
        <p:spPr>
          <a:xfrm>
            <a:off x="320040" y="2971800"/>
            <a:ext cx="2743200" cy="384048"/>
          </a:xfrm>
          <a:prstGeom prst="roundRect">
            <a:avLst>
              <a:gd name="adj" fmla="val 9524"/>
            </a:avLst>
          </a:prstGeom>
          <a:solidFill>
            <a:srgbClr val="FFFFFF"/>
          </a:solidFill>
          <a:ln w="9525">
            <a:solidFill>
              <a:srgbClr val="E5E5EA"/>
            </a:solidFill>
            <a:prstDash val="solid"/>
          </a:ln>
        </p:spPr>
      </p:sp>
      <p:sp>
        <p:nvSpPr>
          <p:cNvPr id="21" name="Shape 19"/>
          <p:cNvSpPr/>
          <p:nvPr/>
        </p:nvSpPr>
        <p:spPr>
          <a:xfrm>
            <a:off x="411480" y="3081528"/>
            <a:ext cx="182880" cy="182880"/>
          </a:xfrm>
          <a:prstGeom prst="ellipse">
            <a:avLst/>
          </a:prstGeom>
          <a:solidFill>
            <a:srgbClr val="27AE60"/>
          </a:solidFill>
          <a:ln w="12700">
            <a:solidFill>
              <a:srgbClr val="27AE60"/>
            </a:solidFill>
            <a:prstDash val="solid"/>
          </a:ln>
        </p:spPr>
      </p:sp>
      <p:sp>
        <p:nvSpPr>
          <p:cNvPr id="22" name="Text 20"/>
          <p:cNvSpPr/>
          <p:nvPr/>
        </p:nvSpPr>
        <p:spPr>
          <a:xfrm>
            <a:off x="649224" y="2971800"/>
            <a:ext cx="2340864"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I-5 Tecnología avanzada</a:t>
            </a:r>
            <a:endParaRPr lang="en-US" sz="750" dirty="0"/>
          </a:p>
        </p:txBody>
      </p:sp>
      <p:sp>
        <p:nvSpPr>
          <p:cNvPr id="23" name="Shape 21"/>
          <p:cNvSpPr/>
          <p:nvPr/>
        </p:nvSpPr>
        <p:spPr>
          <a:xfrm>
            <a:off x="320040" y="3383280"/>
            <a:ext cx="2743200" cy="384048"/>
          </a:xfrm>
          <a:prstGeom prst="roundRect">
            <a:avLst>
              <a:gd name="adj" fmla="val 9524"/>
            </a:avLst>
          </a:prstGeom>
          <a:solidFill>
            <a:srgbClr val="F8F8FA"/>
          </a:solidFill>
          <a:ln w="9525">
            <a:solidFill>
              <a:srgbClr val="E5E5EA"/>
            </a:solidFill>
            <a:prstDash val="solid"/>
          </a:ln>
        </p:spPr>
      </p:sp>
      <p:sp>
        <p:nvSpPr>
          <p:cNvPr id="24" name="Shape 22"/>
          <p:cNvSpPr/>
          <p:nvPr/>
        </p:nvSpPr>
        <p:spPr>
          <a:xfrm>
            <a:off x="411480" y="3493008"/>
            <a:ext cx="182880" cy="182880"/>
          </a:xfrm>
          <a:prstGeom prst="ellipse">
            <a:avLst/>
          </a:prstGeom>
          <a:solidFill>
            <a:srgbClr val="27AE60"/>
          </a:solidFill>
          <a:ln w="12700">
            <a:solidFill>
              <a:srgbClr val="27AE60"/>
            </a:solidFill>
            <a:prstDash val="solid"/>
          </a:ln>
        </p:spPr>
      </p:sp>
      <p:sp>
        <p:nvSpPr>
          <p:cNvPr id="25" name="Text 23"/>
          <p:cNvSpPr/>
          <p:nvPr/>
        </p:nvSpPr>
        <p:spPr>
          <a:xfrm>
            <a:off x="649224" y="3383280"/>
            <a:ext cx="2340864"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I-6 Decisiones clave tempranas</a:t>
            </a:r>
            <a:endParaRPr lang="en-US" sz="750" dirty="0"/>
          </a:p>
        </p:txBody>
      </p:sp>
      <p:sp>
        <p:nvSpPr>
          <p:cNvPr id="26" name="Shape 24"/>
          <p:cNvSpPr/>
          <p:nvPr/>
        </p:nvSpPr>
        <p:spPr>
          <a:xfrm>
            <a:off x="320040" y="3794760"/>
            <a:ext cx="2743200" cy="384048"/>
          </a:xfrm>
          <a:prstGeom prst="roundRect">
            <a:avLst>
              <a:gd name="adj" fmla="val 9524"/>
            </a:avLst>
          </a:prstGeom>
          <a:solidFill>
            <a:srgbClr val="FFFFFF"/>
          </a:solidFill>
          <a:ln w="9525">
            <a:solidFill>
              <a:srgbClr val="E5E5EA"/>
            </a:solidFill>
            <a:prstDash val="solid"/>
          </a:ln>
        </p:spPr>
      </p:sp>
      <p:sp>
        <p:nvSpPr>
          <p:cNvPr id="27" name="Shape 25"/>
          <p:cNvSpPr/>
          <p:nvPr/>
        </p:nvSpPr>
        <p:spPr>
          <a:xfrm>
            <a:off x="411480" y="3904488"/>
            <a:ext cx="182880" cy="182880"/>
          </a:xfrm>
          <a:prstGeom prst="ellipse">
            <a:avLst/>
          </a:prstGeom>
          <a:solidFill>
            <a:srgbClr val="27AE60"/>
          </a:solidFill>
          <a:ln w="12700">
            <a:solidFill>
              <a:srgbClr val="27AE60"/>
            </a:solidFill>
            <a:prstDash val="solid"/>
          </a:ln>
        </p:spPr>
      </p:sp>
      <p:sp>
        <p:nvSpPr>
          <p:cNvPr id="28" name="Text 26"/>
          <p:cNvSpPr/>
          <p:nvPr/>
        </p:nvSpPr>
        <p:spPr>
          <a:xfrm>
            <a:off x="649224" y="3794760"/>
            <a:ext cx="2340864"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I-7 Estrategia de completación del modelo</a:t>
            </a:r>
            <a:endParaRPr lang="en-US" sz="750" dirty="0"/>
          </a:p>
        </p:txBody>
      </p:sp>
      <p:sp>
        <p:nvSpPr>
          <p:cNvPr id="29" name="Shape 27"/>
          <p:cNvSpPr/>
          <p:nvPr/>
        </p:nvSpPr>
        <p:spPr>
          <a:xfrm>
            <a:off x="3200400" y="841248"/>
            <a:ext cx="2743200" cy="411480"/>
          </a:xfrm>
          <a:prstGeom prst="roundRect">
            <a:avLst>
              <a:gd name="adj" fmla="val 15556"/>
            </a:avLst>
          </a:prstGeom>
          <a:solidFill>
            <a:srgbClr val="D4620A"/>
          </a:solidFill>
          <a:ln w="12700">
            <a:solidFill>
              <a:srgbClr val="D4620A"/>
            </a:solidFill>
            <a:prstDash val="solid"/>
          </a:ln>
        </p:spPr>
      </p:sp>
      <p:sp>
        <p:nvSpPr>
          <p:cNvPr id="30" name="Text 28"/>
          <p:cNvSpPr/>
          <p:nvPr/>
        </p:nvSpPr>
        <p:spPr>
          <a:xfrm>
            <a:off x="3273552" y="841248"/>
            <a:ext cx="2606040" cy="411480"/>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FASE II: Diseño</a:t>
            </a:r>
            <a:endParaRPr lang="en-US" sz="800" dirty="0"/>
          </a:p>
        </p:txBody>
      </p:sp>
      <p:sp>
        <p:nvSpPr>
          <p:cNvPr id="31" name="Shape 29"/>
          <p:cNvSpPr/>
          <p:nvPr/>
        </p:nvSpPr>
        <p:spPr>
          <a:xfrm>
            <a:off x="3200400" y="1325880"/>
            <a:ext cx="2743200" cy="384048"/>
          </a:xfrm>
          <a:prstGeom prst="roundRect">
            <a:avLst>
              <a:gd name="adj" fmla="val 9524"/>
            </a:avLst>
          </a:prstGeom>
          <a:solidFill>
            <a:srgbClr val="FFFFFF"/>
          </a:solidFill>
          <a:ln w="9525">
            <a:solidFill>
              <a:srgbClr val="E5E5EA"/>
            </a:solidFill>
            <a:prstDash val="solid"/>
          </a:ln>
        </p:spPr>
      </p:sp>
      <p:sp>
        <p:nvSpPr>
          <p:cNvPr id="32" name="Shape 30"/>
          <p:cNvSpPr/>
          <p:nvPr/>
        </p:nvSpPr>
        <p:spPr>
          <a:xfrm>
            <a:off x="3291840" y="1435608"/>
            <a:ext cx="182880" cy="182880"/>
          </a:xfrm>
          <a:prstGeom prst="ellipse">
            <a:avLst/>
          </a:prstGeom>
          <a:solidFill>
            <a:srgbClr val="D4620A"/>
          </a:solidFill>
          <a:ln w="12700">
            <a:solidFill>
              <a:srgbClr val="D4620A"/>
            </a:solidFill>
            <a:prstDash val="solid"/>
          </a:ln>
        </p:spPr>
      </p:sp>
      <p:sp>
        <p:nvSpPr>
          <p:cNvPr id="33" name="Text 31"/>
          <p:cNvSpPr/>
          <p:nvPr/>
        </p:nvSpPr>
        <p:spPr>
          <a:xfrm>
            <a:off x="3529584" y="1325880"/>
            <a:ext cx="2340864"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II-1 Normas de diseño y construcción</a:t>
            </a:r>
            <a:endParaRPr lang="en-US" sz="750" dirty="0"/>
          </a:p>
        </p:txBody>
      </p:sp>
      <p:sp>
        <p:nvSpPr>
          <p:cNvPr id="34" name="Shape 32"/>
          <p:cNvSpPr/>
          <p:nvPr/>
        </p:nvSpPr>
        <p:spPr>
          <a:xfrm>
            <a:off x="3200400" y="1737360"/>
            <a:ext cx="2743200" cy="384048"/>
          </a:xfrm>
          <a:prstGeom prst="roundRect">
            <a:avLst>
              <a:gd name="adj" fmla="val 9524"/>
            </a:avLst>
          </a:prstGeom>
          <a:solidFill>
            <a:srgbClr val="F8F8FA"/>
          </a:solidFill>
          <a:ln w="9525">
            <a:solidFill>
              <a:srgbClr val="E5E5EA"/>
            </a:solidFill>
            <a:prstDash val="solid"/>
          </a:ln>
        </p:spPr>
      </p:sp>
      <p:sp>
        <p:nvSpPr>
          <p:cNvPr id="35" name="Shape 33"/>
          <p:cNvSpPr/>
          <p:nvPr/>
        </p:nvSpPr>
        <p:spPr>
          <a:xfrm>
            <a:off x="3291840" y="1847088"/>
            <a:ext cx="182880" cy="182880"/>
          </a:xfrm>
          <a:prstGeom prst="ellipse">
            <a:avLst/>
          </a:prstGeom>
          <a:solidFill>
            <a:srgbClr val="D4620A"/>
          </a:solidFill>
          <a:ln w="12700">
            <a:solidFill>
              <a:srgbClr val="D4620A"/>
            </a:solidFill>
            <a:prstDash val="solid"/>
          </a:ln>
        </p:spPr>
      </p:sp>
      <p:sp>
        <p:nvSpPr>
          <p:cNvPr id="36" name="Text 34"/>
          <p:cNvSpPr/>
          <p:nvPr/>
        </p:nvSpPr>
        <p:spPr>
          <a:xfrm>
            <a:off x="3529584" y="1737360"/>
            <a:ext cx="2340864"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II-2 Diseño simplificado</a:t>
            </a:r>
            <a:endParaRPr lang="en-US" sz="750" dirty="0"/>
          </a:p>
        </p:txBody>
      </p:sp>
      <p:sp>
        <p:nvSpPr>
          <p:cNvPr id="37" name="Shape 35"/>
          <p:cNvSpPr/>
          <p:nvPr/>
        </p:nvSpPr>
        <p:spPr>
          <a:xfrm>
            <a:off x="3200400" y="2148840"/>
            <a:ext cx="2743200" cy="384048"/>
          </a:xfrm>
          <a:prstGeom prst="roundRect">
            <a:avLst>
              <a:gd name="adj" fmla="val 9524"/>
            </a:avLst>
          </a:prstGeom>
          <a:solidFill>
            <a:srgbClr val="FFFFFF"/>
          </a:solidFill>
          <a:ln w="9525">
            <a:solidFill>
              <a:srgbClr val="E5E5EA"/>
            </a:solidFill>
            <a:prstDash val="solid"/>
          </a:ln>
        </p:spPr>
      </p:sp>
      <p:sp>
        <p:nvSpPr>
          <p:cNvPr id="38" name="Shape 36"/>
          <p:cNvSpPr/>
          <p:nvPr/>
        </p:nvSpPr>
        <p:spPr>
          <a:xfrm>
            <a:off x="3291840" y="2258568"/>
            <a:ext cx="182880" cy="182880"/>
          </a:xfrm>
          <a:prstGeom prst="ellipse">
            <a:avLst/>
          </a:prstGeom>
          <a:solidFill>
            <a:srgbClr val="D4620A"/>
          </a:solidFill>
          <a:ln w="12700">
            <a:solidFill>
              <a:srgbClr val="D4620A"/>
            </a:solidFill>
            <a:prstDash val="solid"/>
          </a:ln>
        </p:spPr>
      </p:sp>
      <p:sp>
        <p:nvSpPr>
          <p:cNvPr id="39" name="Text 37"/>
          <p:cNvSpPr/>
          <p:nvPr/>
        </p:nvSpPr>
        <p:spPr>
          <a:xfrm>
            <a:off x="3529584" y="2148840"/>
            <a:ext cx="2340864"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II-3 Especificaciones estándar</a:t>
            </a:r>
            <a:endParaRPr lang="en-US" sz="750" dirty="0"/>
          </a:p>
        </p:txBody>
      </p:sp>
      <p:sp>
        <p:nvSpPr>
          <p:cNvPr id="40" name="Shape 38"/>
          <p:cNvSpPr/>
          <p:nvPr/>
        </p:nvSpPr>
        <p:spPr>
          <a:xfrm>
            <a:off x="3200400" y="2560320"/>
            <a:ext cx="2743200" cy="384048"/>
          </a:xfrm>
          <a:prstGeom prst="roundRect">
            <a:avLst>
              <a:gd name="adj" fmla="val 9524"/>
            </a:avLst>
          </a:prstGeom>
          <a:solidFill>
            <a:srgbClr val="F8F8FA"/>
          </a:solidFill>
          <a:ln w="9525">
            <a:solidFill>
              <a:srgbClr val="E5E5EA"/>
            </a:solidFill>
            <a:prstDash val="solid"/>
          </a:ln>
        </p:spPr>
      </p:sp>
      <p:sp>
        <p:nvSpPr>
          <p:cNvPr id="41" name="Shape 39"/>
          <p:cNvSpPr/>
          <p:nvPr/>
        </p:nvSpPr>
        <p:spPr>
          <a:xfrm>
            <a:off x="3291840" y="2670048"/>
            <a:ext cx="182880" cy="182880"/>
          </a:xfrm>
          <a:prstGeom prst="ellipse">
            <a:avLst/>
          </a:prstGeom>
          <a:solidFill>
            <a:srgbClr val="D4620A"/>
          </a:solidFill>
          <a:ln w="12700">
            <a:solidFill>
              <a:srgbClr val="D4620A"/>
            </a:solidFill>
            <a:prstDash val="solid"/>
          </a:ln>
        </p:spPr>
      </p:sp>
      <p:sp>
        <p:nvSpPr>
          <p:cNvPr id="42" name="Text 40"/>
          <p:cNvSpPr/>
          <p:nvPr/>
        </p:nvSpPr>
        <p:spPr>
          <a:xfrm>
            <a:off x="3529584" y="2560320"/>
            <a:ext cx="2340864"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II-4 PAM (Prefab, Preensamble, Modularización)</a:t>
            </a:r>
            <a:endParaRPr lang="en-US" sz="750" dirty="0"/>
          </a:p>
        </p:txBody>
      </p:sp>
      <p:sp>
        <p:nvSpPr>
          <p:cNvPr id="43" name="Shape 41"/>
          <p:cNvSpPr/>
          <p:nvPr/>
        </p:nvSpPr>
        <p:spPr>
          <a:xfrm>
            <a:off x="3200400" y="2971800"/>
            <a:ext cx="2743200" cy="384048"/>
          </a:xfrm>
          <a:prstGeom prst="roundRect">
            <a:avLst>
              <a:gd name="adj" fmla="val 9524"/>
            </a:avLst>
          </a:prstGeom>
          <a:solidFill>
            <a:srgbClr val="FFFFFF"/>
          </a:solidFill>
          <a:ln w="9525">
            <a:solidFill>
              <a:srgbClr val="E5E5EA"/>
            </a:solidFill>
            <a:prstDash val="solid"/>
          </a:ln>
        </p:spPr>
      </p:sp>
      <p:sp>
        <p:nvSpPr>
          <p:cNvPr id="44" name="Shape 42"/>
          <p:cNvSpPr/>
          <p:nvPr/>
        </p:nvSpPr>
        <p:spPr>
          <a:xfrm>
            <a:off x="3291840" y="3081528"/>
            <a:ext cx="182880" cy="182880"/>
          </a:xfrm>
          <a:prstGeom prst="ellipse">
            <a:avLst/>
          </a:prstGeom>
          <a:solidFill>
            <a:srgbClr val="D4620A"/>
          </a:solidFill>
          <a:ln w="12700">
            <a:solidFill>
              <a:srgbClr val="D4620A"/>
            </a:solidFill>
            <a:prstDash val="solid"/>
          </a:ln>
        </p:spPr>
      </p:sp>
      <p:sp>
        <p:nvSpPr>
          <p:cNvPr id="45" name="Text 43"/>
          <p:cNvSpPr/>
          <p:nvPr/>
        </p:nvSpPr>
        <p:spPr>
          <a:xfrm>
            <a:off x="3529584" y="2971800"/>
            <a:ext cx="2340864"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II-5 Accesibilidad del diseño</a:t>
            </a:r>
            <a:endParaRPr lang="en-US" sz="750" dirty="0"/>
          </a:p>
        </p:txBody>
      </p:sp>
      <p:sp>
        <p:nvSpPr>
          <p:cNvPr id="46" name="Shape 44"/>
          <p:cNvSpPr/>
          <p:nvPr/>
        </p:nvSpPr>
        <p:spPr>
          <a:xfrm>
            <a:off x="3200400" y="3383280"/>
            <a:ext cx="2743200" cy="384048"/>
          </a:xfrm>
          <a:prstGeom prst="roundRect">
            <a:avLst>
              <a:gd name="adj" fmla="val 9524"/>
            </a:avLst>
          </a:prstGeom>
          <a:solidFill>
            <a:srgbClr val="F8F8FA"/>
          </a:solidFill>
          <a:ln w="9525">
            <a:solidFill>
              <a:srgbClr val="E5E5EA"/>
            </a:solidFill>
            <a:prstDash val="solid"/>
          </a:ln>
        </p:spPr>
      </p:sp>
      <p:sp>
        <p:nvSpPr>
          <p:cNvPr id="47" name="Shape 45"/>
          <p:cNvSpPr/>
          <p:nvPr/>
        </p:nvSpPr>
        <p:spPr>
          <a:xfrm>
            <a:off x="3291840" y="3493008"/>
            <a:ext cx="182880" cy="182880"/>
          </a:xfrm>
          <a:prstGeom prst="ellipse">
            <a:avLst/>
          </a:prstGeom>
          <a:solidFill>
            <a:srgbClr val="D4620A"/>
          </a:solidFill>
          <a:ln w="12700">
            <a:solidFill>
              <a:srgbClr val="D4620A"/>
            </a:solidFill>
            <a:prstDash val="solid"/>
          </a:ln>
        </p:spPr>
      </p:sp>
      <p:sp>
        <p:nvSpPr>
          <p:cNvPr id="48" name="Text 46"/>
          <p:cNvSpPr/>
          <p:nvPr/>
        </p:nvSpPr>
        <p:spPr>
          <a:xfrm>
            <a:off x="3529584" y="3383280"/>
            <a:ext cx="2340864"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II-6 Programación del diseño</a:t>
            </a:r>
            <a:endParaRPr lang="en-US" sz="750" dirty="0"/>
          </a:p>
        </p:txBody>
      </p:sp>
      <p:sp>
        <p:nvSpPr>
          <p:cNvPr id="49" name="Shape 47"/>
          <p:cNvSpPr/>
          <p:nvPr/>
        </p:nvSpPr>
        <p:spPr>
          <a:xfrm>
            <a:off x="3200400" y="3794760"/>
            <a:ext cx="2743200" cy="384048"/>
          </a:xfrm>
          <a:prstGeom prst="roundRect">
            <a:avLst>
              <a:gd name="adj" fmla="val 9524"/>
            </a:avLst>
          </a:prstGeom>
          <a:solidFill>
            <a:srgbClr val="FFFFFF"/>
          </a:solidFill>
          <a:ln w="9525">
            <a:solidFill>
              <a:srgbClr val="E5E5EA"/>
            </a:solidFill>
            <a:prstDash val="solid"/>
          </a:ln>
        </p:spPr>
      </p:sp>
      <p:sp>
        <p:nvSpPr>
          <p:cNvPr id="50" name="Shape 48"/>
          <p:cNvSpPr/>
          <p:nvPr/>
        </p:nvSpPr>
        <p:spPr>
          <a:xfrm>
            <a:off x="3291840" y="3904488"/>
            <a:ext cx="182880" cy="182880"/>
          </a:xfrm>
          <a:prstGeom prst="ellipse">
            <a:avLst/>
          </a:prstGeom>
          <a:solidFill>
            <a:srgbClr val="D4620A"/>
          </a:solidFill>
          <a:ln w="12700">
            <a:solidFill>
              <a:srgbClr val="D4620A"/>
            </a:solidFill>
            <a:prstDash val="solid"/>
          </a:ln>
        </p:spPr>
      </p:sp>
      <p:sp>
        <p:nvSpPr>
          <p:cNvPr id="51" name="Text 49"/>
          <p:cNvSpPr/>
          <p:nvPr/>
        </p:nvSpPr>
        <p:spPr>
          <a:xfrm>
            <a:off x="3529584" y="3794760"/>
            <a:ext cx="2340864"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II-7 Revisión de constructabilidad del diseño</a:t>
            </a:r>
            <a:endParaRPr lang="en-US" sz="750" dirty="0"/>
          </a:p>
        </p:txBody>
      </p:sp>
      <p:sp>
        <p:nvSpPr>
          <p:cNvPr id="52" name="Shape 50"/>
          <p:cNvSpPr/>
          <p:nvPr/>
        </p:nvSpPr>
        <p:spPr>
          <a:xfrm>
            <a:off x="3200400" y="4206240"/>
            <a:ext cx="2743200" cy="384048"/>
          </a:xfrm>
          <a:prstGeom prst="roundRect">
            <a:avLst>
              <a:gd name="adj" fmla="val 9524"/>
            </a:avLst>
          </a:prstGeom>
          <a:solidFill>
            <a:srgbClr val="F8F8FA"/>
          </a:solidFill>
          <a:ln w="9525">
            <a:solidFill>
              <a:srgbClr val="E5E5EA"/>
            </a:solidFill>
            <a:prstDash val="solid"/>
          </a:ln>
        </p:spPr>
      </p:sp>
      <p:sp>
        <p:nvSpPr>
          <p:cNvPr id="53" name="Shape 51"/>
          <p:cNvSpPr/>
          <p:nvPr/>
        </p:nvSpPr>
        <p:spPr>
          <a:xfrm>
            <a:off x="3291840" y="4315968"/>
            <a:ext cx="182880" cy="182880"/>
          </a:xfrm>
          <a:prstGeom prst="ellipse">
            <a:avLst/>
          </a:prstGeom>
          <a:solidFill>
            <a:srgbClr val="D4620A"/>
          </a:solidFill>
          <a:ln w="12700">
            <a:solidFill>
              <a:srgbClr val="D4620A"/>
            </a:solidFill>
            <a:prstDash val="solid"/>
          </a:ln>
        </p:spPr>
      </p:sp>
      <p:sp>
        <p:nvSpPr>
          <p:cNvPr id="54" name="Text 52"/>
          <p:cNvSpPr/>
          <p:nvPr/>
        </p:nvSpPr>
        <p:spPr>
          <a:xfrm>
            <a:off x="3529584" y="4206240"/>
            <a:ext cx="2340864"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II-8 Diseño para la seguridad en construcción</a:t>
            </a:r>
            <a:endParaRPr lang="en-US" sz="750" dirty="0"/>
          </a:p>
        </p:txBody>
      </p:sp>
      <p:sp>
        <p:nvSpPr>
          <p:cNvPr id="55" name="Shape 53"/>
          <p:cNvSpPr/>
          <p:nvPr/>
        </p:nvSpPr>
        <p:spPr>
          <a:xfrm>
            <a:off x="6080760" y="841248"/>
            <a:ext cx="2743200" cy="411480"/>
          </a:xfrm>
          <a:prstGeom prst="roundRect">
            <a:avLst>
              <a:gd name="adj" fmla="val 15556"/>
            </a:avLst>
          </a:prstGeom>
          <a:solidFill>
            <a:srgbClr val="8E44AD"/>
          </a:solidFill>
          <a:ln w="12700">
            <a:solidFill>
              <a:srgbClr val="8E44AD"/>
            </a:solidFill>
            <a:prstDash val="solid"/>
          </a:ln>
        </p:spPr>
      </p:sp>
      <p:sp>
        <p:nvSpPr>
          <p:cNvPr id="56" name="Text 54"/>
          <p:cNvSpPr/>
          <p:nvPr/>
        </p:nvSpPr>
        <p:spPr>
          <a:xfrm>
            <a:off x="6153912" y="841248"/>
            <a:ext cx="2606040" cy="411480"/>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FASE III: Operaciones</a:t>
            </a:r>
            <a:endParaRPr lang="en-US" sz="800" dirty="0"/>
          </a:p>
        </p:txBody>
      </p:sp>
      <p:sp>
        <p:nvSpPr>
          <p:cNvPr id="57" name="Shape 55"/>
          <p:cNvSpPr/>
          <p:nvPr/>
        </p:nvSpPr>
        <p:spPr>
          <a:xfrm>
            <a:off x="6080760" y="1325880"/>
            <a:ext cx="2743200" cy="384048"/>
          </a:xfrm>
          <a:prstGeom prst="roundRect">
            <a:avLst>
              <a:gd name="adj" fmla="val 9524"/>
            </a:avLst>
          </a:prstGeom>
          <a:solidFill>
            <a:srgbClr val="FFFFFF"/>
          </a:solidFill>
          <a:ln w="9525">
            <a:solidFill>
              <a:srgbClr val="E5E5EA"/>
            </a:solidFill>
            <a:prstDash val="solid"/>
          </a:ln>
        </p:spPr>
      </p:sp>
      <p:sp>
        <p:nvSpPr>
          <p:cNvPr id="58" name="Shape 56"/>
          <p:cNvSpPr/>
          <p:nvPr/>
        </p:nvSpPr>
        <p:spPr>
          <a:xfrm>
            <a:off x="6172200" y="1435608"/>
            <a:ext cx="182880" cy="182880"/>
          </a:xfrm>
          <a:prstGeom prst="ellipse">
            <a:avLst/>
          </a:prstGeom>
          <a:solidFill>
            <a:srgbClr val="8E44AD"/>
          </a:solidFill>
          <a:ln w="12700">
            <a:solidFill>
              <a:srgbClr val="8E44AD"/>
            </a:solidFill>
            <a:prstDash val="solid"/>
          </a:ln>
        </p:spPr>
      </p:sp>
      <p:sp>
        <p:nvSpPr>
          <p:cNvPr id="59" name="Text 57"/>
          <p:cNvSpPr/>
          <p:nvPr/>
        </p:nvSpPr>
        <p:spPr>
          <a:xfrm>
            <a:off x="6409944" y="1325880"/>
            <a:ext cx="2340864"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III-1 Métodos y secuencia de construcción innovadores</a:t>
            </a:r>
            <a:endParaRPr lang="en-US" sz="750" dirty="0"/>
          </a:p>
        </p:txBody>
      </p:sp>
      <p:sp>
        <p:nvSpPr>
          <p:cNvPr id="60" name="Shape 58"/>
          <p:cNvSpPr/>
          <p:nvPr/>
        </p:nvSpPr>
        <p:spPr>
          <a:xfrm>
            <a:off x="6080760" y="1737360"/>
            <a:ext cx="2743200" cy="384048"/>
          </a:xfrm>
          <a:prstGeom prst="roundRect">
            <a:avLst>
              <a:gd name="adj" fmla="val 9524"/>
            </a:avLst>
          </a:prstGeom>
          <a:solidFill>
            <a:srgbClr val="F8F8FA"/>
          </a:solidFill>
          <a:ln w="9525">
            <a:solidFill>
              <a:srgbClr val="E5E5EA"/>
            </a:solidFill>
            <a:prstDash val="solid"/>
          </a:ln>
        </p:spPr>
      </p:sp>
      <p:sp>
        <p:nvSpPr>
          <p:cNvPr id="61" name="Shape 59"/>
          <p:cNvSpPr/>
          <p:nvPr/>
        </p:nvSpPr>
        <p:spPr>
          <a:xfrm>
            <a:off x="6172200" y="1847088"/>
            <a:ext cx="182880" cy="182880"/>
          </a:xfrm>
          <a:prstGeom prst="ellipse">
            <a:avLst/>
          </a:prstGeom>
          <a:solidFill>
            <a:srgbClr val="8E44AD"/>
          </a:solidFill>
          <a:ln w="12700">
            <a:solidFill>
              <a:srgbClr val="8E44AD"/>
            </a:solidFill>
            <a:prstDash val="solid"/>
          </a:ln>
        </p:spPr>
      </p:sp>
      <p:sp>
        <p:nvSpPr>
          <p:cNvPr id="62" name="Text 60"/>
          <p:cNvSpPr/>
          <p:nvPr/>
        </p:nvSpPr>
        <p:spPr>
          <a:xfrm>
            <a:off x="6409944" y="1737360"/>
            <a:ext cx="2340864"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III-2 Productividad de la fuerza laboral</a:t>
            </a:r>
            <a:endParaRPr lang="en-US" sz="750" dirty="0"/>
          </a:p>
        </p:txBody>
      </p:sp>
      <p:sp>
        <p:nvSpPr>
          <p:cNvPr id="63" name="Shape 61"/>
          <p:cNvSpPr/>
          <p:nvPr/>
        </p:nvSpPr>
        <p:spPr>
          <a:xfrm>
            <a:off x="6080760" y="2148840"/>
            <a:ext cx="2743200" cy="384048"/>
          </a:xfrm>
          <a:prstGeom prst="roundRect">
            <a:avLst>
              <a:gd name="adj" fmla="val 9524"/>
            </a:avLst>
          </a:prstGeom>
          <a:solidFill>
            <a:srgbClr val="FFFFFF"/>
          </a:solidFill>
          <a:ln w="9525">
            <a:solidFill>
              <a:srgbClr val="E5E5EA"/>
            </a:solidFill>
            <a:prstDash val="solid"/>
          </a:ln>
        </p:spPr>
      </p:sp>
      <p:sp>
        <p:nvSpPr>
          <p:cNvPr id="64" name="Shape 62"/>
          <p:cNvSpPr/>
          <p:nvPr/>
        </p:nvSpPr>
        <p:spPr>
          <a:xfrm>
            <a:off x="6172200" y="2258568"/>
            <a:ext cx="182880" cy="182880"/>
          </a:xfrm>
          <a:prstGeom prst="ellipse">
            <a:avLst/>
          </a:prstGeom>
          <a:solidFill>
            <a:srgbClr val="8E44AD"/>
          </a:solidFill>
          <a:ln w="12700">
            <a:solidFill>
              <a:srgbClr val="8E44AD"/>
            </a:solidFill>
            <a:prstDash val="solid"/>
          </a:ln>
        </p:spPr>
      </p:sp>
      <p:sp>
        <p:nvSpPr>
          <p:cNvPr id="65" name="Text 63"/>
          <p:cNvSpPr/>
          <p:nvPr/>
        </p:nvSpPr>
        <p:spPr>
          <a:xfrm>
            <a:off x="6409944" y="2148840"/>
            <a:ext cx="2340864"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III-3 Advanced Work Packaging (AWP)</a:t>
            </a:r>
            <a:endParaRPr lang="en-US" sz="750" dirty="0"/>
          </a:p>
        </p:txBody>
      </p:sp>
      <p:sp>
        <p:nvSpPr>
          <p:cNvPr id="66" name="Shape 64"/>
          <p:cNvSpPr/>
          <p:nvPr/>
        </p:nvSpPr>
        <p:spPr>
          <a:xfrm>
            <a:off x="182880" y="4956048"/>
            <a:ext cx="8961120" cy="182880"/>
          </a:xfrm>
          <a:prstGeom prst="rect">
            <a:avLst/>
          </a:prstGeom>
          <a:solidFill>
            <a:srgbClr val="0E9E9E"/>
          </a:solidFill>
          <a:ln w="12700">
            <a:solidFill>
              <a:srgbClr val="0E9E9E"/>
            </a:solidFill>
            <a:prstDash val="solid"/>
          </a:ln>
        </p:spPr>
      </p:sp>
      <p:sp>
        <p:nvSpPr>
          <p:cNvPr id="67" name="Text 65"/>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13 / 126</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E9E9E"/>
          </a:solidFill>
          <a:ln w="12700">
            <a:solidFill>
              <a:srgbClr val="0E9E9E"/>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Investigación CII — Datos Clave</a:t>
            </a:r>
            <a:endParaRPr lang="en-US" sz="1800" dirty="0"/>
          </a:p>
        </p:txBody>
      </p:sp>
      <p:sp>
        <p:nvSpPr>
          <p:cNvPr id="4" name="Shape 2"/>
          <p:cNvSpPr/>
          <p:nvPr/>
        </p:nvSpPr>
        <p:spPr>
          <a:xfrm>
            <a:off x="320040" y="640080"/>
            <a:ext cx="8503920" cy="41148"/>
          </a:xfrm>
          <a:prstGeom prst="rect">
            <a:avLst/>
          </a:prstGeom>
          <a:solidFill>
            <a:srgbClr val="0E9E9E"/>
          </a:solidFill>
          <a:ln w="12700">
            <a:solidFill>
              <a:srgbClr val="0E9E9E"/>
            </a:solidFill>
            <a:prstDash val="solid"/>
          </a:ln>
        </p:spPr>
      </p:sp>
      <p:sp>
        <p:nvSpPr>
          <p:cNvPr id="5" name="Shape 3"/>
          <p:cNvSpPr/>
          <p:nvPr/>
        </p:nvSpPr>
        <p:spPr>
          <a:xfrm>
            <a:off x="320040" y="960120"/>
            <a:ext cx="2560320" cy="3474720"/>
          </a:xfrm>
          <a:prstGeom prst="roundRect">
            <a:avLst>
              <a:gd name="adj" fmla="val 4286"/>
            </a:avLst>
          </a:prstGeom>
          <a:solidFill>
            <a:srgbClr val="FFFFFF"/>
          </a:solidFill>
          <a:ln w="25400">
            <a:solidFill>
              <a:srgbClr val="0E9E9E"/>
            </a:solidFill>
            <a:prstDash val="solid"/>
          </a:ln>
        </p:spPr>
      </p:sp>
      <p:sp>
        <p:nvSpPr>
          <p:cNvPr id="6" name="Shape 4"/>
          <p:cNvSpPr/>
          <p:nvPr/>
        </p:nvSpPr>
        <p:spPr>
          <a:xfrm>
            <a:off x="320040" y="960120"/>
            <a:ext cx="2560320" cy="73152"/>
          </a:xfrm>
          <a:prstGeom prst="rect">
            <a:avLst/>
          </a:prstGeom>
          <a:solidFill>
            <a:srgbClr val="0E9E9E"/>
          </a:solidFill>
          <a:ln w="12700">
            <a:solidFill>
              <a:srgbClr val="0E9E9E"/>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80160" y="1170432"/>
            <a:ext cx="640080" cy="640080"/>
          </a:xfrm>
          <a:prstGeom prst="rect">
            <a:avLst/>
          </a:prstGeom>
        </p:spPr>
      </p:pic>
      <p:sp>
        <p:nvSpPr>
          <p:cNvPr id="8" name="Text 5"/>
          <p:cNvSpPr/>
          <p:nvPr/>
        </p:nvSpPr>
        <p:spPr>
          <a:xfrm>
            <a:off x="411480" y="1920240"/>
            <a:ext cx="2377440" cy="914400"/>
          </a:xfrm>
          <a:prstGeom prst="rect">
            <a:avLst/>
          </a:prstGeom>
          <a:noFill/>
          <a:ln/>
        </p:spPr>
        <p:txBody>
          <a:bodyPr wrap="square" rtlCol="0" anchor="ctr"/>
          <a:lstStyle/>
          <a:p>
            <a:pPr algn="ctr" indent="0" marL="0">
              <a:buNone/>
            </a:pPr>
            <a:r>
              <a:rPr lang="en-US" sz="3200" b="1" dirty="0">
                <a:solidFill>
                  <a:srgbClr val="0E9E9E"/>
                </a:solidFill>
                <a:latin typeface="Atkinson Hyperlegible" pitchFamily="34" charset="0"/>
                <a:ea typeface="Atkinson Hyperlegible" pitchFamily="34" charset="-122"/>
                <a:cs typeface="Atkinson Hyperlegible" pitchFamily="34" charset="-120"/>
              </a:rPr>
              <a:t>&gt;100</a:t>
            </a:r>
            <a:endParaRPr lang="en-US" sz="3200" dirty="0"/>
          </a:p>
        </p:txBody>
      </p:sp>
      <p:sp>
        <p:nvSpPr>
          <p:cNvPr id="9" name="Shape 6"/>
          <p:cNvSpPr/>
          <p:nvPr/>
        </p:nvSpPr>
        <p:spPr>
          <a:xfrm>
            <a:off x="832104" y="2880360"/>
            <a:ext cx="1536192" cy="36576"/>
          </a:xfrm>
          <a:prstGeom prst="rect">
            <a:avLst/>
          </a:prstGeom>
          <a:solidFill>
            <a:srgbClr val="0E9E9E"/>
          </a:solidFill>
          <a:ln w="12700">
            <a:solidFill>
              <a:srgbClr val="0E9E9E"/>
            </a:solidFill>
            <a:prstDash val="solid"/>
          </a:ln>
        </p:spPr>
      </p:sp>
      <p:sp>
        <p:nvSpPr>
          <p:cNvPr id="10" name="Text 7"/>
          <p:cNvSpPr/>
          <p:nvPr/>
        </p:nvSpPr>
        <p:spPr>
          <a:xfrm>
            <a:off x="411480" y="2971800"/>
            <a:ext cx="2377440" cy="457200"/>
          </a:xfrm>
          <a:prstGeom prst="rect">
            <a:avLst/>
          </a:prstGeom>
          <a:noFill/>
          <a:ln/>
        </p:spPr>
        <p:txBody>
          <a:bodyPr wrap="square" rtlCol="0" anchor="ctr"/>
          <a:lstStyle/>
          <a:p>
            <a:pPr algn="ct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Proyectos Analizados</a:t>
            </a:r>
            <a:endParaRPr lang="en-US" sz="900" dirty="0"/>
          </a:p>
        </p:txBody>
      </p:sp>
      <p:sp>
        <p:nvSpPr>
          <p:cNvPr id="11" name="Text 8"/>
          <p:cNvSpPr/>
          <p:nvPr/>
        </p:nvSpPr>
        <p:spPr>
          <a:xfrm>
            <a:off x="411480" y="3456432"/>
            <a:ext cx="2377440" cy="822960"/>
          </a:xfrm>
          <a:prstGeom prst="rect">
            <a:avLst/>
          </a:prstGeom>
          <a:noFill/>
          <a:ln/>
        </p:spPr>
        <p:txBody>
          <a:bodyPr wrap="square" rtlCol="0" anchor="ctr"/>
          <a:lstStyle/>
          <a:p>
            <a:pPr algn="ctr" indent="0" marL="0">
              <a:buNone/>
            </a:pPr>
            <a:r>
              <a:rPr lang="en-US" sz="700" dirty="0">
                <a:solidFill>
                  <a:srgbClr val="8E8E93"/>
                </a:solidFill>
                <a:latin typeface="Atkinson Hyperlegible" pitchFamily="34" charset="0"/>
                <a:ea typeface="Atkinson Hyperlegible" pitchFamily="34" charset="-122"/>
                <a:cs typeface="Atkinson Hyperlegible" pitchFamily="34" charset="-120"/>
              </a:rPr>
              <a:t>Base de datos CII incluye proyectos industriales de todo el mundo para validar sus guías.</a:t>
            </a:r>
            <a:endParaRPr lang="en-US" sz="700" dirty="0"/>
          </a:p>
        </p:txBody>
      </p:sp>
      <p:sp>
        <p:nvSpPr>
          <p:cNvPr id="12" name="Shape 9"/>
          <p:cNvSpPr/>
          <p:nvPr/>
        </p:nvSpPr>
        <p:spPr>
          <a:xfrm>
            <a:off x="3291840" y="960120"/>
            <a:ext cx="2560320" cy="3474720"/>
          </a:xfrm>
          <a:prstGeom prst="roundRect">
            <a:avLst>
              <a:gd name="adj" fmla="val 4286"/>
            </a:avLst>
          </a:prstGeom>
          <a:solidFill>
            <a:srgbClr val="FFFFFF"/>
          </a:solidFill>
          <a:ln w="25400">
            <a:solidFill>
              <a:srgbClr val="0E9E9E"/>
            </a:solidFill>
            <a:prstDash val="solid"/>
          </a:ln>
        </p:spPr>
      </p:sp>
      <p:sp>
        <p:nvSpPr>
          <p:cNvPr id="13" name="Shape 10"/>
          <p:cNvSpPr/>
          <p:nvPr/>
        </p:nvSpPr>
        <p:spPr>
          <a:xfrm>
            <a:off x="3291840" y="960120"/>
            <a:ext cx="2560320" cy="73152"/>
          </a:xfrm>
          <a:prstGeom prst="rect">
            <a:avLst/>
          </a:prstGeom>
          <a:solidFill>
            <a:srgbClr val="0E9E9E"/>
          </a:solidFill>
          <a:ln w="12700">
            <a:solidFill>
              <a:srgbClr val="0E9E9E"/>
            </a:solidFill>
            <a:prstDash val="solid"/>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51960" y="1170432"/>
            <a:ext cx="640080" cy="640080"/>
          </a:xfrm>
          <a:prstGeom prst="rect">
            <a:avLst/>
          </a:prstGeom>
        </p:spPr>
      </p:pic>
      <p:sp>
        <p:nvSpPr>
          <p:cNvPr id="15" name="Text 11"/>
          <p:cNvSpPr/>
          <p:nvPr/>
        </p:nvSpPr>
        <p:spPr>
          <a:xfrm>
            <a:off x="3383280" y="1920240"/>
            <a:ext cx="2377440" cy="914400"/>
          </a:xfrm>
          <a:prstGeom prst="rect">
            <a:avLst/>
          </a:prstGeom>
          <a:noFill/>
          <a:ln/>
        </p:spPr>
        <p:txBody>
          <a:bodyPr wrap="square" rtlCol="0" anchor="ctr"/>
          <a:lstStyle/>
          <a:p>
            <a:pPr algn="ctr" indent="0" marL="0">
              <a:buNone/>
            </a:pPr>
            <a:r>
              <a:rPr lang="en-US" sz="3200" b="1" dirty="0">
                <a:solidFill>
                  <a:srgbClr val="0E9E9E"/>
                </a:solidFill>
                <a:latin typeface="Atkinson Hyperlegible" pitchFamily="34" charset="0"/>
                <a:ea typeface="Atkinson Hyperlegible" pitchFamily="34" charset="-122"/>
                <a:cs typeface="Atkinson Hyperlegible" pitchFamily="34" charset="-120"/>
              </a:rPr>
              <a:t>75:1</a:t>
            </a:r>
            <a:endParaRPr lang="en-US" sz="3200" dirty="0"/>
          </a:p>
        </p:txBody>
      </p:sp>
      <p:sp>
        <p:nvSpPr>
          <p:cNvPr id="16" name="Shape 12"/>
          <p:cNvSpPr/>
          <p:nvPr/>
        </p:nvSpPr>
        <p:spPr>
          <a:xfrm>
            <a:off x="3803904" y="2880360"/>
            <a:ext cx="1536192" cy="36576"/>
          </a:xfrm>
          <a:prstGeom prst="rect">
            <a:avLst/>
          </a:prstGeom>
          <a:solidFill>
            <a:srgbClr val="0E9E9E"/>
          </a:solidFill>
          <a:ln w="12700">
            <a:solidFill>
              <a:srgbClr val="0E9E9E"/>
            </a:solidFill>
            <a:prstDash val="solid"/>
          </a:ln>
        </p:spPr>
      </p:sp>
      <p:sp>
        <p:nvSpPr>
          <p:cNvPr id="17" name="Text 13"/>
          <p:cNvSpPr/>
          <p:nvPr/>
        </p:nvSpPr>
        <p:spPr>
          <a:xfrm>
            <a:off x="3383280" y="2971800"/>
            <a:ext cx="2377440" cy="457200"/>
          </a:xfrm>
          <a:prstGeom prst="rect">
            <a:avLst/>
          </a:prstGeom>
          <a:noFill/>
          <a:ln/>
        </p:spPr>
        <p:txBody>
          <a:bodyPr wrap="square" rtlCol="0" anchor="ctr"/>
          <a:lstStyle/>
          <a:p>
            <a:pPr algn="ct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ROI Máximo Documentado</a:t>
            </a:r>
            <a:endParaRPr lang="en-US" sz="900" dirty="0"/>
          </a:p>
        </p:txBody>
      </p:sp>
      <p:sp>
        <p:nvSpPr>
          <p:cNvPr id="18" name="Text 14"/>
          <p:cNvSpPr/>
          <p:nvPr/>
        </p:nvSpPr>
        <p:spPr>
          <a:xfrm>
            <a:off x="3383280" y="3456432"/>
            <a:ext cx="2377440" cy="822960"/>
          </a:xfrm>
          <a:prstGeom prst="rect">
            <a:avLst/>
          </a:prstGeom>
          <a:noFill/>
          <a:ln/>
        </p:spPr>
        <p:txBody>
          <a:bodyPr wrap="square" rtlCol="0" anchor="ctr"/>
          <a:lstStyle/>
          <a:p>
            <a:pPr algn="ctr" indent="0" marL="0">
              <a:buNone/>
            </a:pPr>
            <a:r>
              <a:rPr lang="en-US" sz="700" dirty="0">
                <a:solidFill>
                  <a:srgbClr val="8E8E93"/>
                </a:solidFill>
                <a:latin typeface="Atkinson Hyperlegible" pitchFamily="34" charset="0"/>
                <a:ea typeface="Atkinson Hyperlegible" pitchFamily="34" charset="-122"/>
                <a:cs typeface="Atkinson Hyperlegible" pitchFamily="34" charset="-120"/>
              </a:rPr>
              <a:t>En proyectos con programas de constructabilidad maduros. Promedio del portafolio: 15:1.</a:t>
            </a:r>
            <a:endParaRPr lang="en-US" sz="700" dirty="0"/>
          </a:p>
        </p:txBody>
      </p:sp>
      <p:sp>
        <p:nvSpPr>
          <p:cNvPr id="19" name="Shape 15"/>
          <p:cNvSpPr/>
          <p:nvPr/>
        </p:nvSpPr>
        <p:spPr>
          <a:xfrm>
            <a:off x="6263640" y="960120"/>
            <a:ext cx="2560320" cy="3474720"/>
          </a:xfrm>
          <a:prstGeom prst="roundRect">
            <a:avLst>
              <a:gd name="adj" fmla="val 4286"/>
            </a:avLst>
          </a:prstGeom>
          <a:solidFill>
            <a:srgbClr val="FFFFFF"/>
          </a:solidFill>
          <a:ln w="25400">
            <a:solidFill>
              <a:srgbClr val="0E9E9E"/>
            </a:solidFill>
            <a:prstDash val="solid"/>
          </a:ln>
        </p:spPr>
      </p:sp>
      <p:sp>
        <p:nvSpPr>
          <p:cNvPr id="20" name="Shape 16"/>
          <p:cNvSpPr/>
          <p:nvPr/>
        </p:nvSpPr>
        <p:spPr>
          <a:xfrm>
            <a:off x="6263640" y="960120"/>
            <a:ext cx="2560320" cy="73152"/>
          </a:xfrm>
          <a:prstGeom prst="rect">
            <a:avLst/>
          </a:prstGeom>
          <a:solidFill>
            <a:srgbClr val="0E9E9E"/>
          </a:solidFill>
          <a:ln w="12700">
            <a:solidFill>
              <a:srgbClr val="0E9E9E"/>
            </a:solidFill>
            <a:prstDash val="solid"/>
          </a:ln>
        </p:spPr>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23760" y="1170432"/>
            <a:ext cx="640080" cy="640080"/>
          </a:xfrm>
          <a:prstGeom prst="rect">
            <a:avLst/>
          </a:prstGeom>
        </p:spPr>
      </p:pic>
      <p:sp>
        <p:nvSpPr>
          <p:cNvPr id="22" name="Text 17"/>
          <p:cNvSpPr/>
          <p:nvPr/>
        </p:nvSpPr>
        <p:spPr>
          <a:xfrm>
            <a:off x="6355080" y="1920240"/>
            <a:ext cx="2377440" cy="914400"/>
          </a:xfrm>
          <a:prstGeom prst="rect">
            <a:avLst/>
          </a:prstGeom>
          <a:noFill/>
          <a:ln/>
        </p:spPr>
        <p:txBody>
          <a:bodyPr wrap="square" rtlCol="0" anchor="ctr"/>
          <a:lstStyle/>
          <a:p>
            <a:pPr algn="ctr" indent="0" marL="0">
              <a:buNone/>
            </a:pPr>
            <a:r>
              <a:rPr lang="en-US" sz="3200" b="1" dirty="0">
                <a:solidFill>
                  <a:srgbClr val="0E9E9E"/>
                </a:solidFill>
                <a:latin typeface="Atkinson Hyperlegible" pitchFamily="34" charset="0"/>
                <a:ea typeface="Atkinson Hyperlegible" pitchFamily="34" charset="-122"/>
                <a:cs typeface="Atkinson Hyperlegible" pitchFamily="34" charset="-120"/>
              </a:rPr>
              <a:t>30–40%</a:t>
            </a:r>
            <a:endParaRPr lang="en-US" sz="3200" dirty="0"/>
          </a:p>
        </p:txBody>
      </p:sp>
      <p:sp>
        <p:nvSpPr>
          <p:cNvPr id="23" name="Shape 18"/>
          <p:cNvSpPr/>
          <p:nvPr/>
        </p:nvSpPr>
        <p:spPr>
          <a:xfrm>
            <a:off x="6775704" y="2880360"/>
            <a:ext cx="1536192" cy="36576"/>
          </a:xfrm>
          <a:prstGeom prst="rect">
            <a:avLst/>
          </a:prstGeom>
          <a:solidFill>
            <a:srgbClr val="0E9E9E"/>
          </a:solidFill>
          <a:ln w="12700">
            <a:solidFill>
              <a:srgbClr val="0E9E9E"/>
            </a:solidFill>
            <a:prstDash val="solid"/>
          </a:ln>
        </p:spPr>
      </p:sp>
      <p:sp>
        <p:nvSpPr>
          <p:cNvPr id="24" name="Text 19"/>
          <p:cNvSpPr/>
          <p:nvPr/>
        </p:nvSpPr>
        <p:spPr>
          <a:xfrm>
            <a:off x="6355080" y="2971800"/>
            <a:ext cx="2377440" cy="457200"/>
          </a:xfrm>
          <a:prstGeom prst="rect">
            <a:avLst/>
          </a:prstGeom>
          <a:noFill/>
          <a:ln/>
        </p:spPr>
        <p:txBody>
          <a:bodyPr wrap="square" rtlCol="0" anchor="ctr"/>
          <a:lstStyle/>
          <a:p>
            <a:pPr algn="ct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Menos Cambios en Campo</a:t>
            </a:r>
            <a:endParaRPr lang="en-US" sz="900" dirty="0"/>
          </a:p>
        </p:txBody>
      </p:sp>
      <p:sp>
        <p:nvSpPr>
          <p:cNvPr id="25" name="Text 20"/>
          <p:cNvSpPr/>
          <p:nvPr/>
        </p:nvSpPr>
        <p:spPr>
          <a:xfrm>
            <a:off x="6355080" y="3456432"/>
            <a:ext cx="2377440" cy="822960"/>
          </a:xfrm>
          <a:prstGeom prst="rect">
            <a:avLst/>
          </a:prstGeom>
          <a:noFill/>
          <a:ln/>
        </p:spPr>
        <p:txBody>
          <a:bodyPr wrap="square" rtlCol="0" anchor="ctr"/>
          <a:lstStyle/>
          <a:p>
            <a:pPr algn="ctr" indent="0" marL="0">
              <a:buNone/>
            </a:pPr>
            <a:r>
              <a:rPr lang="en-US" sz="700" dirty="0">
                <a:solidFill>
                  <a:srgbClr val="8E8E93"/>
                </a:solidFill>
                <a:latin typeface="Atkinson Hyperlegible" pitchFamily="34" charset="0"/>
                <a:ea typeface="Atkinson Hyperlegible" pitchFamily="34" charset="-122"/>
                <a:cs typeface="Atkinson Hyperlegible" pitchFamily="34" charset="-120"/>
              </a:rPr>
              <a:t>Proyectos con constructabilidad formal reportan 30-40% menos Change Orders vs. proyectos sin programa.</a:t>
            </a:r>
            <a:endParaRPr lang="en-US" sz="700" dirty="0"/>
          </a:p>
        </p:txBody>
      </p:sp>
      <p:sp>
        <p:nvSpPr>
          <p:cNvPr id="26" name="Shape 21"/>
          <p:cNvSpPr/>
          <p:nvPr/>
        </p:nvSpPr>
        <p:spPr>
          <a:xfrm>
            <a:off x="182880" y="4956048"/>
            <a:ext cx="8961120" cy="182880"/>
          </a:xfrm>
          <a:prstGeom prst="rect">
            <a:avLst/>
          </a:prstGeom>
          <a:solidFill>
            <a:srgbClr val="0E9E9E"/>
          </a:solidFill>
          <a:ln w="12700">
            <a:solidFill>
              <a:srgbClr val="0E9E9E"/>
            </a:solidFill>
            <a:prstDash val="solid"/>
          </a:ln>
        </p:spPr>
      </p:sp>
      <p:sp>
        <p:nvSpPr>
          <p:cNvPr id="27" name="Text 22"/>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14 / 126</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E9E9E"/>
          </a:solidFill>
          <a:ln w="12700">
            <a:solidFill>
              <a:srgbClr val="0E9E9E"/>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Estructura del SP 34-1 — Guía de Implementación CII</a:t>
            </a:r>
            <a:endParaRPr lang="en-US" sz="1800" dirty="0"/>
          </a:p>
        </p:txBody>
      </p:sp>
      <p:sp>
        <p:nvSpPr>
          <p:cNvPr id="4" name="Shape 2"/>
          <p:cNvSpPr/>
          <p:nvPr/>
        </p:nvSpPr>
        <p:spPr>
          <a:xfrm>
            <a:off x="320040" y="640080"/>
            <a:ext cx="8503920" cy="41148"/>
          </a:xfrm>
          <a:prstGeom prst="rect">
            <a:avLst/>
          </a:prstGeom>
          <a:solidFill>
            <a:srgbClr val="0E9E9E"/>
          </a:solidFill>
          <a:ln w="12700">
            <a:solidFill>
              <a:srgbClr val="0E9E9E"/>
            </a:solidFill>
            <a:prstDash val="solid"/>
          </a:ln>
        </p:spPr>
      </p:sp>
      <p:sp>
        <p:nvSpPr>
          <p:cNvPr id="5" name="Shape 3"/>
          <p:cNvSpPr/>
          <p:nvPr/>
        </p:nvSpPr>
        <p:spPr>
          <a:xfrm>
            <a:off x="3291840" y="914400"/>
            <a:ext cx="2560320" cy="566928"/>
          </a:xfrm>
          <a:prstGeom prst="roundRect">
            <a:avLst>
              <a:gd name="adj" fmla="val 12903"/>
            </a:avLst>
          </a:prstGeom>
          <a:solidFill>
            <a:srgbClr val="0E9E9E"/>
          </a:solidFill>
          <a:ln w="12700">
            <a:solidFill>
              <a:srgbClr val="0E9E9E"/>
            </a:solidFill>
            <a:prstDash val="solid"/>
          </a:ln>
        </p:spPr>
      </p:sp>
      <p:sp>
        <p:nvSpPr>
          <p:cNvPr id="6" name="Text 4"/>
          <p:cNvSpPr/>
          <p:nvPr/>
        </p:nvSpPr>
        <p:spPr>
          <a:xfrm>
            <a:off x="3291840" y="914400"/>
            <a:ext cx="2560320" cy="566928"/>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SP 34-1: Constructability Implementation Guide</a:t>
            </a:r>
            <a:endParaRPr lang="en-US" sz="900" dirty="0"/>
          </a:p>
        </p:txBody>
      </p:sp>
      <p:sp>
        <p:nvSpPr>
          <p:cNvPr id="7" name="Shape 5"/>
          <p:cNvSpPr/>
          <p:nvPr/>
        </p:nvSpPr>
        <p:spPr>
          <a:xfrm>
            <a:off x="4572000" y="1481328"/>
            <a:ext cx="18288" cy="274320"/>
          </a:xfrm>
          <a:prstGeom prst="line">
            <a:avLst/>
          </a:prstGeom>
          <a:noFill/>
          <a:ln w="19050">
            <a:solidFill>
              <a:srgbClr val="0E9E9E"/>
            </a:solidFill>
            <a:prstDash val="solid"/>
          </a:ln>
        </p:spPr>
      </p:sp>
      <p:sp>
        <p:nvSpPr>
          <p:cNvPr id="8" name="Shape 6"/>
          <p:cNvSpPr/>
          <p:nvPr/>
        </p:nvSpPr>
        <p:spPr>
          <a:xfrm>
            <a:off x="1207008" y="1755648"/>
            <a:ext cx="6729984" cy="18288"/>
          </a:xfrm>
          <a:prstGeom prst="line">
            <a:avLst/>
          </a:prstGeom>
          <a:noFill/>
          <a:ln w="19050">
            <a:solidFill>
              <a:srgbClr val="0E9E9E"/>
            </a:solidFill>
            <a:prstDash val="solid"/>
          </a:ln>
        </p:spPr>
      </p:sp>
      <p:sp>
        <p:nvSpPr>
          <p:cNvPr id="9" name="Shape 7"/>
          <p:cNvSpPr/>
          <p:nvPr/>
        </p:nvSpPr>
        <p:spPr>
          <a:xfrm>
            <a:off x="1207008" y="1755648"/>
            <a:ext cx="18288" cy="164592"/>
          </a:xfrm>
          <a:prstGeom prst="line">
            <a:avLst/>
          </a:prstGeom>
          <a:noFill/>
          <a:ln w="19050">
            <a:solidFill>
              <a:srgbClr val="0E9E9E"/>
            </a:solidFill>
            <a:prstDash val="solid"/>
          </a:ln>
        </p:spPr>
      </p:sp>
      <p:sp>
        <p:nvSpPr>
          <p:cNvPr id="10" name="Shape 8"/>
          <p:cNvSpPr/>
          <p:nvPr/>
        </p:nvSpPr>
        <p:spPr>
          <a:xfrm>
            <a:off x="457200" y="1920240"/>
            <a:ext cx="1499616" cy="530352"/>
          </a:xfrm>
          <a:prstGeom prst="roundRect">
            <a:avLst>
              <a:gd name="adj" fmla="val 12069"/>
            </a:avLst>
          </a:prstGeom>
          <a:solidFill>
            <a:srgbClr val="0E9E9E"/>
          </a:solidFill>
          <a:ln w="19050">
            <a:solidFill>
              <a:srgbClr val="0E9E9E"/>
            </a:solidFill>
            <a:prstDash val="solid"/>
          </a:ln>
        </p:spPr>
      </p:sp>
      <p:sp>
        <p:nvSpPr>
          <p:cNvPr id="11" name="Text 9"/>
          <p:cNvSpPr/>
          <p:nvPr/>
        </p:nvSpPr>
        <p:spPr>
          <a:xfrm>
            <a:off x="502920" y="1920240"/>
            <a:ext cx="1408176" cy="53035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Sección 1</a:t>
            </a:r>
            <a:endParaRPr lang="en-US" sz="750" dirty="0"/>
          </a:p>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Conceptos Fundamentales</a:t>
            </a:r>
            <a:endParaRPr lang="en-US" sz="750" dirty="0"/>
          </a:p>
        </p:txBody>
      </p:sp>
      <p:sp>
        <p:nvSpPr>
          <p:cNvPr id="12" name="Shape 10"/>
          <p:cNvSpPr/>
          <p:nvPr/>
        </p:nvSpPr>
        <p:spPr>
          <a:xfrm>
            <a:off x="2889504" y="1755648"/>
            <a:ext cx="18288" cy="164592"/>
          </a:xfrm>
          <a:prstGeom prst="line">
            <a:avLst/>
          </a:prstGeom>
          <a:noFill/>
          <a:ln w="19050">
            <a:solidFill>
              <a:srgbClr val="0E9E9E"/>
            </a:solidFill>
            <a:prstDash val="solid"/>
          </a:ln>
        </p:spPr>
      </p:sp>
      <p:sp>
        <p:nvSpPr>
          <p:cNvPr id="13" name="Shape 11"/>
          <p:cNvSpPr/>
          <p:nvPr/>
        </p:nvSpPr>
        <p:spPr>
          <a:xfrm>
            <a:off x="2139696" y="1920240"/>
            <a:ext cx="1499616" cy="530352"/>
          </a:xfrm>
          <a:prstGeom prst="roundRect">
            <a:avLst>
              <a:gd name="adj" fmla="val 12069"/>
            </a:avLst>
          </a:prstGeom>
          <a:solidFill>
            <a:srgbClr val="E5E5EA"/>
          </a:solidFill>
          <a:ln w="19050">
            <a:solidFill>
              <a:srgbClr val="0E9E9E"/>
            </a:solidFill>
            <a:prstDash val="solid"/>
          </a:ln>
        </p:spPr>
      </p:sp>
      <p:sp>
        <p:nvSpPr>
          <p:cNvPr id="14" name="Text 12"/>
          <p:cNvSpPr/>
          <p:nvPr/>
        </p:nvSpPr>
        <p:spPr>
          <a:xfrm>
            <a:off x="2185416" y="1920240"/>
            <a:ext cx="1408176" cy="530352"/>
          </a:xfrm>
          <a:prstGeom prst="rect">
            <a:avLst/>
          </a:prstGeom>
          <a:noFill/>
          <a:ln/>
        </p:spPr>
        <p:txBody>
          <a:bodyPr wrap="square" rtlCol="0" anchor="ctr"/>
          <a:lstStyle/>
          <a:p>
            <a:pPr algn="ct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Sección 2</a:t>
            </a:r>
            <a:endParaRPr lang="en-US" sz="750" dirty="0"/>
          </a:p>
          <a:p>
            <a:pPr algn="ct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17 Conceptos por Fase</a:t>
            </a:r>
            <a:endParaRPr lang="en-US" sz="750" dirty="0"/>
          </a:p>
        </p:txBody>
      </p:sp>
      <p:sp>
        <p:nvSpPr>
          <p:cNvPr id="15" name="Shape 13"/>
          <p:cNvSpPr/>
          <p:nvPr/>
        </p:nvSpPr>
        <p:spPr>
          <a:xfrm>
            <a:off x="4572000" y="1755648"/>
            <a:ext cx="18288" cy="164592"/>
          </a:xfrm>
          <a:prstGeom prst="line">
            <a:avLst/>
          </a:prstGeom>
          <a:noFill/>
          <a:ln w="19050">
            <a:solidFill>
              <a:srgbClr val="0E9E9E"/>
            </a:solidFill>
            <a:prstDash val="solid"/>
          </a:ln>
        </p:spPr>
      </p:sp>
      <p:sp>
        <p:nvSpPr>
          <p:cNvPr id="16" name="Shape 14"/>
          <p:cNvSpPr/>
          <p:nvPr/>
        </p:nvSpPr>
        <p:spPr>
          <a:xfrm>
            <a:off x="3822192" y="1920240"/>
            <a:ext cx="1499616" cy="530352"/>
          </a:xfrm>
          <a:prstGeom prst="roundRect">
            <a:avLst>
              <a:gd name="adj" fmla="val 12069"/>
            </a:avLst>
          </a:prstGeom>
          <a:solidFill>
            <a:srgbClr val="0E9E9E"/>
          </a:solidFill>
          <a:ln w="19050">
            <a:solidFill>
              <a:srgbClr val="0E9E9E"/>
            </a:solidFill>
            <a:prstDash val="solid"/>
          </a:ln>
        </p:spPr>
      </p:sp>
      <p:sp>
        <p:nvSpPr>
          <p:cNvPr id="17" name="Text 15"/>
          <p:cNvSpPr/>
          <p:nvPr/>
        </p:nvSpPr>
        <p:spPr>
          <a:xfrm>
            <a:off x="3867912" y="1920240"/>
            <a:ext cx="1408176" cy="53035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Sección 3</a:t>
            </a:r>
            <a:endParaRPr lang="en-US" sz="750" dirty="0"/>
          </a:p>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Herramientas T-1 a T-19</a:t>
            </a:r>
            <a:endParaRPr lang="en-US" sz="750" dirty="0"/>
          </a:p>
        </p:txBody>
      </p:sp>
      <p:sp>
        <p:nvSpPr>
          <p:cNvPr id="18" name="Shape 16"/>
          <p:cNvSpPr/>
          <p:nvPr/>
        </p:nvSpPr>
        <p:spPr>
          <a:xfrm>
            <a:off x="6254496" y="1755648"/>
            <a:ext cx="18288" cy="164592"/>
          </a:xfrm>
          <a:prstGeom prst="line">
            <a:avLst/>
          </a:prstGeom>
          <a:noFill/>
          <a:ln w="19050">
            <a:solidFill>
              <a:srgbClr val="0E9E9E"/>
            </a:solidFill>
            <a:prstDash val="solid"/>
          </a:ln>
        </p:spPr>
      </p:sp>
      <p:sp>
        <p:nvSpPr>
          <p:cNvPr id="19" name="Shape 17"/>
          <p:cNvSpPr/>
          <p:nvPr/>
        </p:nvSpPr>
        <p:spPr>
          <a:xfrm>
            <a:off x="5504688" y="1920240"/>
            <a:ext cx="1499616" cy="530352"/>
          </a:xfrm>
          <a:prstGeom prst="roundRect">
            <a:avLst>
              <a:gd name="adj" fmla="val 12069"/>
            </a:avLst>
          </a:prstGeom>
          <a:solidFill>
            <a:srgbClr val="E5E5EA"/>
          </a:solidFill>
          <a:ln w="19050">
            <a:solidFill>
              <a:srgbClr val="0E9E9E"/>
            </a:solidFill>
            <a:prstDash val="solid"/>
          </a:ln>
        </p:spPr>
      </p:sp>
      <p:sp>
        <p:nvSpPr>
          <p:cNvPr id="20" name="Text 18"/>
          <p:cNvSpPr/>
          <p:nvPr/>
        </p:nvSpPr>
        <p:spPr>
          <a:xfrm>
            <a:off x="5550408" y="1920240"/>
            <a:ext cx="1408176" cy="530352"/>
          </a:xfrm>
          <a:prstGeom prst="rect">
            <a:avLst/>
          </a:prstGeom>
          <a:noFill/>
          <a:ln/>
        </p:spPr>
        <p:txBody>
          <a:bodyPr wrap="square" rtlCol="0" anchor="ctr"/>
          <a:lstStyle/>
          <a:p>
            <a:pPr algn="ct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Sección 4</a:t>
            </a:r>
            <a:endParaRPr lang="en-US" sz="750" dirty="0"/>
          </a:p>
          <a:p>
            <a:pPr algn="ct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Matriz de Aplicación</a:t>
            </a:r>
            <a:endParaRPr lang="en-US" sz="750" dirty="0"/>
          </a:p>
        </p:txBody>
      </p:sp>
      <p:sp>
        <p:nvSpPr>
          <p:cNvPr id="21" name="Shape 19"/>
          <p:cNvSpPr/>
          <p:nvPr/>
        </p:nvSpPr>
        <p:spPr>
          <a:xfrm>
            <a:off x="7936992" y="1755648"/>
            <a:ext cx="18288" cy="164592"/>
          </a:xfrm>
          <a:prstGeom prst="line">
            <a:avLst/>
          </a:prstGeom>
          <a:noFill/>
          <a:ln w="19050">
            <a:solidFill>
              <a:srgbClr val="0E9E9E"/>
            </a:solidFill>
            <a:prstDash val="solid"/>
          </a:ln>
        </p:spPr>
      </p:sp>
      <p:sp>
        <p:nvSpPr>
          <p:cNvPr id="22" name="Shape 20"/>
          <p:cNvSpPr/>
          <p:nvPr/>
        </p:nvSpPr>
        <p:spPr>
          <a:xfrm>
            <a:off x="7187184" y="1920240"/>
            <a:ext cx="1499616" cy="530352"/>
          </a:xfrm>
          <a:prstGeom prst="roundRect">
            <a:avLst>
              <a:gd name="adj" fmla="val 12069"/>
            </a:avLst>
          </a:prstGeom>
          <a:solidFill>
            <a:srgbClr val="0E9E9E"/>
          </a:solidFill>
          <a:ln w="19050">
            <a:solidFill>
              <a:srgbClr val="0E9E9E"/>
            </a:solidFill>
            <a:prstDash val="solid"/>
          </a:ln>
        </p:spPr>
      </p:sp>
      <p:sp>
        <p:nvSpPr>
          <p:cNvPr id="23" name="Text 21"/>
          <p:cNvSpPr/>
          <p:nvPr/>
        </p:nvSpPr>
        <p:spPr>
          <a:xfrm>
            <a:off x="7232904" y="1920240"/>
            <a:ext cx="1408176" cy="53035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Sección 5</a:t>
            </a:r>
            <a:endParaRPr lang="en-US" sz="750" dirty="0"/>
          </a:p>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Casos de Estudio</a:t>
            </a:r>
            <a:endParaRPr lang="en-US" sz="750" dirty="0"/>
          </a:p>
        </p:txBody>
      </p:sp>
      <p:sp>
        <p:nvSpPr>
          <p:cNvPr id="24" name="Shape 22"/>
          <p:cNvSpPr/>
          <p:nvPr/>
        </p:nvSpPr>
        <p:spPr>
          <a:xfrm>
            <a:off x="320040" y="3063240"/>
            <a:ext cx="2011680" cy="1600200"/>
          </a:xfrm>
          <a:prstGeom prst="roundRect">
            <a:avLst>
              <a:gd name="adj" fmla="val 4571"/>
            </a:avLst>
          </a:prstGeom>
          <a:solidFill>
            <a:srgbClr val="F8F8FA"/>
          </a:solidFill>
          <a:ln w="15240">
            <a:solidFill>
              <a:srgbClr val="0E9E9E"/>
            </a:solidFill>
            <a:prstDash val="solid"/>
          </a:ln>
        </p:spPr>
      </p:sp>
      <p:sp>
        <p:nvSpPr>
          <p:cNvPr id="25" name="Shape 23"/>
          <p:cNvSpPr/>
          <p:nvPr/>
        </p:nvSpPr>
        <p:spPr>
          <a:xfrm>
            <a:off x="320040" y="3063240"/>
            <a:ext cx="2011680" cy="45720"/>
          </a:xfrm>
          <a:prstGeom prst="rect">
            <a:avLst/>
          </a:prstGeom>
          <a:solidFill>
            <a:srgbClr val="0E9E9E"/>
          </a:solidFill>
          <a:ln w="12700">
            <a:solidFill>
              <a:srgbClr val="0E9E9E"/>
            </a:solidFill>
            <a:prstDash val="solid"/>
          </a:ln>
        </p:spPr>
      </p:sp>
      <p:sp>
        <p:nvSpPr>
          <p:cNvPr id="26" name="Text 24"/>
          <p:cNvSpPr/>
          <p:nvPr/>
        </p:nvSpPr>
        <p:spPr>
          <a:xfrm>
            <a:off x="411480" y="3127248"/>
            <a:ext cx="1828800" cy="320040"/>
          </a:xfrm>
          <a:prstGeom prst="rect">
            <a:avLst/>
          </a:prstGeom>
          <a:noFill/>
          <a:ln/>
        </p:spPr>
        <p:txBody>
          <a:bodyPr wrap="square" rtlCol="0" anchor="ctr"/>
          <a:lstStyle/>
          <a:p>
            <a:pPr indent="0" marL="0">
              <a:buNone/>
            </a:pPr>
            <a:r>
              <a:rPr lang="en-US" sz="850" b="1" dirty="0">
                <a:solidFill>
                  <a:srgbClr val="0E9E9E"/>
                </a:solidFill>
                <a:latin typeface="Atkinson Hyperlegible" pitchFamily="34" charset="0"/>
                <a:ea typeface="Atkinson Hyperlegible" pitchFamily="34" charset="-122"/>
                <a:cs typeface="Atkinson Hyperlegible" pitchFamily="34" charset="-120"/>
              </a:rPr>
              <a:t>Herramientas</a:t>
            </a:r>
            <a:endParaRPr lang="en-US" sz="850" dirty="0"/>
          </a:p>
        </p:txBody>
      </p:sp>
      <p:sp>
        <p:nvSpPr>
          <p:cNvPr id="27" name="Text 25"/>
          <p:cNvSpPr/>
          <p:nvPr/>
        </p:nvSpPr>
        <p:spPr>
          <a:xfrm>
            <a:off x="411480" y="3474720"/>
            <a:ext cx="1828800" cy="109728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19 plantillas listas para usar en talleres, revisiones y diagnósticos.</a:t>
            </a:r>
            <a:endParaRPr lang="en-US" sz="750" dirty="0"/>
          </a:p>
        </p:txBody>
      </p:sp>
      <p:sp>
        <p:nvSpPr>
          <p:cNvPr id="28" name="Shape 26"/>
          <p:cNvSpPr/>
          <p:nvPr/>
        </p:nvSpPr>
        <p:spPr>
          <a:xfrm>
            <a:off x="2468880" y="3063240"/>
            <a:ext cx="2011680" cy="1600200"/>
          </a:xfrm>
          <a:prstGeom prst="roundRect">
            <a:avLst>
              <a:gd name="adj" fmla="val 4571"/>
            </a:avLst>
          </a:prstGeom>
          <a:solidFill>
            <a:srgbClr val="F8F8FA"/>
          </a:solidFill>
          <a:ln w="15240">
            <a:solidFill>
              <a:srgbClr val="0E9E9E"/>
            </a:solidFill>
            <a:prstDash val="solid"/>
          </a:ln>
        </p:spPr>
      </p:sp>
      <p:sp>
        <p:nvSpPr>
          <p:cNvPr id="29" name="Shape 27"/>
          <p:cNvSpPr/>
          <p:nvPr/>
        </p:nvSpPr>
        <p:spPr>
          <a:xfrm>
            <a:off x="2468880" y="3063240"/>
            <a:ext cx="2011680" cy="45720"/>
          </a:xfrm>
          <a:prstGeom prst="rect">
            <a:avLst/>
          </a:prstGeom>
          <a:solidFill>
            <a:srgbClr val="0E9E9E"/>
          </a:solidFill>
          <a:ln w="12700">
            <a:solidFill>
              <a:srgbClr val="0E9E9E"/>
            </a:solidFill>
            <a:prstDash val="solid"/>
          </a:ln>
        </p:spPr>
      </p:sp>
      <p:sp>
        <p:nvSpPr>
          <p:cNvPr id="30" name="Text 28"/>
          <p:cNvSpPr/>
          <p:nvPr/>
        </p:nvSpPr>
        <p:spPr>
          <a:xfrm>
            <a:off x="2560320" y="3127248"/>
            <a:ext cx="1828800" cy="320040"/>
          </a:xfrm>
          <a:prstGeom prst="rect">
            <a:avLst/>
          </a:prstGeom>
          <a:noFill/>
          <a:ln/>
        </p:spPr>
        <p:txBody>
          <a:bodyPr wrap="square" rtlCol="0" anchor="ctr"/>
          <a:lstStyle/>
          <a:p>
            <a:pPr indent="0" marL="0">
              <a:buNone/>
            </a:pPr>
            <a:r>
              <a:rPr lang="en-US" sz="850" b="1" dirty="0">
                <a:solidFill>
                  <a:srgbClr val="0E9E9E"/>
                </a:solidFill>
                <a:latin typeface="Atkinson Hyperlegible" pitchFamily="34" charset="0"/>
                <a:ea typeface="Atkinson Hyperlegible" pitchFamily="34" charset="-122"/>
                <a:cs typeface="Atkinson Hyperlegible" pitchFamily="34" charset="-120"/>
              </a:rPr>
              <a:t>Matriz T-18</a:t>
            </a:r>
            <a:endParaRPr lang="en-US" sz="850" dirty="0"/>
          </a:p>
        </p:txBody>
      </p:sp>
      <p:sp>
        <p:nvSpPr>
          <p:cNvPr id="31" name="Text 29"/>
          <p:cNvSpPr/>
          <p:nvPr/>
        </p:nvSpPr>
        <p:spPr>
          <a:xfrm>
            <a:off x="2560320" y="3474720"/>
            <a:ext cx="1828800" cy="109728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Relaciona cada concepto con tipo de proyecto y fase del programa.</a:t>
            </a:r>
            <a:endParaRPr lang="en-US" sz="750" dirty="0"/>
          </a:p>
        </p:txBody>
      </p:sp>
      <p:sp>
        <p:nvSpPr>
          <p:cNvPr id="32" name="Shape 30"/>
          <p:cNvSpPr/>
          <p:nvPr/>
        </p:nvSpPr>
        <p:spPr>
          <a:xfrm>
            <a:off x="4617720" y="3063240"/>
            <a:ext cx="2011680" cy="1600200"/>
          </a:xfrm>
          <a:prstGeom prst="roundRect">
            <a:avLst>
              <a:gd name="adj" fmla="val 4571"/>
            </a:avLst>
          </a:prstGeom>
          <a:solidFill>
            <a:srgbClr val="F8F8FA"/>
          </a:solidFill>
          <a:ln w="15240">
            <a:solidFill>
              <a:srgbClr val="0E9E9E"/>
            </a:solidFill>
            <a:prstDash val="solid"/>
          </a:ln>
        </p:spPr>
      </p:sp>
      <p:sp>
        <p:nvSpPr>
          <p:cNvPr id="33" name="Shape 31"/>
          <p:cNvSpPr/>
          <p:nvPr/>
        </p:nvSpPr>
        <p:spPr>
          <a:xfrm>
            <a:off x="4617720" y="3063240"/>
            <a:ext cx="2011680" cy="45720"/>
          </a:xfrm>
          <a:prstGeom prst="rect">
            <a:avLst/>
          </a:prstGeom>
          <a:solidFill>
            <a:srgbClr val="0E9E9E"/>
          </a:solidFill>
          <a:ln w="12700">
            <a:solidFill>
              <a:srgbClr val="0E9E9E"/>
            </a:solidFill>
            <a:prstDash val="solid"/>
          </a:ln>
        </p:spPr>
      </p:sp>
      <p:sp>
        <p:nvSpPr>
          <p:cNvPr id="34" name="Text 32"/>
          <p:cNvSpPr/>
          <p:nvPr/>
        </p:nvSpPr>
        <p:spPr>
          <a:xfrm>
            <a:off x="4709160" y="3127248"/>
            <a:ext cx="1828800" cy="320040"/>
          </a:xfrm>
          <a:prstGeom prst="rect">
            <a:avLst/>
          </a:prstGeom>
          <a:noFill/>
          <a:ln/>
        </p:spPr>
        <p:txBody>
          <a:bodyPr wrap="square" rtlCol="0" anchor="ctr"/>
          <a:lstStyle/>
          <a:p>
            <a:pPr indent="0" marL="0">
              <a:buNone/>
            </a:pPr>
            <a:r>
              <a:rPr lang="en-US" sz="850" b="1" dirty="0">
                <a:solidFill>
                  <a:srgbClr val="0E9E9E"/>
                </a:solidFill>
                <a:latin typeface="Atkinson Hyperlegible" pitchFamily="34" charset="0"/>
                <a:ea typeface="Atkinson Hyperlegible" pitchFamily="34" charset="-122"/>
                <a:cs typeface="Atkinson Hyperlegible" pitchFamily="34" charset="-120"/>
              </a:rPr>
              <a:t>Champions</a:t>
            </a:r>
            <a:endParaRPr lang="en-US" sz="850" dirty="0"/>
          </a:p>
        </p:txBody>
      </p:sp>
      <p:sp>
        <p:nvSpPr>
          <p:cNvPr id="35" name="Text 33"/>
          <p:cNvSpPr/>
          <p:nvPr/>
        </p:nvSpPr>
        <p:spPr>
          <a:xfrm>
            <a:off x="4709160" y="3474720"/>
            <a:ext cx="1828800" cy="109728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Roles, perfiles y responsabilidades del Champion de constructabilidad.</a:t>
            </a:r>
            <a:endParaRPr lang="en-US" sz="750" dirty="0"/>
          </a:p>
        </p:txBody>
      </p:sp>
      <p:sp>
        <p:nvSpPr>
          <p:cNvPr id="36" name="Shape 34"/>
          <p:cNvSpPr/>
          <p:nvPr/>
        </p:nvSpPr>
        <p:spPr>
          <a:xfrm>
            <a:off x="6766560" y="3063240"/>
            <a:ext cx="2011680" cy="1600200"/>
          </a:xfrm>
          <a:prstGeom prst="roundRect">
            <a:avLst>
              <a:gd name="adj" fmla="val 4571"/>
            </a:avLst>
          </a:prstGeom>
          <a:solidFill>
            <a:srgbClr val="F8F8FA"/>
          </a:solidFill>
          <a:ln w="15240">
            <a:solidFill>
              <a:srgbClr val="0E9E9E"/>
            </a:solidFill>
            <a:prstDash val="solid"/>
          </a:ln>
        </p:spPr>
      </p:sp>
      <p:sp>
        <p:nvSpPr>
          <p:cNvPr id="37" name="Shape 35"/>
          <p:cNvSpPr/>
          <p:nvPr/>
        </p:nvSpPr>
        <p:spPr>
          <a:xfrm>
            <a:off x="6766560" y="3063240"/>
            <a:ext cx="2011680" cy="45720"/>
          </a:xfrm>
          <a:prstGeom prst="rect">
            <a:avLst/>
          </a:prstGeom>
          <a:solidFill>
            <a:srgbClr val="0E9E9E"/>
          </a:solidFill>
          <a:ln w="12700">
            <a:solidFill>
              <a:srgbClr val="0E9E9E"/>
            </a:solidFill>
            <a:prstDash val="solid"/>
          </a:ln>
        </p:spPr>
      </p:sp>
      <p:sp>
        <p:nvSpPr>
          <p:cNvPr id="38" name="Text 36"/>
          <p:cNvSpPr/>
          <p:nvPr/>
        </p:nvSpPr>
        <p:spPr>
          <a:xfrm>
            <a:off x="6858000" y="3127248"/>
            <a:ext cx="1828800" cy="320040"/>
          </a:xfrm>
          <a:prstGeom prst="rect">
            <a:avLst/>
          </a:prstGeom>
          <a:noFill/>
          <a:ln/>
        </p:spPr>
        <p:txBody>
          <a:bodyPr wrap="square" rtlCol="0" anchor="ctr"/>
          <a:lstStyle/>
          <a:p>
            <a:pPr indent="0" marL="0">
              <a:buNone/>
            </a:pPr>
            <a:r>
              <a:rPr lang="en-US" sz="850" b="1" dirty="0">
                <a:solidFill>
                  <a:srgbClr val="0E9E9E"/>
                </a:solidFill>
                <a:latin typeface="Atkinson Hyperlegible" pitchFamily="34" charset="0"/>
                <a:ea typeface="Atkinson Hyperlegible" pitchFamily="34" charset="-122"/>
                <a:cs typeface="Atkinson Hyperlegible" pitchFamily="34" charset="-120"/>
              </a:rPr>
              <a:t>Métricas</a:t>
            </a:r>
            <a:endParaRPr lang="en-US" sz="850" dirty="0"/>
          </a:p>
        </p:txBody>
      </p:sp>
      <p:sp>
        <p:nvSpPr>
          <p:cNvPr id="39" name="Text 37"/>
          <p:cNvSpPr/>
          <p:nvPr/>
        </p:nvSpPr>
        <p:spPr>
          <a:xfrm>
            <a:off x="6858000" y="3474720"/>
            <a:ext cx="1828800" cy="109728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KPIs para medir el desempeño y madurez del programa.</a:t>
            </a:r>
            <a:endParaRPr lang="en-US" sz="750" dirty="0"/>
          </a:p>
        </p:txBody>
      </p:sp>
      <p:sp>
        <p:nvSpPr>
          <p:cNvPr id="40" name="Shape 38"/>
          <p:cNvSpPr/>
          <p:nvPr/>
        </p:nvSpPr>
        <p:spPr>
          <a:xfrm>
            <a:off x="182880" y="4956048"/>
            <a:ext cx="8961120" cy="182880"/>
          </a:xfrm>
          <a:prstGeom prst="rect">
            <a:avLst/>
          </a:prstGeom>
          <a:solidFill>
            <a:srgbClr val="0E9E9E"/>
          </a:solidFill>
          <a:ln w="12700">
            <a:solidFill>
              <a:srgbClr val="0E9E9E"/>
            </a:solidFill>
            <a:prstDash val="solid"/>
          </a:ln>
        </p:spPr>
      </p:sp>
      <p:sp>
        <p:nvSpPr>
          <p:cNvPr id="41" name="Text 39"/>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15 / 126</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7AE60"/>
          </a:solidFill>
          <a:ln w="12700">
            <a:solidFill>
              <a:srgbClr val="27AE60"/>
            </a:solidFill>
            <a:prstDash val="solid"/>
          </a:ln>
        </p:spPr>
      </p:sp>
      <p:sp>
        <p:nvSpPr>
          <p:cNvPr id="3" name="Shape 1"/>
          <p:cNvSpPr/>
          <p:nvPr/>
        </p:nvSpPr>
        <p:spPr>
          <a:xfrm>
            <a:off x="0" y="0"/>
            <a:ext cx="2011680" cy="5143500"/>
          </a:xfrm>
          <a:prstGeom prst="rect">
            <a:avLst/>
          </a:prstGeom>
          <a:solidFill>
            <a:srgbClr val="FFFFFF"/>
          </a:solidFill>
          <a:ln w="12700">
            <a:solidFill>
              <a:srgbClr val="FFFFFF"/>
            </a:solidFill>
            <a:prstDash val="solid"/>
          </a:ln>
        </p:spPr>
      </p:sp>
      <p:sp>
        <p:nvSpPr>
          <p:cNvPr id="4" name="Text 2"/>
          <p:cNvSpPr/>
          <p:nvPr/>
        </p:nvSpPr>
        <p:spPr>
          <a:xfrm>
            <a:off x="320040" y="1463040"/>
            <a:ext cx="1828800" cy="1371600"/>
          </a:xfrm>
          <a:prstGeom prst="rect">
            <a:avLst/>
          </a:prstGeom>
          <a:noFill/>
          <a:ln/>
        </p:spPr>
        <p:txBody>
          <a:bodyPr wrap="square" rtlCol="0" anchor="ctr"/>
          <a:lstStyle/>
          <a:p>
            <a:pPr indent="0" marL="0">
              <a:buNone/>
            </a:pPr>
            <a:r>
              <a:rPr lang="en-US" sz="9000" b="1" dirty="0">
                <a:solidFill>
                  <a:srgbClr val="FFFFFF">
                    <a:alpha val="80000"/>
                  </a:srgbClr>
                </a:solidFill>
                <a:latin typeface="Atkinson Hyperlegible" pitchFamily="34" charset="0"/>
                <a:ea typeface="Atkinson Hyperlegible" pitchFamily="34" charset="-122"/>
                <a:cs typeface="Atkinson Hyperlegible" pitchFamily="34" charset="-120"/>
              </a:rPr>
              <a:t>03</a:t>
            </a:r>
            <a:endParaRPr lang="en-US" sz="9000" dirty="0"/>
          </a:p>
        </p:txBody>
      </p:sp>
      <p:sp>
        <p:nvSpPr>
          <p:cNvPr id="5" name="Shape 3"/>
          <p:cNvSpPr/>
          <p:nvPr/>
        </p:nvSpPr>
        <p:spPr>
          <a:xfrm>
            <a:off x="2286000" y="1371600"/>
            <a:ext cx="54864" cy="2286000"/>
          </a:xfrm>
          <a:prstGeom prst="rect">
            <a:avLst/>
          </a:prstGeom>
          <a:solidFill>
            <a:srgbClr val="FFFFFF"/>
          </a:solidFill>
          <a:ln w="12700">
            <a:solidFill>
              <a:srgbClr val="FFFFFF"/>
            </a:solidFill>
            <a:prstDash val="solid"/>
          </a:ln>
        </p:spPr>
      </p:sp>
      <p:sp>
        <p:nvSpPr>
          <p:cNvPr id="6" name="Text 4"/>
          <p:cNvSpPr/>
          <p:nvPr/>
        </p:nvSpPr>
        <p:spPr>
          <a:xfrm>
            <a:off x="2560320" y="1554480"/>
            <a:ext cx="6217920" cy="1005840"/>
          </a:xfrm>
          <a:prstGeom prst="rect">
            <a:avLst/>
          </a:prstGeom>
          <a:noFill/>
          <a:ln/>
        </p:spPr>
        <p:txBody>
          <a:bodyPr wrap="square" rtlCol="0" anchor="ctr"/>
          <a:lstStyle/>
          <a:p>
            <a:pPr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Fase I: Planificación Conceptual</a:t>
            </a:r>
            <a:endParaRPr lang="en-US" sz="2800" dirty="0"/>
          </a:p>
        </p:txBody>
      </p:sp>
      <p:sp>
        <p:nvSpPr>
          <p:cNvPr id="7" name="Text 5"/>
          <p:cNvSpPr/>
          <p:nvPr/>
        </p:nvSpPr>
        <p:spPr>
          <a:xfrm>
            <a:off x="2560320" y="2651760"/>
            <a:ext cx="6217920" cy="1097280"/>
          </a:xfrm>
          <a:prstGeom prst="rect">
            <a:avLst/>
          </a:prstGeom>
          <a:noFill/>
          <a:ln/>
        </p:spPr>
        <p:txBody>
          <a:bodyPr wrap="square" rtlCol="0" anchor="ctr"/>
          <a:lstStyle/>
          <a:p>
            <a:pPr indent="0" marL="0">
              <a:buNone/>
            </a:pPr>
            <a:r>
              <a:rPr lang="en-US" sz="1200" dirty="0">
                <a:solidFill>
                  <a:srgbClr val="FFFFFF">
                    <a:alpha val="85000"/>
                  </a:srgbClr>
                </a:solidFill>
                <a:latin typeface="Atkinson Hyperlegible" pitchFamily="34" charset="0"/>
                <a:ea typeface="Atkinson Hyperlegible" pitchFamily="34" charset="-122"/>
                <a:cs typeface="Atkinson Hyperlegible" pitchFamily="34" charset="-120"/>
              </a:rPr>
              <a:t>Conceptos I-1 a I-7: Incorporar conocimiento constructor desde el inicio del proyecto</a:t>
            </a:r>
            <a:endParaRPr lang="en-US" sz="1200" dirty="0"/>
          </a:p>
        </p:txBody>
      </p:sp>
      <p:sp>
        <p:nvSpPr>
          <p:cNvPr id="8" name="Shape 6"/>
          <p:cNvSpPr/>
          <p:nvPr/>
        </p:nvSpPr>
        <p:spPr>
          <a:xfrm>
            <a:off x="182880" y="4956048"/>
            <a:ext cx="8961120" cy="182880"/>
          </a:xfrm>
          <a:prstGeom prst="rect">
            <a:avLst/>
          </a:prstGeom>
          <a:solidFill>
            <a:srgbClr val="1D1D1F"/>
          </a:solidFill>
          <a:ln w="12700">
            <a:solidFill>
              <a:srgbClr val="1D1D1F"/>
            </a:solidFill>
            <a:prstDash val="solid"/>
          </a:ln>
        </p:spPr>
      </p:sp>
      <p:sp>
        <p:nvSpPr>
          <p:cNvPr id="9" name="Text 7"/>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16 / 126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27AE60"/>
          </a:solidFill>
          <a:ln w="12700">
            <a:solidFill>
              <a:srgbClr val="27AE60"/>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Fase I: Visión General</a:t>
            </a:r>
            <a:endParaRPr lang="en-US" sz="1800" dirty="0"/>
          </a:p>
        </p:txBody>
      </p:sp>
      <p:sp>
        <p:nvSpPr>
          <p:cNvPr id="4" name="Shape 2"/>
          <p:cNvSpPr/>
          <p:nvPr/>
        </p:nvSpPr>
        <p:spPr>
          <a:xfrm>
            <a:off x="320040" y="640080"/>
            <a:ext cx="8503920" cy="41148"/>
          </a:xfrm>
          <a:prstGeom prst="rect">
            <a:avLst/>
          </a:prstGeom>
          <a:solidFill>
            <a:srgbClr val="27AE60"/>
          </a:solidFill>
          <a:ln w="12700">
            <a:solidFill>
              <a:srgbClr val="27AE60"/>
            </a:solidFill>
            <a:prstDash val="solid"/>
          </a:ln>
        </p:spPr>
      </p:sp>
      <p:sp>
        <p:nvSpPr>
          <p:cNvPr id="5" name="Text 3"/>
          <p:cNvSpPr/>
          <p:nvPr/>
        </p:nvSpPr>
        <p:spPr>
          <a:xfrm>
            <a:off x="320040" y="704088"/>
            <a:ext cx="8503920" cy="274320"/>
          </a:xfrm>
          <a:prstGeom prst="rect">
            <a:avLst/>
          </a:prstGeom>
          <a:noFill/>
          <a:ln/>
        </p:spPr>
        <p:txBody>
          <a:bodyPr wrap="square" rtlCol="0" anchor="ctr"/>
          <a:lstStyle/>
          <a:p>
            <a:pPr indent="0" marL="0">
              <a:buNone/>
            </a:pPr>
            <a:r>
              <a:rPr lang="en-US" sz="900" i="1" dirty="0">
                <a:solidFill>
                  <a:srgbClr val="27AE60"/>
                </a:solidFill>
                <a:latin typeface="Atkinson Hyperlegible" pitchFamily="34" charset="0"/>
                <a:ea typeface="Atkinson Hyperlegible" pitchFamily="34" charset="-122"/>
                <a:cs typeface="Atkinson Hyperlegible" pitchFamily="34" charset="-120"/>
              </a:rPr>
              <a:t>¿Qué hacemos en la Fase de Planificación?</a:t>
            </a:r>
            <a:endParaRPr lang="en-US" sz="900" dirty="0"/>
          </a:p>
        </p:txBody>
      </p:sp>
      <p:sp>
        <p:nvSpPr>
          <p:cNvPr id="6" name="Shape 4"/>
          <p:cNvSpPr/>
          <p:nvPr/>
        </p:nvSpPr>
        <p:spPr>
          <a:xfrm>
            <a:off x="320040" y="1371600"/>
            <a:ext cx="1495958" cy="1097280"/>
          </a:xfrm>
          <a:prstGeom prst="roundRect">
            <a:avLst>
              <a:gd name="adj" fmla="val 7500"/>
            </a:avLst>
          </a:prstGeom>
          <a:solidFill>
            <a:srgbClr val="27AE60"/>
          </a:solidFill>
          <a:ln w="12700">
            <a:solidFill>
              <a:srgbClr val="27AE60"/>
            </a:solidFill>
            <a:prstDash val="solid"/>
          </a:ln>
        </p:spPr>
      </p:sp>
      <p:sp>
        <p:nvSpPr>
          <p:cNvPr id="7" name="Shape 5"/>
          <p:cNvSpPr/>
          <p:nvPr/>
        </p:nvSpPr>
        <p:spPr>
          <a:xfrm>
            <a:off x="885139" y="1152144"/>
            <a:ext cx="365760" cy="365760"/>
          </a:xfrm>
          <a:prstGeom prst="ellipse">
            <a:avLst/>
          </a:prstGeom>
          <a:solidFill>
            <a:srgbClr val="FFFFFF"/>
          </a:solidFill>
          <a:ln w="19050">
            <a:solidFill>
              <a:srgbClr val="27AE60"/>
            </a:solidFill>
            <a:prstDash val="solid"/>
          </a:ln>
        </p:spPr>
      </p:sp>
      <p:sp>
        <p:nvSpPr>
          <p:cNvPr id="8" name="Text 6"/>
          <p:cNvSpPr/>
          <p:nvPr/>
        </p:nvSpPr>
        <p:spPr>
          <a:xfrm>
            <a:off x="885139" y="1152144"/>
            <a:ext cx="365760" cy="365760"/>
          </a:xfrm>
          <a:prstGeom prst="rect">
            <a:avLst/>
          </a:prstGeom>
          <a:noFill/>
          <a:ln/>
        </p:spPr>
        <p:txBody>
          <a:bodyPr wrap="square" rtlCol="0" anchor="ctr"/>
          <a:lstStyle/>
          <a:p>
            <a:pPr algn="ctr" indent="0" marL="0">
              <a:buNone/>
            </a:pPr>
            <a:r>
              <a:rPr lang="en-US" sz="800" b="1" dirty="0">
                <a:solidFill>
                  <a:srgbClr val="27AE60"/>
                </a:solidFill>
                <a:latin typeface="Atkinson Hyperlegible" pitchFamily="34" charset="0"/>
                <a:ea typeface="Atkinson Hyperlegible" pitchFamily="34" charset="-122"/>
                <a:cs typeface="Atkinson Hyperlegible" pitchFamily="34" charset="-120"/>
              </a:rPr>
              <a:t>1</a:t>
            </a:r>
            <a:endParaRPr lang="en-US" sz="800" dirty="0"/>
          </a:p>
        </p:txBody>
      </p:sp>
      <p:sp>
        <p:nvSpPr>
          <p:cNvPr id="9" name="Text 7"/>
          <p:cNvSpPr/>
          <p:nvPr/>
        </p:nvSpPr>
        <p:spPr>
          <a:xfrm>
            <a:off x="384048"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Concepción del Proyecto</a:t>
            </a:r>
            <a:endParaRPr lang="en-US" sz="800" dirty="0"/>
          </a:p>
        </p:txBody>
      </p:sp>
      <p:sp>
        <p:nvSpPr>
          <p:cNvPr id="10" name="Text 8"/>
          <p:cNvSpPr/>
          <p:nvPr/>
        </p:nvSpPr>
        <p:spPr>
          <a:xfrm>
            <a:off x="384048" y="1828800"/>
            <a:ext cx="1367942" cy="594360"/>
          </a:xfrm>
          <a:prstGeom prst="rect">
            <a:avLst/>
          </a:prstGeom>
          <a:noFill/>
          <a:ln/>
        </p:spPr>
        <p:txBody>
          <a:bodyPr wrap="square" rtlCol="0" anchor="ctr"/>
          <a:lstStyle/>
          <a:p>
            <a:pPr algn="ctr" indent="0" marL="0">
              <a:buNone/>
            </a:pPr>
            <a:r>
              <a:rPr lang="en-US" sz="650" dirty="0">
                <a:solidFill>
                  <a:srgbClr val="FFFFFF">
                    <a:alpha val="90000"/>
                  </a:srgbClr>
                </a:solidFill>
                <a:latin typeface="Atkinson Hyperlegible" pitchFamily="34" charset="0"/>
                <a:ea typeface="Atkinson Hyperlegible" pitchFamily="34" charset="-122"/>
                <a:cs typeface="Atkinson Hyperlegible" pitchFamily="34" charset="-120"/>
              </a:rPr>
              <a:t>Definición del alcance y objetivos</a:t>
            </a:r>
            <a:endParaRPr lang="en-US" sz="650" dirty="0"/>
          </a:p>
        </p:txBody>
      </p:sp>
      <p:sp>
        <p:nvSpPr>
          <p:cNvPr id="11" name="Shape 9"/>
          <p:cNvSpPr/>
          <p:nvPr/>
        </p:nvSpPr>
        <p:spPr>
          <a:xfrm>
            <a:off x="1825142" y="1801368"/>
            <a:ext cx="246888" cy="237744"/>
          </a:xfrm>
          <a:prstGeom prst="rightArrow">
            <a:avLst/>
          </a:prstGeom>
          <a:solidFill>
            <a:srgbClr val="27AE60"/>
          </a:solidFill>
          <a:ln w="12700">
            <a:solidFill>
              <a:srgbClr val="27AE60"/>
            </a:solidFill>
            <a:prstDash val="solid"/>
          </a:ln>
        </p:spPr>
      </p:sp>
      <p:sp>
        <p:nvSpPr>
          <p:cNvPr id="12" name="Shape 10"/>
          <p:cNvSpPr/>
          <p:nvPr/>
        </p:nvSpPr>
        <p:spPr>
          <a:xfrm>
            <a:off x="2072030" y="1371600"/>
            <a:ext cx="1495958" cy="1097280"/>
          </a:xfrm>
          <a:prstGeom prst="roundRect">
            <a:avLst>
              <a:gd name="adj" fmla="val 7500"/>
            </a:avLst>
          </a:prstGeom>
          <a:solidFill>
            <a:srgbClr val="1D1D1F"/>
          </a:solidFill>
          <a:ln w="12700">
            <a:solidFill>
              <a:srgbClr val="1D1D1F"/>
            </a:solidFill>
            <a:prstDash val="solid"/>
          </a:ln>
        </p:spPr>
      </p:sp>
      <p:sp>
        <p:nvSpPr>
          <p:cNvPr id="13" name="Shape 11"/>
          <p:cNvSpPr/>
          <p:nvPr/>
        </p:nvSpPr>
        <p:spPr>
          <a:xfrm>
            <a:off x="2637130" y="1152144"/>
            <a:ext cx="365760" cy="365760"/>
          </a:xfrm>
          <a:prstGeom prst="ellipse">
            <a:avLst/>
          </a:prstGeom>
          <a:solidFill>
            <a:srgbClr val="FFFFFF"/>
          </a:solidFill>
          <a:ln w="19050">
            <a:solidFill>
              <a:srgbClr val="1D1D1F"/>
            </a:solidFill>
            <a:prstDash val="solid"/>
          </a:ln>
        </p:spPr>
      </p:sp>
      <p:sp>
        <p:nvSpPr>
          <p:cNvPr id="14" name="Text 12"/>
          <p:cNvSpPr/>
          <p:nvPr/>
        </p:nvSpPr>
        <p:spPr>
          <a:xfrm>
            <a:off x="2637130" y="1152144"/>
            <a:ext cx="365760" cy="365760"/>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2</a:t>
            </a:r>
            <a:endParaRPr lang="en-US" sz="800" dirty="0"/>
          </a:p>
        </p:txBody>
      </p:sp>
      <p:sp>
        <p:nvSpPr>
          <p:cNvPr id="15" name="Text 13"/>
          <p:cNvSpPr/>
          <p:nvPr/>
        </p:nvSpPr>
        <p:spPr>
          <a:xfrm>
            <a:off x="2136038"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Análisis de Alternativas</a:t>
            </a:r>
            <a:endParaRPr lang="en-US" sz="800" dirty="0"/>
          </a:p>
        </p:txBody>
      </p:sp>
      <p:sp>
        <p:nvSpPr>
          <p:cNvPr id="16" name="Text 14"/>
          <p:cNvSpPr/>
          <p:nvPr/>
        </p:nvSpPr>
        <p:spPr>
          <a:xfrm>
            <a:off x="2136038" y="1828800"/>
            <a:ext cx="1367942" cy="594360"/>
          </a:xfrm>
          <a:prstGeom prst="rect">
            <a:avLst/>
          </a:prstGeom>
          <a:noFill/>
          <a:ln/>
        </p:spPr>
        <p:txBody>
          <a:bodyPr wrap="square" rtlCol="0" anchor="ctr"/>
          <a:lstStyle/>
          <a:p>
            <a:pPr algn="ctr" indent="0" marL="0">
              <a:buNone/>
            </a:pPr>
            <a:r>
              <a:rPr lang="en-US" sz="650" dirty="0">
                <a:solidFill>
                  <a:srgbClr val="FFFFFF">
                    <a:alpha val="90000"/>
                  </a:srgbClr>
                </a:solidFill>
                <a:latin typeface="Atkinson Hyperlegible" pitchFamily="34" charset="0"/>
                <a:ea typeface="Atkinson Hyperlegible" pitchFamily="34" charset="-122"/>
                <a:cs typeface="Atkinson Hyperlegible" pitchFamily="34" charset="-120"/>
              </a:rPr>
              <a:t>Evaluación técnica y económica</a:t>
            </a:r>
            <a:endParaRPr lang="en-US" sz="650" dirty="0"/>
          </a:p>
        </p:txBody>
      </p:sp>
      <p:sp>
        <p:nvSpPr>
          <p:cNvPr id="17" name="Shape 15"/>
          <p:cNvSpPr/>
          <p:nvPr/>
        </p:nvSpPr>
        <p:spPr>
          <a:xfrm>
            <a:off x="3577133" y="1801368"/>
            <a:ext cx="246888" cy="237744"/>
          </a:xfrm>
          <a:prstGeom prst="rightArrow">
            <a:avLst/>
          </a:prstGeom>
          <a:solidFill>
            <a:srgbClr val="27AE60"/>
          </a:solidFill>
          <a:ln w="12700">
            <a:solidFill>
              <a:srgbClr val="27AE60"/>
            </a:solidFill>
            <a:prstDash val="solid"/>
          </a:ln>
        </p:spPr>
      </p:sp>
      <p:sp>
        <p:nvSpPr>
          <p:cNvPr id="18" name="Shape 16"/>
          <p:cNvSpPr/>
          <p:nvPr/>
        </p:nvSpPr>
        <p:spPr>
          <a:xfrm>
            <a:off x="3824021" y="1371600"/>
            <a:ext cx="1495958" cy="1097280"/>
          </a:xfrm>
          <a:prstGeom prst="roundRect">
            <a:avLst>
              <a:gd name="adj" fmla="val 7500"/>
            </a:avLst>
          </a:prstGeom>
          <a:solidFill>
            <a:srgbClr val="27AE60"/>
          </a:solidFill>
          <a:ln w="12700">
            <a:solidFill>
              <a:srgbClr val="27AE60"/>
            </a:solidFill>
            <a:prstDash val="solid"/>
          </a:ln>
        </p:spPr>
      </p:sp>
      <p:sp>
        <p:nvSpPr>
          <p:cNvPr id="19" name="Shape 17"/>
          <p:cNvSpPr/>
          <p:nvPr/>
        </p:nvSpPr>
        <p:spPr>
          <a:xfrm>
            <a:off x="4389120" y="1152144"/>
            <a:ext cx="365760" cy="365760"/>
          </a:xfrm>
          <a:prstGeom prst="ellipse">
            <a:avLst/>
          </a:prstGeom>
          <a:solidFill>
            <a:srgbClr val="FFFFFF"/>
          </a:solidFill>
          <a:ln w="19050">
            <a:solidFill>
              <a:srgbClr val="27AE60"/>
            </a:solidFill>
            <a:prstDash val="solid"/>
          </a:ln>
        </p:spPr>
      </p:sp>
      <p:sp>
        <p:nvSpPr>
          <p:cNvPr id="20" name="Text 18"/>
          <p:cNvSpPr/>
          <p:nvPr/>
        </p:nvSpPr>
        <p:spPr>
          <a:xfrm>
            <a:off x="4389120" y="1152144"/>
            <a:ext cx="365760" cy="365760"/>
          </a:xfrm>
          <a:prstGeom prst="rect">
            <a:avLst/>
          </a:prstGeom>
          <a:noFill/>
          <a:ln/>
        </p:spPr>
        <p:txBody>
          <a:bodyPr wrap="square" rtlCol="0" anchor="ctr"/>
          <a:lstStyle/>
          <a:p>
            <a:pPr algn="ctr" indent="0" marL="0">
              <a:buNone/>
            </a:pPr>
            <a:r>
              <a:rPr lang="en-US" sz="800" b="1" dirty="0">
                <a:solidFill>
                  <a:srgbClr val="27AE60"/>
                </a:solidFill>
                <a:latin typeface="Atkinson Hyperlegible" pitchFamily="34" charset="0"/>
                <a:ea typeface="Atkinson Hyperlegible" pitchFamily="34" charset="-122"/>
                <a:cs typeface="Atkinson Hyperlegible" pitchFamily="34" charset="-120"/>
              </a:rPr>
              <a:t>3</a:t>
            </a:r>
            <a:endParaRPr lang="en-US" sz="800" dirty="0"/>
          </a:p>
        </p:txBody>
      </p:sp>
      <p:sp>
        <p:nvSpPr>
          <p:cNvPr id="21" name="Text 19"/>
          <p:cNvSpPr/>
          <p:nvPr/>
        </p:nvSpPr>
        <p:spPr>
          <a:xfrm>
            <a:off x="3888029"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Selección de Estrategia</a:t>
            </a:r>
            <a:endParaRPr lang="en-US" sz="800" dirty="0"/>
          </a:p>
        </p:txBody>
      </p:sp>
      <p:sp>
        <p:nvSpPr>
          <p:cNvPr id="22" name="Text 20"/>
          <p:cNvSpPr/>
          <p:nvPr/>
        </p:nvSpPr>
        <p:spPr>
          <a:xfrm>
            <a:off x="3888029" y="1828800"/>
            <a:ext cx="1367942" cy="594360"/>
          </a:xfrm>
          <a:prstGeom prst="rect">
            <a:avLst/>
          </a:prstGeom>
          <a:noFill/>
          <a:ln/>
        </p:spPr>
        <p:txBody>
          <a:bodyPr wrap="square" rtlCol="0" anchor="ctr"/>
          <a:lstStyle/>
          <a:p>
            <a:pPr algn="ctr" indent="0" marL="0">
              <a:buNone/>
            </a:pPr>
            <a:r>
              <a:rPr lang="en-US" sz="650" dirty="0">
                <a:solidFill>
                  <a:srgbClr val="FFFFFF">
                    <a:alpha val="90000"/>
                  </a:srgbClr>
                </a:solidFill>
                <a:latin typeface="Atkinson Hyperlegible" pitchFamily="34" charset="0"/>
                <a:ea typeface="Atkinson Hyperlegible" pitchFamily="34" charset="-122"/>
                <a:cs typeface="Atkinson Hyperlegible" pitchFamily="34" charset="-120"/>
              </a:rPr>
              <a:t>Decisión de modalidad EPC/EPCM</a:t>
            </a:r>
            <a:endParaRPr lang="en-US" sz="650" dirty="0"/>
          </a:p>
        </p:txBody>
      </p:sp>
      <p:sp>
        <p:nvSpPr>
          <p:cNvPr id="23" name="Shape 21"/>
          <p:cNvSpPr/>
          <p:nvPr/>
        </p:nvSpPr>
        <p:spPr>
          <a:xfrm>
            <a:off x="5329123" y="1801368"/>
            <a:ext cx="246888" cy="237744"/>
          </a:xfrm>
          <a:prstGeom prst="rightArrow">
            <a:avLst/>
          </a:prstGeom>
          <a:solidFill>
            <a:srgbClr val="27AE60"/>
          </a:solidFill>
          <a:ln w="12700">
            <a:solidFill>
              <a:srgbClr val="27AE60"/>
            </a:solidFill>
            <a:prstDash val="solid"/>
          </a:ln>
        </p:spPr>
      </p:sp>
      <p:sp>
        <p:nvSpPr>
          <p:cNvPr id="24" name="Shape 22"/>
          <p:cNvSpPr/>
          <p:nvPr/>
        </p:nvSpPr>
        <p:spPr>
          <a:xfrm>
            <a:off x="5576011" y="1371600"/>
            <a:ext cx="1495958" cy="1097280"/>
          </a:xfrm>
          <a:prstGeom prst="roundRect">
            <a:avLst>
              <a:gd name="adj" fmla="val 7500"/>
            </a:avLst>
          </a:prstGeom>
          <a:solidFill>
            <a:srgbClr val="1D1D1F"/>
          </a:solidFill>
          <a:ln w="12700">
            <a:solidFill>
              <a:srgbClr val="1D1D1F"/>
            </a:solidFill>
            <a:prstDash val="solid"/>
          </a:ln>
        </p:spPr>
      </p:sp>
      <p:sp>
        <p:nvSpPr>
          <p:cNvPr id="25" name="Shape 23"/>
          <p:cNvSpPr/>
          <p:nvPr/>
        </p:nvSpPr>
        <p:spPr>
          <a:xfrm>
            <a:off x="6141110" y="1152144"/>
            <a:ext cx="365760" cy="365760"/>
          </a:xfrm>
          <a:prstGeom prst="ellipse">
            <a:avLst/>
          </a:prstGeom>
          <a:solidFill>
            <a:srgbClr val="FFFFFF"/>
          </a:solidFill>
          <a:ln w="19050">
            <a:solidFill>
              <a:srgbClr val="1D1D1F"/>
            </a:solidFill>
            <a:prstDash val="solid"/>
          </a:ln>
        </p:spPr>
      </p:sp>
      <p:sp>
        <p:nvSpPr>
          <p:cNvPr id="26" name="Text 24"/>
          <p:cNvSpPr/>
          <p:nvPr/>
        </p:nvSpPr>
        <p:spPr>
          <a:xfrm>
            <a:off x="6141110" y="1152144"/>
            <a:ext cx="365760" cy="365760"/>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4</a:t>
            </a:r>
            <a:endParaRPr lang="en-US" sz="800" dirty="0"/>
          </a:p>
        </p:txBody>
      </p:sp>
      <p:sp>
        <p:nvSpPr>
          <p:cNvPr id="27" name="Text 25"/>
          <p:cNvSpPr/>
          <p:nvPr/>
        </p:nvSpPr>
        <p:spPr>
          <a:xfrm>
            <a:off x="5640019"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Plan de Ejecución</a:t>
            </a:r>
            <a:endParaRPr lang="en-US" sz="800" dirty="0"/>
          </a:p>
        </p:txBody>
      </p:sp>
      <p:sp>
        <p:nvSpPr>
          <p:cNvPr id="28" name="Text 26"/>
          <p:cNvSpPr/>
          <p:nvPr/>
        </p:nvSpPr>
        <p:spPr>
          <a:xfrm>
            <a:off x="5640019" y="1828800"/>
            <a:ext cx="1367942" cy="594360"/>
          </a:xfrm>
          <a:prstGeom prst="rect">
            <a:avLst/>
          </a:prstGeom>
          <a:noFill/>
          <a:ln/>
        </p:spPr>
        <p:txBody>
          <a:bodyPr wrap="square" rtlCol="0" anchor="ctr"/>
          <a:lstStyle/>
          <a:p>
            <a:pPr algn="ctr" indent="0" marL="0">
              <a:buNone/>
            </a:pPr>
            <a:r>
              <a:rPr lang="en-US" sz="650" dirty="0">
                <a:solidFill>
                  <a:srgbClr val="FFFFFF">
                    <a:alpha val="90000"/>
                  </a:srgbClr>
                </a:solidFill>
                <a:latin typeface="Atkinson Hyperlegible" pitchFamily="34" charset="0"/>
                <a:ea typeface="Atkinson Hyperlegible" pitchFamily="34" charset="-122"/>
                <a:cs typeface="Atkinson Hyperlegible" pitchFamily="34" charset="-120"/>
              </a:rPr>
              <a:t>PEP con constructabilidad formal</a:t>
            </a:r>
            <a:endParaRPr lang="en-US" sz="650" dirty="0"/>
          </a:p>
        </p:txBody>
      </p:sp>
      <p:sp>
        <p:nvSpPr>
          <p:cNvPr id="29" name="Shape 27"/>
          <p:cNvSpPr/>
          <p:nvPr/>
        </p:nvSpPr>
        <p:spPr>
          <a:xfrm>
            <a:off x="7081114" y="1801368"/>
            <a:ext cx="246888" cy="237744"/>
          </a:xfrm>
          <a:prstGeom prst="rightArrow">
            <a:avLst/>
          </a:prstGeom>
          <a:solidFill>
            <a:srgbClr val="27AE60"/>
          </a:solidFill>
          <a:ln w="12700">
            <a:solidFill>
              <a:srgbClr val="27AE60"/>
            </a:solidFill>
            <a:prstDash val="solid"/>
          </a:ln>
        </p:spPr>
      </p:sp>
      <p:sp>
        <p:nvSpPr>
          <p:cNvPr id="30" name="Shape 28"/>
          <p:cNvSpPr/>
          <p:nvPr/>
        </p:nvSpPr>
        <p:spPr>
          <a:xfrm>
            <a:off x="7328002" y="1371600"/>
            <a:ext cx="1495958" cy="1097280"/>
          </a:xfrm>
          <a:prstGeom prst="roundRect">
            <a:avLst>
              <a:gd name="adj" fmla="val 7500"/>
            </a:avLst>
          </a:prstGeom>
          <a:solidFill>
            <a:srgbClr val="27AE60"/>
          </a:solidFill>
          <a:ln w="12700">
            <a:solidFill>
              <a:srgbClr val="27AE60"/>
            </a:solidFill>
            <a:prstDash val="solid"/>
          </a:ln>
        </p:spPr>
      </p:sp>
      <p:sp>
        <p:nvSpPr>
          <p:cNvPr id="31" name="Shape 29"/>
          <p:cNvSpPr/>
          <p:nvPr/>
        </p:nvSpPr>
        <p:spPr>
          <a:xfrm>
            <a:off x="7893101" y="1152144"/>
            <a:ext cx="365760" cy="365760"/>
          </a:xfrm>
          <a:prstGeom prst="ellipse">
            <a:avLst/>
          </a:prstGeom>
          <a:solidFill>
            <a:srgbClr val="FFFFFF"/>
          </a:solidFill>
          <a:ln w="19050">
            <a:solidFill>
              <a:srgbClr val="27AE60"/>
            </a:solidFill>
            <a:prstDash val="solid"/>
          </a:ln>
        </p:spPr>
      </p:sp>
      <p:sp>
        <p:nvSpPr>
          <p:cNvPr id="32" name="Text 30"/>
          <p:cNvSpPr/>
          <p:nvPr/>
        </p:nvSpPr>
        <p:spPr>
          <a:xfrm>
            <a:off x="7893101" y="1152144"/>
            <a:ext cx="365760" cy="365760"/>
          </a:xfrm>
          <a:prstGeom prst="rect">
            <a:avLst/>
          </a:prstGeom>
          <a:noFill/>
          <a:ln/>
        </p:spPr>
        <p:txBody>
          <a:bodyPr wrap="square" rtlCol="0" anchor="ctr"/>
          <a:lstStyle/>
          <a:p>
            <a:pPr algn="ctr" indent="0" marL="0">
              <a:buNone/>
            </a:pPr>
            <a:r>
              <a:rPr lang="en-US" sz="800" b="1" dirty="0">
                <a:solidFill>
                  <a:srgbClr val="27AE60"/>
                </a:solidFill>
                <a:latin typeface="Atkinson Hyperlegible" pitchFamily="34" charset="0"/>
                <a:ea typeface="Atkinson Hyperlegible" pitchFamily="34" charset="-122"/>
                <a:cs typeface="Atkinson Hyperlegible" pitchFamily="34" charset="-120"/>
              </a:rPr>
              <a:t>5</a:t>
            </a:r>
            <a:endParaRPr lang="en-US" sz="800" dirty="0"/>
          </a:p>
        </p:txBody>
      </p:sp>
      <p:sp>
        <p:nvSpPr>
          <p:cNvPr id="33" name="Text 31"/>
          <p:cNvSpPr/>
          <p:nvPr/>
        </p:nvSpPr>
        <p:spPr>
          <a:xfrm>
            <a:off x="7392010"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Cierre de Conceptual</a:t>
            </a:r>
            <a:endParaRPr lang="en-US" sz="800" dirty="0"/>
          </a:p>
        </p:txBody>
      </p:sp>
      <p:sp>
        <p:nvSpPr>
          <p:cNvPr id="34" name="Text 32"/>
          <p:cNvSpPr/>
          <p:nvPr/>
        </p:nvSpPr>
        <p:spPr>
          <a:xfrm>
            <a:off x="7392010" y="1828800"/>
            <a:ext cx="1367942" cy="594360"/>
          </a:xfrm>
          <a:prstGeom prst="rect">
            <a:avLst/>
          </a:prstGeom>
          <a:noFill/>
          <a:ln/>
        </p:spPr>
        <p:txBody>
          <a:bodyPr wrap="square" rtlCol="0" anchor="ctr"/>
          <a:lstStyle/>
          <a:p>
            <a:pPr algn="ctr" indent="0" marL="0">
              <a:buNone/>
            </a:pPr>
            <a:r>
              <a:rPr lang="en-US" sz="650" dirty="0">
                <a:solidFill>
                  <a:srgbClr val="FFFFFF">
                    <a:alpha val="90000"/>
                  </a:srgbClr>
                </a:solidFill>
                <a:latin typeface="Atkinson Hyperlegible" pitchFamily="34" charset="0"/>
                <a:ea typeface="Atkinson Hyperlegible" pitchFamily="34" charset="-122"/>
                <a:cs typeface="Atkinson Hyperlegible" pitchFamily="34" charset="-120"/>
              </a:rPr>
              <a:t>Gate Review con criterios CII</a:t>
            </a:r>
            <a:endParaRPr lang="en-US" sz="650" dirty="0"/>
          </a:p>
        </p:txBody>
      </p:sp>
      <p:sp>
        <p:nvSpPr>
          <p:cNvPr id="35" name="Shape 33"/>
          <p:cNvSpPr/>
          <p:nvPr/>
        </p:nvSpPr>
        <p:spPr>
          <a:xfrm>
            <a:off x="320040" y="3520440"/>
            <a:ext cx="8503920" cy="1280160"/>
          </a:xfrm>
          <a:prstGeom prst="roundRect">
            <a:avLst>
              <a:gd name="adj" fmla="val 7143"/>
            </a:avLst>
          </a:prstGeom>
          <a:solidFill>
            <a:srgbClr val="27AE60"/>
          </a:solidFill>
          <a:ln w="12700">
            <a:solidFill>
              <a:srgbClr val="27AE60"/>
            </a:solidFill>
            <a:prstDash val="solid"/>
          </a:ln>
        </p:spPr>
      </p:sp>
      <p:sp>
        <p:nvSpPr>
          <p:cNvPr id="36" name="Shape 34"/>
          <p:cNvSpPr/>
          <p:nvPr/>
        </p:nvSpPr>
        <p:spPr>
          <a:xfrm>
            <a:off x="320040" y="3520440"/>
            <a:ext cx="54864" cy="1280160"/>
          </a:xfrm>
          <a:prstGeom prst="rect">
            <a:avLst/>
          </a:prstGeom>
          <a:solidFill>
            <a:srgbClr val="27AE60"/>
          </a:solidFill>
          <a:ln w="12700">
            <a:solidFill>
              <a:srgbClr val="27AE60"/>
            </a:solidFill>
            <a:prstDash val="solid"/>
          </a:ln>
        </p:spPr>
      </p:sp>
      <p:sp>
        <p:nvSpPr>
          <p:cNvPr id="37" name="Text 35"/>
          <p:cNvSpPr/>
          <p:nvPr/>
        </p:nvSpPr>
        <p:spPr>
          <a:xfrm>
            <a:off x="457200" y="3566160"/>
            <a:ext cx="8229600" cy="320040"/>
          </a:xfrm>
          <a:prstGeom prst="rect">
            <a:avLst/>
          </a:prstGeom>
          <a:noFill/>
          <a:ln/>
        </p:spPr>
        <p:txBody>
          <a:bodyPr wrap="square" rtlCol="0" anchor="ctr"/>
          <a:lstStyle/>
          <a:p>
            <a:pPr indent="0" marL="0">
              <a:buNone/>
            </a:pPr>
            <a:r>
              <a:rPr lang="en-US" sz="900" b="1" dirty="0">
                <a:solidFill>
                  <a:srgbClr val="27AE60"/>
                </a:solidFill>
                <a:latin typeface="Atkinson Hyperlegible" pitchFamily="34" charset="0"/>
                <a:ea typeface="Atkinson Hyperlegible" pitchFamily="34" charset="-122"/>
                <a:cs typeface="Atkinson Hyperlegible" pitchFamily="34" charset="-120"/>
              </a:rPr>
              <a:t>Mensaje clave de la Fase I</a:t>
            </a:r>
            <a:endParaRPr lang="en-US" sz="900" dirty="0"/>
          </a:p>
        </p:txBody>
      </p:sp>
      <p:sp>
        <p:nvSpPr>
          <p:cNvPr id="38" name="Text 36"/>
          <p:cNvSpPr/>
          <p:nvPr/>
        </p:nvSpPr>
        <p:spPr>
          <a:xfrm>
            <a:off x="457200" y="3913632"/>
            <a:ext cx="8229600" cy="822960"/>
          </a:xfrm>
          <a:prstGeom prst="rect">
            <a:avLst/>
          </a:prstGeom>
          <a:noFill/>
          <a:ln/>
        </p:spPr>
        <p:txBody>
          <a:bodyPr wrap="square" rtlCol="0" anchor="ctr"/>
          <a:lstStyle/>
          <a:p>
            <a:pPr indent="0" marL="0">
              <a:buNone/>
            </a:pPr>
            <a:r>
              <a:rPr lang="en-US" sz="850" dirty="0">
                <a:solidFill>
                  <a:srgbClr val="1D1D1F"/>
                </a:solidFill>
                <a:latin typeface="Atkinson Hyperlegible" pitchFamily="34" charset="0"/>
                <a:ea typeface="Atkinson Hyperlegible" pitchFamily="34" charset="-122"/>
                <a:cs typeface="Atkinson Hyperlegible" pitchFamily="34" charset="-120"/>
              </a:rPr>
              <a:t>El 85% del potencial de ahorro de constructabilidad se activa en esta fase. Incorporar al Champion y al equipo constructor en las primeras semanas de planificación conceptual produce el mayor retorno de toda la inversión en constructabilidad.</a:t>
            </a:r>
            <a:endParaRPr lang="en-US" sz="850" dirty="0"/>
          </a:p>
        </p:txBody>
      </p:sp>
      <p:sp>
        <p:nvSpPr>
          <p:cNvPr id="39" name="Shape 37"/>
          <p:cNvSpPr/>
          <p:nvPr/>
        </p:nvSpPr>
        <p:spPr>
          <a:xfrm>
            <a:off x="182880" y="4956048"/>
            <a:ext cx="8961120" cy="182880"/>
          </a:xfrm>
          <a:prstGeom prst="rect">
            <a:avLst/>
          </a:prstGeom>
          <a:solidFill>
            <a:srgbClr val="27AE60"/>
          </a:solidFill>
          <a:ln w="12700">
            <a:solidFill>
              <a:srgbClr val="27AE60"/>
            </a:solidFill>
            <a:prstDash val="solid"/>
          </a:ln>
        </p:spPr>
      </p:sp>
      <p:sp>
        <p:nvSpPr>
          <p:cNvPr id="40" name="Text 38"/>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17 / 126</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27AE60"/>
          </a:solidFill>
          <a:ln w="12700">
            <a:solidFill>
              <a:srgbClr val="27AE60"/>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I-1: Conocimiento Constructor en la Planificación</a:t>
            </a:r>
            <a:endParaRPr lang="en-US" sz="1800" dirty="0"/>
          </a:p>
        </p:txBody>
      </p:sp>
      <p:sp>
        <p:nvSpPr>
          <p:cNvPr id="4" name="Shape 2"/>
          <p:cNvSpPr/>
          <p:nvPr/>
        </p:nvSpPr>
        <p:spPr>
          <a:xfrm>
            <a:off x="320040" y="640080"/>
            <a:ext cx="8503920" cy="41148"/>
          </a:xfrm>
          <a:prstGeom prst="rect">
            <a:avLst/>
          </a:prstGeom>
          <a:solidFill>
            <a:srgbClr val="27AE60"/>
          </a:solidFill>
          <a:ln w="12700">
            <a:solidFill>
              <a:srgbClr val="27AE60"/>
            </a:solidFill>
            <a:prstDash val="solid"/>
          </a:ln>
        </p:spPr>
      </p:sp>
      <p:sp>
        <p:nvSpPr>
          <p:cNvPr id="5" name="Shape 3"/>
          <p:cNvSpPr/>
          <p:nvPr/>
        </p:nvSpPr>
        <p:spPr>
          <a:xfrm>
            <a:off x="274320" y="804672"/>
            <a:ext cx="4160520" cy="4114800"/>
          </a:xfrm>
          <a:prstGeom prst="roundRect">
            <a:avLst>
              <a:gd name="adj" fmla="val 2222"/>
            </a:avLst>
          </a:prstGeom>
          <a:solidFill>
            <a:srgbClr val="27AE60"/>
          </a:solidFill>
          <a:ln w="12700">
            <a:solidFill>
              <a:srgbClr val="27AE60"/>
            </a:solidFill>
            <a:prstDash val="solid"/>
          </a:ln>
        </p:spPr>
      </p:sp>
      <p:sp>
        <p:nvSpPr>
          <p:cNvPr id="6" name="Shape 4"/>
          <p:cNvSpPr/>
          <p:nvPr/>
        </p:nvSpPr>
        <p:spPr>
          <a:xfrm>
            <a:off x="274320" y="804672"/>
            <a:ext cx="45720" cy="4114800"/>
          </a:xfrm>
          <a:prstGeom prst="rect">
            <a:avLst/>
          </a:prstGeom>
          <a:solidFill>
            <a:srgbClr val="27AE60"/>
          </a:solidFill>
          <a:ln w="12700">
            <a:solidFill>
              <a:srgbClr val="27AE60"/>
            </a:solidFill>
            <a:prstDash val="solid"/>
          </a:ln>
        </p:spPr>
      </p:sp>
      <p:sp>
        <p:nvSpPr>
          <p:cNvPr id="7" name="Text 5"/>
          <p:cNvSpPr/>
          <p:nvPr/>
        </p:nvSpPr>
        <p:spPr>
          <a:xfrm>
            <a:off x="384048" y="822960"/>
            <a:ext cx="3977640" cy="347472"/>
          </a:xfrm>
          <a:prstGeom prst="rect">
            <a:avLst/>
          </a:prstGeom>
          <a:noFill/>
          <a:ln/>
        </p:spPr>
        <p:txBody>
          <a:bodyPr wrap="square" rtlCol="0" anchor="ctr"/>
          <a:lstStyle/>
          <a:p>
            <a:pPr indent="0" marL="0">
              <a:buNone/>
            </a:pPr>
            <a:r>
              <a:rPr lang="en-US" sz="900" b="1" dirty="0">
                <a:solidFill>
                  <a:srgbClr val="27AE60"/>
                </a:solidFill>
                <a:latin typeface="Atkinson Hyperlegible" pitchFamily="34" charset="0"/>
                <a:ea typeface="Atkinson Hyperlegible" pitchFamily="34" charset="-122"/>
                <a:cs typeface="Atkinson Hyperlegible" pitchFamily="34" charset="-120"/>
              </a:rPr>
              <a:t>Concepto I-1</a:t>
            </a:r>
            <a:endParaRPr lang="en-US" sz="900" dirty="0"/>
          </a:p>
        </p:txBody>
      </p:sp>
      <p:sp>
        <p:nvSpPr>
          <p:cNvPr id="8" name="Shape 6"/>
          <p:cNvSpPr/>
          <p:nvPr/>
        </p:nvSpPr>
        <p:spPr>
          <a:xfrm>
            <a:off x="384048" y="1316736"/>
            <a:ext cx="164592" cy="164592"/>
          </a:xfrm>
          <a:prstGeom prst="ellipse">
            <a:avLst/>
          </a:prstGeom>
          <a:solidFill>
            <a:srgbClr val="27AE60"/>
          </a:solidFill>
          <a:ln w="12700">
            <a:solidFill>
              <a:srgbClr val="27AE60"/>
            </a:solidFill>
            <a:prstDash val="solid"/>
          </a:ln>
        </p:spPr>
      </p:sp>
      <p:sp>
        <p:nvSpPr>
          <p:cNvPr id="9" name="Text 7"/>
          <p:cNvSpPr/>
          <p:nvPr/>
        </p:nvSpPr>
        <p:spPr>
          <a:xfrm>
            <a:off x="612648" y="1234440"/>
            <a:ext cx="365760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¿Qué es?</a:t>
            </a:r>
            <a:endParaRPr lang="en-US" sz="850" dirty="0"/>
          </a:p>
        </p:txBody>
      </p:sp>
      <p:sp>
        <p:nvSpPr>
          <p:cNvPr id="10" name="Text 8"/>
          <p:cNvSpPr/>
          <p:nvPr/>
        </p:nvSpPr>
        <p:spPr>
          <a:xfrm>
            <a:off x="612648" y="1490472"/>
            <a:ext cx="365760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Involucrar expertos con experiencia en campo durante la planificación conceptual del proyecto.</a:t>
            </a:r>
            <a:endParaRPr lang="en-US" sz="750" dirty="0"/>
          </a:p>
        </p:txBody>
      </p:sp>
      <p:sp>
        <p:nvSpPr>
          <p:cNvPr id="11" name="Shape 9"/>
          <p:cNvSpPr/>
          <p:nvPr/>
        </p:nvSpPr>
        <p:spPr>
          <a:xfrm>
            <a:off x="384048" y="1847088"/>
            <a:ext cx="164592" cy="164592"/>
          </a:xfrm>
          <a:prstGeom prst="ellipse">
            <a:avLst/>
          </a:prstGeom>
          <a:solidFill>
            <a:srgbClr val="27AE60"/>
          </a:solidFill>
          <a:ln w="12700">
            <a:solidFill>
              <a:srgbClr val="27AE60"/>
            </a:solidFill>
            <a:prstDash val="solid"/>
          </a:ln>
        </p:spPr>
      </p:sp>
      <p:sp>
        <p:nvSpPr>
          <p:cNvPr id="12" name="Text 10"/>
          <p:cNvSpPr/>
          <p:nvPr/>
        </p:nvSpPr>
        <p:spPr>
          <a:xfrm>
            <a:off x="612648" y="1764792"/>
            <a:ext cx="365760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¿Cuándo?</a:t>
            </a:r>
            <a:endParaRPr lang="en-US" sz="850" dirty="0"/>
          </a:p>
        </p:txBody>
      </p:sp>
      <p:sp>
        <p:nvSpPr>
          <p:cNvPr id="13" name="Text 11"/>
          <p:cNvSpPr/>
          <p:nvPr/>
        </p:nvSpPr>
        <p:spPr>
          <a:xfrm>
            <a:off x="612648" y="2020824"/>
            <a:ext cx="365760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Desde la Fase de Conceptualización — antes de comprometer el diseño básico.</a:t>
            </a:r>
            <a:endParaRPr lang="en-US" sz="750" dirty="0"/>
          </a:p>
        </p:txBody>
      </p:sp>
      <p:sp>
        <p:nvSpPr>
          <p:cNvPr id="14" name="Shape 12"/>
          <p:cNvSpPr/>
          <p:nvPr/>
        </p:nvSpPr>
        <p:spPr>
          <a:xfrm>
            <a:off x="384048" y="2377440"/>
            <a:ext cx="164592" cy="164592"/>
          </a:xfrm>
          <a:prstGeom prst="ellipse">
            <a:avLst/>
          </a:prstGeom>
          <a:solidFill>
            <a:srgbClr val="27AE60"/>
          </a:solidFill>
          <a:ln w="12700">
            <a:solidFill>
              <a:srgbClr val="27AE60"/>
            </a:solidFill>
            <a:prstDash val="solid"/>
          </a:ln>
        </p:spPr>
      </p:sp>
      <p:sp>
        <p:nvSpPr>
          <p:cNvPr id="15" name="Text 13"/>
          <p:cNvSpPr/>
          <p:nvPr/>
        </p:nvSpPr>
        <p:spPr>
          <a:xfrm>
            <a:off x="612648" y="2295144"/>
            <a:ext cx="365760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Champion de Proyecto</a:t>
            </a:r>
            <a:endParaRPr lang="en-US" sz="850" dirty="0"/>
          </a:p>
        </p:txBody>
      </p:sp>
      <p:sp>
        <p:nvSpPr>
          <p:cNvPr id="16" name="Text 14"/>
          <p:cNvSpPr/>
          <p:nvPr/>
        </p:nvSpPr>
        <p:spPr>
          <a:xfrm>
            <a:off x="612648" y="2551176"/>
            <a:ext cx="365760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Persona con experiencia real en campo, no solo teórica. Mínimo: ha supervisado construcción.</a:t>
            </a:r>
            <a:endParaRPr lang="en-US" sz="750" dirty="0"/>
          </a:p>
        </p:txBody>
      </p:sp>
      <p:sp>
        <p:nvSpPr>
          <p:cNvPr id="17" name="Shape 15"/>
          <p:cNvSpPr/>
          <p:nvPr/>
        </p:nvSpPr>
        <p:spPr>
          <a:xfrm>
            <a:off x="384048" y="2907792"/>
            <a:ext cx="164592" cy="164592"/>
          </a:xfrm>
          <a:prstGeom prst="ellipse">
            <a:avLst/>
          </a:prstGeom>
          <a:solidFill>
            <a:srgbClr val="27AE60"/>
          </a:solidFill>
          <a:ln w="12700">
            <a:solidFill>
              <a:srgbClr val="27AE60"/>
            </a:solidFill>
            <a:prstDash val="solid"/>
          </a:ln>
        </p:spPr>
      </p:sp>
      <p:sp>
        <p:nvSpPr>
          <p:cNvPr id="18" name="Text 16"/>
          <p:cNvSpPr/>
          <p:nvPr/>
        </p:nvSpPr>
        <p:spPr>
          <a:xfrm>
            <a:off x="612648" y="2825496"/>
            <a:ext cx="365760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Conocimiento requerido</a:t>
            </a:r>
            <a:endParaRPr lang="en-US" sz="850" dirty="0"/>
          </a:p>
        </p:txBody>
      </p:sp>
      <p:sp>
        <p:nvSpPr>
          <p:cNvPr id="19" name="Text 17"/>
          <p:cNvSpPr/>
          <p:nvPr/>
        </p:nvSpPr>
        <p:spPr>
          <a:xfrm>
            <a:off x="612648" y="3081528"/>
            <a:ext cx="365760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Secuencias de construcción, métodos de erección, accesos, modulación, procura de materiales.</a:t>
            </a:r>
            <a:endParaRPr lang="en-US" sz="750" dirty="0"/>
          </a:p>
        </p:txBody>
      </p:sp>
      <p:sp>
        <p:nvSpPr>
          <p:cNvPr id="20" name="Text 18"/>
          <p:cNvSpPr/>
          <p:nvPr/>
        </p:nvSpPr>
        <p:spPr>
          <a:xfrm>
            <a:off x="4617720" y="822960"/>
            <a:ext cx="4251960" cy="347472"/>
          </a:xfrm>
          <a:prstGeom prst="rect">
            <a:avLst/>
          </a:prstGeom>
          <a:noFill/>
          <a:ln/>
        </p:spPr>
        <p:txBody>
          <a:bodyPr wrap="square" rtlCol="0" anchor="ctr"/>
          <a:lstStyle/>
          <a:p>
            <a:pPr indent="0" marL="0">
              <a:buNone/>
            </a:pPr>
            <a:r>
              <a:rPr lang="en-US" sz="900" b="1" dirty="0">
                <a:solidFill>
                  <a:srgbClr val="27AE60"/>
                </a:solidFill>
                <a:latin typeface="Atkinson Hyperlegible" pitchFamily="34" charset="0"/>
                <a:ea typeface="Atkinson Hyperlegible" pitchFamily="34" charset="-122"/>
                <a:cs typeface="Atkinson Hyperlegible" pitchFamily="34" charset="-120"/>
              </a:rPr>
              <a:t>Implementación Práctica</a:t>
            </a:r>
            <a:endParaRPr lang="en-US" sz="900" dirty="0"/>
          </a:p>
        </p:txBody>
      </p:sp>
      <p:sp>
        <p:nvSpPr>
          <p:cNvPr id="21" name="Shape 19"/>
          <p:cNvSpPr/>
          <p:nvPr/>
        </p:nvSpPr>
        <p:spPr>
          <a:xfrm>
            <a:off x="4617720" y="1316736"/>
            <a:ext cx="164592" cy="164592"/>
          </a:xfrm>
          <a:prstGeom prst="ellipse">
            <a:avLst/>
          </a:prstGeom>
          <a:solidFill>
            <a:srgbClr val="1D1D1F"/>
          </a:solidFill>
          <a:ln w="12700">
            <a:solidFill>
              <a:srgbClr val="1D1D1F"/>
            </a:solidFill>
            <a:prstDash val="solid"/>
          </a:ln>
        </p:spPr>
      </p:sp>
      <p:sp>
        <p:nvSpPr>
          <p:cNvPr id="22" name="Text 20"/>
          <p:cNvSpPr/>
          <p:nvPr/>
        </p:nvSpPr>
        <p:spPr>
          <a:xfrm>
            <a:off x="4846320" y="1234440"/>
            <a:ext cx="384048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Acciones concretas</a:t>
            </a:r>
            <a:endParaRPr lang="en-US" sz="850" dirty="0"/>
          </a:p>
        </p:txBody>
      </p:sp>
      <p:sp>
        <p:nvSpPr>
          <p:cNvPr id="23" name="Text 21"/>
          <p:cNvSpPr/>
          <p:nvPr/>
        </p:nvSpPr>
        <p:spPr>
          <a:xfrm>
            <a:off x="4846320" y="1490472"/>
            <a:ext cx="384048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Talleres de constructabilidad en las primeras 4 semanas del proyecto.</a:t>
            </a:r>
            <a:endParaRPr lang="en-US" sz="750" dirty="0"/>
          </a:p>
        </p:txBody>
      </p:sp>
      <p:sp>
        <p:nvSpPr>
          <p:cNvPr id="24" name="Shape 22"/>
          <p:cNvSpPr/>
          <p:nvPr/>
        </p:nvSpPr>
        <p:spPr>
          <a:xfrm>
            <a:off x="4617720" y="1847088"/>
            <a:ext cx="164592" cy="164592"/>
          </a:xfrm>
          <a:prstGeom prst="ellipse">
            <a:avLst/>
          </a:prstGeom>
          <a:solidFill>
            <a:srgbClr val="1D1D1F"/>
          </a:solidFill>
          <a:ln w="12700">
            <a:solidFill>
              <a:srgbClr val="1D1D1F"/>
            </a:solidFill>
            <a:prstDash val="solid"/>
          </a:ln>
        </p:spPr>
      </p:sp>
      <p:sp>
        <p:nvSpPr>
          <p:cNvPr id="25" name="Text 23"/>
          <p:cNvSpPr/>
          <p:nvPr/>
        </p:nvSpPr>
        <p:spPr>
          <a:xfrm>
            <a:off x="4846320" y="1764792"/>
            <a:ext cx="384048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Entregables Fase I</a:t>
            </a:r>
            <a:endParaRPr lang="en-US" sz="850" dirty="0"/>
          </a:p>
        </p:txBody>
      </p:sp>
      <p:sp>
        <p:nvSpPr>
          <p:cNvPr id="26" name="Text 24"/>
          <p:cNvSpPr/>
          <p:nvPr/>
        </p:nvSpPr>
        <p:spPr>
          <a:xfrm>
            <a:off x="4846320" y="2020824"/>
            <a:ext cx="384048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Lista de decisiones constructivas críticas y sus implicaciones en costo/plazo.</a:t>
            </a:r>
            <a:endParaRPr lang="en-US" sz="750" dirty="0"/>
          </a:p>
        </p:txBody>
      </p:sp>
      <p:sp>
        <p:nvSpPr>
          <p:cNvPr id="27" name="Shape 25"/>
          <p:cNvSpPr/>
          <p:nvPr/>
        </p:nvSpPr>
        <p:spPr>
          <a:xfrm>
            <a:off x="4617720" y="2377440"/>
            <a:ext cx="164592" cy="164592"/>
          </a:xfrm>
          <a:prstGeom prst="ellipse">
            <a:avLst/>
          </a:prstGeom>
          <a:solidFill>
            <a:srgbClr val="1D1D1F"/>
          </a:solidFill>
          <a:ln w="12700">
            <a:solidFill>
              <a:srgbClr val="1D1D1F"/>
            </a:solidFill>
            <a:prstDash val="solid"/>
          </a:ln>
        </p:spPr>
      </p:sp>
      <p:sp>
        <p:nvSpPr>
          <p:cNvPr id="28" name="Text 26"/>
          <p:cNvSpPr/>
          <p:nvPr/>
        </p:nvSpPr>
        <p:spPr>
          <a:xfrm>
            <a:off x="4846320" y="2295144"/>
            <a:ext cx="384048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Herramienta CII</a:t>
            </a:r>
            <a:endParaRPr lang="en-US" sz="850" dirty="0"/>
          </a:p>
        </p:txBody>
      </p:sp>
      <p:sp>
        <p:nvSpPr>
          <p:cNvPr id="29" name="Text 27"/>
          <p:cNvSpPr/>
          <p:nvPr/>
        </p:nvSpPr>
        <p:spPr>
          <a:xfrm>
            <a:off x="4846320" y="2551176"/>
            <a:ext cx="384048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Tool T-1: Construction Knowledge Checklist. Verifica que el equipo tiene las competencias necesarias.</a:t>
            </a:r>
            <a:endParaRPr lang="en-US" sz="750" dirty="0"/>
          </a:p>
        </p:txBody>
      </p:sp>
      <p:sp>
        <p:nvSpPr>
          <p:cNvPr id="30" name="Shape 28"/>
          <p:cNvSpPr/>
          <p:nvPr/>
        </p:nvSpPr>
        <p:spPr>
          <a:xfrm>
            <a:off x="4617720" y="2907792"/>
            <a:ext cx="164592" cy="164592"/>
          </a:xfrm>
          <a:prstGeom prst="ellipse">
            <a:avLst/>
          </a:prstGeom>
          <a:solidFill>
            <a:srgbClr val="1D1D1F"/>
          </a:solidFill>
          <a:ln w="12700">
            <a:solidFill>
              <a:srgbClr val="1D1D1F"/>
            </a:solidFill>
            <a:prstDash val="solid"/>
          </a:ln>
        </p:spPr>
      </p:sp>
      <p:sp>
        <p:nvSpPr>
          <p:cNvPr id="31" name="Text 29"/>
          <p:cNvSpPr/>
          <p:nvPr/>
        </p:nvSpPr>
        <p:spPr>
          <a:xfrm>
            <a:off x="4846320" y="2825496"/>
            <a:ext cx="384048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Impacto medido</a:t>
            </a:r>
            <a:endParaRPr lang="en-US" sz="850" dirty="0"/>
          </a:p>
        </p:txBody>
      </p:sp>
      <p:sp>
        <p:nvSpPr>
          <p:cNvPr id="32" name="Text 30"/>
          <p:cNvSpPr/>
          <p:nvPr/>
        </p:nvSpPr>
        <p:spPr>
          <a:xfrm>
            <a:off x="4846320" y="3081528"/>
            <a:ext cx="384048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Proyectos con knowledge input temprano reducen Change Orders en 35-45% (CII RT-34).</a:t>
            </a:r>
            <a:endParaRPr lang="en-US" sz="750" dirty="0"/>
          </a:p>
        </p:txBody>
      </p:sp>
      <p:sp>
        <p:nvSpPr>
          <p:cNvPr id="33" name="Shape 31"/>
          <p:cNvSpPr/>
          <p:nvPr/>
        </p:nvSpPr>
        <p:spPr>
          <a:xfrm>
            <a:off x="182880" y="4956048"/>
            <a:ext cx="8961120" cy="182880"/>
          </a:xfrm>
          <a:prstGeom prst="rect">
            <a:avLst/>
          </a:prstGeom>
          <a:solidFill>
            <a:srgbClr val="27AE60"/>
          </a:solidFill>
          <a:ln w="12700">
            <a:solidFill>
              <a:srgbClr val="27AE60"/>
            </a:solidFill>
            <a:prstDash val="solid"/>
          </a:ln>
        </p:spPr>
      </p:sp>
      <p:sp>
        <p:nvSpPr>
          <p:cNvPr id="34" name="Text 32"/>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18 / 126</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27AE60"/>
          </a:solidFill>
          <a:ln w="12700">
            <a:solidFill>
              <a:srgbClr val="27AE60"/>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I-2: Programa Formal de Constructabilidad</a:t>
            </a:r>
            <a:endParaRPr lang="en-US" sz="1800" dirty="0"/>
          </a:p>
        </p:txBody>
      </p:sp>
      <p:sp>
        <p:nvSpPr>
          <p:cNvPr id="4" name="Shape 2"/>
          <p:cNvSpPr/>
          <p:nvPr/>
        </p:nvSpPr>
        <p:spPr>
          <a:xfrm>
            <a:off x="320040" y="640080"/>
            <a:ext cx="8503920" cy="41148"/>
          </a:xfrm>
          <a:prstGeom prst="rect">
            <a:avLst/>
          </a:prstGeom>
          <a:solidFill>
            <a:srgbClr val="27AE60"/>
          </a:solidFill>
          <a:ln w="12700">
            <a:solidFill>
              <a:srgbClr val="27AE60"/>
            </a:solidFill>
            <a:prstDash val="solid"/>
          </a:ln>
        </p:spPr>
      </p:sp>
      <p:sp>
        <p:nvSpPr>
          <p:cNvPr id="5" name="Shape 3"/>
          <p:cNvSpPr/>
          <p:nvPr/>
        </p:nvSpPr>
        <p:spPr>
          <a:xfrm>
            <a:off x="320040" y="1371600"/>
            <a:ext cx="1495958" cy="1051560"/>
          </a:xfrm>
          <a:prstGeom prst="roundRect">
            <a:avLst>
              <a:gd name="adj" fmla="val 7826"/>
            </a:avLst>
          </a:prstGeom>
          <a:solidFill>
            <a:srgbClr val="27AE60"/>
          </a:solidFill>
          <a:ln w="12700">
            <a:solidFill>
              <a:srgbClr val="27AE60"/>
            </a:solidFill>
            <a:prstDash val="solid"/>
          </a:ln>
        </p:spPr>
      </p:sp>
      <p:sp>
        <p:nvSpPr>
          <p:cNvPr id="6" name="Shape 4"/>
          <p:cNvSpPr/>
          <p:nvPr/>
        </p:nvSpPr>
        <p:spPr>
          <a:xfrm>
            <a:off x="885139" y="1152144"/>
            <a:ext cx="365760" cy="365760"/>
          </a:xfrm>
          <a:prstGeom prst="ellipse">
            <a:avLst/>
          </a:prstGeom>
          <a:solidFill>
            <a:srgbClr val="FFFFFF"/>
          </a:solidFill>
          <a:ln w="19050">
            <a:solidFill>
              <a:srgbClr val="27AE60"/>
            </a:solidFill>
            <a:prstDash val="solid"/>
          </a:ln>
        </p:spPr>
      </p:sp>
      <p:sp>
        <p:nvSpPr>
          <p:cNvPr id="7" name="Text 5"/>
          <p:cNvSpPr/>
          <p:nvPr/>
        </p:nvSpPr>
        <p:spPr>
          <a:xfrm>
            <a:off x="885139" y="1152144"/>
            <a:ext cx="365760" cy="365760"/>
          </a:xfrm>
          <a:prstGeom prst="rect">
            <a:avLst/>
          </a:prstGeom>
          <a:noFill/>
          <a:ln/>
        </p:spPr>
        <p:txBody>
          <a:bodyPr wrap="square" rtlCol="0" anchor="ctr"/>
          <a:lstStyle/>
          <a:p>
            <a:pPr algn="ctr" indent="0" marL="0">
              <a:buNone/>
            </a:pPr>
            <a:r>
              <a:rPr lang="en-US" sz="800" b="1" dirty="0">
                <a:solidFill>
                  <a:srgbClr val="27AE60"/>
                </a:solidFill>
                <a:latin typeface="Atkinson Hyperlegible" pitchFamily="34" charset="0"/>
                <a:ea typeface="Atkinson Hyperlegible" pitchFamily="34" charset="-122"/>
                <a:cs typeface="Atkinson Hyperlegible" pitchFamily="34" charset="-120"/>
              </a:rPr>
              <a:t>1</a:t>
            </a:r>
            <a:endParaRPr lang="en-US" sz="800" dirty="0"/>
          </a:p>
        </p:txBody>
      </p:sp>
      <p:sp>
        <p:nvSpPr>
          <p:cNvPr id="8" name="Text 6"/>
          <p:cNvSpPr/>
          <p:nvPr/>
        </p:nvSpPr>
        <p:spPr>
          <a:xfrm>
            <a:off x="384048"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Compromiso</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Gerencial</a:t>
            </a:r>
            <a:endParaRPr lang="en-US" sz="800" dirty="0"/>
          </a:p>
        </p:txBody>
      </p:sp>
      <p:sp>
        <p:nvSpPr>
          <p:cNvPr id="9" name="Text 7"/>
          <p:cNvSpPr/>
          <p:nvPr/>
        </p:nvSpPr>
        <p:spPr>
          <a:xfrm>
            <a:off x="384048" y="1828800"/>
            <a:ext cx="1367942" cy="548640"/>
          </a:xfrm>
          <a:prstGeom prst="rect">
            <a:avLst/>
          </a:prstGeom>
          <a:noFill/>
          <a:ln/>
        </p:spPr>
        <p:txBody>
          <a:bodyPr wrap="square" rtlCol="0" anchor="ctr"/>
          <a:lstStyle/>
          <a:p>
            <a:pPr algn="ctr" indent="0" marL="0">
              <a:buNone/>
            </a:pPr>
            <a:r>
              <a:rPr lang="en-US" sz="650" dirty="0">
                <a:solidFill>
                  <a:srgbClr val="FFFFFF">
                    <a:alpha val="90000"/>
                  </a:srgbClr>
                </a:solidFill>
                <a:latin typeface="Atkinson Hyperlegible" pitchFamily="34" charset="0"/>
                <a:ea typeface="Atkinson Hyperlegible" pitchFamily="34" charset="-122"/>
                <a:cs typeface="Atkinson Hyperlegible" pitchFamily="34" charset="-120"/>
              </a:rPr>
              <a:t>Política corporativa y soporte de dirección</a:t>
            </a:r>
            <a:endParaRPr lang="en-US" sz="650" dirty="0"/>
          </a:p>
        </p:txBody>
      </p:sp>
      <p:sp>
        <p:nvSpPr>
          <p:cNvPr id="10" name="Shape 8"/>
          <p:cNvSpPr/>
          <p:nvPr/>
        </p:nvSpPr>
        <p:spPr>
          <a:xfrm>
            <a:off x="1825142" y="1778508"/>
            <a:ext cx="246888" cy="237744"/>
          </a:xfrm>
          <a:prstGeom prst="rightArrow">
            <a:avLst/>
          </a:prstGeom>
          <a:solidFill>
            <a:srgbClr val="27AE60"/>
          </a:solidFill>
          <a:ln w="12700">
            <a:solidFill>
              <a:srgbClr val="27AE60"/>
            </a:solidFill>
            <a:prstDash val="solid"/>
          </a:ln>
        </p:spPr>
      </p:sp>
      <p:sp>
        <p:nvSpPr>
          <p:cNvPr id="11" name="Shape 9"/>
          <p:cNvSpPr/>
          <p:nvPr/>
        </p:nvSpPr>
        <p:spPr>
          <a:xfrm>
            <a:off x="2072030" y="1371600"/>
            <a:ext cx="1495958" cy="1051560"/>
          </a:xfrm>
          <a:prstGeom prst="roundRect">
            <a:avLst>
              <a:gd name="adj" fmla="val 7826"/>
            </a:avLst>
          </a:prstGeom>
          <a:solidFill>
            <a:srgbClr val="1D1D1F"/>
          </a:solidFill>
          <a:ln w="12700">
            <a:solidFill>
              <a:srgbClr val="1D1D1F"/>
            </a:solidFill>
            <a:prstDash val="solid"/>
          </a:ln>
        </p:spPr>
      </p:sp>
      <p:sp>
        <p:nvSpPr>
          <p:cNvPr id="12" name="Shape 10"/>
          <p:cNvSpPr/>
          <p:nvPr/>
        </p:nvSpPr>
        <p:spPr>
          <a:xfrm>
            <a:off x="2637130" y="1152144"/>
            <a:ext cx="365760" cy="365760"/>
          </a:xfrm>
          <a:prstGeom prst="ellipse">
            <a:avLst/>
          </a:prstGeom>
          <a:solidFill>
            <a:srgbClr val="FFFFFF"/>
          </a:solidFill>
          <a:ln w="19050">
            <a:solidFill>
              <a:srgbClr val="1D1D1F"/>
            </a:solidFill>
            <a:prstDash val="solid"/>
          </a:ln>
        </p:spPr>
      </p:sp>
      <p:sp>
        <p:nvSpPr>
          <p:cNvPr id="13" name="Text 11"/>
          <p:cNvSpPr/>
          <p:nvPr/>
        </p:nvSpPr>
        <p:spPr>
          <a:xfrm>
            <a:off x="2637130" y="1152144"/>
            <a:ext cx="365760" cy="365760"/>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2</a:t>
            </a:r>
            <a:endParaRPr lang="en-US" sz="800" dirty="0"/>
          </a:p>
        </p:txBody>
      </p:sp>
      <p:sp>
        <p:nvSpPr>
          <p:cNvPr id="14" name="Text 12"/>
          <p:cNvSpPr/>
          <p:nvPr/>
        </p:nvSpPr>
        <p:spPr>
          <a:xfrm>
            <a:off x="2136038"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Plan de</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Constructabilidad</a:t>
            </a:r>
            <a:endParaRPr lang="en-US" sz="800" dirty="0"/>
          </a:p>
        </p:txBody>
      </p:sp>
      <p:sp>
        <p:nvSpPr>
          <p:cNvPr id="15" name="Text 13"/>
          <p:cNvSpPr/>
          <p:nvPr/>
        </p:nvSpPr>
        <p:spPr>
          <a:xfrm>
            <a:off x="2136038" y="1828800"/>
            <a:ext cx="1367942" cy="548640"/>
          </a:xfrm>
          <a:prstGeom prst="rect">
            <a:avLst/>
          </a:prstGeom>
          <a:noFill/>
          <a:ln/>
        </p:spPr>
        <p:txBody>
          <a:bodyPr wrap="square" rtlCol="0" anchor="ctr"/>
          <a:lstStyle/>
          <a:p>
            <a:pPr algn="ctr" indent="0" marL="0">
              <a:buNone/>
            </a:pPr>
            <a:r>
              <a:rPr lang="en-US" sz="650" dirty="0">
                <a:solidFill>
                  <a:srgbClr val="FFFFFF">
                    <a:alpha val="90000"/>
                  </a:srgbClr>
                </a:solidFill>
                <a:latin typeface="Atkinson Hyperlegible" pitchFamily="34" charset="0"/>
                <a:ea typeface="Atkinson Hyperlegible" pitchFamily="34" charset="-122"/>
                <a:cs typeface="Atkinson Hyperlegible" pitchFamily="34" charset="-120"/>
              </a:rPr>
              <a:t>Sección en el PEP del proyecto</a:t>
            </a:r>
            <a:endParaRPr lang="en-US" sz="650" dirty="0"/>
          </a:p>
        </p:txBody>
      </p:sp>
      <p:sp>
        <p:nvSpPr>
          <p:cNvPr id="16" name="Shape 14"/>
          <p:cNvSpPr/>
          <p:nvPr/>
        </p:nvSpPr>
        <p:spPr>
          <a:xfrm>
            <a:off x="3577133" y="1778508"/>
            <a:ext cx="246888" cy="237744"/>
          </a:xfrm>
          <a:prstGeom prst="rightArrow">
            <a:avLst/>
          </a:prstGeom>
          <a:solidFill>
            <a:srgbClr val="27AE60"/>
          </a:solidFill>
          <a:ln w="12700">
            <a:solidFill>
              <a:srgbClr val="27AE60"/>
            </a:solidFill>
            <a:prstDash val="solid"/>
          </a:ln>
        </p:spPr>
      </p:sp>
      <p:sp>
        <p:nvSpPr>
          <p:cNvPr id="17" name="Shape 15"/>
          <p:cNvSpPr/>
          <p:nvPr/>
        </p:nvSpPr>
        <p:spPr>
          <a:xfrm>
            <a:off x="3824021" y="1371600"/>
            <a:ext cx="1495958" cy="1051560"/>
          </a:xfrm>
          <a:prstGeom prst="roundRect">
            <a:avLst>
              <a:gd name="adj" fmla="val 7826"/>
            </a:avLst>
          </a:prstGeom>
          <a:solidFill>
            <a:srgbClr val="27AE60"/>
          </a:solidFill>
          <a:ln w="12700">
            <a:solidFill>
              <a:srgbClr val="27AE60"/>
            </a:solidFill>
            <a:prstDash val="solid"/>
          </a:ln>
        </p:spPr>
      </p:sp>
      <p:sp>
        <p:nvSpPr>
          <p:cNvPr id="18" name="Shape 16"/>
          <p:cNvSpPr/>
          <p:nvPr/>
        </p:nvSpPr>
        <p:spPr>
          <a:xfrm>
            <a:off x="4389120" y="1152144"/>
            <a:ext cx="365760" cy="365760"/>
          </a:xfrm>
          <a:prstGeom prst="ellipse">
            <a:avLst/>
          </a:prstGeom>
          <a:solidFill>
            <a:srgbClr val="FFFFFF"/>
          </a:solidFill>
          <a:ln w="19050">
            <a:solidFill>
              <a:srgbClr val="27AE60"/>
            </a:solidFill>
            <a:prstDash val="solid"/>
          </a:ln>
        </p:spPr>
      </p:sp>
      <p:sp>
        <p:nvSpPr>
          <p:cNvPr id="19" name="Text 17"/>
          <p:cNvSpPr/>
          <p:nvPr/>
        </p:nvSpPr>
        <p:spPr>
          <a:xfrm>
            <a:off x="4389120" y="1152144"/>
            <a:ext cx="365760" cy="365760"/>
          </a:xfrm>
          <a:prstGeom prst="rect">
            <a:avLst/>
          </a:prstGeom>
          <a:noFill/>
          <a:ln/>
        </p:spPr>
        <p:txBody>
          <a:bodyPr wrap="square" rtlCol="0" anchor="ctr"/>
          <a:lstStyle/>
          <a:p>
            <a:pPr algn="ctr" indent="0" marL="0">
              <a:buNone/>
            </a:pPr>
            <a:r>
              <a:rPr lang="en-US" sz="800" b="1" dirty="0">
                <a:solidFill>
                  <a:srgbClr val="27AE60"/>
                </a:solidFill>
                <a:latin typeface="Atkinson Hyperlegible" pitchFamily="34" charset="0"/>
                <a:ea typeface="Atkinson Hyperlegible" pitchFamily="34" charset="-122"/>
                <a:cs typeface="Atkinson Hyperlegible" pitchFamily="34" charset="-120"/>
              </a:rPr>
              <a:t>3</a:t>
            </a:r>
            <a:endParaRPr lang="en-US" sz="800" dirty="0"/>
          </a:p>
        </p:txBody>
      </p:sp>
      <p:sp>
        <p:nvSpPr>
          <p:cNvPr id="20" name="Text 18"/>
          <p:cNvSpPr/>
          <p:nvPr/>
        </p:nvSpPr>
        <p:spPr>
          <a:xfrm>
            <a:off x="3888029"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Champion</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Asignado</a:t>
            </a:r>
            <a:endParaRPr lang="en-US" sz="800" dirty="0"/>
          </a:p>
        </p:txBody>
      </p:sp>
      <p:sp>
        <p:nvSpPr>
          <p:cNvPr id="21" name="Text 19"/>
          <p:cNvSpPr/>
          <p:nvPr/>
        </p:nvSpPr>
        <p:spPr>
          <a:xfrm>
            <a:off x="3888029" y="1828800"/>
            <a:ext cx="1367942" cy="548640"/>
          </a:xfrm>
          <a:prstGeom prst="rect">
            <a:avLst/>
          </a:prstGeom>
          <a:noFill/>
          <a:ln/>
        </p:spPr>
        <p:txBody>
          <a:bodyPr wrap="square" rtlCol="0" anchor="ctr"/>
          <a:lstStyle/>
          <a:p>
            <a:pPr algn="ctr" indent="0" marL="0">
              <a:buNone/>
            </a:pPr>
            <a:r>
              <a:rPr lang="en-US" sz="650" dirty="0">
                <a:solidFill>
                  <a:srgbClr val="FFFFFF">
                    <a:alpha val="90000"/>
                  </a:srgbClr>
                </a:solidFill>
                <a:latin typeface="Atkinson Hyperlegible" pitchFamily="34" charset="0"/>
                <a:ea typeface="Atkinson Hyperlegible" pitchFamily="34" charset="-122"/>
                <a:cs typeface="Atkinson Hyperlegible" pitchFamily="34" charset="-120"/>
              </a:rPr>
              <a:t>Perfil, autoridad y recursos definidos</a:t>
            </a:r>
            <a:endParaRPr lang="en-US" sz="650" dirty="0"/>
          </a:p>
        </p:txBody>
      </p:sp>
      <p:sp>
        <p:nvSpPr>
          <p:cNvPr id="22" name="Shape 20"/>
          <p:cNvSpPr/>
          <p:nvPr/>
        </p:nvSpPr>
        <p:spPr>
          <a:xfrm>
            <a:off x="5329123" y="1778508"/>
            <a:ext cx="246888" cy="237744"/>
          </a:xfrm>
          <a:prstGeom prst="rightArrow">
            <a:avLst/>
          </a:prstGeom>
          <a:solidFill>
            <a:srgbClr val="27AE60"/>
          </a:solidFill>
          <a:ln w="12700">
            <a:solidFill>
              <a:srgbClr val="27AE60"/>
            </a:solidFill>
            <a:prstDash val="solid"/>
          </a:ln>
        </p:spPr>
      </p:sp>
      <p:sp>
        <p:nvSpPr>
          <p:cNvPr id="23" name="Shape 21"/>
          <p:cNvSpPr/>
          <p:nvPr/>
        </p:nvSpPr>
        <p:spPr>
          <a:xfrm>
            <a:off x="5576011" y="1371600"/>
            <a:ext cx="1495958" cy="1051560"/>
          </a:xfrm>
          <a:prstGeom prst="roundRect">
            <a:avLst>
              <a:gd name="adj" fmla="val 7826"/>
            </a:avLst>
          </a:prstGeom>
          <a:solidFill>
            <a:srgbClr val="1D1D1F"/>
          </a:solidFill>
          <a:ln w="12700">
            <a:solidFill>
              <a:srgbClr val="1D1D1F"/>
            </a:solidFill>
            <a:prstDash val="solid"/>
          </a:ln>
        </p:spPr>
      </p:sp>
      <p:sp>
        <p:nvSpPr>
          <p:cNvPr id="24" name="Shape 22"/>
          <p:cNvSpPr/>
          <p:nvPr/>
        </p:nvSpPr>
        <p:spPr>
          <a:xfrm>
            <a:off x="6141110" y="1152144"/>
            <a:ext cx="365760" cy="365760"/>
          </a:xfrm>
          <a:prstGeom prst="ellipse">
            <a:avLst/>
          </a:prstGeom>
          <a:solidFill>
            <a:srgbClr val="FFFFFF"/>
          </a:solidFill>
          <a:ln w="19050">
            <a:solidFill>
              <a:srgbClr val="1D1D1F"/>
            </a:solidFill>
            <a:prstDash val="solid"/>
          </a:ln>
        </p:spPr>
      </p:sp>
      <p:sp>
        <p:nvSpPr>
          <p:cNvPr id="25" name="Text 23"/>
          <p:cNvSpPr/>
          <p:nvPr/>
        </p:nvSpPr>
        <p:spPr>
          <a:xfrm>
            <a:off x="6141110" y="1152144"/>
            <a:ext cx="365760" cy="365760"/>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4</a:t>
            </a:r>
            <a:endParaRPr lang="en-US" sz="800" dirty="0"/>
          </a:p>
        </p:txBody>
      </p:sp>
      <p:sp>
        <p:nvSpPr>
          <p:cNvPr id="26" name="Text 24"/>
          <p:cNvSpPr/>
          <p:nvPr/>
        </p:nvSpPr>
        <p:spPr>
          <a:xfrm>
            <a:off x="5640019"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Talleres y</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Revisiones</a:t>
            </a:r>
            <a:endParaRPr lang="en-US" sz="800" dirty="0"/>
          </a:p>
        </p:txBody>
      </p:sp>
      <p:sp>
        <p:nvSpPr>
          <p:cNvPr id="27" name="Text 25"/>
          <p:cNvSpPr/>
          <p:nvPr/>
        </p:nvSpPr>
        <p:spPr>
          <a:xfrm>
            <a:off x="5640019" y="1828800"/>
            <a:ext cx="1367942" cy="548640"/>
          </a:xfrm>
          <a:prstGeom prst="rect">
            <a:avLst/>
          </a:prstGeom>
          <a:noFill/>
          <a:ln/>
        </p:spPr>
        <p:txBody>
          <a:bodyPr wrap="square" rtlCol="0" anchor="ctr"/>
          <a:lstStyle/>
          <a:p>
            <a:pPr algn="ctr" indent="0" marL="0">
              <a:buNone/>
            </a:pPr>
            <a:r>
              <a:rPr lang="en-US" sz="650" dirty="0">
                <a:solidFill>
                  <a:srgbClr val="FFFFFF">
                    <a:alpha val="90000"/>
                  </a:srgbClr>
                </a:solidFill>
                <a:latin typeface="Atkinson Hyperlegible" pitchFamily="34" charset="0"/>
                <a:ea typeface="Atkinson Hyperlegible" pitchFamily="34" charset="-122"/>
                <a:cs typeface="Atkinson Hyperlegible" pitchFamily="34" charset="-120"/>
              </a:rPr>
              <a:t>Cronograma de hitos constructivos</a:t>
            </a:r>
            <a:endParaRPr lang="en-US" sz="650" dirty="0"/>
          </a:p>
        </p:txBody>
      </p:sp>
      <p:sp>
        <p:nvSpPr>
          <p:cNvPr id="28" name="Shape 26"/>
          <p:cNvSpPr/>
          <p:nvPr/>
        </p:nvSpPr>
        <p:spPr>
          <a:xfrm>
            <a:off x="7081114" y="1778508"/>
            <a:ext cx="246888" cy="237744"/>
          </a:xfrm>
          <a:prstGeom prst="rightArrow">
            <a:avLst/>
          </a:prstGeom>
          <a:solidFill>
            <a:srgbClr val="27AE60"/>
          </a:solidFill>
          <a:ln w="12700">
            <a:solidFill>
              <a:srgbClr val="27AE60"/>
            </a:solidFill>
            <a:prstDash val="solid"/>
          </a:ln>
        </p:spPr>
      </p:sp>
      <p:sp>
        <p:nvSpPr>
          <p:cNvPr id="29" name="Shape 27"/>
          <p:cNvSpPr/>
          <p:nvPr/>
        </p:nvSpPr>
        <p:spPr>
          <a:xfrm>
            <a:off x="7328002" y="1371600"/>
            <a:ext cx="1495958" cy="1051560"/>
          </a:xfrm>
          <a:prstGeom prst="roundRect">
            <a:avLst>
              <a:gd name="adj" fmla="val 7826"/>
            </a:avLst>
          </a:prstGeom>
          <a:solidFill>
            <a:srgbClr val="27AE60"/>
          </a:solidFill>
          <a:ln w="12700">
            <a:solidFill>
              <a:srgbClr val="27AE60"/>
            </a:solidFill>
            <a:prstDash val="solid"/>
          </a:ln>
        </p:spPr>
      </p:sp>
      <p:sp>
        <p:nvSpPr>
          <p:cNvPr id="30" name="Shape 28"/>
          <p:cNvSpPr/>
          <p:nvPr/>
        </p:nvSpPr>
        <p:spPr>
          <a:xfrm>
            <a:off x="7893101" y="1152144"/>
            <a:ext cx="365760" cy="365760"/>
          </a:xfrm>
          <a:prstGeom prst="ellipse">
            <a:avLst/>
          </a:prstGeom>
          <a:solidFill>
            <a:srgbClr val="FFFFFF"/>
          </a:solidFill>
          <a:ln w="19050">
            <a:solidFill>
              <a:srgbClr val="27AE60"/>
            </a:solidFill>
            <a:prstDash val="solid"/>
          </a:ln>
        </p:spPr>
      </p:sp>
      <p:sp>
        <p:nvSpPr>
          <p:cNvPr id="31" name="Text 29"/>
          <p:cNvSpPr/>
          <p:nvPr/>
        </p:nvSpPr>
        <p:spPr>
          <a:xfrm>
            <a:off x="7893101" y="1152144"/>
            <a:ext cx="365760" cy="365760"/>
          </a:xfrm>
          <a:prstGeom prst="rect">
            <a:avLst/>
          </a:prstGeom>
          <a:noFill/>
          <a:ln/>
        </p:spPr>
        <p:txBody>
          <a:bodyPr wrap="square" rtlCol="0" anchor="ctr"/>
          <a:lstStyle/>
          <a:p>
            <a:pPr algn="ctr" indent="0" marL="0">
              <a:buNone/>
            </a:pPr>
            <a:r>
              <a:rPr lang="en-US" sz="800" b="1" dirty="0">
                <a:solidFill>
                  <a:srgbClr val="27AE60"/>
                </a:solidFill>
                <a:latin typeface="Atkinson Hyperlegible" pitchFamily="34" charset="0"/>
                <a:ea typeface="Atkinson Hyperlegible" pitchFamily="34" charset="-122"/>
                <a:cs typeface="Atkinson Hyperlegible" pitchFamily="34" charset="-120"/>
              </a:rPr>
              <a:t>5</a:t>
            </a:r>
            <a:endParaRPr lang="en-US" sz="800" dirty="0"/>
          </a:p>
        </p:txBody>
      </p:sp>
      <p:sp>
        <p:nvSpPr>
          <p:cNvPr id="32" name="Text 30"/>
          <p:cNvSpPr/>
          <p:nvPr/>
        </p:nvSpPr>
        <p:spPr>
          <a:xfrm>
            <a:off x="7392010"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Registro de</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Lecciones</a:t>
            </a:r>
            <a:endParaRPr lang="en-US" sz="800" dirty="0"/>
          </a:p>
        </p:txBody>
      </p:sp>
      <p:sp>
        <p:nvSpPr>
          <p:cNvPr id="33" name="Text 31"/>
          <p:cNvSpPr/>
          <p:nvPr/>
        </p:nvSpPr>
        <p:spPr>
          <a:xfrm>
            <a:off x="7392010" y="1828800"/>
            <a:ext cx="1367942" cy="548640"/>
          </a:xfrm>
          <a:prstGeom prst="rect">
            <a:avLst/>
          </a:prstGeom>
          <a:noFill/>
          <a:ln/>
        </p:spPr>
        <p:txBody>
          <a:bodyPr wrap="square" rtlCol="0" anchor="ctr"/>
          <a:lstStyle/>
          <a:p>
            <a:pPr algn="ctr" indent="0" marL="0">
              <a:buNone/>
            </a:pPr>
            <a:r>
              <a:rPr lang="en-US" sz="650" dirty="0">
                <a:solidFill>
                  <a:srgbClr val="FFFFFF">
                    <a:alpha val="90000"/>
                  </a:srgbClr>
                </a:solidFill>
                <a:latin typeface="Atkinson Hyperlegible" pitchFamily="34" charset="0"/>
                <a:ea typeface="Atkinson Hyperlegible" pitchFamily="34" charset="-122"/>
                <a:cs typeface="Atkinson Hyperlegible" pitchFamily="34" charset="-120"/>
              </a:rPr>
              <a:t>LLDB activo desde inicio</a:t>
            </a:r>
            <a:endParaRPr lang="en-US" sz="650" dirty="0"/>
          </a:p>
        </p:txBody>
      </p:sp>
      <p:sp>
        <p:nvSpPr>
          <p:cNvPr id="34" name="Shape 32"/>
          <p:cNvSpPr/>
          <p:nvPr/>
        </p:nvSpPr>
        <p:spPr>
          <a:xfrm>
            <a:off x="320040" y="3520440"/>
            <a:ext cx="2743200" cy="1325880"/>
          </a:xfrm>
          <a:prstGeom prst="roundRect">
            <a:avLst>
              <a:gd name="adj" fmla="val 5517"/>
            </a:avLst>
          </a:prstGeom>
          <a:solidFill>
            <a:srgbClr val="FFFFFF"/>
          </a:solidFill>
          <a:ln w="19050">
            <a:solidFill>
              <a:srgbClr val="27AE60"/>
            </a:solidFill>
            <a:prstDash val="solid"/>
          </a:ln>
        </p:spPr>
      </p:sp>
      <p:sp>
        <p:nvSpPr>
          <p:cNvPr id="35" name="Text 33"/>
          <p:cNvSpPr/>
          <p:nvPr/>
        </p:nvSpPr>
        <p:spPr>
          <a:xfrm>
            <a:off x="429768" y="3611880"/>
            <a:ext cx="2542032" cy="347472"/>
          </a:xfrm>
          <a:prstGeom prst="rect">
            <a:avLst/>
          </a:prstGeom>
          <a:noFill/>
          <a:ln/>
        </p:spPr>
        <p:txBody>
          <a:bodyPr wrap="square" rtlCol="0" anchor="ctr"/>
          <a:lstStyle/>
          <a:p>
            <a:pPr indent="0" marL="0">
              <a:buNone/>
            </a:pPr>
            <a:r>
              <a:rPr lang="en-US" sz="800" b="1" dirty="0">
                <a:solidFill>
                  <a:srgbClr val="27AE60"/>
                </a:solidFill>
                <a:latin typeface="Atkinson Hyperlegible" pitchFamily="34" charset="0"/>
                <a:ea typeface="Atkinson Hyperlegible" pitchFamily="34" charset="-122"/>
                <a:cs typeface="Atkinson Hyperlegible" pitchFamily="34" charset="-120"/>
              </a:rPr>
              <a:t>Sin un programa formal</a:t>
            </a:r>
            <a:endParaRPr lang="en-US" sz="800" dirty="0"/>
          </a:p>
        </p:txBody>
      </p:sp>
      <p:sp>
        <p:nvSpPr>
          <p:cNvPr id="36" name="Text 34"/>
          <p:cNvSpPr/>
          <p:nvPr/>
        </p:nvSpPr>
        <p:spPr>
          <a:xfrm>
            <a:off x="429768" y="3995928"/>
            <a:ext cx="2542032" cy="731520"/>
          </a:xfrm>
          <a:prstGeom prst="rect">
            <a:avLst/>
          </a:prstGeom>
          <a:noFill/>
          <a:ln/>
        </p:spPr>
        <p:txBody>
          <a:bodyPr wrap="square" rtlCol="0" anchor="t"/>
          <a:lstStyle/>
          <a:p>
            <a:pPr indent="0" marL="0">
              <a:buNone/>
            </a:pPr>
            <a:r>
              <a:rPr lang="en-US" sz="700" dirty="0">
                <a:solidFill>
                  <a:srgbClr val="1D1D1F"/>
                </a:solidFill>
                <a:latin typeface="Atkinson Hyperlegible" pitchFamily="34" charset="0"/>
                <a:ea typeface="Atkinson Hyperlegible" pitchFamily="34" charset="-122"/>
                <a:cs typeface="Atkinson Hyperlegible" pitchFamily="34" charset="-120"/>
              </a:rPr>
              <a:t>La constructabilidad es ad-hoc, dependiente de personas, no replicable y sin métricas.</a:t>
            </a:r>
            <a:endParaRPr lang="en-US" sz="700" dirty="0"/>
          </a:p>
        </p:txBody>
      </p:sp>
      <p:sp>
        <p:nvSpPr>
          <p:cNvPr id="37" name="Shape 35"/>
          <p:cNvSpPr/>
          <p:nvPr/>
        </p:nvSpPr>
        <p:spPr>
          <a:xfrm>
            <a:off x="3172968" y="3520440"/>
            <a:ext cx="2743200" cy="1325880"/>
          </a:xfrm>
          <a:prstGeom prst="roundRect">
            <a:avLst>
              <a:gd name="adj" fmla="val 5517"/>
            </a:avLst>
          </a:prstGeom>
          <a:solidFill>
            <a:srgbClr val="27AE60"/>
          </a:solidFill>
          <a:ln w="19050">
            <a:solidFill>
              <a:srgbClr val="27AE60"/>
            </a:solidFill>
            <a:prstDash val="solid"/>
          </a:ln>
        </p:spPr>
      </p:sp>
      <p:sp>
        <p:nvSpPr>
          <p:cNvPr id="38" name="Text 36"/>
          <p:cNvSpPr/>
          <p:nvPr/>
        </p:nvSpPr>
        <p:spPr>
          <a:xfrm>
            <a:off x="3282696" y="3611880"/>
            <a:ext cx="2542032" cy="347472"/>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Con programa formal</a:t>
            </a:r>
            <a:endParaRPr lang="en-US" sz="800" dirty="0"/>
          </a:p>
        </p:txBody>
      </p:sp>
      <p:sp>
        <p:nvSpPr>
          <p:cNvPr id="39" name="Text 37"/>
          <p:cNvSpPr/>
          <p:nvPr/>
        </p:nvSpPr>
        <p:spPr>
          <a:xfrm>
            <a:off x="3282696" y="3995928"/>
            <a:ext cx="2542032" cy="731520"/>
          </a:xfrm>
          <a:prstGeom prst="rect">
            <a:avLst/>
          </a:prstGeom>
          <a:noFill/>
          <a:ln/>
        </p:spPr>
        <p:txBody>
          <a:bodyPr wrap="square" rtlCol="0" anchor="t"/>
          <a:lstStyle/>
          <a:p>
            <a:pPr indent="0" marL="0">
              <a:buNone/>
            </a:pPr>
            <a:r>
              <a:rPr lang="en-US" sz="700" dirty="0">
                <a:solidFill>
                  <a:srgbClr val="E8E8ED"/>
                </a:solidFill>
                <a:latin typeface="Atkinson Hyperlegible" pitchFamily="34" charset="0"/>
                <a:ea typeface="Atkinson Hyperlegible" pitchFamily="34" charset="-122"/>
                <a:cs typeface="Atkinson Hyperlegible" pitchFamily="34" charset="-120"/>
              </a:rPr>
              <a:t>Sistemático, medible, consistente entre proyectos y con ROI documentado.</a:t>
            </a:r>
            <a:endParaRPr lang="en-US" sz="700" dirty="0"/>
          </a:p>
        </p:txBody>
      </p:sp>
      <p:sp>
        <p:nvSpPr>
          <p:cNvPr id="40" name="Shape 38"/>
          <p:cNvSpPr/>
          <p:nvPr/>
        </p:nvSpPr>
        <p:spPr>
          <a:xfrm>
            <a:off x="6025896" y="3520440"/>
            <a:ext cx="2743200" cy="1325880"/>
          </a:xfrm>
          <a:prstGeom prst="roundRect">
            <a:avLst>
              <a:gd name="adj" fmla="val 5517"/>
            </a:avLst>
          </a:prstGeom>
          <a:solidFill>
            <a:srgbClr val="FFFFFF"/>
          </a:solidFill>
          <a:ln w="19050">
            <a:solidFill>
              <a:srgbClr val="27AE60"/>
            </a:solidFill>
            <a:prstDash val="solid"/>
          </a:ln>
        </p:spPr>
      </p:sp>
      <p:sp>
        <p:nvSpPr>
          <p:cNvPr id="41" name="Text 39"/>
          <p:cNvSpPr/>
          <p:nvPr/>
        </p:nvSpPr>
        <p:spPr>
          <a:xfrm>
            <a:off x="6135624" y="3611880"/>
            <a:ext cx="2542032" cy="347472"/>
          </a:xfrm>
          <a:prstGeom prst="rect">
            <a:avLst/>
          </a:prstGeom>
          <a:noFill/>
          <a:ln/>
        </p:spPr>
        <p:txBody>
          <a:bodyPr wrap="square" rtlCol="0" anchor="ctr"/>
          <a:lstStyle/>
          <a:p>
            <a:pPr indent="0" marL="0">
              <a:buNone/>
            </a:pPr>
            <a:r>
              <a:rPr lang="en-US" sz="800" b="1" dirty="0">
                <a:solidFill>
                  <a:srgbClr val="27AE60"/>
                </a:solidFill>
                <a:latin typeface="Atkinson Hyperlegible" pitchFamily="34" charset="0"/>
                <a:ea typeface="Atkinson Hyperlegible" pitchFamily="34" charset="-122"/>
                <a:cs typeface="Atkinson Hyperlegible" pitchFamily="34" charset="-120"/>
              </a:rPr>
              <a:t>Mínimo viable (SP 34-1)</a:t>
            </a:r>
            <a:endParaRPr lang="en-US" sz="800" dirty="0"/>
          </a:p>
        </p:txBody>
      </p:sp>
      <p:sp>
        <p:nvSpPr>
          <p:cNvPr id="42" name="Text 40"/>
          <p:cNvSpPr/>
          <p:nvPr/>
        </p:nvSpPr>
        <p:spPr>
          <a:xfrm>
            <a:off x="6135624" y="3995928"/>
            <a:ext cx="2542032" cy="731520"/>
          </a:xfrm>
          <a:prstGeom prst="rect">
            <a:avLst/>
          </a:prstGeom>
          <a:noFill/>
          <a:ln/>
        </p:spPr>
        <p:txBody>
          <a:bodyPr wrap="square" rtlCol="0" anchor="t"/>
          <a:lstStyle/>
          <a:p>
            <a:pPr indent="0" marL="0">
              <a:buNone/>
            </a:pPr>
            <a:r>
              <a:rPr lang="en-US" sz="700" dirty="0">
                <a:solidFill>
                  <a:srgbClr val="1D1D1F"/>
                </a:solidFill>
                <a:latin typeface="Atkinson Hyperlegible" pitchFamily="34" charset="0"/>
                <a:ea typeface="Atkinson Hyperlegible" pitchFamily="34" charset="-122"/>
                <a:cs typeface="Atkinson Hyperlegible" pitchFamily="34" charset="-120"/>
              </a:rPr>
              <a:t>3 elementos: política escrita, Champion designado, al menos 1 taller por fase del proyecto.</a:t>
            </a:r>
            <a:endParaRPr lang="en-US" sz="700" dirty="0"/>
          </a:p>
        </p:txBody>
      </p:sp>
      <p:sp>
        <p:nvSpPr>
          <p:cNvPr id="43" name="Shape 41"/>
          <p:cNvSpPr/>
          <p:nvPr/>
        </p:nvSpPr>
        <p:spPr>
          <a:xfrm>
            <a:off x="182880" y="4956048"/>
            <a:ext cx="8961120" cy="182880"/>
          </a:xfrm>
          <a:prstGeom prst="rect">
            <a:avLst/>
          </a:prstGeom>
          <a:solidFill>
            <a:srgbClr val="27AE60"/>
          </a:solidFill>
          <a:ln w="12700">
            <a:solidFill>
              <a:srgbClr val="27AE60"/>
            </a:solidFill>
            <a:prstDash val="solid"/>
          </a:ln>
        </p:spPr>
      </p:sp>
      <p:sp>
        <p:nvSpPr>
          <p:cNvPr id="44" name="Text 42"/>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19 / 126</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27AE60"/>
          </a:solidFill>
          <a:ln w="12700">
            <a:solidFill>
              <a:srgbClr val="27AE60"/>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I-3: Información Temprana del Sitio</a:t>
            </a:r>
            <a:endParaRPr lang="en-US" sz="1800" dirty="0"/>
          </a:p>
        </p:txBody>
      </p:sp>
      <p:sp>
        <p:nvSpPr>
          <p:cNvPr id="4" name="Shape 2"/>
          <p:cNvSpPr/>
          <p:nvPr/>
        </p:nvSpPr>
        <p:spPr>
          <a:xfrm>
            <a:off x="320040" y="640080"/>
            <a:ext cx="8503920" cy="41148"/>
          </a:xfrm>
          <a:prstGeom prst="rect">
            <a:avLst/>
          </a:prstGeom>
          <a:solidFill>
            <a:srgbClr val="27AE60"/>
          </a:solidFill>
          <a:ln w="12700">
            <a:solidFill>
              <a:srgbClr val="27AE60"/>
            </a:solidFill>
            <a:prstDash val="solid"/>
          </a:ln>
        </p:spPr>
      </p:sp>
      <p:sp>
        <p:nvSpPr>
          <p:cNvPr id="5" name="Shape 3"/>
          <p:cNvSpPr/>
          <p:nvPr/>
        </p:nvSpPr>
        <p:spPr>
          <a:xfrm>
            <a:off x="320040" y="804672"/>
            <a:ext cx="2724912" cy="1943100"/>
          </a:xfrm>
          <a:prstGeom prst="roundRect">
            <a:avLst>
              <a:gd name="adj" fmla="val 4235"/>
            </a:avLst>
          </a:prstGeom>
          <a:solidFill>
            <a:srgbClr val="27AE60"/>
          </a:solidFill>
          <a:ln w="19050">
            <a:solidFill>
              <a:srgbClr val="27AE60"/>
            </a:solidFill>
            <a:prstDash val="solid"/>
          </a:ln>
        </p:spPr>
      </p:sp>
      <p:sp>
        <p:nvSpPr>
          <p:cNvPr id="6" name="Shape 4"/>
          <p:cNvSpPr/>
          <p:nvPr/>
        </p:nvSpPr>
        <p:spPr>
          <a:xfrm>
            <a:off x="320040" y="804672"/>
            <a:ext cx="2724912" cy="54864"/>
          </a:xfrm>
          <a:prstGeom prst="rect">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8056" y="932688"/>
            <a:ext cx="365760" cy="365760"/>
          </a:xfrm>
          <a:prstGeom prst="rect">
            <a:avLst/>
          </a:prstGeom>
        </p:spPr>
      </p:pic>
      <p:sp>
        <p:nvSpPr>
          <p:cNvPr id="8" name="Text 5"/>
          <p:cNvSpPr/>
          <p:nvPr/>
        </p:nvSpPr>
        <p:spPr>
          <a:xfrm>
            <a:off x="868680"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Estudios de Suelo</a:t>
            </a:r>
            <a:endParaRPr lang="en-US" sz="850" dirty="0"/>
          </a:p>
        </p:txBody>
      </p:sp>
      <p:sp>
        <p:nvSpPr>
          <p:cNvPr id="9" name="Text 6"/>
          <p:cNvSpPr/>
          <p:nvPr/>
        </p:nvSpPr>
        <p:spPr>
          <a:xfrm>
            <a:off x="429768"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Investigación geotécnica completa antes de diseño de cimentaciones. Costo: $50K; ahorro potencial: $2–5M en cambios.</a:t>
            </a:r>
            <a:endParaRPr lang="en-US" sz="750" dirty="0"/>
          </a:p>
        </p:txBody>
      </p:sp>
      <p:sp>
        <p:nvSpPr>
          <p:cNvPr id="10" name="Shape 7"/>
          <p:cNvSpPr/>
          <p:nvPr/>
        </p:nvSpPr>
        <p:spPr>
          <a:xfrm>
            <a:off x="3209544" y="804672"/>
            <a:ext cx="2724912" cy="1943100"/>
          </a:xfrm>
          <a:prstGeom prst="roundRect">
            <a:avLst>
              <a:gd name="adj" fmla="val 4235"/>
            </a:avLst>
          </a:prstGeom>
          <a:solidFill>
            <a:srgbClr val="FFFFFF"/>
          </a:solidFill>
          <a:ln w="19050">
            <a:solidFill>
              <a:srgbClr val="27AE60"/>
            </a:solidFill>
            <a:prstDash val="solid"/>
          </a:ln>
        </p:spPr>
      </p:sp>
      <p:sp>
        <p:nvSpPr>
          <p:cNvPr id="11" name="Shape 8"/>
          <p:cNvSpPr/>
          <p:nvPr/>
        </p:nvSpPr>
        <p:spPr>
          <a:xfrm>
            <a:off x="3209544" y="804672"/>
            <a:ext cx="2724912" cy="54864"/>
          </a:xfrm>
          <a:prstGeom prst="rect">
            <a:avLst/>
          </a:prstGeom>
          <a:solidFill>
            <a:srgbClr val="27AE60"/>
          </a:solidFill>
          <a:ln w="12700">
            <a:solidFill>
              <a:srgbClr val="27AE60"/>
            </a:solidFill>
            <a:prstDash val="solid"/>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37560" y="932688"/>
            <a:ext cx="365760" cy="365760"/>
          </a:xfrm>
          <a:prstGeom prst="rect">
            <a:avLst/>
          </a:prstGeom>
        </p:spPr>
      </p:pic>
      <p:sp>
        <p:nvSpPr>
          <p:cNvPr id="13" name="Text 9"/>
          <p:cNvSpPr/>
          <p:nvPr/>
        </p:nvSpPr>
        <p:spPr>
          <a:xfrm>
            <a:off x="3758184" y="914400"/>
            <a:ext cx="2066544" cy="347472"/>
          </a:xfrm>
          <a:prstGeom prst="rect">
            <a:avLst/>
          </a:prstGeom>
          <a:noFill/>
          <a:ln/>
        </p:spPr>
        <p:txBody>
          <a:bodyPr wrap="square" rtlCol="0" anchor="ctr"/>
          <a:lstStyle/>
          <a:p>
            <a:pPr indent="0" marL="0">
              <a:buNone/>
            </a:pPr>
            <a:r>
              <a:rPr lang="en-US" sz="850" b="1" dirty="0">
                <a:solidFill>
                  <a:srgbClr val="27AE60"/>
                </a:solidFill>
                <a:latin typeface="Atkinson Hyperlegible" pitchFamily="34" charset="0"/>
                <a:ea typeface="Atkinson Hyperlegible" pitchFamily="34" charset="-122"/>
                <a:cs typeface="Atkinson Hyperlegible" pitchFamily="34" charset="-120"/>
              </a:rPr>
              <a:t>Topografía Detallada</a:t>
            </a:r>
            <a:endParaRPr lang="en-US" sz="850" dirty="0"/>
          </a:p>
        </p:txBody>
      </p:sp>
      <p:sp>
        <p:nvSpPr>
          <p:cNvPr id="14" name="Text 10"/>
          <p:cNvSpPr/>
          <p:nvPr/>
        </p:nvSpPr>
        <p:spPr>
          <a:xfrm>
            <a:off x="3319272" y="131673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Levantamiento topográfico con precisión constructiva. LiDAR o drone survey para sitios complejos.</a:t>
            </a:r>
            <a:endParaRPr lang="en-US" sz="750" dirty="0"/>
          </a:p>
        </p:txBody>
      </p:sp>
      <p:sp>
        <p:nvSpPr>
          <p:cNvPr id="15" name="Shape 11"/>
          <p:cNvSpPr/>
          <p:nvPr/>
        </p:nvSpPr>
        <p:spPr>
          <a:xfrm>
            <a:off x="6099048" y="804672"/>
            <a:ext cx="2724912" cy="1943100"/>
          </a:xfrm>
          <a:prstGeom prst="roundRect">
            <a:avLst>
              <a:gd name="adj" fmla="val 4235"/>
            </a:avLst>
          </a:prstGeom>
          <a:solidFill>
            <a:srgbClr val="27AE60"/>
          </a:solidFill>
          <a:ln w="19050">
            <a:solidFill>
              <a:srgbClr val="27AE60"/>
            </a:solidFill>
            <a:prstDash val="solid"/>
          </a:ln>
        </p:spPr>
      </p:sp>
      <p:sp>
        <p:nvSpPr>
          <p:cNvPr id="16" name="Shape 12"/>
          <p:cNvSpPr/>
          <p:nvPr/>
        </p:nvSpPr>
        <p:spPr>
          <a:xfrm>
            <a:off x="6099048" y="804672"/>
            <a:ext cx="2724912" cy="54864"/>
          </a:xfrm>
          <a:prstGeom prst="rect">
            <a:avLst/>
          </a:prstGeom>
          <a:solidFill>
            <a:srgbClr val="FFFFFF"/>
          </a:solidFill>
          <a:ln w="12700">
            <a:solidFill>
              <a:srgbClr val="FFFFFF"/>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27064" y="932688"/>
            <a:ext cx="365760" cy="365760"/>
          </a:xfrm>
          <a:prstGeom prst="rect">
            <a:avLst/>
          </a:prstGeom>
        </p:spPr>
      </p:pic>
      <p:sp>
        <p:nvSpPr>
          <p:cNvPr id="18" name="Text 13"/>
          <p:cNvSpPr/>
          <p:nvPr/>
        </p:nvSpPr>
        <p:spPr>
          <a:xfrm>
            <a:off x="6647688"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Servicios Existentes</a:t>
            </a:r>
            <a:endParaRPr lang="en-US" sz="850" dirty="0"/>
          </a:p>
        </p:txBody>
      </p:sp>
      <p:sp>
        <p:nvSpPr>
          <p:cNvPr id="19" name="Text 14"/>
          <p:cNvSpPr/>
          <p:nvPr/>
        </p:nvSpPr>
        <p:spPr>
          <a:xfrm>
            <a:off x="6208776"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Mapeo de utilities, interferencias subterráneas y aéreas. Crítico para plan de excavación y seguridad.</a:t>
            </a:r>
            <a:endParaRPr lang="en-US" sz="750" dirty="0"/>
          </a:p>
        </p:txBody>
      </p:sp>
      <p:sp>
        <p:nvSpPr>
          <p:cNvPr id="20" name="Shape 15"/>
          <p:cNvSpPr/>
          <p:nvPr/>
        </p:nvSpPr>
        <p:spPr>
          <a:xfrm>
            <a:off x="320040" y="2884932"/>
            <a:ext cx="2724912" cy="1943100"/>
          </a:xfrm>
          <a:prstGeom prst="roundRect">
            <a:avLst>
              <a:gd name="adj" fmla="val 4235"/>
            </a:avLst>
          </a:prstGeom>
          <a:solidFill>
            <a:srgbClr val="FFFFFF"/>
          </a:solidFill>
          <a:ln w="19050">
            <a:solidFill>
              <a:srgbClr val="27AE60"/>
            </a:solidFill>
            <a:prstDash val="solid"/>
          </a:ln>
        </p:spPr>
      </p:sp>
      <p:sp>
        <p:nvSpPr>
          <p:cNvPr id="21" name="Shape 16"/>
          <p:cNvSpPr/>
          <p:nvPr/>
        </p:nvSpPr>
        <p:spPr>
          <a:xfrm>
            <a:off x="320040" y="2884932"/>
            <a:ext cx="2724912" cy="54864"/>
          </a:xfrm>
          <a:prstGeom prst="rect">
            <a:avLst/>
          </a:prstGeom>
          <a:solidFill>
            <a:srgbClr val="27AE60"/>
          </a:solidFill>
          <a:ln w="12700">
            <a:solidFill>
              <a:srgbClr val="27AE60"/>
            </a:solidFill>
            <a:prstDash val="solid"/>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8056" y="3012948"/>
            <a:ext cx="365760" cy="365760"/>
          </a:xfrm>
          <a:prstGeom prst="rect">
            <a:avLst/>
          </a:prstGeom>
        </p:spPr>
      </p:pic>
      <p:sp>
        <p:nvSpPr>
          <p:cNvPr id="23" name="Text 17"/>
          <p:cNvSpPr/>
          <p:nvPr/>
        </p:nvSpPr>
        <p:spPr>
          <a:xfrm>
            <a:off x="868680" y="2994660"/>
            <a:ext cx="2066544" cy="347472"/>
          </a:xfrm>
          <a:prstGeom prst="rect">
            <a:avLst/>
          </a:prstGeom>
          <a:noFill/>
          <a:ln/>
        </p:spPr>
        <p:txBody>
          <a:bodyPr wrap="square" rtlCol="0" anchor="ctr"/>
          <a:lstStyle/>
          <a:p>
            <a:pPr indent="0" marL="0">
              <a:buNone/>
            </a:pPr>
            <a:r>
              <a:rPr lang="en-US" sz="850" b="1" dirty="0">
                <a:solidFill>
                  <a:srgbClr val="27AE60"/>
                </a:solidFill>
                <a:latin typeface="Atkinson Hyperlegible" pitchFamily="34" charset="0"/>
                <a:ea typeface="Atkinson Hyperlegible" pitchFamily="34" charset="-122"/>
                <a:cs typeface="Atkinson Hyperlegible" pitchFamily="34" charset="-120"/>
              </a:rPr>
              <a:t>Clima y Estacionalidad</a:t>
            </a:r>
            <a:endParaRPr lang="en-US" sz="850" dirty="0"/>
          </a:p>
        </p:txBody>
      </p:sp>
      <p:sp>
        <p:nvSpPr>
          <p:cNvPr id="24" name="Text 18"/>
          <p:cNvSpPr/>
          <p:nvPr/>
        </p:nvSpPr>
        <p:spPr>
          <a:xfrm>
            <a:off x="429768"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Datos históricos de clima para planificación de ventanas de trabajo y protecciones temporales.</a:t>
            </a:r>
            <a:endParaRPr lang="en-US" sz="750" dirty="0"/>
          </a:p>
        </p:txBody>
      </p:sp>
      <p:sp>
        <p:nvSpPr>
          <p:cNvPr id="25" name="Shape 19"/>
          <p:cNvSpPr/>
          <p:nvPr/>
        </p:nvSpPr>
        <p:spPr>
          <a:xfrm>
            <a:off x="3209544" y="2884932"/>
            <a:ext cx="2724912" cy="1943100"/>
          </a:xfrm>
          <a:prstGeom prst="roundRect">
            <a:avLst>
              <a:gd name="adj" fmla="val 4235"/>
            </a:avLst>
          </a:prstGeom>
          <a:solidFill>
            <a:srgbClr val="27AE60"/>
          </a:solidFill>
          <a:ln w="19050">
            <a:solidFill>
              <a:srgbClr val="27AE60"/>
            </a:solidFill>
            <a:prstDash val="solid"/>
          </a:ln>
        </p:spPr>
      </p:sp>
      <p:sp>
        <p:nvSpPr>
          <p:cNvPr id="26" name="Shape 20"/>
          <p:cNvSpPr/>
          <p:nvPr/>
        </p:nvSpPr>
        <p:spPr>
          <a:xfrm>
            <a:off x="3209544" y="2884932"/>
            <a:ext cx="2724912" cy="54864"/>
          </a:xfrm>
          <a:prstGeom prst="rect">
            <a:avLst/>
          </a:prstGeom>
          <a:solidFill>
            <a:srgbClr val="FFFFFF"/>
          </a:solidFill>
          <a:ln w="12700">
            <a:solidFill>
              <a:srgbClr val="FFFFFF"/>
            </a:solidFill>
            <a:prstDash val="solid"/>
          </a:ln>
        </p:spPr>
      </p:sp>
      <p:pic>
        <p:nvPicPr>
          <p:cNvPr id="2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37560" y="3012948"/>
            <a:ext cx="365760" cy="365760"/>
          </a:xfrm>
          <a:prstGeom prst="rect">
            <a:avLst/>
          </a:prstGeom>
        </p:spPr>
      </p:pic>
      <p:sp>
        <p:nvSpPr>
          <p:cNvPr id="28" name="Text 21"/>
          <p:cNvSpPr/>
          <p:nvPr/>
        </p:nvSpPr>
        <p:spPr>
          <a:xfrm>
            <a:off x="3758184" y="299466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Restricciones del Sitio</a:t>
            </a:r>
            <a:endParaRPr lang="en-US" sz="850" dirty="0"/>
          </a:p>
        </p:txBody>
      </p:sp>
      <p:sp>
        <p:nvSpPr>
          <p:cNvPr id="29" name="Text 22"/>
          <p:cNvSpPr/>
          <p:nvPr/>
        </p:nvSpPr>
        <p:spPr>
          <a:xfrm>
            <a:off x="3319272" y="339699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Accesos, cargas de tránsito, vecinos, permisos. Afectan secuencia, metodología y costo.</a:t>
            </a:r>
            <a:endParaRPr lang="en-US" sz="750" dirty="0"/>
          </a:p>
        </p:txBody>
      </p:sp>
      <p:sp>
        <p:nvSpPr>
          <p:cNvPr id="30" name="Shape 23"/>
          <p:cNvSpPr/>
          <p:nvPr/>
        </p:nvSpPr>
        <p:spPr>
          <a:xfrm>
            <a:off x="6099048" y="2884932"/>
            <a:ext cx="2724912" cy="1943100"/>
          </a:xfrm>
          <a:prstGeom prst="roundRect">
            <a:avLst>
              <a:gd name="adj" fmla="val 4235"/>
            </a:avLst>
          </a:prstGeom>
          <a:solidFill>
            <a:srgbClr val="FFFFFF"/>
          </a:solidFill>
          <a:ln w="19050">
            <a:solidFill>
              <a:srgbClr val="27AE60"/>
            </a:solidFill>
            <a:prstDash val="solid"/>
          </a:ln>
        </p:spPr>
      </p:sp>
      <p:sp>
        <p:nvSpPr>
          <p:cNvPr id="31" name="Shape 24"/>
          <p:cNvSpPr/>
          <p:nvPr/>
        </p:nvSpPr>
        <p:spPr>
          <a:xfrm>
            <a:off x="6099048" y="2884932"/>
            <a:ext cx="2724912" cy="54864"/>
          </a:xfrm>
          <a:prstGeom prst="rect">
            <a:avLst/>
          </a:prstGeom>
          <a:solidFill>
            <a:srgbClr val="27AE60"/>
          </a:solidFill>
          <a:ln w="12700">
            <a:solidFill>
              <a:srgbClr val="27AE60"/>
            </a:solidFill>
            <a:prstDash val="solid"/>
          </a:ln>
        </p:spPr>
      </p:sp>
      <p:pic>
        <p:nvPicPr>
          <p:cNvPr id="3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27064" y="3012948"/>
            <a:ext cx="365760" cy="365760"/>
          </a:xfrm>
          <a:prstGeom prst="rect">
            <a:avLst/>
          </a:prstGeom>
        </p:spPr>
      </p:pic>
      <p:sp>
        <p:nvSpPr>
          <p:cNvPr id="33" name="Text 25"/>
          <p:cNvSpPr/>
          <p:nvPr/>
        </p:nvSpPr>
        <p:spPr>
          <a:xfrm>
            <a:off x="6647688" y="2994660"/>
            <a:ext cx="2066544" cy="347472"/>
          </a:xfrm>
          <a:prstGeom prst="rect">
            <a:avLst/>
          </a:prstGeom>
          <a:noFill/>
          <a:ln/>
        </p:spPr>
        <p:txBody>
          <a:bodyPr wrap="square" rtlCol="0" anchor="ctr"/>
          <a:lstStyle/>
          <a:p>
            <a:pPr indent="0" marL="0">
              <a:buNone/>
            </a:pPr>
            <a:r>
              <a:rPr lang="en-US" sz="850" b="1" dirty="0">
                <a:solidFill>
                  <a:srgbClr val="27AE60"/>
                </a:solidFill>
                <a:latin typeface="Atkinson Hyperlegible" pitchFamily="34" charset="0"/>
                <a:ea typeface="Atkinson Hyperlegible" pitchFamily="34" charset="-122"/>
                <a:cs typeface="Atkinson Hyperlegible" pitchFamily="34" charset="-120"/>
              </a:rPr>
              <a:t>Infraestructura Disponible</a:t>
            </a:r>
            <a:endParaRPr lang="en-US" sz="850" dirty="0"/>
          </a:p>
        </p:txBody>
      </p:sp>
      <p:sp>
        <p:nvSpPr>
          <p:cNvPr id="34" name="Text 26"/>
          <p:cNvSpPr/>
          <p:nvPr/>
        </p:nvSpPr>
        <p:spPr>
          <a:xfrm>
            <a:off x="6208776"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Agua, energía, comunicaciones, almacén. El plan de facilidades temporales impacta la productividad.</a:t>
            </a:r>
            <a:endParaRPr lang="en-US" sz="750" dirty="0"/>
          </a:p>
        </p:txBody>
      </p:sp>
      <p:sp>
        <p:nvSpPr>
          <p:cNvPr id="35" name="Shape 27"/>
          <p:cNvSpPr/>
          <p:nvPr/>
        </p:nvSpPr>
        <p:spPr>
          <a:xfrm>
            <a:off x="182880" y="4956048"/>
            <a:ext cx="8961120" cy="182880"/>
          </a:xfrm>
          <a:prstGeom prst="rect">
            <a:avLst/>
          </a:prstGeom>
          <a:solidFill>
            <a:srgbClr val="27AE60"/>
          </a:solidFill>
          <a:ln w="12700">
            <a:solidFill>
              <a:srgbClr val="27AE60"/>
            </a:solidFill>
            <a:prstDash val="solid"/>
          </a:ln>
        </p:spPr>
      </p:sp>
      <p:sp>
        <p:nvSpPr>
          <p:cNvPr id="36" name="Text 28"/>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20 / 126</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27AE60"/>
          </a:solidFill>
          <a:ln w="12700">
            <a:solidFill>
              <a:srgbClr val="27AE60"/>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I-4: Configuración del Equipo de Proyecto</a:t>
            </a:r>
            <a:endParaRPr lang="en-US" sz="1800" dirty="0"/>
          </a:p>
        </p:txBody>
      </p:sp>
      <p:sp>
        <p:nvSpPr>
          <p:cNvPr id="4" name="Shape 2"/>
          <p:cNvSpPr/>
          <p:nvPr/>
        </p:nvSpPr>
        <p:spPr>
          <a:xfrm>
            <a:off x="320040" y="640080"/>
            <a:ext cx="8503920" cy="41148"/>
          </a:xfrm>
          <a:prstGeom prst="rect">
            <a:avLst/>
          </a:prstGeom>
          <a:solidFill>
            <a:srgbClr val="27AE60"/>
          </a:solidFill>
          <a:ln w="12700">
            <a:solidFill>
              <a:srgbClr val="27AE60"/>
            </a:solidFill>
            <a:prstDash val="solid"/>
          </a:ln>
        </p:spPr>
      </p:sp>
      <p:sp>
        <p:nvSpPr>
          <p:cNvPr id="5" name="Shape 3"/>
          <p:cNvSpPr/>
          <p:nvPr/>
        </p:nvSpPr>
        <p:spPr>
          <a:xfrm>
            <a:off x="3291840" y="914400"/>
            <a:ext cx="2560320" cy="566928"/>
          </a:xfrm>
          <a:prstGeom prst="roundRect">
            <a:avLst>
              <a:gd name="adj" fmla="val 12903"/>
            </a:avLst>
          </a:prstGeom>
          <a:solidFill>
            <a:srgbClr val="27AE60"/>
          </a:solidFill>
          <a:ln w="12700">
            <a:solidFill>
              <a:srgbClr val="27AE60"/>
            </a:solidFill>
            <a:prstDash val="solid"/>
          </a:ln>
        </p:spPr>
      </p:sp>
      <p:sp>
        <p:nvSpPr>
          <p:cNvPr id="6" name="Text 4"/>
          <p:cNvSpPr/>
          <p:nvPr/>
        </p:nvSpPr>
        <p:spPr>
          <a:xfrm>
            <a:off x="3291840" y="914400"/>
            <a:ext cx="2560320" cy="566928"/>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Equipo Integrado de Proyecto</a:t>
            </a:r>
            <a:endParaRPr lang="en-US" sz="900" dirty="0"/>
          </a:p>
        </p:txBody>
      </p:sp>
      <p:sp>
        <p:nvSpPr>
          <p:cNvPr id="7" name="Shape 5"/>
          <p:cNvSpPr/>
          <p:nvPr/>
        </p:nvSpPr>
        <p:spPr>
          <a:xfrm>
            <a:off x="4572000" y="1481328"/>
            <a:ext cx="18288" cy="274320"/>
          </a:xfrm>
          <a:prstGeom prst="line">
            <a:avLst/>
          </a:prstGeom>
          <a:noFill/>
          <a:ln w="19050">
            <a:solidFill>
              <a:srgbClr val="27AE60"/>
            </a:solidFill>
            <a:prstDash val="solid"/>
          </a:ln>
        </p:spPr>
      </p:sp>
      <p:sp>
        <p:nvSpPr>
          <p:cNvPr id="8" name="Shape 6"/>
          <p:cNvSpPr/>
          <p:nvPr/>
        </p:nvSpPr>
        <p:spPr>
          <a:xfrm>
            <a:off x="1207008" y="1755648"/>
            <a:ext cx="6729984" cy="18288"/>
          </a:xfrm>
          <a:prstGeom prst="line">
            <a:avLst/>
          </a:prstGeom>
          <a:noFill/>
          <a:ln w="19050">
            <a:solidFill>
              <a:srgbClr val="27AE60"/>
            </a:solidFill>
            <a:prstDash val="solid"/>
          </a:ln>
        </p:spPr>
      </p:sp>
      <p:sp>
        <p:nvSpPr>
          <p:cNvPr id="9" name="Shape 7"/>
          <p:cNvSpPr/>
          <p:nvPr/>
        </p:nvSpPr>
        <p:spPr>
          <a:xfrm>
            <a:off x="1207008" y="1755648"/>
            <a:ext cx="18288" cy="164592"/>
          </a:xfrm>
          <a:prstGeom prst="line">
            <a:avLst/>
          </a:prstGeom>
          <a:noFill/>
          <a:ln w="19050">
            <a:solidFill>
              <a:srgbClr val="27AE60"/>
            </a:solidFill>
            <a:prstDash val="solid"/>
          </a:ln>
        </p:spPr>
      </p:sp>
      <p:sp>
        <p:nvSpPr>
          <p:cNvPr id="10" name="Shape 8"/>
          <p:cNvSpPr/>
          <p:nvPr/>
        </p:nvSpPr>
        <p:spPr>
          <a:xfrm>
            <a:off x="457200" y="1920240"/>
            <a:ext cx="1499616" cy="530352"/>
          </a:xfrm>
          <a:prstGeom prst="roundRect">
            <a:avLst>
              <a:gd name="adj" fmla="val 12069"/>
            </a:avLst>
          </a:prstGeom>
          <a:solidFill>
            <a:srgbClr val="27AE60"/>
          </a:solidFill>
          <a:ln w="19050">
            <a:solidFill>
              <a:srgbClr val="27AE60"/>
            </a:solidFill>
            <a:prstDash val="solid"/>
          </a:ln>
        </p:spPr>
      </p:sp>
      <p:sp>
        <p:nvSpPr>
          <p:cNvPr id="11" name="Text 9"/>
          <p:cNvSpPr/>
          <p:nvPr/>
        </p:nvSpPr>
        <p:spPr>
          <a:xfrm>
            <a:off x="502920" y="1920240"/>
            <a:ext cx="1408176" cy="53035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Ingeniería</a:t>
            </a:r>
            <a:endParaRPr lang="en-US" sz="750" dirty="0"/>
          </a:p>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&amp; Diseño</a:t>
            </a:r>
            <a:endParaRPr lang="en-US" sz="750" dirty="0"/>
          </a:p>
        </p:txBody>
      </p:sp>
      <p:sp>
        <p:nvSpPr>
          <p:cNvPr id="12" name="Shape 10"/>
          <p:cNvSpPr/>
          <p:nvPr/>
        </p:nvSpPr>
        <p:spPr>
          <a:xfrm>
            <a:off x="2889504" y="1755648"/>
            <a:ext cx="18288" cy="164592"/>
          </a:xfrm>
          <a:prstGeom prst="line">
            <a:avLst/>
          </a:prstGeom>
          <a:noFill/>
          <a:ln w="19050">
            <a:solidFill>
              <a:srgbClr val="27AE60"/>
            </a:solidFill>
            <a:prstDash val="solid"/>
          </a:ln>
        </p:spPr>
      </p:sp>
      <p:sp>
        <p:nvSpPr>
          <p:cNvPr id="13" name="Shape 11"/>
          <p:cNvSpPr/>
          <p:nvPr/>
        </p:nvSpPr>
        <p:spPr>
          <a:xfrm>
            <a:off x="2139696" y="1920240"/>
            <a:ext cx="1499616" cy="530352"/>
          </a:xfrm>
          <a:prstGeom prst="roundRect">
            <a:avLst>
              <a:gd name="adj" fmla="val 12069"/>
            </a:avLst>
          </a:prstGeom>
          <a:solidFill>
            <a:srgbClr val="E5E5EA"/>
          </a:solidFill>
          <a:ln w="19050">
            <a:solidFill>
              <a:srgbClr val="27AE60"/>
            </a:solidFill>
            <a:prstDash val="solid"/>
          </a:ln>
        </p:spPr>
      </p:sp>
      <p:sp>
        <p:nvSpPr>
          <p:cNvPr id="14" name="Text 12"/>
          <p:cNvSpPr/>
          <p:nvPr/>
        </p:nvSpPr>
        <p:spPr>
          <a:xfrm>
            <a:off x="2185416" y="1920240"/>
            <a:ext cx="1408176" cy="530352"/>
          </a:xfrm>
          <a:prstGeom prst="rect">
            <a:avLst/>
          </a:prstGeom>
          <a:noFill/>
          <a:ln/>
        </p:spPr>
        <p:txBody>
          <a:bodyPr wrap="square" rtlCol="0" anchor="ctr"/>
          <a:lstStyle/>
          <a:p>
            <a:pPr algn="ct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Champion de</a:t>
            </a:r>
            <a:endParaRPr lang="en-US" sz="750" dirty="0"/>
          </a:p>
          <a:p>
            <a:pPr algn="ct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Constructabilidad</a:t>
            </a:r>
            <a:endParaRPr lang="en-US" sz="750" dirty="0"/>
          </a:p>
        </p:txBody>
      </p:sp>
      <p:sp>
        <p:nvSpPr>
          <p:cNvPr id="15" name="Shape 13"/>
          <p:cNvSpPr/>
          <p:nvPr/>
        </p:nvSpPr>
        <p:spPr>
          <a:xfrm>
            <a:off x="4572000" y="1755648"/>
            <a:ext cx="18288" cy="164592"/>
          </a:xfrm>
          <a:prstGeom prst="line">
            <a:avLst/>
          </a:prstGeom>
          <a:noFill/>
          <a:ln w="19050">
            <a:solidFill>
              <a:srgbClr val="27AE60"/>
            </a:solidFill>
            <a:prstDash val="solid"/>
          </a:ln>
        </p:spPr>
      </p:sp>
      <p:sp>
        <p:nvSpPr>
          <p:cNvPr id="16" name="Shape 14"/>
          <p:cNvSpPr/>
          <p:nvPr/>
        </p:nvSpPr>
        <p:spPr>
          <a:xfrm>
            <a:off x="3822192" y="1920240"/>
            <a:ext cx="1499616" cy="530352"/>
          </a:xfrm>
          <a:prstGeom prst="roundRect">
            <a:avLst>
              <a:gd name="adj" fmla="val 12069"/>
            </a:avLst>
          </a:prstGeom>
          <a:solidFill>
            <a:srgbClr val="27AE60"/>
          </a:solidFill>
          <a:ln w="19050">
            <a:solidFill>
              <a:srgbClr val="27AE60"/>
            </a:solidFill>
            <a:prstDash val="solid"/>
          </a:ln>
        </p:spPr>
      </p:sp>
      <p:sp>
        <p:nvSpPr>
          <p:cNvPr id="17" name="Text 15"/>
          <p:cNvSpPr/>
          <p:nvPr/>
        </p:nvSpPr>
        <p:spPr>
          <a:xfrm>
            <a:off x="3867912" y="1920240"/>
            <a:ext cx="1408176" cy="53035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Procura</a:t>
            </a:r>
            <a:endParaRPr lang="en-US" sz="750" dirty="0"/>
          </a:p>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&amp; Contratos</a:t>
            </a:r>
            <a:endParaRPr lang="en-US" sz="750" dirty="0"/>
          </a:p>
        </p:txBody>
      </p:sp>
      <p:sp>
        <p:nvSpPr>
          <p:cNvPr id="18" name="Shape 16"/>
          <p:cNvSpPr/>
          <p:nvPr/>
        </p:nvSpPr>
        <p:spPr>
          <a:xfrm>
            <a:off x="6254496" y="1755648"/>
            <a:ext cx="18288" cy="164592"/>
          </a:xfrm>
          <a:prstGeom prst="line">
            <a:avLst/>
          </a:prstGeom>
          <a:noFill/>
          <a:ln w="19050">
            <a:solidFill>
              <a:srgbClr val="27AE60"/>
            </a:solidFill>
            <a:prstDash val="solid"/>
          </a:ln>
        </p:spPr>
      </p:sp>
      <p:sp>
        <p:nvSpPr>
          <p:cNvPr id="19" name="Shape 17"/>
          <p:cNvSpPr/>
          <p:nvPr/>
        </p:nvSpPr>
        <p:spPr>
          <a:xfrm>
            <a:off x="5504688" y="1920240"/>
            <a:ext cx="1499616" cy="530352"/>
          </a:xfrm>
          <a:prstGeom prst="roundRect">
            <a:avLst>
              <a:gd name="adj" fmla="val 12069"/>
            </a:avLst>
          </a:prstGeom>
          <a:solidFill>
            <a:srgbClr val="E5E5EA"/>
          </a:solidFill>
          <a:ln w="19050">
            <a:solidFill>
              <a:srgbClr val="27AE60"/>
            </a:solidFill>
            <a:prstDash val="solid"/>
          </a:ln>
        </p:spPr>
      </p:sp>
      <p:sp>
        <p:nvSpPr>
          <p:cNvPr id="20" name="Text 18"/>
          <p:cNvSpPr/>
          <p:nvPr/>
        </p:nvSpPr>
        <p:spPr>
          <a:xfrm>
            <a:off x="5550408" y="1920240"/>
            <a:ext cx="1408176" cy="530352"/>
          </a:xfrm>
          <a:prstGeom prst="rect">
            <a:avLst/>
          </a:prstGeom>
          <a:noFill/>
          <a:ln/>
        </p:spPr>
        <p:txBody>
          <a:bodyPr wrap="square" rtlCol="0" anchor="ctr"/>
          <a:lstStyle/>
          <a:p>
            <a:pPr algn="ct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Construcción</a:t>
            </a:r>
            <a:endParaRPr lang="en-US" sz="750" dirty="0"/>
          </a:p>
          <a:p>
            <a:pPr algn="ct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&amp; Operaciones</a:t>
            </a:r>
            <a:endParaRPr lang="en-US" sz="750" dirty="0"/>
          </a:p>
        </p:txBody>
      </p:sp>
      <p:sp>
        <p:nvSpPr>
          <p:cNvPr id="21" name="Shape 19"/>
          <p:cNvSpPr/>
          <p:nvPr/>
        </p:nvSpPr>
        <p:spPr>
          <a:xfrm>
            <a:off x="7936992" y="1755648"/>
            <a:ext cx="18288" cy="164592"/>
          </a:xfrm>
          <a:prstGeom prst="line">
            <a:avLst/>
          </a:prstGeom>
          <a:noFill/>
          <a:ln w="19050">
            <a:solidFill>
              <a:srgbClr val="27AE60"/>
            </a:solidFill>
            <a:prstDash val="solid"/>
          </a:ln>
        </p:spPr>
      </p:sp>
      <p:sp>
        <p:nvSpPr>
          <p:cNvPr id="22" name="Shape 20"/>
          <p:cNvSpPr/>
          <p:nvPr/>
        </p:nvSpPr>
        <p:spPr>
          <a:xfrm>
            <a:off x="7187184" y="1920240"/>
            <a:ext cx="1499616" cy="530352"/>
          </a:xfrm>
          <a:prstGeom prst="roundRect">
            <a:avLst>
              <a:gd name="adj" fmla="val 12069"/>
            </a:avLst>
          </a:prstGeom>
          <a:solidFill>
            <a:srgbClr val="27AE60"/>
          </a:solidFill>
          <a:ln w="19050">
            <a:solidFill>
              <a:srgbClr val="27AE60"/>
            </a:solidFill>
            <a:prstDash val="solid"/>
          </a:ln>
        </p:spPr>
      </p:sp>
      <p:sp>
        <p:nvSpPr>
          <p:cNvPr id="23" name="Text 21"/>
          <p:cNvSpPr/>
          <p:nvPr/>
        </p:nvSpPr>
        <p:spPr>
          <a:xfrm>
            <a:off x="7232904" y="1920240"/>
            <a:ext cx="1408176" cy="53035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HSE</a:t>
            </a:r>
            <a:endParaRPr lang="en-US" sz="750" dirty="0"/>
          </a:p>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&amp; Calidad</a:t>
            </a:r>
            <a:endParaRPr lang="en-US" sz="750" dirty="0"/>
          </a:p>
        </p:txBody>
      </p:sp>
      <p:sp>
        <p:nvSpPr>
          <p:cNvPr id="24" name="Shape 22"/>
          <p:cNvSpPr/>
          <p:nvPr/>
        </p:nvSpPr>
        <p:spPr>
          <a:xfrm>
            <a:off x="320040" y="3090672"/>
            <a:ext cx="8503920" cy="1600200"/>
          </a:xfrm>
          <a:prstGeom prst="roundRect">
            <a:avLst>
              <a:gd name="adj" fmla="val 5714"/>
            </a:avLst>
          </a:prstGeom>
          <a:solidFill>
            <a:srgbClr val="F8F8FA"/>
          </a:solidFill>
          <a:ln w="19050">
            <a:solidFill>
              <a:srgbClr val="27AE60"/>
            </a:solidFill>
            <a:prstDash val="solid"/>
          </a:ln>
        </p:spPr>
      </p:sp>
      <p:sp>
        <p:nvSpPr>
          <p:cNvPr id="25" name="Shape 23"/>
          <p:cNvSpPr/>
          <p:nvPr/>
        </p:nvSpPr>
        <p:spPr>
          <a:xfrm>
            <a:off x="320040" y="3090672"/>
            <a:ext cx="54864" cy="1600200"/>
          </a:xfrm>
          <a:prstGeom prst="rect">
            <a:avLst/>
          </a:prstGeom>
          <a:solidFill>
            <a:srgbClr val="27AE60"/>
          </a:solidFill>
          <a:ln w="12700">
            <a:solidFill>
              <a:srgbClr val="27AE60"/>
            </a:solidFill>
            <a:prstDash val="solid"/>
          </a:ln>
        </p:spPr>
      </p:sp>
      <p:sp>
        <p:nvSpPr>
          <p:cNvPr id="26" name="Text 24"/>
          <p:cNvSpPr/>
          <p:nvPr/>
        </p:nvSpPr>
        <p:spPr>
          <a:xfrm>
            <a:off x="457200" y="3136392"/>
            <a:ext cx="8229600" cy="365760"/>
          </a:xfrm>
          <a:prstGeom prst="rect">
            <a:avLst/>
          </a:prstGeom>
          <a:noFill/>
          <a:ln/>
        </p:spPr>
        <p:txBody>
          <a:bodyPr wrap="square" rtlCol="0" anchor="ctr"/>
          <a:lstStyle/>
          <a:p>
            <a:pPr indent="0" marL="0">
              <a:buNone/>
            </a:pPr>
            <a:r>
              <a:rPr lang="en-US" sz="900" b="1" dirty="0">
                <a:solidFill>
                  <a:srgbClr val="27AE60"/>
                </a:solidFill>
                <a:latin typeface="Atkinson Hyperlegible" pitchFamily="34" charset="0"/>
                <a:ea typeface="Atkinson Hyperlegible" pitchFamily="34" charset="-122"/>
                <a:cs typeface="Atkinson Hyperlegible" pitchFamily="34" charset="-120"/>
              </a:rPr>
              <a:t>Principio CII I-4: El equipo debe configurarse para la constructabilidad, no adaptarse después</a:t>
            </a:r>
            <a:endParaRPr lang="en-US" sz="900" dirty="0"/>
          </a:p>
        </p:txBody>
      </p:sp>
      <p:sp>
        <p:nvSpPr>
          <p:cNvPr id="27" name="Text 25"/>
          <p:cNvSpPr/>
          <p:nvPr/>
        </p:nvSpPr>
        <p:spPr>
          <a:xfrm>
            <a:off x="457200" y="3538728"/>
            <a:ext cx="8229600" cy="1051560"/>
          </a:xfrm>
          <a:prstGeom prst="rect">
            <a:avLst/>
          </a:prstGeom>
          <a:noFill/>
          <a:ln/>
        </p:spPr>
        <p:txBody>
          <a:bodyPr wrap="square" rtlCol="0" anchor="ctr"/>
          <a:lstStyle/>
          <a:p>
            <a:pPr indent="0" marL="0">
              <a:buNone/>
            </a:pPr>
            <a:r>
              <a:rPr lang="en-US" sz="850" dirty="0">
                <a:solidFill>
                  <a:srgbClr val="1D1D1F"/>
                </a:solidFill>
                <a:latin typeface="Atkinson Hyperlegible" pitchFamily="34" charset="0"/>
                <a:ea typeface="Atkinson Hyperlegible" pitchFamily="34" charset="-122"/>
                <a:cs typeface="Atkinson Hyperlegible" pitchFamily="34" charset="-120"/>
              </a:rPr>
              <a:t>Incluir al constructor (o su representante) desde la planificación conceptual. El Champion debe tener autoridad para requerir cambios de diseño. Los contratos deben incentivar la colaboración entre disciplinas. El equipo de HSE participa desde diseño para el concepto de seguridad por diseño.</a:t>
            </a:r>
            <a:endParaRPr lang="en-US" sz="850" dirty="0"/>
          </a:p>
        </p:txBody>
      </p:sp>
      <p:sp>
        <p:nvSpPr>
          <p:cNvPr id="28" name="Shape 26"/>
          <p:cNvSpPr/>
          <p:nvPr/>
        </p:nvSpPr>
        <p:spPr>
          <a:xfrm>
            <a:off x="182880" y="4956048"/>
            <a:ext cx="8961120" cy="182880"/>
          </a:xfrm>
          <a:prstGeom prst="rect">
            <a:avLst/>
          </a:prstGeom>
          <a:solidFill>
            <a:srgbClr val="27AE60"/>
          </a:solidFill>
          <a:ln w="12700">
            <a:solidFill>
              <a:srgbClr val="27AE60"/>
            </a:solidFill>
            <a:prstDash val="solid"/>
          </a:ln>
        </p:spPr>
      </p:sp>
      <p:sp>
        <p:nvSpPr>
          <p:cNvPr id="29" name="Text 27"/>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21 / 126</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27AE60"/>
          </a:solidFill>
          <a:ln w="12700">
            <a:solidFill>
              <a:srgbClr val="27AE60"/>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I-5: Uso de Tecnología Avanzada</a:t>
            </a:r>
            <a:endParaRPr lang="en-US" sz="1800" dirty="0"/>
          </a:p>
        </p:txBody>
      </p:sp>
      <p:sp>
        <p:nvSpPr>
          <p:cNvPr id="4" name="Shape 2"/>
          <p:cNvSpPr/>
          <p:nvPr/>
        </p:nvSpPr>
        <p:spPr>
          <a:xfrm>
            <a:off x="320040" y="640080"/>
            <a:ext cx="8503920" cy="41148"/>
          </a:xfrm>
          <a:prstGeom prst="rect">
            <a:avLst/>
          </a:prstGeom>
          <a:solidFill>
            <a:srgbClr val="27AE60"/>
          </a:solidFill>
          <a:ln w="12700">
            <a:solidFill>
              <a:srgbClr val="27AE60"/>
            </a:solidFill>
            <a:prstDash val="solid"/>
          </a:ln>
        </p:spPr>
      </p:sp>
      <p:sp>
        <p:nvSpPr>
          <p:cNvPr id="5" name="Shape 3"/>
          <p:cNvSpPr/>
          <p:nvPr/>
        </p:nvSpPr>
        <p:spPr>
          <a:xfrm>
            <a:off x="320040" y="804672"/>
            <a:ext cx="2724912" cy="1943100"/>
          </a:xfrm>
          <a:prstGeom prst="roundRect">
            <a:avLst>
              <a:gd name="adj" fmla="val 4235"/>
            </a:avLst>
          </a:prstGeom>
          <a:solidFill>
            <a:srgbClr val="27AE60"/>
          </a:solidFill>
          <a:ln w="19050">
            <a:solidFill>
              <a:srgbClr val="27AE60"/>
            </a:solidFill>
            <a:prstDash val="solid"/>
          </a:ln>
        </p:spPr>
      </p:sp>
      <p:sp>
        <p:nvSpPr>
          <p:cNvPr id="6" name="Shape 4"/>
          <p:cNvSpPr/>
          <p:nvPr/>
        </p:nvSpPr>
        <p:spPr>
          <a:xfrm>
            <a:off x="320040" y="804672"/>
            <a:ext cx="2724912" cy="54864"/>
          </a:xfrm>
          <a:prstGeom prst="rect">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8056" y="932688"/>
            <a:ext cx="365760" cy="365760"/>
          </a:xfrm>
          <a:prstGeom prst="rect">
            <a:avLst/>
          </a:prstGeom>
        </p:spPr>
      </p:pic>
      <p:sp>
        <p:nvSpPr>
          <p:cNvPr id="8" name="Text 5"/>
          <p:cNvSpPr/>
          <p:nvPr/>
        </p:nvSpPr>
        <p:spPr>
          <a:xfrm>
            <a:off x="868680"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Modelado BIM 3D</a:t>
            </a:r>
            <a:endParaRPr lang="en-US" sz="850" dirty="0"/>
          </a:p>
        </p:txBody>
      </p:sp>
      <p:sp>
        <p:nvSpPr>
          <p:cNvPr id="9" name="Text 6"/>
          <p:cNvSpPr/>
          <p:nvPr/>
        </p:nvSpPr>
        <p:spPr>
          <a:xfrm>
            <a:off x="429768"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Detección de interferencias antes de construcción. Reduce conflictos en campo hasta un 80%.</a:t>
            </a:r>
            <a:endParaRPr lang="en-US" sz="750" dirty="0"/>
          </a:p>
        </p:txBody>
      </p:sp>
      <p:sp>
        <p:nvSpPr>
          <p:cNvPr id="10" name="Shape 7"/>
          <p:cNvSpPr/>
          <p:nvPr/>
        </p:nvSpPr>
        <p:spPr>
          <a:xfrm>
            <a:off x="3209544" y="804672"/>
            <a:ext cx="2724912" cy="1943100"/>
          </a:xfrm>
          <a:prstGeom prst="roundRect">
            <a:avLst>
              <a:gd name="adj" fmla="val 4235"/>
            </a:avLst>
          </a:prstGeom>
          <a:solidFill>
            <a:srgbClr val="FFFFFF"/>
          </a:solidFill>
          <a:ln w="19050">
            <a:solidFill>
              <a:srgbClr val="27AE60"/>
            </a:solidFill>
            <a:prstDash val="solid"/>
          </a:ln>
        </p:spPr>
      </p:sp>
      <p:sp>
        <p:nvSpPr>
          <p:cNvPr id="11" name="Shape 8"/>
          <p:cNvSpPr/>
          <p:nvPr/>
        </p:nvSpPr>
        <p:spPr>
          <a:xfrm>
            <a:off x="3209544" y="804672"/>
            <a:ext cx="2724912" cy="54864"/>
          </a:xfrm>
          <a:prstGeom prst="rect">
            <a:avLst/>
          </a:prstGeom>
          <a:solidFill>
            <a:srgbClr val="27AE60"/>
          </a:solidFill>
          <a:ln w="12700">
            <a:solidFill>
              <a:srgbClr val="27AE60"/>
            </a:solidFill>
            <a:prstDash val="solid"/>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37560" y="932688"/>
            <a:ext cx="365760" cy="365760"/>
          </a:xfrm>
          <a:prstGeom prst="rect">
            <a:avLst/>
          </a:prstGeom>
        </p:spPr>
      </p:pic>
      <p:sp>
        <p:nvSpPr>
          <p:cNvPr id="13" name="Text 9"/>
          <p:cNvSpPr/>
          <p:nvPr/>
        </p:nvSpPr>
        <p:spPr>
          <a:xfrm>
            <a:off x="3758184" y="914400"/>
            <a:ext cx="2066544" cy="347472"/>
          </a:xfrm>
          <a:prstGeom prst="rect">
            <a:avLst/>
          </a:prstGeom>
          <a:noFill/>
          <a:ln/>
        </p:spPr>
        <p:txBody>
          <a:bodyPr wrap="square" rtlCol="0" anchor="ctr"/>
          <a:lstStyle/>
          <a:p>
            <a:pPr indent="0" marL="0">
              <a:buNone/>
            </a:pPr>
            <a:r>
              <a:rPr lang="en-US" sz="850" b="1" dirty="0">
                <a:solidFill>
                  <a:srgbClr val="27AE60"/>
                </a:solidFill>
                <a:latin typeface="Atkinson Hyperlegible" pitchFamily="34" charset="0"/>
                <a:ea typeface="Atkinson Hyperlegible" pitchFamily="34" charset="-122"/>
                <a:cs typeface="Atkinson Hyperlegible" pitchFamily="34" charset="-120"/>
              </a:rPr>
              <a:t>Simulación 4D</a:t>
            </a:r>
            <a:endParaRPr lang="en-US" sz="850" dirty="0"/>
          </a:p>
        </p:txBody>
      </p:sp>
      <p:sp>
        <p:nvSpPr>
          <p:cNvPr id="14" name="Text 10"/>
          <p:cNvSpPr/>
          <p:nvPr/>
        </p:nvSpPr>
        <p:spPr>
          <a:xfrm>
            <a:off x="3319272" y="131673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BIM + cronograma = secuencia de construcción animada. Optimiza secuencia, accesos y recursos.</a:t>
            </a:r>
            <a:endParaRPr lang="en-US" sz="750" dirty="0"/>
          </a:p>
        </p:txBody>
      </p:sp>
      <p:sp>
        <p:nvSpPr>
          <p:cNvPr id="15" name="Shape 11"/>
          <p:cNvSpPr/>
          <p:nvPr/>
        </p:nvSpPr>
        <p:spPr>
          <a:xfrm>
            <a:off x="6099048" y="804672"/>
            <a:ext cx="2724912" cy="1943100"/>
          </a:xfrm>
          <a:prstGeom prst="roundRect">
            <a:avLst>
              <a:gd name="adj" fmla="val 4235"/>
            </a:avLst>
          </a:prstGeom>
          <a:solidFill>
            <a:srgbClr val="27AE60"/>
          </a:solidFill>
          <a:ln w="19050">
            <a:solidFill>
              <a:srgbClr val="27AE60"/>
            </a:solidFill>
            <a:prstDash val="solid"/>
          </a:ln>
        </p:spPr>
      </p:sp>
      <p:sp>
        <p:nvSpPr>
          <p:cNvPr id="16" name="Shape 12"/>
          <p:cNvSpPr/>
          <p:nvPr/>
        </p:nvSpPr>
        <p:spPr>
          <a:xfrm>
            <a:off x="6099048" y="804672"/>
            <a:ext cx="2724912" cy="54864"/>
          </a:xfrm>
          <a:prstGeom prst="rect">
            <a:avLst/>
          </a:prstGeom>
          <a:solidFill>
            <a:srgbClr val="FFFFFF"/>
          </a:solidFill>
          <a:ln w="12700">
            <a:solidFill>
              <a:srgbClr val="FFFFFF"/>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27064" y="932688"/>
            <a:ext cx="365760" cy="365760"/>
          </a:xfrm>
          <a:prstGeom prst="rect">
            <a:avLst/>
          </a:prstGeom>
        </p:spPr>
      </p:pic>
      <p:sp>
        <p:nvSpPr>
          <p:cNvPr id="18" name="Text 13"/>
          <p:cNvSpPr/>
          <p:nvPr/>
        </p:nvSpPr>
        <p:spPr>
          <a:xfrm>
            <a:off x="6647688"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Estimación 5D</a:t>
            </a:r>
            <a:endParaRPr lang="en-US" sz="850" dirty="0"/>
          </a:p>
        </p:txBody>
      </p:sp>
      <p:sp>
        <p:nvSpPr>
          <p:cNvPr id="19" name="Text 14"/>
          <p:cNvSpPr/>
          <p:nvPr/>
        </p:nvSpPr>
        <p:spPr>
          <a:xfrm>
            <a:off x="6208776"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BIM + costos = estimaciones automáticas por partida. Permite comparar alternativas en tiempo real.</a:t>
            </a:r>
            <a:endParaRPr lang="en-US" sz="750" dirty="0"/>
          </a:p>
        </p:txBody>
      </p:sp>
      <p:sp>
        <p:nvSpPr>
          <p:cNvPr id="20" name="Shape 15"/>
          <p:cNvSpPr/>
          <p:nvPr/>
        </p:nvSpPr>
        <p:spPr>
          <a:xfrm>
            <a:off x="320040" y="2884932"/>
            <a:ext cx="2724912" cy="1943100"/>
          </a:xfrm>
          <a:prstGeom prst="roundRect">
            <a:avLst>
              <a:gd name="adj" fmla="val 4235"/>
            </a:avLst>
          </a:prstGeom>
          <a:solidFill>
            <a:srgbClr val="FFFFFF"/>
          </a:solidFill>
          <a:ln w="19050">
            <a:solidFill>
              <a:srgbClr val="27AE60"/>
            </a:solidFill>
            <a:prstDash val="solid"/>
          </a:ln>
        </p:spPr>
      </p:sp>
      <p:sp>
        <p:nvSpPr>
          <p:cNvPr id="21" name="Shape 16"/>
          <p:cNvSpPr/>
          <p:nvPr/>
        </p:nvSpPr>
        <p:spPr>
          <a:xfrm>
            <a:off x="320040" y="2884932"/>
            <a:ext cx="2724912" cy="54864"/>
          </a:xfrm>
          <a:prstGeom prst="rect">
            <a:avLst/>
          </a:prstGeom>
          <a:solidFill>
            <a:srgbClr val="27AE60"/>
          </a:solidFill>
          <a:ln w="12700">
            <a:solidFill>
              <a:srgbClr val="27AE60"/>
            </a:solidFill>
            <a:prstDash val="solid"/>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8056" y="3012948"/>
            <a:ext cx="365760" cy="365760"/>
          </a:xfrm>
          <a:prstGeom prst="rect">
            <a:avLst/>
          </a:prstGeom>
        </p:spPr>
      </p:pic>
      <p:sp>
        <p:nvSpPr>
          <p:cNvPr id="23" name="Text 17"/>
          <p:cNvSpPr/>
          <p:nvPr/>
        </p:nvSpPr>
        <p:spPr>
          <a:xfrm>
            <a:off x="868680" y="2994660"/>
            <a:ext cx="2066544" cy="347472"/>
          </a:xfrm>
          <a:prstGeom prst="rect">
            <a:avLst/>
          </a:prstGeom>
          <a:noFill/>
          <a:ln/>
        </p:spPr>
        <p:txBody>
          <a:bodyPr wrap="square" rtlCol="0" anchor="ctr"/>
          <a:lstStyle/>
          <a:p>
            <a:pPr indent="0" marL="0">
              <a:buNone/>
            </a:pPr>
            <a:r>
              <a:rPr lang="en-US" sz="850" b="1" dirty="0">
                <a:solidFill>
                  <a:srgbClr val="27AE60"/>
                </a:solidFill>
                <a:latin typeface="Atkinson Hyperlegible" pitchFamily="34" charset="0"/>
                <a:ea typeface="Atkinson Hyperlegible" pitchFamily="34" charset="-122"/>
                <a:cs typeface="Atkinson Hyperlegible" pitchFamily="34" charset="-120"/>
              </a:rPr>
              <a:t>Gemelo Digital</a:t>
            </a:r>
            <a:endParaRPr lang="en-US" sz="850" dirty="0"/>
          </a:p>
        </p:txBody>
      </p:sp>
      <p:sp>
        <p:nvSpPr>
          <p:cNvPr id="24" name="Text 18"/>
          <p:cNvSpPr/>
          <p:nvPr/>
        </p:nvSpPr>
        <p:spPr>
          <a:xfrm>
            <a:off x="429768"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Modelo vivo del activo desde construcción a operación. Constructabilidad digital desde fase de diseño.</a:t>
            </a:r>
            <a:endParaRPr lang="en-US" sz="750" dirty="0"/>
          </a:p>
        </p:txBody>
      </p:sp>
      <p:sp>
        <p:nvSpPr>
          <p:cNvPr id="25" name="Shape 19"/>
          <p:cNvSpPr/>
          <p:nvPr/>
        </p:nvSpPr>
        <p:spPr>
          <a:xfrm>
            <a:off x="3209544" y="2884932"/>
            <a:ext cx="2724912" cy="1943100"/>
          </a:xfrm>
          <a:prstGeom prst="roundRect">
            <a:avLst>
              <a:gd name="adj" fmla="val 4235"/>
            </a:avLst>
          </a:prstGeom>
          <a:solidFill>
            <a:srgbClr val="27AE60"/>
          </a:solidFill>
          <a:ln w="19050">
            <a:solidFill>
              <a:srgbClr val="27AE60"/>
            </a:solidFill>
            <a:prstDash val="solid"/>
          </a:ln>
        </p:spPr>
      </p:sp>
      <p:sp>
        <p:nvSpPr>
          <p:cNvPr id="26" name="Shape 20"/>
          <p:cNvSpPr/>
          <p:nvPr/>
        </p:nvSpPr>
        <p:spPr>
          <a:xfrm>
            <a:off x="3209544" y="2884932"/>
            <a:ext cx="2724912" cy="54864"/>
          </a:xfrm>
          <a:prstGeom prst="rect">
            <a:avLst/>
          </a:prstGeom>
          <a:solidFill>
            <a:srgbClr val="FFFFFF"/>
          </a:solidFill>
          <a:ln w="12700">
            <a:solidFill>
              <a:srgbClr val="FFFFFF"/>
            </a:solidFill>
            <a:prstDash val="solid"/>
          </a:ln>
        </p:spPr>
      </p:sp>
      <p:pic>
        <p:nvPicPr>
          <p:cNvPr id="2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37560" y="3012948"/>
            <a:ext cx="365760" cy="365760"/>
          </a:xfrm>
          <a:prstGeom prst="rect">
            <a:avLst/>
          </a:prstGeom>
        </p:spPr>
      </p:pic>
      <p:sp>
        <p:nvSpPr>
          <p:cNvPr id="28" name="Text 21"/>
          <p:cNvSpPr/>
          <p:nvPr/>
        </p:nvSpPr>
        <p:spPr>
          <a:xfrm>
            <a:off x="3758184" y="299466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Prefabricación + BIM</a:t>
            </a:r>
            <a:endParaRPr lang="en-US" sz="850" dirty="0"/>
          </a:p>
        </p:txBody>
      </p:sp>
      <p:sp>
        <p:nvSpPr>
          <p:cNvPr id="29" name="Text 22"/>
          <p:cNvSpPr/>
          <p:nvPr/>
        </p:nvSpPr>
        <p:spPr>
          <a:xfrm>
            <a:off x="3319272" y="339699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El modelo 3D drive la fabricación en taller. Reduce trabajo en campo, mejora calidad y seguridad.</a:t>
            </a:r>
            <a:endParaRPr lang="en-US" sz="750" dirty="0"/>
          </a:p>
        </p:txBody>
      </p:sp>
      <p:sp>
        <p:nvSpPr>
          <p:cNvPr id="30" name="Shape 23"/>
          <p:cNvSpPr/>
          <p:nvPr/>
        </p:nvSpPr>
        <p:spPr>
          <a:xfrm>
            <a:off x="6099048" y="2884932"/>
            <a:ext cx="2724912" cy="1943100"/>
          </a:xfrm>
          <a:prstGeom prst="roundRect">
            <a:avLst>
              <a:gd name="adj" fmla="val 4235"/>
            </a:avLst>
          </a:prstGeom>
          <a:solidFill>
            <a:srgbClr val="FFFFFF"/>
          </a:solidFill>
          <a:ln w="19050">
            <a:solidFill>
              <a:srgbClr val="27AE60"/>
            </a:solidFill>
            <a:prstDash val="solid"/>
          </a:ln>
        </p:spPr>
      </p:sp>
      <p:sp>
        <p:nvSpPr>
          <p:cNvPr id="31" name="Shape 24"/>
          <p:cNvSpPr/>
          <p:nvPr/>
        </p:nvSpPr>
        <p:spPr>
          <a:xfrm>
            <a:off x="6099048" y="2884932"/>
            <a:ext cx="2724912" cy="54864"/>
          </a:xfrm>
          <a:prstGeom prst="rect">
            <a:avLst/>
          </a:prstGeom>
          <a:solidFill>
            <a:srgbClr val="27AE60"/>
          </a:solidFill>
          <a:ln w="12700">
            <a:solidFill>
              <a:srgbClr val="27AE60"/>
            </a:solidFill>
            <a:prstDash val="solid"/>
          </a:ln>
        </p:spPr>
      </p:sp>
      <p:pic>
        <p:nvPicPr>
          <p:cNvPr id="3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27064" y="3012948"/>
            <a:ext cx="365760" cy="365760"/>
          </a:xfrm>
          <a:prstGeom prst="rect">
            <a:avLst/>
          </a:prstGeom>
        </p:spPr>
      </p:pic>
      <p:sp>
        <p:nvSpPr>
          <p:cNvPr id="33" name="Text 25"/>
          <p:cNvSpPr/>
          <p:nvPr/>
        </p:nvSpPr>
        <p:spPr>
          <a:xfrm>
            <a:off x="6647688" y="2994660"/>
            <a:ext cx="2066544" cy="347472"/>
          </a:xfrm>
          <a:prstGeom prst="rect">
            <a:avLst/>
          </a:prstGeom>
          <a:noFill/>
          <a:ln/>
        </p:spPr>
        <p:txBody>
          <a:bodyPr wrap="square" rtlCol="0" anchor="ctr"/>
          <a:lstStyle/>
          <a:p>
            <a:pPr indent="0" marL="0">
              <a:buNone/>
            </a:pPr>
            <a:r>
              <a:rPr lang="en-US" sz="850" b="1" dirty="0">
                <a:solidFill>
                  <a:srgbClr val="27AE60"/>
                </a:solidFill>
                <a:latin typeface="Atkinson Hyperlegible" pitchFamily="34" charset="0"/>
                <a:ea typeface="Atkinson Hyperlegible" pitchFamily="34" charset="-122"/>
                <a:cs typeface="Atkinson Hyperlegible" pitchFamily="34" charset="-120"/>
              </a:rPr>
              <a:t>Plataformas Colaborativas</a:t>
            </a:r>
            <a:endParaRPr lang="en-US" sz="850" dirty="0"/>
          </a:p>
        </p:txBody>
      </p:sp>
      <p:sp>
        <p:nvSpPr>
          <p:cNvPr id="34" name="Text 26"/>
          <p:cNvSpPr/>
          <p:nvPr/>
        </p:nvSpPr>
        <p:spPr>
          <a:xfrm>
            <a:off x="6208776"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Common Data Environment (CDE). Todos los stakeholders acceden al mismo modelo y documentos.</a:t>
            </a:r>
            <a:endParaRPr lang="en-US" sz="750" dirty="0"/>
          </a:p>
        </p:txBody>
      </p:sp>
      <p:sp>
        <p:nvSpPr>
          <p:cNvPr id="35" name="Shape 27"/>
          <p:cNvSpPr/>
          <p:nvPr/>
        </p:nvSpPr>
        <p:spPr>
          <a:xfrm>
            <a:off x="182880" y="4956048"/>
            <a:ext cx="8961120" cy="182880"/>
          </a:xfrm>
          <a:prstGeom prst="rect">
            <a:avLst/>
          </a:prstGeom>
          <a:solidFill>
            <a:srgbClr val="27AE60"/>
          </a:solidFill>
          <a:ln w="12700">
            <a:solidFill>
              <a:srgbClr val="27AE60"/>
            </a:solidFill>
            <a:prstDash val="solid"/>
          </a:ln>
        </p:spPr>
      </p:sp>
      <p:sp>
        <p:nvSpPr>
          <p:cNvPr id="36" name="Text 28"/>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22 / 126</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27AE60"/>
          </a:solidFill>
          <a:ln w="12700">
            <a:solidFill>
              <a:srgbClr val="27AE60"/>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I-6: Decisiones Clave en Fases Tempranas</a:t>
            </a:r>
            <a:endParaRPr lang="en-US" sz="1800" dirty="0"/>
          </a:p>
        </p:txBody>
      </p:sp>
      <p:sp>
        <p:nvSpPr>
          <p:cNvPr id="4" name="Shape 2"/>
          <p:cNvSpPr/>
          <p:nvPr/>
        </p:nvSpPr>
        <p:spPr>
          <a:xfrm>
            <a:off x="320040" y="640080"/>
            <a:ext cx="8503920" cy="41148"/>
          </a:xfrm>
          <a:prstGeom prst="rect">
            <a:avLst/>
          </a:prstGeom>
          <a:solidFill>
            <a:srgbClr val="27AE60"/>
          </a:solidFill>
          <a:ln w="12700">
            <a:solidFill>
              <a:srgbClr val="27AE60"/>
            </a:solidFill>
            <a:prstDash val="solid"/>
          </a:ln>
        </p:spPr>
      </p:sp>
      <p:sp>
        <p:nvSpPr>
          <p:cNvPr id="5" name="Text 3"/>
          <p:cNvSpPr/>
          <p:nvPr/>
        </p:nvSpPr>
        <p:spPr>
          <a:xfrm>
            <a:off x="320040" y="704088"/>
            <a:ext cx="8503920" cy="256032"/>
          </a:xfrm>
          <a:prstGeom prst="rect">
            <a:avLst/>
          </a:prstGeom>
          <a:noFill/>
          <a:ln/>
        </p:spPr>
        <p:txBody>
          <a:bodyPr wrap="square" rtlCol="0" anchor="ctr"/>
          <a:lstStyle/>
          <a:p>
            <a:pPr indent="0" marL="0">
              <a:buNone/>
            </a:pPr>
            <a:r>
              <a:rPr lang="en-US" sz="850" i="1" dirty="0">
                <a:solidFill>
                  <a:srgbClr val="27AE60"/>
                </a:solidFill>
                <a:latin typeface="Atkinson Hyperlegible" pitchFamily="34" charset="0"/>
                <a:ea typeface="Atkinson Hyperlegible" pitchFamily="34" charset="-122"/>
                <a:cs typeface="Atkinson Hyperlegible" pitchFamily="34" charset="-120"/>
              </a:rPr>
              <a:t>Las decisiones más impactantes son las más tempranas — el costo de cambiarlas crece exponencialmente</a:t>
            </a:r>
            <a:endParaRPr lang="en-US" sz="850" dirty="0"/>
          </a:p>
        </p:txBody>
      </p:sp>
      <p:sp>
        <p:nvSpPr>
          <p:cNvPr id="6" name="Shape 4"/>
          <p:cNvSpPr/>
          <p:nvPr/>
        </p:nvSpPr>
        <p:spPr>
          <a:xfrm>
            <a:off x="457200" y="2724912"/>
            <a:ext cx="8229600" cy="36576"/>
          </a:xfrm>
          <a:prstGeom prst="rect">
            <a:avLst/>
          </a:prstGeom>
          <a:solidFill>
            <a:srgbClr val="27AE60"/>
          </a:solidFill>
          <a:ln w="12700">
            <a:solidFill>
              <a:srgbClr val="27AE60"/>
            </a:solidFill>
            <a:prstDash val="solid"/>
          </a:ln>
        </p:spPr>
      </p:sp>
      <p:sp>
        <p:nvSpPr>
          <p:cNvPr id="7" name="Shape 5"/>
          <p:cNvSpPr/>
          <p:nvPr/>
        </p:nvSpPr>
        <p:spPr>
          <a:xfrm flipV="1">
            <a:off x="457200" y="2240280"/>
            <a:ext cx="18288" cy="466344"/>
          </a:xfrm>
          <a:prstGeom prst="line">
            <a:avLst/>
          </a:prstGeom>
          <a:noFill/>
          <a:ln w="12700">
            <a:solidFill>
              <a:srgbClr val="27AE60"/>
            </a:solidFill>
            <a:prstDash val="solid"/>
          </a:ln>
        </p:spPr>
      </p:sp>
      <p:sp>
        <p:nvSpPr>
          <p:cNvPr id="8" name="Shape 6"/>
          <p:cNvSpPr/>
          <p:nvPr/>
        </p:nvSpPr>
        <p:spPr>
          <a:xfrm>
            <a:off x="329184" y="2615184"/>
            <a:ext cx="256032" cy="256032"/>
          </a:xfrm>
          <a:prstGeom prst="ellipse">
            <a:avLst/>
          </a:prstGeom>
          <a:solidFill>
            <a:srgbClr val="27AE60"/>
          </a:solidFill>
          <a:ln w="25400">
            <a:solidFill>
              <a:srgbClr val="FFFFFF"/>
            </a:solidFill>
            <a:prstDash val="solid"/>
          </a:ln>
        </p:spPr>
      </p:sp>
      <p:sp>
        <p:nvSpPr>
          <p:cNvPr id="9" name="Shape 7"/>
          <p:cNvSpPr/>
          <p:nvPr/>
        </p:nvSpPr>
        <p:spPr>
          <a:xfrm>
            <a:off x="164592" y="2221992"/>
            <a:ext cx="585216" cy="256032"/>
          </a:xfrm>
          <a:prstGeom prst="roundRect">
            <a:avLst>
              <a:gd name="adj" fmla="val 17857"/>
            </a:avLst>
          </a:prstGeom>
          <a:solidFill>
            <a:srgbClr val="27AE60"/>
          </a:solidFill>
          <a:ln w="12700">
            <a:solidFill>
              <a:srgbClr val="27AE60"/>
            </a:solidFill>
            <a:prstDash val="solid"/>
          </a:ln>
        </p:spPr>
      </p:sp>
      <p:sp>
        <p:nvSpPr>
          <p:cNvPr id="10" name="Text 8"/>
          <p:cNvSpPr/>
          <p:nvPr/>
        </p:nvSpPr>
        <p:spPr>
          <a:xfrm>
            <a:off x="164592" y="2221992"/>
            <a:ext cx="585216" cy="256032"/>
          </a:xfrm>
          <a:prstGeom prst="rect">
            <a:avLst/>
          </a:prstGeom>
          <a:noFill/>
          <a:ln/>
        </p:spPr>
        <p:txBody>
          <a:bodyPr wrap="square" rtlCol="0" anchor="ctr"/>
          <a:lstStyle/>
          <a:p>
            <a:pPr algn="ctr" indent="0" marL="0">
              <a:buNone/>
            </a:pPr>
            <a:r>
              <a:rPr lang="en-US" sz="700" b="1" dirty="0">
                <a:solidFill>
                  <a:srgbClr val="FFFFFF"/>
                </a:solidFill>
                <a:latin typeface="Atkinson Hyperlegible" pitchFamily="34" charset="0"/>
                <a:ea typeface="Atkinson Hyperlegible" pitchFamily="34" charset="-122"/>
                <a:cs typeface="Atkinson Hyperlegible" pitchFamily="34" charset="-120"/>
              </a:rPr>
              <a:t>Semana 1-4</a:t>
            </a:r>
            <a:endParaRPr lang="en-US" sz="700" dirty="0"/>
          </a:p>
        </p:txBody>
      </p:sp>
      <p:sp>
        <p:nvSpPr>
          <p:cNvPr id="11" name="Shape 9"/>
          <p:cNvSpPr/>
          <p:nvPr/>
        </p:nvSpPr>
        <p:spPr>
          <a:xfrm>
            <a:off x="-182880" y="1051560"/>
            <a:ext cx="1280160" cy="914400"/>
          </a:xfrm>
          <a:prstGeom prst="roundRect">
            <a:avLst>
              <a:gd name="adj" fmla="val 6000"/>
            </a:avLst>
          </a:prstGeom>
          <a:solidFill>
            <a:srgbClr val="FFFFFF"/>
          </a:solidFill>
          <a:ln w="15240">
            <a:solidFill>
              <a:srgbClr val="27AE60"/>
            </a:solidFill>
            <a:prstDash val="solid"/>
          </a:ln>
        </p:spPr>
      </p:sp>
      <p:sp>
        <p:nvSpPr>
          <p:cNvPr id="12" name="Text 10"/>
          <p:cNvSpPr/>
          <p:nvPr/>
        </p:nvSpPr>
        <p:spPr>
          <a:xfrm>
            <a:off x="-137160" y="1097280"/>
            <a:ext cx="1188720" cy="457200"/>
          </a:xfrm>
          <a:prstGeom prst="rect">
            <a:avLst/>
          </a:prstGeom>
          <a:noFill/>
          <a:ln/>
        </p:spPr>
        <p:txBody>
          <a:bodyPr wrap="square" rtlCol="0" anchor="ctr"/>
          <a:lstStyle/>
          <a:p>
            <a:pPr algn="ctr" indent="0" marL="0">
              <a:buNone/>
            </a:pPr>
            <a:r>
              <a:rPr lang="en-US" sz="700" b="1" dirty="0">
                <a:solidFill>
                  <a:srgbClr val="27AE60"/>
                </a:solidFill>
                <a:latin typeface="Atkinson Hyperlegible" pitchFamily="34" charset="0"/>
                <a:ea typeface="Atkinson Hyperlegible" pitchFamily="34" charset="-122"/>
                <a:cs typeface="Atkinson Hyperlegible" pitchFamily="34" charset="-120"/>
              </a:rPr>
              <a:t>Estrategia de Ejecución</a:t>
            </a:r>
            <a:endParaRPr lang="en-US" sz="700" dirty="0"/>
          </a:p>
        </p:txBody>
      </p:sp>
      <p:sp>
        <p:nvSpPr>
          <p:cNvPr id="13" name="Text 11"/>
          <p:cNvSpPr/>
          <p:nvPr/>
        </p:nvSpPr>
        <p:spPr>
          <a:xfrm>
            <a:off x="-137160" y="1527048"/>
            <a:ext cx="1188720" cy="457200"/>
          </a:xfrm>
          <a:prstGeom prst="rect">
            <a:avLst/>
          </a:prstGeom>
          <a:noFill/>
          <a:ln/>
        </p:spPr>
        <p:txBody>
          <a:bodyPr wrap="square" rtlCol="0" anchor="ctr"/>
          <a:lstStyle/>
          <a:p>
            <a:pPr algn="ctr" indent="0" marL="0">
              <a:buNone/>
            </a:pPr>
            <a:r>
              <a:rPr lang="en-US" sz="600" dirty="0">
                <a:solidFill>
                  <a:srgbClr val="1D1D1F"/>
                </a:solidFill>
                <a:latin typeface="Atkinson Hyperlegible" pitchFamily="34" charset="0"/>
                <a:ea typeface="Atkinson Hyperlegible" pitchFamily="34" charset="-122"/>
                <a:cs typeface="Atkinson Hyperlegible" pitchFamily="34" charset="-120"/>
              </a:rPr>
              <a:t>EPC/EPCM/CM-at-Risk. Define flujo de información y responsabilidades.</a:t>
            </a:r>
            <a:endParaRPr lang="en-US" sz="600" dirty="0"/>
          </a:p>
        </p:txBody>
      </p:sp>
      <p:sp>
        <p:nvSpPr>
          <p:cNvPr id="14" name="Shape 12"/>
          <p:cNvSpPr/>
          <p:nvPr/>
        </p:nvSpPr>
        <p:spPr>
          <a:xfrm>
            <a:off x="2514600" y="2779776"/>
            <a:ext cx="18288" cy="329184"/>
          </a:xfrm>
          <a:prstGeom prst="line">
            <a:avLst/>
          </a:prstGeom>
          <a:noFill/>
          <a:ln w="12700">
            <a:solidFill>
              <a:srgbClr val="27AE60"/>
            </a:solidFill>
            <a:prstDash val="solid"/>
          </a:ln>
        </p:spPr>
      </p:sp>
      <p:sp>
        <p:nvSpPr>
          <p:cNvPr id="15" name="Shape 13"/>
          <p:cNvSpPr/>
          <p:nvPr/>
        </p:nvSpPr>
        <p:spPr>
          <a:xfrm>
            <a:off x="2386584" y="2615184"/>
            <a:ext cx="256032" cy="256032"/>
          </a:xfrm>
          <a:prstGeom prst="ellipse">
            <a:avLst/>
          </a:prstGeom>
          <a:solidFill>
            <a:srgbClr val="27AE60"/>
          </a:solidFill>
          <a:ln w="25400">
            <a:solidFill>
              <a:srgbClr val="FFFFFF"/>
            </a:solidFill>
            <a:prstDash val="solid"/>
          </a:ln>
        </p:spPr>
      </p:sp>
      <p:sp>
        <p:nvSpPr>
          <p:cNvPr id="16" name="Shape 14"/>
          <p:cNvSpPr/>
          <p:nvPr/>
        </p:nvSpPr>
        <p:spPr>
          <a:xfrm>
            <a:off x="2221992" y="2852928"/>
            <a:ext cx="585216" cy="256032"/>
          </a:xfrm>
          <a:prstGeom prst="roundRect">
            <a:avLst>
              <a:gd name="adj" fmla="val 17857"/>
            </a:avLst>
          </a:prstGeom>
          <a:solidFill>
            <a:srgbClr val="27AE60"/>
          </a:solidFill>
          <a:ln w="12700">
            <a:solidFill>
              <a:srgbClr val="27AE60"/>
            </a:solidFill>
            <a:prstDash val="solid"/>
          </a:ln>
        </p:spPr>
      </p:sp>
      <p:sp>
        <p:nvSpPr>
          <p:cNvPr id="17" name="Text 15"/>
          <p:cNvSpPr/>
          <p:nvPr/>
        </p:nvSpPr>
        <p:spPr>
          <a:xfrm>
            <a:off x="2221992" y="2852928"/>
            <a:ext cx="585216" cy="256032"/>
          </a:xfrm>
          <a:prstGeom prst="rect">
            <a:avLst/>
          </a:prstGeom>
          <a:noFill/>
          <a:ln/>
        </p:spPr>
        <p:txBody>
          <a:bodyPr wrap="square" rtlCol="0" anchor="ctr"/>
          <a:lstStyle/>
          <a:p>
            <a:pPr algn="ctr" indent="0" marL="0">
              <a:buNone/>
            </a:pPr>
            <a:r>
              <a:rPr lang="en-US" sz="700" b="1" dirty="0">
                <a:solidFill>
                  <a:srgbClr val="FFFFFF"/>
                </a:solidFill>
                <a:latin typeface="Atkinson Hyperlegible" pitchFamily="34" charset="0"/>
                <a:ea typeface="Atkinson Hyperlegible" pitchFamily="34" charset="-122"/>
                <a:cs typeface="Atkinson Hyperlegible" pitchFamily="34" charset="-120"/>
              </a:rPr>
              <a:t>Semana 4-8</a:t>
            </a:r>
            <a:endParaRPr lang="en-US" sz="700" dirty="0"/>
          </a:p>
        </p:txBody>
      </p:sp>
      <p:sp>
        <p:nvSpPr>
          <p:cNvPr id="18" name="Shape 16"/>
          <p:cNvSpPr/>
          <p:nvPr/>
        </p:nvSpPr>
        <p:spPr>
          <a:xfrm>
            <a:off x="1874520" y="3108960"/>
            <a:ext cx="1280160" cy="914400"/>
          </a:xfrm>
          <a:prstGeom prst="roundRect">
            <a:avLst>
              <a:gd name="adj" fmla="val 6000"/>
            </a:avLst>
          </a:prstGeom>
          <a:solidFill>
            <a:srgbClr val="FFFFFF"/>
          </a:solidFill>
          <a:ln w="15240">
            <a:solidFill>
              <a:srgbClr val="27AE60"/>
            </a:solidFill>
            <a:prstDash val="solid"/>
          </a:ln>
        </p:spPr>
      </p:sp>
      <p:sp>
        <p:nvSpPr>
          <p:cNvPr id="19" name="Text 17"/>
          <p:cNvSpPr/>
          <p:nvPr/>
        </p:nvSpPr>
        <p:spPr>
          <a:xfrm>
            <a:off x="1920240" y="3154680"/>
            <a:ext cx="1188720" cy="457200"/>
          </a:xfrm>
          <a:prstGeom prst="rect">
            <a:avLst/>
          </a:prstGeom>
          <a:noFill/>
          <a:ln/>
        </p:spPr>
        <p:txBody>
          <a:bodyPr wrap="square" rtlCol="0" anchor="ctr"/>
          <a:lstStyle/>
          <a:p>
            <a:pPr algn="ctr" indent="0" marL="0">
              <a:buNone/>
            </a:pPr>
            <a:r>
              <a:rPr lang="en-US" sz="700" b="1" dirty="0">
                <a:solidFill>
                  <a:srgbClr val="27AE60"/>
                </a:solidFill>
                <a:latin typeface="Atkinson Hyperlegible" pitchFamily="34" charset="0"/>
                <a:ea typeface="Atkinson Hyperlegible" pitchFamily="34" charset="-122"/>
                <a:cs typeface="Atkinson Hyperlegible" pitchFamily="34" charset="-120"/>
              </a:rPr>
              <a:t>Estrategia PAM</a:t>
            </a:r>
            <a:endParaRPr lang="en-US" sz="700" dirty="0"/>
          </a:p>
        </p:txBody>
      </p:sp>
      <p:sp>
        <p:nvSpPr>
          <p:cNvPr id="20" name="Text 18"/>
          <p:cNvSpPr/>
          <p:nvPr/>
        </p:nvSpPr>
        <p:spPr>
          <a:xfrm>
            <a:off x="1920240" y="3584448"/>
            <a:ext cx="1188720" cy="457200"/>
          </a:xfrm>
          <a:prstGeom prst="rect">
            <a:avLst/>
          </a:prstGeom>
          <a:noFill/>
          <a:ln/>
        </p:spPr>
        <p:txBody>
          <a:bodyPr wrap="square" rtlCol="0" anchor="ctr"/>
          <a:lstStyle/>
          <a:p>
            <a:pPr algn="ctr" indent="0" marL="0">
              <a:buNone/>
            </a:pPr>
            <a:r>
              <a:rPr lang="en-US" sz="600" dirty="0">
                <a:solidFill>
                  <a:srgbClr val="1D1D1F"/>
                </a:solidFill>
                <a:latin typeface="Atkinson Hyperlegible" pitchFamily="34" charset="0"/>
                <a:ea typeface="Atkinson Hyperlegible" pitchFamily="34" charset="-122"/>
                <a:cs typeface="Atkinson Hyperlegible" pitchFamily="34" charset="-120"/>
              </a:rPr>
              <a:t>¿Cuánto prefabricar? ¿Dónde? Define tamaño de módulos y secuencia.</a:t>
            </a:r>
            <a:endParaRPr lang="en-US" sz="600" dirty="0"/>
          </a:p>
        </p:txBody>
      </p:sp>
      <p:sp>
        <p:nvSpPr>
          <p:cNvPr id="21" name="Shape 19"/>
          <p:cNvSpPr/>
          <p:nvPr/>
        </p:nvSpPr>
        <p:spPr>
          <a:xfrm flipV="1">
            <a:off x="4572000" y="2240280"/>
            <a:ext cx="18288" cy="466344"/>
          </a:xfrm>
          <a:prstGeom prst="line">
            <a:avLst/>
          </a:prstGeom>
          <a:noFill/>
          <a:ln w="12700">
            <a:solidFill>
              <a:srgbClr val="27AE60"/>
            </a:solidFill>
            <a:prstDash val="solid"/>
          </a:ln>
        </p:spPr>
      </p:sp>
      <p:sp>
        <p:nvSpPr>
          <p:cNvPr id="22" name="Shape 20"/>
          <p:cNvSpPr/>
          <p:nvPr/>
        </p:nvSpPr>
        <p:spPr>
          <a:xfrm>
            <a:off x="4443984" y="2615184"/>
            <a:ext cx="256032" cy="256032"/>
          </a:xfrm>
          <a:prstGeom prst="ellipse">
            <a:avLst/>
          </a:prstGeom>
          <a:solidFill>
            <a:srgbClr val="27AE60"/>
          </a:solidFill>
          <a:ln w="25400">
            <a:solidFill>
              <a:srgbClr val="FFFFFF"/>
            </a:solidFill>
            <a:prstDash val="solid"/>
          </a:ln>
        </p:spPr>
      </p:sp>
      <p:sp>
        <p:nvSpPr>
          <p:cNvPr id="23" name="Shape 21"/>
          <p:cNvSpPr/>
          <p:nvPr/>
        </p:nvSpPr>
        <p:spPr>
          <a:xfrm>
            <a:off x="4279392" y="2221992"/>
            <a:ext cx="585216" cy="256032"/>
          </a:xfrm>
          <a:prstGeom prst="roundRect">
            <a:avLst>
              <a:gd name="adj" fmla="val 17857"/>
            </a:avLst>
          </a:prstGeom>
          <a:solidFill>
            <a:srgbClr val="27AE60"/>
          </a:solidFill>
          <a:ln w="12700">
            <a:solidFill>
              <a:srgbClr val="27AE60"/>
            </a:solidFill>
            <a:prstDash val="solid"/>
          </a:ln>
        </p:spPr>
      </p:sp>
      <p:sp>
        <p:nvSpPr>
          <p:cNvPr id="24" name="Text 22"/>
          <p:cNvSpPr/>
          <p:nvPr/>
        </p:nvSpPr>
        <p:spPr>
          <a:xfrm>
            <a:off x="4279392" y="2221992"/>
            <a:ext cx="585216" cy="256032"/>
          </a:xfrm>
          <a:prstGeom prst="rect">
            <a:avLst/>
          </a:prstGeom>
          <a:noFill/>
          <a:ln/>
        </p:spPr>
        <p:txBody>
          <a:bodyPr wrap="square" rtlCol="0" anchor="ctr"/>
          <a:lstStyle/>
          <a:p>
            <a:pPr algn="ctr" indent="0" marL="0">
              <a:buNone/>
            </a:pPr>
            <a:r>
              <a:rPr lang="en-US" sz="700" b="1" dirty="0">
                <a:solidFill>
                  <a:srgbClr val="FFFFFF"/>
                </a:solidFill>
                <a:latin typeface="Atkinson Hyperlegible" pitchFamily="34" charset="0"/>
                <a:ea typeface="Atkinson Hyperlegible" pitchFamily="34" charset="-122"/>
                <a:cs typeface="Atkinson Hyperlegible" pitchFamily="34" charset="-120"/>
              </a:rPr>
              <a:t>Mes 2-3</a:t>
            </a:r>
            <a:endParaRPr lang="en-US" sz="700" dirty="0"/>
          </a:p>
        </p:txBody>
      </p:sp>
      <p:sp>
        <p:nvSpPr>
          <p:cNvPr id="25" name="Shape 23"/>
          <p:cNvSpPr/>
          <p:nvPr/>
        </p:nvSpPr>
        <p:spPr>
          <a:xfrm>
            <a:off x="3931920" y="1051560"/>
            <a:ext cx="1280160" cy="914400"/>
          </a:xfrm>
          <a:prstGeom prst="roundRect">
            <a:avLst>
              <a:gd name="adj" fmla="val 6000"/>
            </a:avLst>
          </a:prstGeom>
          <a:solidFill>
            <a:srgbClr val="FFFFFF"/>
          </a:solidFill>
          <a:ln w="15240">
            <a:solidFill>
              <a:srgbClr val="27AE60"/>
            </a:solidFill>
            <a:prstDash val="solid"/>
          </a:ln>
        </p:spPr>
      </p:sp>
      <p:sp>
        <p:nvSpPr>
          <p:cNvPr id="26" name="Text 24"/>
          <p:cNvSpPr/>
          <p:nvPr/>
        </p:nvSpPr>
        <p:spPr>
          <a:xfrm>
            <a:off x="3977640" y="1097280"/>
            <a:ext cx="1188720" cy="457200"/>
          </a:xfrm>
          <a:prstGeom prst="rect">
            <a:avLst/>
          </a:prstGeom>
          <a:noFill/>
          <a:ln/>
        </p:spPr>
        <p:txBody>
          <a:bodyPr wrap="square" rtlCol="0" anchor="ctr"/>
          <a:lstStyle/>
          <a:p>
            <a:pPr algn="ctr" indent="0" marL="0">
              <a:buNone/>
            </a:pPr>
            <a:r>
              <a:rPr lang="en-US" sz="700" b="1" dirty="0">
                <a:solidFill>
                  <a:srgbClr val="27AE60"/>
                </a:solidFill>
                <a:latin typeface="Atkinson Hyperlegible" pitchFamily="34" charset="0"/>
                <a:ea typeface="Atkinson Hyperlegible" pitchFamily="34" charset="-122"/>
                <a:cs typeface="Atkinson Hyperlegible" pitchFamily="34" charset="-120"/>
              </a:rPr>
              <a:t>Paquetes de Trabajo</a:t>
            </a:r>
            <a:endParaRPr lang="en-US" sz="700" dirty="0"/>
          </a:p>
        </p:txBody>
      </p:sp>
      <p:sp>
        <p:nvSpPr>
          <p:cNvPr id="27" name="Text 25"/>
          <p:cNvSpPr/>
          <p:nvPr/>
        </p:nvSpPr>
        <p:spPr>
          <a:xfrm>
            <a:off x="3977640" y="1527048"/>
            <a:ext cx="1188720" cy="457200"/>
          </a:xfrm>
          <a:prstGeom prst="rect">
            <a:avLst/>
          </a:prstGeom>
          <a:noFill/>
          <a:ln/>
        </p:spPr>
        <p:txBody>
          <a:bodyPr wrap="square" rtlCol="0" anchor="ctr"/>
          <a:lstStyle/>
          <a:p>
            <a:pPr algn="ctr" indent="0" marL="0">
              <a:buNone/>
            </a:pPr>
            <a:r>
              <a:rPr lang="en-US" sz="600" dirty="0">
                <a:solidFill>
                  <a:srgbClr val="1D1D1F"/>
                </a:solidFill>
                <a:latin typeface="Atkinson Hyperlegible" pitchFamily="34" charset="0"/>
                <a:ea typeface="Atkinson Hyperlegible" pitchFamily="34" charset="-122"/>
                <a:cs typeface="Atkinson Hyperlegible" pitchFamily="34" charset="-120"/>
              </a:rPr>
              <a:t>WBS de construcción. Afecta diseño, procura y secuencia.</a:t>
            </a:r>
            <a:endParaRPr lang="en-US" sz="600" dirty="0"/>
          </a:p>
        </p:txBody>
      </p:sp>
      <p:sp>
        <p:nvSpPr>
          <p:cNvPr id="28" name="Shape 26"/>
          <p:cNvSpPr/>
          <p:nvPr/>
        </p:nvSpPr>
        <p:spPr>
          <a:xfrm>
            <a:off x="6629400" y="2779776"/>
            <a:ext cx="18288" cy="329184"/>
          </a:xfrm>
          <a:prstGeom prst="line">
            <a:avLst/>
          </a:prstGeom>
          <a:noFill/>
          <a:ln w="12700">
            <a:solidFill>
              <a:srgbClr val="27AE60"/>
            </a:solidFill>
            <a:prstDash val="solid"/>
          </a:ln>
        </p:spPr>
      </p:sp>
      <p:sp>
        <p:nvSpPr>
          <p:cNvPr id="29" name="Shape 27"/>
          <p:cNvSpPr/>
          <p:nvPr/>
        </p:nvSpPr>
        <p:spPr>
          <a:xfrm>
            <a:off x="6501384" y="2615184"/>
            <a:ext cx="256032" cy="256032"/>
          </a:xfrm>
          <a:prstGeom prst="ellipse">
            <a:avLst/>
          </a:prstGeom>
          <a:solidFill>
            <a:srgbClr val="27AE60"/>
          </a:solidFill>
          <a:ln w="25400">
            <a:solidFill>
              <a:srgbClr val="FFFFFF"/>
            </a:solidFill>
            <a:prstDash val="solid"/>
          </a:ln>
        </p:spPr>
      </p:sp>
      <p:sp>
        <p:nvSpPr>
          <p:cNvPr id="30" name="Shape 28"/>
          <p:cNvSpPr/>
          <p:nvPr/>
        </p:nvSpPr>
        <p:spPr>
          <a:xfrm>
            <a:off x="6336792" y="2852928"/>
            <a:ext cx="585216" cy="256032"/>
          </a:xfrm>
          <a:prstGeom prst="roundRect">
            <a:avLst>
              <a:gd name="adj" fmla="val 17857"/>
            </a:avLst>
          </a:prstGeom>
          <a:solidFill>
            <a:srgbClr val="27AE60"/>
          </a:solidFill>
          <a:ln w="12700">
            <a:solidFill>
              <a:srgbClr val="27AE60"/>
            </a:solidFill>
            <a:prstDash val="solid"/>
          </a:ln>
        </p:spPr>
      </p:sp>
      <p:sp>
        <p:nvSpPr>
          <p:cNvPr id="31" name="Text 29"/>
          <p:cNvSpPr/>
          <p:nvPr/>
        </p:nvSpPr>
        <p:spPr>
          <a:xfrm>
            <a:off x="6336792" y="2852928"/>
            <a:ext cx="585216" cy="256032"/>
          </a:xfrm>
          <a:prstGeom prst="rect">
            <a:avLst/>
          </a:prstGeom>
          <a:noFill/>
          <a:ln/>
        </p:spPr>
        <p:txBody>
          <a:bodyPr wrap="square" rtlCol="0" anchor="ctr"/>
          <a:lstStyle/>
          <a:p>
            <a:pPr algn="ctr" indent="0" marL="0">
              <a:buNone/>
            </a:pPr>
            <a:r>
              <a:rPr lang="en-US" sz="700" b="1" dirty="0">
                <a:solidFill>
                  <a:srgbClr val="FFFFFF"/>
                </a:solidFill>
                <a:latin typeface="Atkinson Hyperlegible" pitchFamily="34" charset="0"/>
                <a:ea typeface="Atkinson Hyperlegible" pitchFamily="34" charset="-122"/>
                <a:cs typeface="Atkinson Hyperlegible" pitchFamily="34" charset="-120"/>
              </a:rPr>
              <a:t>Mes 3-4</a:t>
            </a:r>
            <a:endParaRPr lang="en-US" sz="700" dirty="0"/>
          </a:p>
        </p:txBody>
      </p:sp>
      <p:sp>
        <p:nvSpPr>
          <p:cNvPr id="32" name="Shape 30"/>
          <p:cNvSpPr/>
          <p:nvPr/>
        </p:nvSpPr>
        <p:spPr>
          <a:xfrm>
            <a:off x="5989320" y="3108960"/>
            <a:ext cx="1280160" cy="914400"/>
          </a:xfrm>
          <a:prstGeom prst="roundRect">
            <a:avLst>
              <a:gd name="adj" fmla="val 6000"/>
            </a:avLst>
          </a:prstGeom>
          <a:solidFill>
            <a:srgbClr val="FFFFFF"/>
          </a:solidFill>
          <a:ln w="15240">
            <a:solidFill>
              <a:srgbClr val="27AE60"/>
            </a:solidFill>
            <a:prstDash val="solid"/>
          </a:ln>
        </p:spPr>
      </p:sp>
      <p:sp>
        <p:nvSpPr>
          <p:cNvPr id="33" name="Text 31"/>
          <p:cNvSpPr/>
          <p:nvPr/>
        </p:nvSpPr>
        <p:spPr>
          <a:xfrm>
            <a:off x="6035040" y="3154680"/>
            <a:ext cx="1188720" cy="457200"/>
          </a:xfrm>
          <a:prstGeom prst="rect">
            <a:avLst/>
          </a:prstGeom>
          <a:noFill/>
          <a:ln/>
        </p:spPr>
        <p:txBody>
          <a:bodyPr wrap="square" rtlCol="0" anchor="ctr"/>
          <a:lstStyle/>
          <a:p>
            <a:pPr algn="ctr" indent="0" marL="0">
              <a:buNone/>
            </a:pPr>
            <a:r>
              <a:rPr lang="en-US" sz="700" b="1" dirty="0">
                <a:solidFill>
                  <a:srgbClr val="27AE60"/>
                </a:solidFill>
                <a:latin typeface="Atkinson Hyperlegible" pitchFamily="34" charset="0"/>
                <a:ea typeface="Atkinson Hyperlegible" pitchFamily="34" charset="-122"/>
                <a:cs typeface="Atkinson Hyperlegible" pitchFamily="34" charset="-120"/>
              </a:rPr>
              <a:t>Modalidad de Contratos</a:t>
            </a:r>
            <a:endParaRPr lang="en-US" sz="700" dirty="0"/>
          </a:p>
        </p:txBody>
      </p:sp>
      <p:sp>
        <p:nvSpPr>
          <p:cNvPr id="34" name="Text 32"/>
          <p:cNvSpPr/>
          <p:nvPr/>
        </p:nvSpPr>
        <p:spPr>
          <a:xfrm>
            <a:off x="6035040" y="3584448"/>
            <a:ext cx="1188720" cy="457200"/>
          </a:xfrm>
          <a:prstGeom prst="rect">
            <a:avLst/>
          </a:prstGeom>
          <a:noFill/>
          <a:ln/>
        </p:spPr>
        <p:txBody>
          <a:bodyPr wrap="square" rtlCol="0" anchor="ctr"/>
          <a:lstStyle/>
          <a:p>
            <a:pPr algn="ctr" indent="0" marL="0">
              <a:buNone/>
            </a:pPr>
            <a:r>
              <a:rPr lang="en-US" sz="600" dirty="0">
                <a:solidFill>
                  <a:srgbClr val="1D1D1F"/>
                </a:solidFill>
                <a:latin typeface="Atkinson Hyperlegible" pitchFamily="34" charset="0"/>
                <a:ea typeface="Atkinson Hyperlegible" pitchFamily="34" charset="-122"/>
                <a:cs typeface="Atkinson Hyperlegible" pitchFamily="34" charset="-120"/>
              </a:rPr>
              <a:t>Lump sum vs. reembolsable. Impacta incentivos de constructabilidad.</a:t>
            </a:r>
            <a:endParaRPr lang="en-US" sz="600" dirty="0"/>
          </a:p>
        </p:txBody>
      </p:sp>
      <p:sp>
        <p:nvSpPr>
          <p:cNvPr id="35" name="Shape 33"/>
          <p:cNvSpPr/>
          <p:nvPr/>
        </p:nvSpPr>
        <p:spPr>
          <a:xfrm flipV="1">
            <a:off x="8686800" y="2240280"/>
            <a:ext cx="18288" cy="466344"/>
          </a:xfrm>
          <a:prstGeom prst="line">
            <a:avLst/>
          </a:prstGeom>
          <a:noFill/>
          <a:ln w="12700">
            <a:solidFill>
              <a:srgbClr val="27AE60"/>
            </a:solidFill>
            <a:prstDash val="solid"/>
          </a:ln>
        </p:spPr>
      </p:sp>
      <p:sp>
        <p:nvSpPr>
          <p:cNvPr id="36" name="Shape 34"/>
          <p:cNvSpPr/>
          <p:nvPr/>
        </p:nvSpPr>
        <p:spPr>
          <a:xfrm>
            <a:off x="8558784" y="2615184"/>
            <a:ext cx="256032" cy="256032"/>
          </a:xfrm>
          <a:prstGeom prst="ellipse">
            <a:avLst/>
          </a:prstGeom>
          <a:solidFill>
            <a:srgbClr val="27AE60"/>
          </a:solidFill>
          <a:ln w="25400">
            <a:solidFill>
              <a:srgbClr val="FFFFFF"/>
            </a:solidFill>
            <a:prstDash val="solid"/>
          </a:ln>
        </p:spPr>
      </p:sp>
      <p:sp>
        <p:nvSpPr>
          <p:cNvPr id="37" name="Shape 35"/>
          <p:cNvSpPr/>
          <p:nvPr/>
        </p:nvSpPr>
        <p:spPr>
          <a:xfrm>
            <a:off x="8394192" y="2221992"/>
            <a:ext cx="585216" cy="256032"/>
          </a:xfrm>
          <a:prstGeom prst="roundRect">
            <a:avLst>
              <a:gd name="adj" fmla="val 17857"/>
            </a:avLst>
          </a:prstGeom>
          <a:solidFill>
            <a:srgbClr val="27AE60"/>
          </a:solidFill>
          <a:ln w="12700">
            <a:solidFill>
              <a:srgbClr val="27AE60"/>
            </a:solidFill>
            <a:prstDash val="solid"/>
          </a:ln>
        </p:spPr>
      </p:sp>
      <p:sp>
        <p:nvSpPr>
          <p:cNvPr id="38" name="Text 36"/>
          <p:cNvSpPr/>
          <p:nvPr/>
        </p:nvSpPr>
        <p:spPr>
          <a:xfrm>
            <a:off x="8394192" y="2221992"/>
            <a:ext cx="585216" cy="256032"/>
          </a:xfrm>
          <a:prstGeom prst="rect">
            <a:avLst/>
          </a:prstGeom>
          <a:noFill/>
          <a:ln/>
        </p:spPr>
        <p:txBody>
          <a:bodyPr wrap="square" rtlCol="0" anchor="ctr"/>
          <a:lstStyle/>
          <a:p>
            <a:pPr algn="ctr" indent="0" marL="0">
              <a:buNone/>
            </a:pPr>
            <a:r>
              <a:rPr lang="en-US" sz="700" b="1" dirty="0">
                <a:solidFill>
                  <a:srgbClr val="FFFFFF"/>
                </a:solidFill>
                <a:latin typeface="Atkinson Hyperlegible" pitchFamily="34" charset="0"/>
                <a:ea typeface="Atkinson Hyperlegible" pitchFamily="34" charset="-122"/>
                <a:cs typeface="Atkinson Hyperlegible" pitchFamily="34" charset="-120"/>
              </a:rPr>
              <a:t>Mes 4-6</a:t>
            </a:r>
            <a:endParaRPr lang="en-US" sz="700" dirty="0"/>
          </a:p>
        </p:txBody>
      </p:sp>
      <p:sp>
        <p:nvSpPr>
          <p:cNvPr id="39" name="Shape 37"/>
          <p:cNvSpPr/>
          <p:nvPr/>
        </p:nvSpPr>
        <p:spPr>
          <a:xfrm>
            <a:off x="8046720" y="1051560"/>
            <a:ext cx="1280160" cy="914400"/>
          </a:xfrm>
          <a:prstGeom prst="roundRect">
            <a:avLst>
              <a:gd name="adj" fmla="val 6000"/>
            </a:avLst>
          </a:prstGeom>
          <a:solidFill>
            <a:srgbClr val="FFFFFF"/>
          </a:solidFill>
          <a:ln w="15240">
            <a:solidFill>
              <a:srgbClr val="27AE60"/>
            </a:solidFill>
            <a:prstDash val="solid"/>
          </a:ln>
        </p:spPr>
      </p:sp>
      <p:sp>
        <p:nvSpPr>
          <p:cNvPr id="40" name="Text 38"/>
          <p:cNvSpPr/>
          <p:nvPr/>
        </p:nvSpPr>
        <p:spPr>
          <a:xfrm>
            <a:off x="8092440" y="1097280"/>
            <a:ext cx="1188720" cy="457200"/>
          </a:xfrm>
          <a:prstGeom prst="rect">
            <a:avLst/>
          </a:prstGeom>
          <a:noFill/>
          <a:ln/>
        </p:spPr>
        <p:txBody>
          <a:bodyPr wrap="square" rtlCol="0" anchor="ctr"/>
          <a:lstStyle/>
          <a:p>
            <a:pPr algn="ctr" indent="0" marL="0">
              <a:buNone/>
            </a:pPr>
            <a:r>
              <a:rPr lang="en-US" sz="700" b="1" dirty="0">
                <a:solidFill>
                  <a:srgbClr val="27AE60"/>
                </a:solidFill>
                <a:latin typeface="Atkinson Hyperlegible" pitchFamily="34" charset="0"/>
                <a:ea typeface="Atkinson Hyperlegible" pitchFamily="34" charset="-122"/>
                <a:cs typeface="Atkinson Hyperlegible" pitchFamily="34" charset="-120"/>
              </a:rPr>
              <a:t>Secuencia de Diseño</a:t>
            </a:r>
            <a:endParaRPr lang="en-US" sz="700" dirty="0"/>
          </a:p>
        </p:txBody>
      </p:sp>
      <p:sp>
        <p:nvSpPr>
          <p:cNvPr id="41" name="Text 39"/>
          <p:cNvSpPr/>
          <p:nvPr/>
        </p:nvSpPr>
        <p:spPr>
          <a:xfrm>
            <a:off x="8092440" y="1527048"/>
            <a:ext cx="1188720" cy="457200"/>
          </a:xfrm>
          <a:prstGeom prst="rect">
            <a:avLst/>
          </a:prstGeom>
          <a:noFill/>
          <a:ln/>
        </p:spPr>
        <p:txBody>
          <a:bodyPr wrap="square" rtlCol="0" anchor="ctr"/>
          <a:lstStyle/>
          <a:p>
            <a:pPr algn="ctr" indent="0" marL="0">
              <a:buNone/>
            </a:pPr>
            <a:r>
              <a:rPr lang="en-US" sz="600" dirty="0">
                <a:solidFill>
                  <a:srgbClr val="1D1D1F"/>
                </a:solidFill>
                <a:latin typeface="Atkinson Hyperlegible" pitchFamily="34" charset="0"/>
                <a:ea typeface="Atkinson Hyperlegible" pitchFamily="34" charset="-122"/>
                <a:cs typeface="Atkinson Hyperlegible" pitchFamily="34" charset="-120"/>
              </a:rPr>
              <a:t>Priorizar diseño de críticos constructivos vs. orden convencional.</a:t>
            </a:r>
            <a:endParaRPr lang="en-US" sz="600" dirty="0"/>
          </a:p>
        </p:txBody>
      </p:sp>
      <p:sp>
        <p:nvSpPr>
          <p:cNvPr id="42" name="Shape 40"/>
          <p:cNvSpPr/>
          <p:nvPr/>
        </p:nvSpPr>
        <p:spPr>
          <a:xfrm>
            <a:off x="182880" y="4956048"/>
            <a:ext cx="8961120" cy="182880"/>
          </a:xfrm>
          <a:prstGeom prst="rect">
            <a:avLst/>
          </a:prstGeom>
          <a:solidFill>
            <a:srgbClr val="27AE60"/>
          </a:solidFill>
          <a:ln w="12700">
            <a:solidFill>
              <a:srgbClr val="27AE60"/>
            </a:solidFill>
            <a:prstDash val="solid"/>
          </a:ln>
        </p:spPr>
      </p:sp>
      <p:sp>
        <p:nvSpPr>
          <p:cNvPr id="43" name="Text 41"/>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23 / 126</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27AE60"/>
          </a:solidFill>
          <a:ln w="12700">
            <a:solidFill>
              <a:srgbClr val="27AE60"/>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I-7: Estrategia de Completación del Modelo de Diseño</a:t>
            </a:r>
            <a:endParaRPr lang="en-US" sz="1800" dirty="0"/>
          </a:p>
        </p:txBody>
      </p:sp>
      <p:sp>
        <p:nvSpPr>
          <p:cNvPr id="4" name="Shape 2"/>
          <p:cNvSpPr/>
          <p:nvPr/>
        </p:nvSpPr>
        <p:spPr>
          <a:xfrm>
            <a:off x="320040" y="640080"/>
            <a:ext cx="8503920" cy="41148"/>
          </a:xfrm>
          <a:prstGeom prst="rect">
            <a:avLst/>
          </a:prstGeom>
          <a:solidFill>
            <a:srgbClr val="27AE60"/>
          </a:solidFill>
          <a:ln w="12700">
            <a:solidFill>
              <a:srgbClr val="27AE60"/>
            </a:solidFill>
            <a:prstDash val="solid"/>
          </a:ln>
        </p:spPr>
      </p:sp>
      <p:sp>
        <p:nvSpPr>
          <p:cNvPr id="5" name="Shape 3"/>
          <p:cNvSpPr/>
          <p:nvPr/>
        </p:nvSpPr>
        <p:spPr>
          <a:xfrm>
            <a:off x="274320" y="804672"/>
            <a:ext cx="4160520" cy="4114800"/>
          </a:xfrm>
          <a:prstGeom prst="roundRect">
            <a:avLst>
              <a:gd name="adj" fmla="val 2222"/>
            </a:avLst>
          </a:prstGeom>
          <a:solidFill>
            <a:srgbClr val="27AE60"/>
          </a:solidFill>
          <a:ln w="12700">
            <a:solidFill>
              <a:srgbClr val="27AE60"/>
            </a:solidFill>
            <a:prstDash val="solid"/>
          </a:ln>
        </p:spPr>
      </p:sp>
      <p:sp>
        <p:nvSpPr>
          <p:cNvPr id="6" name="Shape 4"/>
          <p:cNvSpPr/>
          <p:nvPr/>
        </p:nvSpPr>
        <p:spPr>
          <a:xfrm>
            <a:off x="274320" y="804672"/>
            <a:ext cx="45720" cy="4114800"/>
          </a:xfrm>
          <a:prstGeom prst="rect">
            <a:avLst/>
          </a:prstGeom>
          <a:solidFill>
            <a:srgbClr val="27AE60"/>
          </a:solidFill>
          <a:ln w="12700">
            <a:solidFill>
              <a:srgbClr val="27AE60"/>
            </a:solidFill>
            <a:prstDash val="solid"/>
          </a:ln>
        </p:spPr>
      </p:sp>
      <p:sp>
        <p:nvSpPr>
          <p:cNvPr id="7" name="Text 5"/>
          <p:cNvSpPr/>
          <p:nvPr/>
        </p:nvSpPr>
        <p:spPr>
          <a:xfrm>
            <a:off x="384048" y="822960"/>
            <a:ext cx="3977640" cy="347472"/>
          </a:xfrm>
          <a:prstGeom prst="rect">
            <a:avLst/>
          </a:prstGeom>
          <a:noFill/>
          <a:ln/>
        </p:spPr>
        <p:txBody>
          <a:bodyPr wrap="square" rtlCol="0" anchor="ctr"/>
          <a:lstStyle/>
          <a:p>
            <a:pPr indent="0" marL="0">
              <a:buNone/>
            </a:pPr>
            <a:r>
              <a:rPr lang="en-US" sz="900" b="1" dirty="0">
                <a:solidFill>
                  <a:srgbClr val="27AE60"/>
                </a:solidFill>
                <a:latin typeface="Atkinson Hyperlegible" pitchFamily="34" charset="0"/>
                <a:ea typeface="Atkinson Hyperlegible" pitchFamily="34" charset="-122"/>
                <a:cs typeface="Atkinson Hyperlegible" pitchFamily="34" charset="-120"/>
              </a:rPr>
              <a:t>Concepto I-7</a:t>
            </a:r>
            <a:endParaRPr lang="en-US" sz="900" dirty="0"/>
          </a:p>
        </p:txBody>
      </p:sp>
      <p:sp>
        <p:nvSpPr>
          <p:cNvPr id="8" name="Shape 6"/>
          <p:cNvSpPr/>
          <p:nvPr/>
        </p:nvSpPr>
        <p:spPr>
          <a:xfrm>
            <a:off x="384048" y="1316736"/>
            <a:ext cx="164592" cy="164592"/>
          </a:xfrm>
          <a:prstGeom prst="ellipse">
            <a:avLst/>
          </a:prstGeom>
          <a:solidFill>
            <a:srgbClr val="27AE60"/>
          </a:solidFill>
          <a:ln w="12700">
            <a:solidFill>
              <a:srgbClr val="27AE60"/>
            </a:solidFill>
            <a:prstDash val="solid"/>
          </a:ln>
        </p:spPr>
      </p:sp>
      <p:sp>
        <p:nvSpPr>
          <p:cNvPr id="9" name="Text 7"/>
          <p:cNvSpPr/>
          <p:nvPr/>
        </p:nvSpPr>
        <p:spPr>
          <a:xfrm>
            <a:off x="612648" y="1234440"/>
            <a:ext cx="365760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¿Qué es?</a:t>
            </a:r>
            <a:endParaRPr lang="en-US" sz="850" dirty="0"/>
          </a:p>
        </p:txBody>
      </p:sp>
      <p:sp>
        <p:nvSpPr>
          <p:cNvPr id="10" name="Text 8"/>
          <p:cNvSpPr/>
          <p:nvPr/>
        </p:nvSpPr>
        <p:spPr>
          <a:xfrm>
            <a:off x="612648" y="1490472"/>
            <a:ext cx="365760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Plan que define qué elementos del diseño son críticos para la constructibilidad y cuándo deben estar completos.</a:t>
            </a:r>
            <a:endParaRPr lang="en-US" sz="750" dirty="0"/>
          </a:p>
        </p:txBody>
      </p:sp>
      <p:sp>
        <p:nvSpPr>
          <p:cNvPr id="11" name="Shape 9"/>
          <p:cNvSpPr/>
          <p:nvPr/>
        </p:nvSpPr>
        <p:spPr>
          <a:xfrm>
            <a:off x="384048" y="1847088"/>
            <a:ext cx="164592" cy="164592"/>
          </a:xfrm>
          <a:prstGeom prst="ellipse">
            <a:avLst/>
          </a:prstGeom>
          <a:solidFill>
            <a:srgbClr val="27AE60"/>
          </a:solidFill>
          <a:ln w="12700">
            <a:solidFill>
              <a:srgbClr val="27AE60"/>
            </a:solidFill>
            <a:prstDash val="solid"/>
          </a:ln>
        </p:spPr>
      </p:sp>
      <p:sp>
        <p:nvSpPr>
          <p:cNvPr id="12" name="Text 10"/>
          <p:cNvSpPr/>
          <p:nvPr/>
        </p:nvSpPr>
        <p:spPr>
          <a:xfrm>
            <a:off x="612648" y="1764792"/>
            <a:ext cx="365760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El problema sin I-7</a:t>
            </a:r>
            <a:endParaRPr lang="en-US" sz="850" dirty="0"/>
          </a:p>
        </p:txBody>
      </p:sp>
      <p:sp>
        <p:nvSpPr>
          <p:cNvPr id="13" name="Text 11"/>
          <p:cNvSpPr/>
          <p:nvPr/>
        </p:nvSpPr>
        <p:spPr>
          <a:xfrm>
            <a:off x="612648" y="2020824"/>
            <a:ext cx="365760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Diseño incompleto llega a licitación y construcción, generando RFIs, cambios y retrasos costosos.</a:t>
            </a:r>
            <a:endParaRPr lang="en-US" sz="750" dirty="0"/>
          </a:p>
        </p:txBody>
      </p:sp>
      <p:sp>
        <p:nvSpPr>
          <p:cNvPr id="14" name="Shape 12"/>
          <p:cNvSpPr/>
          <p:nvPr/>
        </p:nvSpPr>
        <p:spPr>
          <a:xfrm>
            <a:off x="384048" y="2377440"/>
            <a:ext cx="164592" cy="164592"/>
          </a:xfrm>
          <a:prstGeom prst="ellipse">
            <a:avLst/>
          </a:prstGeom>
          <a:solidFill>
            <a:srgbClr val="27AE60"/>
          </a:solidFill>
          <a:ln w="12700">
            <a:solidFill>
              <a:srgbClr val="27AE60"/>
            </a:solidFill>
            <a:prstDash val="solid"/>
          </a:ln>
        </p:spPr>
      </p:sp>
      <p:sp>
        <p:nvSpPr>
          <p:cNvPr id="15" name="Text 13"/>
          <p:cNvSpPr/>
          <p:nvPr/>
        </p:nvSpPr>
        <p:spPr>
          <a:xfrm>
            <a:off x="612648" y="2295144"/>
            <a:ext cx="365760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Completación por paquetes</a:t>
            </a:r>
            <a:endParaRPr lang="en-US" sz="850" dirty="0"/>
          </a:p>
        </p:txBody>
      </p:sp>
      <p:sp>
        <p:nvSpPr>
          <p:cNvPr id="16" name="Text 14"/>
          <p:cNvSpPr/>
          <p:nvPr/>
        </p:nvSpPr>
        <p:spPr>
          <a:xfrm>
            <a:off x="612648" y="2551176"/>
            <a:ext cx="365760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No todo el diseño al mismo tiempo: priorizar según secuencia constructiva y ventanas de procura.</a:t>
            </a:r>
            <a:endParaRPr lang="en-US" sz="750" dirty="0"/>
          </a:p>
        </p:txBody>
      </p:sp>
      <p:sp>
        <p:nvSpPr>
          <p:cNvPr id="17" name="Shape 15"/>
          <p:cNvSpPr/>
          <p:nvPr/>
        </p:nvSpPr>
        <p:spPr>
          <a:xfrm>
            <a:off x="384048" y="2907792"/>
            <a:ext cx="164592" cy="164592"/>
          </a:xfrm>
          <a:prstGeom prst="ellipse">
            <a:avLst/>
          </a:prstGeom>
          <a:solidFill>
            <a:srgbClr val="27AE60"/>
          </a:solidFill>
          <a:ln w="12700">
            <a:solidFill>
              <a:srgbClr val="27AE60"/>
            </a:solidFill>
            <a:prstDash val="solid"/>
          </a:ln>
        </p:spPr>
      </p:sp>
      <p:sp>
        <p:nvSpPr>
          <p:cNvPr id="18" name="Text 16"/>
          <p:cNvSpPr/>
          <p:nvPr/>
        </p:nvSpPr>
        <p:spPr>
          <a:xfrm>
            <a:off x="612648" y="2825496"/>
            <a:ext cx="365760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Herramienta CII</a:t>
            </a:r>
            <a:endParaRPr lang="en-US" sz="850" dirty="0"/>
          </a:p>
        </p:txBody>
      </p:sp>
      <p:sp>
        <p:nvSpPr>
          <p:cNvPr id="19" name="Text 17"/>
          <p:cNvSpPr/>
          <p:nvPr/>
        </p:nvSpPr>
        <p:spPr>
          <a:xfrm>
            <a:off x="612648" y="3081528"/>
            <a:ext cx="365760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Tool T-7: Model Completion Strategy Checklist. Verifica niveles de completación por disciplina.</a:t>
            </a:r>
            <a:endParaRPr lang="en-US" sz="750" dirty="0"/>
          </a:p>
        </p:txBody>
      </p:sp>
      <p:sp>
        <p:nvSpPr>
          <p:cNvPr id="20" name="Text 18"/>
          <p:cNvSpPr/>
          <p:nvPr/>
        </p:nvSpPr>
        <p:spPr>
          <a:xfrm>
            <a:off x="4617720" y="822960"/>
            <a:ext cx="4251960" cy="347472"/>
          </a:xfrm>
          <a:prstGeom prst="rect">
            <a:avLst/>
          </a:prstGeom>
          <a:noFill/>
          <a:ln/>
        </p:spPr>
        <p:txBody>
          <a:bodyPr wrap="square" rtlCol="0" anchor="ctr"/>
          <a:lstStyle/>
          <a:p>
            <a:pPr indent="0" marL="0">
              <a:buNone/>
            </a:pPr>
            <a:r>
              <a:rPr lang="en-US" sz="900" b="1" dirty="0">
                <a:solidFill>
                  <a:srgbClr val="27AE60"/>
                </a:solidFill>
                <a:latin typeface="Atkinson Hyperlegible" pitchFamily="34" charset="0"/>
                <a:ea typeface="Atkinson Hyperlegible" pitchFamily="34" charset="-122"/>
                <a:cs typeface="Atkinson Hyperlegible" pitchFamily="34" charset="-120"/>
              </a:rPr>
              <a:t>Implementación</a:t>
            </a:r>
            <a:endParaRPr lang="en-US" sz="900" dirty="0"/>
          </a:p>
        </p:txBody>
      </p:sp>
      <p:sp>
        <p:nvSpPr>
          <p:cNvPr id="21" name="Shape 19"/>
          <p:cNvSpPr/>
          <p:nvPr/>
        </p:nvSpPr>
        <p:spPr>
          <a:xfrm>
            <a:off x="4617720" y="1316736"/>
            <a:ext cx="164592" cy="164592"/>
          </a:xfrm>
          <a:prstGeom prst="ellipse">
            <a:avLst/>
          </a:prstGeom>
          <a:solidFill>
            <a:srgbClr val="1D1D1F"/>
          </a:solidFill>
          <a:ln w="12700">
            <a:solidFill>
              <a:srgbClr val="1D1D1F"/>
            </a:solidFill>
            <a:prstDash val="solid"/>
          </a:ln>
        </p:spPr>
      </p:sp>
      <p:sp>
        <p:nvSpPr>
          <p:cNvPr id="22" name="Text 20"/>
          <p:cNvSpPr/>
          <p:nvPr/>
        </p:nvSpPr>
        <p:spPr>
          <a:xfrm>
            <a:off x="4846320" y="1234440"/>
            <a:ext cx="384048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Niveles de completación</a:t>
            </a:r>
            <a:endParaRPr lang="en-US" sz="850" dirty="0"/>
          </a:p>
        </p:txBody>
      </p:sp>
      <p:sp>
        <p:nvSpPr>
          <p:cNvPr id="23" name="Text 21"/>
          <p:cNvSpPr/>
          <p:nvPr/>
        </p:nvSpPr>
        <p:spPr>
          <a:xfrm>
            <a:off x="4846320" y="1490472"/>
            <a:ext cx="384048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Definir % completación aceptable para IFR (For Review), IFC (For Construction), IFP (For Procurement).</a:t>
            </a:r>
            <a:endParaRPr lang="en-US" sz="750" dirty="0"/>
          </a:p>
        </p:txBody>
      </p:sp>
      <p:sp>
        <p:nvSpPr>
          <p:cNvPr id="24" name="Shape 22"/>
          <p:cNvSpPr/>
          <p:nvPr/>
        </p:nvSpPr>
        <p:spPr>
          <a:xfrm>
            <a:off x="4617720" y="1847088"/>
            <a:ext cx="164592" cy="164592"/>
          </a:xfrm>
          <a:prstGeom prst="ellipse">
            <a:avLst/>
          </a:prstGeom>
          <a:solidFill>
            <a:srgbClr val="1D1D1F"/>
          </a:solidFill>
          <a:ln w="12700">
            <a:solidFill>
              <a:srgbClr val="1D1D1F"/>
            </a:solidFill>
            <a:prstDash val="solid"/>
          </a:ln>
        </p:spPr>
      </p:sp>
      <p:sp>
        <p:nvSpPr>
          <p:cNvPr id="25" name="Text 23"/>
          <p:cNvSpPr/>
          <p:nvPr/>
        </p:nvSpPr>
        <p:spPr>
          <a:xfrm>
            <a:off x="4846320" y="1764792"/>
            <a:ext cx="384048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Secuencia crítica</a:t>
            </a:r>
            <a:endParaRPr lang="en-US" sz="850" dirty="0"/>
          </a:p>
        </p:txBody>
      </p:sp>
      <p:sp>
        <p:nvSpPr>
          <p:cNvPr id="26" name="Text 24"/>
          <p:cNvSpPr/>
          <p:nvPr/>
        </p:nvSpPr>
        <p:spPr>
          <a:xfrm>
            <a:off x="4846320" y="2020824"/>
            <a:ext cx="384048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Estructuras → cimentaciones especiales → equipos mayores → tuberías → instrumentación → eléctrico.</a:t>
            </a:r>
            <a:endParaRPr lang="en-US" sz="750" dirty="0"/>
          </a:p>
        </p:txBody>
      </p:sp>
      <p:sp>
        <p:nvSpPr>
          <p:cNvPr id="27" name="Shape 25"/>
          <p:cNvSpPr/>
          <p:nvPr/>
        </p:nvSpPr>
        <p:spPr>
          <a:xfrm>
            <a:off x="4617720" y="2377440"/>
            <a:ext cx="164592" cy="164592"/>
          </a:xfrm>
          <a:prstGeom prst="ellipse">
            <a:avLst/>
          </a:prstGeom>
          <a:solidFill>
            <a:srgbClr val="1D1D1F"/>
          </a:solidFill>
          <a:ln w="12700">
            <a:solidFill>
              <a:srgbClr val="1D1D1F"/>
            </a:solidFill>
            <a:prstDash val="solid"/>
          </a:ln>
        </p:spPr>
      </p:sp>
      <p:sp>
        <p:nvSpPr>
          <p:cNvPr id="28" name="Text 26"/>
          <p:cNvSpPr/>
          <p:nvPr/>
        </p:nvSpPr>
        <p:spPr>
          <a:xfrm>
            <a:off x="4846320" y="2295144"/>
            <a:ext cx="384048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Congelamiento de diseño</a:t>
            </a:r>
            <a:endParaRPr lang="en-US" sz="850" dirty="0"/>
          </a:p>
        </p:txBody>
      </p:sp>
      <p:sp>
        <p:nvSpPr>
          <p:cNvPr id="29" name="Text 27"/>
          <p:cNvSpPr/>
          <p:nvPr/>
        </p:nvSpPr>
        <p:spPr>
          <a:xfrm>
            <a:off x="4846320" y="2551176"/>
            <a:ext cx="384048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Fechas de freeze por sistema para no impactar fabricación de equipos y materiales con lead time largo.</a:t>
            </a:r>
            <a:endParaRPr lang="en-US" sz="750" dirty="0"/>
          </a:p>
        </p:txBody>
      </p:sp>
      <p:sp>
        <p:nvSpPr>
          <p:cNvPr id="30" name="Shape 28"/>
          <p:cNvSpPr/>
          <p:nvPr/>
        </p:nvSpPr>
        <p:spPr>
          <a:xfrm>
            <a:off x="4617720" y="2907792"/>
            <a:ext cx="164592" cy="164592"/>
          </a:xfrm>
          <a:prstGeom prst="ellipse">
            <a:avLst/>
          </a:prstGeom>
          <a:solidFill>
            <a:srgbClr val="1D1D1F"/>
          </a:solidFill>
          <a:ln w="12700">
            <a:solidFill>
              <a:srgbClr val="1D1D1F"/>
            </a:solidFill>
            <a:prstDash val="solid"/>
          </a:ln>
        </p:spPr>
      </p:sp>
      <p:sp>
        <p:nvSpPr>
          <p:cNvPr id="31" name="Text 29"/>
          <p:cNvSpPr/>
          <p:nvPr/>
        </p:nvSpPr>
        <p:spPr>
          <a:xfrm>
            <a:off x="4846320" y="2825496"/>
            <a:ext cx="384048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Impacto medido</a:t>
            </a:r>
            <a:endParaRPr lang="en-US" sz="850" dirty="0"/>
          </a:p>
        </p:txBody>
      </p:sp>
      <p:sp>
        <p:nvSpPr>
          <p:cNvPr id="32" name="Text 30"/>
          <p:cNvSpPr/>
          <p:nvPr/>
        </p:nvSpPr>
        <p:spPr>
          <a:xfrm>
            <a:off x="4846320" y="3081528"/>
            <a:ext cx="384048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Proyectos con plan I-7 formal reducen RFIs en 40% y Change Orders en 25% (CII SD-34).</a:t>
            </a:r>
            <a:endParaRPr lang="en-US" sz="750" dirty="0"/>
          </a:p>
        </p:txBody>
      </p:sp>
      <p:sp>
        <p:nvSpPr>
          <p:cNvPr id="33" name="Shape 31"/>
          <p:cNvSpPr/>
          <p:nvPr/>
        </p:nvSpPr>
        <p:spPr>
          <a:xfrm>
            <a:off x="182880" y="4956048"/>
            <a:ext cx="8961120" cy="182880"/>
          </a:xfrm>
          <a:prstGeom prst="rect">
            <a:avLst/>
          </a:prstGeom>
          <a:solidFill>
            <a:srgbClr val="27AE60"/>
          </a:solidFill>
          <a:ln w="12700">
            <a:solidFill>
              <a:srgbClr val="27AE60"/>
            </a:solidFill>
            <a:prstDash val="solid"/>
          </a:ln>
        </p:spPr>
      </p:sp>
      <p:sp>
        <p:nvSpPr>
          <p:cNvPr id="34" name="Text 32"/>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24 / 126</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27AE60"/>
          </a:solidFill>
          <a:ln w="12700">
            <a:solidFill>
              <a:srgbClr val="27AE60"/>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Criterios de Constructabilidad en el Diseño</a:t>
            </a:r>
            <a:endParaRPr lang="en-US" sz="1800" dirty="0"/>
          </a:p>
        </p:txBody>
      </p:sp>
      <p:sp>
        <p:nvSpPr>
          <p:cNvPr id="4" name="Shape 2"/>
          <p:cNvSpPr/>
          <p:nvPr/>
        </p:nvSpPr>
        <p:spPr>
          <a:xfrm>
            <a:off x="320040" y="640080"/>
            <a:ext cx="8503920" cy="41148"/>
          </a:xfrm>
          <a:prstGeom prst="rect">
            <a:avLst/>
          </a:prstGeom>
          <a:solidFill>
            <a:srgbClr val="27AE60"/>
          </a:solidFill>
          <a:ln w="12700">
            <a:solidFill>
              <a:srgbClr val="27AE60"/>
            </a:solidFill>
            <a:prstDash val="solid"/>
          </a:ln>
        </p:spPr>
      </p:sp>
      <p:sp>
        <p:nvSpPr>
          <p:cNvPr id="5" name="Shape 3"/>
          <p:cNvSpPr/>
          <p:nvPr/>
        </p:nvSpPr>
        <p:spPr>
          <a:xfrm>
            <a:off x="320040" y="804672"/>
            <a:ext cx="2724912" cy="1943100"/>
          </a:xfrm>
          <a:prstGeom prst="roundRect">
            <a:avLst>
              <a:gd name="adj" fmla="val 4235"/>
            </a:avLst>
          </a:prstGeom>
          <a:solidFill>
            <a:srgbClr val="27AE60"/>
          </a:solidFill>
          <a:ln w="19050">
            <a:solidFill>
              <a:srgbClr val="27AE60"/>
            </a:solidFill>
            <a:prstDash val="solid"/>
          </a:ln>
        </p:spPr>
      </p:sp>
      <p:sp>
        <p:nvSpPr>
          <p:cNvPr id="6" name="Shape 4"/>
          <p:cNvSpPr/>
          <p:nvPr/>
        </p:nvSpPr>
        <p:spPr>
          <a:xfrm>
            <a:off x="320040" y="804672"/>
            <a:ext cx="2724912" cy="54864"/>
          </a:xfrm>
          <a:prstGeom prst="rect">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8056" y="932688"/>
            <a:ext cx="365760" cy="365760"/>
          </a:xfrm>
          <a:prstGeom prst="rect">
            <a:avLst/>
          </a:prstGeom>
        </p:spPr>
      </p:pic>
      <p:sp>
        <p:nvSpPr>
          <p:cNvPr id="8" name="Text 5"/>
          <p:cNvSpPr/>
          <p:nvPr/>
        </p:nvSpPr>
        <p:spPr>
          <a:xfrm>
            <a:off x="868680"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Accesibilidad</a:t>
            </a:r>
            <a:endParaRPr lang="en-US" sz="850" dirty="0"/>
          </a:p>
        </p:txBody>
      </p:sp>
      <p:sp>
        <p:nvSpPr>
          <p:cNvPr id="9" name="Text 6"/>
          <p:cNvSpPr/>
          <p:nvPr/>
        </p:nvSpPr>
        <p:spPr>
          <a:xfrm>
            <a:off x="429768"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El diseño debe permitir acceso de grúas, andamios y equipos de montaje sin interferencias.</a:t>
            </a:r>
            <a:endParaRPr lang="en-US" sz="750" dirty="0"/>
          </a:p>
        </p:txBody>
      </p:sp>
      <p:sp>
        <p:nvSpPr>
          <p:cNvPr id="10" name="Shape 7"/>
          <p:cNvSpPr/>
          <p:nvPr/>
        </p:nvSpPr>
        <p:spPr>
          <a:xfrm>
            <a:off x="3209544" y="804672"/>
            <a:ext cx="2724912" cy="1943100"/>
          </a:xfrm>
          <a:prstGeom prst="roundRect">
            <a:avLst>
              <a:gd name="adj" fmla="val 4235"/>
            </a:avLst>
          </a:prstGeom>
          <a:solidFill>
            <a:srgbClr val="FFFFFF"/>
          </a:solidFill>
          <a:ln w="19050">
            <a:solidFill>
              <a:srgbClr val="27AE60"/>
            </a:solidFill>
            <a:prstDash val="solid"/>
          </a:ln>
        </p:spPr>
      </p:sp>
      <p:sp>
        <p:nvSpPr>
          <p:cNvPr id="11" name="Shape 8"/>
          <p:cNvSpPr/>
          <p:nvPr/>
        </p:nvSpPr>
        <p:spPr>
          <a:xfrm>
            <a:off x="3209544" y="804672"/>
            <a:ext cx="2724912" cy="54864"/>
          </a:xfrm>
          <a:prstGeom prst="rect">
            <a:avLst/>
          </a:prstGeom>
          <a:solidFill>
            <a:srgbClr val="27AE60"/>
          </a:solidFill>
          <a:ln w="12700">
            <a:solidFill>
              <a:srgbClr val="27AE60"/>
            </a:solidFill>
            <a:prstDash val="solid"/>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37560" y="932688"/>
            <a:ext cx="365760" cy="365760"/>
          </a:xfrm>
          <a:prstGeom prst="rect">
            <a:avLst/>
          </a:prstGeom>
        </p:spPr>
      </p:pic>
      <p:sp>
        <p:nvSpPr>
          <p:cNvPr id="13" name="Text 9"/>
          <p:cNvSpPr/>
          <p:nvPr/>
        </p:nvSpPr>
        <p:spPr>
          <a:xfrm>
            <a:off x="3758184" y="914400"/>
            <a:ext cx="2066544" cy="347472"/>
          </a:xfrm>
          <a:prstGeom prst="rect">
            <a:avLst/>
          </a:prstGeom>
          <a:noFill/>
          <a:ln/>
        </p:spPr>
        <p:txBody>
          <a:bodyPr wrap="square" rtlCol="0" anchor="ctr"/>
          <a:lstStyle/>
          <a:p>
            <a:pPr indent="0" marL="0">
              <a:buNone/>
            </a:pPr>
            <a:r>
              <a:rPr lang="en-US" sz="850" b="1" dirty="0">
                <a:solidFill>
                  <a:srgbClr val="27AE60"/>
                </a:solidFill>
                <a:latin typeface="Atkinson Hyperlegible" pitchFamily="34" charset="0"/>
                <a:ea typeface="Atkinson Hyperlegible" pitchFamily="34" charset="-122"/>
                <a:cs typeface="Atkinson Hyperlegible" pitchFamily="34" charset="-120"/>
              </a:rPr>
              <a:t>Secuencia de Montaje</a:t>
            </a:r>
            <a:endParaRPr lang="en-US" sz="850" dirty="0"/>
          </a:p>
        </p:txBody>
      </p:sp>
      <p:sp>
        <p:nvSpPr>
          <p:cNvPr id="14" name="Text 10"/>
          <p:cNvSpPr/>
          <p:nvPr/>
        </p:nvSpPr>
        <p:spPr>
          <a:xfrm>
            <a:off x="3319272" y="131673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El diseño debe permitir una secuencia lógica de construcción sin estructuras temporales costosas.</a:t>
            </a:r>
            <a:endParaRPr lang="en-US" sz="750" dirty="0"/>
          </a:p>
        </p:txBody>
      </p:sp>
      <p:sp>
        <p:nvSpPr>
          <p:cNvPr id="15" name="Shape 11"/>
          <p:cNvSpPr/>
          <p:nvPr/>
        </p:nvSpPr>
        <p:spPr>
          <a:xfrm>
            <a:off x="6099048" y="804672"/>
            <a:ext cx="2724912" cy="1943100"/>
          </a:xfrm>
          <a:prstGeom prst="roundRect">
            <a:avLst>
              <a:gd name="adj" fmla="val 4235"/>
            </a:avLst>
          </a:prstGeom>
          <a:solidFill>
            <a:srgbClr val="27AE60"/>
          </a:solidFill>
          <a:ln w="19050">
            <a:solidFill>
              <a:srgbClr val="27AE60"/>
            </a:solidFill>
            <a:prstDash val="solid"/>
          </a:ln>
        </p:spPr>
      </p:sp>
      <p:sp>
        <p:nvSpPr>
          <p:cNvPr id="16" name="Shape 12"/>
          <p:cNvSpPr/>
          <p:nvPr/>
        </p:nvSpPr>
        <p:spPr>
          <a:xfrm>
            <a:off x="6099048" y="804672"/>
            <a:ext cx="2724912" cy="54864"/>
          </a:xfrm>
          <a:prstGeom prst="rect">
            <a:avLst/>
          </a:prstGeom>
          <a:solidFill>
            <a:srgbClr val="FFFFFF"/>
          </a:solidFill>
          <a:ln w="12700">
            <a:solidFill>
              <a:srgbClr val="FFFFFF"/>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27064" y="932688"/>
            <a:ext cx="365760" cy="365760"/>
          </a:xfrm>
          <a:prstGeom prst="rect">
            <a:avLst/>
          </a:prstGeom>
        </p:spPr>
      </p:pic>
      <p:sp>
        <p:nvSpPr>
          <p:cNvPr id="18" name="Text 13"/>
          <p:cNvSpPr/>
          <p:nvPr/>
        </p:nvSpPr>
        <p:spPr>
          <a:xfrm>
            <a:off x="6647688"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Estándar y Repetición</a:t>
            </a:r>
            <a:endParaRPr lang="en-US" sz="850" dirty="0"/>
          </a:p>
        </p:txBody>
      </p:sp>
      <p:sp>
        <p:nvSpPr>
          <p:cNvPr id="19" name="Text 14"/>
          <p:cNvSpPr/>
          <p:nvPr/>
        </p:nvSpPr>
        <p:spPr>
          <a:xfrm>
            <a:off x="6208776"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Maximizar componentes estándar y repetitivos. Menos tipos = menos errores, mayor velocidad.</a:t>
            </a:r>
            <a:endParaRPr lang="en-US" sz="750" dirty="0"/>
          </a:p>
        </p:txBody>
      </p:sp>
      <p:sp>
        <p:nvSpPr>
          <p:cNvPr id="20" name="Shape 15"/>
          <p:cNvSpPr/>
          <p:nvPr/>
        </p:nvSpPr>
        <p:spPr>
          <a:xfrm>
            <a:off x="320040" y="2884932"/>
            <a:ext cx="2724912" cy="1943100"/>
          </a:xfrm>
          <a:prstGeom prst="roundRect">
            <a:avLst>
              <a:gd name="adj" fmla="val 4235"/>
            </a:avLst>
          </a:prstGeom>
          <a:solidFill>
            <a:srgbClr val="FFFFFF"/>
          </a:solidFill>
          <a:ln w="19050">
            <a:solidFill>
              <a:srgbClr val="27AE60"/>
            </a:solidFill>
            <a:prstDash val="solid"/>
          </a:ln>
        </p:spPr>
      </p:sp>
      <p:sp>
        <p:nvSpPr>
          <p:cNvPr id="21" name="Shape 16"/>
          <p:cNvSpPr/>
          <p:nvPr/>
        </p:nvSpPr>
        <p:spPr>
          <a:xfrm>
            <a:off x="320040" y="2884932"/>
            <a:ext cx="2724912" cy="54864"/>
          </a:xfrm>
          <a:prstGeom prst="rect">
            <a:avLst/>
          </a:prstGeom>
          <a:solidFill>
            <a:srgbClr val="27AE60"/>
          </a:solidFill>
          <a:ln w="12700">
            <a:solidFill>
              <a:srgbClr val="27AE60"/>
            </a:solidFill>
            <a:prstDash val="solid"/>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8056" y="3012948"/>
            <a:ext cx="365760" cy="365760"/>
          </a:xfrm>
          <a:prstGeom prst="rect">
            <a:avLst/>
          </a:prstGeom>
        </p:spPr>
      </p:pic>
      <p:sp>
        <p:nvSpPr>
          <p:cNvPr id="23" name="Text 17"/>
          <p:cNvSpPr/>
          <p:nvPr/>
        </p:nvSpPr>
        <p:spPr>
          <a:xfrm>
            <a:off x="868680" y="2994660"/>
            <a:ext cx="2066544" cy="347472"/>
          </a:xfrm>
          <a:prstGeom prst="rect">
            <a:avLst/>
          </a:prstGeom>
          <a:noFill/>
          <a:ln/>
        </p:spPr>
        <p:txBody>
          <a:bodyPr wrap="square" rtlCol="0" anchor="ctr"/>
          <a:lstStyle/>
          <a:p>
            <a:pPr indent="0" marL="0">
              <a:buNone/>
            </a:pPr>
            <a:r>
              <a:rPr lang="en-US" sz="850" b="1" dirty="0">
                <a:solidFill>
                  <a:srgbClr val="27AE60"/>
                </a:solidFill>
                <a:latin typeface="Atkinson Hyperlegible" pitchFamily="34" charset="0"/>
                <a:ea typeface="Atkinson Hyperlegible" pitchFamily="34" charset="-122"/>
                <a:cs typeface="Atkinson Hyperlegible" pitchFamily="34" charset="-120"/>
              </a:rPr>
              <a:t>Tolerancias Reales</a:t>
            </a:r>
            <a:endParaRPr lang="en-US" sz="850" dirty="0"/>
          </a:p>
        </p:txBody>
      </p:sp>
      <p:sp>
        <p:nvSpPr>
          <p:cNvPr id="24" name="Text 18"/>
          <p:cNvSpPr/>
          <p:nvPr/>
        </p:nvSpPr>
        <p:spPr>
          <a:xfrm>
            <a:off x="429768"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Las tolerancias de fabricación vs. construcción deben ser compatibles. Diseñar para tolerancias reales de obra.</a:t>
            </a:r>
            <a:endParaRPr lang="en-US" sz="750" dirty="0"/>
          </a:p>
        </p:txBody>
      </p:sp>
      <p:sp>
        <p:nvSpPr>
          <p:cNvPr id="25" name="Shape 19"/>
          <p:cNvSpPr/>
          <p:nvPr/>
        </p:nvSpPr>
        <p:spPr>
          <a:xfrm>
            <a:off x="3209544" y="2884932"/>
            <a:ext cx="2724912" cy="1943100"/>
          </a:xfrm>
          <a:prstGeom prst="roundRect">
            <a:avLst>
              <a:gd name="adj" fmla="val 4235"/>
            </a:avLst>
          </a:prstGeom>
          <a:solidFill>
            <a:srgbClr val="27AE60"/>
          </a:solidFill>
          <a:ln w="19050">
            <a:solidFill>
              <a:srgbClr val="27AE60"/>
            </a:solidFill>
            <a:prstDash val="solid"/>
          </a:ln>
        </p:spPr>
      </p:sp>
      <p:sp>
        <p:nvSpPr>
          <p:cNvPr id="26" name="Shape 20"/>
          <p:cNvSpPr/>
          <p:nvPr/>
        </p:nvSpPr>
        <p:spPr>
          <a:xfrm>
            <a:off x="3209544" y="2884932"/>
            <a:ext cx="2724912" cy="54864"/>
          </a:xfrm>
          <a:prstGeom prst="rect">
            <a:avLst/>
          </a:prstGeom>
          <a:solidFill>
            <a:srgbClr val="FFFFFF"/>
          </a:solidFill>
          <a:ln w="12700">
            <a:solidFill>
              <a:srgbClr val="FFFFFF"/>
            </a:solidFill>
            <a:prstDash val="solid"/>
          </a:ln>
        </p:spPr>
      </p:sp>
      <p:pic>
        <p:nvPicPr>
          <p:cNvPr id="2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37560" y="3012948"/>
            <a:ext cx="365760" cy="365760"/>
          </a:xfrm>
          <a:prstGeom prst="rect">
            <a:avLst/>
          </a:prstGeom>
        </p:spPr>
      </p:pic>
      <p:sp>
        <p:nvSpPr>
          <p:cNvPr id="28" name="Text 21"/>
          <p:cNvSpPr/>
          <p:nvPr/>
        </p:nvSpPr>
        <p:spPr>
          <a:xfrm>
            <a:off x="3758184" y="299466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Seguridad por Diseño</a:t>
            </a:r>
            <a:endParaRPr lang="en-US" sz="850" dirty="0"/>
          </a:p>
        </p:txBody>
      </p:sp>
      <p:sp>
        <p:nvSpPr>
          <p:cNvPr id="29" name="Text 22"/>
          <p:cNvSpPr/>
          <p:nvPr/>
        </p:nvSpPr>
        <p:spPr>
          <a:xfrm>
            <a:off x="3319272" y="339699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Eliminar riesgos constructivos desde el diseño: alturas, accesos, cargas. Prevention Through Design.</a:t>
            </a:r>
            <a:endParaRPr lang="en-US" sz="750" dirty="0"/>
          </a:p>
        </p:txBody>
      </p:sp>
      <p:sp>
        <p:nvSpPr>
          <p:cNvPr id="30" name="Shape 23"/>
          <p:cNvSpPr/>
          <p:nvPr/>
        </p:nvSpPr>
        <p:spPr>
          <a:xfrm>
            <a:off x="6099048" y="2884932"/>
            <a:ext cx="2724912" cy="1943100"/>
          </a:xfrm>
          <a:prstGeom prst="roundRect">
            <a:avLst>
              <a:gd name="adj" fmla="val 4235"/>
            </a:avLst>
          </a:prstGeom>
          <a:solidFill>
            <a:srgbClr val="FFFFFF"/>
          </a:solidFill>
          <a:ln w="19050">
            <a:solidFill>
              <a:srgbClr val="27AE60"/>
            </a:solidFill>
            <a:prstDash val="solid"/>
          </a:ln>
        </p:spPr>
      </p:sp>
      <p:sp>
        <p:nvSpPr>
          <p:cNvPr id="31" name="Shape 24"/>
          <p:cNvSpPr/>
          <p:nvPr/>
        </p:nvSpPr>
        <p:spPr>
          <a:xfrm>
            <a:off x="6099048" y="2884932"/>
            <a:ext cx="2724912" cy="54864"/>
          </a:xfrm>
          <a:prstGeom prst="rect">
            <a:avLst/>
          </a:prstGeom>
          <a:solidFill>
            <a:srgbClr val="27AE60"/>
          </a:solidFill>
          <a:ln w="12700">
            <a:solidFill>
              <a:srgbClr val="27AE60"/>
            </a:solidFill>
            <a:prstDash val="solid"/>
          </a:ln>
        </p:spPr>
      </p:sp>
      <p:pic>
        <p:nvPicPr>
          <p:cNvPr id="3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27064" y="3012948"/>
            <a:ext cx="365760" cy="365760"/>
          </a:xfrm>
          <a:prstGeom prst="rect">
            <a:avLst/>
          </a:prstGeom>
        </p:spPr>
      </p:pic>
      <p:sp>
        <p:nvSpPr>
          <p:cNvPr id="33" name="Text 25"/>
          <p:cNvSpPr/>
          <p:nvPr/>
        </p:nvSpPr>
        <p:spPr>
          <a:xfrm>
            <a:off x="6647688" y="2994660"/>
            <a:ext cx="2066544" cy="347472"/>
          </a:xfrm>
          <a:prstGeom prst="rect">
            <a:avLst/>
          </a:prstGeom>
          <a:noFill/>
          <a:ln/>
        </p:spPr>
        <p:txBody>
          <a:bodyPr wrap="square" rtlCol="0" anchor="ctr"/>
          <a:lstStyle/>
          <a:p>
            <a:pPr indent="0" marL="0">
              <a:buNone/>
            </a:pPr>
            <a:r>
              <a:rPr lang="en-US" sz="850" b="1" dirty="0">
                <a:solidFill>
                  <a:srgbClr val="27AE60"/>
                </a:solidFill>
                <a:latin typeface="Atkinson Hyperlegible" pitchFamily="34" charset="0"/>
                <a:ea typeface="Atkinson Hyperlegible" pitchFamily="34" charset="-122"/>
                <a:cs typeface="Atkinson Hyperlegible" pitchFamily="34" charset="-120"/>
              </a:rPr>
              <a:t>Compatibilidad BIM</a:t>
            </a:r>
            <a:endParaRPr lang="en-US" sz="850" dirty="0"/>
          </a:p>
        </p:txBody>
      </p:sp>
      <p:sp>
        <p:nvSpPr>
          <p:cNvPr id="34" name="Text 26"/>
          <p:cNvSpPr/>
          <p:nvPr/>
        </p:nvSpPr>
        <p:spPr>
          <a:xfrm>
            <a:off x="6208776"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El diseño debe ser modelable en BIM para detección de interferencias y simulación 4D.</a:t>
            </a:r>
            <a:endParaRPr lang="en-US" sz="750" dirty="0"/>
          </a:p>
        </p:txBody>
      </p:sp>
      <p:sp>
        <p:nvSpPr>
          <p:cNvPr id="35" name="Shape 27"/>
          <p:cNvSpPr/>
          <p:nvPr/>
        </p:nvSpPr>
        <p:spPr>
          <a:xfrm>
            <a:off x="182880" y="4956048"/>
            <a:ext cx="8961120" cy="182880"/>
          </a:xfrm>
          <a:prstGeom prst="rect">
            <a:avLst/>
          </a:prstGeom>
          <a:solidFill>
            <a:srgbClr val="27AE60"/>
          </a:solidFill>
          <a:ln w="12700">
            <a:solidFill>
              <a:srgbClr val="27AE60"/>
            </a:solidFill>
            <a:prstDash val="solid"/>
          </a:ln>
        </p:spPr>
      </p:sp>
      <p:sp>
        <p:nvSpPr>
          <p:cNvPr id="36" name="Text 28"/>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25 / 126</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27AE60"/>
          </a:solidFill>
          <a:ln w="12700">
            <a:solidFill>
              <a:srgbClr val="27AE60"/>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Proceso de Revisión Formal de Constructabilidad</a:t>
            </a:r>
            <a:endParaRPr lang="en-US" sz="1800" dirty="0"/>
          </a:p>
        </p:txBody>
      </p:sp>
      <p:sp>
        <p:nvSpPr>
          <p:cNvPr id="4" name="Shape 2"/>
          <p:cNvSpPr/>
          <p:nvPr/>
        </p:nvSpPr>
        <p:spPr>
          <a:xfrm>
            <a:off x="320040" y="640080"/>
            <a:ext cx="8503920" cy="41148"/>
          </a:xfrm>
          <a:prstGeom prst="rect">
            <a:avLst/>
          </a:prstGeom>
          <a:solidFill>
            <a:srgbClr val="27AE60"/>
          </a:solidFill>
          <a:ln w="12700">
            <a:solidFill>
              <a:srgbClr val="27AE60"/>
            </a:solidFill>
            <a:prstDash val="solid"/>
          </a:ln>
        </p:spPr>
      </p:sp>
      <p:sp>
        <p:nvSpPr>
          <p:cNvPr id="5" name="Shape 3"/>
          <p:cNvSpPr/>
          <p:nvPr/>
        </p:nvSpPr>
        <p:spPr>
          <a:xfrm>
            <a:off x="320040" y="1371600"/>
            <a:ext cx="1495958" cy="1051560"/>
          </a:xfrm>
          <a:prstGeom prst="roundRect">
            <a:avLst>
              <a:gd name="adj" fmla="val 7826"/>
            </a:avLst>
          </a:prstGeom>
          <a:solidFill>
            <a:srgbClr val="27AE60"/>
          </a:solidFill>
          <a:ln w="12700">
            <a:solidFill>
              <a:srgbClr val="27AE60"/>
            </a:solidFill>
            <a:prstDash val="solid"/>
          </a:ln>
        </p:spPr>
      </p:sp>
      <p:sp>
        <p:nvSpPr>
          <p:cNvPr id="6" name="Shape 4"/>
          <p:cNvSpPr/>
          <p:nvPr/>
        </p:nvSpPr>
        <p:spPr>
          <a:xfrm>
            <a:off x="885139" y="1152144"/>
            <a:ext cx="365760" cy="365760"/>
          </a:xfrm>
          <a:prstGeom prst="ellipse">
            <a:avLst/>
          </a:prstGeom>
          <a:solidFill>
            <a:srgbClr val="FFFFFF"/>
          </a:solidFill>
          <a:ln w="19050">
            <a:solidFill>
              <a:srgbClr val="27AE60"/>
            </a:solidFill>
            <a:prstDash val="solid"/>
          </a:ln>
        </p:spPr>
      </p:sp>
      <p:sp>
        <p:nvSpPr>
          <p:cNvPr id="7" name="Text 5"/>
          <p:cNvSpPr/>
          <p:nvPr/>
        </p:nvSpPr>
        <p:spPr>
          <a:xfrm>
            <a:off x="885139" y="1152144"/>
            <a:ext cx="365760" cy="365760"/>
          </a:xfrm>
          <a:prstGeom prst="rect">
            <a:avLst/>
          </a:prstGeom>
          <a:noFill/>
          <a:ln/>
        </p:spPr>
        <p:txBody>
          <a:bodyPr wrap="square" rtlCol="0" anchor="ctr"/>
          <a:lstStyle/>
          <a:p>
            <a:pPr algn="ctr" indent="0" marL="0">
              <a:buNone/>
            </a:pPr>
            <a:r>
              <a:rPr lang="en-US" sz="800" b="1" dirty="0">
                <a:solidFill>
                  <a:srgbClr val="27AE60"/>
                </a:solidFill>
                <a:latin typeface="Atkinson Hyperlegible" pitchFamily="34" charset="0"/>
                <a:ea typeface="Atkinson Hyperlegible" pitchFamily="34" charset="-122"/>
                <a:cs typeface="Atkinson Hyperlegible" pitchFamily="34" charset="-120"/>
              </a:rPr>
              <a:t>1</a:t>
            </a:r>
            <a:endParaRPr lang="en-US" sz="800" dirty="0"/>
          </a:p>
        </p:txBody>
      </p:sp>
      <p:sp>
        <p:nvSpPr>
          <p:cNvPr id="8" name="Text 6"/>
          <p:cNvSpPr/>
          <p:nvPr/>
        </p:nvSpPr>
        <p:spPr>
          <a:xfrm>
            <a:off x="384048"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Preparación</a:t>
            </a:r>
            <a:endParaRPr lang="en-US" sz="800" dirty="0"/>
          </a:p>
        </p:txBody>
      </p:sp>
      <p:sp>
        <p:nvSpPr>
          <p:cNvPr id="9" name="Text 7"/>
          <p:cNvSpPr/>
          <p:nvPr/>
        </p:nvSpPr>
        <p:spPr>
          <a:xfrm>
            <a:off x="384048" y="1828800"/>
            <a:ext cx="1367942" cy="548640"/>
          </a:xfrm>
          <a:prstGeom prst="rect">
            <a:avLst/>
          </a:prstGeom>
          <a:noFill/>
          <a:ln/>
        </p:spPr>
        <p:txBody>
          <a:bodyPr wrap="square" rtlCol="0" anchor="ctr"/>
          <a:lstStyle/>
          <a:p>
            <a:pPr algn="ctr" indent="0" marL="0">
              <a:buNone/>
            </a:pPr>
            <a:r>
              <a:rPr lang="en-US" sz="650" dirty="0">
                <a:solidFill>
                  <a:srgbClr val="FFFFFF">
                    <a:alpha val="90000"/>
                  </a:srgbClr>
                </a:solidFill>
                <a:latin typeface="Atkinson Hyperlegible" pitchFamily="34" charset="0"/>
                <a:ea typeface="Atkinson Hyperlegible" pitchFamily="34" charset="-122"/>
                <a:cs typeface="Atkinson Hyperlegible" pitchFamily="34" charset="-120"/>
              </a:rPr>
              <a:t>Checklist, modelo 3D, cronograma</a:t>
            </a:r>
            <a:endParaRPr lang="en-US" sz="650" dirty="0"/>
          </a:p>
        </p:txBody>
      </p:sp>
      <p:sp>
        <p:nvSpPr>
          <p:cNvPr id="10" name="Shape 8"/>
          <p:cNvSpPr/>
          <p:nvPr/>
        </p:nvSpPr>
        <p:spPr>
          <a:xfrm>
            <a:off x="1825142" y="1778508"/>
            <a:ext cx="246888" cy="237744"/>
          </a:xfrm>
          <a:prstGeom prst="rightArrow">
            <a:avLst/>
          </a:prstGeom>
          <a:solidFill>
            <a:srgbClr val="27AE60"/>
          </a:solidFill>
          <a:ln w="12700">
            <a:solidFill>
              <a:srgbClr val="27AE60"/>
            </a:solidFill>
            <a:prstDash val="solid"/>
          </a:ln>
        </p:spPr>
      </p:sp>
      <p:sp>
        <p:nvSpPr>
          <p:cNvPr id="11" name="Shape 9"/>
          <p:cNvSpPr/>
          <p:nvPr/>
        </p:nvSpPr>
        <p:spPr>
          <a:xfrm>
            <a:off x="2072030" y="1371600"/>
            <a:ext cx="1495958" cy="1051560"/>
          </a:xfrm>
          <a:prstGeom prst="roundRect">
            <a:avLst>
              <a:gd name="adj" fmla="val 7826"/>
            </a:avLst>
          </a:prstGeom>
          <a:solidFill>
            <a:srgbClr val="1D1D1F"/>
          </a:solidFill>
          <a:ln w="12700">
            <a:solidFill>
              <a:srgbClr val="1D1D1F"/>
            </a:solidFill>
            <a:prstDash val="solid"/>
          </a:ln>
        </p:spPr>
      </p:sp>
      <p:sp>
        <p:nvSpPr>
          <p:cNvPr id="12" name="Shape 10"/>
          <p:cNvSpPr/>
          <p:nvPr/>
        </p:nvSpPr>
        <p:spPr>
          <a:xfrm>
            <a:off x="2637130" y="1152144"/>
            <a:ext cx="365760" cy="365760"/>
          </a:xfrm>
          <a:prstGeom prst="ellipse">
            <a:avLst/>
          </a:prstGeom>
          <a:solidFill>
            <a:srgbClr val="FFFFFF"/>
          </a:solidFill>
          <a:ln w="19050">
            <a:solidFill>
              <a:srgbClr val="1D1D1F"/>
            </a:solidFill>
            <a:prstDash val="solid"/>
          </a:ln>
        </p:spPr>
      </p:sp>
      <p:sp>
        <p:nvSpPr>
          <p:cNvPr id="13" name="Text 11"/>
          <p:cNvSpPr/>
          <p:nvPr/>
        </p:nvSpPr>
        <p:spPr>
          <a:xfrm>
            <a:off x="2637130" y="1152144"/>
            <a:ext cx="365760" cy="365760"/>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2</a:t>
            </a:r>
            <a:endParaRPr lang="en-US" sz="800" dirty="0"/>
          </a:p>
        </p:txBody>
      </p:sp>
      <p:sp>
        <p:nvSpPr>
          <p:cNvPr id="14" name="Text 12"/>
          <p:cNvSpPr/>
          <p:nvPr/>
        </p:nvSpPr>
        <p:spPr>
          <a:xfrm>
            <a:off x="2136038"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Taller</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Multidisciplinario</a:t>
            </a:r>
            <a:endParaRPr lang="en-US" sz="800" dirty="0"/>
          </a:p>
        </p:txBody>
      </p:sp>
      <p:sp>
        <p:nvSpPr>
          <p:cNvPr id="15" name="Text 13"/>
          <p:cNvSpPr/>
          <p:nvPr/>
        </p:nvSpPr>
        <p:spPr>
          <a:xfrm>
            <a:off x="2136038" y="1828800"/>
            <a:ext cx="1367942" cy="548640"/>
          </a:xfrm>
          <a:prstGeom prst="rect">
            <a:avLst/>
          </a:prstGeom>
          <a:noFill/>
          <a:ln/>
        </p:spPr>
        <p:txBody>
          <a:bodyPr wrap="square" rtlCol="0" anchor="ctr"/>
          <a:lstStyle/>
          <a:p>
            <a:pPr algn="ctr" indent="0" marL="0">
              <a:buNone/>
            </a:pPr>
            <a:r>
              <a:rPr lang="en-US" sz="650" dirty="0">
                <a:solidFill>
                  <a:srgbClr val="FFFFFF">
                    <a:alpha val="90000"/>
                  </a:srgbClr>
                </a:solidFill>
                <a:latin typeface="Atkinson Hyperlegible" pitchFamily="34" charset="0"/>
                <a:ea typeface="Atkinson Hyperlegible" pitchFamily="34" charset="-122"/>
                <a:cs typeface="Atkinson Hyperlegible" pitchFamily="34" charset="-120"/>
              </a:rPr>
              <a:t>Equipo integrado, máx 15 personas</a:t>
            </a:r>
            <a:endParaRPr lang="en-US" sz="650" dirty="0"/>
          </a:p>
        </p:txBody>
      </p:sp>
      <p:sp>
        <p:nvSpPr>
          <p:cNvPr id="16" name="Shape 14"/>
          <p:cNvSpPr/>
          <p:nvPr/>
        </p:nvSpPr>
        <p:spPr>
          <a:xfrm>
            <a:off x="3577133" y="1778508"/>
            <a:ext cx="246888" cy="237744"/>
          </a:xfrm>
          <a:prstGeom prst="rightArrow">
            <a:avLst/>
          </a:prstGeom>
          <a:solidFill>
            <a:srgbClr val="27AE60"/>
          </a:solidFill>
          <a:ln w="12700">
            <a:solidFill>
              <a:srgbClr val="27AE60"/>
            </a:solidFill>
            <a:prstDash val="solid"/>
          </a:ln>
        </p:spPr>
      </p:sp>
      <p:sp>
        <p:nvSpPr>
          <p:cNvPr id="17" name="Shape 15"/>
          <p:cNvSpPr/>
          <p:nvPr/>
        </p:nvSpPr>
        <p:spPr>
          <a:xfrm>
            <a:off x="3824021" y="1371600"/>
            <a:ext cx="1495958" cy="1051560"/>
          </a:xfrm>
          <a:prstGeom prst="roundRect">
            <a:avLst>
              <a:gd name="adj" fmla="val 7826"/>
            </a:avLst>
          </a:prstGeom>
          <a:solidFill>
            <a:srgbClr val="27AE60"/>
          </a:solidFill>
          <a:ln w="12700">
            <a:solidFill>
              <a:srgbClr val="27AE60"/>
            </a:solidFill>
            <a:prstDash val="solid"/>
          </a:ln>
        </p:spPr>
      </p:sp>
      <p:sp>
        <p:nvSpPr>
          <p:cNvPr id="18" name="Shape 16"/>
          <p:cNvSpPr/>
          <p:nvPr/>
        </p:nvSpPr>
        <p:spPr>
          <a:xfrm>
            <a:off x="4389120" y="1152144"/>
            <a:ext cx="365760" cy="365760"/>
          </a:xfrm>
          <a:prstGeom prst="ellipse">
            <a:avLst/>
          </a:prstGeom>
          <a:solidFill>
            <a:srgbClr val="FFFFFF"/>
          </a:solidFill>
          <a:ln w="19050">
            <a:solidFill>
              <a:srgbClr val="27AE60"/>
            </a:solidFill>
            <a:prstDash val="solid"/>
          </a:ln>
        </p:spPr>
      </p:sp>
      <p:sp>
        <p:nvSpPr>
          <p:cNvPr id="19" name="Text 17"/>
          <p:cNvSpPr/>
          <p:nvPr/>
        </p:nvSpPr>
        <p:spPr>
          <a:xfrm>
            <a:off x="4389120" y="1152144"/>
            <a:ext cx="365760" cy="365760"/>
          </a:xfrm>
          <a:prstGeom prst="rect">
            <a:avLst/>
          </a:prstGeom>
          <a:noFill/>
          <a:ln/>
        </p:spPr>
        <p:txBody>
          <a:bodyPr wrap="square" rtlCol="0" anchor="ctr"/>
          <a:lstStyle/>
          <a:p>
            <a:pPr algn="ctr" indent="0" marL="0">
              <a:buNone/>
            </a:pPr>
            <a:r>
              <a:rPr lang="en-US" sz="800" b="1" dirty="0">
                <a:solidFill>
                  <a:srgbClr val="27AE60"/>
                </a:solidFill>
                <a:latin typeface="Atkinson Hyperlegible" pitchFamily="34" charset="0"/>
                <a:ea typeface="Atkinson Hyperlegible" pitchFamily="34" charset="-122"/>
                <a:cs typeface="Atkinson Hyperlegible" pitchFamily="34" charset="-120"/>
              </a:rPr>
              <a:t>3</a:t>
            </a:r>
            <a:endParaRPr lang="en-US" sz="800" dirty="0"/>
          </a:p>
        </p:txBody>
      </p:sp>
      <p:sp>
        <p:nvSpPr>
          <p:cNvPr id="20" name="Text 18"/>
          <p:cNvSpPr/>
          <p:nvPr/>
        </p:nvSpPr>
        <p:spPr>
          <a:xfrm>
            <a:off x="3888029"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Registro de</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Observaciones</a:t>
            </a:r>
            <a:endParaRPr lang="en-US" sz="800" dirty="0"/>
          </a:p>
        </p:txBody>
      </p:sp>
      <p:sp>
        <p:nvSpPr>
          <p:cNvPr id="21" name="Text 19"/>
          <p:cNvSpPr/>
          <p:nvPr/>
        </p:nvSpPr>
        <p:spPr>
          <a:xfrm>
            <a:off x="3888029" y="1828800"/>
            <a:ext cx="1367942" cy="548640"/>
          </a:xfrm>
          <a:prstGeom prst="rect">
            <a:avLst/>
          </a:prstGeom>
          <a:noFill/>
          <a:ln/>
        </p:spPr>
        <p:txBody>
          <a:bodyPr wrap="square" rtlCol="0" anchor="ctr"/>
          <a:lstStyle/>
          <a:p>
            <a:pPr algn="ctr" indent="0" marL="0">
              <a:buNone/>
            </a:pPr>
            <a:r>
              <a:rPr lang="en-US" sz="650" dirty="0">
                <a:solidFill>
                  <a:srgbClr val="FFFFFF">
                    <a:alpha val="90000"/>
                  </a:srgbClr>
                </a:solidFill>
                <a:latin typeface="Atkinson Hyperlegible" pitchFamily="34" charset="0"/>
                <a:ea typeface="Atkinson Hyperlegible" pitchFamily="34" charset="-122"/>
                <a:cs typeface="Atkinson Hyperlegible" pitchFamily="34" charset="-120"/>
              </a:rPr>
              <a:t>LLDB en tiempo real</a:t>
            </a:r>
            <a:endParaRPr lang="en-US" sz="650" dirty="0"/>
          </a:p>
        </p:txBody>
      </p:sp>
      <p:sp>
        <p:nvSpPr>
          <p:cNvPr id="22" name="Shape 20"/>
          <p:cNvSpPr/>
          <p:nvPr/>
        </p:nvSpPr>
        <p:spPr>
          <a:xfrm>
            <a:off x="5329123" y="1778508"/>
            <a:ext cx="246888" cy="237744"/>
          </a:xfrm>
          <a:prstGeom prst="rightArrow">
            <a:avLst/>
          </a:prstGeom>
          <a:solidFill>
            <a:srgbClr val="27AE60"/>
          </a:solidFill>
          <a:ln w="12700">
            <a:solidFill>
              <a:srgbClr val="27AE60"/>
            </a:solidFill>
            <a:prstDash val="solid"/>
          </a:ln>
        </p:spPr>
      </p:sp>
      <p:sp>
        <p:nvSpPr>
          <p:cNvPr id="23" name="Shape 21"/>
          <p:cNvSpPr/>
          <p:nvPr/>
        </p:nvSpPr>
        <p:spPr>
          <a:xfrm>
            <a:off x="5576011" y="1371600"/>
            <a:ext cx="1495958" cy="1051560"/>
          </a:xfrm>
          <a:prstGeom prst="roundRect">
            <a:avLst>
              <a:gd name="adj" fmla="val 7826"/>
            </a:avLst>
          </a:prstGeom>
          <a:solidFill>
            <a:srgbClr val="1D1D1F"/>
          </a:solidFill>
          <a:ln w="12700">
            <a:solidFill>
              <a:srgbClr val="1D1D1F"/>
            </a:solidFill>
            <a:prstDash val="solid"/>
          </a:ln>
        </p:spPr>
      </p:sp>
      <p:sp>
        <p:nvSpPr>
          <p:cNvPr id="24" name="Shape 22"/>
          <p:cNvSpPr/>
          <p:nvPr/>
        </p:nvSpPr>
        <p:spPr>
          <a:xfrm>
            <a:off x="6141110" y="1152144"/>
            <a:ext cx="365760" cy="365760"/>
          </a:xfrm>
          <a:prstGeom prst="ellipse">
            <a:avLst/>
          </a:prstGeom>
          <a:solidFill>
            <a:srgbClr val="FFFFFF"/>
          </a:solidFill>
          <a:ln w="19050">
            <a:solidFill>
              <a:srgbClr val="1D1D1F"/>
            </a:solidFill>
            <a:prstDash val="solid"/>
          </a:ln>
        </p:spPr>
      </p:sp>
      <p:sp>
        <p:nvSpPr>
          <p:cNvPr id="25" name="Text 23"/>
          <p:cNvSpPr/>
          <p:nvPr/>
        </p:nvSpPr>
        <p:spPr>
          <a:xfrm>
            <a:off x="6141110" y="1152144"/>
            <a:ext cx="365760" cy="365760"/>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4</a:t>
            </a:r>
            <a:endParaRPr lang="en-US" sz="800" dirty="0"/>
          </a:p>
        </p:txBody>
      </p:sp>
      <p:sp>
        <p:nvSpPr>
          <p:cNvPr id="26" name="Text 24"/>
          <p:cNvSpPr/>
          <p:nvPr/>
        </p:nvSpPr>
        <p:spPr>
          <a:xfrm>
            <a:off x="5640019"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Plan de</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Acciones</a:t>
            </a:r>
            <a:endParaRPr lang="en-US" sz="800" dirty="0"/>
          </a:p>
        </p:txBody>
      </p:sp>
      <p:sp>
        <p:nvSpPr>
          <p:cNvPr id="27" name="Text 25"/>
          <p:cNvSpPr/>
          <p:nvPr/>
        </p:nvSpPr>
        <p:spPr>
          <a:xfrm>
            <a:off x="5640019" y="1828800"/>
            <a:ext cx="1367942" cy="548640"/>
          </a:xfrm>
          <a:prstGeom prst="rect">
            <a:avLst/>
          </a:prstGeom>
          <a:noFill/>
          <a:ln/>
        </p:spPr>
        <p:txBody>
          <a:bodyPr wrap="square" rtlCol="0" anchor="ctr"/>
          <a:lstStyle/>
          <a:p>
            <a:pPr algn="ctr" indent="0" marL="0">
              <a:buNone/>
            </a:pPr>
            <a:r>
              <a:rPr lang="en-US" sz="650" dirty="0">
                <a:solidFill>
                  <a:srgbClr val="FFFFFF">
                    <a:alpha val="90000"/>
                  </a:srgbClr>
                </a:solidFill>
                <a:latin typeface="Atkinson Hyperlegible" pitchFamily="34" charset="0"/>
                <a:ea typeface="Atkinson Hyperlegible" pitchFamily="34" charset="-122"/>
                <a:cs typeface="Atkinson Hyperlegible" pitchFamily="34" charset="-120"/>
              </a:rPr>
              <a:t>Responsable y fecha por ítem</a:t>
            </a:r>
            <a:endParaRPr lang="en-US" sz="650" dirty="0"/>
          </a:p>
        </p:txBody>
      </p:sp>
      <p:sp>
        <p:nvSpPr>
          <p:cNvPr id="28" name="Shape 26"/>
          <p:cNvSpPr/>
          <p:nvPr/>
        </p:nvSpPr>
        <p:spPr>
          <a:xfrm>
            <a:off x="7081114" y="1778508"/>
            <a:ext cx="246888" cy="237744"/>
          </a:xfrm>
          <a:prstGeom prst="rightArrow">
            <a:avLst/>
          </a:prstGeom>
          <a:solidFill>
            <a:srgbClr val="27AE60"/>
          </a:solidFill>
          <a:ln w="12700">
            <a:solidFill>
              <a:srgbClr val="27AE60"/>
            </a:solidFill>
            <a:prstDash val="solid"/>
          </a:ln>
        </p:spPr>
      </p:sp>
      <p:sp>
        <p:nvSpPr>
          <p:cNvPr id="29" name="Shape 27"/>
          <p:cNvSpPr/>
          <p:nvPr/>
        </p:nvSpPr>
        <p:spPr>
          <a:xfrm>
            <a:off x="7328002" y="1371600"/>
            <a:ext cx="1495958" cy="1051560"/>
          </a:xfrm>
          <a:prstGeom prst="roundRect">
            <a:avLst>
              <a:gd name="adj" fmla="val 7826"/>
            </a:avLst>
          </a:prstGeom>
          <a:solidFill>
            <a:srgbClr val="27AE60"/>
          </a:solidFill>
          <a:ln w="12700">
            <a:solidFill>
              <a:srgbClr val="27AE60"/>
            </a:solidFill>
            <a:prstDash val="solid"/>
          </a:ln>
        </p:spPr>
      </p:sp>
      <p:sp>
        <p:nvSpPr>
          <p:cNvPr id="30" name="Shape 28"/>
          <p:cNvSpPr/>
          <p:nvPr/>
        </p:nvSpPr>
        <p:spPr>
          <a:xfrm>
            <a:off x="7893101" y="1152144"/>
            <a:ext cx="365760" cy="365760"/>
          </a:xfrm>
          <a:prstGeom prst="ellipse">
            <a:avLst/>
          </a:prstGeom>
          <a:solidFill>
            <a:srgbClr val="FFFFFF"/>
          </a:solidFill>
          <a:ln w="19050">
            <a:solidFill>
              <a:srgbClr val="27AE60"/>
            </a:solidFill>
            <a:prstDash val="solid"/>
          </a:ln>
        </p:spPr>
      </p:sp>
      <p:sp>
        <p:nvSpPr>
          <p:cNvPr id="31" name="Text 29"/>
          <p:cNvSpPr/>
          <p:nvPr/>
        </p:nvSpPr>
        <p:spPr>
          <a:xfrm>
            <a:off x="7893101" y="1152144"/>
            <a:ext cx="365760" cy="365760"/>
          </a:xfrm>
          <a:prstGeom prst="rect">
            <a:avLst/>
          </a:prstGeom>
          <a:noFill/>
          <a:ln/>
        </p:spPr>
        <p:txBody>
          <a:bodyPr wrap="square" rtlCol="0" anchor="ctr"/>
          <a:lstStyle/>
          <a:p>
            <a:pPr algn="ctr" indent="0" marL="0">
              <a:buNone/>
            </a:pPr>
            <a:r>
              <a:rPr lang="en-US" sz="800" b="1" dirty="0">
                <a:solidFill>
                  <a:srgbClr val="27AE60"/>
                </a:solidFill>
                <a:latin typeface="Atkinson Hyperlegible" pitchFamily="34" charset="0"/>
                <a:ea typeface="Atkinson Hyperlegible" pitchFamily="34" charset="-122"/>
                <a:cs typeface="Atkinson Hyperlegible" pitchFamily="34" charset="-120"/>
              </a:rPr>
              <a:t>5</a:t>
            </a:r>
            <a:endParaRPr lang="en-US" sz="800" dirty="0"/>
          </a:p>
        </p:txBody>
      </p:sp>
      <p:sp>
        <p:nvSpPr>
          <p:cNvPr id="32" name="Text 30"/>
          <p:cNvSpPr/>
          <p:nvPr/>
        </p:nvSpPr>
        <p:spPr>
          <a:xfrm>
            <a:off x="7392010"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Cierre y</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Verificación</a:t>
            </a:r>
            <a:endParaRPr lang="en-US" sz="800" dirty="0"/>
          </a:p>
        </p:txBody>
      </p:sp>
      <p:sp>
        <p:nvSpPr>
          <p:cNvPr id="33" name="Text 31"/>
          <p:cNvSpPr/>
          <p:nvPr/>
        </p:nvSpPr>
        <p:spPr>
          <a:xfrm>
            <a:off x="7392010" y="1828800"/>
            <a:ext cx="1367942" cy="548640"/>
          </a:xfrm>
          <a:prstGeom prst="rect">
            <a:avLst/>
          </a:prstGeom>
          <a:noFill/>
          <a:ln/>
        </p:spPr>
        <p:txBody>
          <a:bodyPr wrap="square" rtlCol="0" anchor="ctr"/>
          <a:lstStyle/>
          <a:p>
            <a:pPr algn="ctr" indent="0" marL="0">
              <a:buNone/>
            </a:pPr>
            <a:r>
              <a:rPr lang="en-US" sz="650" dirty="0">
                <a:solidFill>
                  <a:srgbClr val="FFFFFF">
                    <a:alpha val="90000"/>
                  </a:srgbClr>
                </a:solidFill>
                <a:latin typeface="Atkinson Hyperlegible" pitchFamily="34" charset="0"/>
                <a:ea typeface="Atkinson Hyperlegible" pitchFamily="34" charset="-122"/>
                <a:cs typeface="Atkinson Hyperlegible" pitchFamily="34" charset="-120"/>
              </a:rPr>
              <a:t>Confirmación de implementación</a:t>
            </a:r>
            <a:endParaRPr lang="en-US" sz="650" dirty="0"/>
          </a:p>
        </p:txBody>
      </p:sp>
      <p:sp>
        <p:nvSpPr>
          <p:cNvPr id="34" name="Shape 32"/>
          <p:cNvSpPr/>
          <p:nvPr/>
        </p:nvSpPr>
        <p:spPr>
          <a:xfrm>
            <a:off x="320040" y="3493008"/>
            <a:ext cx="2743200" cy="1335024"/>
          </a:xfrm>
          <a:prstGeom prst="roundRect">
            <a:avLst>
              <a:gd name="adj" fmla="val 5479"/>
            </a:avLst>
          </a:prstGeom>
          <a:solidFill>
            <a:srgbClr val="FFFFFF"/>
          </a:solidFill>
          <a:ln w="19050">
            <a:solidFill>
              <a:srgbClr val="27AE60"/>
            </a:solidFill>
            <a:prstDash val="solid"/>
          </a:ln>
        </p:spPr>
      </p:sp>
      <p:pic>
        <p:nvPicPr>
          <p:cNvPr id="3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9768" y="3584448"/>
            <a:ext cx="347472" cy="347472"/>
          </a:xfrm>
          <a:prstGeom prst="rect">
            <a:avLst/>
          </a:prstGeom>
        </p:spPr>
      </p:pic>
      <p:sp>
        <p:nvSpPr>
          <p:cNvPr id="36" name="Text 33"/>
          <p:cNvSpPr/>
          <p:nvPr/>
        </p:nvSpPr>
        <p:spPr>
          <a:xfrm>
            <a:off x="822960" y="3566160"/>
            <a:ext cx="2148840" cy="365760"/>
          </a:xfrm>
          <a:prstGeom prst="rect">
            <a:avLst/>
          </a:prstGeom>
          <a:noFill/>
          <a:ln/>
        </p:spPr>
        <p:txBody>
          <a:bodyPr wrap="square" rtlCol="0" anchor="ctr"/>
          <a:lstStyle/>
          <a:p>
            <a:pPr indent="0" marL="0">
              <a:buNone/>
            </a:pPr>
            <a:r>
              <a:rPr lang="en-US" sz="800" b="1" dirty="0">
                <a:solidFill>
                  <a:srgbClr val="27AE60"/>
                </a:solidFill>
                <a:latin typeface="Atkinson Hyperlegible" pitchFamily="34" charset="0"/>
                <a:ea typeface="Atkinson Hyperlegible" pitchFamily="34" charset="-122"/>
                <a:cs typeface="Atkinson Hyperlegible" pitchFamily="34" charset="-120"/>
              </a:rPr>
              <a:t>Frecuencia</a:t>
            </a:r>
            <a:endParaRPr lang="en-US" sz="800" dirty="0"/>
          </a:p>
        </p:txBody>
      </p:sp>
      <p:sp>
        <p:nvSpPr>
          <p:cNvPr id="37" name="Text 34"/>
          <p:cNvSpPr/>
          <p:nvPr/>
        </p:nvSpPr>
        <p:spPr>
          <a:xfrm>
            <a:off x="429768" y="3968496"/>
            <a:ext cx="2542032" cy="740664"/>
          </a:xfrm>
          <a:prstGeom prst="rect">
            <a:avLst/>
          </a:prstGeom>
          <a:noFill/>
          <a:ln/>
        </p:spPr>
        <p:txBody>
          <a:bodyPr wrap="square" rtlCol="0" anchor="t"/>
          <a:lstStyle/>
          <a:p>
            <a:pPr indent="0" marL="0">
              <a:buNone/>
            </a:pPr>
            <a:r>
              <a:rPr lang="en-US" sz="700" dirty="0">
                <a:solidFill>
                  <a:srgbClr val="1D1D1F"/>
                </a:solidFill>
                <a:latin typeface="Atkinson Hyperlegible" pitchFamily="34" charset="0"/>
                <a:ea typeface="Atkinson Hyperlegible" pitchFamily="34" charset="-122"/>
                <a:cs typeface="Atkinson Hyperlegible" pitchFamily="34" charset="-120"/>
              </a:rPr>
              <a:t>Al menos una revisión por fase. Adicionales en hitos clave (IFC, IFP, Gate Reviews).</a:t>
            </a:r>
            <a:endParaRPr lang="en-US" sz="700" dirty="0"/>
          </a:p>
        </p:txBody>
      </p:sp>
      <p:sp>
        <p:nvSpPr>
          <p:cNvPr id="38" name="Shape 35"/>
          <p:cNvSpPr/>
          <p:nvPr/>
        </p:nvSpPr>
        <p:spPr>
          <a:xfrm>
            <a:off x="3172968" y="3493008"/>
            <a:ext cx="2743200" cy="1335024"/>
          </a:xfrm>
          <a:prstGeom prst="roundRect">
            <a:avLst>
              <a:gd name="adj" fmla="val 5479"/>
            </a:avLst>
          </a:prstGeom>
          <a:solidFill>
            <a:srgbClr val="FFFFFF"/>
          </a:solidFill>
          <a:ln w="19050">
            <a:solidFill>
              <a:srgbClr val="27AE60"/>
            </a:solidFill>
            <a:prstDash val="solid"/>
          </a:ln>
        </p:spPr>
      </p:sp>
      <p:pic>
        <p:nvPicPr>
          <p:cNvPr id="3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82696" y="3584448"/>
            <a:ext cx="347472" cy="347472"/>
          </a:xfrm>
          <a:prstGeom prst="rect">
            <a:avLst/>
          </a:prstGeom>
        </p:spPr>
      </p:pic>
      <p:sp>
        <p:nvSpPr>
          <p:cNvPr id="40" name="Text 36"/>
          <p:cNvSpPr/>
          <p:nvPr/>
        </p:nvSpPr>
        <p:spPr>
          <a:xfrm>
            <a:off x="3675888" y="3566160"/>
            <a:ext cx="2148840" cy="365760"/>
          </a:xfrm>
          <a:prstGeom prst="rect">
            <a:avLst/>
          </a:prstGeom>
          <a:noFill/>
          <a:ln/>
        </p:spPr>
        <p:txBody>
          <a:bodyPr wrap="square" rtlCol="0" anchor="ctr"/>
          <a:lstStyle/>
          <a:p>
            <a:pPr indent="0" marL="0">
              <a:buNone/>
            </a:pPr>
            <a:r>
              <a:rPr lang="en-US" sz="800" b="1" dirty="0">
                <a:solidFill>
                  <a:srgbClr val="27AE60"/>
                </a:solidFill>
                <a:latin typeface="Atkinson Hyperlegible" pitchFamily="34" charset="0"/>
                <a:ea typeface="Atkinson Hyperlegible" pitchFamily="34" charset="-122"/>
                <a:cs typeface="Atkinson Hyperlegible" pitchFamily="34" charset="-120"/>
              </a:rPr>
              <a:t>Participantes</a:t>
            </a:r>
            <a:endParaRPr lang="en-US" sz="800" dirty="0"/>
          </a:p>
        </p:txBody>
      </p:sp>
      <p:sp>
        <p:nvSpPr>
          <p:cNvPr id="41" name="Text 37"/>
          <p:cNvSpPr/>
          <p:nvPr/>
        </p:nvSpPr>
        <p:spPr>
          <a:xfrm>
            <a:off x="3282696" y="3968496"/>
            <a:ext cx="2542032" cy="740664"/>
          </a:xfrm>
          <a:prstGeom prst="rect">
            <a:avLst/>
          </a:prstGeom>
          <a:noFill/>
          <a:ln/>
        </p:spPr>
        <p:txBody>
          <a:bodyPr wrap="square" rtlCol="0" anchor="t"/>
          <a:lstStyle/>
          <a:p>
            <a:pPr indent="0" marL="0">
              <a:buNone/>
            </a:pPr>
            <a:r>
              <a:rPr lang="en-US" sz="700" dirty="0">
                <a:solidFill>
                  <a:srgbClr val="1D1D1F"/>
                </a:solidFill>
                <a:latin typeface="Atkinson Hyperlegible" pitchFamily="34" charset="0"/>
                <a:ea typeface="Atkinson Hyperlegible" pitchFamily="34" charset="-122"/>
                <a:cs typeface="Atkinson Hyperlegible" pitchFamily="34" charset="-120"/>
              </a:rPr>
              <a:t>Champion + diseñadores clave + constructor + procura. Máximo 12-15 personas para eficiencia.</a:t>
            </a:r>
            <a:endParaRPr lang="en-US" sz="700" dirty="0"/>
          </a:p>
        </p:txBody>
      </p:sp>
      <p:sp>
        <p:nvSpPr>
          <p:cNvPr id="42" name="Shape 38"/>
          <p:cNvSpPr/>
          <p:nvPr/>
        </p:nvSpPr>
        <p:spPr>
          <a:xfrm>
            <a:off x="6025896" y="3493008"/>
            <a:ext cx="2743200" cy="1335024"/>
          </a:xfrm>
          <a:prstGeom prst="roundRect">
            <a:avLst>
              <a:gd name="adj" fmla="val 5479"/>
            </a:avLst>
          </a:prstGeom>
          <a:solidFill>
            <a:srgbClr val="FFFFFF"/>
          </a:solidFill>
          <a:ln w="19050">
            <a:solidFill>
              <a:srgbClr val="27AE60"/>
            </a:solidFill>
            <a:prstDash val="solid"/>
          </a:ln>
        </p:spPr>
      </p:sp>
      <p:pic>
        <p:nvPicPr>
          <p:cNvPr id="4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35624" y="3584448"/>
            <a:ext cx="347472" cy="347472"/>
          </a:xfrm>
          <a:prstGeom prst="rect">
            <a:avLst/>
          </a:prstGeom>
        </p:spPr>
      </p:pic>
      <p:sp>
        <p:nvSpPr>
          <p:cNvPr id="44" name="Text 39"/>
          <p:cNvSpPr/>
          <p:nvPr/>
        </p:nvSpPr>
        <p:spPr>
          <a:xfrm>
            <a:off x="6528816" y="3566160"/>
            <a:ext cx="2148840" cy="365760"/>
          </a:xfrm>
          <a:prstGeom prst="rect">
            <a:avLst/>
          </a:prstGeom>
          <a:noFill/>
          <a:ln/>
        </p:spPr>
        <p:txBody>
          <a:bodyPr wrap="square" rtlCol="0" anchor="ctr"/>
          <a:lstStyle/>
          <a:p>
            <a:pPr indent="0" marL="0">
              <a:buNone/>
            </a:pPr>
            <a:r>
              <a:rPr lang="en-US" sz="800" b="1" dirty="0">
                <a:solidFill>
                  <a:srgbClr val="27AE60"/>
                </a:solidFill>
                <a:latin typeface="Atkinson Hyperlegible" pitchFamily="34" charset="0"/>
                <a:ea typeface="Atkinson Hyperlegible" pitchFamily="34" charset="-122"/>
                <a:cs typeface="Atkinson Hyperlegible" pitchFamily="34" charset="-120"/>
              </a:rPr>
              <a:t>Entregable</a:t>
            </a:r>
            <a:endParaRPr lang="en-US" sz="800" dirty="0"/>
          </a:p>
        </p:txBody>
      </p:sp>
      <p:sp>
        <p:nvSpPr>
          <p:cNvPr id="45" name="Text 40"/>
          <p:cNvSpPr/>
          <p:nvPr/>
        </p:nvSpPr>
        <p:spPr>
          <a:xfrm>
            <a:off x="6135624" y="3968496"/>
            <a:ext cx="2542032" cy="740664"/>
          </a:xfrm>
          <a:prstGeom prst="rect">
            <a:avLst/>
          </a:prstGeom>
          <a:noFill/>
          <a:ln/>
        </p:spPr>
        <p:txBody>
          <a:bodyPr wrap="square" rtlCol="0" anchor="t"/>
          <a:lstStyle/>
          <a:p>
            <a:pPr indent="0" marL="0">
              <a:buNone/>
            </a:pPr>
            <a:r>
              <a:rPr lang="en-US" sz="700" dirty="0">
                <a:solidFill>
                  <a:srgbClr val="1D1D1F"/>
                </a:solidFill>
                <a:latin typeface="Atkinson Hyperlegible" pitchFamily="34" charset="0"/>
                <a:ea typeface="Atkinson Hyperlegible" pitchFamily="34" charset="-122"/>
                <a:cs typeface="Atkinson Hyperlegible" pitchFamily="34" charset="-120"/>
              </a:rPr>
              <a:t>Registro formal en LLDB con cada observación priorizada por impacto en costo/plazo/seguridad.</a:t>
            </a:r>
            <a:endParaRPr lang="en-US" sz="700" dirty="0"/>
          </a:p>
        </p:txBody>
      </p:sp>
      <p:sp>
        <p:nvSpPr>
          <p:cNvPr id="46" name="Shape 41"/>
          <p:cNvSpPr/>
          <p:nvPr/>
        </p:nvSpPr>
        <p:spPr>
          <a:xfrm>
            <a:off x="182880" y="4956048"/>
            <a:ext cx="8961120" cy="182880"/>
          </a:xfrm>
          <a:prstGeom prst="rect">
            <a:avLst/>
          </a:prstGeom>
          <a:solidFill>
            <a:srgbClr val="27AE60"/>
          </a:solidFill>
          <a:ln w="12700">
            <a:solidFill>
              <a:srgbClr val="27AE60"/>
            </a:solidFill>
            <a:prstDash val="solid"/>
          </a:ln>
        </p:spPr>
      </p:sp>
      <p:sp>
        <p:nvSpPr>
          <p:cNvPr id="47" name="Text 42"/>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26 / 126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27AE60"/>
          </a:solidFill>
          <a:ln w="12700">
            <a:solidFill>
              <a:srgbClr val="27AE60"/>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Resumen Fase I — Lista de Verificación</a:t>
            </a:r>
            <a:endParaRPr lang="en-US" sz="1800" dirty="0"/>
          </a:p>
        </p:txBody>
      </p:sp>
      <p:sp>
        <p:nvSpPr>
          <p:cNvPr id="4" name="Shape 2"/>
          <p:cNvSpPr/>
          <p:nvPr/>
        </p:nvSpPr>
        <p:spPr>
          <a:xfrm>
            <a:off x="320040" y="640080"/>
            <a:ext cx="8503920" cy="41148"/>
          </a:xfrm>
          <a:prstGeom prst="rect">
            <a:avLst/>
          </a:prstGeom>
          <a:solidFill>
            <a:srgbClr val="27AE60"/>
          </a:solidFill>
          <a:ln w="12700">
            <a:solidFill>
              <a:srgbClr val="27AE60"/>
            </a:solidFill>
            <a:prstDash val="solid"/>
          </a:ln>
        </p:spPr>
      </p:sp>
      <p:sp>
        <p:nvSpPr>
          <p:cNvPr id="5" name="Shape 3"/>
          <p:cNvSpPr/>
          <p:nvPr/>
        </p:nvSpPr>
        <p:spPr>
          <a:xfrm>
            <a:off x="320040" y="822960"/>
            <a:ext cx="8503920" cy="384048"/>
          </a:xfrm>
          <a:prstGeom prst="roundRect">
            <a:avLst>
              <a:gd name="adj" fmla="val 9524"/>
            </a:avLst>
          </a:prstGeom>
          <a:solidFill>
            <a:srgbClr val="F8F8FA"/>
          </a:solidFill>
          <a:ln w="9525">
            <a:solidFill>
              <a:srgbClr val="E5E5EA"/>
            </a:solidFill>
            <a:prstDash val="solid"/>
          </a:ln>
        </p:spPr>
      </p:sp>
      <p:sp>
        <p:nvSpPr>
          <p:cNvPr id="6" name="Text 4"/>
          <p:cNvSpPr/>
          <p:nvPr/>
        </p:nvSpPr>
        <p:spPr>
          <a:xfrm>
            <a:off x="411480" y="822960"/>
            <a:ext cx="8321040" cy="384048"/>
          </a:xfrm>
          <a:prstGeom prst="rect">
            <a:avLst/>
          </a:prstGeom>
          <a:noFill/>
          <a:ln/>
        </p:spPr>
        <p:txBody>
          <a:bodyPr wrap="square" rtlCol="0" anchor="ctr"/>
          <a:lstStyle/>
          <a:p>
            <a:pPr indent="0" marL="0">
              <a:buNone/>
            </a:pPr>
            <a:r>
              <a:rPr lang="en-US" sz="850" dirty="0">
                <a:solidFill>
                  <a:srgbClr val="1D1D1F"/>
                </a:solidFill>
                <a:latin typeface="Atkinson Hyperlegible" pitchFamily="34" charset="0"/>
                <a:ea typeface="Atkinson Hyperlegible" pitchFamily="34" charset="-122"/>
                <a:cs typeface="Atkinson Hyperlegible" pitchFamily="34" charset="-120"/>
              </a:rPr>
              <a:t>☑ Champion de constructabilidad designado con experiencia real en campo</a:t>
            </a:r>
            <a:endParaRPr lang="en-US" sz="850" dirty="0"/>
          </a:p>
        </p:txBody>
      </p:sp>
      <p:sp>
        <p:nvSpPr>
          <p:cNvPr id="7" name="Shape 5"/>
          <p:cNvSpPr/>
          <p:nvPr/>
        </p:nvSpPr>
        <p:spPr>
          <a:xfrm>
            <a:off x="320040" y="1234440"/>
            <a:ext cx="8503920" cy="384048"/>
          </a:xfrm>
          <a:prstGeom prst="roundRect">
            <a:avLst>
              <a:gd name="adj" fmla="val 9524"/>
            </a:avLst>
          </a:prstGeom>
          <a:solidFill>
            <a:srgbClr val="FFFFFF"/>
          </a:solidFill>
          <a:ln w="9525">
            <a:solidFill>
              <a:srgbClr val="FFFFFF"/>
            </a:solidFill>
            <a:prstDash val="solid"/>
          </a:ln>
        </p:spPr>
      </p:sp>
      <p:sp>
        <p:nvSpPr>
          <p:cNvPr id="8" name="Text 6"/>
          <p:cNvSpPr/>
          <p:nvPr/>
        </p:nvSpPr>
        <p:spPr>
          <a:xfrm>
            <a:off x="411480" y="1234440"/>
            <a:ext cx="8321040" cy="384048"/>
          </a:xfrm>
          <a:prstGeom prst="rect">
            <a:avLst/>
          </a:prstGeom>
          <a:noFill/>
          <a:ln/>
        </p:spPr>
        <p:txBody>
          <a:bodyPr wrap="square" rtlCol="0" anchor="ctr"/>
          <a:lstStyle/>
          <a:p>
            <a:pPr indent="0" marL="0">
              <a:buNone/>
            </a:pPr>
            <a:r>
              <a:rPr lang="en-US" sz="850" dirty="0">
                <a:solidFill>
                  <a:srgbClr val="1D1D1F"/>
                </a:solidFill>
                <a:latin typeface="Atkinson Hyperlegible" pitchFamily="34" charset="0"/>
                <a:ea typeface="Atkinson Hyperlegible" pitchFamily="34" charset="-122"/>
                <a:cs typeface="Atkinson Hyperlegible" pitchFamily="34" charset="-120"/>
              </a:rPr>
              <a:t>☑ Sección de constructabilidad incluida en el Plan de Ejecución del Proyecto (PEP)</a:t>
            </a:r>
            <a:endParaRPr lang="en-US" sz="850" dirty="0"/>
          </a:p>
        </p:txBody>
      </p:sp>
      <p:sp>
        <p:nvSpPr>
          <p:cNvPr id="9" name="Shape 7"/>
          <p:cNvSpPr/>
          <p:nvPr/>
        </p:nvSpPr>
        <p:spPr>
          <a:xfrm>
            <a:off x="320040" y="1645920"/>
            <a:ext cx="8503920" cy="384048"/>
          </a:xfrm>
          <a:prstGeom prst="roundRect">
            <a:avLst>
              <a:gd name="adj" fmla="val 9524"/>
            </a:avLst>
          </a:prstGeom>
          <a:solidFill>
            <a:srgbClr val="F8F8FA"/>
          </a:solidFill>
          <a:ln w="9525">
            <a:solidFill>
              <a:srgbClr val="E5E5EA"/>
            </a:solidFill>
            <a:prstDash val="solid"/>
          </a:ln>
        </p:spPr>
      </p:sp>
      <p:sp>
        <p:nvSpPr>
          <p:cNvPr id="10" name="Text 8"/>
          <p:cNvSpPr/>
          <p:nvPr/>
        </p:nvSpPr>
        <p:spPr>
          <a:xfrm>
            <a:off x="411480" y="1645920"/>
            <a:ext cx="8321040" cy="384048"/>
          </a:xfrm>
          <a:prstGeom prst="rect">
            <a:avLst/>
          </a:prstGeom>
          <a:noFill/>
          <a:ln/>
        </p:spPr>
        <p:txBody>
          <a:bodyPr wrap="square" rtlCol="0" anchor="ctr"/>
          <a:lstStyle/>
          <a:p>
            <a:pPr indent="0" marL="0">
              <a:buNone/>
            </a:pPr>
            <a:r>
              <a:rPr lang="en-US" sz="850" dirty="0">
                <a:solidFill>
                  <a:srgbClr val="1D1D1F"/>
                </a:solidFill>
                <a:latin typeface="Atkinson Hyperlegible" pitchFamily="34" charset="0"/>
                <a:ea typeface="Atkinson Hyperlegible" pitchFamily="34" charset="-122"/>
                <a:cs typeface="Atkinson Hyperlegible" pitchFamily="34" charset="-120"/>
              </a:rPr>
              <a:t>☑ Estudios de sitio completados antes de inicio de diseño básico (I-3)</a:t>
            </a:r>
            <a:endParaRPr lang="en-US" sz="850" dirty="0"/>
          </a:p>
        </p:txBody>
      </p:sp>
      <p:sp>
        <p:nvSpPr>
          <p:cNvPr id="11" name="Shape 9"/>
          <p:cNvSpPr/>
          <p:nvPr/>
        </p:nvSpPr>
        <p:spPr>
          <a:xfrm>
            <a:off x="320040" y="2057400"/>
            <a:ext cx="8503920" cy="384048"/>
          </a:xfrm>
          <a:prstGeom prst="roundRect">
            <a:avLst>
              <a:gd name="adj" fmla="val 9524"/>
            </a:avLst>
          </a:prstGeom>
          <a:solidFill>
            <a:srgbClr val="FFFFFF"/>
          </a:solidFill>
          <a:ln w="9525">
            <a:solidFill>
              <a:srgbClr val="FFFFFF"/>
            </a:solidFill>
            <a:prstDash val="solid"/>
          </a:ln>
        </p:spPr>
      </p:sp>
      <p:sp>
        <p:nvSpPr>
          <p:cNvPr id="12" name="Text 10"/>
          <p:cNvSpPr/>
          <p:nvPr/>
        </p:nvSpPr>
        <p:spPr>
          <a:xfrm>
            <a:off x="411480" y="2057400"/>
            <a:ext cx="8321040" cy="384048"/>
          </a:xfrm>
          <a:prstGeom prst="rect">
            <a:avLst/>
          </a:prstGeom>
          <a:noFill/>
          <a:ln/>
        </p:spPr>
        <p:txBody>
          <a:bodyPr wrap="square" rtlCol="0" anchor="ctr"/>
          <a:lstStyle/>
          <a:p>
            <a:pPr indent="0" marL="0">
              <a:buNone/>
            </a:pPr>
            <a:r>
              <a:rPr lang="en-US" sz="850" dirty="0">
                <a:solidFill>
                  <a:srgbClr val="1D1D1F"/>
                </a:solidFill>
                <a:latin typeface="Atkinson Hyperlegible" pitchFamily="34" charset="0"/>
                <a:ea typeface="Atkinson Hyperlegible" pitchFamily="34" charset="-122"/>
                <a:cs typeface="Atkinson Hyperlegible" pitchFamily="34" charset="-120"/>
              </a:rPr>
              <a:t>☑ Equipo multidisciplinario formado con representación de construcción (I-4)</a:t>
            </a:r>
            <a:endParaRPr lang="en-US" sz="850" dirty="0"/>
          </a:p>
        </p:txBody>
      </p:sp>
      <p:sp>
        <p:nvSpPr>
          <p:cNvPr id="13" name="Shape 11"/>
          <p:cNvSpPr/>
          <p:nvPr/>
        </p:nvSpPr>
        <p:spPr>
          <a:xfrm>
            <a:off x="320040" y="2468880"/>
            <a:ext cx="8503920" cy="384048"/>
          </a:xfrm>
          <a:prstGeom prst="roundRect">
            <a:avLst>
              <a:gd name="adj" fmla="val 9524"/>
            </a:avLst>
          </a:prstGeom>
          <a:solidFill>
            <a:srgbClr val="F8F8FA"/>
          </a:solidFill>
          <a:ln w="9525">
            <a:solidFill>
              <a:srgbClr val="E5E5EA"/>
            </a:solidFill>
            <a:prstDash val="solid"/>
          </a:ln>
        </p:spPr>
      </p:sp>
      <p:sp>
        <p:nvSpPr>
          <p:cNvPr id="14" name="Text 12"/>
          <p:cNvSpPr/>
          <p:nvPr/>
        </p:nvSpPr>
        <p:spPr>
          <a:xfrm>
            <a:off x="411480" y="2468880"/>
            <a:ext cx="8321040" cy="384048"/>
          </a:xfrm>
          <a:prstGeom prst="rect">
            <a:avLst/>
          </a:prstGeom>
          <a:noFill/>
          <a:ln/>
        </p:spPr>
        <p:txBody>
          <a:bodyPr wrap="square" rtlCol="0" anchor="ctr"/>
          <a:lstStyle/>
          <a:p>
            <a:pPr indent="0" marL="0">
              <a:buNone/>
            </a:pPr>
            <a:r>
              <a:rPr lang="en-US" sz="850" dirty="0">
                <a:solidFill>
                  <a:srgbClr val="1D1D1F"/>
                </a:solidFill>
                <a:latin typeface="Atkinson Hyperlegible" pitchFamily="34" charset="0"/>
                <a:ea typeface="Atkinson Hyperlegible" pitchFamily="34" charset="-122"/>
                <a:cs typeface="Atkinson Hyperlegible" pitchFamily="34" charset="-120"/>
              </a:rPr>
              <a:t>☑ Decisiones clave documentadas con análisis de impacto constructivo (I-6)</a:t>
            </a:r>
            <a:endParaRPr lang="en-US" sz="850" dirty="0"/>
          </a:p>
        </p:txBody>
      </p:sp>
      <p:sp>
        <p:nvSpPr>
          <p:cNvPr id="15" name="Shape 13"/>
          <p:cNvSpPr/>
          <p:nvPr/>
        </p:nvSpPr>
        <p:spPr>
          <a:xfrm>
            <a:off x="320040" y="2880360"/>
            <a:ext cx="8503920" cy="384048"/>
          </a:xfrm>
          <a:prstGeom prst="roundRect">
            <a:avLst>
              <a:gd name="adj" fmla="val 9524"/>
            </a:avLst>
          </a:prstGeom>
          <a:solidFill>
            <a:srgbClr val="FFFFFF"/>
          </a:solidFill>
          <a:ln w="9525">
            <a:solidFill>
              <a:srgbClr val="FFFFFF"/>
            </a:solidFill>
            <a:prstDash val="solid"/>
          </a:ln>
        </p:spPr>
      </p:sp>
      <p:sp>
        <p:nvSpPr>
          <p:cNvPr id="16" name="Text 14"/>
          <p:cNvSpPr/>
          <p:nvPr/>
        </p:nvSpPr>
        <p:spPr>
          <a:xfrm>
            <a:off x="411480" y="2880360"/>
            <a:ext cx="8321040" cy="384048"/>
          </a:xfrm>
          <a:prstGeom prst="rect">
            <a:avLst/>
          </a:prstGeom>
          <a:noFill/>
          <a:ln/>
        </p:spPr>
        <p:txBody>
          <a:bodyPr wrap="square" rtlCol="0" anchor="ctr"/>
          <a:lstStyle/>
          <a:p>
            <a:pPr indent="0" marL="0">
              <a:buNone/>
            </a:pPr>
            <a:r>
              <a:rPr lang="en-US" sz="850" dirty="0">
                <a:solidFill>
                  <a:srgbClr val="1D1D1F"/>
                </a:solidFill>
                <a:latin typeface="Atkinson Hyperlegible" pitchFamily="34" charset="0"/>
                <a:ea typeface="Atkinson Hyperlegible" pitchFamily="34" charset="-122"/>
                <a:cs typeface="Atkinson Hyperlegible" pitchFamily="34" charset="-120"/>
              </a:rPr>
              <a:t>☑ Estrategia PAM evaluada y documentada (vinculada a I-5)</a:t>
            </a:r>
            <a:endParaRPr lang="en-US" sz="850" dirty="0"/>
          </a:p>
        </p:txBody>
      </p:sp>
      <p:sp>
        <p:nvSpPr>
          <p:cNvPr id="17" name="Shape 15"/>
          <p:cNvSpPr/>
          <p:nvPr/>
        </p:nvSpPr>
        <p:spPr>
          <a:xfrm>
            <a:off x="320040" y="3291840"/>
            <a:ext cx="8503920" cy="384048"/>
          </a:xfrm>
          <a:prstGeom prst="roundRect">
            <a:avLst>
              <a:gd name="adj" fmla="val 9524"/>
            </a:avLst>
          </a:prstGeom>
          <a:solidFill>
            <a:srgbClr val="F8F8FA"/>
          </a:solidFill>
          <a:ln w="9525">
            <a:solidFill>
              <a:srgbClr val="E5E5EA"/>
            </a:solidFill>
            <a:prstDash val="solid"/>
          </a:ln>
        </p:spPr>
      </p:sp>
      <p:sp>
        <p:nvSpPr>
          <p:cNvPr id="18" name="Text 16"/>
          <p:cNvSpPr/>
          <p:nvPr/>
        </p:nvSpPr>
        <p:spPr>
          <a:xfrm>
            <a:off x="411480" y="3291840"/>
            <a:ext cx="8321040" cy="384048"/>
          </a:xfrm>
          <a:prstGeom prst="rect">
            <a:avLst/>
          </a:prstGeom>
          <a:noFill/>
          <a:ln/>
        </p:spPr>
        <p:txBody>
          <a:bodyPr wrap="square" rtlCol="0" anchor="ctr"/>
          <a:lstStyle/>
          <a:p>
            <a:pPr indent="0" marL="0">
              <a:buNone/>
            </a:pPr>
            <a:r>
              <a:rPr lang="en-US" sz="850" dirty="0">
                <a:solidFill>
                  <a:srgbClr val="1D1D1F"/>
                </a:solidFill>
                <a:latin typeface="Atkinson Hyperlegible" pitchFamily="34" charset="0"/>
                <a:ea typeface="Atkinson Hyperlegible" pitchFamily="34" charset="-122"/>
                <a:cs typeface="Atkinson Hyperlegible" pitchFamily="34" charset="-120"/>
              </a:rPr>
              <a:t>☑ Plan de completación del modelo de diseño aprobado (I-7)</a:t>
            </a:r>
            <a:endParaRPr lang="en-US" sz="850" dirty="0"/>
          </a:p>
        </p:txBody>
      </p:sp>
      <p:sp>
        <p:nvSpPr>
          <p:cNvPr id="19" name="Shape 17"/>
          <p:cNvSpPr/>
          <p:nvPr/>
        </p:nvSpPr>
        <p:spPr>
          <a:xfrm>
            <a:off x="320040" y="3703320"/>
            <a:ext cx="8503920" cy="384048"/>
          </a:xfrm>
          <a:prstGeom prst="roundRect">
            <a:avLst>
              <a:gd name="adj" fmla="val 9524"/>
            </a:avLst>
          </a:prstGeom>
          <a:solidFill>
            <a:srgbClr val="FFFFFF"/>
          </a:solidFill>
          <a:ln w="9525">
            <a:solidFill>
              <a:srgbClr val="FFFFFF"/>
            </a:solidFill>
            <a:prstDash val="solid"/>
          </a:ln>
        </p:spPr>
      </p:sp>
      <p:sp>
        <p:nvSpPr>
          <p:cNvPr id="20" name="Text 18"/>
          <p:cNvSpPr/>
          <p:nvPr/>
        </p:nvSpPr>
        <p:spPr>
          <a:xfrm>
            <a:off x="411480" y="3703320"/>
            <a:ext cx="8321040" cy="384048"/>
          </a:xfrm>
          <a:prstGeom prst="rect">
            <a:avLst/>
          </a:prstGeom>
          <a:noFill/>
          <a:ln/>
        </p:spPr>
        <p:txBody>
          <a:bodyPr wrap="square" rtlCol="0" anchor="ctr"/>
          <a:lstStyle/>
          <a:p>
            <a:pPr indent="0" marL="0">
              <a:buNone/>
            </a:pPr>
            <a:r>
              <a:rPr lang="en-US" sz="850" dirty="0">
                <a:solidFill>
                  <a:srgbClr val="1D1D1F"/>
                </a:solidFill>
                <a:latin typeface="Atkinson Hyperlegible" pitchFamily="34" charset="0"/>
                <a:ea typeface="Atkinson Hyperlegible" pitchFamily="34" charset="-122"/>
                <a:cs typeface="Atkinson Hyperlegible" pitchFamily="34" charset="-120"/>
              </a:rPr>
              <a:t>☑ LLDB activado y primer taller de constructabilidad realizado (I-2)</a:t>
            </a:r>
            <a:endParaRPr lang="en-US" sz="850" dirty="0"/>
          </a:p>
        </p:txBody>
      </p:sp>
      <p:sp>
        <p:nvSpPr>
          <p:cNvPr id="21" name="Shape 19"/>
          <p:cNvSpPr/>
          <p:nvPr/>
        </p:nvSpPr>
        <p:spPr>
          <a:xfrm>
            <a:off x="320040" y="4114800"/>
            <a:ext cx="8503920" cy="384048"/>
          </a:xfrm>
          <a:prstGeom prst="roundRect">
            <a:avLst>
              <a:gd name="adj" fmla="val 9524"/>
            </a:avLst>
          </a:prstGeom>
          <a:solidFill>
            <a:srgbClr val="F8F8FA"/>
          </a:solidFill>
          <a:ln w="9525">
            <a:solidFill>
              <a:srgbClr val="E5E5EA"/>
            </a:solidFill>
            <a:prstDash val="solid"/>
          </a:ln>
        </p:spPr>
      </p:sp>
      <p:sp>
        <p:nvSpPr>
          <p:cNvPr id="22" name="Text 20"/>
          <p:cNvSpPr/>
          <p:nvPr/>
        </p:nvSpPr>
        <p:spPr>
          <a:xfrm>
            <a:off x="411480" y="4114800"/>
            <a:ext cx="8321040" cy="384048"/>
          </a:xfrm>
          <a:prstGeom prst="rect">
            <a:avLst/>
          </a:prstGeom>
          <a:noFill/>
          <a:ln/>
        </p:spPr>
        <p:txBody>
          <a:bodyPr wrap="square" rtlCol="0" anchor="ctr"/>
          <a:lstStyle/>
          <a:p>
            <a:pPr indent="0" marL="0">
              <a:buNone/>
            </a:pPr>
            <a:r>
              <a:rPr lang="en-US" sz="850" dirty="0">
                <a:solidFill>
                  <a:srgbClr val="1D1D1F"/>
                </a:solidFill>
                <a:latin typeface="Atkinson Hyperlegible" pitchFamily="34" charset="0"/>
                <a:ea typeface="Atkinson Hyperlegible" pitchFamily="34" charset="-122"/>
                <a:cs typeface="Atkinson Hyperlegible" pitchFamily="34" charset="-120"/>
              </a:rPr>
              <a:t>☑ Criterios de constructabilidad incluidos en bases de diseño</a:t>
            </a:r>
            <a:endParaRPr lang="en-US" sz="850" dirty="0"/>
          </a:p>
        </p:txBody>
      </p:sp>
      <p:sp>
        <p:nvSpPr>
          <p:cNvPr id="23" name="Shape 21"/>
          <p:cNvSpPr/>
          <p:nvPr/>
        </p:nvSpPr>
        <p:spPr>
          <a:xfrm>
            <a:off x="320040" y="4526280"/>
            <a:ext cx="8503920" cy="384048"/>
          </a:xfrm>
          <a:prstGeom prst="roundRect">
            <a:avLst>
              <a:gd name="adj" fmla="val 9524"/>
            </a:avLst>
          </a:prstGeom>
          <a:solidFill>
            <a:srgbClr val="FFFFFF"/>
          </a:solidFill>
          <a:ln w="9525">
            <a:solidFill>
              <a:srgbClr val="FFFFFF"/>
            </a:solidFill>
            <a:prstDash val="solid"/>
          </a:ln>
        </p:spPr>
      </p:sp>
      <p:sp>
        <p:nvSpPr>
          <p:cNvPr id="24" name="Text 22"/>
          <p:cNvSpPr/>
          <p:nvPr/>
        </p:nvSpPr>
        <p:spPr>
          <a:xfrm>
            <a:off x="411480" y="4526280"/>
            <a:ext cx="8321040" cy="384048"/>
          </a:xfrm>
          <a:prstGeom prst="rect">
            <a:avLst/>
          </a:prstGeom>
          <a:noFill/>
          <a:ln/>
        </p:spPr>
        <p:txBody>
          <a:bodyPr wrap="square" rtlCol="0" anchor="ctr"/>
          <a:lstStyle/>
          <a:p>
            <a:pPr indent="0" marL="0">
              <a:buNone/>
            </a:pPr>
            <a:r>
              <a:rPr lang="en-US" sz="850" dirty="0">
                <a:solidFill>
                  <a:srgbClr val="1D1D1F"/>
                </a:solidFill>
                <a:latin typeface="Atkinson Hyperlegible" pitchFamily="34" charset="0"/>
                <a:ea typeface="Atkinson Hyperlegible" pitchFamily="34" charset="-122"/>
                <a:cs typeface="Atkinson Hyperlegible" pitchFamily="34" charset="-120"/>
              </a:rPr>
              <a:t>☑ Primera revisión formal de constructabilidad completada y documentada</a:t>
            </a:r>
            <a:endParaRPr lang="en-US" sz="850" dirty="0"/>
          </a:p>
        </p:txBody>
      </p:sp>
      <p:sp>
        <p:nvSpPr>
          <p:cNvPr id="25" name="Shape 23"/>
          <p:cNvSpPr/>
          <p:nvPr/>
        </p:nvSpPr>
        <p:spPr>
          <a:xfrm>
            <a:off x="182880" y="4956048"/>
            <a:ext cx="8961120" cy="182880"/>
          </a:xfrm>
          <a:prstGeom prst="rect">
            <a:avLst/>
          </a:prstGeom>
          <a:solidFill>
            <a:srgbClr val="27AE60"/>
          </a:solidFill>
          <a:ln w="12700">
            <a:solidFill>
              <a:srgbClr val="27AE60"/>
            </a:solidFill>
            <a:prstDash val="solid"/>
          </a:ln>
        </p:spPr>
      </p:sp>
      <p:sp>
        <p:nvSpPr>
          <p:cNvPr id="26" name="Text 24"/>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27 / 126</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4620A"/>
          </a:solidFill>
          <a:ln w="12700">
            <a:solidFill>
              <a:srgbClr val="D4620A"/>
            </a:solidFill>
            <a:prstDash val="solid"/>
          </a:ln>
        </p:spPr>
      </p:sp>
      <p:sp>
        <p:nvSpPr>
          <p:cNvPr id="3" name="Shape 1"/>
          <p:cNvSpPr/>
          <p:nvPr/>
        </p:nvSpPr>
        <p:spPr>
          <a:xfrm>
            <a:off x="0" y="0"/>
            <a:ext cx="2011680" cy="5143500"/>
          </a:xfrm>
          <a:prstGeom prst="rect">
            <a:avLst/>
          </a:prstGeom>
          <a:solidFill>
            <a:srgbClr val="FFFFFF"/>
          </a:solidFill>
          <a:ln w="12700">
            <a:solidFill>
              <a:srgbClr val="FFFFFF"/>
            </a:solidFill>
            <a:prstDash val="solid"/>
          </a:ln>
        </p:spPr>
      </p:sp>
      <p:sp>
        <p:nvSpPr>
          <p:cNvPr id="4" name="Text 2"/>
          <p:cNvSpPr/>
          <p:nvPr/>
        </p:nvSpPr>
        <p:spPr>
          <a:xfrm>
            <a:off x="320040" y="1463040"/>
            <a:ext cx="1828800" cy="1371600"/>
          </a:xfrm>
          <a:prstGeom prst="rect">
            <a:avLst/>
          </a:prstGeom>
          <a:noFill/>
          <a:ln/>
        </p:spPr>
        <p:txBody>
          <a:bodyPr wrap="square" rtlCol="0" anchor="ctr"/>
          <a:lstStyle/>
          <a:p>
            <a:pPr indent="0" marL="0">
              <a:buNone/>
            </a:pPr>
            <a:r>
              <a:rPr lang="en-US" sz="9000" b="1" dirty="0">
                <a:solidFill>
                  <a:srgbClr val="FFFFFF">
                    <a:alpha val="80000"/>
                  </a:srgbClr>
                </a:solidFill>
                <a:latin typeface="Atkinson Hyperlegible" pitchFamily="34" charset="0"/>
                <a:ea typeface="Atkinson Hyperlegible" pitchFamily="34" charset="-122"/>
                <a:cs typeface="Atkinson Hyperlegible" pitchFamily="34" charset="-120"/>
              </a:rPr>
              <a:t>04</a:t>
            </a:r>
            <a:endParaRPr lang="en-US" sz="9000" dirty="0"/>
          </a:p>
        </p:txBody>
      </p:sp>
      <p:sp>
        <p:nvSpPr>
          <p:cNvPr id="5" name="Shape 3"/>
          <p:cNvSpPr/>
          <p:nvPr/>
        </p:nvSpPr>
        <p:spPr>
          <a:xfrm>
            <a:off x="2286000" y="1371600"/>
            <a:ext cx="54864" cy="2286000"/>
          </a:xfrm>
          <a:prstGeom prst="rect">
            <a:avLst/>
          </a:prstGeom>
          <a:solidFill>
            <a:srgbClr val="FFFFFF"/>
          </a:solidFill>
          <a:ln w="12700">
            <a:solidFill>
              <a:srgbClr val="FFFFFF"/>
            </a:solidFill>
            <a:prstDash val="solid"/>
          </a:ln>
        </p:spPr>
      </p:sp>
      <p:sp>
        <p:nvSpPr>
          <p:cNvPr id="6" name="Text 4"/>
          <p:cNvSpPr/>
          <p:nvPr/>
        </p:nvSpPr>
        <p:spPr>
          <a:xfrm>
            <a:off x="2560320" y="1554480"/>
            <a:ext cx="6217920" cy="1005840"/>
          </a:xfrm>
          <a:prstGeom prst="rect">
            <a:avLst/>
          </a:prstGeom>
          <a:noFill/>
          <a:ln/>
        </p:spPr>
        <p:txBody>
          <a:bodyPr wrap="square" rtlCol="0" anchor="ctr"/>
          <a:lstStyle/>
          <a:p>
            <a:pPr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Fase II: Diseño y Procura</a:t>
            </a:r>
            <a:endParaRPr lang="en-US" sz="2800" dirty="0"/>
          </a:p>
        </p:txBody>
      </p:sp>
      <p:sp>
        <p:nvSpPr>
          <p:cNvPr id="7" name="Text 5"/>
          <p:cNvSpPr/>
          <p:nvPr/>
        </p:nvSpPr>
        <p:spPr>
          <a:xfrm>
            <a:off x="2560320" y="2651760"/>
            <a:ext cx="6217920" cy="1097280"/>
          </a:xfrm>
          <a:prstGeom prst="rect">
            <a:avLst/>
          </a:prstGeom>
          <a:noFill/>
          <a:ln/>
        </p:spPr>
        <p:txBody>
          <a:bodyPr wrap="square" rtlCol="0" anchor="ctr"/>
          <a:lstStyle/>
          <a:p>
            <a:pPr indent="0" marL="0">
              <a:buNone/>
            </a:pPr>
            <a:r>
              <a:rPr lang="en-US" sz="1200" dirty="0">
                <a:solidFill>
                  <a:srgbClr val="FFFFFF">
                    <a:alpha val="85000"/>
                  </a:srgbClr>
                </a:solidFill>
                <a:latin typeface="Atkinson Hyperlegible" pitchFamily="34" charset="0"/>
                <a:ea typeface="Atkinson Hyperlegible" pitchFamily="34" charset="-122"/>
                <a:cs typeface="Atkinson Hyperlegible" pitchFamily="34" charset="-120"/>
              </a:rPr>
              <a:t>Conceptos II-1 a II-8: Diseñar para ser construido, no solo para funcionar</a:t>
            </a:r>
            <a:endParaRPr lang="en-US" sz="1200" dirty="0"/>
          </a:p>
        </p:txBody>
      </p:sp>
      <p:sp>
        <p:nvSpPr>
          <p:cNvPr id="8" name="Shape 6"/>
          <p:cNvSpPr/>
          <p:nvPr/>
        </p:nvSpPr>
        <p:spPr>
          <a:xfrm>
            <a:off x="182880" y="4956048"/>
            <a:ext cx="8961120" cy="182880"/>
          </a:xfrm>
          <a:prstGeom prst="rect">
            <a:avLst/>
          </a:prstGeom>
          <a:solidFill>
            <a:srgbClr val="1D1D1F"/>
          </a:solidFill>
          <a:ln w="12700">
            <a:solidFill>
              <a:srgbClr val="1D1D1F"/>
            </a:solidFill>
            <a:prstDash val="solid"/>
          </a:ln>
        </p:spPr>
      </p:sp>
      <p:sp>
        <p:nvSpPr>
          <p:cNvPr id="9" name="Text 7"/>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28 / 126</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D4620A"/>
          </a:solidFill>
          <a:ln w="12700">
            <a:solidFill>
              <a:srgbClr val="D4620A"/>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Fase II: Visión General — El Corazón del Diseño</a:t>
            </a:r>
            <a:endParaRPr lang="en-US" sz="1800" dirty="0"/>
          </a:p>
        </p:txBody>
      </p:sp>
      <p:sp>
        <p:nvSpPr>
          <p:cNvPr id="4" name="Shape 2"/>
          <p:cNvSpPr/>
          <p:nvPr/>
        </p:nvSpPr>
        <p:spPr>
          <a:xfrm>
            <a:off x="320040" y="640080"/>
            <a:ext cx="8503920" cy="41148"/>
          </a:xfrm>
          <a:prstGeom prst="rect">
            <a:avLst/>
          </a:prstGeom>
          <a:solidFill>
            <a:srgbClr val="D4620A"/>
          </a:solidFill>
          <a:ln w="12700">
            <a:solidFill>
              <a:srgbClr val="D4620A"/>
            </a:solidFill>
            <a:prstDash val="solid"/>
          </a:ln>
        </p:spPr>
      </p:sp>
      <p:sp>
        <p:nvSpPr>
          <p:cNvPr id="5" name="Shape 3"/>
          <p:cNvSpPr/>
          <p:nvPr/>
        </p:nvSpPr>
        <p:spPr>
          <a:xfrm>
            <a:off x="3931920" y="2450592"/>
            <a:ext cx="1280160" cy="768096"/>
          </a:xfrm>
          <a:prstGeom prst="ellipse">
            <a:avLst/>
          </a:prstGeom>
          <a:solidFill>
            <a:srgbClr val="D4620A"/>
          </a:solidFill>
          <a:ln w="12700">
            <a:solidFill>
              <a:srgbClr val="D4620A"/>
            </a:solidFill>
            <a:prstDash val="solid"/>
          </a:ln>
        </p:spPr>
      </p:sp>
      <p:sp>
        <p:nvSpPr>
          <p:cNvPr id="6" name="Text 4"/>
          <p:cNvSpPr/>
          <p:nvPr/>
        </p:nvSpPr>
        <p:spPr>
          <a:xfrm>
            <a:off x="3931920" y="2450592"/>
            <a:ext cx="1280160" cy="768096"/>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DISEÑO</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CONSTRUCTIVO</a:t>
            </a:r>
            <a:endParaRPr lang="en-US" sz="800" dirty="0"/>
          </a:p>
        </p:txBody>
      </p:sp>
      <p:sp>
        <p:nvSpPr>
          <p:cNvPr id="7" name="Shape 5"/>
          <p:cNvSpPr/>
          <p:nvPr/>
        </p:nvSpPr>
        <p:spPr>
          <a:xfrm flipV="1">
            <a:off x="4572000" y="1725473"/>
            <a:ext cx="18288" cy="706831"/>
          </a:xfrm>
          <a:prstGeom prst="line">
            <a:avLst/>
          </a:prstGeom>
          <a:noFill/>
          <a:ln w="15240">
            <a:solidFill>
              <a:srgbClr val="D4620A"/>
            </a:solidFill>
            <a:prstDash val="solid"/>
          </a:ln>
        </p:spPr>
      </p:sp>
      <p:sp>
        <p:nvSpPr>
          <p:cNvPr id="8" name="Shape 6"/>
          <p:cNvSpPr/>
          <p:nvPr/>
        </p:nvSpPr>
        <p:spPr>
          <a:xfrm>
            <a:off x="3954780" y="1195121"/>
            <a:ext cx="1234440" cy="512064"/>
          </a:xfrm>
          <a:prstGeom prst="roundRect">
            <a:avLst>
              <a:gd name="adj" fmla="val 12500"/>
            </a:avLst>
          </a:prstGeom>
          <a:solidFill>
            <a:srgbClr val="D4620A"/>
          </a:solidFill>
          <a:ln w="12700">
            <a:solidFill>
              <a:srgbClr val="D4620A"/>
            </a:solidFill>
            <a:prstDash val="solid"/>
          </a:ln>
        </p:spPr>
      </p:sp>
      <p:sp>
        <p:nvSpPr>
          <p:cNvPr id="9" name="Text 7"/>
          <p:cNvSpPr/>
          <p:nvPr/>
        </p:nvSpPr>
        <p:spPr>
          <a:xfrm>
            <a:off x="3954780" y="1195121"/>
            <a:ext cx="1234440"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II-1: Normas</a:t>
            </a:r>
            <a:endParaRPr lang="en-US" sz="750" dirty="0"/>
          </a:p>
        </p:txBody>
      </p:sp>
      <p:sp>
        <p:nvSpPr>
          <p:cNvPr id="10" name="Text 8"/>
          <p:cNvSpPr/>
          <p:nvPr/>
        </p:nvSpPr>
        <p:spPr>
          <a:xfrm>
            <a:off x="3954780" y="1451153"/>
            <a:ext cx="1234440" cy="256032"/>
          </a:xfrm>
          <a:prstGeom prst="rect">
            <a:avLst/>
          </a:prstGeom>
          <a:noFill/>
          <a:ln/>
        </p:spPr>
        <p:txBody>
          <a:bodyPr wrap="square" rtlCol="0" anchor="ctr"/>
          <a:lstStyle/>
          <a:p>
            <a:pPr algn="ctr" indent="0" marL="0">
              <a:buNone/>
            </a:pPr>
            <a:r>
              <a:rPr lang="en-US" sz="600" i="1" dirty="0">
                <a:solidFill>
                  <a:srgbClr val="FFFFFF"/>
                </a:solidFill>
                <a:latin typeface="Atkinson Hyperlegible" pitchFamily="34" charset="0"/>
                <a:ea typeface="Atkinson Hyperlegible" pitchFamily="34" charset="-122"/>
                <a:cs typeface="Atkinson Hyperlegible" pitchFamily="34" charset="-120"/>
              </a:rPr>
              <a:t>Estandarizar</a:t>
            </a:r>
            <a:endParaRPr lang="en-US" sz="600" dirty="0"/>
          </a:p>
        </p:txBody>
      </p:sp>
      <p:sp>
        <p:nvSpPr>
          <p:cNvPr id="11" name="Shape 9"/>
          <p:cNvSpPr/>
          <p:nvPr/>
        </p:nvSpPr>
        <p:spPr>
          <a:xfrm flipV="1">
            <a:off x="5037536" y="2050340"/>
            <a:ext cx="245700" cy="499805"/>
          </a:xfrm>
          <a:prstGeom prst="line">
            <a:avLst/>
          </a:prstGeom>
          <a:noFill/>
          <a:ln w="15240">
            <a:solidFill>
              <a:srgbClr val="D4620A"/>
            </a:solidFill>
            <a:prstDash val="solid"/>
          </a:ln>
        </p:spPr>
      </p:sp>
      <p:sp>
        <p:nvSpPr>
          <p:cNvPr id="12" name="Shape 10"/>
          <p:cNvSpPr/>
          <p:nvPr/>
        </p:nvSpPr>
        <p:spPr>
          <a:xfrm>
            <a:off x="5105690" y="1600335"/>
            <a:ext cx="1234440" cy="512064"/>
          </a:xfrm>
          <a:prstGeom prst="roundRect">
            <a:avLst>
              <a:gd name="adj" fmla="val 12500"/>
            </a:avLst>
          </a:prstGeom>
          <a:solidFill>
            <a:srgbClr val="27AE60"/>
          </a:solidFill>
          <a:ln w="12700">
            <a:solidFill>
              <a:srgbClr val="D4620A"/>
            </a:solidFill>
            <a:prstDash val="solid"/>
          </a:ln>
        </p:spPr>
      </p:sp>
      <p:sp>
        <p:nvSpPr>
          <p:cNvPr id="13" name="Text 11"/>
          <p:cNvSpPr/>
          <p:nvPr/>
        </p:nvSpPr>
        <p:spPr>
          <a:xfrm>
            <a:off x="5105690" y="1600335"/>
            <a:ext cx="1234440"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II-2: Simplificar</a:t>
            </a:r>
            <a:endParaRPr lang="en-US" sz="750" dirty="0"/>
          </a:p>
        </p:txBody>
      </p:sp>
      <p:sp>
        <p:nvSpPr>
          <p:cNvPr id="14" name="Text 12"/>
          <p:cNvSpPr/>
          <p:nvPr/>
        </p:nvSpPr>
        <p:spPr>
          <a:xfrm>
            <a:off x="5105690" y="1856367"/>
            <a:ext cx="1234440" cy="256032"/>
          </a:xfrm>
          <a:prstGeom prst="rect">
            <a:avLst/>
          </a:prstGeom>
          <a:noFill/>
          <a:ln/>
        </p:spPr>
        <p:txBody>
          <a:bodyPr wrap="square" rtlCol="0" anchor="ctr"/>
          <a:lstStyle/>
          <a:p>
            <a:pPr algn="ctr" indent="0" marL="0">
              <a:buNone/>
            </a:pPr>
            <a:r>
              <a:rPr lang="en-US" sz="600" i="1" dirty="0">
                <a:solidFill>
                  <a:srgbClr val="FFFFFF"/>
                </a:solidFill>
                <a:latin typeface="Atkinson Hyperlegible" pitchFamily="34" charset="0"/>
                <a:ea typeface="Atkinson Hyperlegible" pitchFamily="34" charset="-122"/>
                <a:cs typeface="Atkinson Hyperlegible" pitchFamily="34" charset="-120"/>
              </a:rPr>
              <a:t>Menos complejidad</a:t>
            </a:r>
            <a:endParaRPr lang="en-US" sz="600" dirty="0"/>
          </a:p>
        </p:txBody>
      </p:sp>
      <p:sp>
        <p:nvSpPr>
          <p:cNvPr id="15" name="Shape 13"/>
          <p:cNvSpPr/>
          <p:nvPr/>
        </p:nvSpPr>
        <p:spPr>
          <a:xfrm>
            <a:off x="5230368" y="2834640"/>
            <a:ext cx="347472" cy="18288"/>
          </a:xfrm>
          <a:prstGeom prst="line">
            <a:avLst/>
          </a:prstGeom>
          <a:noFill/>
          <a:ln w="15240">
            <a:solidFill>
              <a:srgbClr val="D4620A"/>
            </a:solidFill>
            <a:prstDash val="solid"/>
          </a:ln>
        </p:spPr>
      </p:sp>
      <p:sp>
        <p:nvSpPr>
          <p:cNvPr id="16" name="Shape 14"/>
          <p:cNvSpPr/>
          <p:nvPr/>
        </p:nvSpPr>
        <p:spPr>
          <a:xfrm>
            <a:off x="5582412" y="2578608"/>
            <a:ext cx="1234440" cy="512064"/>
          </a:xfrm>
          <a:prstGeom prst="roundRect">
            <a:avLst>
              <a:gd name="adj" fmla="val 12500"/>
            </a:avLst>
          </a:prstGeom>
          <a:solidFill>
            <a:srgbClr val="0E9E9E"/>
          </a:solidFill>
          <a:ln w="12700">
            <a:solidFill>
              <a:srgbClr val="D4620A"/>
            </a:solidFill>
            <a:prstDash val="solid"/>
          </a:ln>
        </p:spPr>
      </p:sp>
      <p:sp>
        <p:nvSpPr>
          <p:cNvPr id="17" name="Text 15"/>
          <p:cNvSpPr/>
          <p:nvPr/>
        </p:nvSpPr>
        <p:spPr>
          <a:xfrm>
            <a:off x="5582412" y="2578608"/>
            <a:ext cx="1234440"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II-3: Specs</a:t>
            </a:r>
            <a:endParaRPr lang="en-US" sz="750" dirty="0"/>
          </a:p>
        </p:txBody>
      </p:sp>
      <p:sp>
        <p:nvSpPr>
          <p:cNvPr id="18" name="Text 16"/>
          <p:cNvSpPr/>
          <p:nvPr/>
        </p:nvSpPr>
        <p:spPr>
          <a:xfrm>
            <a:off x="5582412" y="2834640"/>
            <a:ext cx="1234440" cy="256032"/>
          </a:xfrm>
          <a:prstGeom prst="rect">
            <a:avLst/>
          </a:prstGeom>
          <a:noFill/>
          <a:ln/>
        </p:spPr>
        <p:txBody>
          <a:bodyPr wrap="square" rtlCol="0" anchor="ctr"/>
          <a:lstStyle/>
          <a:p>
            <a:pPr algn="ctr" indent="0" marL="0">
              <a:buNone/>
            </a:pPr>
            <a:r>
              <a:rPr lang="en-US" sz="600" i="1" dirty="0">
                <a:solidFill>
                  <a:srgbClr val="FFFFFF"/>
                </a:solidFill>
                <a:latin typeface="Atkinson Hyperlegible" pitchFamily="34" charset="0"/>
                <a:ea typeface="Atkinson Hyperlegible" pitchFamily="34" charset="-122"/>
                <a:cs typeface="Atkinson Hyperlegible" pitchFamily="34" charset="-120"/>
              </a:rPr>
              <a:t>Reutilizar</a:t>
            </a:r>
            <a:endParaRPr lang="en-US" sz="600" dirty="0"/>
          </a:p>
        </p:txBody>
      </p:sp>
      <p:sp>
        <p:nvSpPr>
          <p:cNvPr id="19" name="Shape 17"/>
          <p:cNvSpPr/>
          <p:nvPr/>
        </p:nvSpPr>
        <p:spPr>
          <a:xfrm>
            <a:off x="5037536" y="3119135"/>
            <a:ext cx="245700" cy="499805"/>
          </a:xfrm>
          <a:prstGeom prst="line">
            <a:avLst/>
          </a:prstGeom>
          <a:noFill/>
          <a:ln w="15240">
            <a:solidFill>
              <a:srgbClr val="D4620A"/>
            </a:solidFill>
            <a:prstDash val="solid"/>
          </a:ln>
        </p:spPr>
      </p:sp>
      <p:sp>
        <p:nvSpPr>
          <p:cNvPr id="20" name="Shape 18"/>
          <p:cNvSpPr/>
          <p:nvPr/>
        </p:nvSpPr>
        <p:spPr>
          <a:xfrm>
            <a:off x="5105690" y="3556881"/>
            <a:ext cx="1234440" cy="512064"/>
          </a:xfrm>
          <a:prstGeom prst="roundRect">
            <a:avLst>
              <a:gd name="adj" fmla="val 12500"/>
            </a:avLst>
          </a:prstGeom>
          <a:solidFill>
            <a:srgbClr val="2C3E8C"/>
          </a:solidFill>
          <a:ln w="12700">
            <a:solidFill>
              <a:srgbClr val="D4620A"/>
            </a:solidFill>
            <a:prstDash val="solid"/>
          </a:ln>
        </p:spPr>
      </p:sp>
      <p:sp>
        <p:nvSpPr>
          <p:cNvPr id="21" name="Text 19"/>
          <p:cNvSpPr/>
          <p:nvPr/>
        </p:nvSpPr>
        <p:spPr>
          <a:xfrm>
            <a:off x="5105690" y="3556881"/>
            <a:ext cx="1234440"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II-4: PAM</a:t>
            </a:r>
            <a:endParaRPr lang="en-US" sz="750" dirty="0"/>
          </a:p>
        </p:txBody>
      </p:sp>
      <p:sp>
        <p:nvSpPr>
          <p:cNvPr id="22" name="Text 20"/>
          <p:cNvSpPr/>
          <p:nvPr/>
        </p:nvSpPr>
        <p:spPr>
          <a:xfrm>
            <a:off x="5105690" y="3812913"/>
            <a:ext cx="1234440" cy="256032"/>
          </a:xfrm>
          <a:prstGeom prst="rect">
            <a:avLst/>
          </a:prstGeom>
          <a:noFill/>
          <a:ln/>
        </p:spPr>
        <p:txBody>
          <a:bodyPr wrap="square" rtlCol="0" anchor="ctr"/>
          <a:lstStyle/>
          <a:p>
            <a:pPr algn="ctr" indent="0" marL="0">
              <a:buNone/>
            </a:pPr>
            <a:r>
              <a:rPr lang="en-US" sz="600" i="1" dirty="0">
                <a:solidFill>
                  <a:srgbClr val="FFFFFF"/>
                </a:solidFill>
                <a:latin typeface="Atkinson Hyperlegible" pitchFamily="34" charset="0"/>
                <a:ea typeface="Atkinson Hyperlegible" pitchFamily="34" charset="-122"/>
                <a:cs typeface="Atkinson Hyperlegible" pitchFamily="34" charset="-120"/>
              </a:rPr>
              <a:t>Prefabricar</a:t>
            </a:r>
            <a:endParaRPr lang="en-US" sz="600" dirty="0"/>
          </a:p>
        </p:txBody>
      </p:sp>
      <p:sp>
        <p:nvSpPr>
          <p:cNvPr id="23" name="Shape 21"/>
          <p:cNvSpPr/>
          <p:nvPr/>
        </p:nvSpPr>
        <p:spPr>
          <a:xfrm>
            <a:off x="4572000" y="3236976"/>
            <a:ext cx="18288" cy="706831"/>
          </a:xfrm>
          <a:prstGeom prst="line">
            <a:avLst/>
          </a:prstGeom>
          <a:noFill/>
          <a:ln w="15240">
            <a:solidFill>
              <a:srgbClr val="D4620A"/>
            </a:solidFill>
            <a:prstDash val="solid"/>
          </a:ln>
        </p:spPr>
      </p:sp>
      <p:sp>
        <p:nvSpPr>
          <p:cNvPr id="24" name="Shape 22"/>
          <p:cNvSpPr/>
          <p:nvPr/>
        </p:nvSpPr>
        <p:spPr>
          <a:xfrm>
            <a:off x="3954780" y="3962095"/>
            <a:ext cx="1234440" cy="512064"/>
          </a:xfrm>
          <a:prstGeom prst="roundRect">
            <a:avLst>
              <a:gd name="adj" fmla="val 12500"/>
            </a:avLst>
          </a:prstGeom>
          <a:solidFill>
            <a:srgbClr val="8E44AD"/>
          </a:solidFill>
          <a:ln w="12700">
            <a:solidFill>
              <a:srgbClr val="D4620A"/>
            </a:solidFill>
            <a:prstDash val="solid"/>
          </a:ln>
        </p:spPr>
      </p:sp>
      <p:sp>
        <p:nvSpPr>
          <p:cNvPr id="25" name="Text 23"/>
          <p:cNvSpPr/>
          <p:nvPr/>
        </p:nvSpPr>
        <p:spPr>
          <a:xfrm>
            <a:off x="3954780" y="3962095"/>
            <a:ext cx="1234440"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II-5: Accesos</a:t>
            </a:r>
            <a:endParaRPr lang="en-US" sz="750" dirty="0"/>
          </a:p>
        </p:txBody>
      </p:sp>
      <p:sp>
        <p:nvSpPr>
          <p:cNvPr id="26" name="Text 24"/>
          <p:cNvSpPr/>
          <p:nvPr/>
        </p:nvSpPr>
        <p:spPr>
          <a:xfrm>
            <a:off x="3954780" y="4218127"/>
            <a:ext cx="1234440" cy="256032"/>
          </a:xfrm>
          <a:prstGeom prst="rect">
            <a:avLst/>
          </a:prstGeom>
          <a:noFill/>
          <a:ln/>
        </p:spPr>
        <p:txBody>
          <a:bodyPr wrap="square" rtlCol="0" anchor="ctr"/>
          <a:lstStyle/>
          <a:p>
            <a:pPr algn="ctr" indent="0" marL="0">
              <a:buNone/>
            </a:pPr>
            <a:r>
              <a:rPr lang="en-US" sz="600" i="1" dirty="0">
                <a:solidFill>
                  <a:srgbClr val="FFFFFF"/>
                </a:solidFill>
                <a:latin typeface="Atkinson Hyperlegible" pitchFamily="34" charset="0"/>
                <a:ea typeface="Atkinson Hyperlegible" pitchFamily="34" charset="-122"/>
                <a:cs typeface="Atkinson Hyperlegible" pitchFamily="34" charset="-120"/>
              </a:rPr>
              <a:t>Facilitar montaje</a:t>
            </a:r>
            <a:endParaRPr lang="en-US" sz="600" dirty="0"/>
          </a:p>
        </p:txBody>
      </p:sp>
      <p:sp>
        <p:nvSpPr>
          <p:cNvPr id="27" name="Shape 25"/>
          <p:cNvSpPr/>
          <p:nvPr/>
        </p:nvSpPr>
        <p:spPr>
          <a:xfrm flipH="1">
            <a:off x="3860764" y="3119135"/>
            <a:ext cx="245700" cy="499805"/>
          </a:xfrm>
          <a:prstGeom prst="line">
            <a:avLst/>
          </a:prstGeom>
          <a:noFill/>
          <a:ln w="15240">
            <a:solidFill>
              <a:srgbClr val="D4620A"/>
            </a:solidFill>
            <a:prstDash val="solid"/>
          </a:ln>
        </p:spPr>
      </p:sp>
      <p:sp>
        <p:nvSpPr>
          <p:cNvPr id="28" name="Shape 26"/>
          <p:cNvSpPr/>
          <p:nvPr/>
        </p:nvSpPr>
        <p:spPr>
          <a:xfrm>
            <a:off x="2803870" y="3556881"/>
            <a:ext cx="1234440" cy="512064"/>
          </a:xfrm>
          <a:prstGeom prst="roundRect">
            <a:avLst>
              <a:gd name="adj" fmla="val 12500"/>
            </a:avLst>
          </a:prstGeom>
          <a:solidFill>
            <a:srgbClr val="C0392B"/>
          </a:solidFill>
          <a:ln w="12700">
            <a:solidFill>
              <a:srgbClr val="D4620A"/>
            </a:solidFill>
            <a:prstDash val="solid"/>
          </a:ln>
        </p:spPr>
      </p:sp>
      <p:sp>
        <p:nvSpPr>
          <p:cNvPr id="29" name="Text 27"/>
          <p:cNvSpPr/>
          <p:nvPr/>
        </p:nvSpPr>
        <p:spPr>
          <a:xfrm>
            <a:off x="2803870" y="3556881"/>
            <a:ext cx="1234440"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II-6: Cronograma</a:t>
            </a:r>
            <a:endParaRPr lang="en-US" sz="750" dirty="0"/>
          </a:p>
        </p:txBody>
      </p:sp>
      <p:sp>
        <p:nvSpPr>
          <p:cNvPr id="30" name="Text 28"/>
          <p:cNvSpPr/>
          <p:nvPr/>
        </p:nvSpPr>
        <p:spPr>
          <a:xfrm>
            <a:off x="2803870" y="3812913"/>
            <a:ext cx="1234440" cy="256032"/>
          </a:xfrm>
          <a:prstGeom prst="rect">
            <a:avLst/>
          </a:prstGeom>
          <a:noFill/>
          <a:ln/>
        </p:spPr>
        <p:txBody>
          <a:bodyPr wrap="square" rtlCol="0" anchor="ctr"/>
          <a:lstStyle/>
          <a:p>
            <a:pPr algn="ctr" indent="0" marL="0">
              <a:buNone/>
            </a:pPr>
            <a:r>
              <a:rPr lang="en-US" sz="600" i="1" dirty="0">
                <a:solidFill>
                  <a:srgbClr val="FFFFFF"/>
                </a:solidFill>
                <a:latin typeface="Atkinson Hyperlegible" pitchFamily="34" charset="0"/>
                <a:ea typeface="Atkinson Hyperlegible" pitchFamily="34" charset="-122"/>
                <a:cs typeface="Atkinson Hyperlegible" pitchFamily="34" charset="-120"/>
              </a:rPr>
              <a:t>Diseño urgente primero</a:t>
            </a:r>
            <a:endParaRPr lang="en-US" sz="600" dirty="0"/>
          </a:p>
        </p:txBody>
      </p:sp>
      <p:sp>
        <p:nvSpPr>
          <p:cNvPr id="31" name="Shape 29"/>
          <p:cNvSpPr/>
          <p:nvPr/>
        </p:nvSpPr>
        <p:spPr>
          <a:xfrm flipH="1">
            <a:off x="3566160" y="2834640"/>
            <a:ext cx="347472" cy="18288"/>
          </a:xfrm>
          <a:prstGeom prst="line">
            <a:avLst/>
          </a:prstGeom>
          <a:noFill/>
          <a:ln w="15240">
            <a:solidFill>
              <a:srgbClr val="D4620A"/>
            </a:solidFill>
            <a:prstDash val="solid"/>
          </a:ln>
        </p:spPr>
      </p:sp>
      <p:sp>
        <p:nvSpPr>
          <p:cNvPr id="32" name="Shape 30"/>
          <p:cNvSpPr/>
          <p:nvPr/>
        </p:nvSpPr>
        <p:spPr>
          <a:xfrm>
            <a:off x="2327148" y="2578608"/>
            <a:ext cx="1234440" cy="512064"/>
          </a:xfrm>
          <a:prstGeom prst="roundRect">
            <a:avLst>
              <a:gd name="adj" fmla="val 12500"/>
            </a:avLst>
          </a:prstGeom>
          <a:solidFill>
            <a:srgbClr val="D4620A"/>
          </a:solidFill>
          <a:ln w="12700">
            <a:solidFill>
              <a:srgbClr val="D4620A"/>
            </a:solidFill>
            <a:prstDash val="solid"/>
          </a:ln>
        </p:spPr>
      </p:sp>
      <p:sp>
        <p:nvSpPr>
          <p:cNvPr id="33" name="Text 31"/>
          <p:cNvSpPr/>
          <p:nvPr/>
        </p:nvSpPr>
        <p:spPr>
          <a:xfrm>
            <a:off x="2327148" y="2578608"/>
            <a:ext cx="1234440"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II-7: Revisión</a:t>
            </a:r>
            <a:endParaRPr lang="en-US" sz="750" dirty="0"/>
          </a:p>
        </p:txBody>
      </p:sp>
      <p:sp>
        <p:nvSpPr>
          <p:cNvPr id="34" name="Text 32"/>
          <p:cNvSpPr/>
          <p:nvPr/>
        </p:nvSpPr>
        <p:spPr>
          <a:xfrm>
            <a:off x="2327148" y="2834640"/>
            <a:ext cx="1234440" cy="256032"/>
          </a:xfrm>
          <a:prstGeom prst="rect">
            <a:avLst/>
          </a:prstGeom>
          <a:noFill/>
          <a:ln/>
        </p:spPr>
        <p:txBody>
          <a:bodyPr wrap="square" rtlCol="0" anchor="ctr"/>
          <a:lstStyle/>
          <a:p>
            <a:pPr algn="ctr" indent="0" marL="0">
              <a:buNone/>
            </a:pPr>
            <a:r>
              <a:rPr lang="en-US" sz="600" i="1" dirty="0">
                <a:solidFill>
                  <a:srgbClr val="FFFFFF"/>
                </a:solidFill>
                <a:latin typeface="Atkinson Hyperlegible" pitchFamily="34" charset="0"/>
                <a:ea typeface="Atkinson Hyperlegible" pitchFamily="34" charset="-122"/>
                <a:cs typeface="Atkinson Hyperlegible" pitchFamily="34" charset="-120"/>
              </a:rPr>
              <a:t>Validar campo</a:t>
            </a:r>
            <a:endParaRPr lang="en-US" sz="600" dirty="0"/>
          </a:p>
        </p:txBody>
      </p:sp>
      <p:sp>
        <p:nvSpPr>
          <p:cNvPr id="35" name="Shape 33"/>
          <p:cNvSpPr/>
          <p:nvPr/>
        </p:nvSpPr>
        <p:spPr>
          <a:xfrm flipH="1" flipV="1">
            <a:off x="3860764" y="2050340"/>
            <a:ext cx="245700" cy="499805"/>
          </a:xfrm>
          <a:prstGeom prst="line">
            <a:avLst/>
          </a:prstGeom>
          <a:noFill/>
          <a:ln w="15240">
            <a:solidFill>
              <a:srgbClr val="D4620A"/>
            </a:solidFill>
            <a:prstDash val="solid"/>
          </a:ln>
        </p:spPr>
      </p:sp>
      <p:sp>
        <p:nvSpPr>
          <p:cNvPr id="36" name="Shape 34"/>
          <p:cNvSpPr/>
          <p:nvPr/>
        </p:nvSpPr>
        <p:spPr>
          <a:xfrm>
            <a:off x="2803870" y="1600335"/>
            <a:ext cx="1234440" cy="512064"/>
          </a:xfrm>
          <a:prstGeom prst="roundRect">
            <a:avLst>
              <a:gd name="adj" fmla="val 12500"/>
            </a:avLst>
          </a:prstGeom>
          <a:solidFill>
            <a:srgbClr val="555555"/>
          </a:solidFill>
          <a:ln w="12700">
            <a:solidFill>
              <a:srgbClr val="D4620A"/>
            </a:solidFill>
            <a:prstDash val="solid"/>
          </a:ln>
        </p:spPr>
      </p:sp>
      <p:sp>
        <p:nvSpPr>
          <p:cNvPr id="37" name="Text 35"/>
          <p:cNvSpPr/>
          <p:nvPr/>
        </p:nvSpPr>
        <p:spPr>
          <a:xfrm>
            <a:off x="2803870" y="1600335"/>
            <a:ext cx="1234440"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II-8: Seguridad</a:t>
            </a:r>
            <a:endParaRPr lang="en-US" sz="750" dirty="0"/>
          </a:p>
        </p:txBody>
      </p:sp>
      <p:sp>
        <p:nvSpPr>
          <p:cNvPr id="38" name="Text 36"/>
          <p:cNvSpPr/>
          <p:nvPr/>
        </p:nvSpPr>
        <p:spPr>
          <a:xfrm>
            <a:off x="2803870" y="1856367"/>
            <a:ext cx="1234440" cy="256032"/>
          </a:xfrm>
          <a:prstGeom prst="rect">
            <a:avLst/>
          </a:prstGeom>
          <a:noFill/>
          <a:ln/>
        </p:spPr>
        <p:txBody>
          <a:bodyPr wrap="square" rtlCol="0" anchor="ctr"/>
          <a:lstStyle/>
          <a:p>
            <a:pPr algn="ctr" indent="0" marL="0">
              <a:buNone/>
            </a:pPr>
            <a:r>
              <a:rPr lang="en-US" sz="600" i="1" dirty="0">
                <a:solidFill>
                  <a:srgbClr val="FFFFFF"/>
                </a:solidFill>
                <a:latin typeface="Atkinson Hyperlegible" pitchFamily="34" charset="0"/>
                <a:ea typeface="Atkinson Hyperlegible" pitchFamily="34" charset="-122"/>
                <a:cs typeface="Atkinson Hyperlegible" pitchFamily="34" charset="-120"/>
              </a:rPr>
              <a:t>Prevention by Design</a:t>
            </a:r>
            <a:endParaRPr lang="en-US" sz="600" dirty="0"/>
          </a:p>
        </p:txBody>
      </p:sp>
      <p:sp>
        <p:nvSpPr>
          <p:cNvPr id="39" name="Shape 37"/>
          <p:cNvSpPr/>
          <p:nvPr/>
        </p:nvSpPr>
        <p:spPr>
          <a:xfrm>
            <a:off x="182880" y="4956048"/>
            <a:ext cx="8961120" cy="182880"/>
          </a:xfrm>
          <a:prstGeom prst="rect">
            <a:avLst/>
          </a:prstGeom>
          <a:solidFill>
            <a:srgbClr val="D4620A"/>
          </a:solidFill>
          <a:ln w="12700">
            <a:solidFill>
              <a:srgbClr val="D4620A"/>
            </a:solidFill>
            <a:prstDash val="solid"/>
          </a:ln>
        </p:spPr>
      </p:sp>
      <p:sp>
        <p:nvSpPr>
          <p:cNvPr id="40" name="Text 38"/>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29 / 126</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D4620A"/>
          </a:solidFill>
          <a:ln w="12700">
            <a:solidFill>
              <a:srgbClr val="D4620A"/>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II-1: Normas de Diseño y Construcción</a:t>
            </a:r>
            <a:endParaRPr lang="en-US" sz="1800" dirty="0"/>
          </a:p>
        </p:txBody>
      </p:sp>
      <p:sp>
        <p:nvSpPr>
          <p:cNvPr id="4" name="Shape 2"/>
          <p:cNvSpPr/>
          <p:nvPr/>
        </p:nvSpPr>
        <p:spPr>
          <a:xfrm>
            <a:off x="320040" y="640080"/>
            <a:ext cx="8503920" cy="41148"/>
          </a:xfrm>
          <a:prstGeom prst="rect">
            <a:avLst/>
          </a:prstGeom>
          <a:solidFill>
            <a:srgbClr val="D4620A"/>
          </a:solidFill>
          <a:ln w="12700">
            <a:solidFill>
              <a:srgbClr val="D4620A"/>
            </a:solidFill>
            <a:prstDash val="solid"/>
          </a:ln>
        </p:spPr>
      </p:sp>
      <p:sp>
        <p:nvSpPr>
          <p:cNvPr id="5" name="Shape 3"/>
          <p:cNvSpPr/>
          <p:nvPr/>
        </p:nvSpPr>
        <p:spPr>
          <a:xfrm>
            <a:off x="274320" y="804672"/>
            <a:ext cx="4160520" cy="4114800"/>
          </a:xfrm>
          <a:prstGeom prst="roundRect">
            <a:avLst>
              <a:gd name="adj" fmla="val 2222"/>
            </a:avLst>
          </a:prstGeom>
          <a:solidFill>
            <a:srgbClr val="D4620A"/>
          </a:solidFill>
          <a:ln w="12700">
            <a:solidFill>
              <a:srgbClr val="D4620A"/>
            </a:solidFill>
            <a:prstDash val="solid"/>
          </a:ln>
        </p:spPr>
      </p:sp>
      <p:sp>
        <p:nvSpPr>
          <p:cNvPr id="6" name="Shape 4"/>
          <p:cNvSpPr/>
          <p:nvPr/>
        </p:nvSpPr>
        <p:spPr>
          <a:xfrm>
            <a:off x="274320" y="804672"/>
            <a:ext cx="45720" cy="4114800"/>
          </a:xfrm>
          <a:prstGeom prst="rect">
            <a:avLst/>
          </a:prstGeom>
          <a:solidFill>
            <a:srgbClr val="D4620A"/>
          </a:solidFill>
          <a:ln w="12700">
            <a:solidFill>
              <a:srgbClr val="D4620A"/>
            </a:solidFill>
            <a:prstDash val="solid"/>
          </a:ln>
        </p:spPr>
      </p:sp>
      <p:sp>
        <p:nvSpPr>
          <p:cNvPr id="7" name="Text 5"/>
          <p:cNvSpPr/>
          <p:nvPr/>
        </p:nvSpPr>
        <p:spPr>
          <a:xfrm>
            <a:off x="384048" y="822960"/>
            <a:ext cx="3977640" cy="347472"/>
          </a:xfrm>
          <a:prstGeom prst="rect">
            <a:avLst/>
          </a:prstGeom>
          <a:noFill/>
          <a:ln/>
        </p:spPr>
        <p:txBody>
          <a:bodyPr wrap="square" rtlCol="0" anchor="ctr"/>
          <a:lstStyle/>
          <a:p>
            <a:pPr indent="0" marL="0">
              <a:buNone/>
            </a:pPr>
            <a:r>
              <a:rPr lang="en-US" sz="900" b="1" dirty="0">
                <a:solidFill>
                  <a:srgbClr val="D4620A"/>
                </a:solidFill>
                <a:latin typeface="Atkinson Hyperlegible" pitchFamily="34" charset="0"/>
                <a:ea typeface="Atkinson Hyperlegible" pitchFamily="34" charset="-122"/>
                <a:cs typeface="Atkinson Hyperlegible" pitchFamily="34" charset="-120"/>
              </a:rPr>
              <a:t>El Problema</a:t>
            </a:r>
            <a:endParaRPr lang="en-US" sz="900" dirty="0"/>
          </a:p>
        </p:txBody>
      </p:sp>
      <p:sp>
        <p:nvSpPr>
          <p:cNvPr id="8" name="Shape 6"/>
          <p:cNvSpPr/>
          <p:nvPr/>
        </p:nvSpPr>
        <p:spPr>
          <a:xfrm>
            <a:off x="384048" y="1316736"/>
            <a:ext cx="164592" cy="164592"/>
          </a:xfrm>
          <a:prstGeom prst="ellipse">
            <a:avLst/>
          </a:prstGeom>
          <a:solidFill>
            <a:srgbClr val="D4620A"/>
          </a:solidFill>
          <a:ln w="12700">
            <a:solidFill>
              <a:srgbClr val="D4620A"/>
            </a:solidFill>
            <a:prstDash val="solid"/>
          </a:ln>
        </p:spPr>
      </p:sp>
      <p:sp>
        <p:nvSpPr>
          <p:cNvPr id="9" name="Text 7"/>
          <p:cNvSpPr/>
          <p:nvPr/>
        </p:nvSpPr>
        <p:spPr>
          <a:xfrm>
            <a:off x="612648" y="1234440"/>
            <a:ext cx="365760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Problema sin normas</a:t>
            </a:r>
            <a:endParaRPr lang="en-US" sz="850" dirty="0"/>
          </a:p>
        </p:txBody>
      </p:sp>
      <p:sp>
        <p:nvSpPr>
          <p:cNvPr id="10" name="Text 8"/>
          <p:cNvSpPr/>
          <p:nvPr/>
        </p:nvSpPr>
        <p:spPr>
          <a:xfrm>
            <a:off x="612648" y="1490472"/>
            <a:ext cx="365760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Cada proyecto tiene especificaciones distintas. La curva de aprendizaje del constructor se reinicia.</a:t>
            </a:r>
            <a:endParaRPr lang="en-US" sz="750" dirty="0"/>
          </a:p>
        </p:txBody>
      </p:sp>
      <p:sp>
        <p:nvSpPr>
          <p:cNvPr id="11" name="Shape 9"/>
          <p:cNvSpPr/>
          <p:nvPr/>
        </p:nvSpPr>
        <p:spPr>
          <a:xfrm>
            <a:off x="384048" y="1847088"/>
            <a:ext cx="164592" cy="164592"/>
          </a:xfrm>
          <a:prstGeom prst="ellipse">
            <a:avLst/>
          </a:prstGeom>
          <a:solidFill>
            <a:srgbClr val="D4620A"/>
          </a:solidFill>
          <a:ln w="12700">
            <a:solidFill>
              <a:srgbClr val="D4620A"/>
            </a:solidFill>
            <a:prstDash val="solid"/>
          </a:ln>
        </p:spPr>
      </p:sp>
      <p:sp>
        <p:nvSpPr>
          <p:cNvPr id="12" name="Text 10"/>
          <p:cNvSpPr/>
          <p:nvPr/>
        </p:nvSpPr>
        <p:spPr>
          <a:xfrm>
            <a:off x="612648" y="1764792"/>
            <a:ext cx="365760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Normas constructivas</a:t>
            </a:r>
            <a:endParaRPr lang="en-US" sz="850" dirty="0"/>
          </a:p>
        </p:txBody>
      </p:sp>
      <p:sp>
        <p:nvSpPr>
          <p:cNvPr id="13" name="Text 11"/>
          <p:cNvSpPr/>
          <p:nvPr/>
        </p:nvSpPr>
        <p:spPr>
          <a:xfrm>
            <a:off x="612648" y="2020824"/>
            <a:ext cx="365760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Estándares para juntas, soldaduras, uniones, tolerancias y calidades de materiales en campo.</a:t>
            </a:r>
            <a:endParaRPr lang="en-US" sz="750" dirty="0"/>
          </a:p>
        </p:txBody>
      </p:sp>
      <p:sp>
        <p:nvSpPr>
          <p:cNvPr id="14" name="Shape 12"/>
          <p:cNvSpPr/>
          <p:nvPr/>
        </p:nvSpPr>
        <p:spPr>
          <a:xfrm>
            <a:off x="384048" y="2377440"/>
            <a:ext cx="164592" cy="164592"/>
          </a:xfrm>
          <a:prstGeom prst="ellipse">
            <a:avLst/>
          </a:prstGeom>
          <a:solidFill>
            <a:srgbClr val="D4620A"/>
          </a:solidFill>
          <a:ln w="12700">
            <a:solidFill>
              <a:srgbClr val="D4620A"/>
            </a:solidFill>
            <a:prstDash val="solid"/>
          </a:ln>
        </p:spPr>
      </p:sp>
      <p:sp>
        <p:nvSpPr>
          <p:cNvPr id="15" name="Text 13"/>
          <p:cNvSpPr/>
          <p:nvPr/>
        </p:nvSpPr>
        <p:spPr>
          <a:xfrm>
            <a:off x="612648" y="2295144"/>
            <a:ext cx="365760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Compatibilidad normas</a:t>
            </a:r>
            <a:endParaRPr lang="en-US" sz="850" dirty="0"/>
          </a:p>
        </p:txBody>
      </p:sp>
      <p:sp>
        <p:nvSpPr>
          <p:cNvPr id="16" name="Text 14"/>
          <p:cNvSpPr/>
          <p:nvPr/>
        </p:nvSpPr>
        <p:spPr>
          <a:xfrm>
            <a:off x="612648" y="2551176"/>
            <a:ext cx="365760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Normas de diseño (ASME, API, AISC) deben ser compatibles con normas de construcción en campo.</a:t>
            </a:r>
            <a:endParaRPr lang="en-US" sz="750" dirty="0"/>
          </a:p>
        </p:txBody>
      </p:sp>
      <p:sp>
        <p:nvSpPr>
          <p:cNvPr id="17" name="Shape 15"/>
          <p:cNvSpPr/>
          <p:nvPr/>
        </p:nvSpPr>
        <p:spPr>
          <a:xfrm>
            <a:off x="384048" y="2907792"/>
            <a:ext cx="164592" cy="164592"/>
          </a:xfrm>
          <a:prstGeom prst="ellipse">
            <a:avLst/>
          </a:prstGeom>
          <a:solidFill>
            <a:srgbClr val="D4620A"/>
          </a:solidFill>
          <a:ln w="12700">
            <a:solidFill>
              <a:srgbClr val="D4620A"/>
            </a:solidFill>
            <a:prstDash val="solid"/>
          </a:ln>
        </p:spPr>
      </p:sp>
      <p:sp>
        <p:nvSpPr>
          <p:cNvPr id="18" name="Text 16"/>
          <p:cNvSpPr/>
          <p:nvPr/>
        </p:nvSpPr>
        <p:spPr>
          <a:xfrm>
            <a:off x="612648" y="2825496"/>
            <a:ext cx="365760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Herramienta T-8</a:t>
            </a:r>
            <a:endParaRPr lang="en-US" sz="850" dirty="0"/>
          </a:p>
        </p:txBody>
      </p:sp>
      <p:sp>
        <p:nvSpPr>
          <p:cNvPr id="19" name="Text 17"/>
          <p:cNvSpPr/>
          <p:nvPr/>
        </p:nvSpPr>
        <p:spPr>
          <a:xfrm>
            <a:off x="612648" y="3081528"/>
            <a:ext cx="365760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Design &amp; Construction Norms Review. Verifica que los estándares de ambas disciplinas son coherentes.</a:t>
            </a:r>
            <a:endParaRPr lang="en-US" sz="750" dirty="0"/>
          </a:p>
        </p:txBody>
      </p:sp>
      <p:sp>
        <p:nvSpPr>
          <p:cNvPr id="20" name="Text 18"/>
          <p:cNvSpPr/>
          <p:nvPr/>
        </p:nvSpPr>
        <p:spPr>
          <a:xfrm>
            <a:off x="4617720" y="822960"/>
            <a:ext cx="4251960" cy="347472"/>
          </a:xfrm>
          <a:prstGeom prst="rect">
            <a:avLst/>
          </a:prstGeom>
          <a:noFill/>
          <a:ln/>
        </p:spPr>
        <p:txBody>
          <a:bodyPr wrap="square" rtlCol="0" anchor="ctr"/>
          <a:lstStyle/>
          <a:p>
            <a:pPr indent="0" marL="0">
              <a:buNone/>
            </a:pPr>
            <a:r>
              <a:rPr lang="en-US" sz="900" b="1" dirty="0">
                <a:solidFill>
                  <a:srgbClr val="D4620A"/>
                </a:solidFill>
                <a:latin typeface="Atkinson Hyperlegible" pitchFamily="34" charset="0"/>
                <a:ea typeface="Atkinson Hyperlegible" pitchFamily="34" charset="-122"/>
                <a:cs typeface="Atkinson Hyperlegible" pitchFamily="34" charset="-120"/>
              </a:rPr>
              <a:t>La Solución CII</a:t>
            </a:r>
            <a:endParaRPr lang="en-US" sz="900" dirty="0"/>
          </a:p>
        </p:txBody>
      </p:sp>
      <p:sp>
        <p:nvSpPr>
          <p:cNvPr id="21" name="Shape 19"/>
          <p:cNvSpPr/>
          <p:nvPr/>
        </p:nvSpPr>
        <p:spPr>
          <a:xfrm>
            <a:off x="4617720" y="1316736"/>
            <a:ext cx="164592" cy="164592"/>
          </a:xfrm>
          <a:prstGeom prst="ellipse">
            <a:avLst/>
          </a:prstGeom>
          <a:solidFill>
            <a:srgbClr val="1D1D1F"/>
          </a:solidFill>
          <a:ln w="12700">
            <a:solidFill>
              <a:srgbClr val="1D1D1F"/>
            </a:solidFill>
            <a:prstDash val="solid"/>
          </a:ln>
        </p:spPr>
      </p:sp>
      <p:sp>
        <p:nvSpPr>
          <p:cNvPr id="22" name="Text 20"/>
          <p:cNvSpPr/>
          <p:nvPr/>
        </p:nvSpPr>
        <p:spPr>
          <a:xfrm>
            <a:off x="4846320" y="1234440"/>
            <a:ext cx="384048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Impacto en productividad</a:t>
            </a:r>
            <a:endParaRPr lang="en-US" sz="850" dirty="0"/>
          </a:p>
        </p:txBody>
      </p:sp>
      <p:sp>
        <p:nvSpPr>
          <p:cNvPr id="23" name="Text 21"/>
          <p:cNvSpPr/>
          <p:nvPr/>
        </p:nvSpPr>
        <p:spPr>
          <a:xfrm>
            <a:off x="4846320" y="1490472"/>
            <a:ext cx="384048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Trabajadores que repiten los mismos tipos de conexión producen hasta 35% más que en trabajos variados.</a:t>
            </a:r>
            <a:endParaRPr lang="en-US" sz="750" dirty="0"/>
          </a:p>
        </p:txBody>
      </p:sp>
      <p:sp>
        <p:nvSpPr>
          <p:cNvPr id="24" name="Shape 22"/>
          <p:cNvSpPr/>
          <p:nvPr/>
        </p:nvSpPr>
        <p:spPr>
          <a:xfrm>
            <a:off x="4617720" y="1847088"/>
            <a:ext cx="164592" cy="164592"/>
          </a:xfrm>
          <a:prstGeom prst="ellipse">
            <a:avLst/>
          </a:prstGeom>
          <a:solidFill>
            <a:srgbClr val="1D1D1F"/>
          </a:solidFill>
          <a:ln w="12700">
            <a:solidFill>
              <a:srgbClr val="1D1D1F"/>
            </a:solidFill>
            <a:prstDash val="solid"/>
          </a:ln>
        </p:spPr>
      </p:sp>
      <p:sp>
        <p:nvSpPr>
          <p:cNvPr id="25" name="Text 23"/>
          <p:cNvSpPr/>
          <p:nvPr/>
        </p:nvSpPr>
        <p:spPr>
          <a:xfrm>
            <a:off x="4846320" y="1764792"/>
            <a:ext cx="384048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Base de datos corporativa</a:t>
            </a:r>
            <a:endParaRPr lang="en-US" sz="850" dirty="0"/>
          </a:p>
        </p:txBody>
      </p:sp>
      <p:sp>
        <p:nvSpPr>
          <p:cNvPr id="26" name="Text 24"/>
          <p:cNvSpPr/>
          <p:nvPr/>
        </p:nvSpPr>
        <p:spPr>
          <a:xfrm>
            <a:off x="4846320" y="2020824"/>
            <a:ext cx="384048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Empresa madura: catálogo de normas constructivas actualizadas por cada proyecto.</a:t>
            </a:r>
            <a:endParaRPr lang="en-US" sz="750" dirty="0"/>
          </a:p>
        </p:txBody>
      </p:sp>
      <p:sp>
        <p:nvSpPr>
          <p:cNvPr id="27" name="Shape 25"/>
          <p:cNvSpPr/>
          <p:nvPr/>
        </p:nvSpPr>
        <p:spPr>
          <a:xfrm>
            <a:off x="4617720" y="2377440"/>
            <a:ext cx="164592" cy="164592"/>
          </a:xfrm>
          <a:prstGeom prst="ellipse">
            <a:avLst/>
          </a:prstGeom>
          <a:solidFill>
            <a:srgbClr val="1D1D1F"/>
          </a:solidFill>
          <a:ln w="12700">
            <a:solidFill>
              <a:srgbClr val="1D1D1F"/>
            </a:solidFill>
            <a:prstDash val="solid"/>
          </a:ln>
        </p:spPr>
      </p:sp>
      <p:sp>
        <p:nvSpPr>
          <p:cNvPr id="28" name="Text 26"/>
          <p:cNvSpPr/>
          <p:nvPr/>
        </p:nvSpPr>
        <p:spPr>
          <a:xfrm>
            <a:off x="4846320" y="2295144"/>
            <a:ext cx="384048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Relación con II-2</a:t>
            </a:r>
            <a:endParaRPr lang="en-US" sz="850" dirty="0"/>
          </a:p>
        </p:txBody>
      </p:sp>
      <p:sp>
        <p:nvSpPr>
          <p:cNvPr id="29" name="Text 27"/>
          <p:cNvSpPr/>
          <p:nvPr/>
        </p:nvSpPr>
        <p:spPr>
          <a:xfrm>
            <a:off x="4846320" y="2551176"/>
            <a:ext cx="384048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Las normas facilitan la simplificación del diseño. Van de la mano: estandarizar y simplificar.</a:t>
            </a:r>
            <a:endParaRPr lang="en-US" sz="750" dirty="0"/>
          </a:p>
        </p:txBody>
      </p:sp>
      <p:sp>
        <p:nvSpPr>
          <p:cNvPr id="30" name="Shape 28"/>
          <p:cNvSpPr/>
          <p:nvPr/>
        </p:nvSpPr>
        <p:spPr>
          <a:xfrm>
            <a:off x="4617720" y="2907792"/>
            <a:ext cx="164592" cy="164592"/>
          </a:xfrm>
          <a:prstGeom prst="ellipse">
            <a:avLst/>
          </a:prstGeom>
          <a:solidFill>
            <a:srgbClr val="1D1D1F"/>
          </a:solidFill>
          <a:ln w="12700">
            <a:solidFill>
              <a:srgbClr val="1D1D1F"/>
            </a:solidFill>
            <a:prstDash val="solid"/>
          </a:ln>
        </p:spPr>
      </p:sp>
      <p:sp>
        <p:nvSpPr>
          <p:cNvPr id="31" name="Text 29"/>
          <p:cNvSpPr/>
          <p:nvPr/>
        </p:nvSpPr>
        <p:spPr>
          <a:xfrm>
            <a:off x="4846320" y="2825496"/>
            <a:ext cx="384048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Ejemplo concreto</a:t>
            </a:r>
            <a:endParaRPr lang="en-US" sz="850" dirty="0"/>
          </a:p>
        </p:txBody>
      </p:sp>
      <p:sp>
        <p:nvSpPr>
          <p:cNvPr id="32" name="Text 30"/>
          <p:cNvSpPr/>
          <p:nvPr/>
        </p:nvSpPr>
        <p:spPr>
          <a:xfrm>
            <a:off x="4846320" y="3081528"/>
            <a:ext cx="384048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Unificar diámetros de tuberías en pocos tamaños estándar reduce skids, soportes y conexiones únicas.</a:t>
            </a:r>
            <a:endParaRPr lang="en-US" sz="750" dirty="0"/>
          </a:p>
        </p:txBody>
      </p:sp>
      <p:sp>
        <p:nvSpPr>
          <p:cNvPr id="33" name="Shape 31"/>
          <p:cNvSpPr/>
          <p:nvPr/>
        </p:nvSpPr>
        <p:spPr>
          <a:xfrm>
            <a:off x="182880" y="4956048"/>
            <a:ext cx="8961120" cy="182880"/>
          </a:xfrm>
          <a:prstGeom prst="rect">
            <a:avLst/>
          </a:prstGeom>
          <a:solidFill>
            <a:srgbClr val="D4620A"/>
          </a:solidFill>
          <a:ln w="12700">
            <a:solidFill>
              <a:srgbClr val="D4620A"/>
            </a:solidFill>
            <a:prstDash val="solid"/>
          </a:ln>
        </p:spPr>
      </p:sp>
      <p:sp>
        <p:nvSpPr>
          <p:cNvPr id="34" name="Text 32"/>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30 / 126</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D4620A"/>
          </a:solidFill>
          <a:ln w="12700">
            <a:solidFill>
              <a:srgbClr val="D4620A"/>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II-2: Diseño Simplificado</a:t>
            </a:r>
            <a:endParaRPr lang="en-US" sz="1800" dirty="0"/>
          </a:p>
        </p:txBody>
      </p:sp>
      <p:sp>
        <p:nvSpPr>
          <p:cNvPr id="4" name="Shape 2"/>
          <p:cNvSpPr/>
          <p:nvPr/>
        </p:nvSpPr>
        <p:spPr>
          <a:xfrm>
            <a:off x="320040" y="640080"/>
            <a:ext cx="8503920" cy="41148"/>
          </a:xfrm>
          <a:prstGeom prst="rect">
            <a:avLst/>
          </a:prstGeom>
          <a:solidFill>
            <a:srgbClr val="D4620A"/>
          </a:solidFill>
          <a:ln w="12700">
            <a:solidFill>
              <a:srgbClr val="D4620A"/>
            </a:solidFill>
            <a:prstDash val="solid"/>
          </a:ln>
        </p:spPr>
      </p:sp>
      <p:sp>
        <p:nvSpPr>
          <p:cNvPr id="5" name="Shape 3"/>
          <p:cNvSpPr/>
          <p:nvPr/>
        </p:nvSpPr>
        <p:spPr>
          <a:xfrm>
            <a:off x="320040" y="804672"/>
            <a:ext cx="2724912" cy="1943100"/>
          </a:xfrm>
          <a:prstGeom prst="roundRect">
            <a:avLst>
              <a:gd name="adj" fmla="val 4235"/>
            </a:avLst>
          </a:prstGeom>
          <a:solidFill>
            <a:srgbClr val="D4620A"/>
          </a:solidFill>
          <a:ln w="19050">
            <a:solidFill>
              <a:srgbClr val="D4620A"/>
            </a:solidFill>
            <a:prstDash val="solid"/>
          </a:ln>
        </p:spPr>
      </p:sp>
      <p:sp>
        <p:nvSpPr>
          <p:cNvPr id="6" name="Shape 4"/>
          <p:cNvSpPr/>
          <p:nvPr/>
        </p:nvSpPr>
        <p:spPr>
          <a:xfrm>
            <a:off x="320040" y="804672"/>
            <a:ext cx="2724912" cy="54864"/>
          </a:xfrm>
          <a:prstGeom prst="rect">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8056" y="932688"/>
            <a:ext cx="365760" cy="365760"/>
          </a:xfrm>
          <a:prstGeom prst="rect">
            <a:avLst/>
          </a:prstGeom>
        </p:spPr>
      </p:pic>
      <p:sp>
        <p:nvSpPr>
          <p:cNvPr id="8" name="Text 5"/>
          <p:cNvSpPr/>
          <p:nvPr/>
        </p:nvSpPr>
        <p:spPr>
          <a:xfrm>
            <a:off x="868680"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Reducir Complejidad</a:t>
            </a:r>
            <a:endParaRPr lang="en-US" sz="850" dirty="0"/>
          </a:p>
        </p:txBody>
      </p:sp>
      <p:sp>
        <p:nvSpPr>
          <p:cNvPr id="9" name="Text 6"/>
          <p:cNvSpPr/>
          <p:nvPr/>
        </p:nvSpPr>
        <p:spPr>
          <a:xfrm>
            <a:off x="429768"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Eliminar elementos de diseño innecesarios. Cada conexión especial es una oportunidad de error.</a:t>
            </a:r>
            <a:endParaRPr lang="en-US" sz="750" dirty="0"/>
          </a:p>
        </p:txBody>
      </p:sp>
      <p:sp>
        <p:nvSpPr>
          <p:cNvPr id="10" name="Shape 7"/>
          <p:cNvSpPr/>
          <p:nvPr/>
        </p:nvSpPr>
        <p:spPr>
          <a:xfrm>
            <a:off x="3209544" y="804672"/>
            <a:ext cx="2724912" cy="1943100"/>
          </a:xfrm>
          <a:prstGeom prst="roundRect">
            <a:avLst>
              <a:gd name="adj" fmla="val 4235"/>
            </a:avLst>
          </a:prstGeom>
          <a:solidFill>
            <a:srgbClr val="FFFFFF"/>
          </a:solidFill>
          <a:ln w="19050">
            <a:solidFill>
              <a:srgbClr val="D4620A"/>
            </a:solidFill>
            <a:prstDash val="solid"/>
          </a:ln>
        </p:spPr>
      </p:sp>
      <p:sp>
        <p:nvSpPr>
          <p:cNvPr id="11" name="Shape 8"/>
          <p:cNvSpPr/>
          <p:nvPr/>
        </p:nvSpPr>
        <p:spPr>
          <a:xfrm>
            <a:off x="3209544" y="804672"/>
            <a:ext cx="2724912" cy="54864"/>
          </a:xfrm>
          <a:prstGeom prst="rect">
            <a:avLst/>
          </a:prstGeom>
          <a:solidFill>
            <a:srgbClr val="D4620A"/>
          </a:solidFill>
          <a:ln w="12700">
            <a:solidFill>
              <a:srgbClr val="D4620A"/>
            </a:solidFill>
            <a:prstDash val="solid"/>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37560" y="932688"/>
            <a:ext cx="365760" cy="365760"/>
          </a:xfrm>
          <a:prstGeom prst="rect">
            <a:avLst/>
          </a:prstGeom>
        </p:spPr>
      </p:pic>
      <p:sp>
        <p:nvSpPr>
          <p:cNvPr id="13" name="Text 9"/>
          <p:cNvSpPr/>
          <p:nvPr/>
        </p:nvSpPr>
        <p:spPr>
          <a:xfrm>
            <a:off x="3758184" y="914400"/>
            <a:ext cx="2066544" cy="347472"/>
          </a:xfrm>
          <a:prstGeom prst="rect">
            <a:avLst/>
          </a:prstGeom>
          <a:noFill/>
          <a:ln/>
        </p:spPr>
        <p:txBody>
          <a:bodyPr wrap="square" rtlCol="0" anchor="ctr"/>
          <a:lstStyle/>
          <a:p>
            <a:pPr indent="0" marL="0">
              <a:buNone/>
            </a:pPr>
            <a:r>
              <a:rPr lang="en-US" sz="850" b="1" dirty="0">
                <a:solidFill>
                  <a:srgbClr val="D4620A"/>
                </a:solidFill>
                <a:latin typeface="Atkinson Hyperlegible" pitchFamily="34" charset="0"/>
                <a:ea typeface="Atkinson Hyperlegible" pitchFamily="34" charset="-122"/>
                <a:cs typeface="Atkinson Hyperlegible" pitchFamily="34" charset="-120"/>
              </a:rPr>
              <a:t>Componentes Repetitivos</a:t>
            </a:r>
            <a:endParaRPr lang="en-US" sz="850" dirty="0"/>
          </a:p>
        </p:txBody>
      </p:sp>
      <p:sp>
        <p:nvSpPr>
          <p:cNvPr id="14" name="Text 10"/>
          <p:cNvSpPr/>
          <p:nvPr/>
        </p:nvSpPr>
        <p:spPr>
          <a:xfrm>
            <a:off x="3319272" y="131673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Diseñar con componentes estándar y repetibles. Reducción en tipos de materiales = reducción en errores.</a:t>
            </a:r>
            <a:endParaRPr lang="en-US" sz="750" dirty="0"/>
          </a:p>
        </p:txBody>
      </p:sp>
      <p:sp>
        <p:nvSpPr>
          <p:cNvPr id="15" name="Shape 11"/>
          <p:cNvSpPr/>
          <p:nvPr/>
        </p:nvSpPr>
        <p:spPr>
          <a:xfrm>
            <a:off x="6099048" y="804672"/>
            <a:ext cx="2724912" cy="1943100"/>
          </a:xfrm>
          <a:prstGeom prst="roundRect">
            <a:avLst>
              <a:gd name="adj" fmla="val 4235"/>
            </a:avLst>
          </a:prstGeom>
          <a:solidFill>
            <a:srgbClr val="D4620A"/>
          </a:solidFill>
          <a:ln w="19050">
            <a:solidFill>
              <a:srgbClr val="D4620A"/>
            </a:solidFill>
            <a:prstDash val="solid"/>
          </a:ln>
        </p:spPr>
      </p:sp>
      <p:sp>
        <p:nvSpPr>
          <p:cNvPr id="16" name="Shape 12"/>
          <p:cNvSpPr/>
          <p:nvPr/>
        </p:nvSpPr>
        <p:spPr>
          <a:xfrm>
            <a:off x="6099048" y="804672"/>
            <a:ext cx="2724912" cy="54864"/>
          </a:xfrm>
          <a:prstGeom prst="rect">
            <a:avLst/>
          </a:prstGeom>
          <a:solidFill>
            <a:srgbClr val="FFFFFF"/>
          </a:solidFill>
          <a:ln w="12700">
            <a:solidFill>
              <a:srgbClr val="FFFFFF"/>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27064" y="932688"/>
            <a:ext cx="365760" cy="365760"/>
          </a:xfrm>
          <a:prstGeom prst="rect">
            <a:avLst/>
          </a:prstGeom>
        </p:spPr>
      </p:pic>
      <p:sp>
        <p:nvSpPr>
          <p:cNvPr id="18" name="Text 13"/>
          <p:cNvSpPr/>
          <p:nvPr/>
        </p:nvSpPr>
        <p:spPr>
          <a:xfrm>
            <a:off x="6647688"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Acceso de Mantenimiento</a:t>
            </a:r>
            <a:endParaRPr lang="en-US" sz="850" dirty="0"/>
          </a:p>
        </p:txBody>
      </p:sp>
      <p:sp>
        <p:nvSpPr>
          <p:cNvPr id="19" name="Text 14"/>
          <p:cNvSpPr/>
          <p:nvPr/>
        </p:nvSpPr>
        <p:spPr>
          <a:xfrm>
            <a:off x="6208776"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Diseñar pensando en la vida útil. Accesos para mantenimiento desde el primer diseño.</a:t>
            </a:r>
            <a:endParaRPr lang="en-US" sz="750" dirty="0"/>
          </a:p>
        </p:txBody>
      </p:sp>
      <p:sp>
        <p:nvSpPr>
          <p:cNvPr id="20" name="Shape 15"/>
          <p:cNvSpPr/>
          <p:nvPr/>
        </p:nvSpPr>
        <p:spPr>
          <a:xfrm>
            <a:off x="320040" y="2884932"/>
            <a:ext cx="2724912" cy="1943100"/>
          </a:xfrm>
          <a:prstGeom prst="roundRect">
            <a:avLst>
              <a:gd name="adj" fmla="val 4235"/>
            </a:avLst>
          </a:prstGeom>
          <a:solidFill>
            <a:srgbClr val="FFFFFF"/>
          </a:solidFill>
          <a:ln w="19050">
            <a:solidFill>
              <a:srgbClr val="D4620A"/>
            </a:solidFill>
            <a:prstDash val="solid"/>
          </a:ln>
        </p:spPr>
      </p:sp>
      <p:sp>
        <p:nvSpPr>
          <p:cNvPr id="21" name="Shape 16"/>
          <p:cNvSpPr/>
          <p:nvPr/>
        </p:nvSpPr>
        <p:spPr>
          <a:xfrm>
            <a:off x="320040" y="2884932"/>
            <a:ext cx="2724912" cy="54864"/>
          </a:xfrm>
          <a:prstGeom prst="rect">
            <a:avLst/>
          </a:prstGeom>
          <a:solidFill>
            <a:srgbClr val="D4620A"/>
          </a:solidFill>
          <a:ln w="12700">
            <a:solidFill>
              <a:srgbClr val="D4620A"/>
            </a:solidFill>
            <a:prstDash val="solid"/>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8056" y="3012948"/>
            <a:ext cx="365760" cy="365760"/>
          </a:xfrm>
          <a:prstGeom prst="rect">
            <a:avLst/>
          </a:prstGeom>
        </p:spPr>
      </p:pic>
      <p:sp>
        <p:nvSpPr>
          <p:cNvPr id="23" name="Text 17"/>
          <p:cNvSpPr/>
          <p:nvPr/>
        </p:nvSpPr>
        <p:spPr>
          <a:xfrm>
            <a:off x="868680" y="2994660"/>
            <a:ext cx="2066544" cy="347472"/>
          </a:xfrm>
          <a:prstGeom prst="rect">
            <a:avLst/>
          </a:prstGeom>
          <a:noFill/>
          <a:ln/>
        </p:spPr>
        <p:txBody>
          <a:bodyPr wrap="square" rtlCol="0" anchor="ctr"/>
          <a:lstStyle/>
          <a:p>
            <a:pPr indent="0" marL="0">
              <a:buNone/>
            </a:pPr>
            <a:r>
              <a:rPr lang="en-US" sz="850" b="1" dirty="0">
                <a:solidFill>
                  <a:srgbClr val="D4620A"/>
                </a:solidFill>
                <a:latin typeface="Atkinson Hyperlegible" pitchFamily="34" charset="0"/>
                <a:ea typeface="Atkinson Hyperlegible" pitchFamily="34" charset="-122"/>
                <a:cs typeface="Atkinson Hyperlegible" pitchFamily="34" charset="-120"/>
              </a:rPr>
              <a:t>Integración Interdisciplinaria</a:t>
            </a:r>
            <a:endParaRPr lang="en-US" sz="850" dirty="0"/>
          </a:p>
        </p:txBody>
      </p:sp>
      <p:sp>
        <p:nvSpPr>
          <p:cNvPr id="24" name="Text 18"/>
          <p:cNvSpPr/>
          <p:nvPr/>
        </p:nvSpPr>
        <p:spPr>
          <a:xfrm>
            <a:off x="429768"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Resolver interferencias estructura-tubería-instrumentación-eléctrico en el modelo, no en campo.</a:t>
            </a:r>
            <a:endParaRPr lang="en-US" sz="750" dirty="0"/>
          </a:p>
        </p:txBody>
      </p:sp>
      <p:sp>
        <p:nvSpPr>
          <p:cNvPr id="25" name="Shape 19"/>
          <p:cNvSpPr/>
          <p:nvPr/>
        </p:nvSpPr>
        <p:spPr>
          <a:xfrm>
            <a:off x="3209544" y="2884932"/>
            <a:ext cx="2724912" cy="1943100"/>
          </a:xfrm>
          <a:prstGeom prst="roundRect">
            <a:avLst>
              <a:gd name="adj" fmla="val 4235"/>
            </a:avLst>
          </a:prstGeom>
          <a:solidFill>
            <a:srgbClr val="D4620A"/>
          </a:solidFill>
          <a:ln w="19050">
            <a:solidFill>
              <a:srgbClr val="D4620A"/>
            </a:solidFill>
            <a:prstDash val="solid"/>
          </a:ln>
        </p:spPr>
      </p:sp>
      <p:sp>
        <p:nvSpPr>
          <p:cNvPr id="26" name="Shape 20"/>
          <p:cNvSpPr/>
          <p:nvPr/>
        </p:nvSpPr>
        <p:spPr>
          <a:xfrm>
            <a:off x="3209544" y="2884932"/>
            <a:ext cx="2724912" cy="54864"/>
          </a:xfrm>
          <a:prstGeom prst="rect">
            <a:avLst/>
          </a:prstGeom>
          <a:solidFill>
            <a:srgbClr val="FFFFFF"/>
          </a:solidFill>
          <a:ln w="12700">
            <a:solidFill>
              <a:srgbClr val="FFFFFF"/>
            </a:solidFill>
            <a:prstDash val="solid"/>
          </a:ln>
        </p:spPr>
      </p:sp>
      <p:pic>
        <p:nvPicPr>
          <p:cNvPr id="2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37560" y="3012948"/>
            <a:ext cx="365760" cy="365760"/>
          </a:xfrm>
          <a:prstGeom prst="rect">
            <a:avLst/>
          </a:prstGeom>
        </p:spPr>
      </p:pic>
      <p:sp>
        <p:nvSpPr>
          <p:cNvPr id="28" name="Text 21"/>
          <p:cNvSpPr/>
          <p:nvPr/>
        </p:nvSpPr>
        <p:spPr>
          <a:xfrm>
            <a:off x="3758184" y="299466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Modularización</a:t>
            </a:r>
            <a:endParaRPr lang="en-US" sz="850" dirty="0"/>
          </a:p>
        </p:txBody>
      </p:sp>
      <p:sp>
        <p:nvSpPr>
          <p:cNvPr id="29" name="Text 22"/>
          <p:cNvSpPr/>
          <p:nvPr/>
        </p:nvSpPr>
        <p:spPr>
          <a:xfrm>
            <a:off x="3319272" y="339699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Dividir la planta en módulos que se pueden fabricar y transportar. Reduce trabajo en altura y campo abierto.</a:t>
            </a:r>
            <a:endParaRPr lang="en-US" sz="750" dirty="0"/>
          </a:p>
        </p:txBody>
      </p:sp>
      <p:sp>
        <p:nvSpPr>
          <p:cNvPr id="30" name="Shape 23"/>
          <p:cNvSpPr/>
          <p:nvPr/>
        </p:nvSpPr>
        <p:spPr>
          <a:xfrm>
            <a:off x="6099048" y="2884932"/>
            <a:ext cx="2724912" cy="1943100"/>
          </a:xfrm>
          <a:prstGeom prst="roundRect">
            <a:avLst>
              <a:gd name="adj" fmla="val 4235"/>
            </a:avLst>
          </a:prstGeom>
          <a:solidFill>
            <a:srgbClr val="FFFFFF"/>
          </a:solidFill>
          <a:ln w="19050">
            <a:solidFill>
              <a:srgbClr val="D4620A"/>
            </a:solidFill>
            <a:prstDash val="solid"/>
          </a:ln>
        </p:spPr>
      </p:sp>
      <p:sp>
        <p:nvSpPr>
          <p:cNvPr id="31" name="Shape 24"/>
          <p:cNvSpPr/>
          <p:nvPr/>
        </p:nvSpPr>
        <p:spPr>
          <a:xfrm>
            <a:off x="6099048" y="2884932"/>
            <a:ext cx="2724912" cy="54864"/>
          </a:xfrm>
          <a:prstGeom prst="rect">
            <a:avLst/>
          </a:prstGeom>
          <a:solidFill>
            <a:srgbClr val="D4620A"/>
          </a:solidFill>
          <a:ln w="12700">
            <a:solidFill>
              <a:srgbClr val="D4620A"/>
            </a:solidFill>
            <a:prstDash val="solid"/>
          </a:ln>
        </p:spPr>
      </p:sp>
      <p:pic>
        <p:nvPicPr>
          <p:cNvPr id="3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27064" y="3012948"/>
            <a:ext cx="365760" cy="365760"/>
          </a:xfrm>
          <a:prstGeom prst="rect">
            <a:avLst/>
          </a:prstGeom>
        </p:spPr>
      </p:pic>
      <p:sp>
        <p:nvSpPr>
          <p:cNvPr id="33" name="Text 25"/>
          <p:cNvSpPr/>
          <p:nvPr/>
        </p:nvSpPr>
        <p:spPr>
          <a:xfrm>
            <a:off x="6647688" y="2994660"/>
            <a:ext cx="2066544" cy="347472"/>
          </a:xfrm>
          <a:prstGeom prst="rect">
            <a:avLst/>
          </a:prstGeom>
          <a:noFill/>
          <a:ln/>
        </p:spPr>
        <p:txBody>
          <a:bodyPr wrap="square" rtlCol="0" anchor="ctr"/>
          <a:lstStyle/>
          <a:p>
            <a:pPr indent="0" marL="0">
              <a:buNone/>
            </a:pPr>
            <a:r>
              <a:rPr lang="en-US" sz="850" b="1" dirty="0">
                <a:solidFill>
                  <a:srgbClr val="D4620A"/>
                </a:solidFill>
                <a:latin typeface="Atkinson Hyperlegible" pitchFamily="34" charset="0"/>
                <a:ea typeface="Atkinson Hyperlegible" pitchFamily="34" charset="-122"/>
                <a:cs typeface="Atkinson Hyperlegible" pitchFamily="34" charset="-120"/>
              </a:rPr>
              <a:t>Métrica de Simplicidad</a:t>
            </a:r>
            <a:endParaRPr lang="en-US" sz="850" dirty="0"/>
          </a:p>
        </p:txBody>
      </p:sp>
      <p:sp>
        <p:nvSpPr>
          <p:cNvPr id="34" name="Text 26"/>
          <p:cNvSpPr/>
          <p:nvPr/>
        </p:nvSpPr>
        <p:spPr>
          <a:xfrm>
            <a:off x="6208776"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CII Tool T-9: mide el índice de complejidad del diseño. Objetivo: minimizar conexiones no estándar.</a:t>
            </a:r>
            <a:endParaRPr lang="en-US" sz="750" dirty="0"/>
          </a:p>
        </p:txBody>
      </p:sp>
      <p:sp>
        <p:nvSpPr>
          <p:cNvPr id="35" name="Shape 27"/>
          <p:cNvSpPr/>
          <p:nvPr/>
        </p:nvSpPr>
        <p:spPr>
          <a:xfrm>
            <a:off x="182880" y="4956048"/>
            <a:ext cx="8961120" cy="182880"/>
          </a:xfrm>
          <a:prstGeom prst="rect">
            <a:avLst/>
          </a:prstGeom>
          <a:solidFill>
            <a:srgbClr val="D4620A"/>
          </a:solidFill>
          <a:ln w="12700">
            <a:solidFill>
              <a:srgbClr val="D4620A"/>
            </a:solidFill>
            <a:prstDash val="solid"/>
          </a:ln>
        </p:spPr>
      </p:sp>
      <p:sp>
        <p:nvSpPr>
          <p:cNvPr id="36" name="Text 28"/>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31 / 126</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D4620A"/>
          </a:solidFill>
          <a:ln w="12700">
            <a:solidFill>
              <a:srgbClr val="D4620A"/>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II-3: Especificaciones Estándar</a:t>
            </a:r>
            <a:endParaRPr lang="en-US" sz="1800" dirty="0"/>
          </a:p>
        </p:txBody>
      </p:sp>
      <p:sp>
        <p:nvSpPr>
          <p:cNvPr id="4" name="Shape 2"/>
          <p:cNvSpPr/>
          <p:nvPr/>
        </p:nvSpPr>
        <p:spPr>
          <a:xfrm>
            <a:off x="320040" y="640080"/>
            <a:ext cx="8503920" cy="41148"/>
          </a:xfrm>
          <a:prstGeom prst="rect">
            <a:avLst/>
          </a:prstGeom>
          <a:solidFill>
            <a:srgbClr val="D4620A"/>
          </a:solidFill>
          <a:ln w="12700">
            <a:solidFill>
              <a:srgbClr val="D4620A"/>
            </a:solidFill>
            <a:prstDash val="solid"/>
          </a:ln>
        </p:spPr>
      </p:sp>
      <p:sp>
        <p:nvSpPr>
          <p:cNvPr id="5" name="Shape 3"/>
          <p:cNvSpPr/>
          <p:nvPr/>
        </p:nvSpPr>
        <p:spPr>
          <a:xfrm>
            <a:off x="274320" y="804672"/>
            <a:ext cx="4160520" cy="4114800"/>
          </a:xfrm>
          <a:prstGeom prst="roundRect">
            <a:avLst>
              <a:gd name="adj" fmla="val 2222"/>
            </a:avLst>
          </a:prstGeom>
          <a:solidFill>
            <a:srgbClr val="D4620A"/>
          </a:solidFill>
          <a:ln w="12700">
            <a:solidFill>
              <a:srgbClr val="D4620A"/>
            </a:solidFill>
            <a:prstDash val="solid"/>
          </a:ln>
        </p:spPr>
      </p:sp>
      <p:sp>
        <p:nvSpPr>
          <p:cNvPr id="6" name="Shape 4"/>
          <p:cNvSpPr/>
          <p:nvPr/>
        </p:nvSpPr>
        <p:spPr>
          <a:xfrm>
            <a:off x="274320" y="804672"/>
            <a:ext cx="45720" cy="4114800"/>
          </a:xfrm>
          <a:prstGeom prst="rect">
            <a:avLst/>
          </a:prstGeom>
          <a:solidFill>
            <a:srgbClr val="D4620A"/>
          </a:solidFill>
          <a:ln w="12700">
            <a:solidFill>
              <a:srgbClr val="D4620A"/>
            </a:solidFill>
            <a:prstDash val="solid"/>
          </a:ln>
        </p:spPr>
      </p:sp>
      <p:sp>
        <p:nvSpPr>
          <p:cNvPr id="7" name="Text 5"/>
          <p:cNvSpPr/>
          <p:nvPr/>
        </p:nvSpPr>
        <p:spPr>
          <a:xfrm>
            <a:off x="384048" y="822960"/>
            <a:ext cx="3977640" cy="347472"/>
          </a:xfrm>
          <a:prstGeom prst="rect">
            <a:avLst/>
          </a:prstGeom>
          <a:noFill/>
          <a:ln/>
        </p:spPr>
        <p:txBody>
          <a:bodyPr wrap="square" rtlCol="0" anchor="ctr"/>
          <a:lstStyle/>
          <a:p>
            <a:pPr indent="0" marL="0">
              <a:buNone/>
            </a:pPr>
            <a:r>
              <a:rPr lang="en-US" sz="900" b="1" dirty="0">
                <a:solidFill>
                  <a:srgbClr val="D4620A"/>
                </a:solidFill>
                <a:latin typeface="Atkinson Hyperlegible" pitchFamily="34" charset="0"/>
                <a:ea typeface="Atkinson Hyperlegible" pitchFamily="34" charset="-122"/>
                <a:cs typeface="Atkinson Hyperlegible" pitchFamily="34" charset="-120"/>
              </a:rPr>
              <a:t>Concepto II-3</a:t>
            </a:r>
            <a:endParaRPr lang="en-US" sz="900" dirty="0"/>
          </a:p>
        </p:txBody>
      </p:sp>
      <p:sp>
        <p:nvSpPr>
          <p:cNvPr id="8" name="Shape 6"/>
          <p:cNvSpPr/>
          <p:nvPr/>
        </p:nvSpPr>
        <p:spPr>
          <a:xfrm>
            <a:off x="384048" y="1316736"/>
            <a:ext cx="164592" cy="164592"/>
          </a:xfrm>
          <a:prstGeom prst="ellipse">
            <a:avLst/>
          </a:prstGeom>
          <a:solidFill>
            <a:srgbClr val="D4620A"/>
          </a:solidFill>
          <a:ln w="12700">
            <a:solidFill>
              <a:srgbClr val="D4620A"/>
            </a:solidFill>
            <a:prstDash val="solid"/>
          </a:ln>
        </p:spPr>
      </p:sp>
      <p:sp>
        <p:nvSpPr>
          <p:cNvPr id="9" name="Text 7"/>
          <p:cNvSpPr/>
          <p:nvPr/>
        </p:nvSpPr>
        <p:spPr>
          <a:xfrm>
            <a:off x="612648" y="1234440"/>
            <a:ext cx="365760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¿Qué son?</a:t>
            </a:r>
            <a:endParaRPr lang="en-US" sz="850" dirty="0"/>
          </a:p>
        </p:txBody>
      </p:sp>
      <p:sp>
        <p:nvSpPr>
          <p:cNvPr id="10" name="Text 8"/>
          <p:cNvSpPr/>
          <p:nvPr/>
        </p:nvSpPr>
        <p:spPr>
          <a:xfrm>
            <a:off x="612648" y="1490472"/>
            <a:ext cx="365760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Especificaciones técnicas reutilizables, probadas en proyectos anteriores, con lenguaje claro para constructores.</a:t>
            </a:r>
            <a:endParaRPr lang="en-US" sz="750" dirty="0"/>
          </a:p>
        </p:txBody>
      </p:sp>
      <p:sp>
        <p:nvSpPr>
          <p:cNvPr id="11" name="Shape 9"/>
          <p:cNvSpPr/>
          <p:nvPr/>
        </p:nvSpPr>
        <p:spPr>
          <a:xfrm>
            <a:off x="384048" y="1847088"/>
            <a:ext cx="164592" cy="164592"/>
          </a:xfrm>
          <a:prstGeom prst="ellipse">
            <a:avLst/>
          </a:prstGeom>
          <a:solidFill>
            <a:srgbClr val="D4620A"/>
          </a:solidFill>
          <a:ln w="12700">
            <a:solidFill>
              <a:srgbClr val="D4620A"/>
            </a:solidFill>
            <a:prstDash val="solid"/>
          </a:ln>
        </p:spPr>
      </p:sp>
      <p:sp>
        <p:nvSpPr>
          <p:cNvPr id="12" name="Text 10"/>
          <p:cNvSpPr/>
          <p:nvPr/>
        </p:nvSpPr>
        <p:spPr>
          <a:xfrm>
            <a:off x="612648" y="1764792"/>
            <a:ext cx="365760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Ventaja principal</a:t>
            </a:r>
            <a:endParaRPr lang="en-US" sz="850" dirty="0"/>
          </a:p>
        </p:txBody>
      </p:sp>
      <p:sp>
        <p:nvSpPr>
          <p:cNvPr id="13" name="Text 11"/>
          <p:cNvSpPr/>
          <p:nvPr/>
        </p:nvSpPr>
        <p:spPr>
          <a:xfrm>
            <a:off x="612648" y="2020824"/>
            <a:ext cx="365760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El constructor ya conoce las especificaciones. Menor curva de aprendizaje, menor riesgo de no conformidades.</a:t>
            </a:r>
            <a:endParaRPr lang="en-US" sz="750" dirty="0"/>
          </a:p>
        </p:txBody>
      </p:sp>
      <p:sp>
        <p:nvSpPr>
          <p:cNvPr id="14" name="Shape 12"/>
          <p:cNvSpPr/>
          <p:nvPr/>
        </p:nvSpPr>
        <p:spPr>
          <a:xfrm>
            <a:off x="384048" y="2377440"/>
            <a:ext cx="164592" cy="164592"/>
          </a:xfrm>
          <a:prstGeom prst="ellipse">
            <a:avLst/>
          </a:prstGeom>
          <a:solidFill>
            <a:srgbClr val="D4620A"/>
          </a:solidFill>
          <a:ln w="12700">
            <a:solidFill>
              <a:srgbClr val="D4620A"/>
            </a:solidFill>
            <a:prstDash val="solid"/>
          </a:ln>
        </p:spPr>
      </p:sp>
      <p:sp>
        <p:nvSpPr>
          <p:cNvPr id="15" name="Text 13"/>
          <p:cNvSpPr/>
          <p:nvPr/>
        </p:nvSpPr>
        <p:spPr>
          <a:xfrm>
            <a:off x="612648" y="2295144"/>
            <a:ext cx="365760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Actualización sistemática</a:t>
            </a:r>
            <a:endParaRPr lang="en-US" sz="850" dirty="0"/>
          </a:p>
        </p:txBody>
      </p:sp>
      <p:sp>
        <p:nvSpPr>
          <p:cNvPr id="16" name="Text 14"/>
          <p:cNvSpPr/>
          <p:nvPr/>
        </p:nvSpPr>
        <p:spPr>
          <a:xfrm>
            <a:off x="612648" y="2551176"/>
            <a:ext cx="365760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Cada proyecto retroalimenta la base de especificaciones estándar. Mejora continua corporativa.</a:t>
            </a:r>
            <a:endParaRPr lang="en-US" sz="750" dirty="0"/>
          </a:p>
        </p:txBody>
      </p:sp>
      <p:sp>
        <p:nvSpPr>
          <p:cNvPr id="17" name="Shape 15"/>
          <p:cNvSpPr/>
          <p:nvPr/>
        </p:nvSpPr>
        <p:spPr>
          <a:xfrm>
            <a:off x="384048" y="2907792"/>
            <a:ext cx="164592" cy="164592"/>
          </a:xfrm>
          <a:prstGeom prst="ellipse">
            <a:avLst/>
          </a:prstGeom>
          <a:solidFill>
            <a:srgbClr val="D4620A"/>
          </a:solidFill>
          <a:ln w="12700">
            <a:solidFill>
              <a:srgbClr val="D4620A"/>
            </a:solidFill>
            <a:prstDash val="solid"/>
          </a:ln>
        </p:spPr>
      </p:sp>
      <p:sp>
        <p:nvSpPr>
          <p:cNvPr id="18" name="Text 16"/>
          <p:cNvSpPr/>
          <p:nvPr/>
        </p:nvSpPr>
        <p:spPr>
          <a:xfrm>
            <a:off x="612648" y="2825496"/>
            <a:ext cx="365760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LLDB como fuente</a:t>
            </a:r>
            <a:endParaRPr lang="en-US" sz="850" dirty="0"/>
          </a:p>
        </p:txBody>
      </p:sp>
      <p:sp>
        <p:nvSpPr>
          <p:cNvPr id="19" name="Text 17"/>
          <p:cNvSpPr/>
          <p:nvPr/>
        </p:nvSpPr>
        <p:spPr>
          <a:xfrm>
            <a:off x="612648" y="3081528"/>
            <a:ext cx="365760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Las lecciones aprendidas sobre especificaciones problemáticas alimentan la revisión de estándares.</a:t>
            </a:r>
            <a:endParaRPr lang="en-US" sz="750" dirty="0"/>
          </a:p>
        </p:txBody>
      </p:sp>
      <p:sp>
        <p:nvSpPr>
          <p:cNvPr id="20" name="Text 18"/>
          <p:cNvSpPr/>
          <p:nvPr/>
        </p:nvSpPr>
        <p:spPr>
          <a:xfrm>
            <a:off x="4617720" y="822960"/>
            <a:ext cx="4251960" cy="347472"/>
          </a:xfrm>
          <a:prstGeom prst="rect">
            <a:avLst/>
          </a:prstGeom>
          <a:noFill/>
          <a:ln/>
        </p:spPr>
        <p:txBody>
          <a:bodyPr wrap="square" rtlCol="0" anchor="ctr"/>
          <a:lstStyle/>
          <a:p>
            <a:pPr indent="0" marL="0">
              <a:buNone/>
            </a:pPr>
            <a:r>
              <a:rPr lang="en-US" sz="900" b="1" dirty="0">
                <a:solidFill>
                  <a:srgbClr val="D4620A"/>
                </a:solidFill>
                <a:latin typeface="Atkinson Hyperlegible" pitchFamily="34" charset="0"/>
                <a:ea typeface="Atkinson Hyperlegible" pitchFamily="34" charset="-122"/>
                <a:cs typeface="Atkinson Hyperlegible" pitchFamily="34" charset="-120"/>
              </a:rPr>
              <a:t>Beneficios</a:t>
            </a:r>
            <a:endParaRPr lang="en-US" sz="900" dirty="0"/>
          </a:p>
        </p:txBody>
      </p:sp>
      <p:sp>
        <p:nvSpPr>
          <p:cNvPr id="21" name="Shape 19"/>
          <p:cNvSpPr/>
          <p:nvPr/>
        </p:nvSpPr>
        <p:spPr>
          <a:xfrm>
            <a:off x="4617720" y="1316736"/>
            <a:ext cx="164592" cy="164592"/>
          </a:xfrm>
          <a:prstGeom prst="ellipse">
            <a:avLst/>
          </a:prstGeom>
          <a:solidFill>
            <a:srgbClr val="1D1D1F"/>
          </a:solidFill>
          <a:ln w="12700">
            <a:solidFill>
              <a:srgbClr val="1D1D1F"/>
            </a:solidFill>
            <a:prstDash val="solid"/>
          </a:ln>
        </p:spPr>
      </p:sp>
      <p:sp>
        <p:nvSpPr>
          <p:cNvPr id="22" name="Text 20"/>
          <p:cNvSpPr/>
          <p:nvPr/>
        </p:nvSpPr>
        <p:spPr>
          <a:xfrm>
            <a:off x="4846320" y="1234440"/>
            <a:ext cx="384048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Impacto en calidad</a:t>
            </a:r>
            <a:endParaRPr lang="en-US" sz="850" dirty="0"/>
          </a:p>
        </p:txBody>
      </p:sp>
      <p:sp>
        <p:nvSpPr>
          <p:cNvPr id="23" name="Text 21"/>
          <p:cNvSpPr/>
          <p:nvPr/>
        </p:nvSpPr>
        <p:spPr>
          <a:xfrm>
            <a:off x="4846320" y="1490472"/>
            <a:ext cx="384048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Especificaciones claras y conocidas = menos NCRs (Non-Conformance Reports) en campo.</a:t>
            </a:r>
            <a:endParaRPr lang="en-US" sz="750" dirty="0"/>
          </a:p>
        </p:txBody>
      </p:sp>
      <p:sp>
        <p:nvSpPr>
          <p:cNvPr id="24" name="Shape 22"/>
          <p:cNvSpPr/>
          <p:nvPr/>
        </p:nvSpPr>
        <p:spPr>
          <a:xfrm>
            <a:off x="4617720" y="1847088"/>
            <a:ext cx="164592" cy="164592"/>
          </a:xfrm>
          <a:prstGeom prst="ellipse">
            <a:avLst/>
          </a:prstGeom>
          <a:solidFill>
            <a:srgbClr val="1D1D1F"/>
          </a:solidFill>
          <a:ln w="12700">
            <a:solidFill>
              <a:srgbClr val="1D1D1F"/>
            </a:solidFill>
            <a:prstDash val="solid"/>
          </a:ln>
        </p:spPr>
      </p:sp>
      <p:sp>
        <p:nvSpPr>
          <p:cNvPr id="25" name="Text 23"/>
          <p:cNvSpPr/>
          <p:nvPr/>
        </p:nvSpPr>
        <p:spPr>
          <a:xfrm>
            <a:off x="4846320" y="1764792"/>
            <a:ext cx="384048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Impacto en procura</a:t>
            </a:r>
            <a:endParaRPr lang="en-US" sz="850" dirty="0"/>
          </a:p>
        </p:txBody>
      </p:sp>
      <p:sp>
        <p:nvSpPr>
          <p:cNvPr id="26" name="Text 24"/>
          <p:cNvSpPr/>
          <p:nvPr/>
        </p:nvSpPr>
        <p:spPr>
          <a:xfrm>
            <a:off x="4846320" y="2020824"/>
            <a:ext cx="384048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Especificaciones estándar = posibilidad de contratos marco con proveedores calificados.</a:t>
            </a:r>
            <a:endParaRPr lang="en-US" sz="750" dirty="0"/>
          </a:p>
        </p:txBody>
      </p:sp>
      <p:sp>
        <p:nvSpPr>
          <p:cNvPr id="27" name="Shape 25"/>
          <p:cNvSpPr/>
          <p:nvPr/>
        </p:nvSpPr>
        <p:spPr>
          <a:xfrm>
            <a:off x="4617720" y="2377440"/>
            <a:ext cx="164592" cy="164592"/>
          </a:xfrm>
          <a:prstGeom prst="ellipse">
            <a:avLst/>
          </a:prstGeom>
          <a:solidFill>
            <a:srgbClr val="1D1D1F"/>
          </a:solidFill>
          <a:ln w="12700">
            <a:solidFill>
              <a:srgbClr val="1D1D1F"/>
            </a:solidFill>
            <a:prstDash val="solid"/>
          </a:ln>
        </p:spPr>
      </p:sp>
      <p:sp>
        <p:nvSpPr>
          <p:cNvPr id="28" name="Text 26"/>
          <p:cNvSpPr/>
          <p:nvPr/>
        </p:nvSpPr>
        <p:spPr>
          <a:xfrm>
            <a:off x="4846320" y="2295144"/>
            <a:ext cx="384048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Relación con II-1</a:t>
            </a:r>
            <a:endParaRPr lang="en-US" sz="850" dirty="0"/>
          </a:p>
        </p:txBody>
      </p:sp>
      <p:sp>
        <p:nvSpPr>
          <p:cNvPr id="29" name="Text 27"/>
          <p:cNvSpPr/>
          <p:nvPr/>
        </p:nvSpPr>
        <p:spPr>
          <a:xfrm>
            <a:off x="4846320" y="2551176"/>
            <a:ext cx="384048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Las especificaciones estándar son la consecuencia natural de las normas constructivas. Son el "cómo se hace".</a:t>
            </a:r>
            <a:endParaRPr lang="en-US" sz="750" dirty="0"/>
          </a:p>
        </p:txBody>
      </p:sp>
      <p:sp>
        <p:nvSpPr>
          <p:cNvPr id="30" name="Shape 28"/>
          <p:cNvSpPr/>
          <p:nvPr/>
        </p:nvSpPr>
        <p:spPr>
          <a:xfrm>
            <a:off x="4617720" y="2907792"/>
            <a:ext cx="164592" cy="164592"/>
          </a:xfrm>
          <a:prstGeom prst="ellipse">
            <a:avLst/>
          </a:prstGeom>
          <a:solidFill>
            <a:srgbClr val="1D1D1F"/>
          </a:solidFill>
          <a:ln w="12700">
            <a:solidFill>
              <a:srgbClr val="1D1D1F"/>
            </a:solidFill>
            <a:prstDash val="solid"/>
          </a:ln>
        </p:spPr>
      </p:sp>
      <p:sp>
        <p:nvSpPr>
          <p:cNvPr id="31" name="Text 29"/>
          <p:cNvSpPr/>
          <p:nvPr/>
        </p:nvSpPr>
        <p:spPr>
          <a:xfrm>
            <a:off x="4846320" y="2825496"/>
            <a:ext cx="3840480" cy="50292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Herramienta T-10</a:t>
            </a:r>
            <a:endParaRPr lang="en-US" sz="850" dirty="0"/>
          </a:p>
        </p:txBody>
      </p:sp>
      <p:sp>
        <p:nvSpPr>
          <p:cNvPr id="32" name="Text 30"/>
          <p:cNvSpPr/>
          <p:nvPr/>
        </p:nvSpPr>
        <p:spPr>
          <a:xfrm>
            <a:off x="4846320" y="3081528"/>
            <a:ext cx="3840480" cy="25603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Standard Specifications Review Checklist. Evalúa si las especificaciones son claras, aplicables y constructivas.</a:t>
            </a:r>
            <a:endParaRPr lang="en-US" sz="750" dirty="0"/>
          </a:p>
        </p:txBody>
      </p:sp>
      <p:sp>
        <p:nvSpPr>
          <p:cNvPr id="33" name="Shape 31"/>
          <p:cNvSpPr/>
          <p:nvPr/>
        </p:nvSpPr>
        <p:spPr>
          <a:xfrm>
            <a:off x="182880" y="4956048"/>
            <a:ext cx="8961120" cy="182880"/>
          </a:xfrm>
          <a:prstGeom prst="rect">
            <a:avLst/>
          </a:prstGeom>
          <a:solidFill>
            <a:srgbClr val="D4620A"/>
          </a:solidFill>
          <a:ln w="12700">
            <a:solidFill>
              <a:srgbClr val="D4620A"/>
            </a:solidFill>
            <a:prstDash val="solid"/>
          </a:ln>
        </p:spPr>
      </p:sp>
      <p:sp>
        <p:nvSpPr>
          <p:cNvPr id="34" name="Text 32"/>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32 / 126</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D4620A"/>
          </a:solidFill>
          <a:ln w="12700">
            <a:solidFill>
              <a:srgbClr val="D4620A"/>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II-4: Prefabricación, Preensamble y Modularización (PAM)</a:t>
            </a:r>
            <a:endParaRPr lang="en-US" sz="1800" dirty="0"/>
          </a:p>
        </p:txBody>
      </p:sp>
      <p:sp>
        <p:nvSpPr>
          <p:cNvPr id="4" name="Shape 2"/>
          <p:cNvSpPr/>
          <p:nvPr/>
        </p:nvSpPr>
        <p:spPr>
          <a:xfrm>
            <a:off x="320040" y="640080"/>
            <a:ext cx="8503920" cy="41148"/>
          </a:xfrm>
          <a:prstGeom prst="rect">
            <a:avLst/>
          </a:prstGeom>
          <a:solidFill>
            <a:srgbClr val="D4620A"/>
          </a:solidFill>
          <a:ln w="12700">
            <a:solidFill>
              <a:srgbClr val="D4620A"/>
            </a:solidFill>
            <a:prstDash val="solid"/>
          </a:ln>
        </p:spPr>
      </p:sp>
      <p:sp>
        <p:nvSpPr>
          <p:cNvPr id="5" name="Shape 3"/>
          <p:cNvSpPr/>
          <p:nvPr/>
        </p:nvSpPr>
        <p:spPr>
          <a:xfrm>
            <a:off x="320040" y="804672"/>
            <a:ext cx="2724912" cy="1943100"/>
          </a:xfrm>
          <a:prstGeom prst="roundRect">
            <a:avLst>
              <a:gd name="adj" fmla="val 4235"/>
            </a:avLst>
          </a:prstGeom>
          <a:solidFill>
            <a:srgbClr val="D4620A"/>
          </a:solidFill>
          <a:ln w="19050">
            <a:solidFill>
              <a:srgbClr val="D4620A"/>
            </a:solidFill>
            <a:prstDash val="solid"/>
          </a:ln>
        </p:spPr>
      </p:sp>
      <p:sp>
        <p:nvSpPr>
          <p:cNvPr id="6" name="Shape 4"/>
          <p:cNvSpPr/>
          <p:nvPr/>
        </p:nvSpPr>
        <p:spPr>
          <a:xfrm>
            <a:off x="320040" y="804672"/>
            <a:ext cx="2724912" cy="54864"/>
          </a:xfrm>
          <a:prstGeom prst="rect">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8056" y="932688"/>
            <a:ext cx="365760" cy="365760"/>
          </a:xfrm>
          <a:prstGeom prst="rect">
            <a:avLst/>
          </a:prstGeom>
        </p:spPr>
      </p:pic>
      <p:sp>
        <p:nvSpPr>
          <p:cNvPr id="8" name="Text 5"/>
          <p:cNvSpPr/>
          <p:nvPr/>
        </p:nvSpPr>
        <p:spPr>
          <a:xfrm>
            <a:off x="868680"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Prefabricación</a:t>
            </a:r>
            <a:endParaRPr lang="en-US" sz="850" dirty="0"/>
          </a:p>
        </p:txBody>
      </p:sp>
      <p:sp>
        <p:nvSpPr>
          <p:cNvPr id="9" name="Text 6"/>
          <p:cNvSpPr/>
          <p:nvPr/>
        </p:nvSpPr>
        <p:spPr>
          <a:xfrm>
            <a:off x="429768"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Fabricación de elementos en taller controlado: estructuras, soportes, skids. Reduce trabajo en altura y campo abierto.</a:t>
            </a:r>
            <a:endParaRPr lang="en-US" sz="750" dirty="0"/>
          </a:p>
        </p:txBody>
      </p:sp>
      <p:sp>
        <p:nvSpPr>
          <p:cNvPr id="10" name="Shape 7"/>
          <p:cNvSpPr/>
          <p:nvPr/>
        </p:nvSpPr>
        <p:spPr>
          <a:xfrm>
            <a:off x="3209544" y="804672"/>
            <a:ext cx="2724912" cy="1943100"/>
          </a:xfrm>
          <a:prstGeom prst="roundRect">
            <a:avLst>
              <a:gd name="adj" fmla="val 4235"/>
            </a:avLst>
          </a:prstGeom>
          <a:solidFill>
            <a:srgbClr val="FFFFFF"/>
          </a:solidFill>
          <a:ln w="19050">
            <a:solidFill>
              <a:srgbClr val="D4620A"/>
            </a:solidFill>
            <a:prstDash val="solid"/>
          </a:ln>
        </p:spPr>
      </p:sp>
      <p:sp>
        <p:nvSpPr>
          <p:cNvPr id="11" name="Shape 8"/>
          <p:cNvSpPr/>
          <p:nvPr/>
        </p:nvSpPr>
        <p:spPr>
          <a:xfrm>
            <a:off x="3209544" y="804672"/>
            <a:ext cx="2724912" cy="54864"/>
          </a:xfrm>
          <a:prstGeom prst="rect">
            <a:avLst/>
          </a:prstGeom>
          <a:solidFill>
            <a:srgbClr val="D4620A"/>
          </a:solidFill>
          <a:ln w="12700">
            <a:solidFill>
              <a:srgbClr val="D4620A"/>
            </a:solidFill>
            <a:prstDash val="solid"/>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37560" y="932688"/>
            <a:ext cx="365760" cy="365760"/>
          </a:xfrm>
          <a:prstGeom prst="rect">
            <a:avLst/>
          </a:prstGeom>
        </p:spPr>
      </p:pic>
      <p:sp>
        <p:nvSpPr>
          <p:cNvPr id="13" name="Text 9"/>
          <p:cNvSpPr/>
          <p:nvPr/>
        </p:nvSpPr>
        <p:spPr>
          <a:xfrm>
            <a:off x="3758184" y="914400"/>
            <a:ext cx="2066544" cy="347472"/>
          </a:xfrm>
          <a:prstGeom prst="rect">
            <a:avLst/>
          </a:prstGeom>
          <a:noFill/>
          <a:ln/>
        </p:spPr>
        <p:txBody>
          <a:bodyPr wrap="square" rtlCol="0" anchor="ctr"/>
          <a:lstStyle/>
          <a:p>
            <a:pPr indent="0" marL="0">
              <a:buNone/>
            </a:pPr>
            <a:r>
              <a:rPr lang="en-US" sz="850" b="1" dirty="0">
                <a:solidFill>
                  <a:srgbClr val="D4620A"/>
                </a:solidFill>
                <a:latin typeface="Atkinson Hyperlegible" pitchFamily="34" charset="0"/>
                <a:ea typeface="Atkinson Hyperlegible" pitchFamily="34" charset="-122"/>
                <a:cs typeface="Atkinson Hyperlegible" pitchFamily="34" charset="-120"/>
              </a:rPr>
              <a:t>Preensamble</a:t>
            </a:r>
            <a:endParaRPr lang="en-US" sz="850" dirty="0"/>
          </a:p>
        </p:txBody>
      </p:sp>
      <p:sp>
        <p:nvSpPr>
          <p:cNvPr id="14" name="Text 10"/>
          <p:cNvSpPr/>
          <p:nvPr/>
        </p:nvSpPr>
        <p:spPr>
          <a:xfrm>
            <a:off x="3319272" y="131673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Ensamble de sistemas completos (p.ej.: rack de tuberías) antes de llevarlos al sitio. Reduce interferencias.</a:t>
            </a:r>
            <a:endParaRPr lang="en-US" sz="750" dirty="0"/>
          </a:p>
        </p:txBody>
      </p:sp>
      <p:sp>
        <p:nvSpPr>
          <p:cNvPr id="15" name="Shape 11"/>
          <p:cNvSpPr/>
          <p:nvPr/>
        </p:nvSpPr>
        <p:spPr>
          <a:xfrm>
            <a:off x="6099048" y="804672"/>
            <a:ext cx="2724912" cy="1943100"/>
          </a:xfrm>
          <a:prstGeom prst="roundRect">
            <a:avLst>
              <a:gd name="adj" fmla="val 4235"/>
            </a:avLst>
          </a:prstGeom>
          <a:solidFill>
            <a:srgbClr val="D4620A"/>
          </a:solidFill>
          <a:ln w="19050">
            <a:solidFill>
              <a:srgbClr val="D4620A"/>
            </a:solidFill>
            <a:prstDash val="solid"/>
          </a:ln>
        </p:spPr>
      </p:sp>
      <p:sp>
        <p:nvSpPr>
          <p:cNvPr id="16" name="Shape 12"/>
          <p:cNvSpPr/>
          <p:nvPr/>
        </p:nvSpPr>
        <p:spPr>
          <a:xfrm>
            <a:off x="6099048" y="804672"/>
            <a:ext cx="2724912" cy="54864"/>
          </a:xfrm>
          <a:prstGeom prst="rect">
            <a:avLst/>
          </a:prstGeom>
          <a:solidFill>
            <a:srgbClr val="FFFFFF"/>
          </a:solidFill>
          <a:ln w="12700">
            <a:solidFill>
              <a:srgbClr val="FFFFFF"/>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27064" y="932688"/>
            <a:ext cx="365760" cy="365760"/>
          </a:xfrm>
          <a:prstGeom prst="rect">
            <a:avLst/>
          </a:prstGeom>
        </p:spPr>
      </p:pic>
      <p:sp>
        <p:nvSpPr>
          <p:cNvPr id="18" name="Text 13"/>
          <p:cNvSpPr/>
          <p:nvPr/>
        </p:nvSpPr>
        <p:spPr>
          <a:xfrm>
            <a:off x="6647688"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Modularización</a:t>
            </a:r>
            <a:endParaRPr lang="en-US" sz="850" dirty="0"/>
          </a:p>
        </p:txBody>
      </p:sp>
      <p:sp>
        <p:nvSpPr>
          <p:cNvPr id="19" name="Text 14"/>
          <p:cNvSpPr/>
          <p:nvPr/>
        </p:nvSpPr>
        <p:spPr>
          <a:xfrm>
            <a:off x="6208776"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División de la planta en módulos completos (estructurales + mecánicos + eléctricos) que viajan al sitio.</a:t>
            </a:r>
            <a:endParaRPr lang="en-US" sz="750" dirty="0"/>
          </a:p>
        </p:txBody>
      </p:sp>
      <p:sp>
        <p:nvSpPr>
          <p:cNvPr id="20" name="Shape 15"/>
          <p:cNvSpPr/>
          <p:nvPr/>
        </p:nvSpPr>
        <p:spPr>
          <a:xfrm>
            <a:off x="320040" y="2884932"/>
            <a:ext cx="2724912" cy="1943100"/>
          </a:xfrm>
          <a:prstGeom prst="roundRect">
            <a:avLst>
              <a:gd name="adj" fmla="val 4235"/>
            </a:avLst>
          </a:prstGeom>
          <a:solidFill>
            <a:srgbClr val="FFFFFF"/>
          </a:solidFill>
          <a:ln w="19050">
            <a:solidFill>
              <a:srgbClr val="D4620A"/>
            </a:solidFill>
            <a:prstDash val="solid"/>
          </a:ln>
        </p:spPr>
      </p:sp>
      <p:sp>
        <p:nvSpPr>
          <p:cNvPr id="21" name="Shape 16"/>
          <p:cNvSpPr/>
          <p:nvPr/>
        </p:nvSpPr>
        <p:spPr>
          <a:xfrm>
            <a:off x="320040" y="2884932"/>
            <a:ext cx="2724912" cy="54864"/>
          </a:xfrm>
          <a:prstGeom prst="rect">
            <a:avLst/>
          </a:prstGeom>
          <a:solidFill>
            <a:srgbClr val="D4620A"/>
          </a:solidFill>
          <a:ln w="12700">
            <a:solidFill>
              <a:srgbClr val="D4620A"/>
            </a:solidFill>
            <a:prstDash val="solid"/>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8056" y="3012948"/>
            <a:ext cx="365760" cy="365760"/>
          </a:xfrm>
          <a:prstGeom prst="rect">
            <a:avLst/>
          </a:prstGeom>
        </p:spPr>
      </p:pic>
      <p:sp>
        <p:nvSpPr>
          <p:cNvPr id="23" name="Text 17"/>
          <p:cNvSpPr/>
          <p:nvPr/>
        </p:nvSpPr>
        <p:spPr>
          <a:xfrm>
            <a:off x="868680" y="2994660"/>
            <a:ext cx="2066544" cy="347472"/>
          </a:xfrm>
          <a:prstGeom prst="rect">
            <a:avLst/>
          </a:prstGeom>
          <a:noFill/>
          <a:ln/>
        </p:spPr>
        <p:txBody>
          <a:bodyPr wrap="square" rtlCol="0" anchor="ctr"/>
          <a:lstStyle/>
          <a:p>
            <a:pPr indent="0" marL="0">
              <a:buNone/>
            </a:pPr>
            <a:r>
              <a:rPr lang="en-US" sz="850" b="1" dirty="0">
                <a:solidFill>
                  <a:srgbClr val="D4620A"/>
                </a:solidFill>
                <a:latin typeface="Atkinson Hyperlegible" pitchFamily="34" charset="0"/>
                <a:ea typeface="Atkinson Hyperlegible" pitchFamily="34" charset="-122"/>
                <a:cs typeface="Atkinson Hyperlegible" pitchFamily="34" charset="-120"/>
              </a:rPr>
              <a:t>Beneficios PAM</a:t>
            </a:r>
            <a:endParaRPr lang="en-US" sz="850" dirty="0"/>
          </a:p>
        </p:txBody>
      </p:sp>
      <p:sp>
        <p:nvSpPr>
          <p:cNvPr id="24" name="Text 18"/>
          <p:cNvSpPr/>
          <p:nvPr/>
        </p:nvSpPr>
        <p:spPr>
          <a:xfrm>
            <a:off x="429768"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35-45% menos horas en campo. Mejor calidad. Mayor seguridad (menos trabajo en altura). Menor tiempo total.</a:t>
            </a:r>
            <a:endParaRPr lang="en-US" sz="750" dirty="0"/>
          </a:p>
        </p:txBody>
      </p:sp>
      <p:sp>
        <p:nvSpPr>
          <p:cNvPr id="25" name="Shape 19"/>
          <p:cNvSpPr/>
          <p:nvPr/>
        </p:nvSpPr>
        <p:spPr>
          <a:xfrm>
            <a:off x="3209544" y="2884932"/>
            <a:ext cx="2724912" cy="1943100"/>
          </a:xfrm>
          <a:prstGeom prst="roundRect">
            <a:avLst>
              <a:gd name="adj" fmla="val 4235"/>
            </a:avLst>
          </a:prstGeom>
          <a:solidFill>
            <a:srgbClr val="D4620A"/>
          </a:solidFill>
          <a:ln w="19050">
            <a:solidFill>
              <a:srgbClr val="D4620A"/>
            </a:solidFill>
            <a:prstDash val="solid"/>
          </a:ln>
        </p:spPr>
      </p:sp>
      <p:sp>
        <p:nvSpPr>
          <p:cNvPr id="26" name="Shape 20"/>
          <p:cNvSpPr/>
          <p:nvPr/>
        </p:nvSpPr>
        <p:spPr>
          <a:xfrm>
            <a:off x="3209544" y="2884932"/>
            <a:ext cx="2724912" cy="54864"/>
          </a:xfrm>
          <a:prstGeom prst="rect">
            <a:avLst/>
          </a:prstGeom>
          <a:solidFill>
            <a:srgbClr val="FFFFFF"/>
          </a:solidFill>
          <a:ln w="12700">
            <a:solidFill>
              <a:srgbClr val="FFFFFF"/>
            </a:solidFill>
            <a:prstDash val="solid"/>
          </a:ln>
        </p:spPr>
      </p:sp>
      <p:pic>
        <p:nvPicPr>
          <p:cNvPr id="2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37560" y="3012948"/>
            <a:ext cx="365760" cy="365760"/>
          </a:xfrm>
          <a:prstGeom prst="rect">
            <a:avLst/>
          </a:prstGeom>
        </p:spPr>
      </p:pic>
      <p:sp>
        <p:nvSpPr>
          <p:cNvPr id="28" name="Text 21"/>
          <p:cNvSpPr/>
          <p:nvPr/>
        </p:nvSpPr>
        <p:spPr>
          <a:xfrm>
            <a:off x="3758184" y="299466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Restricciones</a:t>
            </a:r>
            <a:endParaRPr lang="en-US" sz="850" dirty="0"/>
          </a:p>
        </p:txBody>
      </p:sp>
      <p:sp>
        <p:nvSpPr>
          <p:cNvPr id="29" name="Text 22"/>
          <p:cNvSpPr/>
          <p:nvPr/>
        </p:nvSpPr>
        <p:spPr>
          <a:xfrm>
            <a:off x="3319272" y="339699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Requiere diseño más temprano y más completo. Transporte y logística son críticos. No aplica a todo proyecto.</a:t>
            </a:r>
            <a:endParaRPr lang="en-US" sz="750" dirty="0"/>
          </a:p>
        </p:txBody>
      </p:sp>
      <p:sp>
        <p:nvSpPr>
          <p:cNvPr id="30" name="Shape 23"/>
          <p:cNvSpPr/>
          <p:nvPr/>
        </p:nvSpPr>
        <p:spPr>
          <a:xfrm>
            <a:off x="6099048" y="2884932"/>
            <a:ext cx="2724912" cy="1943100"/>
          </a:xfrm>
          <a:prstGeom prst="roundRect">
            <a:avLst>
              <a:gd name="adj" fmla="val 4235"/>
            </a:avLst>
          </a:prstGeom>
          <a:solidFill>
            <a:srgbClr val="FFFFFF"/>
          </a:solidFill>
          <a:ln w="19050">
            <a:solidFill>
              <a:srgbClr val="D4620A"/>
            </a:solidFill>
            <a:prstDash val="solid"/>
          </a:ln>
        </p:spPr>
      </p:sp>
      <p:sp>
        <p:nvSpPr>
          <p:cNvPr id="31" name="Shape 24"/>
          <p:cNvSpPr/>
          <p:nvPr/>
        </p:nvSpPr>
        <p:spPr>
          <a:xfrm>
            <a:off x="6099048" y="2884932"/>
            <a:ext cx="2724912" cy="54864"/>
          </a:xfrm>
          <a:prstGeom prst="rect">
            <a:avLst/>
          </a:prstGeom>
          <a:solidFill>
            <a:srgbClr val="D4620A"/>
          </a:solidFill>
          <a:ln w="12700">
            <a:solidFill>
              <a:srgbClr val="D4620A"/>
            </a:solidFill>
            <a:prstDash val="solid"/>
          </a:ln>
        </p:spPr>
      </p:sp>
      <p:pic>
        <p:nvPicPr>
          <p:cNvPr id="3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27064" y="3012948"/>
            <a:ext cx="365760" cy="365760"/>
          </a:xfrm>
          <a:prstGeom prst="rect">
            <a:avLst/>
          </a:prstGeom>
        </p:spPr>
      </p:pic>
      <p:sp>
        <p:nvSpPr>
          <p:cNvPr id="33" name="Text 25"/>
          <p:cNvSpPr/>
          <p:nvPr/>
        </p:nvSpPr>
        <p:spPr>
          <a:xfrm>
            <a:off x="6647688" y="2994660"/>
            <a:ext cx="2066544" cy="347472"/>
          </a:xfrm>
          <a:prstGeom prst="rect">
            <a:avLst/>
          </a:prstGeom>
          <a:noFill/>
          <a:ln/>
        </p:spPr>
        <p:txBody>
          <a:bodyPr wrap="square" rtlCol="0" anchor="ctr"/>
          <a:lstStyle/>
          <a:p>
            <a:pPr indent="0" marL="0">
              <a:buNone/>
            </a:pPr>
            <a:r>
              <a:rPr lang="en-US" sz="850" b="1" dirty="0">
                <a:solidFill>
                  <a:srgbClr val="D4620A"/>
                </a:solidFill>
                <a:latin typeface="Atkinson Hyperlegible" pitchFamily="34" charset="0"/>
                <a:ea typeface="Atkinson Hyperlegible" pitchFamily="34" charset="-122"/>
                <a:cs typeface="Atkinson Hyperlegible" pitchFamily="34" charset="-120"/>
              </a:rPr>
              <a:t>Herramienta T-11</a:t>
            </a:r>
            <a:endParaRPr lang="en-US" sz="850" dirty="0"/>
          </a:p>
        </p:txBody>
      </p:sp>
      <p:sp>
        <p:nvSpPr>
          <p:cNvPr id="34" name="Text 26"/>
          <p:cNvSpPr/>
          <p:nvPr/>
        </p:nvSpPr>
        <p:spPr>
          <a:xfrm>
            <a:off x="6208776"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PAM Feasibility Assessment. Evalúa si PAM es factible y qué porcentaje de modularización es óptimo.</a:t>
            </a:r>
            <a:endParaRPr lang="en-US" sz="750" dirty="0"/>
          </a:p>
        </p:txBody>
      </p:sp>
      <p:sp>
        <p:nvSpPr>
          <p:cNvPr id="35" name="Shape 27"/>
          <p:cNvSpPr/>
          <p:nvPr/>
        </p:nvSpPr>
        <p:spPr>
          <a:xfrm>
            <a:off x="182880" y="4956048"/>
            <a:ext cx="8961120" cy="182880"/>
          </a:xfrm>
          <a:prstGeom prst="rect">
            <a:avLst/>
          </a:prstGeom>
          <a:solidFill>
            <a:srgbClr val="D4620A"/>
          </a:solidFill>
          <a:ln w="12700">
            <a:solidFill>
              <a:srgbClr val="D4620A"/>
            </a:solidFill>
            <a:prstDash val="solid"/>
          </a:ln>
        </p:spPr>
      </p:sp>
      <p:sp>
        <p:nvSpPr>
          <p:cNvPr id="36" name="Text 28"/>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33 / 126</a:t>
            </a:r>
            <a:endParaRPr lang="en-US" sz="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D4620A"/>
          </a:solidFill>
          <a:ln w="12700">
            <a:solidFill>
              <a:srgbClr val="D4620A"/>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II-5: Accesibilidad del Diseño</a:t>
            </a:r>
            <a:endParaRPr lang="en-US" sz="1800" dirty="0"/>
          </a:p>
        </p:txBody>
      </p:sp>
      <p:sp>
        <p:nvSpPr>
          <p:cNvPr id="4" name="Shape 2"/>
          <p:cNvSpPr/>
          <p:nvPr/>
        </p:nvSpPr>
        <p:spPr>
          <a:xfrm>
            <a:off x="320040" y="640080"/>
            <a:ext cx="8503920" cy="41148"/>
          </a:xfrm>
          <a:prstGeom prst="rect">
            <a:avLst/>
          </a:prstGeom>
          <a:solidFill>
            <a:srgbClr val="D4620A"/>
          </a:solidFill>
          <a:ln w="12700">
            <a:solidFill>
              <a:srgbClr val="D4620A"/>
            </a:solidFill>
            <a:prstDash val="solid"/>
          </a:ln>
        </p:spPr>
      </p:sp>
      <p:sp>
        <p:nvSpPr>
          <p:cNvPr id="5" name="Shape 3"/>
          <p:cNvSpPr/>
          <p:nvPr/>
        </p:nvSpPr>
        <p:spPr>
          <a:xfrm>
            <a:off x="274320" y="804672"/>
            <a:ext cx="4160520" cy="4114800"/>
          </a:xfrm>
          <a:prstGeom prst="roundRect">
            <a:avLst>
              <a:gd name="adj" fmla="val 2222"/>
            </a:avLst>
          </a:prstGeom>
          <a:solidFill>
            <a:srgbClr val="D4620A"/>
          </a:solidFill>
          <a:ln w="12700">
            <a:solidFill>
              <a:srgbClr val="D4620A"/>
            </a:solidFill>
            <a:prstDash val="solid"/>
          </a:ln>
        </p:spPr>
      </p:sp>
      <p:sp>
        <p:nvSpPr>
          <p:cNvPr id="6" name="Shape 4"/>
          <p:cNvSpPr/>
          <p:nvPr/>
        </p:nvSpPr>
        <p:spPr>
          <a:xfrm>
            <a:off x="274320" y="804672"/>
            <a:ext cx="45720" cy="4114800"/>
          </a:xfrm>
          <a:prstGeom prst="rect">
            <a:avLst/>
          </a:prstGeom>
          <a:solidFill>
            <a:srgbClr val="D4620A"/>
          </a:solidFill>
          <a:ln w="12700">
            <a:solidFill>
              <a:srgbClr val="D4620A"/>
            </a:solidFill>
            <a:prstDash val="solid"/>
          </a:ln>
        </p:spPr>
      </p:sp>
      <p:sp>
        <p:nvSpPr>
          <p:cNvPr id="7" name="Text 5"/>
          <p:cNvSpPr/>
          <p:nvPr/>
        </p:nvSpPr>
        <p:spPr>
          <a:xfrm>
            <a:off x="384048" y="822960"/>
            <a:ext cx="3977640" cy="347472"/>
          </a:xfrm>
          <a:prstGeom prst="rect">
            <a:avLst/>
          </a:prstGeom>
          <a:noFill/>
          <a:ln/>
        </p:spPr>
        <p:txBody>
          <a:bodyPr wrap="square" rtlCol="0" anchor="ctr"/>
          <a:lstStyle/>
          <a:p>
            <a:pPr indent="0" marL="0">
              <a:buNone/>
            </a:pPr>
            <a:r>
              <a:rPr lang="en-US" sz="900" b="1" dirty="0">
                <a:solidFill>
                  <a:srgbClr val="D4620A"/>
                </a:solidFill>
                <a:latin typeface="Atkinson Hyperlegible" pitchFamily="34" charset="0"/>
                <a:ea typeface="Atkinson Hyperlegible" pitchFamily="34" charset="-122"/>
                <a:cs typeface="Atkinson Hyperlegible" pitchFamily="34" charset="-120"/>
              </a:rPr>
              <a:t>Problema de Accesibilidad</a:t>
            </a:r>
            <a:endParaRPr lang="en-US" sz="900" dirty="0"/>
          </a:p>
        </p:txBody>
      </p:sp>
      <p:sp>
        <p:nvSpPr>
          <p:cNvPr id="8" name="Shape 6"/>
          <p:cNvSpPr/>
          <p:nvPr/>
        </p:nvSpPr>
        <p:spPr>
          <a:xfrm>
            <a:off x="384048" y="1316736"/>
            <a:ext cx="164592" cy="164592"/>
          </a:xfrm>
          <a:prstGeom prst="ellipse">
            <a:avLst/>
          </a:prstGeom>
          <a:solidFill>
            <a:srgbClr val="D4620A"/>
          </a:solidFill>
          <a:ln w="12700">
            <a:solidFill>
              <a:srgbClr val="D4620A"/>
            </a:solidFill>
            <a:prstDash val="solid"/>
          </a:ln>
        </p:spPr>
      </p:sp>
      <p:sp>
        <p:nvSpPr>
          <p:cNvPr id="9" name="Text 7"/>
          <p:cNvSpPr/>
          <p:nvPr/>
        </p:nvSpPr>
        <p:spPr>
          <a:xfrm>
            <a:off x="612648" y="1234440"/>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Acceso de equipos pesados</a:t>
            </a:r>
            <a:endParaRPr lang="en-US" sz="850" dirty="0"/>
          </a:p>
        </p:txBody>
      </p:sp>
      <p:sp>
        <p:nvSpPr>
          <p:cNvPr id="10" name="Text 8"/>
          <p:cNvSpPr/>
          <p:nvPr/>
        </p:nvSpPr>
        <p:spPr>
          <a:xfrm>
            <a:off x="612648" y="1481328"/>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¿Puede entrar la grúa? ¿Hay espacio para el brazo? El radio de operación define el diseño del patio.</a:t>
            </a:r>
            <a:endParaRPr lang="en-US" sz="750" dirty="0"/>
          </a:p>
        </p:txBody>
      </p:sp>
      <p:sp>
        <p:nvSpPr>
          <p:cNvPr id="11" name="Shape 9"/>
          <p:cNvSpPr/>
          <p:nvPr/>
        </p:nvSpPr>
        <p:spPr>
          <a:xfrm>
            <a:off x="384048" y="1847088"/>
            <a:ext cx="164592" cy="164592"/>
          </a:xfrm>
          <a:prstGeom prst="ellipse">
            <a:avLst/>
          </a:prstGeom>
          <a:solidFill>
            <a:srgbClr val="D4620A"/>
          </a:solidFill>
          <a:ln w="12700">
            <a:solidFill>
              <a:srgbClr val="D4620A"/>
            </a:solidFill>
            <a:prstDash val="solid"/>
          </a:ln>
        </p:spPr>
      </p:sp>
      <p:sp>
        <p:nvSpPr>
          <p:cNvPr id="12" name="Text 10"/>
          <p:cNvSpPr/>
          <p:nvPr/>
        </p:nvSpPr>
        <p:spPr>
          <a:xfrm>
            <a:off x="612648" y="1764792"/>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Acceso para construcción</a:t>
            </a:r>
            <a:endParaRPr lang="en-US" sz="850" dirty="0"/>
          </a:p>
        </p:txBody>
      </p:sp>
      <p:sp>
        <p:nvSpPr>
          <p:cNvPr id="13" name="Text 11"/>
          <p:cNvSpPr/>
          <p:nvPr/>
        </p:nvSpPr>
        <p:spPr>
          <a:xfrm>
            <a:off x="612648" y="2011680"/>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Pasajes para trabajadores, materiales, andamios. No solo para equipos, sino para la gente.</a:t>
            </a:r>
            <a:endParaRPr lang="en-US" sz="750" dirty="0"/>
          </a:p>
        </p:txBody>
      </p:sp>
      <p:sp>
        <p:nvSpPr>
          <p:cNvPr id="14" name="Shape 12"/>
          <p:cNvSpPr/>
          <p:nvPr/>
        </p:nvSpPr>
        <p:spPr>
          <a:xfrm>
            <a:off x="384048" y="2377440"/>
            <a:ext cx="164592" cy="164592"/>
          </a:xfrm>
          <a:prstGeom prst="ellipse">
            <a:avLst/>
          </a:prstGeom>
          <a:solidFill>
            <a:srgbClr val="D4620A"/>
          </a:solidFill>
          <a:ln w="12700">
            <a:solidFill>
              <a:srgbClr val="D4620A"/>
            </a:solidFill>
            <a:prstDash val="solid"/>
          </a:ln>
        </p:spPr>
      </p:sp>
      <p:sp>
        <p:nvSpPr>
          <p:cNvPr id="15" name="Text 13"/>
          <p:cNvSpPr/>
          <p:nvPr/>
        </p:nvSpPr>
        <p:spPr>
          <a:xfrm>
            <a:off x="612648" y="2295144"/>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Acceso para mantenimiento</a:t>
            </a:r>
            <a:endParaRPr lang="en-US" sz="850" dirty="0"/>
          </a:p>
        </p:txBody>
      </p:sp>
      <p:sp>
        <p:nvSpPr>
          <p:cNvPr id="16" name="Text 14"/>
          <p:cNvSpPr/>
          <p:nvPr/>
        </p:nvSpPr>
        <p:spPr>
          <a:xfrm>
            <a:off x="612648" y="2542032"/>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El diseño que ignora el mantenimiento crea problemas costosos durante la vida útil del activo.</a:t>
            </a:r>
            <a:endParaRPr lang="en-US" sz="750" dirty="0"/>
          </a:p>
        </p:txBody>
      </p:sp>
      <p:sp>
        <p:nvSpPr>
          <p:cNvPr id="17" name="Shape 15"/>
          <p:cNvSpPr/>
          <p:nvPr/>
        </p:nvSpPr>
        <p:spPr>
          <a:xfrm>
            <a:off x="384048" y="2907792"/>
            <a:ext cx="164592" cy="164592"/>
          </a:xfrm>
          <a:prstGeom prst="ellipse">
            <a:avLst/>
          </a:prstGeom>
          <a:solidFill>
            <a:srgbClr val="D4620A"/>
          </a:solidFill>
          <a:ln w="12700">
            <a:solidFill>
              <a:srgbClr val="D4620A"/>
            </a:solidFill>
            <a:prstDash val="solid"/>
          </a:ln>
        </p:spPr>
      </p:sp>
      <p:sp>
        <p:nvSpPr>
          <p:cNvPr id="18" name="Text 16"/>
          <p:cNvSpPr/>
          <p:nvPr/>
        </p:nvSpPr>
        <p:spPr>
          <a:xfrm>
            <a:off x="612648" y="2825496"/>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Secuencia de montaje</a:t>
            </a:r>
            <a:endParaRPr lang="en-US" sz="850" dirty="0"/>
          </a:p>
        </p:txBody>
      </p:sp>
      <p:sp>
        <p:nvSpPr>
          <p:cNvPr id="19" name="Text 17"/>
          <p:cNvSpPr/>
          <p:nvPr/>
        </p:nvSpPr>
        <p:spPr>
          <a:xfrm>
            <a:off x="612648" y="3072384"/>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¿Se pueden instalar los equipos en el orden lógico? El último equipo instalado no debe ser el primero que se necesita en arranque.</a:t>
            </a:r>
            <a:endParaRPr lang="en-US" sz="750" dirty="0"/>
          </a:p>
        </p:txBody>
      </p:sp>
      <p:sp>
        <p:nvSpPr>
          <p:cNvPr id="20" name="Text 18"/>
          <p:cNvSpPr/>
          <p:nvPr/>
        </p:nvSpPr>
        <p:spPr>
          <a:xfrm>
            <a:off x="4617720" y="822960"/>
            <a:ext cx="4251960" cy="347472"/>
          </a:xfrm>
          <a:prstGeom prst="rect">
            <a:avLst/>
          </a:prstGeom>
          <a:noFill/>
          <a:ln/>
        </p:spPr>
        <p:txBody>
          <a:bodyPr wrap="square" rtlCol="0" anchor="ctr"/>
          <a:lstStyle/>
          <a:p>
            <a:pPr indent="0" marL="0">
              <a:buNone/>
            </a:pPr>
            <a:r>
              <a:rPr lang="en-US" sz="900" b="1" dirty="0">
                <a:solidFill>
                  <a:srgbClr val="D4620A"/>
                </a:solidFill>
                <a:latin typeface="Atkinson Hyperlegible" pitchFamily="34" charset="0"/>
                <a:ea typeface="Atkinson Hyperlegible" pitchFamily="34" charset="-122"/>
                <a:cs typeface="Atkinson Hyperlegible" pitchFamily="34" charset="-120"/>
              </a:rPr>
              <a:t>Solución CII</a:t>
            </a:r>
            <a:endParaRPr lang="en-US" sz="900" dirty="0"/>
          </a:p>
        </p:txBody>
      </p:sp>
      <p:sp>
        <p:nvSpPr>
          <p:cNvPr id="21" name="Shape 19"/>
          <p:cNvSpPr/>
          <p:nvPr/>
        </p:nvSpPr>
        <p:spPr>
          <a:xfrm>
            <a:off x="4617720" y="1316736"/>
            <a:ext cx="164592" cy="164592"/>
          </a:xfrm>
          <a:prstGeom prst="ellipse">
            <a:avLst/>
          </a:prstGeom>
          <a:solidFill>
            <a:srgbClr val="1D1D1F"/>
          </a:solidFill>
          <a:ln w="12700">
            <a:solidFill>
              <a:srgbClr val="1D1D1F"/>
            </a:solidFill>
            <a:prstDash val="solid"/>
          </a:ln>
        </p:spPr>
      </p:sp>
      <p:sp>
        <p:nvSpPr>
          <p:cNvPr id="22" name="Text 20"/>
          <p:cNvSpPr/>
          <p:nvPr/>
        </p:nvSpPr>
        <p:spPr>
          <a:xfrm>
            <a:off x="4846320" y="1234440"/>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Herramienta T-12</a:t>
            </a:r>
            <a:endParaRPr lang="en-US" sz="850" dirty="0"/>
          </a:p>
        </p:txBody>
      </p:sp>
      <p:sp>
        <p:nvSpPr>
          <p:cNvPr id="23" name="Text 21"/>
          <p:cNvSpPr/>
          <p:nvPr/>
        </p:nvSpPr>
        <p:spPr>
          <a:xfrm>
            <a:off x="4846320" y="1481328"/>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Accessibility Review Checklist. Lista de verificación para evaluar accesibilidad en revisiones de diseño.</a:t>
            </a:r>
            <a:endParaRPr lang="en-US" sz="750" dirty="0"/>
          </a:p>
        </p:txBody>
      </p:sp>
      <p:sp>
        <p:nvSpPr>
          <p:cNvPr id="24" name="Shape 22"/>
          <p:cNvSpPr/>
          <p:nvPr/>
        </p:nvSpPr>
        <p:spPr>
          <a:xfrm>
            <a:off x="4617720" y="1847088"/>
            <a:ext cx="164592" cy="164592"/>
          </a:xfrm>
          <a:prstGeom prst="ellipse">
            <a:avLst/>
          </a:prstGeom>
          <a:solidFill>
            <a:srgbClr val="1D1D1F"/>
          </a:solidFill>
          <a:ln w="12700">
            <a:solidFill>
              <a:srgbClr val="1D1D1F"/>
            </a:solidFill>
            <a:prstDash val="solid"/>
          </a:ln>
        </p:spPr>
      </p:sp>
      <p:sp>
        <p:nvSpPr>
          <p:cNvPr id="25" name="Text 23"/>
          <p:cNvSpPr/>
          <p:nvPr/>
        </p:nvSpPr>
        <p:spPr>
          <a:xfrm>
            <a:off x="4846320" y="1764792"/>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Prevention Through Design</a:t>
            </a:r>
            <a:endParaRPr lang="en-US" sz="850" dirty="0"/>
          </a:p>
        </p:txBody>
      </p:sp>
      <p:sp>
        <p:nvSpPr>
          <p:cNvPr id="26" name="Text 24"/>
          <p:cNvSpPr/>
          <p:nvPr/>
        </p:nvSpPr>
        <p:spPr>
          <a:xfrm>
            <a:off x="4846320" y="2011680"/>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Eliminar riesgos de acceso desde el diseño es más económico y efectivo que controles administrativos en campo.</a:t>
            </a:r>
            <a:endParaRPr lang="en-US" sz="750" dirty="0"/>
          </a:p>
        </p:txBody>
      </p:sp>
      <p:sp>
        <p:nvSpPr>
          <p:cNvPr id="27" name="Shape 25"/>
          <p:cNvSpPr/>
          <p:nvPr/>
        </p:nvSpPr>
        <p:spPr>
          <a:xfrm>
            <a:off x="4617720" y="2377440"/>
            <a:ext cx="164592" cy="164592"/>
          </a:xfrm>
          <a:prstGeom prst="ellipse">
            <a:avLst/>
          </a:prstGeom>
          <a:solidFill>
            <a:srgbClr val="1D1D1F"/>
          </a:solidFill>
          <a:ln w="12700">
            <a:solidFill>
              <a:srgbClr val="1D1D1F"/>
            </a:solidFill>
            <a:prstDash val="solid"/>
          </a:ln>
        </p:spPr>
      </p:sp>
      <p:sp>
        <p:nvSpPr>
          <p:cNvPr id="28" name="Text 26"/>
          <p:cNvSpPr/>
          <p:nvPr/>
        </p:nvSpPr>
        <p:spPr>
          <a:xfrm>
            <a:off x="4846320" y="2295144"/>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Ejemplo típico</a:t>
            </a:r>
            <a:endParaRPr lang="en-US" sz="850" dirty="0"/>
          </a:p>
        </p:txBody>
      </p:sp>
      <p:sp>
        <p:nvSpPr>
          <p:cNvPr id="29" name="Text 27"/>
          <p:cNvSpPr/>
          <p:nvPr/>
        </p:nvSpPr>
        <p:spPr>
          <a:xfrm>
            <a:off x="4846320" y="2542032"/>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Válvulas de control colocadas a 4m de altura sin plataforma permanente. Mantenimiento imposible sin andamio temporal.</a:t>
            </a:r>
            <a:endParaRPr lang="en-US" sz="750" dirty="0"/>
          </a:p>
        </p:txBody>
      </p:sp>
      <p:sp>
        <p:nvSpPr>
          <p:cNvPr id="30" name="Shape 28"/>
          <p:cNvSpPr/>
          <p:nvPr/>
        </p:nvSpPr>
        <p:spPr>
          <a:xfrm>
            <a:off x="4617720" y="2907792"/>
            <a:ext cx="164592" cy="164592"/>
          </a:xfrm>
          <a:prstGeom prst="ellipse">
            <a:avLst/>
          </a:prstGeom>
          <a:solidFill>
            <a:srgbClr val="1D1D1F"/>
          </a:solidFill>
          <a:ln w="12700">
            <a:solidFill>
              <a:srgbClr val="1D1D1F"/>
            </a:solidFill>
            <a:prstDash val="solid"/>
          </a:ln>
        </p:spPr>
      </p:sp>
      <p:sp>
        <p:nvSpPr>
          <p:cNvPr id="31" name="Text 29"/>
          <p:cNvSpPr/>
          <p:nvPr/>
        </p:nvSpPr>
        <p:spPr>
          <a:xfrm>
            <a:off x="4846320" y="2825496"/>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Integración con II-8</a:t>
            </a:r>
            <a:endParaRPr lang="en-US" sz="850" dirty="0"/>
          </a:p>
        </p:txBody>
      </p:sp>
      <p:sp>
        <p:nvSpPr>
          <p:cNvPr id="32" name="Text 30"/>
          <p:cNvSpPr/>
          <p:nvPr/>
        </p:nvSpPr>
        <p:spPr>
          <a:xfrm>
            <a:off x="4846320" y="3072384"/>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La accesibilidad de construcción y la seguridad por diseño van de la mano: acceso = seguridad para el constructor.</a:t>
            </a:r>
            <a:endParaRPr lang="en-US" sz="750" dirty="0"/>
          </a:p>
        </p:txBody>
      </p:sp>
      <p:sp>
        <p:nvSpPr>
          <p:cNvPr id="33" name="Shape 31"/>
          <p:cNvSpPr/>
          <p:nvPr/>
        </p:nvSpPr>
        <p:spPr>
          <a:xfrm>
            <a:off x="182880" y="4956048"/>
            <a:ext cx="8961120" cy="182880"/>
          </a:xfrm>
          <a:prstGeom prst="rect">
            <a:avLst/>
          </a:prstGeom>
          <a:solidFill>
            <a:srgbClr val="D4620A"/>
          </a:solidFill>
          <a:ln w="12700">
            <a:solidFill>
              <a:srgbClr val="D4620A"/>
            </a:solidFill>
            <a:prstDash val="solid"/>
          </a:ln>
        </p:spPr>
      </p:sp>
      <p:sp>
        <p:nvSpPr>
          <p:cNvPr id="34" name="Text 32"/>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34 / 126</a:t>
            </a:r>
            <a:endParaRPr lang="en-US" sz="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D4620A"/>
          </a:solidFill>
          <a:ln w="12700">
            <a:solidFill>
              <a:srgbClr val="D4620A"/>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II-6: Programación del Diseño para Constructabilidad</a:t>
            </a:r>
            <a:endParaRPr lang="en-US" sz="1800" dirty="0"/>
          </a:p>
        </p:txBody>
      </p:sp>
      <p:sp>
        <p:nvSpPr>
          <p:cNvPr id="4" name="Shape 2"/>
          <p:cNvSpPr/>
          <p:nvPr/>
        </p:nvSpPr>
        <p:spPr>
          <a:xfrm>
            <a:off x="320040" y="640080"/>
            <a:ext cx="8503920" cy="41148"/>
          </a:xfrm>
          <a:prstGeom prst="rect">
            <a:avLst/>
          </a:prstGeom>
          <a:solidFill>
            <a:srgbClr val="D4620A"/>
          </a:solidFill>
          <a:ln w="12700">
            <a:solidFill>
              <a:srgbClr val="D4620A"/>
            </a:solidFill>
            <a:prstDash val="solid"/>
          </a:ln>
        </p:spPr>
      </p:sp>
      <p:sp>
        <p:nvSpPr>
          <p:cNvPr id="5" name="Shape 3"/>
          <p:cNvSpPr/>
          <p:nvPr/>
        </p:nvSpPr>
        <p:spPr>
          <a:xfrm>
            <a:off x="320040" y="1371600"/>
            <a:ext cx="1495958" cy="1051560"/>
          </a:xfrm>
          <a:prstGeom prst="roundRect">
            <a:avLst>
              <a:gd name="adj" fmla="val 7826"/>
            </a:avLst>
          </a:prstGeom>
          <a:solidFill>
            <a:srgbClr val="D4620A"/>
          </a:solidFill>
          <a:ln w="12700">
            <a:solidFill>
              <a:srgbClr val="D4620A"/>
            </a:solidFill>
            <a:prstDash val="solid"/>
          </a:ln>
        </p:spPr>
      </p:sp>
      <p:sp>
        <p:nvSpPr>
          <p:cNvPr id="6" name="Shape 4"/>
          <p:cNvSpPr/>
          <p:nvPr/>
        </p:nvSpPr>
        <p:spPr>
          <a:xfrm>
            <a:off x="885139" y="1152144"/>
            <a:ext cx="365760" cy="365760"/>
          </a:xfrm>
          <a:prstGeom prst="ellipse">
            <a:avLst/>
          </a:prstGeom>
          <a:solidFill>
            <a:srgbClr val="FFFFFF"/>
          </a:solidFill>
          <a:ln w="19050">
            <a:solidFill>
              <a:srgbClr val="D4620A"/>
            </a:solidFill>
            <a:prstDash val="solid"/>
          </a:ln>
        </p:spPr>
      </p:sp>
      <p:sp>
        <p:nvSpPr>
          <p:cNvPr id="7" name="Text 5"/>
          <p:cNvSpPr/>
          <p:nvPr/>
        </p:nvSpPr>
        <p:spPr>
          <a:xfrm>
            <a:off x="885139" y="1152144"/>
            <a:ext cx="365760" cy="365760"/>
          </a:xfrm>
          <a:prstGeom prst="rect">
            <a:avLst/>
          </a:prstGeom>
          <a:noFill/>
          <a:ln/>
        </p:spPr>
        <p:txBody>
          <a:bodyPr wrap="square" rtlCol="0" anchor="ctr"/>
          <a:lstStyle/>
          <a:p>
            <a:pPr algn="ctr" indent="0" marL="0">
              <a:buNone/>
            </a:pPr>
            <a:r>
              <a:rPr lang="en-US" sz="800" b="1" dirty="0">
                <a:solidFill>
                  <a:srgbClr val="D4620A"/>
                </a:solidFill>
                <a:latin typeface="Atkinson Hyperlegible" pitchFamily="34" charset="0"/>
                <a:ea typeface="Atkinson Hyperlegible" pitchFamily="34" charset="-122"/>
                <a:cs typeface="Atkinson Hyperlegible" pitchFamily="34" charset="-120"/>
              </a:rPr>
              <a:t>1</a:t>
            </a:r>
            <a:endParaRPr lang="en-US" sz="800" dirty="0"/>
          </a:p>
        </p:txBody>
      </p:sp>
      <p:sp>
        <p:nvSpPr>
          <p:cNvPr id="8" name="Text 6"/>
          <p:cNvSpPr/>
          <p:nvPr/>
        </p:nvSpPr>
        <p:spPr>
          <a:xfrm>
            <a:off x="384048"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Identificar</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Críticos</a:t>
            </a:r>
            <a:endParaRPr lang="en-US" sz="800" dirty="0"/>
          </a:p>
        </p:txBody>
      </p:sp>
      <p:sp>
        <p:nvSpPr>
          <p:cNvPr id="9" name="Text 7"/>
          <p:cNvSpPr/>
          <p:nvPr/>
        </p:nvSpPr>
        <p:spPr>
          <a:xfrm>
            <a:off x="384048" y="1828800"/>
            <a:ext cx="1367942" cy="548640"/>
          </a:xfrm>
          <a:prstGeom prst="rect">
            <a:avLst/>
          </a:prstGeom>
          <a:noFill/>
          <a:ln/>
        </p:spPr>
        <p:txBody>
          <a:bodyPr wrap="square" rtlCol="0" anchor="ctr"/>
          <a:lstStyle/>
          <a:p>
            <a:pPr algn="ctr" indent="0" marL="0">
              <a:buNone/>
            </a:pPr>
            <a:r>
              <a:rPr lang="en-US" sz="650" dirty="0">
                <a:solidFill>
                  <a:srgbClr val="FFFFFF"/>
                </a:solidFill>
                <a:latin typeface="Atkinson Hyperlegible" pitchFamily="34" charset="0"/>
                <a:ea typeface="Atkinson Hyperlegible" pitchFamily="34" charset="-122"/>
                <a:cs typeface="Atkinson Hyperlegible" pitchFamily="34" charset="-120"/>
              </a:rPr>
              <a:t>Equipos y sistemas con mayor lead time o impacto</a:t>
            </a:r>
            <a:endParaRPr lang="en-US" sz="650" dirty="0"/>
          </a:p>
        </p:txBody>
      </p:sp>
      <p:sp>
        <p:nvSpPr>
          <p:cNvPr id="10" name="Shape 8"/>
          <p:cNvSpPr/>
          <p:nvPr/>
        </p:nvSpPr>
        <p:spPr>
          <a:xfrm>
            <a:off x="1825142" y="1778508"/>
            <a:ext cx="246888" cy="237744"/>
          </a:xfrm>
          <a:prstGeom prst="rightArrow">
            <a:avLst/>
          </a:prstGeom>
          <a:solidFill>
            <a:srgbClr val="D4620A"/>
          </a:solidFill>
          <a:ln w="12700">
            <a:solidFill>
              <a:srgbClr val="D4620A"/>
            </a:solidFill>
            <a:prstDash val="solid"/>
          </a:ln>
        </p:spPr>
      </p:sp>
      <p:sp>
        <p:nvSpPr>
          <p:cNvPr id="11" name="Shape 9"/>
          <p:cNvSpPr/>
          <p:nvPr/>
        </p:nvSpPr>
        <p:spPr>
          <a:xfrm>
            <a:off x="2072030" y="1371600"/>
            <a:ext cx="1495958" cy="1051560"/>
          </a:xfrm>
          <a:prstGeom prst="roundRect">
            <a:avLst>
              <a:gd name="adj" fmla="val 7826"/>
            </a:avLst>
          </a:prstGeom>
          <a:solidFill>
            <a:srgbClr val="1D1D1F"/>
          </a:solidFill>
          <a:ln w="12700">
            <a:solidFill>
              <a:srgbClr val="1D1D1F"/>
            </a:solidFill>
            <a:prstDash val="solid"/>
          </a:ln>
        </p:spPr>
      </p:sp>
      <p:sp>
        <p:nvSpPr>
          <p:cNvPr id="12" name="Shape 10"/>
          <p:cNvSpPr/>
          <p:nvPr/>
        </p:nvSpPr>
        <p:spPr>
          <a:xfrm>
            <a:off x="2637130" y="1152144"/>
            <a:ext cx="365760" cy="365760"/>
          </a:xfrm>
          <a:prstGeom prst="ellipse">
            <a:avLst/>
          </a:prstGeom>
          <a:solidFill>
            <a:srgbClr val="FFFFFF"/>
          </a:solidFill>
          <a:ln w="19050">
            <a:solidFill>
              <a:srgbClr val="1D1D1F"/>
            </a:solidFill>
            <a:prstDash val="solid"/>
          </a:ln>
        </p:spPr>
      </p:sp>
      <p:sp>
        <p:nvSpPr>
          <p:cNvPr id="13" name="Text 11"/>
          <p:cNvSpPr/>
          <p:nvPr/>
        </p:nvSpPr>
        <p:spPr>
          <a:xfrm>
            <a:off x="2637130" y="1152144"/>
            <a:ext cx="365760" cy="365760"/>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2</a:t>
            </a:r>
            <a:endParaRPr lang="en-US" sz="800" dirty="0"/>
          </a:p>
        </p:txBody>
      </p:sp>
      <p:sp>
        <p:nvSpPr>
          <p:cNvPr id="14" name="Text 12"/>
          <p:cNvSpPr/>
          <p:nvPr/>
        </p:nvSpPr>
        <p:spPr>
          <a:xfrm>
            <a:off x="2136038"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Priorizar</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Diseño</a:t>
            </a:r>
            <a:endParaRPr lang="en-US" sz="800" dirty="0"/>
          </a:p>
        </p:txBody>
      </p:sp>
      <p:sp>
        <p:nvSpPr>
          <p:cNvPr id="15" name="Text 13"/>
          <p:cNvSpPr/>
          <p:nvPr/>
        </p:nvSpPr>
        <p:spPr>
          <a:xfrm>
            <a:off x="2136038" y="1828800"/>
            <a:ext cx="1367942" cy="548640"/>
          </a:xfrm>
          <a:prstGeom prst="rect">
            <a:avLst/>
          </a:prstGeom>
          <a:noFill/>
          <a:ln/>
        </p:spPr>
        <p:txBody>
          <a:bodyPr wrap="square" rtlCol="0" anchor="ctr"/>
          <a:lstStyle/>
          <a:p>
            <a:pPr algn="ctr" indent="0" marL="0">
              <a:buNone/>
            </a:pPr>
            <a:r>
              <a:rPr lang="en-US" sz="650" dirty="0">
                <a:solidFill>
                  <a:srgbClr val="FFFFFF"/>
                </a:solidFill>
                <a:latin typeface="Atkinson Hyperlegible" pitchFamily="34" charset="0"/>
                <a:ea typeface="Atkinson Hyperlegible" pitchFamily="34" charset="-122"/>
                <a:cs typeface="Atkinson Hyperlegible" pitchFamily="34" charset="-120"/>
              </a:rPr>
              <a:t>Los críticos primero, no en orden convencional</a:t>
            </a:r>
            <a:endParaRPr lang="en-US" sz="650" dirty="0"/>
          </a:p>
        </p:txBody>
      </p:sp>
      <p:sp>
        <p:nvSpPr>
          <p:cNvPr id="16" name="Shape 14"/>
          <p:cNvSpPr/>
          <p:nvPr/>
        </p:nvSpPr>
        <p:spPr>
          <a:xfrm>
            <a:off x="3577133" y="1778508"/>
            <a:ext cx="246888" cy="237744"/>
          </a:xfrm>
          <a:prstGeom prst="rightArrow">
            <a:avLst/>
          </a:prstGeom>
          <a:solidFill>
            <a:srgbClr val="D4620A"/>
          </a:solidFill>
          <a:ln w="12700">
            <a:solidFill>
              <a:srgbClr val="D4620A"/>
            </a:solidFill>
            <a:prstDash val="solid"/>
          </a:ln>
        </p:spPr>
      </p:sp>
      <p:sp>
        <p:nvSpPr>
          <p:cNvPr id="17" name="Shape 15"/>
          <p:cNvSpPr/>
          <p:nvPr/>
        </p:nvSpPr>
        <p:spPr>
          <a:xfrm>
            <a:off x="3824021" y="1371600"/>
            <a:ext cx="1495958" cy="1051560"/>
          </a:xfrm>
          <a:prstGeom prst="roundRect">
            <a:avLst>
              <a:gd name="adj" fmla="val 7826"/>
            </a:avLst>
          </a:prstGeom>
          <a:solidFill>
            <a:srgbClr val="D4620A"/>
          </a:solidFill>
          <a:ln w="12700">
            <a:solidFill>
              <a:srgbClr val="D4620A"/>
            </a:solidFill>
            <a:prstDash val="solid"/>
          </a:ln>
        </p:spPr>
      </p:sp>
      <p:sp>
        <p:nvSpPr>
          <p:cNvPr id="18" name="Shape 16"/>
          <p:cNvSpPr/>
          <p:nvPr/>
        </p:nvSpPr>
        <p:spPr>
          <a:xfrm>
            <a:off x="4389120" y="1152144"/>
            <a:ext cx="365760" cy="365760"/>
          </a:xfrm>
          <a:prstGeom prst="ellipse">
            <a:avLst/>
          </a:prstGeom>
          <a:solidFill>
            <a:srgbClr val="FFFFFF"/>
          </a:solidFill>
          <a:ln w="19050">
            <a:solidFill>
              <a:srgbClr val="D4620A"/>
            </a:solidFill>
            <a:prstDash val="solid"/>
          </a:ln>
        </p:spPr>
      </p:sp>
      <p:sp>
        <p:nvSpPr>
          <p:cNvPr id="19" name="Text 17"/>
          <p:cNvSpPr/>
          <p:nvPr/>
        </p:nvSpPr>
        <p:spPr>
          <a:xfrm>
            <a:off x="4389120" y="1152144"/>
            <a:ext cx="365760" cy="365760"/>
          </a:xfrm>
          <a:prstGeom prst="rect">
            <a:avLst/>
          </a:prstGeom>
          <a:noFill/>
          <a:ln/>
        </p:spPr>
        <p:txBody>
          <a:bodyPr wrap="square" rtlCol="0" anchor="ctr"/>
          <a:lstStyle/>
          <a:p>
            <a:pPr algn="ctr" indent="0" marL="0">
              <a:buNone/>
            </a:pPr>
            <a:r>
              <a:rPr lang="en-US" sz="800" b="1" dirty="0">
                <a:solidFill>
                  <a:srgbClr val="D4620A"/>
                </a:solidFill>
                <a:latin typeface="Atkinson Hyperlegible" pitchFamily="34" charset="0"/>
                <a:ea typeface="Atkinson Hyperlegible" pitchFamily="34" charset="-122"/>
                <a:cs typeface="Atkinson Hyperlegible" pitchFamily="34" charset="-120"/>
              </a:rPr>
              <a:t>3</a:t>
            </a:r>
            <a:endParaRPr lang="en-US" sz="800" dirty="0"/>
          </a:p>
        </p:txBody>
      </p:sp>
      <p:sp>
        <p:nvSpPr>
          <p:cNvPr id="20" name="Text 18"/>
          <p:cNvSpPr/>
          <p:nvPr/>
        </p:nvSpPr>
        <p:spPr>
          <a:xfrm>
            <a:off x="3888029"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IFP Temprano</a:t>
            </a:r>
            <a:endParaRPr lang="en-US" sz="800" dirty="0"/>
          </a:p>
        </p:txBody>
      </p:sp>
      <p:sp>
        <p:nvSpPr>
          <p:cNvPr id="21" name="Text 19"/>
          <p:cNvSpPr/>
          <p:nvPr/>
        </p:nvSpPr>
        <p:spPr>
          <a:xfrm>
            <a:off x="3888029" y="1828800"/>
            <a:ext cx="1367942" cy="548640"/>
          </a:xfrm>
          <a:prstGeom prst="rect">
            <a:avLst/>
          </a:prstGeom>
          <a:noFill/>
          <a:ln/>
        </p:spPr>
        <p:txBody>
          <a:bodyPr wrap="square" rtlCol="0" anchor="ctr"/>
          <a:lstStyle/>
          <a:p>
            <a:pPr algn="ctr" indent="0" marL="0">
              <a:buNone/>
            </a:pPr>
            <a:r>
              <a:rPr lang="en-US" sz="650" dirty="0">
                <a:solidFill>
                  <a:srgbClr val="FFFFFF"/>
                </a:solidFill>
                <a:latin typeface="Atkinson Hyperlegible" pitchFamily="34" charset="0"/>
                <a:ea typeface="Atkinson Hyperlegible" pitchFamily="34" charset="-122"/>
                <a:cs typeface="Atkinson Hyperlegible" pitchFamily="34" charset="-120"/>
              </a:rPr>
              <a:t>Issued for Procurement antes de IFC final</a:t>
            </a:r>
            <a:endParaRPr lang="en-US" sz="650" dirty="0"/>
          </a:p>
        </p:txBody>
      </p:sp>
      <p:sp>
        <p:nvSpPr>
          <p:cNvPr id="22" name="Shape 20"/>
          <p:cNvSpPr/>
          <p:nvPr/>
        </p:nvSpPr>
        <p:spPr>
          <a:xfrm>
            <a:off x="5329123" y="1778508"/>
            <a:ext cx="246888" cy="237744"/>
          </a:xfrm>
          <a:prstGeom prst="rightArrow">
            <a:avLst/>
          </a:prstGeom>
          <a:solidFill>
            <a:srgbClr val="D4620A"/>
          </a:solidFill>
          <a:ln w="12700">
            <a:solidFill>
              <a:srgbClr val="D4620A"/>
            </a:solidFill>
            <a:prstDash val="solid"/>
          </a:ln>
        </p:spPr>
      </p:sp>
      <p:sp>
        <p:nvSpPr>
          <p:cNvPr id="23" name="Shape 21"/>
          <p:cNvSpPr/>
          <p:nvPr/>
        </p:nvSpPr>
        <p:spPr>
          <a:xfrm>
            <a:off x="5576011" y="1371600"/>
            <a:ext cx="1495958" cy="1051560"/>
          </a:xfrm>
          <a:prstGeom prst="roundRect">
            <a:avLst>
              <a:gd name="adj" fmla="val 7826"/>
            </a:avLst>
          </a:prstGeom>
          <a:solidFill>
            <a:srgbClr val="1D1D1F"/>
          </a:solidFill>
          <a:ln w="12700">
            <a:solidFill>
              <a:srgbClr val="1D1D1F"/>
            </a:solidFill>
            <a:prstDash val="solid"/>
          </a:ln>
        </p:spPr>
      </p:sp>
      <p:sp>
        <p:nvSpPr>
          <p:cNvPr id="24" name="Shape 22"/>
          <p:cNvSpPr/>
          <p:nvPr/>
        </p:nvSpPr>
        <p:spPr>
          <a:xfrm>
            <a:off x="6141110" y="1152144"/>
            <a:ext cx="365760" cy="365760"/>
          </a:xfrm>
          <a:prstGeom prst="ellipse">
            <a:avLst/>
          </a:prstGeom>
          <a:solidFill>
            <a:srgbClr val="FFFFFF"/>
          </a:solidFill>
          <a:ln w="19050">
            <a:solidFill>
              <a:srgbClr val="1D1D1F"/>
            </a:solidFill>
            <a:prstDash val="solid"/>
          </a:ln>
        </p:spPr>
      </p:sp>
      <p:sp>
        <p:nvSpPr>
          <p:cNvPr id="25" name="Text 23"/>
          <p:cNvSpPr/>
          <p:nvPr/>
        </p:nvSpPr>
        <p:spPr>
          <a:xfrm>
            <a:off x="6141110" y="1152144"/>
            <a:ext cx="365760" cy="365760"/>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4</a:t>
            </a:r>
            <a:endParaRPr lang="en-US" sz="800" dirty="0"/>
          </a:p>
        </p:txBody>
      </p:sp>
      <p:sp>
        <p:nvSpPr>
          <p:cNvPr id="26" name="Text 24"/>
          <p:cNvSpPr/>
          <p:nvPr/>
        </p:nvSpPr>
        <p:spPr>
          <a:xfrm>
            <a:off x="5640019"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IFC por Paquetes</a:t>
            </a:r>
            <a:endParaRPr lang="en-US" sz="800" dirty="0"/>
          </a:p>
        </p:txBody>
      </p:sp>
      <p:sp>
        <p:nvSpPr>
          <p:cNvPr id="27" name="Text 25"/>
          <p:cNvSpPr/>
          <p:nvPr/>
        </p:nvSpPr>
        <p:spPr>
          <a:xfrm>
            <a:off x="5640019" y="1828800"/>
            <a:ext cx="1367942" cy="548640"/>
          </a:xfrm>
          <a:prstGeom prst="rect">
            <a:avLst/>
          </a:prstGeom>
          <a:noFill/>
          <a:ln/>
        </p:spPr>
        <p:txBody>
          <a:bodyPr wrap="square" rtlCol="0" anchor="ctr"/>
          <a:lstStyle/>
          <a:p>
            <a:pPr algn="ctr" indent="0" marL="0">
              <a:buNone/>
            </a:pPr>
            <a:r>
              <a:rPr lang="en-US" sz="650" dirty="0">
                <a:solidFill>
                  <a:srgbClr val="FFFFFF"/>
                </a:solidFill>
                <a:latin typeface="Atkinson Hyperlegible" pitchFamily="34" charset="0"/>
                <a:ea typeface="Atkinson Hyperlegible" pitchFamily="34" charset="-122"/>
                <a:cs typeface="Atkinson Hyperlegible" pitchFamily="34" charset="-120"/>
              </a:rPr>
              <a:t>No todo al mismo tiempo: paquetes constructivos</a:t>
            </a:r>
            <a:endParaRPr lang="en-US" sz="650" dirty="0"/>
          </a:p>
        </p:txBody>
      </p:sp>
      <p:sp>
        <p:nvSpPr>
          <p:cNvPr id="28" name="Shape 26"/>
          <p:cNvSpPr/>
          <p:nvPr/>
        </p:nvSpPr>
        <p:spPr>
          <a:xfrm>
            <a:off x="7081114" y="1778508"/>
            <a:ext cx="246888" cy="237744"/>
          </a:xfrm>
          <a:prstGeom prst="rightArrow">
            <a:avLst/>
          </a:prstGeom>
          <a:solidFill>
            <a:srgbClr val="D4620A"/>
          </a:solidFill>
          <a:ln w="12700">
            <a:solidFill>
              <a:srgbClr val="D4620A"/>
            </a:solidFill>
            <a:prstDash val="solid"/>
          </a:ln>
        </p:spPr>
      </p:sp>
      <p:sp>
        <p:nvSpPr>
          <p:cNvPr id="29" name="Shape 27"/>
          <p:cNvSpPr/>
          <p:nvPr/>
        </p:nvSpPr>
        <p:spPr>
          <a:xfrm>
            <a:off x="7328002" y="1371600"/>
            <a:ext cx="1495958" cy="1051560"/>
          </a:xfrm>
          <a:prstGeom prst="roundRect">
            <a:avLst>
              <a:gd name="adj" fmla="val 7826"/>
            </a:avLst>
          </a:prstGeom>
          <a:solidFill>
            <a:srgbClr val="D4620A"/>
          </a:solidFill>
          <a:ln w="12700">
            <a:solidFill>
              <a:srgbClr val="D4620A"/>
            </a:solidFill>
            <a:prstDash val="solid"/>
          </a:ln>
        </p:spPr>
      </p:sp>
      <p:sp>
        <p:nvSpPr>
          <p:cNvPr id="30" name="Shape 28"/>
          <p:cNvSpPr/>
          <p:nvPr/>
        </p:nvSpPr>
        <p:spPr>
          <a:xfrm>
            <a:off x="7893101" y="1152144"/>
            <a:ext cx="365760" cy="365760"/>
          </a:xfrm>
          <a:prstGeom prst="ellipse">
            <a:avLst/>
          </a:prstGeom>
          <a:solidFill>
            <a:srgbClr val="FFFFFF"/>
          </a:solidFill>
          <a:ln w="19050">
            <a:solidFill>
              <a:srgbClr val="D4620A"/>
            </a:solidFill>
            <a:prstDash val="solid"/>
          </a:ln>
        </p:spPr>
      </p:sp>
      <p:sp>
        <p:nvSpPr>
          <p:cNvPr id="31" name="Text 29"/>
          <p:cNvSpPr/>
          <p:nvPr/>
        </p:nvSpPr>
        <p:spPr>
          <a:xfrm>
            <a:off x="7893101" y="1152144"/>
            <a:ext cx="365760" cy="365760"/>
          </a:xfrm>
          <a:prstGeom prst="rect">
            <a:avLst/>
          </a:prstGeom>
          <a:noFill/>
          <a:ln/>
        </p:spPr>
        <p:txBody>
          <a:bodyPr wrap="square" rtlCol="0" anchor="ctr"/>
          <a:lstStyle/>
          <a:p>
            <a:pPr algn="ctr" indent="0" marL="0">
              <a:buNone/>
            </a:pPr>
            <a:r>
              <a:rPr lang="en-US" sz="800" b="1" dirty="0">
                <a:solidFill>
                  <a:srgbClr val="D4620A"/>
                </a:solidFill>
                <a:latin typeface="Atkinson Hyperlegible" pitchFamily="34" charset="0"/>
                <a:ea typeface="Atkinson Hyperlegible" pitchFamily="34" charset="-122"/>
                <a:cs typeface="Atkinson Hyperlegible" pitchFamily="34" charset="-120"/>
              </a:rPr>
              <a:t>5</a:t>
            </a:r>
            <a:endParaRPr lang="en-US" sz="800" dirty="0"/>
          </a:p>
        </p:txBody>
      </p:sp>
      <p:sp>
        <p:nvSpPr>
          <p:cNvPr id="32" name="Text 30"/>
          <p:cNvSpPr/>
          <p:nvPr/>
        </p:nvSpPr>
        <p:spPr>
          <a:xfrm>
            <a:off x="7392010"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Control de</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Cambios</a:t>
            </a:r>
            <a:endParaRPr lang="en-US" sz="800" dirty="0"/>
          </a:p>
        </p:txBody>
      </p:sp>
      <p:sp>
        <p:nvSpPr>
          <p:cNvPr id="33" name="Text 31"/>
          <p:cNvSpPr/>
          <p:nvPr/>
        </p:nvSpPr>
        <p:spPr>
          <a:xfrm>
            <a:off x="7392010" y="1828800"/>
            <a:ext cx="1367942" cy="548640"/>
          </a:xfrm>
          <a:prstGeom prst="rect">
            <a:avLst/>
          </a:prstGeom>
          <a:noFill/>
          <a:ln/>
        </p:spPr>
        <p:txBody>
          <a:bodyPr wrap="square" rtlCol="0" anchor="ctr"/>
          <a:lstStyle/>
          <a:p>
            <a:pPr algn="ctr" indent="0" marL="0">
              <a:buNone/>
            </a:pPr>
            <a:r>
              <a:rPr lang="en-US" sz="650" dirty="0">
                <a:solidFill>
                  <a:srgbClr val="FFFFFF"/>
                </a:solidFill>
                <a:latin typeface="Atkinson Hyperlegible" pitchFamily="34" charset="0"/>
                <a:ea typeface="Atkinson Hyperlegible" pitchFamily="34" charset="-122"/>
                <a:cs typeface="Atkinson Hyperlegible" pitchFamily="34" charset="-120"/>
              </a:rPr>
              <a:t>Freeze de diseño por disciplina y fecha</a:t>
            </a:r>
            <a:endParaRPr lang="en-US" sz="650" dirty="0"/>
          </a:p>
        </p:txBody>
      </p:sp>
      <p:sp>
        <p:nvSpPr>
          <p:cNvPr id="34" name="Shape 32"/>
          <p:cNvSpPr/>
          <p:nvPr/>
        </p:nvSpPr>
        <p:spPr>
          <a:xfrm>
            <a:off x="320040" y="3493008"/>
            <a:ext cx="2743200" cy="1335024"/>
          </a:xfrm>
          <a:prstGeom prst="roundRect">
            <a:avLst>
              <a:gd name="adj" fmla="val 5479"/>
            </a:avLst>
          </a:prstGeom>
          <a:solidFill>
            <a:srgbClr val="FFFFFF"/>
          </a:solidFill>
          <a:ln w="19050">
            <a:solidFill>
              <a:srgbClr val="D4620A"/>
            </a:solidFill>
            <a:prstDash val="solid"/>
          </a:ln>
        </p:spPr>
      </p:sp>
      <p:sp>
        <p:nvSpPr>
          <p:cNvPr id="35" name="Text 33"/>
          <p:cNvSpPr/>
          <p:nvPr/>
        </p:nvSpPr>
        <p:spPr>
          <a:xfrm>
            <a:off x="429768" y="3584448"/>
            <a:ext cx="2542032" cy="347472"/>
          </a:xfrm>
          <a:prstGeom prst="rect">
            <a:avLst/>
          </a:prstGeom>
          <a:noFill/>
          <a:ln/>
        </p:spPr>
        <p:txBody>
          <a:bodyPr wrap="square" rtlCol="0" anchor="ctr"/>
          <a:lstStyle/>
          <a:p>
            <a:pPr indent="0" marL="0">
              <a:buNone/>
            </a:pPr>
            <a:r>
              <a:rPr lang="en-US" sz="800" b="1" dirty="0">
                <a:solidFill>
                  <a:srgbClr val="D4620A"/>
                </a:solidFill>
                <a:latin typeface="Atkinson Hyperlegible" pitchFamily="34" charset="0"/>
                <a:ea typeface="Atkinson Hyperlegible" pitchFamily="34" charset="-122"/>
                <a:cs typeface="Atkinson Hyperlegible" pitchFamily="34" charset="-120"/>
              </a:rPr>
              <a:t>Diseño lineal (sin II-6)</a:t>
            </a:r>
            <a:endParaRPr lang="en-US" sz="800" dirty="0"/>
          </a:p>
        </p:txBody>
      </p:sp>
      <p:sp>
        <p:nvSpPr>
          <p:cNvPr id="36" name="Text 34"/>
          <p:cNvSpPr/>
          <p:nvPr/>
        </p:nvSpPr>
        <p:spPr>
          <a:xfrm>
            <a:off x="429768" y="3968496"/>
            <a:ext cx="2542032" cy="740664"/>
          </a:xfrm>
          <a:prstGeom prst="rect">
            <a:avLst/>
          </a:prstGeom>
          <a:noFill/>
          <a:ln/>
        </p:spPr>
        <p:txBody>
          <a:bodyPr wrap="square" rtlCol="0" anchor="t"/>
          <a:lstStyle/>
          <a:p>
            <a:pPr indent="0" marL="0">
              <a:buNone/>
            </a:pPr>
            <a:r>
              <a:rPr lang="en-US" sz="700" dirty="0">
                <a:solidFill>
                  <a:srgbClr val="1D1D1F"/>
                </a:solidFill>
                <a:latin typeface="Atkinson Hyperlegible" pitchFamily="34" charset="0"/>
                <a:ea typeface="Atkinson Hyperlegible" pitchFamily="34" charset="-122"/>
                <a:cs typeface="Atkinson Hyperlegible" pitchFamily="34" charset="-120"/>
              </a:rPr>
              <a:t>Estructura → Civil → Tuberías → Eléctrico → Instrumentación. Todo en secuencia. El crítico espera.</a:t>
            </a:r>
            <a:endParaRPr lang="en-US" sz="700" dirty="0"/>
          </a:p>
        </p:txBody>
      </p:sp>
      <p:sp>
        <p:nvSpPr>
          <p:cNvPr id="37" name="Shape 35"/>
          <p:cNvSpPr/>
          <p:nvPr/>
        </p:nvSpPr>
        <p:spPr>
          <a:xfrm>
            <a:off x="3172968" y="3493008"/>
            <a:ext cx="2743200" cy="1335024"/>
          </a:xfrm>
          <a:prstGeom prst="roundRect">
            <a:avLst>
              <a:gd name="adj" fmla="val 5479"/>
            </a:avLst>
          </a:prstGeom>
          <a:solidFill>
            <a:srgbClr val="D4620A"/>
          </a:solidFill>
          <a:ln w="19050">
            <a:solidFill>
              <a:srgbClr val="D4620A"/>
            </a:solidFill>
            <a:prstDash val="solid"/>
          </a:ln>
        </p:spPr>
      </p:sp>
      <p:sp>
        <p:nvSpPr>
          <p:cNvPr id="38" name="Text 36"/>
          <p:cNvSpPr/>
          <p:nvPr/>
        </p:nvSpPr>
        <p:spPr>
          <a:xfrm>
            <a:off x="3282696" y="3584448"/>
            <a:ext cx="2542032" cy="347472"/>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Diseño paralelo (con II-6)</a:t>
            </a:r>
            <a:endParaRPr lang="en-US" sz="800" dirty="0"/>
          </a:p>
        </p:txBody>
      </p:sp>
      <p:sp>
        <p:nvSpPr>
          <p:cNvPr id="39" name="Text 37"/>
          <p:cNvSpPr/>
          <p:nvPr/>
        </p:nvSpPr>
        <p:spPr>
          <a:xfrm>
            <a:off x="3282696" y="3968496"/>
            <a:ext cx="2542032" cy="740664"/>
          </a:xfrm>
          <a:prstGeom prst="rect">
            <a:avLst/>
          </a:prstGeom>
          <a:noFill/>
          <a:ln/>
        </p:spPr>
        <p:txBody>
          <a:bodyPr wrap="square" rtlCol="0" anchor="t"/>
          <a:lstStyle/>
          <a:p>
            <a:pPr indent="0" marL="0">
              <a:buNone/>
            </a:pPr>
            <a:r>
              <a:rPr lang="en-US" sz="700" dirty="0">
                <a:solidFill>
                  <a:srgbClr val="E8E8ED"/>
                </a:solidFill>
                <a:latin typeface="Atkinson Hyperlegible" pitchFamily="34" charset="0"/>
                <a:ea typeface="Atkinson Hyperlegible" pitchFamily="34" charset="-122"/>
                <a:cs typeface="Atkinson Hyperlegible" pitchFamily="34" charset="-120"/>
              </a:rPr>
              <a:t>Los críticos se diseñan en paralelo y primero. El cronograma de diseño sigue al crítico del proyecto.</a:t>
            </a:r>
            <a:endParaRPr lang="en-US" sz="700" dirty="0"/>
          </a:p>
        </p:txBody>
      </p:sp>
      <p:sp>
        <p:nvSpPr>
          <p:cNvPr id="40" name="Shape 38"/>
          <p:cNvSpPr/>
          <p:nvPr/>
        </p:nvSpPr>
        <p:spPr>
          <a:xfrm>
            <a:off x="6025896" y="3493008"/>
            <a:ext cx="2743200" cy="1335024"/>
          </a:xfrm>
          <a:prstGeom prst="roundRect">
            <a:avLst>
              <a:gd name="adj" fmla="val 5479"/>
            </a:avLst>
          </a:prstGeom>
          <a:solidFill>
            <a:srgbClr val="FFFFFF"/>
          </a:solidFill>
          <a:ln w="19050">
            <a:solidFill>
              <a:srgbClr val="D4620A"/>
            </a:solidFill>
            <a:prstDash val="solid"/>
          </a:ln>
        </p:spPr>
      </p:sp>
      <p:sp>
        <p:nvSpPr>
          <p:cNvPr id="41" name="Text 39"/>
          <p:cNvSpPr/>
          <p:nvPr/>
        </p:nvSpPr>
        <p:spPr>
          <a:xfrm>
            <a:off x="6135624" y="3584448"/>
            <a:ext cx="2542032" cy="347472"/>
          </a:xfrm>
          <a:prstGeom prst="rect">
            <a:avLst/>
          </a:prstGeom>
          <a:noFill/>
          <a:ln/>
        </p:spPr>
        <p:txBody>
          <a:bodyPr wrap="square" rtlCol="0" anchor="ctr"/>
          <a:lstStyle/>
          <a:p>
            <a:pPr indent="0" marL="0">
              <a:buNone/>
            </a:pPr>
            <a:r>
              <a:rPr lang="en-US" sz="800" b="1" dirty="0">
                <a:solidFill>
                  <a:srgbClr val="D4620A"/>
                </a:solidFill>
                <a:latin typeface="Atkinson Hyperlegible" pitchFamily="34" charset="0"/>
                <a:ea typeface="Atkinson Hyperlegible" pitchFamily="34" charset="-122"/>
                <a:cs typeface="Atkinson Hyperlegible" pitchFamily="34" charset="-120"/>
              </a:rPr>
              <a:t>Resultado</a:t>
            </a:r>
            <a:endParaRPr lang="en-US" sz="800" dirty="0"/>
          </a:p>
        </p:txBody>
      </p:sp>
      <p:sp>
        <p:nvSpPr>
          <p:cNvPr id="42" name="Text 40"/>
          <p:cNvSpPr/>
          <p:nvPr/>
        </p:nvSpPr>
        <p:spPr>
          <a:xfrm>
            <a:off x="6135624" y="3968496"/>
            <a:ext cx="2542032" cy="740664"/>
          </a:xfrm>
          <a:prstGeom prst="rect">
            <a:avLst/>
          </a:prstGeom>
          <a:noFill/>
          <a:ln/>
        </p:spPr>
        <p:txBody>
          <a:bodyPr wrap="square" rtlCol="0" anchor="t"/>
          <a:lstStyle/>
          <a:p>
            <a:pPr indent="0" marL="0">
              <a:buNone/>
            </a:pPr>
            <a:r>
              <a:rPr lang="en-US" sz="700" dirty="0">
                <a:solidFill>
                  <a:srgbClr val="1D1D1F"/>
                </a:solidFill>
                <a:latin typeface="Atkinson Hyperlegible" pitchFamily="34" charset="0"/>
                <a:ea typeface="Atkinson Hyperlegible" pitchFamily="34" charset="-122"/>
                <a:cs typeface="Atkinson Hyperlegible" pitchFamily="34" charset="-120"/>
              </a:rPr>
              <a:t>Reducción del 15-25% en la duración total del diseño al eliminar la ruta crítica del diseño convencional.</a:t>
            </a:r>
            <a:endParaRPr lang="en-US" sz="700" dirty="0"/>
          </a:p>
        </p:txBody>
      </p:sp>
      <p:sp>
        <p:nvSpPr>
          <p:cNvPr id="43" name="Shape 41"/>
          <p:cNvSpPr/>
          <p:nvPr/>
        </p:nvSpPr>
        <p:spPr>
          <a:xfrm>
            <a:off x="182880" y="4956048"/>
            <a:ext cx="8961120" cy="182880"/>
          </a:xfrm>
          <a:prstGeom prst="rect">
            <a:avLst/>
          </a:prstGeom>
          <a:solidFill>
            <a:srgbClr val="D4620A"/>
          </a:solidFill>
          <a:ln w="12700">
            <a:solidFill>
              <a:srgbClr val="D4620A"/>
            </a:solidFill>
            <a:prstDash val="solid"/>
          </a:ln>
        </p:spPr>
      </p:sp>
      <p:sp>
        <p:nvSpPr>
          <p:cNvPr id="44" name="Text 42"/>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35 / 126</a:t>
            </a:r>
            <a:endParaRPr lang="en-US" sz="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D4620A"/>
          </a:solidFill>
          <a:ln w="12700">
            <a:solidFill>
              <a:srgbClr val="D4620A"/>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II-7: Revisión de Constructabilidad del Diseño</a:t>
            </a:r>
            <a:endParaRPr lang="en-US" sz="1800" dirty="0"/>
          </a:p>
        </p:txBody>
      </p:sp>
      <p:sp>
        <p:nvSpPr>
          <p:cNvPr id="4" name="Shape 2"/>
          <p:cNvSpPr/>
          <p:nvPr/>
        </p:nvSpPr>
        <p:spPr>
          <a:xfrm>
            <a:off x="320040" y="640080"/>
            <a:ext cx="8503920" cy="41148"/>
          </a:xfrm>
          <a:prstGeom prst="rect">
            <a:avLst/>
          </a:prstGeom>
          <a:solidFill>
            <a:srgbClr val="D4620A"/>
          </a:solidFill>
          <a:ln w="12700">
            <a:solidFill>
              <a:srgbClr val="D4620A"/>
            </a:solidFill>
            <a:prstDash val="solid"/>
          </a:ln>
        </p:spPr>
      </p:sp>
      <p:sp>
        <p:nvSpPr>
          <p:cNvPr id="5" name="Shape 3"/>
          <p:cNvSpPr/>
          <p:nvPr/>
        </p:nvSpPr>
        <p:spPr>
          <a:xfrm>
            <a:off x="3931920" y="2450592"/>
            <a:ext cx="1280160" cy="768096"/>
          </a:xfrm>
          <a:prstGeom prst="ellipse">
            <a:avLst/>
          </a:prstGeom>
          <a:solidFill>
            <a:srgbClr val="D4620A"/>
          </a:solidFill>
          <a:ln w="12700">
            <a:solidFill>
              <a:srgbClr val="D4620A"/>
            </a:solidFill>
            <a:prstDash val="solid"/>
          </a:ln>
        </p:spPr>
      </p:sp>
      <p:sp>
        <p:nvSpPr>
          <p:cNvPr id="6" name="Text 4"/>
          <p:cNvSpPr/>
          <p:nvPr/>
        </p:nvSpPr>
        <p:spPr>
          <a:xfrm>
            <a:off x="3931920" y="2450592"/>
            <a:ext cx="1280160" cy="768096"/>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REVISIÓN</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FORMAL</a:t>
            </a:r>
            <a:endParaRPr lang="en-US" sz="800" dirty="0"/>
          </a:p>
        </p:txBody>
      </p:sp>
      <p:sp>
        <p:nvSpPr>
          <p:cNvPr id="7" name="Shape 5"/>
          <p:cNvSpPr/>
          <p:nvPr/>
        </p:nvSpPr>
        <p:spPr>
          <a:xfrm flipV="1">
            <a:off x="4572000" y="1725473"/>
            <a:ext cx="18288" cy="706831"/>
          </a:xfrm>
          <a:prstGeom prst="line">
            <a:avLst/>
          </a:prstGeom>
          <a:noFill/>
          <a:ln w="15240">
            <a:solidFill>
              <a:srgbClr val="D4620A"/>
            </a:solidFill>
            <a:prstDash val="solid"/>
          </a:ln>
        </p:spPr>
      </p:sp>
      <p:sp>
        <p:nvSpPr>
          <p:cNvPr id="8" name="Shape 6"/>
          <p:cNvSpPr/>
          <p:nvPr/>
        </p:nvSpPr>
        <p:spPr>
          <a:xfrm>
            <a:off x="3954780" y="1195121"/>
            <a:ext cx="1234440" cy="512064"/>
          </a:xfrm>
          <a:prstGeom prst="roundRect">
            <a:avLst>
              <a:gd name="adj" fmla="val 12500"/>
            </a:avLst>
          </a:prstGeom>
          <a:solidFill>
            <a:srgbClr val="D4620A"/>
          </a:solidFill>
          <a:ln w="12700">
            <a:solidFill>
              <a:srgbClr val="D4620A"/>
            </a:solidFill>
            <a:prstDash val="solid"/>
          </a:ln>
        </p:spPr>
      </p:sp>
      <p:sp>
        <p:nvSpPr>
          <p:cNvPr id="9" name="Text 7"/>
          <p:cNvSpPr/>
          <p:nvPr/>
        </p:nvSpPr>
        <p:spPr>
          <a:xfrm>
            <a:off x="3954780" y="1195121"/>
            <a:ext cx="1234440"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Constructabilidad</a:t>
            </a:r>
            <a:endParaRPr lang="en-US" sz="750" dirty="0"/>
          </a:p>
        </p:txBody>
      </p:sp>
      <p:sp>
        <p:nvSpPr>
          <p:cNvPr id="10" name="Text 8"/>
          <p:cNvSpPr/>
          <p:nvPr/>
        </p:nvSpPr>
        <p:spPr>
          <a:xfrm>
            <a:off x="3954780" y="1451153"/>
            <a:ext cx="1234440" cy="256032"/>
          </a:xfrm>
          <a:prstGeom prst="rect">
            <a:avLst/>
          </a:prstGeom>
          <a:noFill/>
          <a:ln/>
        </p:spPr>
        <p:txBody>
          <a:bodyPr wrap="square" rtlCol="0" anchor="ctr"/>
          <a:lstStyle/>
          <a:p>
            <a:pPr algn="ctr" indent="0" marL="0">
              <a:buNone/>
            </a:pPr>
            <a:r>
              <a:rPr lang="en-US" sz="600" i="1" dirty="0">
                <a:solidFill>
                  <a:srgbClr val="FFFFFF"/>
                </a:solidFill>
                <a:latin typeface="Atkinson Hyperlegible" pitchFamily="34" charset="0"/>
                <a:ea typeface="Atkinson Hyperlegible" pitchFamily="34" charset="-122"/>
                <a:cs typeface="Atkinson Hyperlegible" pitchFamily="34" charset="-120"/>
              </a:rPr>
              <a:t>¿Se puede construir?</a:t>
            </a:r>
            <a:endParaRPr lang="en-US" sz="600" dirty="0"/>
          </a:p>
        </p:txBody>
      </p:sp>
      <p:sp>
        <p:nvSpPr>
          <p:cNvPr id="11" name="Shape 9"/>
          <p:cNvSpPr/>
          <p:nvPr/>
        </p:nvSpPr>
        <p:spPr>
          <a:xfrm flipV="1">
            <a:off x="5142163" y="2280056"/>
            <a:ext cx="300920" cy="353416"/>
          </a:xfrm>
          <a:prstGeom prst="line">
            <a:avLst/>
          </a:prstGeom>
          <a:noFill/>
          <a:ln w="15240">
            <a:solidFill>
              <a:srgbClr val="D4620A"/>
            </a:solidFill>
            <a:prstDash val="solid"/>
          </a:ln>
        </p:spPr>
      </p:sp>
      <p:sp>
        <p:nvSpPr>
          <p:cNvPr id="12" name="Shape 10"/>
          <p:cNvSpPr/>
          <p:nvPr/>
        </p:nvSpPr>
        <p:spPr>
          <a:xfrm>
            <a:off x="5364351" y="1886864"/>
            <a:ext cx="1234440" cy="512064"/>
          </a:xfrm>
          <a:prstGeom prst="roundRect">
            <a:avLst>
              <a:gd name="adj" fmla="val 12500"/>
            </a:avLst>
          </a:prstGeom>
          <a:solidFill>
            <a:srgbClr val="C0392B"/>
          </a:solidFill>
          <a:ln w="12700">
            <a:solidFill>
              <a:srgbClr val="D4620A"/>
            </a:solidFill>
            <a:prstDash val="solid"/>
          </a:ln>
        </p:spPr>
      </p:sp>
      <p:sp>
        <p:nvSpPr>
          <p:cNvPr id="13" name="Text 11"/>
          <p:cNvSpPr/>
          <p:nvPr/>
        </p:nvSpPr>
        <p:spPr>
          <a:xfrm>
            <a:off x="5364351" y="1886864"/>
            <a:ext cx="1234440"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Seguridad</a:t>
            </a:r>
            <a:endParaRPr lang="en-US" sz="750" dirty="0"/>
          </a:p>
        </p:txBody>
      </p:sp>
      <p:sp>
        <p:nvSpPr>
          <p:cNvPr id="14" name="Text 12"/>
          <p:cNvSpPr/>
          <p:nvPr/>
        </p:nvSpPr>
        <p:spPr>
          <a:xfrm>
            <a:off x="5364351" y="2142896"/>
            <a:ext cx="1234440" cy="256032"/>
          </a:xfrm>
          <a:prstGeom prst="rect">
            <a:avLst/>
          </a:prstGeom>
          <a:noFill/>
          <a:ln/>
        </p:spPr>
        <p:txBody>
          <a:bodyPr wrap="square" rtlCol="0" anchor="ctr"/>
          <a:lstStyle/>
          <a:p>
            <a:pPr algn="ctr" indent="0" marL="0">
              <a:buNone/>
            </a:pPr>
            <a:r>
              <a:rPr lang="en-US" sz="600" i="1" dirty="0">
                <a:solidFill>
                  <a:srgbClr val="FFFFFF"/>
                </a:solidFill>
                <a:latin typeface="Atkinson Hyperlegible" pitchFamily="34" charset="0"/>
                <a:ea typeface="Atkinson Hyperlegible" pitchFamily="34" charset="-122"/>
                <a:cs typeface="Atkinson Hyperlegible" pitchFamily="34" charset="-120"/>
              </a:rPr>
              <a:t>¿Es seguro construirlo?</a:t>
            </a:r>
            <a:endParaRPr lang="en-US" sz="600" dirty="0"/>
          </a:p>
        </p:txBody>
      </p:sp>
      <p:sp>
        <p:nvSpPr>
          <p:cNvPr id="15" name="Shape 13"/>
          <p:cNvSpPr/>
          <p:nvPr/>
        </p:nvSpPr>
        <p:spPr>
          <a:xfrm>
            <a:off x="5142163" y="3035808"/>
            <a:ext cx="300920" cy="353416"/>
          </a:xfrm>
          <a:prstGeom prst="line">
            <a:avLst/>
          </a:prstGeom>
          <a:noFill/>
          <a:ln w="15240">
            <a:solidFill>
              <a:srgbClr val="D4620A"/>
            </a:solidFill>
            <a:prstDash val="solid"/>
          </a:ln>
        </p:spPr>
      </p:sp>
      <p:sp>
        <p:nvSpPr>
          <p:cNvPr id="16" name="Shape 14"/>
          <p:cNvSpPr/>
          <p:nvPr/>
        </p:nvSpPr>
        <p:spPr>
          <a:xfrm>
            <a:off x="5364351" y="3270352"/>
            <a:ext cx="1234440" cy="512064"/>
          </a:xfrm>
          <a:prstGeom prst="roundRect">
            <a:avLst>
              <a:gd name="adj" fmla="val 12500"/>
            </a:avLst>
          </a:prstGeom>
          <a:solidFill>
            <a:srgbClr val="0E9E9E"/>
          </a:solidFill>
          <a:ln w="12700">
            <a:solidFill>
              <a:srgbClr val="D4620A"/>
            </a:solidFill>
            <a:prstDash val="solid"/>
          </a:ln>
        </p:spPr>
      </p:sp>
      <p:sp>
        <p:nvSpPr>
          <p:cNvPr id="17" name="Text 15"/>
          <p:cNvSpPr/>
          <p:nvPr/>
        </p:nvSpPr>
        <p:spPr>
          <a:xfrm>
            <a:off x="5364351" y="3270352"/>
            <a:ext cx="1234440"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Mantenibilidad</a:t>
            </a:r>
            <a:endParaRPr lang="en-US" sz="750" dirty="0"/>
          </a:p>
        </p:txBody>
      </p:sp>
      <p:sp>
        <p:nvSpPr>
          <p:cNvPr id="18" name="Text 16"/>
          <p:cNvSpPr/>
          <p:nvPr/>
        </p:nvSpPr>
        <p:spPr>
          <a:xfrm>
            <a:off x="5364351" y="3526384"/>
            <a:ext cx="1234440" cy="256032"/>
          </a:xfrm>
          <a:prstGeom prst="rect">
            <a:avLst/>
          </a:prstGeom>
          <a:noFill/>
          <a:ln/>
        </p:spPr>
        <p:txBody>
          <a:bodyPr wrap="square" rtlCol="0" anchor="ctr"/>
          <a:lstStyle/>
          <a:p>
            <a:pPr algn="ctr" indent="0" marL="0">
              <a:buNone/>
            </a:pPr>
            <a:r>
              <a:rPr lang="en-US" sz="600" i="1" dirty="0">
                <a:solidFill>
                  <a:srgbClr val="FFFFFF"/>
                </a:solidFill>
                <a:latin typeface="Atkinson Hyperlegible" pitchFamily="34" charset="0"/>
                <a:ea typeface="Atkinson Hyperlegible" pitchFamily="34" charset="-122"/>
                <a:cs typeface="Atkinson Hyperlegible" pitchFamily="34" charset="-120"/>
              </a:rPr>
              <a:t>¿Se puede mantener?</a:t>
            </a:r>
            <a:endParaRPr lang="en-US" sz="600" dirty="0"/>
          </a:p>
        </p:txBody>
      </p:sp>
      <p:sp>
        <p:nvSpPr>
          <p:cNvPr id="19" name="Shape 17"/>
          <p:cNvSpPr/>
          <p:nvPr/>
        </p:nvSpPr>
        <p:spPr>
          <a:xfrm>
            <a:off x="4572000" y="3236976"/>
            <a:ext cx="18288" cy="706831"/>
          </a:xfrm>
          <a:prstGeom prst="line">
            <a:avLst/>
          </a:prstGeom>
          <a:noFill/>
          <a:ln w="15240">
            <a:solidFill>
              <a:srgbClr val="D4620A"/>
            </a:solidFill>
            <a:prstDash val="solid"/>
          </a:ln>
        </p:spPr>
      </p:sp>
      <p:sp>
        <p:nvSpPr>
          <p:cNvPr id="20" name="Shape 18"/>
          <p:cNvSpPr/>
          <p:nvPr/>
        </p:nvSpPr>
        <p:spPr>
          <a:xfrm>
            <a:off x="3954780" y="3962095"/>
            <a:ext cx="1234440" cy="512064"/>
          </a:xfrm>
          <a:prstGeom prst="roundRect">
            <a:avLst>
              <a:gd name="adj" fmla="val 12500"/>
            </a:avLst>
          </a:prstGeom>
          <a:solidFill>
            <a:srgbClr val="27AE60"/>
          </a:solidFill>
          <a:ln w="12700">
            <a:solidFill>
              <a:srgbClr val="D4620A"/>
            </a:solidFill>
            <a:prstDash val="solid"/>
          </a:ln>
        </p:spPr>
      </p:sp>
      <p:sp>
        <p:nvSpPr>
          <p:cNvPr id="21" name="Text 19"/>
          <p:cNvSpPr/>
          <p:nvPr/>
        </p:nvSpPr>
        <p:spPr>
          <a:xfrm>
            <a:off x="3954780" y="3962095"/>
            <a:ext cx="1234440"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Operabilidad</a:t>
            </a:r>
            <a:endParaRPr lang="en-US" sz="750" dirty="0"/>
          </a:p>
        </p:txBody>
      </p:sp>
      <p:sp>
        <p:nvSpPr>
          <p:cNvPr id="22" name="Text 20"/>
          <p:cNvSpPr/>
          <p:nvPr/>
        </p:nvSpPr>
        <p:spPr>
          <a:xfrm>
            <a:off x="3954780" y="4218127"/>
            <a:ext cx="1234440" cy="256032"/>
          </a:xfrm>
          <a:prstGeom prst="rect">
            <a:avLst/>
          </a:prstGeom>
          <a:noFill/>
          <a:ln/>
        </p:spPr>
        <p:txBody>
          <a:bodyPr wrap="square" rtlCol="0" anchor="ctr"/>
          <a:lstStyle/>
          <a:p>
            <a:pPr algn="ctr" indent="0" marL="0">
              <a:buNone/>
            </a:pPr>
            <a:r>
              <a:rPr lang="en-US" sz="600" i="1" dirty="0">
                <a:solidFill>
                  <a:srgbClr val="FFFFFF"/>
                </a:solidFill>
                <a:latin typeface="Atkinson Hyperlegible" pitchFamily="34" charset="0"/>
                <a:ea typeface="Atkinson Hyperlegible" pitchFamily="34" charset="-122"/>
                <a:cs typeface="Atkinson Hyperlegible" pitchFamily="34" charset="-120"/>
              </a:rPr>
              <a:t>¿Es operable?</a:t>
            </a:r>
            <a:endParaRPr lang="en-US" sz="600" dirty="0"/>
          </a:p>
        </p:txBody>
      </p:sp>
      <p:sp>
        <p:nvSpPr>
          <p:cNvPr id="23" name="Shape 21"/>
          <p:cNvSpPr/>
          <p:nvPr/>
        </p:nvSpPr>
        <p:spPr>
          <a:xfrm flipH="1">
            <a:off x="3700917" y="3035808"/>
            <a:ext cx="300920" cy="353416"/>
          </a:xfrm>
          <a:prstGeom prst="line">
            <a:avLst/>
          </a:prstGeom>
          <a:noFill/>
          <a:ln w="15240">
            <a:solidFill>
              <a:srgbClr val="D4620A"/>
            </a:solidFill>
            <a:prstDash val="solid"/>
          </a:ln>
        </p:spPr>
      </p:sp>
      <p:sp>
        <p:nvSpPr>
          <p:cNvPr id="24" name="Shape 22"/>
          <p:cNvSpPr/>
          <p:nvPr/>
        </p:nvSpPr>
        <p:spPr>
          <a:xfrm>
            <a:off x="2545209" y="3270352"/>
            <a:ext cx="1234440" cy="512064"/>
          </a:xfrm>
          <a:prstGeom prst="roundRect">
            <a:avLst>
              <a:gd name="adj" fmla="val 12500"/>
            </a:avLst>
          </a:prstGeom>
          <a:solidFill>
            <a:srgbClr val="8E44AD"/>
          </a:solidFill>
          <a:ln w="12700">
            <a:solidFill>
              <a:srgbClr val="D4620A"/>
            </a:solidFill>
            <a:prstDash val="solid"/>
          </a:ln>
        </p:spPr>
      </p:sp>
      <p:sp>
        <p:nvSpPr>
          <p:cNvPr id="25" name="Text 23"/>
          <p:cNvSpPr/>
          <p:nvPr/>
        </p:nvSpPr>
        <p:spPr>
          <a:xfrm>
            <a:off x="2545209" y="3270352"/>
            <a:ext cx="1234440"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Programabilidad</a:t>
            </a:r>
            <a:endParaRPr lang="en-US" sz="750" dirty="0"/>
          </a:p>
        </p:txBody>
      </p:sp>
      <p:sp>
        <p:nvSpPr>
          <p:cNvPr id="26" name="Text 24"/>
          <p:cNvSpPr/>
          <p:nvPr/>
        </p:nvSpPr>
        <p:spPr>
          <a:xfrm>
            <a:off x="2545209" y="3526384"/>
            <a:ext cx="1234440" cy="256032"/>
          </a:xfrm>
          <a:prstGeom prst="rect">
            <a:avLst/>
          </a:prstGeom>
          <a:noFill/>
          <a:ln/>
        </p:spPr>
        <p:txBody>
          <a:bodyPr wrap="square" rtlCol="0" anchor="ctr"/>
          <a:lstStyle/>
          <a:p>
            <a:pPr algn="ctr" indent="0" marL="0">
              <a:buNone/>
            </a:pPr>
            <a:r>
              <a:rPr lang="en-US" sz="600" i="1" dirty="0">
                <a:solidFill>
                  <a:srgbClr val="FFFFFF"/>
                </a:solidFill>
                <a:latin typeface="Atkinson Hyperlegible" pitchFamily="34" charset="0"/>
                <a:ea typeface="Atkinson Hyperlegible" pitchFamily="34" charset="-122"/>
                <a:cs typeface="Atkinson Hyperlegible" pitchFamily="34" charset="-120"/>
              </a:rPr>
              <a:t>¿Cumple el cronograma?</a:t>
            </a:r>
            <a:endParaRPr lang="en-US" sz="600" dirty="0"/>
          </a:p>
        </p:txBody>
      </p:sp>
      <p:sp>
        <p:nvSpPr>
          <p:cNvPr id="27" name="Shape 25"/>
          <p:cNvSpPr/>
          <p:nvPr/>
        </p:nvSpPr>
        <p:spPr>
          <a:xfrm flipH="1" flipV="1">
            <a:off x="3700917" y="2280056"/>
            <a:ext cx="300920" cy="353416"/>
          </a:xfrm>
          <a:prstGeom prst="line">
            <a:avLst/>
          </a:prstGeom>
          <a:noFill/>
          <a:ln w="15240">
            <a:solidFill>
              <a:srgbClr val="D4620A"/>
            </a:solidFill>
            <a:prstDash val="solid"/>
          </a:ln>
        </p:spPr>
      </p:sp>
      <p:sp>
        <p:nvSpPr>
          <p:cNvPr id="28" name="Shape 26"/>
          <p:cNvSpPr/>
          <p:nvPr/>
        </p:nvSpPr>
        <p:spPr>
          <a:xfrm>
            <a:off x="2545209" y="1886864"/>
            <a:ext cx="1234440" cy="512064"/>
          </a:xfrm>
          <a:prstGeom prst="roundRect">
            <a:avLst>
              <a:gd name="adj" fmla="val 12500"/>
            </a:avLst>
          </a:prstGeom>
          <a:solidFill>
            <a:srgbClr val="2C3E8C"/>
          </a:solidFill>
          <a:ln w="12700">
            <a:solidFill>
              <a:srgbClr val="D4620A"/>
            </a:solidFill>
            <a:prstDash val="solid"/>
          </a:ln>
        </p:spPr>
      </p:sp>
      <p:sp>
        <p:nvSpPr>
          <p:cNvPr id="29" name="Text 27"/>
          <p:cNvSpPr/>
          <p:nvPr/>
        </p:nvSpPr>
        <p:spPr>
          <a:xfrm>
            <a:off x="2545209" y="1886864"/>
            <a:ext cx="1234440"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Costos</a:t>
            </a:r>
            <a:endParaRPr lang="en-US" sz="750" dirty="0"/>
          </a:p>
        </p:txBody>
      </p:sp>
      <p:sp>
        <p:nvSpPr>
          <p:cNvPr id="30" name="Text 28"/>
          <p:cNvSpPr/>
          <p:nvPr/>
        </p:nvSpPr>
        <p:spPr>
          <a:xfrm>
            <a:off x="2545209" y="2142896"/>
            <a:ext cx="1234440" cy="256032"/>
          </a:xfrm>
          <a:prstGeom prst="rect">
            <a:avLst/>
          </a:prstGeom>
          <a:noFill/>
          <a:ln/>
        </p:spPr>
        <p:txBody>
          <a:bodyPr wrap="square" rtlCol="0" anchor="ctr"/>
          <a:lstStyle/>
          <a:p>
            <a:pPr algn="ctr" indent="0" marL="0">
              <a:buNone/>
            </a:pPr>
            <a:r>
              <a:rPr lang="en-US" sz="600" i="1" dirty="0">
                <a:solidFill>
                  <a:srgbClr val="FFFFFF"/>
                </a:solidFill>
                <a:latin typeface="Atkinson Hyperlegible" pitchFamily="34" charset="0"/>
                <a:ea typeface="Atkinson Hyperlegible" pitchFamily="34" charset="-122"/>
                <a:cs typeface="Atkinson Hyperlegible" pitchFamily="34" charset="-120"/>
              </a:rPr>
              <a:t>¿Es económico?</a:t>
            </a:r>
            <a:endParaRPr lang="en-US" sz="600" dirty="0"/>
          </a:p>
        </p:txBody>
      </p:sp>
      <p:sp>
        <p:nvSpPr>
          <p:cNvPr id="31" name="Shape 29"/>
          <p:cNvSpPr/>
          <p:nvPr/>
        </p:nvSpPr>
        <p:spPr>
          <a:xfrm>
            <a:off x="182880" y="4956048"/>
            <a:ext cx="8961120" cy="182880"/>
          </a:xfrm>
          <a:prstGeom prst="rect">
            <a:avLst/>
          </a:prstGeom>
          <a:solidFill>
            <a:srgbClr val="D4620A"/>
          </a:solidFill>
          <a:ln w="12700">
            <a:solidFill>
              <a:srgbClr val="D4620A"/>
            </a:solidFill>
            <a:prstDash val="solid"/>
          </a:ln>
        </p:spPr>
      </p:sp>
      <p:sp>
        <p:nvSpPr>
          <p:cNvPr id="32" name="Text 30"/>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36 / 126</a:t>
            </a:r>
            <a:endParaRPr lang="en-US" sz="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D4620A"/>
          </a:solidFill>
          <a:ln w="12700">
            <a:solidFill>
              <a:srgbClr val="D4620A"/>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II-8: Diseño para la Seguridad en Construcción</a:t>
            </a:r>
            <a:endParaRPr lang="en-US" sz="1800" dirty="0"/>
          </a:p>
        </p:txBody>
      </p:sp>
      <p:sp>
        <p:nvSpPr>
          <p:cNvPr id="4" name="Shape 2"/>
          <p:cNvSpPr/>
          <p:nvPr/>
        </p:nvSpPr>
        <p:spPr>
          <a:xfrm>
            <a:off x="320040" y="640080"/>
            <a:ext cx="8503920" cy="41148"/>
          </a:xfrm>
          <a:prstGeom prst="rect">
            <a:avLst/>
          </a:prstGeom>
          <a:solidFill>
            <a:srgbClr val="D4620A"/>
          </a:solidFill>
          <a:ln w="12700">
            <a:solidFill>
              <a:srgbClr val="D4620A"/>
            </a:solidFill>
            <a:prstDash val="solid"/>
          </a:ln>
        </p:spPr>
      </p:sp>
      <p:sp>
        <p:nvSpPr>
          <p:cNvPr id="5" name="Text 3"/>
          <p:cNvSpPr/>
          <p:nvPr/>
        </p:nvSpPr>
        <p:spPr>
          <a:xfrm>
            <a:off x="320040" y="704088"/>
            <a:ext cx="8503920" cy="256032"/>
          </a:xfrm>
          <a:prstGeom prst="rect">
            <a:avLst/>
          </a:prstGeom>
          <a:noFill/>
          <a:ln/>
        </p:spPr>
        <p:txBody>
          <a:bodyPr wrap="square" rtlCol="0" anchor="ctr"/>
          <a:lstStyle/>
          <a:p>
            <a:pPr indent="0" marL="0">
              <a:buNone/>
            </a:pPr>
            <a:r>
              <a:rPr lang="en-US" sz="900" i="1" dirty="0">
                <a:solidFill>
                  <a:srgbClr val="D4620A"/>
                </a:solidFill>
                <a:latin typeface="Atkinson Hyperlegible" pitchFamily="34" charset="0"/>
                <a:ea typeface="Atkinson Hyperlegible" pitchFamily="34" charset="-122"/>
                <a:cs typeface="Atkinson Hyperlegible" pitchFamily="34" charset="-120"/>
              </a:rPr>
              <a:t>Prevention Through Design (PtD) — Concepto II-8 del CII</a:t>
            </a:r>
            <a:endParaRPr lang="en-US" sz="900" dirty="0"/>
          </a:p>
        </p:txBody>
      </p:sp>
      <p:sp>
        <p:nvSpPr>
          <p:cNvPr id="6" name="Shape 4"/>
          <p:cNvSpPr/>
          <p:nvPr/>
        </p:nvSpPr>
        <p:spPr>
          <a:xfrm>
            <a:off x="320040" y="804672"/>
            <a:ext cx="2724912" cy="1943100"/>
          </a:xfrm>
          <a:prstGeom prst="roundRect">
            <a:avLst>
              <a:gd name="adj" fmla="val 4235"/>
            </a:avLst>
          </a:prstGeom>
          <a:solidFill>
            <a:srgbClr val="D4620A"/>
          </a:solidFill>
          <a:ln w="19050">
            <a:solidFill>
              <a:srgbClr val="D4620A"/>
            </a:solidFill>
            <a:prstDash val="solid"/>
          </a:ln>
        </p:spPr>
      </p:sp>
      <p:sp>
        <p:nvSpPr>
          <p:cNvPr id="7" name="Shape 5"/>
          <p:cNvSpPr/>
          <p:nvPr/>
        </p:nvSpPr>
        <p:spPr>
          <a:xfrm>
            <a:off x="320040" y="804672"/>
            <a:ext cx="2724912" cy="54864"/>
          </a:xfrm>
          <a:prstGeom prst="rect">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8056" y="932688"/>
            <a:ext cx="365760" cy="365760"/>
          </a:xfrm>
          <a:prstGeom prst="rect">
            <a:avLst/>
          </a:prstGeom>
        </p:spPr>
      </p:pic>
      <p:sp>
        <p:nvSpPr>
          <p:cNvPr id="9" name="Text 6"/>
          <p:cNvSpPr/>
          <p:nvPr/>
        </p:nvSpPr>
        <p:spPr>
          <a:xfrm>
            <a:off x="868680"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Jerarquía de Controles</a:t>
            </a:r>
            <a:endParaRPr lang="en-US" sz="850" dirty="0"/>
          </a:p>
        </p:txBody>
      </p:sp>
      <p:sp>
        <p:nvSpPr>
          <p:cNvPr id="10" name="Text 7"/>
          <p:cNvSpPr/>
          <p:nvPr/>
        </p:nvSpPr>
        <p:spPr>
          <a:xfrm>
            <a:off x="429768"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Eliminación → Sustitución → Controles de ingeniería → Controles administrativos → EPP. El diseño actúa en los primeros 3 niveles.</a:t>
            </a:r>
            <a:endParaRPr lang="en-US" sz="750" dirty="0"/>
          </a:p>
        </p:txBody>
      </p:sp>
      <p:sp>
        <p:nvSpPr>
          <p:cNvPr id="11" name="Shape 8"/>
          <p:cNvSpPr/>
          <p:nvPr/>
        </p:nvSpPr>
        <p:spPr>
          <a:xfrm>
            <a:off x="3209544" y="804672"/>
            <a:ext cx="2724912" cy="1943100"/>
          </a:xfrm>
          <a:prstGeom prst="roundRect">
            <a:avLst>
              <a:gd name="adj" fmla="val 4235"/>
            </a:avLst>
          </a:prstGeom>
          <a:solidFill>
            <a:srgbClr val="FFFFFF"/>
          </a:solidFill>
          <a:ln w="19050">
            <a:solidFill>
              <a:srgbClr val="D4620A"/>
            </a:solidFill>
            <a:prstDash val="solid"/>
          </a:ln>
        </p:spPr>
      </p:sp>
      <p:sp>
        <p:nvSpPr>
          <p:cNvPr id="12" name="Shape 9"/>
          <p:cNvSpPr/>
          <p:nvPr/>
        </p:nvSpPr>
        <p:spPr>
          <a:xfrm>
            <a:off x="3209544" y="804672"/>
            <a:ext cx="2724912" cy="54864"/>
          </a:xfrm>
          <a:prstGeom prst="rect">
            <a:avLst/>
          </a:prstGeom>
          <a:solidFill>
            <a:srgbClr val="D4620A"/>
          </a:solidFill>
          <a:ln w="12700">
            <a:solidFill>
              <a:srgbClr val="D4620A"/>
            </a:solidFill>
            <a:prstDash val="solid"/>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37560" y="932688"/>
            <a:ext cx="365760" cy="365760"/>
          </a:xfrm>
          <a:prstGeom prst="rect">
            <a:avLst/>
          </a:prstGeom>
        </p:spPr>
      </p:pic>
      <p:sp>
        <p:nvSpPr>
          <p:cNvPr id="14" name="Text 10"/>
          <p:cNvSpPr/>
          <p:nvPr/>
        </p:nvSpPr>
        <p:spPr>
          <a:xfrm>
            <a:off x="3758184" y="914400"/>
            <a:ext cx="2066544" cy="347472"/>
          </a:xfrm>
          <a:prstGeom prst="rect">
            <a:avLst/>
          </a:prstGeom>
          <a:noFill/>
          <a:ln/>
        </p:spPr>
        <p:txBody>
          <a:bodyPr wrap="square" rtlCol="0" anchor="ctr"/>
          <a:lstStyle/>
          <a:p>
            <a:pPr indent="0" marL="0">
              <a:buNone/>
            </a:pPr>
            <a:r>
              <a:rPr lang="en-US" sz="850" b="1" dirty="0">
                <a:solidFill>
                  <a:srgbClr val="D4620A"/>
                </a:solidFill>
                <a:latin typeface="Atkinson Hyperlegible" pitchFamily="34" charset="0"/>
                <a:ea typeface="Atkinson Hyperlegible" pitchFamily="34" charset="-122"/>
                <a:cs typeface="Atkinson Hyperlegible" pitchFamily="34" charset="-120"/>
              </a:rPr>
              <a:t>Trabajo en Altura</a:t>
            </a:r>
            <a:endParaRPr lang="en-US" sz="850" dirty="0"/>
          </a:p>
        </p:txBody>
      </p:sp>
      <p:sp>
        <p:nvSpPr>
          <p:cNvPr id="15" name="Text 11"/>
          <p:cNvSpPr/>
          <p:nvPr/>
        </p:nvSpPr>
        <p:spPr>
          <a:xfrm>
            <a:off x="3319272" y="131673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Diseñar accesos permanentes, plataformas y pasamanos desde el inicio. No como afterthought en la obra.</a:t>
            </a:r>
            <a:endParaRPr lang="en-US" sz="750" dirty="0"/>
          </a:p>
        </p:txBody>
      </p:sp>
      <p:sp>
        <p:nvSpPr>
          <p:cNvPr id="16" name="Shape 12"/>
          <p:cNvSpPr/>
          <p:nvPr/>
        </p:nvSpPr>
        <p:spPr>
          <a:xfrm>
            <a:off x="6099048" y="804672"/>
            <a:ext cx="2724912" cy="1943100"/>
          </a:xfrm>
          <a:prstGeom prst="roundRect">
            <a:avLst>
              <a:gd name="adj" fmla="val 4235"/>
            </a:avLst>
          </a:prstGeom>
          <a:solidFill>
            <a:srgbClr val="D4620A"/>
          </a:solidFill>
          <a:ln w="19050">
            <a:solidFill>
              <a:srgbClr val="D4620A"/>
            </a:solidFill>
            <a:prstDash val="solid"/>
          </a:ln>
        </p:spPr>
      </p:sp>
      <p:sp>
        <p:nvSpPr>
          <p:cNvPr id="17" name="Shape 13"/>
          <p:cNvSpPr/>
          <p:nvPr/>
        </p:nvSpPr>
        <p:spPr>
          <a:xfrm>
            <a:off x="6099048" y="804672"/>
            <a:ext cx="2724912" cy="54864"/>
          </a:xfrm>
          <a:prstGeom prst="rect">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27064" y="932688"/>
            <a:ext cx="365760" cy="365760"/>
          </a:xfrm>
          <a:prstGeom prst="rect">
            <a:avLst/>
          </a:prstGeom>
        </p:spPr>
      </p:pic>
      <p:sp>
        <p:nvSpPr>
          <p:cNvPr id="19" name="Text 14"/>
          <p:cNvSpPr/>
          <p:nvPr/>
        </p:nvSpPr>
        <p:spPr>
          <a:xfrm>
            <a:off x="6647688"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Izajes y Montaje</a:t>
            </a:r>
            <a:endParaRPr lang="en-US" sz="850" dirty="0"/>
          </a:p>
        </p:txBody>
      </p:sp>
      <p:sp>
        <p:nvSpPr>
          <p:cNvPr id="20" name="Text 15"/>
          <p:cNvSpPr/>
          <p:nvPr/>
        </p:nvSpPr>
        <p:spPr>
          <a:xfrm>
            <a:off x="6208776"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El diseño debe permitir izajes seguros: puntos de anclaje, peso de módulos, interferencias en izaje.</a:t>
            </a:r>
            <a:endParaRPr lang="en-US" sz="750" dirty="0"/>
          </a:p>
        </p:txBody>
      </p:sp>
      <p:sp>
        <p:nvSpPr>
          <p:cNvPr id="21" name="Shape 16"/>
          <p:cNvSpPr/>
          <p:nvPr/>
        </p:nvSpPr>
        <p:spPr>
          <a:xfrm>
            <a:off x="320040" y="2884932"/>
            <a:ext cx="2724912" cy="1943100"/>
          </a:xfrm>
          <a:prstGeom prst="roundRect">
            <a:avLst>
              <a:gd name="adj" fmla="val 4235"/>
            </a:avLst>
          </a:prstGeom>
          <a:solidFill>
            <a:srgbClr val="FFFFFF"/>
          </a:solidFill>
          <a:ln w="19050">
            <a:solidFill>
              <a:srgbClr val="D4620A"/>
            </a:solidFill>
            <a:prstDash val="solid"/>
          </a:ln>
        </p:spPr>
      </p:sp>
      <p:sp>
        <p:nvSpPr>
          <p:cNvPr id="22" name="Shape 17"/>
          <p:cNvSpPr/>
          <p:nvPr/>
        </p:nvSpPr>
        <p:spPr>
          <a:xfrm>
            <a:off x="320040" y="2884932"/>
            <a:ext cx="2724912" cy="54864"/>
          </a:xfrm>
          <a:prstGeom prst="rect">
            <a:avLst/>
          </a:prstGeom>
          <a:solidFill>
            <a:srgbClr val="D4620A"/>
          </a:solidFill>
          <a:ln w="12700">
            <a:solidFill>
              <a:srgbClr val="D4620A"/>
            </a:solidFill>
            <a:prstDash val="solid"/>
          </a:ln>
        </p:spPr>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8056" y="3012948"/>
            <a:ext cx="365760" cy="365760"/>
          </a:xfrm>
          <a:prstGeom prst="rect">
            <a:avLst/>
          </a:prstGeom>
        </p:spPr>
      </p:pic>
      <p:sp>
        <p:nvSpPr>
          <p:cNvPr id="24" name="Text 18"/>
          <p:cNvSpPr/>
          <p:nvPr/>
        </p:nvSpPr>
        <p:spPr>
          <a:xfrm>
            <a:off x="868680" y="2994660"/>
            <a:ext cx="2066544" cy="347472"/>
          </a:xfrm>
          <a:prstGeom prst="rect">
            <a:avLst/>
          </a:prstGeom>
          <a:noFill/>
          <a:ln/>
        </p:spPr>
        <p:txBody>
          <a:bodyPr wrap="square" rtlCol="0" anchor="ctr"/>
          <a:lstStyle/>
          <a:p>
            <a:pPr indent="0" marL="0">
              <a:buNone/>
            </a:pPr>
            <a:r>
              <a:rPr lang="en-US" sz="850" b="1" dirty="0">
                <a:solidFill>
                  <a:srgbClr val="D4620A"/>
                </a:solidFill>
                <a:latin typeface="Atkinson Hyperlegible" pitchFamily="34" charset="0"/>
                <a:ea typeface="Atkinson Hyperlegible" pitchFamily="34" charset="-122"/>
                <a:cs typeface="Atkinson Hyperlegible" pitchFamily="34" charset="-120"/>
              </a:rPr>
              <a:t>Espacios Confinados</a:t>
            </a:r>
            <a:endParaRPr lang="en-US" sz="850" dirty="0"/>
          </a:p>
        </p:txBody>
      </p:sp>
      <p:sp>
        <p:nvSpPr>
          <p:cNvPr id="25" name="Text 19"/>
          <p:cNvSpPr/>
          <p:nvPr/>
        </p:nvSpPr>
        <p:spPr>
          <a:xfrm>
            <a:off x="429768"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Minimizar espacios confinados por diseño. Los inevitables: diseñar acceso y ventilación adecuados.</a:t>
            </a:r>
            <a:endParaRPr lang="en-US" sz="750" dirty="0"/>
          </a:p>
        </p:txBody>
      </p:sp>
      <p:sp>
        <p:nvSpPr>
          <p:cNvPr id="26" name="Shape 20"/>
          <p:cNvSpPr/>
          <p:nvPr/>
        </p:nvSpPr>
        <p:spPr>
          <a:xfrm>
            <a:off x="3209544" y="2884932"/>
            <a:ext cx="2724912" cy="1943100"/>
          </a:xfrm>
          <a:prstGeom prst="roundRect">
            <a:avLst>
              <a:gd name="adj" fmla="val 4235"/>
            </a:avLst>
          </a:prstGeom>
          <a:solidFill>
            <a:srgbClr val="D4620A"/>
          </a:solidFill>
          <a:ln w="19050">
            <a:solidFill>
              <a:srgbClr val="D4620A"/>
            </a:solidFill>
            <a:prstDash val="solid"/>
          </a:ln>
        </p:spPr>
      </p:sp>
      <p:sp>
        <p:nvSpPr>
          <p:cNvPr id="27" name="Shape 21"/>
          <p:cNvSpPr/>
          <p:nvPr/>
        </p:nvSpPr>
        <p:spPr>
          <a:xfrm>
            <a:off x="3209544" y="2884932"/>
            <a:ext cx="2724912" cy="54864"/>
          </a:xfrm>
          <a:prstGeom prst="rect">
            <a:avLst/>
          </a:prstGeom>
          <a:solidFill>
            <a:srgbClr val="FFFFFF"/>
          </a:solidFill>
          <a:ln w="12700">
            <a:solidFill>
              <a:srgbClr val="FFFFFF"/>
            </a:solidFill>
            <a:prstDash val="solid"/>
          </a:ln>
        </p:spPr>
      </p:sp>
      <p:pic>
        <p:nvPicPr>
          <p:cNvPr id="2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37560" y="3012948"/>
            <a:ext cx="365760" cy="365760"/>
          </a:xfrm>
          <a:prstGeom prst="rect">
            <a:avLst/>
          </a:prstGeom>
        </p:spPr>
      </p:pic>
      <p:sp>
        <p:nvSpPr>
          <p:cNvPr id="29" name="Text 22"/>
          <p:cNvSpPr/>
          <p:nvPr/>
        </p:nvSpPr>
        <p:spPr>
          <a:xfrm>
            <a:off x="3758184" y="299466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Secuencia Segura</a:t>
            </a:r>
            <a:endParaRPr lang="en-US" sz="850" dirty="0"/>
          </a:p>
        </p:txBody>
      </p:sp>
      <p:sp>
        <p:nvSpPr>
          <p:cNvPr id="30" name="Text 23"/>
          <p:cNvSpPr/>
          <p:nvPr/>
        </p:nvSpPr>
        <p:spPr>
          <a:xfrm>
            <a:off x="3319272" y="339699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Diseñar la secuencia de construcción pensando en la estabilidad estructural en cada etapa del montaje.</a:t>
            </a:r>
            <a:endParaRPr lang="en-US" sz="750" dirty="0"/>
          </a:p>
        </p:txBody>
      </p:sp>
      <p:sp>
        <p:nvSpPr>
          <p:cNvPr id="31" name="Shape 24"/>
          <p:cNvSpPr/>
          <p:nvPr/>
        </p:nvSpPr>
        <p:spPr>
          <a:xfrm>
            <a:off x="6099048" y="2884932"/>
            <a:ext cx="2724912" cy="1943100"/>
          </a:xfrm>
          <a:prstGeom prst="roundRect">
            <a:avLst>
              <a:gd name="adj" fmla="val 4235"/>
            </a:avLst>
          </a:prstGeom>
          <a:solidFill>
            <a:srgbClr val="FFFFFF"/>
          </a:solidFill>
          <a:ln w="19050">
            <a:solidFill>
              <a:srgbClr val="D4620A"/>
            </a:solidFill>
            <a:prstDash val="solid"/>
          </a:ln>
        </p:spPr>
      </p:sp>
      <p:sp>
        <p:nvSpPr>
          <p:cNvPr id="32" name="Shape 25"/>
          <p:cNvSpPr/>
          <p:nvPr/>
        </p:nvSpPr>
        <p:spPr>
          <a:xfrm>
            <a:off x="6099048" y="2884932"/>
            <a:ext cx="2724912" cy="54864"/>
          </a:xfrm>
          <a:prstGeom prst="rect">
            <a:avLst/>
          </a:prstGeom>
          <a:solidFill>
            <a:srgbClr val="D4620A"/>
          </a:solidFill>
          <a:ln w="12700">
            <a:solidFill>
              <a:srgbClr val="D4620A"/>
            </a:solidFill>
            <a:prstDash val="solid"/>
          </a:ln>
        </p:spPr>
      </p:sp>
      <p:pic>
        <p:nvPicPr>
          <p:cNvPr id="3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27064" y="3012948"/>
            <a:ext cx="365760" cy="365760"/>
          </a:xfrm>
          <a:prstGeom prst="rect">
            <a:avLst/>
          </a:prstGeom>
        </p:spPr>
      </p:pic>
      <p:sp>
        <p:nvSpPr>
          <p:cNvPr id="34" name="Text 26"/>
          <p:cNvSpPr/>
          <p:nvPr/>
        </p:nvSpPr>
        <p:spPr>
          <a:xfrm>
            <a:off x="6647688" y="2994660"/>
            <a:ext cx="2066544" cy="347472"/>
          </a:xfrm>
          <a:prstGeom prst="rect">
            <a:avLst/>
          </a:prstGeom>
          <a:noFill/>
          <a:ln/>
        </p:spPr>
        <p:txBody>
          <a:bodyPr wrap="square" rtlCol="0" anchor="ctr"/>
          <a:lstStyle/>
          <a:p>
            <a:pPr indent="0" marL="0">
              <a:buNone/>
            </a:pPr>
            <a:r>
              <a:rPr lang="en-US" sz="850" b="1" dirty="0">
                <a:solidFill>
                  <a:srgbClr val="D4620A"/>
                </a:solidFill>
                <a:latin typeface="Atkinson Hyperlegible" pitchFamily="34" charset="0"/>
                <a:ea typeface="Atkinson Hyperlegible" pitchFamily="34" charset="-122"/>
                <a:cs typeface="Atkinson Hyperlegible" pitchFamily="34" charset="-120"/>
              </a:rPr>
              <a:t>Impacto en Contratistas</a:t>
            </a:r>
            <a:endParaRPr lang="en-US" sz="850" dirty="0"/>
          </a:p>
        </p:txBody>
      </p:sp>
      <p:sp>
        <p:nvSpPr>
          <p:cNvPr id="35" name="Text 27"/>
          <p:cNvSpPr/>
          <p:nvPr/>
        </p:nvSpPr>
        <p:spPr>
          <a:xfrm>
            <a:off x="6208776"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Un diseño con Prevention Through Design reduce la exposición al riesgo del contratista constructor y su fuerza laboral.</a:t>
            </a:r>
            <a:endParaRPr lang="en-US" sz="750" dirty="0"/>
          </a:p>
        </p:txBody>
      </p:sp>
      <p:sp>
        <p:nvSpPr>
          <p:cNvPr id="36" name="Shape 28"/>
          <p:cNvSpPr/>
          <p:nvPr/>
        </p:nvSpPr>
        <p:spPr>
          <a:xfrm>
            <a:off x="182880" y="4956048"/>
            <a:ext cx="8961120" cy="182880"/>
          </a:xfrm>
          <a:prstGeom prst="rect">
            <a:avLst/>
          </a:prstGeom>
          <a:solidFill>
            <a:srgbClr val="D4620A"/>
          </a:solidFill>
          <a:ln w="12700">
            <a:solidFill>
              <a:srgbClr val="D4620A"/>
            </a:solidFill>
            <a:prstDash val="solid"/>
          </a:ln>
        </p:spPr>
      </p:sp>
      <p:sp>
        <p:nvSpPr>
          <p:cNvPr id="37" name="Text 29"/>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37 / 126</a:t>
            </a:r>
            <a:endParaRPr lang="en-US" sz="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D4620A"/>
          </a:solidFill>
          <a:ln w="12700">
            <a:solidFill>
              <a:srgbClr val="D4620A"/>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Barreras en la Fase de Diseño</a:t>
            </a:r>
            <a:endParaRPr lang="en-US" sz="1800" dirty="0"/>
          </a:p>
        </p:txBody>
      </p:sp>
      <p:sp>
        <p:nvSpPr>
          <p:cNvPr id="4" name="Shape 2"/>
          <p:cNvSpPr/>
          <p:nvPr/>
        </p:nvSpPr>
        <p:spPr>
          <a:xfrm>
            <a:off x="320040" y="640080"/>
            <a:ext cx="8503920" cy="41148"/>
          </a:xfrm>
          <a:prstGeom prst="rect">
            <a:avLst/>
          </a:prstGeom>
          <a:solidFill>
            <a:srgbClr val="D4620A"/>
          </a:solidFill>
          <a:ln w="12700">
            <a:solidFill>
              <a:srgbClr val="D4620A"/>
            </a:solidFill>
            <a:prstDash val="solid"/>
          </a:ln>
        </p:spPr>
      </p:sp>
      <p:sp>
        <p:nvSpPr>
          <p:cNvPr id="5" name="Shape 3"/>
          <p:cNvSpPr/>
          <p:nvPr/>
        </p:nvSpPr>
        <p:spPr>
          <a:xfrm>
            <a:off x="320040" y="804672"/>
            <a:ext cx="2724912" cy="1943100"/>
          </a:xfrm>
          <a:prstGeom prst="roundRect">
            <a:avLst>
              <a:gd name="adj" fmla="val 4235"/>
            </a:avLst>
          </a:prstGeom>
          <a:solidFill>
            <a:srgbClr val="D4620A"/>
          </a:solidFill>
          <a:ln w="19050">
            <a:solidFill>
              <a:srgbClr val="D4620A"/>
            </a:solidFill>
            <a:prstDash val="solid"/>
          </a:ln>
        </p:spPr>
      </p:sp>
      <p:sp>
        <p:nvSpPr>
          <p:cNvPr id="6" name="Shape 4"/>
          <p:cNvSpPr/>
          <p:nvPr/>
        </p:nvSpPr>
        <p:spPr>
          <a:xfrm>
            <a:off x="320040" y="804672"/>
            <a:ext cx="2724912" cy="54864"/>
          </a:xfrm>
          <a:prstGeom prst="rect">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8056" y="932688"/>
            <a:ext cx="365760" cy="365760"/>
          </a:xfrm>
          <a:prstGeom prst="rect">
            <a:avLst/>
          </a:prstGeom>
        </p:spPr>
      </p:pic>
      <p:sp>
        <p:nvSpPr>
          <p:cNvPr id="8" name="Text 5"/>
          <p:cNvSpPr/>
          <p:nvPr/>
        </p:nvSpPr>
        <p:spPr>
          <a:xfrm>
            <a:off x="868680"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Presión de Plazo</a:t>
            </a:r>
            <a:endParaRPr lang="en-US" sz="850" dirty="0"/>
          </a:p>
        </p:txBody>
      </p:sp>
      <p:sp>
        <p:nvSpPr>
          <p:cNvPr id="9" name="Text 6"/>
          <p:cNvSpPr/>
          <p:nvPr/>
        </p:nvSpPr>
        <p:spPr>
          <a:xfrm>
            <a:off x="429768"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El equipo de diseño prioriza velocidad sobre calidad constructiva. "Lo vemos en campo."</a:t>
            </a:r>
            <a:endParaRPr lang="en-US" sz="750" dirty="0"/>
          </a:p>
        </p:txBody>
      </p:sp>
      <p:sp>
        <p:nvSpPr>
          <p:cNvPr id="10" name="Shape 7"/>
          <p:cNvSpPr/>
          <p:nvPr/>
        </p:nvSpPr>
        <p:spPr>
          <a:xfrm>
            <a:off x="3209544" y="804672"/>
            <a:ext cx="2724912" cy="1943100"/>
          </a:xfrm>
          <a:prstGeom prst="roundRect">
            <a:avLst>
              <a:gd name="adj" fmla="val 4235"/>
            </a:avLst>
          </a:prstGeom>
          <a:solidFill>
            <a:srgbClr val="FFFFFF"/>
          </a:solidFill>
          <a:ln w="19050">
            <a:solidFill>
              <a:srgbClr val="D4620A"/>
            </a:solidFill>
            <a:prstDash val="solid"/>
          </a:ln>
        </p:spPr>
      </p:sp>
      <p:sp>
        <p:nvSpPr>
          <p:cNvPr id="11" name="Shape 8"/>
          <p:cNvSpPr/>
          <p:nvPr/>
        </p:nvSpPr>
        <p:spPr>
          <a:xfrm>
            <a:off x="3209544" y="804672"/>
            <a:ext cx="2724912" cy="54864"/>
          </a:xfrm>
          <a:prstGeom prst="rect">
            <a:avLst/>
          </a:prstGeom>
          <a:solidFill>
            <a:srgbClr val="D4620A"/>
          </a:solidFill>
          <a:ln w="12700">
            <a:solidFill>
              <a:srgbClr val="D4620A"/>
            </a:solidFill>
            <a:prstDash val="solid"/>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37560" y="932688"/>
            <a:ext cx="365760" cy="365760"/>
          </a:xfrm>
          <a:prstGeom prst="rect">
            <a:avLst/>
          </a:prstGeom>
        </p:spPr>
      </p:pic>
      <p:sp>
        <p:nvSpPr>
          <p:cNvPr id="13" name="Text 9"/>
          <p:cNvSpPr/>
          <p:nvPr/>
        </p:nvSpPr>
        <p:spPr>
          <a:xfrm>
            <a:off x="3758184" y="914400"/>
            <a:ext cx="2066544" cy="347472"/>
          </a:xfrm>
          <a:prstGeom prst="rect">
            <a:avLst/>
          </a:prstGeom>
          <a:noFill/>
          <a:ln/>
        </p:spPr>
        <p:txBody>
          <a:bodyPr wrap="square" rtlCol="0" anchor="ctr"/>
          <a:lstStyle/>
          <a:p>
            <a:pPr indent="0" marL="0">
              <a:buNone/>
            </a:pPr>
            <a:r>
              <a:rPr lang="en-US" sz="850" b="1" dirty="0">
                <a:solidFill>
                  <a:srgbClr val="D4620A"/>
                </a:solidFill>
                <a:latin typeface="Atkinson Hyperlegible" pitchFamily="34" charset="0"/>
                <a:ea typeface="Atkinson Hyperlegible" pitchFamily="34" charset="-122"/>
                <a:cs typeface="Atkinson Hyperlegible" pitchFamily="34" charset="-120"/>
              </a:rPr>
              <a:t>Falta de Colaboración</a:t>
            </a:r>
            <a:endParaRPr lang="en-US" sz="850" dirty="0"/>
          </a:p>
        </p:txBody>
      </p:sp>
      <p:sp>
        <p:nvSpPr>
          <p:cNvPr id="14" name="Text 10"/>
          <p:cNvSpPr/>
          <p:nvPr/>
        </p:nvSpPr>
        <p:spPr>
          <a:xfrm>
            <a:off x="3319272" y="131673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Diseñadores sin comunicación con constructores. Cada disciplina diseña en su silo.</a:t>
            </a:r>
            <a:endParaRPr lang="en-US" sz="750" dirty="0"/>
          </a:p>
        </p:txBody>
      </p:sp>
      <p:sp>
        <p:nvSpPr>
          <p:cNvPr id="15" name="Shape 11"/>
          <p:cNvSpPr/>
          <p:nvPr/>
        </p:nvSpPr>
        <p:spPr>
          <a:xfrm>
            <a:off x="6099048" y="804672"/>
            <a:ext cx="2724912" cy="1943100"/>
          </a:xfrm>
          <a:prstGeom prst="roundRect">
            <a:avLst>
              <a:gd name="adj" fmla="val 4235"/>
            </a:avLst>
          </a:prstGeom>
          <a:solidFill>
            <a:srgbClr val="D4620A"/>
          </a:solidFill>
          <a:ln w="19050">
            <a:solidFill>
              <a:srgbClr val="D4620A"/>
            </a:solidFill>
            <a:prstDash val="solid"/>
          </a:ln>
        </p:spPr>
      </p:sp>
      <p:sp>
        <p:nvSpPr>
          <p:cNvPr id="16" name="Shape 12"/>
          <p:cNvSpPr/>
          <p:nvPr/>
        </p:nvSpPr>
        <p:spPr>
          <a:xfrm>
            <a:off x="6099048" y="804672"/>
            <a:ext cx="2724912" cy="54864"/>
          </a:xfrm>
          <a:prstGeom prst="rect">
            <a:avLst/>
          </a:prstGeom>
          <a:solidFill>
            <a:srgbClr val="FFFFFF"/>
          </a:solidFill>
          <a:ln w="12700">
            <a:solidFill>
              <a:srgbClr val="FFFFFF"/>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27064" y="932688"/>
            <a:ext cx="365760" cy="365760"/>
          </a:xfrm>
          <a:prstGeom prst="rect">
            <a:avLst/>
          </a:prstGeom>
        </p:spPr>
      </p:pic>
      <p:sp>
        <p:nvSpPr>
          <p:cNvPr id="18" name="Text 13"/>
          <p:cNvSpPr/>
          <p:nvPr/>
        </p:nvSpPr>
        <p:spPr>
          <a:xfrm>
            <a:off x="6647688"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Herramientas No Integradas</a:t>
            </a:r>
            <a:endParaRPr lang="en-US" sz="850" dirty="0"/>
          </a:p>
        </p:txBody>
      </p:sp>
      <p:sp>
        <p:nvSpPr>
          <p:cNvPr id="19" name="Text 14"/>
          <p:cNvSpPr/>
          <p:nvPr/>
        </p:nvSpPr>
        <p:spPr>
          <a:xfrm>
            <a:off x="6208776"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CAD 2D sin BIM. Sin detección automática de interferencias. Los conflictos llegan a obra.</a:t>
            </a:r>
            <a:endParaRPr lang="en-US" sz="750" dirty="0"/>
          </a:p>
        </p:txBody>
      </p:sp>
      <p:sp>
        <p:nvSpPr>
          <p:cNvPr id="20" name="Shape 15"/>
          <p:cNvSpPr/>
          <p:nvPr/>
        </p:nvSpPr>
        <p:spPr>
          <a:xfrm>
            <a:off x="320040" y="2884932"/>
            <a:ext cx="2724912" cy="1943100"/>
          </a:xfrm>
          <a:prstGeom prst="roundRect">
            <a:avLst>
              <a:gd name="adj" fmla="val 4235"/>
            </a:avLst>
          </a:prstGeom>
          <a:solidFill>
            <a:srgbClr val="FFFFFF"/>
          </a:solidFill>
          <a:ln w="19050">
            <a:solidFill>
              <a:srgbClr val="D4620A"/>
            </a:solidFill>
            <a:prstDash val="solid"/>
          </a:ln>
        </p:spPr>
      </p:sp>
      <p:sp>
        <p:nvSpPr>
          <p:cNvPr id="21" name="Shape 16"/>
          <p:cNvSpPr/>
          <p:nvPr/>
        </p:nvSpPr>
        <p:spPr>
          <a:xfrm>
            <a:off x="320040" y="2884932"/>
            <a:ext cx="2724912" cy="54864"/>
          </a:xfrm>
          <a:prstGeom prst="rect">
            <a:avLst/>
          </a:prstGeom>
          <a:solidFill>
            <a:srgbClr val="D4620A"/>
          </a:solidFill>
          <a:ln w="12700">
            <a:solidFill>
              <a:srgbClr val="D4620A"/>
            </a:solidFill>
            <a:prstDash val="solid"/>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8056" y="3012948"/>
            <a:ext cx="365760" cy="365760"/>
          </a:xfrm>
          <a:prstGeom prst="rect">
            <a:avLst/>
          </a:prstGeom>
        </p:spPr>
      </p:pic>
      <p:sp>
        <p:nvSpPr>
          <p:cNvPr id="23" name="Text 17"/>
          <p:cNvSpPr/>
          <p:nvPr/>
        </p:nvSpPr>
        <p:spPr>
          <a:xfrm>
            <a:off x="868680" y="2994660"/>
            <a:ext cx="2066544" cy="347472"/>
          </a:xfrm>
          <a:prstGeom prst="rect">
            <a:avLst/>
          </a:prstGeom>
          <a:noFill/>
          <a:ln/>
        </p:spPr>
        <p:txBody>
          <a:bodyPr wrap="square" rtlCol="0" anchor="ctr"/>
          <a:lstStyle/>
          <a:p>
            <a:pPr indent="0" marL="0">
              <a:buNone/>
            </a:pPr>
            <a:r>
              <a:rPr lang="en-US" sz="850" b="1" dirty="0">
                <a:solidFill>
                  <a:srgbClr val="D4620A"/>
                </a:solidFill>
                <a:latin typeface="Atkinson Hyperlegible" pitchFamily="34" charset="0"/>
                <a:ea typeface="Atkinson Hyperlegible" pitchFamily="34" charset="-122"/>
                <a:cs typeface="Atkinson Hyperlegible" pitchFamily="34" charset="-120"/>
              </a:rPr>
              <a:t>Especificaciones Ambiguas</a:t>
            </a:r>
            <a:endParaRPr lang="en-US" sz="850" dirty="0"/>
          </a:p>
        </p:txBody>
      </p:sp>
      <p:sp>
        <p:nvSpPr>
          <p:cNvPr id="24" name="Text 18"/>
          <p:cNvSpPr/>
          <p:nvPr/>
        </p:nvSpPr>
        <p:spPr>
          <a:xfrm>
            <a:off x="429768"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Especificaciones copiadas de otros proyectos, sin adaptación al contexto constructivo del proyecto actual.</a:t>
            </a:r>
            <a:endParaRPr lang="en-US" sz="750" dirty="0"/>
          </a:p>
        </p:txBody>
      </p:sp>
      <p:sp>
        <p:nvSpPr>
          <p:cNvPr id="25" name="Shape 19"/>
          <p:cNvSpPr/>
          <p:nvPr/>
        </p:nvSpPr>
        <p:spPr>
          <a:xfrm>
            <a:off x="3209544" y="2884932"/>
            <a:ext cx="2724912" cy="1943100"/>
          </a:xfrm>
          <a:prstGeom prst="roundRect">
            <a:avLst>
              <a:gd name="adj" fmla="val 4235"/>
            </a:avLst>
          </a:prstGeom>
          <a:solidFill>
            <a:srgbClr val="D4620A"/>
          </a:solidFill>
          <a:ln w="19050">
            <a:solidFill>
              <a:srgbClr val="D4620A"/>
            </a:solidFill>
            <a:prstDash val="solid"/>
          </a:ln>
        </p:spPr>
      </p:sp>
      <p:sp>
        <p:nvSpPr>
          <p:cNvPr id="26" name="Shape 20"/>
          <p:cNvSpPr/>
          <p:nvPr/>
        </p:nvSpPr>
        <p:spPr>
          <a:xfrm>
            <a:off x="3209544" y="2884932"/>
            <a:ext cx="2724912" cy="54864"/>
          </a:xfrm>
          <a:prstGeom prst="rect">
            <a:avLst/>
          </a:prstGeom>
          <a:solidFill>
            <a:srgbClr val="FFFFFF"/>
          </a:solidFill>
          <a:ln w="12700">
            <a:solidFill>
              <a:srgbClr val="FFFFFF"/>
            </a:solidFill>
            <a:prstDash val="solid"/>
          </a:ln>
        </p:spPr>
      </p:sp>
      <p:pic>
        <p:nvPicPr>
          <p:cNvPr id="2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37560" y="3012948"/>
            <a:ext cx="365760" cy="365760"/>
          </a:xfrm>
          <a:prstGeom prst="rect">
            <a:avLst/>
          </a:prstGeom>
        </p:spPr>
      </p:pic>
      <p:sp>
        <p:nvSpPr>
          <p:cNvPr id="28" name="Text 21"/>
          <p:cNvSpPr/>
          <p:nvPr/>
        </p:nvSpPr>
        <p:spPr>
          <a:xfrm>
            <a:off x="3758184" y="299466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Cambios Tardíos</a:t>
            </a:r>
            <a:endParaRPr lang="en-US" sz="850" dirty="0"/>
          </a:p>
        </p:txBody>
      </p:sp>
      <p:sp>
        <p:nvSpPr>
          <p:cNvPr id="29" name="Text 22"/>
          <p:cNvSpPr/>
          <p:nvPr/>
        </p:nvSpPr>
        <p:spPr>
          <a:xfrm>
            <a:off x="3319272" y="339699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El cliente cambia el alcance después del IFC. Sin gestión de cambios, la constructabilidad se pierde.</a:t>
            </a:r>
            <a:endParaRPr lang="en-US" sz="750" dirty="0"/>
          </a:p>
        </p:txBody>
      </p:sp>
      <p:sp>
        <p:nvSpPr>
          <p:cNvPr id="30" name="Shape 23"/>
          <p:cNvSpPr/>
          <p:nvPr/>
        </p:nvSpPr>
        <p:spPr>
          <a:xfrm>
            <a:off x="6099048" y="2884932"/>
            <a:ext cx="2724912" cy="1943100"/>
          </a:xfrm>
          <a:prstGeom prst="roundRect">
            <a:avLst>
              <a:gd name="adj" fmla="val 4235"/>
            </a:avLst>
          </a:prstGeom>
          <a:solidFill>
            <a:srgbClr val="FFFFFF"/>
          </a:solidFill>
          <a:ln w="19050">
            <a:solidFill>
              <a:srgbClr val="D4620A"/>
            </a:solidFill>
            <a:prstDash val="solid"/>
          </a:ln>
        </p:spPr>
      </p:sp>
      <p:sp>
        <p:nvSpPr>
          <p:cNvPr id="31" name="Shape 24"/>
          <p:cNvSpPr/>
          <p:nvPr/>
        </p:nvSpPr>
        <p:spPr>
          <a:xfrm>
            <a:off x="6099048" y="2884932"/>
            <a:ext cx="2724912" cy="54864"/>
          </a:xfrm>
          <a:prstGeom prst="rect">
            <a:avLst/>
          </a:prstGeom>
          <a:solidFill>
            <a:srgbClr val="D4620A"/>
          </a:solidFill>
          <a:ln w="12700">
            <a:solidFill>
              <a:srgbClr val="D4620A"/>
            </a:solidFill>
            <a:prstDash val="solid"/>
          </a:ln>
        </p:spPr>
      </p:sp>
      <p:pic>
        <p:nvPicPr>
          <p:cNvPr id="3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27064" y="3012948"/>
            <a:ext cx="365760" cy="365760"/>
          </a:xfrm>
          <a:prstGeom prst="rect">
            <a:avLst/>
          </a:prstGeom>
        </p:spPr>
      </p:pic>
      <p:sp>
        <p:nvSpPr>
          <p:cNvPr id="33" name="Text 25"/>
          <p:cNvSpPr/>
          <p:nvPr/>
        </p:nvSpPr>
        <p:spPr>
          <a:xfrm>
            <a:off x="6647688" y="2994660"/>
            <a:ext cx="2066544" cy="347472"/>
          </a:xfrm>
          <a:prstGeom prst="rect">
            <a:avLst/>
          </a:prstGeom>
          <a:noFill/>
          <a:ln/>
        </p:spPr>
        <p:txBody>
          <a:bodyPr wrap="square" rtlCol="0" anchor="ctr"/>
          <a:lstStyle/>
          <a:p>
            <a:pPr indent="0" marL="0">
              <a:buNone/>
            </a:pPr>
            <a:r>
              <a:rPr lang="en-US" sz="850" b="1" dirty="0">
                <a:solidFill>
                  <a:srgbClr val="D4620A"/>
                </a:solidFill>
                <a:latin typeface="Atkinson Hyperlegible" pitchFamily="34" charset="0"/>
                <a:ea typeface="Atkinson Hyperlegible" pitchFamily="34" charset="-122"/>
                <a:cs typeface="Atkinson Hyperlegible" pitchFamily="34" charset="-120"/>
              </a:rPr>
              <a:t>Contratos Inadecuados</a:t>
            </a:r>
            <a:endParaRPr lang="en-US" sz="850" dirty="0"/>
          </a:p>
        </p:txBody>
      </p:sp>
      <p:sp>
        <p:nvSpPr>
          <p:cNvPr id="34" name="Text 26"/>
          <p:cNvSpPr/>
          <p:nvPr/>
        </p:nvSpPr>
        <p:spPr>
          <a:xfrm>
            <a:off x="6208776"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El contrato no incentiva la retroalimentación del constructor al diseñador. La constructabilidad no tiene valor contractual.</a:t>
            </a:r>
            <a:endParaRPr lang="en-US" sz="750" dirty="0"/>
          </a:p>
        </p:txBody>
      </p:sp>
      <p:sp>
        <p:nvSpPr>
          <p:cNvPr id="35" name="Shape 27"/>
          <p:cNvSpPr/>
          <p:nvPr/>
        </p:nvSpPr>
        <p:spPr>
          <a:xfrm>
            <a:off x="182880" y="4956048"/>
            <a:ext cx="8961120" cy="182880"/>
          </a:xfrm>
          <a:prstGeom prst="rect">
            <a:avLst/>
          </a:prstGeom>
          <a:solidFill>
            <a:srgbClr val="D4620A"/>
          </a:solidFill>
          <a:ln w="12700">
            <a:solidFill>
              <a:srgbClr val="D4620A"/>
            </a:solidFill>
            <a:prstDash val="solid"/>
          </a:ln>
        </p:spPr>
      </p:sp>
      <p:sp>
        <p:nvSpPr>
          <p:cNvPr id="36" name="Text 28"/>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38 / 126</a:t>
            </a:r>
            <a:endParaRPr lang="en-US" sz="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E44AD"/>
          </a:solidFill>
          <a:ln w="12700">
            <a:solidFill>
              <a:srgbClr val="8E44AD"/>
            </a:solidFill>
            <a:prstDash val="solid"/>
          </a:ln>
        </p:spPr>
      </p:sp>
      <p:sp>
        <p:nvSpPr>
          <p:cNvPr id="3" name="Shape 1"/>
          <p:cNvSpPr/>
          <p:nvPr/>
        </p:nvSpPr>
        <p:spPr>
          <a:xfrm>
            <a:off x="0" y="0"/>
            <a:ext cx="2011680" cy="5143500"/>
          </a:xfrm>
          <a:prstGeom prst="rect">
            <a:avLst/>
          </a:prstGeom>
          <a:solidFill>
            <a:srgbClr val="FFFFFF"/>
          </a:solidFill>
          <a:ln w="12700">
            <a:solidFill>
              <a:srgbClr val="FFFFFF"/>
            </a:solidFill>
            <a:prstDash val="solid"/>
          </a:ln>
        </p:spPr>
      </p:sp>
      <p:sp>
        <p:nvSpPr>
          <p:cNvPr id="4" name="Text 2"/>
          <p:cNvSpPr/>
          <p:nvPr/>
        </p:nvSpPr>
        <p:spPr>
          <a:xfrm>
            <a:off x="320040" y="1463040"/>
            <a:ext cx="1828800" cy="1371600"/>
          </a:xfrm>
          <a:prstGeom prst="rect">
            <a:avLst/>
          </a:prstGeom>
          <a:noFill/>
          <a:ln/>
        </p:spPr>
        <p:txBody>
          <a:bodyPr wrap="square" rtlCol="0" anchor="ctr"/>
          <a:lstStyle/>
          <a:p>
            <a:pPr indent="0" marL="0">
              <a:buNone/>
            </a:pPr>
            <a:r>
              <a:rPr lang="en-US" sz="9000" b="1" dirty="0">
                <a:solidFill>
                  <a:srgbClr val="FFFFFF">
                    <a:alpha val="80000"/>
                  </a:srgbClr>
                </a:solidFill>
                <a:latin typeface="Atkinson Hyperlegible" pitchFamily="34" charset="0"/>
                <a:ea typeface="Atkinson Hyperlegible" pitchFamily="34" charset="-122"/>
                <a:cs typeface="Atkinson Hyperlegible" pitchFamily="34" charset="-120"/>
              </a:rPr>
              <a:t>05</a:t>
            </a:r>
            <a:endParaRPr lang="en-US" sz="9000" dirty="0"/>
          </a:p>
        </p:txBody>
      </p:sp>
      <p:sp>
        <p:nvSpPr>
          <p:cNvPr id="5" name="Shape 3"/>
          <p:cNvSpPr/>
          <p:nvPr/>
        </p:nvSpPr>
        <p:spPr>
          <a:xfrm>
            <a:off x="2286000" y="1371600"/>
            <a:ext cx="54864" cy="2286000"/>
          </a:xfrm>
          <a:prstGeom prst="rect">
            <a:avLst/>
          </a:prstGeom>
          <a:solidFill>
            <a:srgbClr val="FFFFFF"/>
          </a:solidFill>
          <a:ln w="12700">
            <a:solidFill>
              <a:srgbClr val="FFFFFF"/>
            </a:solidFill>
            <a:prstDash val="solid"/>
          </a:ln>
        </p:spPr>
      </p:sp>
      <p:sp>
        <p:nvSpPr>
          <p:cNvPr id="6" name="Text 4"/>
          <p:cNvSpPr/>
          <p:nvPr/>
        </p:nvSpPr>
        <p:spPr>
          <a:xfrm>
            <a:off x="2560320" y="1554480"/>
            <a:ext cx="6217920" cy="1005840"/>
          </a:xfrm>
          <a:prstGeom prst="rect">
            <a:avLst/>
          </a:prstGeom>
          <a:noFill/>
          <a:ln/>
        </p:spPr>
        <p:txBody>
          <a:bodyPr wrap="square" rtlCol="0" anchor="ctr"/>
          <a:lstStyle/>
          <a:p>
            <a:pPr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Fase III: Operaciones de Campo</a:t>
            </a:r>
            <a:endParaRPr lang="en-US" sz="2800" dirty="0"/>
          </a:p>
        </p:txBody>
      </p:sp>
      <p:sp>
        <p:nvSpPr>
          <p:cNvPr id="7" name="Text 5"/>
          <p:cNvSpPr/>
          <p:nvPr/>
        </p:nvSpPr>
        <p:spPr>
          <a:xfrm>
            <a:off x="2560320" y="2651760"/>
            <a:ext cx="6217920" cy="1097280"/>
          </a:xfrm>
          <a:prstGeom prst="rect">
            <a:avLst/>
          </a:prstGeom>
          <a:noFill/>
          <a:ln/>
        </p:spPr>
        <p:txBody>
          <a:bodyPr wrap="square" rtlCol="0" anchor="ctr"/>
          <a:lstStyle/>
          <a:p>
            <a:pPr indent="0" marL="0">
              <a:buNone/>
            </a:pPr>
            <a:r>
              <a:rPr lang="en-US" sz="1200" dirty="0">
                <a:solidFill>
                  <a:srgbClr val="FFFFFF">
                    <a:alpha val="85000"/>
                  </a:srgbClr>
                </a:solidFill>
                <a:latin typeface="Atkinson Hyperlegible" pitchFamily="34" charset="0"/>
                <a:ea typeface="Atkinson Hyperlegible" pitchFamily="34" charset="-122"/>
                <a:cs typeface="Atkinson Hyperlegible" pitchFamily="34" charset="-120"/>
              </a:rPr>
              <a:t>Conceptos III-1 a III-3: Innovación en métodos, productividad y AWP</a:t>
            </a:r>
            <a:endParaRPr lang="en-US" sz="1200" dirty="0"/>
          </a:p>
        </p:txBody>
      </p:sp>
      <p:sp>
        <p:nvSpPr>
          <p:cNvPr id="8" name="Shape 6"/>
          <p:cNvSpPr/>
          <p:nvPr/>
        </p:nvSpPr>
        <p:spPr>
          <a:xfrm>
            <a:off x="182880" y="4956048"/>
            <a:ext cx="8961120" cy="182880"/>
          </a:xfrm>
          <a:prstGeom prst="rect">
            <a:avLst/>
          </a:prstGeom>
          <a:solidFill>
            <a:srgbClr val="1D1D1F"/>
          </a:solidFill>
          <a:ln w="12700">
            <a:solidFill>
              <a:srgbClr val="1D1D1F"/>
            </a:solidFill>
            <a:prstDash val="solid"/>
          </a:ln>
        </p:spPr>
      </p:sp>
      <p:sp>
        <p:nvSpPr>
          <p:cNvPr id="9" name="Text 7"/>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39 / 126</a:t>
            </a:r>
            <a:endParaRPr lang="en-US" sz="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8E44AD"/>
          </a:solidFill>
          <a:ln w="12700">
            <a:solidFill>
              <a:srgbClr val="8E44AD"/>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III-1: Métodos y Secuencia de Construcción Innovadores</a:t>
            </a:r>
            <a:endParaRPr lang="en-US" sz="1800" dirty="0"/>
          </a:p>
        </p:txBody>
      </p:sp>
      <p:sp>
        <p:nvSpPr>
          <p:cNvPr id="4" name="Shape 2"/>
          <p:cNvSpPr/>
          <p:nvPr/>
        </p:nvSpPr>
        <p:spPr>
          <a:xfrm>
            <a:off x="320040" y="640080"/>
            <a:ext cx="8503920" cy="41148"/>
          </a:xfrm>
          <a:prstGeom prst="rect">
            <a:avLst/>
          </a:prstGeom>
          <a:solidFill>
            <a:srgbClr val="8E44AD"/>
          </a:solidFill>
          <a:ln w="12700">
            <a:solidFill>
              <a:srgbClr val="8E44AD"/>
            </a:solidFill>
            <a:prstDash val="solid"/>
          </a:ln>
        </p:spPr>
      </p:sp>
      <p:sp>
        <p:nvSpPr>
          <p:cNvPr id="5" name="Shape 3"/>
          <p:cNvSpPr/>
          <p:nvPr/>
        </p:nvSpPr>
        <p:spPr>
          <a:xfrm>
            <a:off x="274320" y="804672"/>
            <a:ext cx="4160520" cy="4114800"/>
          </a:xfrm>
          <a:prstGeom prst="roundRect">
            <a:avLst>
              <a:gd name="adj" fmla="val 2222"/>
            </a:avLst>
          </a:prstGeom>
          <a:solidFill>
            <a:srgbClr val="8E44AD"/>
          </a:solidFill>
          <a:ln w="12700">
            <a:solidFill>
              <a:srgbClr val="8E44AD"/>
            </a:solidFill>
            <a:prstDash val="solid"/>
          </a:ln>
        </p:spPr>
      </p:sp>
      <p:sp>
        <p:nvSpPr>
          <p:cNvPr id="6" name="Shape 4"/>
          <p:cNvSpPr/>
          <p:nvPr/>
        </p:nvSpPr>
        <p:spPr>
          <a:xfrm>
            <a:off x="274320" y="804672"/>
            <a:ext cx="45720" cy="4114800"/>
          </a:xfrm>
          <a:prstGeom prst="rect">
            <a:avLst/>
          </a:prstGeom>
          <a:solidFill>
            <a:srgbClr val="8E44AD"/>
          </a:solidFill>
          <a:ln w="12700">
            <a:solidFill>
              <a:srgbClr val="8E44AD"/>
            </a:solidFill>
            <a:prstDash val="solid"/>
          </a:ln>
        </p:spPr>
      </p:sp>
      <p:sp>
        <p:nvSpPr>
          <p:cNvPr id="7" name="Text 5"/>
          <p:cNvSpPr/>
          <p:nvPr/>
        </p:nvSpPr>
        <p:spPr>
          <a:xfrm>
            <a:off x="384048" y="822960"/>
            <a:ext cx="3977640" cy="347472"/>
          </a:xfrm>
          <a:prstGeom prst="rect">
            <a:avLst/>
          </a:prstGeom>
          <a:noFill/>
          <a:ln/>
        </p:spPr>
        <p:txBody>
          <a:bodyPr wrap="square" rtlCol="0" anchor="ctr"/>
          <a:lstStyle/>
          <a:p>
            <a:pPr indent="0" marL="0">
              <a:buNone/>
            </a:pPr>
            <a:r>
              <a:rPr lang="en-US" sz="900" b="1" dirty="0">
                <a:solidFill>
                  <a:srgbClr val="8E44AD"/>
                </a:solidFill>
                <a:latin typeface="Atkinson Hyperlegible" pitchFamily="34" charset="0"/>
                <a:ea typeface="Atkinson Hyperlegible" pitchFamily="34" charset="-122"/>
                <a:cs typeface="Atkinson Hyperlegible" pitchFamily="34" charset="-120"/>
              </a:rPr>
              <a:t>Innovación en Métodos</a:t>
            </a:r>
            <a:endParaRPr lang="en-US" sz="900" dirty="0"/>
          </a:p>
        </p:txBody>
      </p:sp>
      <p:sp>
        <p:nvSpPr>
          <p:cNvPr id="8" name="Shape 6"/>
          <p:cNvSpPr/>
          <p:nvPr/>
        </p:nvSpPr>
        <p:spPr>
          <a:xfrm>
            <a:off x="384048" y="1316736"/>
            <a:ext cx="164592" cy="164592"/>
          </a:xfrm>
          <a:prstGeom prst="ellipse">
            <a:avLst/>
          </a:prstGeom>
          <a:solidFill>
            <a:srgbClr val="8E44AD"/>
          </a:solidFill>
          <a:ln w="12700">
            <a:solidFill>
              <a:srgbClr val="8E44AD"/>
            </a:solidFill>
            <a:prstDash val="solid"/>
          </a:ln>
        </p:spPr>
      </p:sp>
      <p:sp>
        <p:nvSpPr>
          <p:cNvPr id="9" name="Text 7"/>
          <p:cNvSpPr/>
          <p:nvPr/>
        </p:nvSpPr>
        <p:spPr>
          <a:xfrm>
            <a:off x="612648" y="1234440"/>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Secuencia no convencional</a:t>
            </a:r>
            <a:endParaRPr lang="en-US" sz="850" dirty="0"/>
          </a:p>
        </p:txBody>
      </p:sp>
      <p:sp>
        <p:nvSpPr>
          <p:cNvPr id="10" name="Text 8"/>
          <p:cNvSpPr/>
          <p:nvPr/>
        </p:nvSpPr>
        <p:spPr>
          <a:xfrm>
            <a:off x="612648" y="1481328"/>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No siempre "de abajo hacia arriba". La secuencia óptima depende de accesos, interferencias y ruta crítica.</a:t>
            </a:r>
            <a:endParaRPr lang="en-US" sz="750" dirty="0"/>
          </a:p>
        </p:txBody>
      </p:sp>
      <p:sp>
        <p:nvSpPr>
          <p:cNvPr id="11" name="Shape 9"/>
          <p:cNvSpPr/>
          <p:nvPr/>
        </p:nvSpPr>
        <p:spPr>
          <a:xfrm>
            <a:off x="384048" y="1847088"/>
            <a:ext cx="164592" cy="164592"/>
          </a:xfrm>
          <a:prstGeom prst="ellipse">
            <a:avLst/>
          </a:prstGeom>
          <a:solidFill>
            <a:srgbClr val="8E44AD"/>
          </a:solidFill>
          <a:ln w="12700">
            <a:solidFill>
              <a:srgbClr val="8E44AD"/>
            </a:solidFill>
            <a:prstDash val="solid"/>
          </a:ln>
        </p:spPr>
      </p:sp>
      <p:sp>
        <p:nvSpPr>
          <p:cNvPr id="12" name="Text 10"/>
          <p:cNvSpPr/>
          <p:nvPr/>
        </p:nvSpPr>
        <p:spPr>
          <a:xfrm>
            <a:off x="612648" y="1764792"/>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Top-down construction</a:t>
            </a:r>
            <a:endParaRPr lang="en-US" sz="850" dirty="0"/>
          </a:p>
        </p:txBody>
      </p:sp>
      <p:sp>
        <p:nvSpPr>
          <p:cNvPr id="13" name="Text 11"/>
          <p:cNvSpPr/>
          <p:nvPr/>
        </p:nvSpPr>
        <p:spPr>
          <a:xfrm>
            <a:off x="612648" y="2011680"/>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En proyectos con sótanos o cimentaciones especiales, construir de arriba hacia abajo en paralelo.</a:t>
            </a:r>
            <a:endParaRPr lang="en-US" sz="750" dirty="0"/>
          </a:p>
        </p:txBody>
      </p:sp>
      <p:sp>
        <p:nvSpPr>
          <p:cNvPr id="14" name="Shape 12"/>
          <p:cNvSpPr/>
          <p:nvPr/>
        </p:nvSpPr>
        <p:spPr>
          <a:xfrm>
            <a:off x="384048" y="2377440"/>
            <a:ext cx="164592" cy="164592"/>
          </a:xfrm>
          <a:prstGeom prst="ellipse">
            <a:avLst/>
          </a:prstGeom>
          <a:solidFill>
            <a:srgbClr val="8E44AD"/>
          </a:solidFill>
          <a:ln w="12700">
            <a:solidFill>
              <a:srgbClr val="8E44AD"/>
            </a:solidFill>
            <a:prstDash val="solid"/>
          </a:ln>
        </p:spPr>
      </p:sp>
      <p:sp>
        <p:nvSpPr>
          <p:cNvPr id="15" name="Text 13"/>
          <p:cNvSpPr/>
          <p:nvPr/>
        </p:nvSpPr>
        <p:spPr>
          <a:xfrm>
            <a:off x="612648" y="2295144"/>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Método de izaje inverso</a:t>
            </a:r>
            <a:endParaRPr lang="en-US" sz="850" dirty="0"/>
          </a:p>
        </p:txBody>
      </p:sp>
      <p:sp>
        <p:nvSpPr>
          <p:cNvPr id="16" name="Text 14"/>
          <p:cNvSpPr/>
          <p:nvPr/>
        </p:nvSpPr>
        <p:spPr>
          <a:xfrm>
            <a:off x="612648" y="2542032"/>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En estructuras altas, izaje de secciones desde el suelo. Reduce trabajo en altura, mejora seguridad.</a:t>
            </a:r>
            <a:endParaRPr lang="en-US" sz="750" dirty="0"/>
          </a:p>
        </p:txBody>
      </p:sp>
      <p:sp>
        <p:nvSpPr>
          <p:cNvPr id="17" name="Shape 15"/>
          <p:cNvSpPr/>
          <p:nvPr/>
        </p:nvSpPr>
        <p:spPr>
          <a:xfrm>
            <a:off x="384048" y="2907792"/>
            <a:ext cx="164592" cy="164592"/>
          </a:xfrm>
          <a:prstGeom prst="ellipse">
            <a:avLst/>
          </a:prstGeom>
          <a:solidFill>
            <a:srgbClr val="8E44AD"/>
          </a:solidFill>
          <a:ln w="12700">
            <a:solidFill>
              <a:srgbClr val="8E44AD"/>
            </a:solidFill>
            <a:prstDash val="solid"/>
          </a:ln>
        </p:spPr>
      </p:sp>
      <p:sp>
        <p:nvSpPr>
          <p:cNvPr id="18" name="Text 16"/>
          <p:cNvSpPr/>
          <p:nvPr/>
        </p:nvSpPr>
        <p:spPr>
          <a:xfrm>
            <a:off x="612648" y="2825496"/>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Integración de disciplinas</a:t>
            </a:r>
            <a:endParaRPr lang="en-US" sz="850" dirty="0"/>
          </a:p>
        </p:txBody>
      </p:sp>
      <p:sp>
        <p:nvSpPr>
          <p:cNvPr id="19" name="Text 17"/>
          <p:cNvSpPr/>
          <p:nvPr/>
        </p:nvSpPr>
        <p:spPr>
          <a:xfrm>
            <a:off x="612648" y="3072384"/>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Instalar estructura, tuberías, instrumentación y eléctrico en paquetes integrados, no por disciplina.</a:t>
            </a:r>
            <a:endParaRPr lang="en-US" sz="750" dirty="0"/>
          </a:p>
        </p:txBody>
      </p:sp>
      <p:sp>
        <p:nvSpPr>
          <p:cNvPr id="20" name="Text 18"/>
          <p:cNvSpPr/>
          <p:nvPr/>
        </p:nvSpPr>
        <p:spPr>
          <a:xfrm>
            <a:off x="4617720" y="822960"/>
            <a:ext cx="4251960" cy="347472"/>
          </a:xfrm>
          <a:prstGeom prst="rect">
            <a:avLst/>
          </a:prstGeom>
          <a:noFill/>
          <a:ln/>
        </p:spPr>
        <p:txBody>
          <a:bodyPr wrap="square" rtlCol="0" anchor="ctr"/>
          <a:lstStyle/>
          <a:p>
            <a:pPr indent="0" marL="0">
              <a:buNone/>
            </a:pPr>
            <a:r>
              <a:rPr lang="en-US" sz="900" b="1" dirty="0">
                <a:solidFill>
                  <a:srgbClr val="8E44AD"/>
                </a:solidFill>
                <a:latin typeface="Atkinson Hyperlegible" pitchFamily="34" charset="0"/>
                <a:ea typeface="Atkinson Hyperlegible" pitchFamily="34" charset="-122"/>
                <a:cs typeface="Atkinson Hyperlegible" pitchFamily="34" charset="-120"/>
              </a:rPr>
              <a:t>Herramientas CII</a:t>
            </a:r>
            <a:endParaRPr lang="en-US" sz="900" dirty="0"/>
          </a:p>
        </p:txBody>
      </p:sp>
      <p:sp>
        <p:nvSpPr>
          <p:cNvPr id="21" name="Shape 19"/>
          <p:cNvSpPr/>
          <p:nvPr/>
        </p:nvSpPr>
        <p:spPr>
          <a:xfrm>
            <a:off x="4617720" y="1316736"/>
            <a:ext cx="164592" cy="164592"/>
          </a:xfrm>
          <a:prstGeom prst="ellipse">
            <a:avLst/>
          </a:prstGeom>
          <a:solidFill>
            <a:srgbClr val="1D1D1F"/>
          </a:solidFill>
          <a:ln w="12700">
            <a:solidFill>
              <a:srgbClr val="1D1D1F"/>
            </a:solidFill>
            <a:prstDash val="solid"/>
          </a:ln>
        </p:spPr>
      </p:sp>
      <p:sp>
        <p:nvSpPr>
          <p:cNvPr id="22" name="Text 20"/>
          <p:cNvSpPr/>
          <p:nvPr/>
        </p:nvSpPr>
        <p:spPr>
          <a:xfrm>
            <a:off x="4846320" y="1234440"/>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Herramienta T-13</a:t>
            </a:r>
            <a:endParaRPr lang="en-US" sz="850" dirty="0"/>
          </a:p>
        </p:txBody>
      </p:sp>
      <p:sp>
        <p:nvSpPr>
          <p:cNvPr id="23" name="Text 21"/>
          <p:cNvSpPr/>
          <p:nvPr/>
        </p:nvSpPr>
        <p:spPr>
          <a:xfrm>
            <a:off x="4846320" y="1481328"/>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Construction Sequence Analysis. Evalúa y documenta la secuencia óptima de construcción.</a:t>
            </a:r>
            <a:endParaRPr lang="en-US" sz="750" dirty="0"/>
          </a:p>
        </p:txBody>
      </p:sp>
      <p:sp>
        <p:nvSpPr>
          <p:cNvPr id="24" name="Shape 22"/>
          <p:cNvSpPr/>
          <p:nvPr/>
        </p:nvSpPr>
        <p:spPr>
          <a:xfrm>
            <a:off x="4617720" y="1847088"/>
            <a:ext cx="164592" cy="164592"/>
          </a:xfrm>
          <a:prstGeom prst="ellipse">
            <a:avLst/>
          </a:prstGeom>
          <a:solidFill>
            <a:srgbClr val="1D1D1F"/>
          </a:solidFill>
          <a:ln w="12700">
            <a:solidFill>
              <a:srgbClr val="1D1D1F"/>
            </a:solidFill>
            <a:prstDash val="solid"/>
          </a:ln>
        </p:spPr>
      </p:sp>
      <p:sp>
        <p:nvSpPr>
          <p:cNvPr id="25" name="Text 23"/>
          <p:cNvSpPr/>
          <p:nvPr/>
        </p:nvSpPr>
        <p:spPr>
          <a:xfrm>
            <a:off x="4846320" y="1764792"/>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BIM 4D como herramienta</a:t>
            </a:r>
            <a:endParaRPr lang="en-US" sz="850" dirty="0"/>
          </a:p>
        </p:txBody>
      </p:sp>
      <p:sp>
        <p:nvSpPr>
          <p:cNvPr id="26" name="Text 24"/>
          <p:cNvSpPr/>
          <p:nvPr/>
        </p:nvSpPr>
        <p:spPr>
          <a:xfrm>
            <a:off x="4846320" y="2011680"/>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Simular la secuencia en 3D + tiempo permite identificar conflictos y oportunidades de mejora antes de ejecutar.</a:t>
            </a:r>
            <a:endParaRPr lang="en-US" sz="750" dirty="0"/>
          </a:p>
        </p:txBody>
      </p:sp>
      <p:sp>
        <p:nvSpPr>
          <p:cNvPr id="27" name="Shape 25"/>
          <p:cNvSpPr/>
          <p:nvPr/>
        </p:nvSpPr>
        <p:spPr>
          <a:xfrm>
            <a:off x="4617720" y="2377440"/>
            <a:ext cx="164592" cy="164592"/>
          </a:xfrm>
          <a:prstGeom prst="ellipse">
            <a:avLst/>
          </a:prstGeom>
          <a:solidFill>
            <a:srgbClr val="1D1D1F"/>
          </a:solidFill>
          <a:ln w="12700">
            <a:solidFill>
              <a:srgbClr val="1D1D1F"/>
            </a:solidFill>
            <a:prstDash val="solid"/>
          </a:ln>
        </p:spPr>
      </p:sp>
      <p:sp>
        <p:nvSpPr>
          <p:cNvPr id="28" name="Text 26"/>
          <p:cNvSpPr/>
          <p:nvPr/>
        </p:nvSpPr>
        <p:spPr>
          <a:xfrm>
            <a:off x="4846320" y="2295144"/>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Lecciones aprendidas</a:t>
            </a:r>
            <a:endParaRPr lang="en-US" sz="850" dirty="0"/>
          </a:p>
        </p:txBody>
      </p:sp>
      <p:sp>
        <p:nvSpPr>
          <p:cNvPr id="29" name="Text 27"/>
          <p:cNvSpPr/>
          <p:nvPr/>
        </p:nvSpPr>
        <p:spPr>
          <a:xfrm>
            <a:off x="4846320" y="2542032"/>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Los mejores métodos vienen del campo. El LLDB captura estas innovaciones para proyectos futuros.</a:t>
            </a:r>
            <a:endParaRPr lang="en-US" sz="750" dirty="0"/>
          </a:p>
        </p:txBody>
      </p:sp>
      <p:sp>
        <p:nvSpPr>
          <p:cNvPr id="30" name="Shape 28"/>
          <p:cNvSpPr/>
          <p:nvPr/>
        </p:nvSpPr>
        <p:spPr>
          <a:xfrm>
            <a:off x="4617720" y="2907792"/>
            <a:ext cx="164592" cy="164592"/>
          </a:xfrm>
          <a:prstGeom prst="ellipse">
            <a:avLst/>
          </a:prstGeom>
          <a:solidFill>
            <a:srgbClr val="1D1D1F"/>
          </a:solidFill>
          <a:ln w="12700">
            <a:solidFill>
              <a:srgbClr val="1D1D1F"/>
            </a:solidFill>
            <a:prstDash val="solid"/>
          </a:ln>
        </p:spPr>
      </p:sp>
      <p:sp>
        <p:nvSpPr>
          <p:cNvPr id="31" name="Text 29"/>
          <p:cNvSpPr/>
          <p:nvPr/>
        </p:nvSpPr>
        <p:spPr>
          <a:xfrm>
            <a:off x="4846320" y="2825496"/>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Impacto en productividad</a:t>
            </a:r>
            <a:endParaRPr lang="en-US" sz="850" dirty="0"/>
          </a:p>
        </p:txBody>
      </p:sp>
      <p:sp>
        <p:nvSpPr>
          <p:cNvPr id="32" name="Text 30"/>
          <p:cNvSpPr/>
          <p:nvPr/>
        </p:nvSpPr>
        <p:spPr>
          <a:xfrm>
            <a:off x="4846320" y="3072384"/>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Secuencias optimizadas pueden reducir el tiempo total de construcción en 15-20% manteniendo la calidad.</a:t>
            </a:r>
            <a:endParaRPr lang="en-US" sz="750" dirty="0"/>
          </a:p>
        </p:txBody>
      </p:sp>
      <p:sp>
        <p:nvSpPr>
          <p:cNvPr id="33" name="Shape 31"/>
          <p:cNvSpPr/>
          <p:nvPr/>
        </p:nvSpPr>
        <p:spPr>
          <a:xfrm>
            <a:off x="182880" y="4956048"/>
            <a:ext cx="8961120" cy="182880"/>
          </a:xfrm>
          <a:prstGeom prst="rect">
            <a:avLst/>
          </a:prstGeom>
          <a:solidFill>
            <a:srgbClr val="8E44AD"/>
          </a:solidFill>
          <a:ln w="12700">
            <a:solidFill>
              <a:srgbClr val="8E44AD"/>
            </a:solidFill>
            <a:prstDash val="solid"/>
          </a:ln>
        </p:spPr>
      </p:sp>
      <p:sp>
        <p:nvSpPr>
          <p:cNvPr id="34" name="Text 32"/>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40 / 126</a:t>
            </a:r>
            <a:endParaRPr lang="en-US" sz="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8E44AD"/>
          </a:solidFill>
          <a:ln w="12700">
            <a:solidFill>
              <a:srgbClr val="8E44AD"/>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III-2: Productividad de la Fuerza Laboral</a:t>
            </a:r>
            <a:endParaRPr lang="en-US" sz="1800" dirty="0"/>
          </a:p>
        </p:txBody>
      </p:sp>
      <p:sp>
        <p:nvSpPr>
          <p:cNvPr id="4" name="Shape 2"/>
          <p:cNvSpPr/>
          <p:nvPr/>
        </p:nvSpPr>
        <p:spPr>
          <a:xfrm>
            <a:off x="320040" y="640080"/>
            <a:ext cx="8503920" cy="41148"/>
          </a:xfrm>
          <a:prstGeom prst="rect">
            <a:avLst/>
          </a:prstGeom>
          <a:solidFill>
            <a:srgbClr val="8E44AD"/>
          </a:solidFill>
          <a:ln w="12700">
            <a:solidFill>
              <a:srgbClr val="8E44AD"/>
            </a:solidFill>
            <a:prstDash val="solid"/>
          </a:ln>
        </p:spPr>
      </p:sp>
      <p:sp>
        <p:nvSpPr>
          <p:cNvPr id="5" name="Shape 3"/>
          <p:cNvSpPr/>
          <p:nvPr/>
        </p:nvSpPr>
        <p:spPr>
          <a:xfrm>
            <a:off x="320040" y="960120"/>
            <a:ext cx="2560320" cy="3474720"/>
          </a:xfrm>
          <a:prstGeom prst="roundRect">
            <a:avLst>
              <a:gd name="adj" fmla="val 4286"/>
            </a:avLst>
          </a:prstGeom>
          <a:solidFill>
            <a:srgbClr val="FFFFFF"/>
          </a:solidFill>
          <a:ln w="25400">
            <a:solidFill>
              <a:srgbClr val="8E44AD"/>
            </a:solidFill>
            <a:prstDash val="solid"/>
          </a:ln>
        </p:spPr>
      </p:sp>
      <p:sp>
        <p:nvSpPr>
          <p:cNvPr id="6" name="Shape 4"/>
          <p:cNvSpPr/>
          <p:nvPr/>
        </p:nvSpPr>
        <p:spPr>
          <a:xfrm>
            <a:off x="320040" y="960120"/>
            <a:ext cx="2560320" cy="73152"/>
          </a:xfrm>
          <a:prstGeom prst="rect">
            <a:avLst/>
          </a:prstGeom>
          <a:solidFill>
            <a:srgbClr val="8E44AD"/>
          </a:solidFill>
          <a:ln w="12700">
            <a:solidFill>
              <a:srgbClr val="8E44AD"/>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80160" y="1170432"/>
            <a:ext cx="640080" cy="640080"/>
          </a:xfrm>
          <a:prstGeom prst="rect">
            <a:avLst/>
          </a:prstGeom>
        </p:spPr>
      </p:pic>
      <p:sp>
        <p:nvSpPr>
          <p:cNvPr id="8" name="Text 5"/>
          <p:cNvSpPr/>
          <p:nvPr/>
        </p:nvSpPr>
        <p:spPr>
          <a:xfrm>
            <a:off x="411480" y="1920240"/>
            <a:ext cx="2377440" cy="914400"/>
          </a:xfrm>
          <a:prstGeom prst="rect">
            <a:avLst/>
          </a:prstGeom>
          <a:noFill/>
          <a:ln/>
        </p:spPr>
        <p:txBody>
          <a:bodyPr wrap="square" rtlCol="0" anchor="ctr"/>
          <a:lstStyle/>
          <a:p>
            <a:pPr algn="ctr" indent="0" marL="0">
              <a:buNone/>
            </a:pPr>
            <a:r>
              <a:rPr lang="en-US" sz="3200" b="1" dirty="0">
                <a:solidFill>
                  <a:srgbClr val="8E44AD"/>
                </a:solidFill>
                <a:latin typeface="Atkinson Hyperlegible" pitchFamily="34" charset="0"/>
                <a:ea typeface="Atkinson Hyperlegible" pitchFamily="34" charset="-122"/>
                <a:cs typeface="Atkinson Hyperlegible" pitchFamily="34" charset="-120"/>
              </a:rPr>
              <a:t>25-40%</a:t>
            </a:r>
            <a:endParaRPr lang="en-US" sz="3200" dirty="0"/>
          </a:p>
        </p:txBody>
      </p:sp>
      <p:sp>
        <p:nvSpPr>
          <p:cNvPr id="9" name="Shape 6"/>
          <p:cNvSpPr/>
          <p:nvPr/>
        </p:nvSpPr>
        <p:spPr>
          <a:xfrm>
            <a:off x="832104" y="2880360"/>
            <a:ext cx="1536192" cy="36576"/>
          </a:xfrm>
          <a:prstGeom prst="rect">
            <a:avLst/>
          </a:prstGeom>
          <a:solidFill>
            <a:srgbClr val="8E44AD"/>
          </a:solidFill>
          <a:ln w="12700">
            <a:solidFill>
              <a:srgbClr val="8E44AD"/>
            </a:solidFill>
            <a:prstDash val="solid"/>
          </a:ln>
        </p:spPr>
      </p:sp>
      <p:sp>
        <p:nvSpPr>
          <p:cNvPr id="10" name="Text 7"/>
          <p:cNvSpPr/>
          <p:nvPr/>
        </p:nvSpPr>
        <p:spPr>
          <a:xfrm>
            <a:off x="411480" y="2971800"/>
            <a:ext cx="2377440" cy="457200"/>
          </a:xfrm>
          <a:prstGeom prst="rect">
            <a:avLst/>
          </a:prstGeom>
          <a:noFill/>
          <a:ln/>
        </p:spPr>
        <p:txBody>
          <a:bodyPr wrap="square" rtlCol="0" anchor="ctr"/>
          <a:lstStyle/>
          <a:p>
            <a:pPr algn="ct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Variación de Productividad</a:t>
            </a:r>
            <a:endParaRPr lang="en-US" sz="900" dirty="0"/>
          </a:p>
        </p:txBody>
      </p:sp>
      <p:sp>
        <p:nvSpPr>
          <p:cNvPr id="11" name="Text 8"/>
          <p:cNvSpPr/>
          <p:nvPr/>
        </p:nvSpPr>
        <p:spPr>
          <a:xfrm>
            <a:off x="411480" y="3456432"/>
            <a:ext cx="2377440" cy="822960"/>
          </a:xfrm>
          <a:prstGeom prst="rect">
            <a:avLst/>
          </a:prstGeom>
          <a:noFill/>
          <a:ln/>
        </p:spPr>
        <p:txBody>
          <a:bodyPr wrap="square" rtlCol="0" anchor="ctr"/>
          <a:lstStyle/>
          <a:p>
            <a:pPr algn="ctr" indent="0" marL="0">
              <a:buNone/>
            </a:pPr>
            <a:r>
              <a:rPr lang="en-US" sz="700" dirty="0">
                <a:solidFill>
                  <a:srgbClr val="8E8E93"/>
                </a:solidFill>
                <a:latin typeface="Atkinson Hyperlegible" pitchFamily="34" charset="0"/>
                <a:ea typeface="Atkinson Hyperlegible" pitchFamily="34" charset="-122"/>
                <a:cs typeface="Atkinson Hyperlegible" pitchFamily="34" charset="-120"/>
              </a:rPr>
              <a:t>Entre proyectos similares, la productividad varía 25-40%. La constructabilidad reduce esta brecha.</a:t>
            </a:r>
            <a:endParaRPr lang="en-US" sz="700" dirty="0"/>
          </a:p>
        </p:txBody>
      </p:sp>
      <p:sp>
        <p:nvSpPr>
          <p:cNvPr id="12" name="Shape 9"/>
          <p:cNvSpPr/>
          <p:nvPr/>
        </p:nvSpPr>
        <p:spPr>
          <a:xfrm>
            <a:off x="3291840" y="960120"/>
            <a:ext cx="2560320" cy="3474720"/>
          </a:xfrm>
          <a:prstGeom prst="roundRect">
            <a:avLst>
              <a:gd name="adj" fmla="val 4286"/>
            </a:avLst>
          </a:prstGeom>
          <a:solidFill>
            <a:srgbClr val="FFFFFF"/>
          </a:solidFill>
          <a:ln w="25400">
            <a:solidFill>
              <a:srgbClr val="8E44AD"/>
            </a:solidFill>
            <a:prstDash val="solid"/>
          </a:ln>
        </p:spPr>
      </p:sp>
      <p:sp>
        <p:nvSpPr>
          <p:cNvPr id="13" name="Shape 10"/>
          <p:cNvSpPr/>
          <p:nvPr/>
        </p:nvSpPr>
        <p:spPr>
          <a:xfrm>
            <a:off x="3291840" y="960120"/>
            <a:ext cx="2560320" cy="73152"/>
          </a:xfrm>
          <a:prstGeom prst="rect">
            <a:avLst/>
          </a:prstGeom>
          <a:solidFill>
            <a:srgbClr val="8E44AD"/>
          </a:solidFill>
          <a:ln w="12700">
            <a:solidFill>
              <a:srgbClr val="8E44AD"/>
            </a:solidFill>
            <a:prstDash val="solid"/>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51960" y="1170432"/>
            <a:ext cx="640080" cy="640080"/>
          </a:xfrm>
          <a:prstGeom prst="rect">
            <a:avLst/>
          </a:prstGeom>
        </p:spPr>
      </p:pic>
      <p:sp>
        <p:nvSpPr>
          <p:cNvPr id="15" name="Text 11"/>
          <p:cNvSpPr/>
          <p:nvPr/>
        </p:nvSpPr>
        <p:spPr>
          <a:xfrm>
            <a:off x="3383280" y="1920240"/>
            <a:ext cx="2377440" cy="914400"/>
          </a:xfrm>
          <a:prstGeom prst="rect">
            <a:avLst/>
          </a:prstGeom>
          <a:noFill/>
          <a:ln/>
        </p:spPr>
        <p:txBody>
          <a:bodyPr wrap="square" rtlCol="0" anchor="ctr"/>
          <a:lstStyle/>
          <a:p>
            <a:pPr algn="ctr" indent="0" marL="0">
              <a:buNone/>
            </a:pPr>
            <a:r>
              <a:rPr lang="en-US" sz="3200" b="1" dirty="0">
                <a:solidFill>
                  <a:srgbClr val="8E44AD"/>
                </a:solidFill>
                <a:latin typeface="Atkinson Hyperlegible" pitchFamily="34" charset="0"/>
                <a:ea typeface="Atkinson Hyperlegible" pitchFamily="34" charset="-122"/>
                <a:cs typeface="Atkinson Hyperlegible" pitchFamily="34" charset="-120"/>
              </a:rPr>
              <a:t>60%</a:t>
            </a:r>
            <a:endParaRPr lang="en-US" sz="3200" dirty="0"/>
          </a:p>
        </p:txBody>
      </p:sp>
      <p:sp>
        <p:nvSpPr>
          <p:cNvPr id="16" name="Shape 12"/>
          <p:cNvSpPr/>
          <p:nvPr/>
        </p:nvSpPr>
        <p:spPr>
          <a:xfrm>
            <a:off x="3803904" y="2880360"/>
            <a:ext cx="1536192" cy="36576"/>
          </a:xfrm>
          <a:prstGeom prst="rect">
            <a:avLst/>
          </a:prstGeom>
          <a:solidFill>
            <a:srgbClr val="8E44AD"/>
          </a:solidFill>
          <a:ln w="12700">
            <a:solidFill>
              <a:srgbClr val="8E44AD"/>
            </a:solidFill>
            <a:prstDash val="solid"/>
          </a:ln>
        </p:spPr>
      </p:sp>
      <p:sp>
        <p:nvSpPr>
          <p:cNvPr id="17" name="Text 13"/>
          <p:cNvSpPr/>
          <p:nvPr/>
        </p:nvSpPr>
        <p:spPr>
          <a:xfrm>
            <a:off x="3383280" y="2971800"/>
            <a:ext cx="2377440" cy="457200"/>
          </a:xfrm>
          <a:prstGeom prst="rect">
            <a:avLst/>
          </a:prstGeom>
          <a:noFill/>
          <a:ln/>
        </p:spPr>
        <p:txBody>
          <a:bodyPr wrap="square" rtlCol="0" anchor="ctr"/>
          <a:lstStyle/>
          <a:p>
            <a:pPr algn="ct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Tiempo Productivo Promedio</a:t>
            </a:r>
            <a:endParaRPr lang="en-US" sz="900" dirty="0"/>
          </a:p>
        </p:txBody>
      </p:sp>
      <p:sp>
        <p:nvSpPr>
          <p:cNvPr id="18" name="Text 14"/>
          <p:cNvSpPr/>
          <p:nvPr/>
        </p:nvSpPr>
        <p:spPr>
          <a:xfrm>
            <a:off x="3383280" y="3456432"/>
            <a:ext cx="2377440" cy="822960"/>
          </a:xfrm>
          <a:prstGeom prst="rect">
            <a:avLst/>
          </a:prstGeom>
          <a:noFill/>
          <a:ln/>
        </p:spPr>
        <p:txBody>
          <a:bodyPr wrap="square" rtlCol="0" anchor="ctr"/>
          <a:lstStyle/>
          <a:p>
            <a:pPr algn="ctr" indent="0" marL="0">
              <a:buNone/>
            </a:pPr>
            <a:r>
              <a:rPr lang="en-US" sz="700" dirty="0">
                <a:solidFill>
                  <a:srgbClr val="8E8E93"/>
                </a:solidFill>
                <a:latin typeface="Atkinson Hyperlegible" pitchFamily="34" charset="0"/>
                <a:ea typeface="Atkinson Hyperlegible" pitchFamily="34" charset="-122"/>
                <a:cs typeface="Atkinson Hyperlegible" pitchFamily="34" charset="-120"/>
              </a:rPr>
              <a:t>Solo el 60% del tiempo en obra es trabajo directo. El resto es esperas, traslados y reprocesos.</a:t>
            </a:r>
            <a:endParaRPr lang="en-US" sz="700" dirty="0"/>
          </a:p>
        </p:txBody>
      </p:sp>
      <p:sp>
        <p:nvSpPr>
          <p:cNvPr id="19" name="Shape 15"/>
          <p:cNvSpPr/>
          <p:nvPr/>
        </p:nvSpPr>
        <p:spPr>
          <a:xfrm>
            <a:off x="6263640" y="960120"/>
            <a:ext cx="2560320" cy="3474720"/>
          </a:xfrm>
          <a:prstGeom prst="roundRect">
            <a:avLst>
              <a:gd name="adj" fmla="val 4286"/>
            </a:avLst>
          </a:prstGeom>
          <a:solidFill>
            <a:srgbClr val="FFFFFF"/>
          </a:solidFill>
          <a:ln w="25400">
            <a:solidFill>
              <a:srgbClr val="8E44AD"/>
            </a:solidFill>
            <a:prstDash val="solid"/>
          </a:ln>
        </p:spPr>
      </p:sp>
      <p:sp>
        <p:nvSpPr>
          <p:cNvPr id="20" name="Shape 16"/>
          <p:cNvSpPr/>
          <p:nvPr/>
        </p:nvSpPr>
        <p:spPr>
          <a:xfrm>
            <a:off x="6263640" y="960120"/>
            <a:ext cx="2560320" cy="73152"/>
          </a:xfrm>
          <a:prstGeom prst="rect">
            <a:avLst/>
          </a:prstGeom>
          <a:solidFill>
            <a:srgbClr val="8E44AD"/>
          </a:solidFill>
          <a:ln w="12700">
            <a:solidFill>
              <a:srgbClr val="8E44AD"/>
            </a:solidFill>
            <a:prstDash val="solid"/>
          </a:ln>
        </p:spPr>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23760" y="1170432"/>
            <a:ext cx="640080" cy="640080"/>
          </a:xfrm>
          <a:prstGeom prst="rect">
            <a:avLst/>
          </a:prstGeom>
        </p:spPr>
      </p:pic>
      <p:sp>
        <p:nvSpPr>
          <p:cNvPr id="22" name="Text 17"/>
          <p:cNvSpPr/>
          <p:nvPr/>
        </p:nvSpPr>
        <p:spPr>
          <a:xfrm>
            <a:off x="6355080" y="1920240"/>
            <a:ext cx="2377440" cy="914400"/>
          </a:xfrm>
          <a:prstGeom prst="rect">
            <a:avLst/>
          </a:prstGeom>
          <a:noFill/>
          <a:ln/>
        </p:spPr>
        <p:txBody>
          <a:bodyPr wrap="square" rtlCol="0" anchor="ctr"/>
          <a:lstStyle/>
          <a:p>
            <a:pPr algn="ctr" indent="0" marL="0">
              <a:buNone/>
            </a:pPr>
            <a:r>
              <a:rPr lang="en-US" sz="3200" b="1" dirty="0">
                <a:solidFill>
                  <a:srgbClr val="8E44AD"/>
                </a:solidFill>
                <a:latin typeface="Atkinson Hyperlegible" pitchFamily="34" charset="0"/>
                <a:ea typeface="Atkinson Hyperlegible" pitchFamily="34" charset="-122"/>
                <a:cs typeface="Atkinson Hyperlegible" pitchFamily="34" charset="-120"/>
              </a:rPr>
              <a:t>2x</a:t>
            </a:r>
            <a:endParaRPr lang="en-US" sz="3200" dirty="0"/>
          </a:p>
        </p:txBody>
      </p:sp>
      <p:sp>
        <p:nvSpPr>
          <p:cNvPr id="23" name="Shape 18"/>
          <p:cNvSpPr/>
          <p:nvPr/>
        </p:nvSpPr>
        <p:spPr>
          <a:xfrm>
            <a:off x="6775704" y="2880360"/>
            <a:ext cx="1536192" cy="36576"/>
          </a:xfrm>
          <a:prstGeom prst="rect">
            <a:avLst/>
          </a:prstGeom>
          <a:solidFill>
            <a:srgbClr val="8E44AD"/>
          </a:solidFill>
          <a:ln w="12700">
            <a:solidFill>
              <a:srgbClr val="8E44AD"/>
            </a:solidFill>
            <a:prstDash val="solid"/>
          </a:ln>
        </p:spPr>
      </p:sp>
      <p:sp>
        <p:nvSpPr>
          <p:cNvPr id="24" name="Text 19"/>
          <p:cNvSpPr/>
          <p:nvPr/>
        </p:nvSpPr>
        <p:spPr>
          <a:xfrm>
            <a:off x="6355080" y="2971800"/>
            <a:ext cx="2377440" cy="457200"/>
          </a:xfrm>
          <a:prstGeom prst="rect">
            <a:avLst/>
          </a:prstGeom>
          <a:noFill/>
          <a:ln/>
        </p:spPr>
        <p:txBody>
          <a:bodyPr wrap="square" rtlCol="0" anchor="ctr"/>
          <a:lstStyle/>
          <a:p>
            <a:pPr algn="ct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Mejora con Constructabilidad</a:t>
            </a:r>
            <a:endParaRPr lang="en-US" sz="900" dirty="0"/>
          </a:p>
        </p:txBody>
      </p:sp>
      <p:sp>
        <p:nvSpPr>
          <p:cNvPr id="25" name="Text 20"/>
          <p:cNvSpPr/>
          <p:nvPr/>
        </p:nvSpPr>
        <p:spPr>
          <a:xfrm>
            <a:off x="6355080" y="3456432"/>
            <a:ext cx="2377440" cy="822960"/>
          </a:xfrm>
          <a:prstGeom prst="rect">
            <a:avLst/>
          </a:prstGeom>
          <a:noFill/>
          <a:ln/>
        </p:spPr>
        <p:txBody>
          <a:bodyPr wrap="square" rtlCol="0" anchor="ctr"/>
          <a:lstStyle/>
          <a:p>
            <a:pPr algn="ctr" indent="0" marL="0">
              <a:buNone/>
            </a:pPr>
            <a:r>
              <a:rPr lang="en-US" sz="700" dirty="0">
                <a:solidFill>
                  <a:srgbClr val="8E8E93"/>
                </a:solidFill>
                <a:latin typeface="Atkinson Hyperlegible" pitchFamily="34" charset="0"/>
                <a:ea typeface="Atkinson Hyperlegible" pitchFamily="34" charset="-122"/>
                <a:cs typeface="Atkinson Hyperlegible" pitchFamily="34" charset="-120"/>
              </a:rPr>
              <a:t>Proyectos con programas maduros alcanzan hasta el doble de productividad vs. sin programa.</a:t>
            </a:r>
            <a:endParaRPr lang="en-US" sz="700" dirty="0"/>
          </a:p>
        </p:txBody>
      </p:sp>
      <p:sp>
        <p:nvSpPr>
          <p:cNvPr id="26" name="Shape 21"/>
          <p:cNvSpPr/>
          <p:nvPr/>
        </p:nvSpPr>
        <p:spPr>
          <a:xfrm>
            <a:off x="182880" y="4956048"/>
            <a:ext cx="8961120" cy="182880"/>
          </a:xfrm>
          <a:prstGeom prst="rect">
            <a:avLst/>
          </a:prstGeom>
          <a:solidFill>
            <a:srgbClr val="8E44AD"/>
          </a:solidFill>
          <a:ln w="12700">
            <a:solidFill>
              <a:srgbClr val="8E44AD"/>
            </a:solidFill>
            <a:prstDash val="solid"/>
          </a:ln>
        </p:spPr>
      </p:sp>
      <p:sp>
        <p:nvSpPr>
          <p:cNvPr id="27" name="Text 22"/>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41 / 126</a:t>
            </a:r>
            <a:endParaRPr lang="en-US" sz="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8E44AD"/>
          </a:solidFill>
          <a:ln w="12700">
            <a:solidFill>
              <a:srgbClr val="8E44AD"/>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III-3: Advanced Work Packaging (AWP)</a:t>
            </a:r>
            <a:endParaRPr lang="en-US" sz="1800" dirty="0"/>
          </a:p>
        </p:txBody>
      </p:sp>
      <p:sp>
        <p:nvSpPr>
          <p:cNvPr id="4" name="Shape 2"/>
          <p:cNvSpPr/>
          <p:nvPr/>
        </p:nvSpPr>
        <p:spPr>
          <a:xfrm>
            <a:off x="320040" y="640080"/>
            <a:ext cx="8503920" cy="41148"/>
          </a:xfrm>
          <a:prstGeom prst="rect">
            <a:avLst/>
          </a:prstGeom>
          <a:solidFill>
            <a:srgbClr val="8E44AD"/>
          </a:solidFill>
          <a:ln w="12700">
            <a:solidFill>
              <a:srgbClr val="8E44AD"/>
            </a:solidFill>
            <a:prstDash val="solid"/>
          </a:ln>
        </p:spPr>
      </p:sp>
      <p:sp>
        <p:nvSpPr>
          <p:cNvPr id="5" name="Shape 3"/>
          <p:cNvSpPr/>
          <p:nvPr/>
        </p:nvSpPr>
        <p:spPr>
          <a:xfrm>
            <a:off x="320040" y="1371600"/>
            <a:ext cx="1495958" cy="1097280"/>
          </a:xfrm>
          <a:prstGeom prst="roundRect">
            <a:avLst>
              <a:gd name="adj" fmla="val 7500"/>
            </a:avLst>
          </a:prstGeom>
          <a:solidFill>
            <a:srgbClr val="8E44AD"/>
          </a:solidFill>
          <a:ln w="12700">
            <a:solidFill>
              <a:srgbClr val="8E44AD"/>
            </a:solidFill>
            <a:prstDash val="solid"/>
          </a:ln>
        </p:spPr>
      </p:sp>
      <p:sp>
        <p:nvSpPr>
          <p:cNvPr id="6" name="Shape 4"/>
          <p:cNvSpPr/>
          <p:nvPr/>
        </p:nvSpPr>
        <p:spPr>
          <a:xfrm>
            <a:off x="885139" y="1152144"/>
            <a:ext cx="365760" cy="365760"/>
          </a:xfrm>
          <a:prstGeom prst="ellipse">
            <a:avLst/>
          </a:prstGeom>
          <a:solidFill>
            <a:srgbClr val="FFFFFF"/>
          </a:solidFill>
          <a:ln w="19050">
            <a:solidFill>
              <a:srgbClr val="8E44AD"/>
            </a:solidFill>
            <a:prstDash val="solid"/>
          </a:ln>
        </p:spPr>
      </p:sp>
      <p:sp>
        <p:nvSpPr>
          <p:cNvPr id="7" name="Text 5"/>
          <p:cNvSpPr/>
          <p:nvPr/>
        </p:nvSpPr>
        <p:spPr>
          <a:xfrm>
            <a:off x="885139" y="1152144"/>
            <a:ext cx="365760" cy="365760"/>
          </a:xfrm>
          <a:prstGeom prst="rect">
            <a:avLst/>
          </a:prstGeom>
          <a:noFill/>
          <a:ln/>
        </p:spPr>
        <p:txBody>
          <a:bodyPr wrap="square" rtlCol="0" anchor="ctr"/>
          <a:lstStyle/>
          <a:p>
            <a:pPr algn="ctr" indent="0" marL="0">
              <a:buNone/>
            </a:pPr>
            <a:r>
              <a:rPr lang="en-US" sz="800" b="1" dirty="0">
                <a:solidFill>
                  <a:srgbClr val="8E44AD"/>
                </a:solidFill>
                <a:latin typeface="Atkinson Hyperlegible" pitchFamily="34" charset="0"/>
                <a:ea typeface="Atkinson Hyperlegible" pitchFamily="34" charset="-122"/>
                <a:cs typeface="Atkinson Hyperlegible" pitchFamily="34" charset="-120"/>
              </a:rPr>
              <a:t>1</a:t>
            </a:r>
            <a:endParaRPr lang="en-US" sz="800" dirty="0"/>
          </a:p>
        </p:txBody>
      </p:sp>
      <p:sp>
        <p:nvSpPr>
          <p:cNvPr id="8" name="Text 6"/>
          <p:cNvSpPr/>
          <p:nvPr/>
        </p:nvSpPr>
        <p:spPr>
          <a:xfrm>
            <a:off x="384048"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Engineering</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Work Package</a:t>
            </a:r>
            <a:endParaRPr lang="en-US" sz="800" dirty="0"/>
          </a:p>
        </p:txBody>
      </p:sp>
      <p:sp>
        <p:nvSpPr>
          <p:cNvPr id="9" name="Text 7"/>
          <p:cNvSpPr/>
          <p:nvPr/>
        </p:nvSpPr>
        <p:spPr>
          <a:xfrm>
            <a:off x="384048" y="1828800"/>
            <a:ext cx="1367942" cy="594360"/>
          </a:xfrm>
          <a:prstGeom prst="rect">
            <a:avLst/>
          </a:prstGeom>
          <a:noFill/>
          <a:ln/>
        </p:spPr>
        <p:txBody>
          <a:bodyPr wrap="square" rtlCol="0" anchor="ctr"/>
          <a:lstStyle/>
          <a:p>
            <a:pPr algn="ctr" indent="0" marL="0">
              <a:buNone/>
            </a:pPr>
            <a:r>
              <a:rPr lang="en-US" sz="650" dirty="0">
                <a:solidFill>
                  <a:srgbClr val="FFFFFF"/>
                </a:solidFill>
                <a:latin typeface="Atkinson Hyperlegible" pitchFamily="34" charset="0"/>
                <a:ea typeface="Atkinson Hyperlegible" pitchFamily="34" charset="-122"/>
                <a:cs typeface="Atkinson Hyperlegible" pitchFamily="34" charset="-120"/>
              </a:rPr>
              <a:t>EWP: paquete de ingeniería por sistema</a:t>
            </a:r>
            <a:endParaRPr lang="en-US" sz="650" dirty="0"/>
          </a:p>
        </p:txBody>
      </p:sp>
      <p:sp>
        <p:nvSpPr>
          <p:cNvPr id="10" name="Shape 8"/>
          <p:cNvSpPr/>
          <p:nvPr/>
        </p:nvSpPr>
        <p:spPr>
          <a:xfrm>
            <a:off x="1825142" y="1801368"/>
            <a:ext cx="246888" cy="237744"/>
          </a:xfrm>
          <a:prstGeom prst="rightArrow">
            <a:avLst/>
          </a:prstGeom>
          <a:solidFill>
            <a:srgbClr val="8E44AD"/>
          </a:solidFill>
          <a:ln w="12700">
            <a:solidFill>
              <a:srgbClr val="8E44AD"/>
            </a:solidFill>
            <a:prstDash val="solid"/>
          </a:ln>
        </p:spPr>
      </p:sp>
      <p:sp>
        <p:nvSpPr>
          <p:cNvPr id="11" name="Shape 9"/>
          <p:cNvSpPr/>
          <p:nvPr/>
        </p:nvSpPr>
        <p:spPr>
          <a:xfrm>
            <a:off x="2072030" y="1371600"/>
            <a:ext cx="1495958" cy="1097280"/>
          </a:xfrm>
          <a:prstGeom prst="roundRect">
            <a:avLst>
              <a:gd name="adj" fmla="val 7500"/>
            </a:avLst>
          </a:prstGeom>
          <a:solidFill>
            <a:srgbClr val="1D1D1F"/>
          </a:solidFill>
          <a:ln w="12700">
            <a:solidFill>
              <a:srgbClr val="1D1D1F"/>
            </a:solidFill>
            <a:prstDash val="solid"/>
          </a:ln>
        </p:spPr>
      </p:sp>
      <p:sp>
        <p:nvSpPr>
          <p:cNvPr id="12" name="Shape 10"/>
          <p:cNvSpPr/>
          <p:nvPr/>
        </p:nvSpPr>
        <p:spPr>
          <a:xfrm>
            <a:off x="2637130" y="1152144"/>
            <a:ext cx="365760" cy="365760"/>
          </a:xfrm>
          <a:prstGeom prst="ellipse">
            <a:avLst/>
          </a:prstGeom>
          <a:solidFill>
            <a:srgbClr val="FFFFFF"/>
          </a:solidFill>
          <a:ln w="19050">
            <a:solidFill>
              <a:srgbClr val="1D1D1F"/>
            </a:solidFill>
            <a:prstDash val="solid"/>
          </a:ln>
        </p:spPr>
      </p:sp>
      <p:sp>
        <p:nvSpPr>
          <p:cNvPr id="13" name="Text 11"/>
          <p:cNvSpPr/>
          <p:nvPr/>
        </p:nvSpPr>
        <p:spPr>
          <a:xfrm>
            <a:off x="2637130" y="1152144"/>
            <a:ext cx="365760" cy="365760"/>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2</a:t>
            </a:r>
            <a:endParaRPr lang="en-US" sz="800" dirty="0"/>
          </a:p>
        </p:txBody>
      </p:sp>
      <p:sp>
        <p:nvSpPr>
          <p:cNvPr id="14" name="Text 12"/>
          <p:cNvSpPr/>
          <p:nvPr/>
        </p:nvSpPr>
        <p:spPr>
          <a:xfrm>
            <a:off x="2136038"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Procurement</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Work Package</a:t>
            </a:r>
            <a:endParaRPr lang="en-US" sz="800" dirty="0"/>
          </a:p>
        </p:txBody>
      </p:sp>
      <p:sp>
        <p:nvSpPr>
          <p:cNvPr id="15" name="Text 13"/>
          <p:cNvSpPr/>
          <p:nvPr/>
        </p:nvSpPr>
        <p:spPr>
          <a:xfrm>
            <a:off x="2136038" y="1828800"/>
            <a:ext cx="1367942" cy="594360"/>
          </a:xfrm>
          <a:prstGeom prst="rect">
            <a:avLst/>
          </a:prstGeom>
          <a:noFill/>
          <a:ln/>
        </p:spPr>
        <p:txBody>
          <a:bodyPr wrap="square" rtlCol="0" anchor="ctr"/>
          <a:lstStyle/>
          <a:p>
            <a:pPr algn="ctr" indent="0" marL="0">
              <a:buNone/>
            </a:pPr>
            <a:r>
              <a:rPr lang="en-US" sz="650" dirty="0">
                <a:solidFill>
                  <a:srgbClr val="FFFFFF"/>
                </a:solidFill>
                <a:latin typeface="Atkinson Hyperlegible" pitchFamily="34" charset="0"/>
                <a:ea typeface="Atkinson Hyperlegible" pitchFamily="34" charset="-122"/>
                <a:cs typeface="Atkinson Hyperlegible" pitchFamily="34" charset="-120"/>
              </a:rPr>
              <a:t>PWP: vinculado al paquete de procura</a:t>
            </a:r>
            <a:endParaRPr lang="en-US" sz="650" dirty="0"/>
          </a:p>
        </p:txBody>
      </p:sp>
      <p:sp>
        <p:nvSpPr>
          <p:cNvPr id="16" name="Shape 14"/>
          <p:cNvSpPr/>
          <p:nvPr/>
        </p:nvSpPr>
        <p:spPr>
          <a:xfrm>
            <a:off x="3577133" y="1801368"/>
            <a:ext cx="246888" cy="237744"/>
          </a:xfrm>
          <a:prstGeom prst="rightArrow">
            <a:avLst/>
          </a:prstGeom>
          <a:solidFill>
            <a:srgbClr val="8E44AD"/>
          </a:solidFill>
          <a:ln w="12700">
            <a:solidFill>
              <a:srgbClr val="8E44AD"/>
            </a:solidFill>
            <a:prstDash val="solid"/>
          </a:ln>
        </p:spPr>
      </p:sp>
      <p:sp>
        <p:nvSpPr>
          <p:cNvPr id="17" name="Shape 15"/>
          <p:cNvSpPr/>
          <p:nvPr/>
        </p:nvSpPr>
        <p:spPr>
          <a:xfrm>
            <a:off x="3824021" y="1371600"/>
            <a:ext cx="1495958" cy="1097280"/>
          </a:xfrm>
          <a:prstGeom prst="roundRect">
            <a:avLst>
              <a:gd name="adj" fmla="val 7500"/>
            </a:avLst>
          </a:prstGeom>
          <a:solidFill>
            <a:srgbClr val="8E44AD"/>
          </a:solidFill>
          <a:ln w="12700">
            <a:solidFill>
              <a:srgbClr val="8E44AD"/>
            </a:solidFill>
            <a:prstDash val="solid"/>
          </a:ln>
        </p:spPr>
      </p:sp>
      <p:sp>
        <p:nvSpPr>
          <p:cNvPr id="18" name="Shape 16"/>
          <p:cNvSpPr/>
          <p:nvPr/>
        </p:nvSpPr>
        <p:spPr>
          <a:xfrm>
            <a:off x="4389120" y="1152144"/>
            <a:ext cx="365760" cy="365760"/>
          </a:xfrm>
          <a:prstGeom prst="ellipse">
            <a:avLst/>
          </a:prstGeom>
          <a:solidFill>
            <a:srgbClr val="FFFFFF"/>
          </a:solidFill>
          <a:ln w="19050">
            <a:solidFill>
              <a:srgbClr val="8E44AD"/>
            </a:solidFill>
            <a:prstDash val="solid"/>
          </a:ln>
        </p:spPr>
      </p:sp>
      <p:sp>
        <p:nvSpPr>
          <p:cNvPr id="19" name="Text 17"/>
          <p:cNvSpPr/>
          <p:nvPr/>
        </p:nvSpPr>
        <p:spPr>
          <a:xfrm>
            <a:off x="4389120" y="1152144"/>
            <a:ext cx="365760" cy="365760"/>
          </a:xfrm>
          <a:prstGeom prst="rect">
            <a:avLst/>
          </a:prstGeom>
          <a:noFill/>
          <a:ln/>
        </p:spPr>
        <p:txBody>
          <a:bodyPr wrap="square" rtlCol="0" anchor="ctr"/>
          <a:lstStyle/>
          <a:p>
            <a:pPr algn="ctr" indent="0" marL="0">
              <a:buNone/>
            </a:pPr>
            <a:r>
              <a:rPr lang="en-US" sz="800" b="1" dirty="0">
                <a:solidFill>
                  <a:srgbClr val="8E44AD"/>
                </a:solidFill>
                <a:latin typeface="Atkinson Hyperlegible" pitchFamily="34" charset="0"/>
                <a:ea typeface="Atkinson Hyperlegible" pitchFamily="34" charset="-122"/>
                <a:cs typeface="Atkinson Hyperlegible" pitchFamily="34" charset="-120"/>
              </a:rPr>
              <a:t>3</a:t>
            </a:r>
            <a:endParaRPr lang="en-US" sz="800" dirty="0"/>
          </a:p>
        </p:txBody>
      </p:sp>
      <p:sp>
        <p:nvSpPr>
          <p:cNvPr id="20" name="Text 18"/>
          <p:cNvSpPr/>
          <p:nvPr/>
        </p:nvSpPr>
        <p:spPr>
          <a:xfrm>
            <a:off x="3888029"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Construction</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Work Package</a:t>
            </a:r>
            <a:endParaRPr lang="en-US" sz="800" dirty="0"/>
          </a:p>
        </p:txBody>
      </p:sp>
      <p:sp>
        <p:nvSpPr>
          <p:cNvPr id="21" name="Text 19"/>
          <p:cNvSpPr/>
          <p:nvPr/>
        </p:nvSpPr>
        <p:spPr>
          <a:xfrm>
            <a:off x="3888029" y="1828800"/>
            <a:ext cx="1367942" cy="594360"/>
          </a:xfrm>
          <a:prstGeom prst="rect">
            <a:avLst/>
          </a:prstGeom>
          <a:noFill/>
          <a:ln/>
        </p:spPr>
        <p:txBody>
          <a:bodyPr wrap="square" rtlCol="0" anchor="ctr"/>
          <a:lstStyle/>
          <a:p>
            <a:pPr algn="ctr" indent="0" marL="0">
              <a:buNone/>
            </a:pPr>
            <a:r>
              <a:rPr lang="en-US" sz="650" dirty="0">
                <a:solidFill>
                  <a:srgbClr val="FFFFFF"/>
                </a:solidFill>
                <a:latin typeface="Atkinson Hyperlegible" pitchFamily="34" charset="0"/>
                <a:ea typeface="Atkinson Hyperlegible" pitchFamily="34" charset="-122"/>
                <a:cs typeface="Atkinson Hyperlegible" pitchFamily="34" charset="-120"/>
              </a:rPr>
              <a:t>CWP: paquete de construcción en campo</a:t>
            </a:r>
            <a:endParaRPr lang="en-US" sz="650" dirty="0"/>
          </a:p>
        </p:txBody>
      </p:sp>
      <p:sp>
        <p:nvSpPr>
          <p:cNvPr id="22" name="Shape 20"/>
          <p:cNvSpPr/>
          <p:nvPr/>
        </p:nvSpPr>
        <p:spPr>
          <a:xfrm>
            <a:off x="5329123" y="1801368"/>
            <a:ext cx="246888" cy="237744"/>
          </a:xfrm>
          <a:prstGeom prst="rightArrow">
            <a:avLst/>
          </a:prstGeom>
          <a:solidFill>
            <a:srgbClr val="8E44AD"/>
          </a:solidFill>
          <a:ln w="12700">
            <a:solidFill>
              <a:srgbClr val="8E44AD"/>
            </a:solidFill>
            <a:prstDash val="solid"/>
          </a:ln>
        </p:spPr>
      </p:sp>
      <p:sp>
        <p:nvSpPr>
          <p:cNvPr id="23" name="Shape 21"/>
          <p:cNvSpPr/>
          <p:nvPr/>
        </p:nvSpPr>
        <p:spPr>
          <a:xfrm>
            <a:off x="5576011" y="1371600"/>
            <a:ext cx="1495958" cy="1097280"/>
          </a:xfrm>
          <a:prstGeom prst="roundRect">
            <a:avLst>
              <a:gd name="adj" fmla="val 7500"/>
            </a:avLst>
          </a:prstGeom>
          <a:solidFill>
            <a:srgbClr val="1D1D1F"/>
          </a:solidFill>
          <a:ln w="12700">
            <a:solidFill>
              <a:srgbClr val="1D1D1F"/>
            </a:solidFill>
            <a:prstDash val="solid"/>
          </a:ln>
        </p:spPr>
      </p:sp>
      <p:sp>
        <p:nvSpPr>
          <p:cNvPr id="24" name="Shape 22"/>
          <p:cNvSpPr/>
          <p:nvPr/>
        </p:nvSpPr>
        <p:spPr>
          <a:xfrm>
            <a:off x="6141110" y="1152144"/>
            <a:ext cx="365760" cy="365760"/>
          </a:xfrm>
          <a:prstGeom prst="ellipse">
            <a:avLst/>
          </a:prstGeom>
          <a:solidFill>
            <a:srgbClr val="FFFFFF"/>
          </a:solidFill>
          <a:ln w="19050">
            <a:solidFill>
              <a:srgbClr val="1D1D1F"/>
            </a:solidFill>
            <a:prstDash val="solid"/>
          </a:ln>
        </p:spPr>
      </p:sp>
      <p:sp>
        <p:nvSpPr>
          <p:cNvPr id="25" name="Text 23"/>
          <p:cNvSpPr/>
          <p:nvPr/>
        </p:nvSpPr>
        <p:spPr>
          <a:xfrm>
            <a:off x="6141110" y="1152144"/>
            <a:ext cx="365760" cy="365760"/>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4</a:t>
            </a:r>
            <a:endParaRPr lang="en-US" sz="800" dirty="0"/>
          </a:p>
        </p:txBody>
      </p:sp>
      <p:sp>
        <p:nvSpPr>
          <p:cNvPr id="26" name="Text 24"/>
          <p:cNvSpPr/>
          <p:nvPr/>
        </p:nvSpPr>
        <p:spPr>
          <a:xfrm>
            <a:off x="5640019"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Installation</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Work Package</a:t>
            </a:r>
            <a:endParaRPr lang="en-US" sz="800" dirty="0"/>
          </a:p>
        </p:txBody>
      </p:sp>
      <p:sp>
        <p:nvSpPr>
          <p:cNvPr id="27" name="Text 25"/>
          <p:cNvSpPr/>
          <p:nvPr/>
        </p:nvSpPr>
        <p:spPr>
          <a:xfrm>
            <a:off x="5640019" y="1828800"/>
            <a:ext cx="1367942" cy="594360"/>
          </a:xfrm>
          <a:prstGeom prst="rect">
            <a:avLst/>
          </a:prstGeom>
          <a:noFill/>
          <a:ln/>
        </p:spPr>
        <p:txBody>
          <a:bodyPr wrap="square" rtlCol="0" anchor="ctr"/>
          <a:lstStyle/>
          <a:p>
            <a:pPr algn="ctr" indent="0" marL="0">
              <a:buNone/>
            </a:pPr>
            <a:r>
              <a:rPr lang="en-US" sz="650" dirty="0">
                <a:solidFill>
                  <a:srgbClr val="FFFFFF"/>
                </a:solidFill>
                <a:latin typeface="Atkinson Hyperlegible" pitchFamily="34" charset="0"/>
                <a:ea typeface="Atkinson Hyperlegible" pitchFamily="34" charset="-122"/>
                <a:cs typeface="Atkinson Hyperlegible" pitchFamily="34" charset="-120"/>
              </a:rPr>
              <a:t>IWP: 2-3 semanas de trabajo de cuadrilla</a:t>
            </a:r>
            <a:endParaRPr lang="en-US" sz="650" dirty="0"/>
          </a:p>
        </p:txBody>
      </p:sp>
      <p:sp>
        <p:nvSpPr>
          <p:cNvPr id="28" name="Shape 26"/>
          <p:cNvSpPr/>
          <p:nvPr/>
        </p:nvSpPr>
        <p:spPr>
          <a:xfrm>
            <a:off x="7081114" y="1801368"/>
            <a:ext cx="246888" cy="237744"/>
          </a:xfrm>
          <a:prstGeom prst="rightArrow">
            <a:avLst/>
          </a:prstGeom>
          <a:solidFill>
            <a:srgbClr val="8E44AD"/>
          </a:solidFill>
          <a:ln w="12700">
            <a:solidFill>
              <a:srgbClr val="8E44AD"/>
            </a:solidFill>
            <a:prstDash val="solid"/>
          </a:ln>
        </p:spPr>
      </p:sp>
      <p:sp>
        <p:nvSpPr>
          <p:cNvPr id="29" name="Shape 27"/>
          <p:cNvSpPr/>
          <p:nvPr/>
        </p:nvSpPr>
        <p:spPr>
          <a:xfrm>
            <a:off x="7328002" y="1371600"/>
            <a:ext cx="1495958" cy="1097280"/>
          </a:xfrm>
          <a:prstGeom prst="roundRect">
            <a:avLst>
              <a:gd name="adj" fmla="val 7500"/>
            </a:avLst>
          </a:prstGeom>
          <a:solidFill>
            <a:srgbClr val="8E44AD"/>
          </a:solidFill>
          <a:ln w="12700">
            <a:solidFill>
              <a:srgbClr val="8E44AD"/>
            </a:solidFill>
            <a:prstDash val="solid"/>
          </a:ln>
        </p:spPr>
      </p:sp>
      <p:sp>
        <p:nvSpPr>
          <p:cNvPr id="30" name="Shape 28"/>
          <p:cNvSpPr/>
          <p:nvPr/>
        </p:nvSpPr>
        <p:spPr>
          <a:xfrm>
            <a:off x="7893101" y="1152144"/>
            <a:ext cx="365760" cy="365760"/>
          </a:xfrm>
          <a:prstGeom prst="ellipse">
            <a:avLst/>
          </a:prstGeom>
          <a:solidFill>
            <a:srgbClr val="FFFFFF"/>
          </a:solidFill>
          <a:ln w="19050">
            <a:solidFill>
              <a:srgbClr val="8E44AD"/>
            </a:solidFill>
            <a:prstDash val="solid"/>
          </a:ln>
        </p:spPr>
      </p:sp>
      <p:sp>
        <p:nvSpPr>
          <p:cNvPr id="31" name="Text 29"/>
          <p:cNvSpPr/>
          <p:nvPr/>
        </p:nvSpPr>
        <p:spPr>
          <a:xfrm>
            <a:off x="7893101" y="1152144"/>
            <a:ext cx="365760" cy="365760"/>
          </a:xfrm>
          <a:prstGeom prst="rect">
            <a:avLst/>
          </a:prstGeom>
          <a:noFill/>
          <a:ln/>
        </p:spPr>
        <p:txBody>
          <a:bodyPr wrap="square" rtlCol="0" anchor="ctr"/>
          <a:lstStyle/>
          <a:p>
            <a:pPr algn="ctr" indent="0" marL="0">
              <a:buNone/>
            </a:pPr>
            <a:r>
              <a:rPr lang="en-US" sz="800" b="1" dirty="0">
                <a:solidFill>
                  <a:srgbClr val="8E44AD"/>
                </a:solidFill>
                <a:latin typeface="Atkinson Hyperlegible" pitchFamily="34" charset="0"/>
                <a:ea typeface="Atkinson Hyperlegible" pitchFamily="34" charset="-122"/>
                <a:cs typeface="Atkinson Hyperlegible" pitchFamily="34" charset="-120"/>
              </a:rPr>
              <a:t>5</a:t>
            </a:r>
            <a:endParaRPr lang="en-US" sz="800" dirty="0"/>
          </a:p>
        </p:txBody>
      </p:sp>
      <p:sp>
        <p:nvSpPr>
          <p:cNvPr id="32" name="Text 30"/>
          <p:cNvSpPr/>
          <p:nvPr/>
        </p:nvSpPr>
        <p:spPr>
          <a:xfrm>
            <a:off x="7392010" y="1426464"/>
            <a:ext cx="1367942"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Work Face</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Planning</a:t>
            </a:r>
            <a:endParaRPr lang="en-US" sz="800" dirty="0"/>
          </a:p>
        </p:txBody>
      </p:sp>
      <p:sp>
        <p:nvSpPr>
          <p:cNvPr id="33" name="Text 31"/>
          <p:cNvSpPr/>
          <p:nvPr/>
        </p:nvSpPr>
        <p:spPr>
          <a:xfrm>
            <a:off x="7392010" y="1828800"/>
            <a:ext cx="1367942" cy="594360"/>
          </a:xfrm>
          <a:prstGeom prst="rect">
            <a:avLst/>
          </a:prstGeom>
          <a:noFill/>
          <a:ln/>
        </p:spPr>
        <p:txBody>
          <a:bodyPr wrap="square" rtlCol="0" anchor="ctr"/>
          <a:lstStyle/>
          <a:p>
            <a:pPr algn="ctr" indent="0" marL="0">
              <a:buNone/>
            </a:pPr>
            <a:r>
              <a:rPr lang="en-US" sz="650" dirty="0">
                <a:solidFill>
                  <a:srgbClr val="FFFFFF"/>
                </a:solidFill>
                <a:latin typeface="Atkinson Hyperlegible" pitchFamily="34" charset="0"/>
                <a:ea typeface="Atkinson Hyperlegible" pitchFamily="34" charset="-122"/>
                <a:cs typeface="Atkinson Hyperlegible" pitchFamily="34" charset="-120"/>
              </a:rPr>
              <a:t>Planificación cara a cara, semana a semana</a:t>
            </a:r>
            <a:endParaRPr lang="en-US" sz="650" dirty="0"/>
          </a:p>
        </p:txBody>
      </p:sp>
      <p:sp>
        <p:nvSpPr>
          <p:cNvPr id="34" name="Shape 32"/>
          <p:cNvSpPr/>
          <p:nvPr/>
        </p:nvSpPr>
        <p:spPr>
          <a:xfrm>
            <a:off x="320040" y="3584448"/>
            <a:ext cx="8503920" cy="1188720"/>
          </a:xfrm>
          <a:prstGeom prst="roundRect">
            <a:avLst>
              <a:gd name="adj" fmla="val 7692"/>
            </a:avLst>
          </a:prstGeom>
          <a:solidFill>
            <a:srgbClr val="8E44AD"/>
          </a:solidFill>
          <a:ln w="12700">
            <a:solidFill>
              <a:srgbClr val="8E44AD"/>
            </a:solidFill>
            <a:prstDash val="solid"/>
          </a:ln>
        </p:spPr>
      </p:sp>
      <p:sp>
        <p:nvSpPr>
          <p:cNvPr id="35" name="Shape 33"/>
          <p:cNvSpPr/>
          <p:nvPr/>
        </p:nvSpPr>
        <p:spPr>
          <a:xfrm>
            <a:off x="320040" y="3584448"/>
            <a:ext cx="54864" cy="1188720"/>
          </a:xfrm>
          <a:prstGeom prst="rect">
            <a:avLst/>
          </a:prstGeom>
          <a:solidFill>
            <a:srgbClr val="8E44AD"/>
          </a:solidFill>
          <a:ln w="12700">
            <a:solidFill>
              <a:srgbClr val="8E44AD"/>
            </a:solidFill>
            <a:prstDash val="solid"/>
          </a:ln>
        </p:spPr>
      </p:sp>
      <p:sp>
        <p:nvSpPr>
          <p:cNvPr id="36" name="Text 34"/>
          <p:cNvSpPr/>
          <p:nvPr/>
        </p:nvSpPr>
        <p:spPr>
          <a:xfrm>
            <a:off x="457200" y="3630168"/>
            <a:ext cx="8229600" cy="320040"/>
          </a:xfrm>
          <a:prstGeom prst="rect">
            <a:avLst/>
          </a:prstGeom>
          <a:noFill/>
          <a:ln/>
        </p:spPr>
        <p:txBody>
          <a:bodyPr wrap="square" rtlCol="0" anchor="ctr"/>
          <a:lstStyle/>
          <a:p>
            <a:pPr indent="0" marL="0">
              <a:buNone/>
            </a:pPr>
            <a:r>
              <a:rPr lang="en-US" sz="900" b="1" dirty="0">
                <a:solidFill>
                  <a:srgbClr val="8E44AD"/>
                </a:solidFill>
                <a:latin typeface="Atkinson Hyperlegible" pitchFamily="34" charset="0"/>
                <a:ea typeface="Atkinson Hyperlegible" pitchFamily="34" charset="-122"/>
                <a:cs typeface="Atkinson Hyperlegible" pitchFamily="34" charset="-120"/>
              </a:rPr>
              <a:t>AWP + Constructabilidad = Sinergia máxima</a:t>
            </a:r>
            <a:endParaRPr lang="en-US" sz="900" dirty="0"/>
          </a:p>
        </p:txBody>
      </p:sp>
      <p:sp>
        <p:nvSpPr>
          <p:cNvPr id="37" name="Text 35"/>
          <p:cNvSpPr/>
          <p:nvPr/>
        </p:nvSpPr>
        <p:spPr>
          <a:xfrm>
            <a:off x="457200" y="3977640"/>
            <a:ext cx="8229600" cy="731520"/>
          </a:xfrm>
          <a:prstGeom prst="rect">
            <a:avLst/>
          </a:prstGeom>
          <a:noFill/>
          <a:ln/>
        </p:spPr>
        <p:txBody>
          <a:bodyPr wrap="square" rtlCol="0" anchor="ctr"/>
          <a:lstStyle/>
          <a:p>
            <a:pPr indent="0" marL="0">
              <a:buNone/>
            </a:pPr>
            <a:r>
              <a:rPr lang="en-US" sz="850" dirty="0">
                <a:solidFill>
                  <a:srgbClr val="1D1D1F"/>
                </a:solidFill>
                <a:latin typeface="Atkinson Hyperlegible" pitchFamily="34" charset="0"/>
                <a:ea typeface="Atkinson Hyperlegible" pitchFamily="34" charset="-122"/>
                <a:cs typeface="Atkinson Hyperlegible" pitchFamily="34" charset="-120"/>
              </a:rPr>
              <a:t>AWP es el sistema de gestión del trabajo en campo; constructabilidad CII es el conocimiento que alimenta ese sistema. Juntos, logran la máxima eficiencia: el trabajo está planificado AND el diseño está optimizado para ser construido.</a:t>
            </a:r>
            <a:endParaRPr lang="en-US" sz="850" dirty="0"/>
          </a:p>
        </p:txBody>
      </p:sp>
      <p:sp>
        <p:nvSpPr>
          <p:cNvPr id="38" name="Shape 36"/>
          <p:cNvSpPr/>
          <p:nvPr/>
        </p:nvSpPr>
        <p:spPr>
          <a:xfrm>
            <a:off x="182880" y="4956048"/>
            <a:ext cx="8961120" cy="182880"/>
          </a:xfrm>
          <a:prstGeom prst="rect">
            <a:avLst/>
          </a:prstGeom>
          <a:solidFill>
            <a:srgbClr val="8E44AD"/>
          </a:solidFill>
          <a:ln w="12700">
            <a:solidFill>
              <a:srgbClr val="8E44AD"/>
            </a:solidFill>
            <a:prstDash val="solid"/>
          </a:ln>
        </p:spPr>
      </p:sp>
      <p:sp>
        <p:nvSpPr>
          <p:cNvPr id="39" name="Text 37"/>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42 / 126</a:t>
            </a:r>
            <a:endParaRPr lang="en-US" sz="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C0392B"/>
          </a:solidFill>
          <a:ln w="12700">
            <a:solidFill>
              <a:srgbClr val="C0392B"/>
            </a:solidFill>
            <a:prstDash val="solid"/>
          </a:ln>
        </p:spPr>
      </p:sp>
      <p:sp>
        <p:nvSpPr>
          <p:cNvPr id="3" name="Shape 1"/>
          <p:cNvSpPr/>
          <p:nvPr/>
        </p:nvSpPr>
        <p:spPr>
          <a:xfrm>
            <a:off x="0" y="0"/>
            <a:ext cx="2011680" cy="5143500"/>
          </a:xfrm>
          <a:prstGeom prst="rect">
            <a:avLst/>
          </a:prstGeom>
          <a:solidFill>
            <a:srgbClr val="FFFFFF"/>
          </a:solidFill>
          <a:ln w="12700">
            <a:solidFill>
              <a:srgbClr val="FFFFFF"/>
            </a:solidFill>
            <a:prstDash val="solid"/>
          </a:ln>
        </p:spPr>
      </p:sp>
      <p:sp>
        <p:nvSpPr>
          <p:cNvPr id="4" name="Text 2"/>
          <p:cNvSpPr/>
          <p:nvPr/>
        </p:nvSpPr>
        <p:spPr>
          <a:xfrm>
            <a:off x="320040" y="1463040"/>
            <a:ext cx="1828800" cy="1371600"/>
          </a:xfrm>
          <a:prstGeom prst="rect">
            <a:avLst/>
          </a:prstGeom>
          <a:noFill/>
          <a:ln/>
        </p:spPr>
        <p:txBody>
          <a:bodyPr wrap="square" rtlCol="0" anchor="ctr"/>
          <a:lstStyle/>
          <a:p>
            <a:pPr indent="0" marL="0">
              <a:buNone/>
            </a:pPr>
            <a:r>
              <a:rPr lang="en-US" sz="9000" b="1" dirty="0">
                <a:solidFill>
                  <a:srgbClr val="FFFFFF">
                    <a:alpha val="80000"/>
                  </a:srgbClr>
                </a:solidFill>
                <a:latin typeface="Atkinson Hyperlegible" pitchFamily="34" charset="0"/>
                <a:ea typeface="Atkinson Hyperlegible" pitchFamily="34" charset="-122"/>
                <a:cs typeface="Atkinson Hyperlegible" pitchFamily="34" charset="-120"/>
              </a:rPr>
              <a:t>06</a:t>
            </a:r>
            <a:endParaRPr lang="en-US" sz="9000" dirty="0"/>
          </a:p>
        </p:txBody>
      </p:sp>
      <p:sp>
        <p:nvSpPr>
          <p:cNvPr id="5" name="Shape 3"/>
          <p:cNvSpPr/>
          <p:nvPr/>
        </p:nvSpPr>
        <p:spPr>
          <a:xfrm>
            <a:off x="2286000" y="1371600"/>
            <a:ext cx="54864" cy="2286000"/>
          </a:xfrm>
          <a:prstGeom prst="rect">
            <a:avLst/>
          </a:prstGeom>
          <a:solidFill>
            <a:srgbClr val="FFFFFF"/>
          </a:solidFill>
          <a:ln w="12700">
            <a:solidFill>
              <a:srgbClr val="FFFFFF"/>
            </a:solidFill>
            <a:prstDash val="solid"/>
          </a:ln>
        </p:spPr>
      </p:sp>
      <p:sp>
        <p:nvSpPr>
          <p:cNvPr id="6" name="Text 4"/>
          <p:cNvSpPr/>
          <p:nvPr/>
        </p:nvSpPr>
        <p:spPr>
          <a:xfrm>
            <a:off x="2560320" y="1554480"/>
            <a:ext cx="6217920" cy="1005840"/>
          </a:xfrm>
          <a:prstGeom prst="rect">
            <a:avLst/>
          </a:prstGeom>
          <a:noFill/>
          <a:ln/>
        </p:spPr>
        <p:txBody>
          <a:bodyPr wrap="square" rtlCol="0" anchor="ctr"/>
          <a:lstStyle/>
          <a:p>
            <a:pPr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Implementación del Programa</a:t>
            </a:r>
            <a:endParaRPr lang="en-US" sz="2800" dirty="0"/>
          </a:p>
        </p:txBody>
      </p:sp>
      <p:sp>
        <p:nvSpPr>
          <p:cNvPr id="7" name="Text 5"/>
          <p:cNvSpPr/>
          <p:nvPr/>
        </p:nvSpPr>
        <p:spPr>
          <a:xfrm>
            <a:off x="2560320" y="2651760"/>
            <a:ext cx="6217920" cy="1097280"/>
          </a:xfrm>
          <a:prstGeom prst="rect">
            <a:avLst/>
          </a:prstGeom>
          <a:noFill/>
          <a:ln/>
        </p:spPr>
        <p:txBody>
          <a:bodyPr wrap="square" rtlCol="0" anchor="ctr"/>
          <a:lstStyle/>
          <a:p>
            <a:pPr indent="0" marL="0">
              <a:buNone/>
            </a:pPr>
            <a:r>
              <a:rPr lang="en-US" sz="1200" dirty="0">
                <a:solidFill>
                  <a:srgbClr val="FFFFFF">
                    <a:alpha val="85000"/>
                  </a:srgbClr>
                </a:solidFill>
                <a:latin typeface="Atkinson Hyperlegible" pitchFamily="34" charset="0"/>
                <a:ea typeface="Atkinson Hyperlegible" pitchFamily="34" charset="-122"/>
                <a:cs typeface="Atkinson Hyperlegible" pitchFamily="34" charset="-120"/>
              </a:rPr>
              <a:t>Cómo establecer, operar y medir un programa de constructabilidad en tu organización</a:t>
            </a:r>
            <a:endParaRPr lang="en-US" sz="1200" dirty="0"/>
          </a:p>
        </p:txBody>
      </p:sp>
      <p:sp>
        <p:nvSpPr>
          <p:cNvPr id="8" name="Shape 6"/>
          <p:cNvSpPr/>
          <p:nvPr/>
        </p:nvSpPr>
        <p:spPr>
          <a:xfrm>
            <a:off x="182880" y="4956048"/>
            <a:ext cx="8961120" cy="182880"/>
          </a:xfrm>
          <a:prstGeom prst="rect">
            <a:avLst/>
          </a:prstGeom>
          <a:solidFill>
            <a:srgbClr val="1D1D1F"/>
          </a:solidFill>
          <a:ln w="12700">
            <a:solidFill>
              <a:srgbClr val="1D1D1F"/>
            </a:solidFill>
            <a:prstDash val="solid"/>
          </a:ln>
        </p:spPr>
      </p:sp>
      <p:sp>
        <p:nvSpPr>
          <p:cNvPr id="9" name="Text 7"/>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43 / 126</a:t>
            </a:r>
            <a:endParaRPr lang="en-US" sz="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C0392B"/>
          </a:solidFill>
          <a:ln w="12700">
            <a:solidFill>
              <a:srgbClr val="C0392B"/>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Hoja de Ruta de Implementación</a:t>
            </a:r>
            <a:endParaRPr lang="en-US" sz="1800" dirty="0"/>
          </a:p>
        </p:txBody>
      </p:sp>
      <p:sp>
        <p:nvSpPr>
          <p:cNvPr id="4" name="Shape 2"/>
          <p:cNvSpPr/>
          <p:nvPr/>
        </p:nvSpPr>
        <p:spPr>
          <a:xfrm>
            <a:off x="320040" y="640080"/>
            <a:ext cx="8503920" cy="41148"/>
          </a:xfrm>
          <a:prstGeom prst="rect">
            <a:avLst/>
          </a:prstGeom>
          <a:solidFill>
            <a:srgbClr val="C0392B"/>
          </a:solidFill>
          <a:ln w="12700">
            <a:solidFill>
              <a:srgbClr val="C0392B"/>
            </a:solidFill>
            <a:prstDash val="solid"/>
          </a:ln>
        </p:spPr>
      </p:sp>
      <p:sp>
        <p:nvSpPr>
          <p:cNvPr id="5" name="Text 3"/>
          <p:cNvSpPr/>
          <p:nvPr/>
        </p:nvSpPr>
        <p:spPr>
          <a:xfrm>
            <a:off x="320040" y="704088"/>
            <a:ext cx="8503920" cy="256032"/>
          </a:xfrm>
          <a:prstGeom prst="rect">
            <a:avLst/>
          </a:prstGeom>
          <a:noFill/>
          <a:ln/>
        </p:spPr>
        <p:txBody>
          <a:bodyPr wrap="square" rtlCol="0" anchor="ctr"/>
          <a:lstStyle/>
          <a:p>
            <a:pPr indent="0" marL="0">
              <a:buNone/>
            </a:pPr>
            <a:r>
              <a:rPr lang="en-US" sz="900" i="1" dirty="0">
                <a:solidFill>
                  <a:srgbClr val="C0392B"/>
                </a:solidFill>
                <a:latin typeface="Atkinson Hyperlegible" pitchFamily="34" charset="0"/>
                <a:ea typeface="Atkinson Hyperlegible" pitchFamily="34" charset="-122"/>
                <a:cs typeface="Atkinson Hyperlegible" pitchFamily="34" charset="-120"/>
              </a:rPr>
              <a:t>6 hitos para establecer un programa de constructabilidad formal</a:t>
            </a:r>
            <a:endParaRPr lang="en-US" sz="900" dirty="0"/>
          </a:p>
        </p:txBody>
      </p:sp>
      <p:sp>
        <p:nvSpPr>
          <p:cNvPr id="6" name="Shape 4"/>
          <p:cNvSpPr/>
          <p:nvPr/>
        </p:nvSpPr>
        <p:spPr>
          <a:xfrm>
            <a:off x="320040" y="1325880"/>
            <a:ext cx="1203960" cy="1078992"/>
          </a:xfrm>
          <a:prstGeom prst="roundRect">
            <a:avLst>
              <a:gd name="adj" fmla="val 7627"/>
            </a:avLst>
          </a:prstGeom>
          <a:solidFill>
            <a:srgbClr val="C0392B"/>
          </a:solidFill>
          <a:ln w="12700">
            <a:solidFill>
              <a:srgbClr val="C0392B"/>
            </a:solidFill>
            <a:prstDash val="solid"/>
          </a:ln>
        </p:spPr>
      </p:sp>
      <p:sp>
        <p:nvSpPr>
          <p:cNvPr id="7" name="Shape 5"/>
          <p:cNvSpPr/>
          <p:nvPr/>
        </p:nvSpPr>
        <p:spPr>
          <a:xfrm>
            <a:off x="739140" y="1106424"/>
            <a:ext cx="365760" cy="365760"/>
          </a:xfrm>
          <a:prstGeom prst="ellipse">
            <a:avLst/>
          </a:prstGeom>
          <a:solidFill>
            <a:srgbClr val="FFFFFF"/>
          </a:solidFill>
          <a:ln w="19050">
            <a:solidFill>
              <a:srgbClr val="C0392B"/>
            </a:solidFill>
            <a:prstDash val="solid"/>
          </a:ln>
        </p:spPr>
      </p:sp>
      <p:sp>
        <p:nvSpPr>
          <p:cNvPr id="8" name="Text 6"/>
          <p:cNvSpPr/>
          <p:nvPr/>
        </p:nvSpPr>
        <p:spPr>
          <a:xfrm>
            <a:off x="739140" y="1106424"/>
            <a:ext cx="365760" cy="365760"/>
          </a:xfrm>
          <a:prstGeom prst="rect">
            <a:avLst/>
          </a:prstGeom>
          <a:noFill/>
          <a:ln/>
        </p:spPr>
        <p:txBody>
          <a:bodyPr wrap="square" rtlCol="0" anchor="ctr"/>
          <a:lstStyle/>
          <a:p>
            <a:pPr algn="ctr" indent="0" marL="0">
              <a:buNone/>
            </a:pPr>
            <a:r>
              <a:rPr lang="en-US" sz="800" b="1" dirty="0">
                <a:solidFill>
                  <a:srgbClr val="C0392B"/>
                </a:solidFill>
                <a:latin typeface="Atkinson Hyperlegible" pitchFamily="34" charset="0"/>
                <a:ea typeface="Atkinson Hyperlegible" pitchFamily="34" charset="-122"/>
                <a:cs typeface="Atkinson Hyperlegible" pitchFamily="34" charset="-120"/>
              </a:rPr>
              <a:t>1</a:t>
            </a:r>
            <a:endParaRPr lang="en-US" sz="800" dirty="0"/>
          </a:p>
        </p:txBody>
      </p:sp>
      <p:sp>
        <p:nvSpPr>
          <p:cNvPr id="9" name="Text 7"/>
          <p:cNvSpPr/>
          <p:nvPr/>
        </p:nvSpPr>
        <p:spPr>
          <a:xfrm>
            <a:off x="384048" y="1380744"/>
            <a:ext cx="1075944"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Hito 1</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Comprometer</a:t>
            </a:r>
            <a:endParaRPr lang="en-US" sz="800" dirty="0"/>
          </a:p>
        </p:txBody>
      </p:sp>
      <p:sp>
        <p:nvSpPr>
          <p:cNvPr id="10" name="Text 8"/>
          <p:cNvSpPr/>
          <p:nvPr/>
        </p:nvSpPr>
        <p:spPr>
          <a:xfrm>
            <a:off x="384048" y="1783080"/>
            <a:ext cx="1075944" cy="576072"/>
          </a:xfrm>
          <a:prstGeom prst="rect">
            <a:avLst/>
          </a:prstGeom>
          <a:noFill/>
          <a:ln/>
        </p:spPr>
        <p:txBody>
          <a:bodyPr wrap="square" rtlCol="0" anchor="ctr"/>
          <a:lstStyle/>
          <a:p>
            <a:pPr algn="ctr" indent="0" marL="0">
              <a:buNone/>
            </a:pPr>
            <a:r>
              <a:rPr lang="en-US" sz="650" dirty="0">
                <a:solidFill>
                  <a:srgbClr val="FFFFFF"/>
                </a:solidFill>
                <a:latin typeface="Atkinson Hyperlegible" pitchFamily="34" charset="0"/>
                <a:ea typeface="Atkinson Hyperlegible" pitchFamily="34" charset="-122"/>
                <a:cs typeface="Atkinson Hyperlegible" pitchFamily="34" charset="-120"/>
              </a:rPr>
              <a:t>Decisión gerencial y política</a:t>
            </a:r>
            <a:endParaRPr lang="en-US" sz="650" dirty="0"/>
          </a:p>
        </p:txBody>
      </p:sp>
      <p:sp>
        <p:nvSpPr>
          <p:cNvPr id="11" name="Shape 9"/>
          <p:cNvSpPr/>
          <p:nvPr/>
        </p:nvSpPr>
        <p:spPr>
          <a:xfrm>
            <a:off x="1533144" y="1746504"/>
            <a:ext cx="246888" cy="237744"/>
          </a:xfrm>
          <a:prstGeom prst="rightArrow">
            <a:avLst/>
          </a:prstGeom>
          <a:solidFill>
            <a:srgbClr val="C0392B"/>
          </a:solidFill>
          <a:ln w="12700">
            <a:solidFill>
              <a:srgbClr val="C0392B"/>
            </a:solidFill>
            <a:prstDash val="solid"/>
          </a:ln>
        </p:spPr>
      </p:sp>
      <p:sp>
        <p:nvSpPr>
          <p:cNvPr id="12" name="Shape 10"/>
          <p:cNvSpPr/>
          <p:nvPr/>
        </p:nvSpPr>
        <p:spPr>
          <a:xfrm>
            <a:off x="1780032" y="1325880"/>
            <a:ext cx="1203960" cy="1078992"/>
          </a:xfrm>
          <a:prstGeom prst="roundRect">
            <a:avLst>
              <a:gd name="adj" fmla="val 7627"/>
            </a:avLst>
          </a:prstGeom>
          <a:solidFill>
            <a:srgbClr val="1D1D1F"/>
          </a:solidFill>
          <a:ln w="12700">
            <a:solidFill>
              <a:srgbClr val="1D1D1F"/>
            </a:solidFill>
            <a:prstDash val="solid"/>
          </a:ln>
        </p:spPr>
      </p:sp>
      <p:sp>
        <p:nvSpPr>
          <p:cNvPr id="13" name="Shape 11"/>
          <p:cNvSpPr/>
          <p:nvPr/>
        </p:nvSpPr>
        <p:spPr>
          <a:xfrm>
            <a:off x="2199132" y="1106424"/>
            <a:ext cx="365760" cy="365760"/>
          </a:xfrm>
          <a:prstGeom prst="ellipse">
            <a:avLst/>
          </a:prstGeom>
          <a:solidFill>
            <a:srgbClr val="FFFFFF"/>
          </a:solidFill>
          <a:ln w="19050">
            <a:solidFill>
              <a:srgbClr val="1D1D1F"/>
            </a:solidFill>
            <a:prstDash val="solid"/>
          </a:ln>
        </p:spPr>
      </p:sp>
      <p:sp>
        <p:nvSpPr>
          <p:cNvPr id="14" name="Text 12"/>
          <p:cNvSpPr/>
          <p:nvPr/>
        </p:nvSpPr>
        <p:spPr>
          <a:xfrm>
            <a:off x="2199132" y="1106424"/>
            <a:ext cx="365760" cy="365760"/>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2</a:t>
            </a:r>
            <a:endParaRPr lang="en-US" sz="800" dirty="0"/>
          </a:p>
        </p:txBody>
      </p:sp>
      <p:sp>
        <p:nvSpPr>
          <p:cNvPr id="15" name="Text 13"/>
          <p:cNvSpPr/>
          <p:nvPr/>
        </p:nvSpPr>
        <p:spPr>
          <a:xfrm>
            <a:off x="1844040" y="1380744"/>
            <a:ext cx="1075944"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Hito 2</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Capacitar</a:t>
            </a:r>
            <a:endParaRPr lang="en-US" sz="800" dirty="0"/>
          </a:p>
        </p:txBody>
      </p:sp>
      <p:sp>
        <p:nvSpPr>
          <p:cNvPr id="16" name="Text 14"/>
          <p:cNvSpPr/>
          <p:nvPr/>
        </p:nvSpPr>
        <p:spPr>
          <a:xfrm>
            <a:off x="1844040" y="1783080"/>
            <a:ext cx="1075944" cy="576072"/>
          </a:xfrm>
          <a:prstGeom prst="rect">
            <a:avLst/>
          </a:prstGeom>
          <a:noFill/>
          <a:ln/>
        </p:spPr>
        <p:txBody>
          <a:bodyPr wrap="square" rtlCol="0" anchor="ctr"/>
          <a:lstStyle/>
          <a:p>
            <a:pPr algn="ctr" indent="0" marL="0">
              <a:buNone/>
            </a:pPr>
            <a:r>
              <a:rPr lang="en-US" sz="650" dirty="0">
                <a:solidFill>
                  <a:srgbClr val="FFFFFF"/>
                </a:solidFill>
                <a:latin typeface="Atkinson Hyperlegible" pitchFamily="34" charset="0"/>
                <a:ea typeface="Atkinson Hyperlegible" pitchFamily="34" charset="-122"/>
                <a:cs typeface="Atkinson Hyperlegible" pitchFamily="34" charset="-120"/>
              </a:rPr>
              <a:t>Formación del equipo y Champion</a:t>
            </a:r>
            <a:endParaRPr lang="en-US" sz="650" dirty="0"/>
          </a:p>
        </p:txBody>
      </p:sp>
      <p:sp>
        <p:nvSpPr>
          <p:cNvPr id="17" name="Shape 15"/>
          <p:cNvSpPr/>
          <p:nvPr/>
        </p:nvSpPr>
        <p:spPr>
          <a:xfrm>
            <a:off x="2993136" y="1746504"/>
            <a:ext cx="246888" cy="237744"/>
          </a:xfrm>
          <a:prstGeom prst="rightArrow">
            <a:avLst/>
          </a:prstGeom>
          <a:solidFill>
            <a:srgbClr val="C0392B"/>
          </a:solidFill>
          <a:ln w="12700">
            <a:solidFill>
              <a:srgbClr val="C0392B"/>
            </a:solidFill>
            <a:prstDash val="solid"/>
          </a:ln>
        </p:spPr>
      </p:sp>
      <p:sp>
        <p:nvSpPr>
          <p:cNvPr id="18" name="Shape 16"/>
          <p:cNvSpPr/>
          <p:nvPr/>
        </p:nvSpPr>
        <p:spPr>
          <a:xfrm>
            <a:off x="3240024" y="1325880"/>
            <a:ext cx="1203960" cy="1078992"/>
          </a:xfrm>
          <a:prstGeom prst="roundRect">
            <a:avLst>
              <a:gd name="adj" fmla="val 7627"/>
            </a:avLst>
          </a:prstGeom>
          <a:solidFill>
            <a:srgbClr val="C0392B"/>
          </a:solidFill>
          <a:ln w="12700">
            <a:solidFill>
              <a:srgbClr val="C0392B"/>
            </a:solidFill>
            <a:prstDash val="solid"/>
          </a:ln>
        </p:spPr>
      </p:sp>
      <p:sp>
        <p:nvSpPr>
          <p:cNvPr id="19" name="Shape 17"/>
          <p:cNvSpPr/>
          <p:nvPr/>
        </p:nvSpPr>
        <p:spPr>
          <a:xfrm>
            <a:off x="3659124" y="1106424"/>
            <a:ext cx="365760" cy="365760"/>
          </a:xfrm>
          <a:prstGeom prst="ellipse">
            <a:avLst/>
          </a:prstGeom>
          <a:solidFill>
            <a:srgbClr val="FFFFFF"/>
          </a:solidFill>
          <a:ln w="19050">
            <a:solidFill>
              <a:srgbClr val="C0392B"/>
            </a:solidFill>
            <a:prstDash val="solid"/>
          </a:ln>
        </p:spPr>
      </p:sp>
      <p:sp>
        <p:nvSpPr>
          <p:cNvPr id="20" name="Text 18"/>
          <p:cNvSpPr/>
          <p:nvPr/>
        </p:nvSpPr>
        <p:spPr>
          <a:xfrm>
            <a:off x="3659124" y="1106424"/>
            <a:ext cx="365760" cy="365760"/>
          </a:xfrm>
          <a:prstGeom prst="rect">
            <a:avLst/>
          </a:prstGeom>
          <a:noFill/>
          <a:ln/>
        </p:spPr>
        <p:txBody>
          <a:bodyPr wrap="square" rtlCol="0" anchor="ctr"/>
          <a:lstStyle/>
          <a:p>
            <a:pPr algn="ctr" indent="0" marL="0">
              <a:buNone/>
            </a:pPr>
            <a:r>
              <a:rPr lang="en-US" sz="800" b="1" dirty="0">
                <a:solidFill>
                  <a:srgbClr val="C0392B"/>
                </a:solidFill>
                <a:latin typeface="Atkinson Hyperlegible" pitchFamily="34" charset="0"/>
                <a:ea typeface="Atkinson Hyperlegible" pitchFamily="34" charset="-122"/>
                <a:cs typeface="Atkinson Hyperlegible" pitchFamily="34" charset="-120"/>
              </a:rPr>
              <a:t>3</a:t>
            </a:r>
            <a:endParaRPr lang="en-US" sz="800" dirty="0"/>
          </a:p>
        </p:txBody>
      </p:sp>
      <p:sp>
        <p:nvSpPr>
          <p:cNvPr id="21" name="Text 19"/>
          <p:cNvSpPr/>
          <p:nvPr/>
        </p:nvSpPr>
        <p:spPr>
          <a:xfrm>
            <a:off x="3304032" y="1380744"/>
            <a:ext cx="1075944"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Hito 3</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Capacidades</a:t>
            </a:r>
            <a:endParaRPr lang="en-US" sz="800" dirty="0"/>
          </a:p>
        </p:txBody>
      </p:sp>
      <p:sp>
        <p:nvSpPr>
          <p:cNvPr id="22" name="Text 20"/>
          <p:cNvSpPr/>
          <p:nvPr/>
        </p:nvSpPr>
        <p:spPr>
          <a:xfrm>
            <a:off x="3304032" y="1783080"/>
            <a:ext cx="1075944" cy="576072"/>
          </a:xfrm>
          <a:prstGeom prst="rect">
            <a:avLst/>
          </a:prstGeom>
          <a:noFill/>
          <a:ln/>
        </p:spPr>
        <p:txBody>
          <a:bodyPr wrap="square" rtlCol="0" anchor="ctr"/>
          <a:lstStyle/>
          <a:p>
            <a:pPr algn="ctr" indent="0" marL="0">
              <a:buNone/>
            </a:pPr>
            <a:r>
              <a:rPr lang="en-US" sz="650" dirty="0">
                <a:solidFill>
                  <a:srgbClr val="FFFFFF"/>
                </a:solidFill>
                <a:latin typeface="Atkinson Hyperlegible" pitchFamily="34" charset="0"/>
                <a:ea typeface="Atkinson Hyperlegible" pitchFamily="34" charset="-122"/>
                <a:cs typeface="Atkinson Hyperlegible" pitchFamily="34" charset="-120"/>
              </a:rPr>
              <a:t>Herramientas, plantillas, red</a:t>
            </a:r>
            <a:endParaRPr lang="en-US" sz="650" dirty="0"/>
          </a:p>
        </p:txBody>
      </p:sp>
      <p:sp>
        <p:nvSpPr>
          <p:cNvPr id="23" name="Shape 21"/>
          <p:cNvSpPr/>
          <p:nvPr/>
        </p:nvSpPr>
        <p:spPr>
          <a:xfrm>
            <a:off x="4453128" y="1746504"/>
            <a:ext cx="246888" cy="237744"/>
          </a:xfrm>
          <a:prstGeom prst="rightArrow">
            <a:avLst/>
          </a:prstGeom>
          <a:solidFill>
            <a:srgbClr val="C0392B"/>
          </a:solidFill>
          <a:ln w="12700">
            <a:solidFill>
              <a:srgbClr val="C0392B"/>
            </a:solidFill>
            <a:prstDash val="solid"/>
          </a:ln>
        </p:spPr>
      </p:sp>
      <p:sp>
        <p:nvSpPr>
          <p:cNvPr id="24" name="Shape 22"/>
          <p:cNvSpPr/>
          <p:nvPr/>
        </p:nvSpPr>
        <p:spPr>
          <a:xfrm>
            <a:off x="4700016" y="1325880"/>
            <a:ext cx="1203960" cy="1078992"/>
          </a:xfrm>
          <a:prstGeom prst="roundRect">
            <a:avLst>
              <a:gd name="adj" fmla="val 7627"/>
            </a:avLst>
          </a:prstGeom>
          <a:solidFill>
            <a:srgbClr val="1D1D1F"/>
          </a:solidFill>
          <a:ln w="12700">
            <a:solidFill>
              <a:srgbClr val="1D1D1F"/>
            </a:solidFill>
            <a:prstDash val="solid"/>
          </a:ln>
        </p:spPr>
      </p:sp>
      <p:sp>
        <p:nvSpPr>
          <p:cNvPr id="25" name="Shape 23"/>
          <p:cNvSpPr/>
          <p:nvPr/>
        </p:nvSpPr>
        <p:spPr>
          <a:xfrm>
            <a:off x="5119116" y="1106424"/>
            <a:ext cx="365760" cy="365760"/>
          </a:xfrm>
          <a:prstGeom prst="ellipse">
            <a:avLst/>
          </a:prstGeom>
          <a:solidFill>
            <a:srgbClr val="FFFFFF"/>
          </a:solidFill>
          <a:ln w="19050">
            <a:solidFill>
              <a:srgbClr val="1D1D1F"/>
            </a:solidFill>
            <a:prstDash val="solid"/>
          </a:ln>
        </p:spPr>
      </p:sp>
      <p:sp>
        <p:nvSpPr>
          <p:cNvPr id="26" name="Text 24"/>
          <p:cNvSpPr/>
          <p:nvPr/>
        </p:nvSpPr>
        <p:spPr>
          <a:xfrm>
            <a:off x="5119116" y="1106424"/>
            <a:ext cx="365760" cy="365760"/>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4</a:t>
            </a:r>
            <a:endParaRPr lang="en-US" sz="800" dirty="0"/>
          </a:p>
        </p:txBody>
      </p:sp>
      <p:sp>
        <p:nvSpPr>
          <p:cNvPr id="27" name="Text 25"/>
          <p:cNvSpPr/>
          <p:nvPr/>
        </p:nvSpPr>
        <p:spPr>
          <a:xfrm>
            <a:off x="4764024" y="1380744"/>
            <a:ext cx="1075944"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Hito 4</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Planificar</a:t>
            </a:r>
            <a:endParaRPr lang="en-US" sz="800" dirty="0"/>
          </a:p>
        </p:txBody>
      </p:sp>
      <p:sp>
        <p:nvSpPr>
          <p:cNvPr id="28" name="Text 26"/>
          <p:cNvSpPr/>
          <p:nvPr/>
        </p:nvSpPr>
        <p:spPr>
          <a:xfrm>
            <a:off x="4764024" y="1783080"/>
            <a:ext cx="1075944" cy="576072"/>
          </a:xfrm>
          <a:prstGeom prst="rect">
            <a:avLst/>
          </a:prstGeom>
          <a:noFill/>
          <a:ln/>
        </p:spPr>
        <p:txBody>
          <a:bodyPr wrap="square" rtlCol="0" anchor="ctr"/>
          <a:lstStyle/>
          <a:p>
            <a:pPr algn="ctr" indent="0" marL="0">
              <a:buNone/>
            </a:pPr>
            <a:r>
              <a:rPr lang="en-US" sz="650" dirty="0">
                <a:solidFill>
                  <a:srgbClr val="FFFFFF"/>
                </a:solidFill>
                <a:latin typeface="Atkinson Hyperlegible" pitchFamily="34" charset="0"/>
                <a:ea typeface="Atkinson Hyperlegible" pitchFamily="34" charset="-122"/>
                <a:cs typeface="Atkinson Hyperlegible" pitchFamily="34" charset="-120"/>
              </a:rPr>
              <a:t>Integrar en PEP del proyecto</a:t>
            </a:r>
            <a:endParaRPr lang="en-US" sz="650" dirty="0"/>
          </a:p>
        </p:txBody>
      </p:sp>
      <p:sp>
        <p:nvSpPr>
          <p:cNvPr id="29" name="Shape 27"/>
          <p:cNvSpPr/>
          <p:nvPr/>
        </p:nvSpPr>
        <p:spPr>
          <a:xfrm>
            <a:off x="5913120" y="1746504"/>
            <a:ext cx="246888" cy="237744"/>
          </a:xfrm>
          <a:prstGeom prst="rightArrow">
            <a:avLst/>
          </a:prstGeom>
          <a:solidFill>
            <a:srgbClr val="C0392B"/>
          </a:solidFill>
          <a:ln w="12700">
            <a:solidFill>
              <a:srgbClr val="C0392B"/>
            </a:solidFill>
            <a:prstDash val="solid"/>
          </a:ln>
        </p:spPr>
      </p:sp>
      <p:sp>
        <p:nvSpPr>
          <p:cNvPr id="30" name="Shape 28"/>
          <p:cNvSpPr/>
          <p:nvPr/>
        </p:nvSpPr>
        <p:spPr>
          <a:xfrm>
            <a:off x="6160008" y="1325880"/>
            <a:ext cx="1203960" cy="1078992"/>
          </a:xfrm>
          <a:prstGeom prst="roundRect">
            <a:avLst>
              <a:gd name="adj" fmla="val 7627"/>
            </a:avLst>
          </a:prstGeom>
          <a:solidFill>
            <a:srgbClr val="C0392B"/>
          </a:solidFill>
          <a:ln w="12700">
            <a:solidFill>
              <a:srgbClr val="C0392B"/>
            </a:solidFill>
            <a:prstDash val="solid"/>
          </a:ln>
        </p:spPr>
      </p:sp>
      <p:sp>
        <p:nvSpPr>
          <p:cNvPr id="31" name="Shape 29"/>
          <p:cNvSpPr/>
          <p:nvPr/>
        </p:nvSpPr>
        <p:spPr>
          <a:xfrm>
            <a:off x="6579108" y="1106424"/>
            <a:ext cx="365760" cy="365760"/>
          </a:xfrm>
          <a:prstGeom prst="ellipse">
            <a:avLst/>
          </a:prstGeom>
          <a:solidFill>
            <a:srgbClr val="FFFFFF"/>
          </a:solidFill>
          <a:ln w="19050">
            <a:solidFill>
              <a:srgbClr val="C0392B"/>
            </a:solidFill>
            <a:prstDash val="solid"/>
          </a:ln>
        </p:spPr>
      </p:sp>
      <p:sp>
        <p:nvSpPr>
          <p:cNvPr id="32" name="Text 30"/>
          <p:cNvSpPr/>
          <p:nvPr/>
        </p:nvSpPr>
        <p:spPr>
          <a:xfrm>
            <a:off x="6579108" y="1106424"/>
            <a:ext cx="365760" cy="365760"/>
          </a:xfrm>
          <a:prstGeom prst="rect">
            <a:avLst/>
          </a:prstGeom>
          <a:noFill/>
          <a:ln/>
        </p:spPr>
        <p:txBody>
          <a:bodyPr wrap="square" rtlCol="0" anchor="ctr"/>
          <a:lstStyle/>
          <a:p>
            <a:pPr algn="ctr" indent="0" marL="0">
              <a:buNone/>
            </a:pPr>
            <a:r>
              <a:rPr lang="en-US" sz="800" b="1" dirty="0">
                <a:solidFill>
                  <a:srgbClr val="C0392B"/>
                </a:solidFill>
                <a:latin typeface="Atkinson Hyperlegible" pitchFamily="34" charset="0"/>
                <a:ea typeface="Atkinson Hyperlegible" pitchFamily="34" charset="-122"/>
                <a:cs typeface="Atkinson Hyperlegible" pitchFamily="34" charset="-120"/>
              </a:rPr>
              <a:t>5</a:t>
            </a:r>
            <a:endParaRPr lang="en-US" sz="800" dirty="0"/>
          </a:p>
        </p:txBody>
      </p:sp>
      <p:sp>
        <p:nvSpPr>
          <p:cNvPr id="33" name="Text 31"/>
          <p:cNvSpPr/>
          <p:nvPr/>
        </p:nvSpPr>
        <p:spPr>
          <a:xfrm>
            <a:off x="6224016" y="1380744"/>
            <a:ext cx="1075944"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Hito 5</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Implementar</a:t>
            </a:r>
            <a:endParaRPr lang="en-US" sz="800" dirty="0"/>
          </a:p>
        </p:txBody>
      </p:sp>
      <p:sp>
        <p:nvSpPr>
          <p:cNvPr id="34" name="Text 32"/>
          <p:cNvSpPr/>
          <p:nvPr/>
        </p:nvSpPr>
        <p:spPr>
          <a:xfrm>
            <a:off x="6224016" y="1783080"/>
            <a:ext cx="1075944" cy="576072"/>
          </a:xfrm>
          <a:prstGeom prst="rect">
            <a:avLst/>
          </a:prstGeom>
          <a:noFill/>
          <a:ln/>
        </p:spPr>
        <p:txBody>
          <a:bodyPr wrap="square" rtlCol="0" anchor="ctr"/>
          <a:lstStyle/>
          <a:p>
            <a:pPr algn="ctr" indent="0" marL="0">
              <a:buNone/>
            </a:pPr>
            <a:r>
              <a:rPr lang="en-US" sz="650" dirty="0">
                <a:solidFill>
                  <a:srgbClr val="FFFFFF"/>
                </a:solidFill>
                <a:latin typeface="Atkinson Hyperlegible" pitchFamily="34" charset="0"/>
                <a:ea typeface="Atkinson Hyperlegible" pitchFamily="34" charset="-122"/>
                <a:cs typeface="Atkinson Hyperlegible" pitchFamily="34" charset="-120"/>
              </a:rPr>
              <a:t>Talleres, revisiones, LLDB</a:t>
            </a:r>
            <a:endParaRPr lang="en-US" sz="650" dirty="0"/>
          </a:p>
        </p:txBody>
      </p:sp>
      <p:sp>
        <p:nvSpPr>
          <p:cNvPr id="35" name="Shape 33"/>
          <p:cNvSpPr/>
          <p:nvPr/>
        </p:nvSpPr>
        <p:spPr>
          <a:xfrm>
            <a:off x="7373112" y="1746504"/>
            <a:ext cx="246888" cy="237744"/>
          </a:xfrm>
          <a:prstGeom prst="rightArrow">
            <a:avLst/>
          </a:prstGeom>
          <a:solidFill>
            <a:srgbClr val="C0392B"/>
          </a:solidFill>
          <a:ln w="12700">
            <a:solidFill>
              <a:srgbClr val="C0392B"/>
            </a:solidFill>
            <a:prstDash val="solid"/>
          </a:ln>
        </p:spPr>
      </p:sp>
      <p:sp>
        <p:nvSpPr>
          <p:cNvPr id="36" name="Shape 34"/>
          <p:cNvSpPr/>
          <p:nvPr/>
        </p:nvSpPr>
        <p:spPr>
          <a:xfrm>
            <a:off x="7620000" y="1325880"/>
            <a:ext cx="1203960" cy="1078992"/>
          </a:xfrm>
          <a:prstGeom prst="roundRect">
            <a:avLst>
              <a:gd name="adj" fmla="val 7627"/>
            </a:avLst>
          </a:prstGeom>
          <a:solidFill>
            <a:srgbClr val="1D1D1F"/>
          </a:solidFill>
          <a:ln w="12700">
            <a:solidFill>
              <a:srgbClr val="1D1D1F"/>
            </a:solidFill>
            <a:prstDash val="solid"/>
          </a:ln>
        </p:spPr>
      </p:sp>
      <p:sp>
        <p:nvSpPr>
          <p:cNvPr id="37" name="Shape 35"/>
          <p:cNvSpPr/>
          <p:nvPr/>
        </p:nvSpPr>
        <p:spPr>
          <a:xfrm>
            <a:off x="8039100" y="1106424"/>
            <a:ext cx="365760" cy="365760"/>
          </a:xfrm>
          <a:prstGeom prst="ellipse">
            <a:avLst/>
          </a:prstGeom>
          <a:solidFill>
            <a:srgbClr val="FFFFFF"/>
          </a:solidFill>
          <a:ln w="19050">
            <a:solidFill>
              <a:srgbClr val="1D1D1F"/>
            </a:solidFill>
            <a:prstDash val="solid"/>
          </a:ln>
        </p:spPr>
      </p:sp>
      <p:sp>
        <p:nvSpPr>
          <p:cNvPr id="38" name="Text 36"/>
          <p:cNvSpPr/>
          <p:nvPr/>
        </p:nvSpPr>
        <p:spPr>
          <a:xfrm>
            <a:off x="8039100" y="1106424"/>
            <a:ext cx="365760" cy="365760"/>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6</a:t>
            </a:r>
            <a:endParaRPr lang="en-US" sz="800" dirty="0"/>
          </a:p>
        </p:txBody>
      </p:sp>
      <p:sp>
        <p:nvSpPr>
          <p:cNvPr id="39" name="Text 37"/>
          <p:cNvSpPr/>
          <p:nvPr/>
        </p:nvSpPr>
        <p:spPr>
          <a:xfrm>
            <a:off x="7684008" y="1380744"/>
            <a:ext cx="1075944" cy="38404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Hito 6</a:t>
            </a:r>
            <a:endParaRPr lang="en-US" sz="800" dirty="0"/>
          </a:p>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Medir</a:t>
            </a:r>
            <a:endParaRPr lang="en-US" sz="800" dirty="0"/>
          </a:p>
        </p:txBody>
      </p:sp>
      <p:sp>
        <p:nvSpPr>
          <p:cNvPr id="40" name="Text 38"/>
          <p:cNvSpPr/>
          <p:nvPr/>
        </p:nvSpPr>
        <p:spPr>
          <a:xfrm>
            <a:off x="7684008" y="1783080"/>
            <a:ext cx="1075944" cy="576072"/>
          </a:xfrm>
          <a:prstGeom prst="rect">
            <a:avLst/>
          </a:prstGeom>
          <a:noFill/>
          <a:ln/>
        </p:spPr>
        <p:txBody>
          <a:bodyPr wrap="square" rtlCol="0" anchor="ctr"/>
          <a:lstStyle/>
          <a:p>
            <a:pPr algn="ctr" indent="0" marL="0">
              <a:buNone/>
            </a:pPr>
            <a:r>
              <a:rPr lang="en-US" sz="650" dirty="0">
                <a:solidFill>
                  <a:srgbClr val="FFFFFF"/>
                </a:solidFill>
                <a:latin typeface="Atkinson Hyperlegible" pitchFamily="34" charset="0"/>
                <a:ea typeface="Atkinson Hyperlegible" pitchFamily="34" charset="-122"/>
                <a:cs typeface="Atkinson Hyperlegible" pitchFamily="34" charset="-120"/>
              </a:rPr>
              <a:t>KPIs, diagnóstico, mejora</a:t>
            </a:r>
            <a:endParaRPr lang="en-US" sz="650" dirty="0"/>
          </a:p>
        </p:txBody>
      </p:sp>
      <p:sp>
        <p:nvSpPr>
          <p:cNvPr id="41" name="Text 39"/>
          <p:cNvSpPr/>
          <p:nvPr/>
        </p:nvSpPr>
        <p:spPr>
          <a:xfrm>
            <a:off x="320040" y="3584448"/>
            <a:ext cx="8503920" cy="502920"/>
          </a:xfrm>
          <a:prstGeom prst="rect">
            <a:avLst/>
          </a:prstGeom>
          <a:noFill/>
          <a:ln/>
        </p:spPr>
        <p:txBody>
          <a:bodyPr wrap="square" rtlCol="0" anchor="ctr"/>
          <a:lstStyle/>
          <a:p>
            <a:pPr indent="0" marL="0">
              <a:buNone/>
            </a:pPr>
            <a:r>
              <a:rPr lang="en-US" sz="900" dirty="0">
                <a:solidFill>
                  <a:srgbClr val="1D1D1F"/>
                </a:solidFill>
                <a:latin typeface="Atkinson Hyperlegible" pitchFamily="34" charset="0"/>
                <a:ea typeface="Atkinson Hyperlegible" pitchFamily="34" charset="-122"/>
                <a:cs typeface="Atkinson Hyperlegible" pitchFamily="34" charset="-120"/>
              </a:rPr>
              <a:t>Esta hoja de ruta asegura que el programa sea sistemático, medible y sostenible — no dependiente de personas individuales.</a:t>
            </a:r>
            <a:endParaRPr lang="en-US" sz="900" dirty="0"/>
          </a:p>
        </p:txBody>
      </p:sp>
      <p:sp>
        <p:nvSpPr>
          <p:cNvPr id="42" name="Text 40"/>
          <p:cNvSpPr/>
          <p:nvPr/>
        </p:nvSpPr>
        <p:spPr>
          <a:xfrm>
            <a:off x="320040" y="4114800"/>
            <a:ext cx="1203960" cy="274320"/>
          </a:xfrm>
          <a:prstGeom prst="rect">
            <a:avLst/>
          </a:prstGeom>
          <a:noFill/>
          <a:ln/>
        </p:spPr>
        <p:txBody>
          <a:bodyPr wrap="square" rtlCol="0" anchor="ctr"/>
          <a:lstStyle/>
          <a:p>
            <a:pPr algn="ctr" indent="0" marL="0">
              <a:buNone/>
            </a:pPr>
            <a:r>
              <a:rPr lang="en-US" sz="650" i="1" dirty="0">
                <a:solidFill>
                  <a:srgbClr val="8E8E93"/>
                </a:solidFill>
                <a:latin typeface="Atkinson Hyperlegible" pitchFamily="34" charset="0"/>
                <a:ea typeface="Atkinson Hyperlegible" pitchFamily="34" charset="-122"/>
                <a:cs typeface="Atkinson Hyperlegible" pitchFamily="34" charset="-120"/>
              </a:rPr>
              <a:t>Semanas 1-4</a:t>
            </a:r>
            <a:endParaRPr lang="en-US" sz="650" dirty="0"/>
          </a:p>
        </p:txBody>
      </p:sp>
      <p:sp>
        <p:nvSpPr>
          <p:cNvPr id="43" name="Text 41"/>
          <p:cNvSpPr/>
          <p:nvPr/>
        </p:nvSpPr>
        <p:spPr>
          <a:xfrm>
            <a:off x="1780032" y="4114800"/>
            <a:ext cx="1203960" cy="274320"/>
          </a:xfrm>
          <a:prstGeom prst="rect">
            <a:avLst/>
          </a:prstGeom>
          <a:noFill/>
          <a:ln/>
        </p:spPr>
        <p:txBody>
          <a:bodyPr wrap="square" rtlCol="0" anchor="ctr"/>
          <a:lstStyle/>
          <a:p>
            <a:pPr algn="ctr" indent="0" marL="0">
              <a:buNone/>
            </a:pPr>
            <a:r>
              <a:rPr lang="en-US" sz="650" i="1" dirty="0">
                <a:solidFill>
                  <a:srgbClr val="8E8E93"/>
                </a:solidFill>
                <a:latin typeface="Atkinson Hyperlegible" pitchFamily="34" charset="0"/>
                <a:ea typeface="Atkinson Hyperlegible" pitchFamily="34" charset="-122"/>
                <a:cs typeface="Atkinson Hyperlegible" pitchFamily="34" charset="-120"/>
              </a:rPr>
              <a:t>Semanas 2-8</a:t>
            </a:r>
            <a:endParaRPr lang="en-US" sz="650" dirty="0"/>
          </a:p>
        </p:txBody>
      </p:sp>
      <p:sp>
        <p:nvSpPr>
          <p:cNvPr id="44" name="Text 42"/>
          <p:cNvSpPr/>
          <p:nvPr/>
        </p:nvSpPr>
        <p:spPr>
          <a:xfrm>
            <a:off x="3240024" y="4114800"/>
            <a:ext cx="1203960" cy="274320"/>
          </a:xfrm>
          <a:prstGeom prst="rect">
            <a:avLst/>
          </a:prstGeom>
          <a:noFill/>
          <a:ln/>
        </p:spPr>
        <p:txBody>
          <a:bodyPr wrap="square" rtlCol="0" anchor="ctr"/>
          <a:lstStyle/>
          <a:p>
            <a:pPr algn="ctr" indent="0" marL="0">
              <a:buNone/>
            </a:pPr>
            <a:r>
              <a:rPr lang="en-US" sz="650" i="1" dirty="0">
                <a:solidFill>
                  <a:srgbClr val="8E8E93"/>
                </a:solidFill>
                <a:latin typeface="Atkinson Hyperlegible" pitchFamily="34" charset="0"/>
                <a:ea typeface="Atkinson Hyperlegible" pitchFamily="34" charset="-122"/>
                <a:cs typeface="Atkinson Hyperlegible" pitchFamily="34" charset="-120"/>
              </a:rPr>
              <a:t>Mes 2-4</a:t>
            </a:r>
            <a:endParaRPr lang="en-US" sz="650" dirty="0"/>
          </a:p>
        </p:txBody>
      </p:sp>
      <p:sp>
        <p:nvSpPr>
          <p:cNvPr id="45" name="Text 43"/>
          <p:cNvSpPr/>
          <p:nvPr/>
        </p:nvSpPr>
        <p:spPr>
          <a:xfrm>
            <a:off x="4700016" y="4114800"/>
            <a:ext cx="1203960" cy="274320"/>
          </a:xfrm>
          <a:prstGeom prst="rect">
            <a:avLst/>
          </a:prstGeom>
          <a:noFill/>
          <a:ln/>
        </p:spPr>
        <p:txBody>
          <a:bodyPr wrap="square" rtlCol="0" anchor="ctr"/>
          <a:lstStyle/>
          <a:p>
            <a:pPr algn="ctr" indent="0" marL="0">
              <a:buNone/>
            </a:pPr>
            <a:r>
              <a:rPr lang="en-US" sz="650" i="1" dirty="0">
                <a:solidFill>
                  <a:srgbClr val="8E8E93"/>
                </a:solidFill>
                <a:latin typeface="Atkinson Hyperlegible" pitchFamily="34" charset="0"/>
                <a:ea typeface="Atkinson Hyperlegible" pitchFamily="34" charset="-122"/>
                <a:cs typeface="Atkinson Hyperlegible" pitchFamily="34" charset="-120"/>
              </a:rPr>
              <a:t>Desde Mes 3</a:t>
            </a:r>
            <a:endParaRPr lang="en-US" sz="650" dirty="0"/>
          </a:p>
        </p:txBody>
      </p:sp>
      <p:sp>
        <p:nvSpPr>
          <p:cNvPr id="46" name="Text 44"/>
          <p:cNvSpPr/>
          <p:nvPr/>
        </p:nvSpPr>
        <p:spPr>
          <a:xfrm>
            <a:off x="6160008" y="4114800"/>
            <a:ext cx="1203960" cy="274320"/>
          </a:xfrm>
          <a:prstGeom prst="rect">
            <a:avLst/>
          </a:prstGeom>
          <a:noFill/>
          <a:ln/>
        </p:spPr>
        <p:txBody>
          <a:bodyPr wrap="square" rtlCol="0" anchor="ctr"/>
          <a:lstStyle/>
          <a:p>
            <a:pPr algn="ctr" indent="0" marL="0">
              <a:buNone/>
            </a:pPr>
            <a:r>
              <a:rPr lang="en-US" sz="650" i="1" dirty="0">
                <a:solidFill>
                  <a:srgbClr val="8E8E93"/>
                </a:solidFill>
                <a:latin typeface="Atkinson Hyperlegible" pitchFamily="34" charset="0"/>
                <a:ea typeface="Atkinson Hyperlegible" pitchFamily="34" charset="-122"/>
                <a:cs typeface="Atkinson Hyperlegible" pitchFamily="34" charset="-120"/>
              </a:rPr>
              <a:t>Durante el Proyecto</a:t>
            </a:r>
            <a:endParaRPr lang="en-US" sz="650" dirty="0"/>
          </a:p>
        </p:txBody>
      </p:sp>
      <p:sp>
        <p:nvSpPr>
          <p:cNvPr id="47" name="Text 45"/>
          <p:cNvSpPr/>
          <p:nvPr/>
        </p:nvSpPr>
        <p:spPr>
          <a:xfrm>
            <a:off x="7620000" y="4114800"/>
            <a:ext cx="1203960" cy="274320"/>
          </a:xfrm>
          <a:prstGeom prst="rect">
            <a:avLst/>
          </a:prstGeom>
          <a:noFill/>
          <a:ln/>
        </p:spPr>
        <p:txBody>
          <a:bodyPr wrap="square" rtlCol="0" anchor="ctr"/>
          <a:lstStyle/>
          <a:p>
            <a:pPr algn="ctr" indent="0" marL="0">
              <a:buNone/>
            </a:pPr>
            <a:r>
              <a:rPr lang="en-US" sz="650" i="1" dirty="0">
                <a:solidFill>
                  <a:srgbClr val="8E8E93"/>
                </a:solidFill>
                <a:latin typeface="Atkinson Hyperlegible" pitchFamily="34" charset="0"/>
                <a:ea typeface="Atkinson Hyperlegible" pitchFamily="34" charset="-122"/>
                <a:cs typeface="Atkinson Hyperlegible" pitchFamily="34" charset="-120"/>
              </a:rPr>
              <a:t>Desde Mes 4</a:t>
            </a:r>
            <a:endParaRPr lang="en-US" sz="650" dirty="0"/>
          </a:p>
        </p:txBody>
      </p:sp>
      <p:sp>
        <p:nvSpPr>
          <p:cNvPr id="48" name="Shape 46"/>
          <p:cNvSpPr/>
          <p:nvPr/>
        </p:nvSpPr>
        <p:spPr>
          <a:xfrm>
            <a:off x="182880" y="4956048"/>
            <a:ext cx="8961120" cy="182880"/>
          </a:xfrm>
          <a:prstGeom prst="rect">
            <a:avLst/>
          </a:prstGeom>
          <a:solidFill>
            <a:srgbClr val="C0392B"/>
          </a:solidFill>
          <a:ln w="12700">
            <a:solidFill>
              <a:srgbClr val="C0392B"/>
            </a:solidFill>
            <a:prstDash val="solid"/>
          </a:ln>
        </p:spPr>
      </p:sp>
      <p:sp>
        <p:nvSpPr>
          <p:cNvPr id="49" name="Text 47"/>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44 / 126</a:t>
            </a:r>
            <a:endParaRPr lang="en-US" sz="7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C0392B"/>
          </a:solidFill>
          <a:ln w="12700">
            <a:solidFill>
              <a:srgbClr val="C0392B"/>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Hito 1: Obtener el Compromiso Gerencial</a:t>
            </a:r>
            <a:endParaRPr lang="en-US" sz="1800" dirty="0"/>
          </a:p>
        </p:txBody>
      </p:sp>
      <p:sp>
        <p:nvSpPr>
          <p:cNvPr id="4" name="Shape 2"/>
          <p:cNvSpPr/>
          <p:nvPr/>
        </p:nvSpPr>
        <p:spPr>
          <a:xfrm>
            <a:off x="320040" y="640080"/>
            <a:ext cx="8503920" cy="41148"/>
          </a:xfrm>
          <a:prstGeom prst="rect">
            <a:avLst/>
          </a:prstGeom>
          <a:solidFill>
            <a:srgbClr val="C0392B"/>
          </a:solidFill>
          <a:ln w="12700">
            <a:solidFill>
              <a:srgbClr val="C0392B"/>
            </a:solidFill>
            <a:prstDash val="solid"/>
          </a:ln>
        </p:spPr>
      </p:sp>
      <p:sp>
        <p:nvSpPr>
          <p:cNvPr id="5" name="Shape 3"/>
          <p:cNvSpPr/>
          <p:nvPr/>
        </p:nvSpPr>
        <p:spPr>
          <a:xfrm>
            <a:off x="274320" y="804672"/>
            <a:ext cx="4160520" cy="4114800"/>
          </a:xfrm>
          <a:prstGeom prst="roundRect">
            <a:avLst>
              <a:gd name="adj" fmla="val 2222"/>
            </a:avLst>
          </a:prstGeom>
          <a:solidFill>
            <a:srgbClr val="C0392B"/>
          </a:solidFill>
          <a:ln w="12700">
            <a:solidFill>
              <a:srgbClr val="C0392B"/>
            </a:solidFill>
            <a:prstDash val="solid"/>
          </a:ln>
        </p:spPr>
      </p:sp>
      <p:sp>
        <p:nvSpPr>
          <p:cNvPr id="6" name="Shape 4"/>
          <p:cNvSpPr/>
          <p:nvPr/>
        </p:nvSpPr>
        <p:spPr>
          <a:xfrm>
            <a:off x="274320" y="804672"/>
            <a:ext cx="45720" cy="4114800"/>
          </a:xfrm>
          <a:prstGeom prst="rect">
            <a:avLst/>
          </a:prstGeom>
          <a:solidFill>
            <a:srgbClr val="C0392B"/>
          </a:solidFill>
          <a:ln w="12700">
            <a:solidFill>
              <a:srgbClr val="C0392B"/>
            </a:solidFill>
            <a:prstDash val="solid"/>
          </a:ln>
        </p:spPr>
      </p:sp>
      <p:sp>
        <p:nvSpPr>
          <p:cNvPr id="7" name="Text 5"/>
          <p:cNvSpPr/>
          <p:nvPr/>
        </p:nvSpPr>
        <p:spPr>
          <a:xfrm>
            <a:off x="384048" y="822960"/>
            <a:ext cx="3977640" cy="347472"/>
          </a:xfrm>
          <a:prstGeom prst="rect">
            <a:avLst/>
          </a:prstGeom>
          <a:noFill/>
          <a:ln/>
        </p:spPr>
        <p:txBody>
          <a:bodyPr wrap="square" rtlCol="0" anchor="ctr"/>
          <a:lstStyle/>
          <a:p>
            <a:pPr indent="0" marL="0">
              <a:buNone/>
            </a:pPr>
            <a:r>
              <a:rPr lang="en-US" sz="900" b="1" dirty="0">
                <a:solidFill>
                  <a:srgbClr val="C0392B"/>
                </a:solidFill>
                <a:latin typeface="Atkinson Hyperlegible" pitchFamily="34" charset="0"/>
                <a:ea typeface="Atkinson Hyperlegible" pitchFamily="34" charset="-122"/>
                <a:cs typeface="Atkinson Hyperlegible" pitchFamily="34" charset="-120"/>
              </a:rPr>
              <a:t>El Problema</a:t>
            </a:r>
            <a:endParaRPr lang="en-US" sz="900" dirty="0"/>
          </a:p>
        </p:txBody>
      </p:sp>
      <p:sp>
        <p:nvSpPr>
          <p:cNvPr id="8" name="Shape 6"/>
          <p:cNvSpPr/>
          <p:nvPr/>
        </p:nvSpPr>
        <p:spPr>
          <a:xfrm>
            <a:off x="384048" y="1316736"/>
            <a:ext cx="164592" cy="164592"/>
          </a:xfrm>
          <a:prstGeom prst="ellipse">
            <a:avLst/>
          </a:prstGeom>
          <a:solidFill>
            <a:srgbClr val="C0392B"/>
          </a:solidFill>
          <a:ln w="12700">
            <a:solidFill>
              <a:srgbClr val="C0392B"/>
            </a:solidFill>
            <a:prstDash val="solid"/>
          </a:ln>
        </p:spPr>
      </p:sp>
      <p:sp>
        <p:nvSpPr>
          <p:cNvPr id="9" name="Text 7"/>
          <p:cNvSpPr/>
          <p:nvPr/>
        </p:nvSpPr>
        <p:spPr>
          <a:xfrm>
            <a:off x="612648" y="1234440"/>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Por qué es el primer hito</a:t>
            </a:r>
            <a:endParaRPr lang="en-US" sz="850" dirty="0"/>
          </a:p>
        </p:txBody>
      </p:sp>
      <p:sp>
        <p:nvSpPr>
          <p:cNvPr id="10" name="Text 8"/>
          <p:cNvSpPr/>
          <p:nvPr/>
        </p:nvSpPr>
        <p:spPr>
          <a:xfrm>
            <a:off x="612648" y="1481328"/>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Sin soporte gerencial, el programa no tiene recursos, autoridad ni continuidad.</a:t>
            </a:r>
            <a:endParaRPr lang="en-US" sz="750" dirty="0"/>
          </a:p>
        </p:txBody>
      </p:sp>
      <p:sp>
        <p:nvSpPr>
          <p:cNvPr id="11" name="Shape 9"/>
          <p:cNvSpPr/>
          <p:nvPr/>
        </p:nvSpPr>
        <p:spPr>
          <a:xfrm>
            <a:off x="384048" y="1847088"/>
            <a:ext cx="164592" cy="164592"/>
          </a:xfrm>
          <a:prstGeom prst="ellipse">
            <a:avLst/>
          </a:prstGeom>
          <a:solidFill>
            <a:srgbClr val="C0392B"/>
          </a:solidFill>
          <a:ln w="12700">
            <a:solidFill>
              <a:srgbClr val="C0392B"/>
            </a:solidFill>
            <a:prstDash val="solid"/>
          </a:ln>
        </p:spPr>
      </p:sp>
      <p:sp>
        <p:nvSpPr>
          <p:cNvPr id="12" name="Text 10"/>
          <p:cNvSpPr/>
          <p:nvPr/>
        </p:nvSpPr>
        <p:spPr>
          <a:xfrm>
            <a:off x="612648" y="1764792"/>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Política de constructabilidad</a:t>
            </a:r>
            <a:endParaRPr lang="en-US" sz="850" dirty="0"/>
          </a:p>
        </p:txBody>
      </p:sp>
      <p:sp>
        <p:nvSpPr>
          <p:cNvPr id="13" name="Text 11"/>
          <p:cNvSpPr/>
          <p:nvPr/>
        </p:nvSpPr>
        <p:spPr>
          <a:xfrm>
            <a:off x="612648" y="2011680"/>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Documento corto (1-2 páginas) que establece el compromiso de la empresa con la constructabilidad CII.</a:t>
            </a:r>
            <a:endParaRPr lang="en-US" sz="750" dirty="0"/>
          </a:p>
        </p:txBody>
      </p:sp>
      <p:sp>
        <p:nvSpPr>
          <p:cNvPr id="14" name="Shape 12"/>
          <p:cNvSpPr/>
          <p:nvPr/>
        </p:nvSpPr>
        <p:spPr>
          <a:xfrm>
            <a:off x="384048" y="2377440"/>
            <a:ext cx="164592" cy="164592"/>
          </a:xfrm>
          <a:prstGeom prst="ellipse">
            <a:avLst/>
          </a:prstGeom>
          <a:solidFill>
            <a:srgbClr val="C0392B"/>
          </a:solidFill>
          <a:ln w="12700">
            <a:solidFill>
              <a:srgbClr val="C0392B"/>
            </a:solidFill>
            <a:prstDash val="solid"/>
          </a:ln>
        </p:spPr>
      </p:sp>
      <p:sp>
        <p:nvSpPr>
          <p:cNvPr id="15" name="Text 13"/>
          <p:cNvSpPr/>
          <p:nvPr/>
        </p:nvSpPr>
        <p:spPr>
          <a:xfrm>
            <a:off x="612648" y="2295144"/>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Quién debe firmar</a:t>
            </a:r>
            <a:endParaRPr lang="en-US" sz="850" dirty="0"/>
          </a:p>
        </p:txBody>
      </p:sp>
      <p:sp>
        <p:nvSpPr>
          <p:cNvPr id="16" name="Text 14"/>
          <p:cNvSpPr/>
          <p:nvPr/>
        </p:nvSpPr>
        <p:spPr>
          <a:xfrm>
            <a:off x="612648" y="2542032"/>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El gerente de proyectos o director de ingeniería. No es suficiente el champion: necesita endorsement de arriba.</a:t>
            </a:r>
            <a:endParaRPr lang="en-US" sz="750" dirty="0"/>
          </a:p>
        </p:txBody>
      </p:sp>
      <p:sp>
        <p:nvSpPr>
          <p:cNvPr id="17" name="Shape 15"/>
          <p:cNvSpPr/>
          <p:nvPr/>
        </p:nvSpPr>
        <p:spPr>
          <a:xfrm>
            <a:off x="384048" y="2907792"/>
            <a:ext cx="164592" cy="164592"/>
          </a:xfrm>
          <a:prstGeom prst="ellipse">
            <a:avLst/>
          </a:prstGeom>
          <a:solidFill>
            <a:srgbClr val="C0392B"/>
          </a:solidFill>
          <a:ln w="12700">
            <a:solidFill>
              <a:srgbClr val="C0392B"/>
            </a:solidFill>
            <a:prstDash val="solid"/>
          </a:ln>
        </p:spPr>
      </p:sp>
      <p:sp>
        <p:nvSpPr>
          <p:cNvPr id="18" name="Text 16"/>
          <p:cNvSpPr/>
          <p:nvPr/>
        </p:nvSpPr>
        <p:spPr>
          <a:xfrm>
            <a:off x="612648" y="2825496"/>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Business case</a:t>
            </a:r>
            <a:endParaRPr lang="en-US" sz="850" dirty="0"/>
          </a:p>
        </p:txBody>
      </p:sp>
      <p:sp>
        <p:nvSpPr>
          <p:cNvPr id="19" name="Text 17"/>
          <p:cNvSpPr/>
          <p:nvPr/>
        </p:nvSpPr>
        <p:spPr>
          <a:xfrm>
            <a:off x="612648" y="3072384"/>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Presentar el ROI de 15:1 y casos de proyectos similares. Los números convencen a la dirección.</a:t>
            </a:r>
            <a:endParaRPr lang="en-US" sz="750" dirty="0"/>
          </a:p>
        </p:txBody>
      </p:sp>
      <p:sp>
        <p:nvSpPr>
          <p:cNvPr id="20" name="Text 18"/>
          <p:cNvSpPr/>
          <p:nvPr/>
        </p:nvSpPr>
        <p:spPr>
          <a:xfrm>
            <a:off x="4617720" y="822960"/>
            <a:ext cx="4251960" cy="347472"/>
          </a:xfrm>
          <a:prstGeom prst="rect">
            <a:avLst/>
          </a:prstGeom>
          <a:noFill/>
          <a:ln/>
        </p:spPr>
        <p:txBody>
          <a:bodyPr wrap="square" rtlCol="0" anchor="ctr"/>
          <a:lstStyle/>
          <a:p>
            <a:pPr indent="0" marL="0">
              <a:buNone/>
            </a:pPr>
            <a:r>
              <a:rPr lang="en-US" sz="900" b="1" dirty="0">
                <a:solidFill>
                  <a:srgbClr val="C0392B"/>
                </a:solidFill>
                <a:latin typeface="Atkinson Hyperlegible" pitchFamily="34" charset="0"/>
                <a:ea typeface="Atkinson Hyperlegible" pitchFamily="34" charset="-122"/>
                <a:cs typeface="Atkinson Hyperlegible" pitchFamily="34" charset="-120"/>
              </a:rPr>
              <a:t>La Solución</a:t>
            </a:r>
            <a:endParaRPr lang="en-US" sz="900" dirty="0"/>
          </a:p>
        </p:txBody>
      </p:sp>
      <p:sp>
        <p:nvSpPr>
          <p:cNvPr id="21" name="Shape 19"/>
          <p:cNvSpPr/>
          <p:nvPr/>
        </p:nvSpPr>
        <p:spPr>
          <a:xfrm>
            <a:off x="4617720" y="1316736"/>
            <a:ext cx="164592" cy="164592"/>
          </a:xfrm>
          <a:prstGeom prst="ellipse">
            <a:avLst/>
          </a:prstGeom>
          <a:solidFill>
            <a:srgbClr val="1D1D1F"/>
          </a:solidFill>
          <a:ln w="12700">
            <a:solidFill>
              <a:srgbClr val="1D1D1F"/>
            </a:solidFill>
            <a:prstDash val="solid"/>
          </a:ln>
        </p:spPr>
      </p:sp>
      <p:sp>
        <p:nvSpPr>
          <p:cNvPr id="22" name="Text 20"/>
          <p:cNvSpPr/>
          <p:nvPr/>
        </p:nvSpPr>
        <p:spPr>
          <a:xfrm>
            <a:off x="4846320" y="1234440"/>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Recursos mínimos</a:t>
            </a:r>
            <a:endParaRPr lang="en-US" sz="850" dirty="0"/>
          </a:p>
        </p:txBody>
      </p:sp>
      <p:sp>
        <p:nvSpPr>
          <p:cNvPr id="23" name="Text 21"/>
          <p:cNvSpPr/>
          <p:nvPr/>
        </p:nvSpPr>
        <p:spPr>
          <a:xfrm>
            <a:off x="4846320" y="1481328"/>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Un Champion (0.3-0.5 FTE). Budget para talleres ($5-15K por proyecto). Herramientas CII (SP 34-1).</a:t>
            </a:r>
            <a:endParaRPr lang="en-US" sz="750" dirty="0"/>
          </a:p>
        </p:txBody>
      </p:sp>
      <p:sp>
        <p:nvSpPr>
          <p:cNvPr id="24" name="Shape 22"/>
          <p:cNvSpPr/>
          <p:nvPr/>
        </p:nvSpPr>
        <p:spPr>
          <a:xfrm>
            <a:off x="4617720" y="1847088"/>
            <a:ext cx="164592" cy="164592"/>
          </a:xfrm>
          <a:prstGeom prst="ellipse">
            <a:avLst/>
          </a:prstGeom>
          <a:solidFill>
            <a:srgbClr val="1D1D1F"/>
          </a:solidFill>
          <a:ln w="12700">
            <a:solidFill>
              <a:srgbClr val="1D1D1F"/>
            </a:solidFill>
            <a:prstDash val="solid"/>
          </a:ln>
        </p:spPr>
      </p:sp>
      <p:sp>
        <p:nvSpPr>
          <p:cNvPr id="25" name="Text 23"/>
          <p:cNvSpPr/>
          <p:nvPr/>
        </p:nvSpPr>
        <p:spPr>
          <a:xfrm>
            <a:off x="4846320" y="1764792"/>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Herramienta T-1</a:t>
            </a:r>
            <a:endParaRPr lang="en-US" sz="850" dirty="0"/>
          </a:p>
        </p:txBody>
      </p:sp>
      <p:sp>
        <p:nvSpPr>
          <p:cNvPr id="26" name="Text 24"/>
          <p:cNvSpPr/>
          <p:nvPr/>
        </p:nvSpPr>
        <p:spPr>
          <a:xfrm>
            <a:off x="4846320" y="2011680"/>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Management Awareness Checklist. Evalúa el nivel actual de conocimiento y soporte de la alta dirección.</a:t>
            </a:r>
            <a:endParaRPr lang="en-US" sz="750" dirty="0"/>
          </a:p>
        </p:txBody>
      </p:sp>
      <p:sp>
        <p:nvSpPr>
          <p:cNvPr id="27" name="Shape 25"/>
          <p:cNvSpPr/>
          <p:nvPr/>
        </p:nvSpPr>
        <p:spPr>
          <a:xfrm>
            <a:off x="4617720" y="2377440"/>
            <a:ext cx="164592" cy="164592"/>
          </a:xfrm>
          <a:prstGeom prst="ellipse">
            <a:avLst/>
          </a:prstGeom>
          <a:solidFill>
            <a:srgbClr val="1D1D1F"/>
          </a:solidFill>
          <a:ln w="12700">
            <a:solidFill>
              <a:srgbClr val="1D1D1F"/>
            </a:solidFill>
            <a:prstDash val="solid"/>
          </a:ln>
        </p:spPr>
      </p:sp>
      <p:sp>
        <p:nvSpPr>
          <p:cNvPr id="28" name="Text 26"/>
          <p:cNvSpPr/>
          <p:nvPr/>
        </p:nvSpPr>
        <p:spPr>
          <a:xfrm>
            <a:off x="4846320" y="2295144"/>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Señales de compromiso real</a:t>
            </a:r>
            <a:endParaRPr lang="en-US" sz="850" dirty="0"/>
          </a:p>
        </p:txBody>
      </p:sp>
      <p:sp>
        <p:nvSpPr>
          <p:cNvPr id="29" name="Text 27"/>
          <p:cNvSpPr/>
          <p:nvPr/>
        </p:nvSpPr>
        <p:spPr>
          <a:xfrm>
            <a:off x="4846320" y="2542032"/>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El Champion tiene autoridad para pausar un diseño. Los talleres están en el cronograma. El PEP incluye constructabilidad.</a:t>
            </a:r>
            <a:endParaRPr lang="en-US" sz="750" dirty="0"/>
          </a:p>
        </p:txBody>
      </p:sp>
      <p:sp>
        <p:nvSpPr>
          <p:cNvPr id="30" name="Shape 28"/>
          <p:cNvSpPr/>
          <p:nvPr/>
        </p:nvSpPr>
        <p:spPr>
          <a:xfrm>
            <a:off x="4617720" y="2907792"/>
            <a:ext cx="164592" cy="164592"/>
          </a:xfrm>
          <a:prstGeom prst="ellipse">
            <a:avLst/>
          </a:prstGeom>
          <a:solidFill>
            <a:srgbClr val="1D1D1F"/>
          </a:solidFill>
          <a:ln w="12700">
            <a:solidFill>
              <a:srgbClr val="1D1D1F"/>
            </a:solidFill>
            <a:prstDash val="solid"/>
          </a:ln>
        </p:spPr>
      </p:sp>
      <p:sp>
        <p:nvSpPr>
          <p:cNvPr id="31" name="Text 29"/>
          <p:cNvSpPr/>
          <p:nvPr/>
        </p:nvSpPr>
        <p:spPr>
          <a:xfrm>
            <a:off x="4846320" y="2825496"/>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Caso sin compromiso</a:t>
            </a:r>
            <a:endParaRPr lang="en-US" sz="850" dirty="0"/>
          </a:p>
        </p:txBody>
      </p:sp>
      <p:sp>
        <p:nvSpPr>
          <p:cNvPr id="32" name="Text 30"/>
          <p:cNvSpPr/>
          <p:nvPr/>
        </p:nvSpPr>
        <p:spPr>
          <a:xfrm>
            <a:off x="4846320" y="3072384"/>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El programa existe en el papel pero no en la práctica. Los talleres se cancelan por "urgencias". No hay métricas.</a:t>
            </a:r>
            <a:endParaRPr lang="en-US" sz="750" dirty="0"/>
          </a:p>
        </p:txBody>
      </p:sp>
      <p:sp>
        <p:nvSpPr>
          <p:cNvPr id="33" name="Shape 31"/>
          <p:cNvSpPr/>
          <p:nvPr/>
        </p:nvSpPr>
        <p:spPr>
          <a:xfrm>
            <a:off x="182880" y="4956048"/>
            <a:ext cx="8961120" cy="182880"/>
          </a:xfrm>
          <a:prstGeom prst="rect">
            <a:avLst/>
          </a:prstGeom>
          <a:solidFill>
            <a:srgbClr val="C0392B"/>
          </a:solidFill>
          <a:ln w="12700">
            <a:solidFill>
              <a:srgbClr val="C0392B"/>
            </a:solidFill>
            <a:prstDash val="solid"/>
          </a:ln>
        </p:spPr>
      </p:sp>
      <p:sp>
        <p:nvSpPr>
          <p:cNvPr id="34" name="Text 32"/>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45 / 126</a:t>
            </a:r>
            <a:endParaRPr lang="en-US" sz="7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C0392B"/>
          </a:solidFill>
          <a:ln w="12700">
            <a:solidFill>
              <a:srgbClr val="C0392B"/>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Hito 2: Capacitar al Equipo y Designar el Champion</a:t>
            </a:r>
            <a:endParaRPr lang="en-US" sz="1800" dirty="0"/>
          </a:p>
        </p:txBody>
      </p:sp>
      <p:sp>
        <p:nvSpPr>
          <p:cNvPr id="4" name="Shape 2"/>
          <p:cNvSpPr/>
          <p:nvPr/>
        </p:nvSpPr>
        <p:spPr>
          <a:xfrm>
            <a:off x="320040" y="640080"/>
            <a:ext cx="8503920" cy="41148"/>
          </a:xfrm>
          <a:prstGeom prst="rect">
            <a:avLst/>
          </a:prstGeom>
          <a:solidFill>
            <a:srgbClr val="C0392B"/>
          </a:solidFill>
          <a:ln w="12700">
            <a:solidFill>
              <a:srgbClr val="C0392B"/>
            </a:solidFill>
            <a:prstDash val="solid"/>
          </a:ln>
        </p:spPr>
      </p:sp>
      <p:sp>
        <p:nvSpPr>
          <p:cNvPr id="5" name="Shape 3"/>
          <p:cNvSpPr/>
          <p:nvPr/>
        </p:nvSpPr>
        <p:spPr>
          <a:xfrm>
            <a:off x="320040" y="804672"/>
            <a:ext cx="4169664" cy="1943100"/>
          </a:xfrm>
          <a:prstGeom prst="roundRect">
            <a:avLst>
              <a:gd name="adj" fmla="val 4235"/>
            </a:avLst>
          </a:prstGeom>
          <a:solidFill>
            <a:srgbClr val="C0392B"/>
          </a:solidFill>
          <a:ln w="19050">
            <a:solidFill>
              <a:srgbClr val="C0392B"/>
            </a:solidFill>
            <a:prstDash val="solid"/>
          </a:ln>
        </p:spPr>
      </p:sp>
      <p:sp>
        <p:nvSpPr>
          <p:cNvPr id="6" name="Shape 4"/>
          <p:cNvSpPr/>
          <p:nvPr/>
        </p:nvSpPr>
        <p:spPr>
          <a:xfrm>
            <a:off x="320040" y="804672"/>
            <a:ext cx="4169664" cy="54864"/>
          </a:xfrm>
          <a:prstGeom prst="rect">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8056" y="932688"/>
            <a:ext cx="365760" cy="365760"/>
          </a:xfrm>
          <a:prstGeom prst="rect">
            <a:avLst/>
          </a:prstGeom>
        </p:spPr>
      </p:pic>
      <p:sp>
        <p:nvSpPr>
          <p:cNvPr id="8" name="Text 5"/>
          <p:cNvSpPr/>
          <p:nvPr/>
        </p:nvSpPr>
        <p:spPr>
          <a:xfrm>
            <a:off x="868680" y="914400"/>
            <a:ext cx="3511296"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Perfil del Champion</a:t>
            </a:r>
            <a:endParaRPr lang="en-US" sz="850" dirty="0"/>
          </a:p>
        </p:txBody>
      </p:sp>
      <p:sp>
        <p:nvSpPr>
          <p:cNvPr id="9" name="Text 6"/>
          <p:cNvSpPr/>
          <p:nvPr/>
        </p:nvSpPr>
        <p:spPr>
          <a:xfrm>
            <a:off x="429768" y="1316736"/>
            <a:ext cx="3968496"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Experiencia real en campo de construcción. No es el más joven ni el más brillante en teoría: es el que conoce obra.</a:t>
            </a:r>
            <a:endParaRPr lang="en-US" sz="750" dirty="0"/>
          </a:p>
        </p:txBody>
      </p:sp>
      <p:sp>
        <p:nvSpPr>
          <p:cNvPr id="10" name="Shape 7"/>
          <p:cNvSpPr/>
          <p:nvPr/>
        </p:nvSpPr>
        <p:spPr>
          <a:xfrm>
            <a:off x="4654296" y="804672"/>
            <a:ext cx="4169664" cy="1943100"/>
          </a:xfrm>
          <a:prstGeom prst="roundRect">
            <a:avLst>
              <a:gd name="adj" fmla="val 4235"/>
            </a:avLst>
          </a:prstGeom>
          <a:solidFill>
            <a:srgbClr val="FFFFFF"/>
          </a:solidFill>
          <a:ln w="19050">
            <a:solidFill>
              <a:srgbClr val="C0392B"/>
            </a:solidFill>
            <a:prstDash val="solid"/>
          </a:ln>
        </p:spPr>
      </p:sp>
      <p:sp>
        <p:nvSpPr>
          <p:cNvPr id="11" name="Shape 8"/>
          <p:cNvSpPr/>
          <p:nvPr/>
        </p:nvSpPr>
        <p:spPr>
          <a:xfrm>
            <a:off x="4654296" y="804672"/>
            <a:ext cx="4169664" cy="54864"/>
          </a:xfrm>
          <a:prstGeom prst="rect">
            <a:avLst/>
          </a:prstGeom>
          <a:solidFill>
            <a:srgbClr val="C0392B"/>
          </a:solidFill>
          <a:ln w="12700">
            <a:solidFill>
              <a:srgbClr val="C0392B"/>
            </a:solidFill>
            <a:prstDash val="solid"/>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82312" y="932688"/>
            <a:ext cx="365760" cy="365760"/>
          </a:xfrm>
          <a:prstGeom prst="rect">
            <a:avLst/>
          </a:prstGeom>
        </p:spPr>
      </p:pic>
      <p:sp>
        <p:nvSpPr>
          <p:cNvPr id="13" name="Text 9"/>
          <p:cNvSpPr/>
          <p:nvPr/>
        </p:nvSpPr>
        <p:spPr>
          <a:xfrm>
            <a:off x="5202936" y="914400"/>
            <a:ext cx="3511296" cy="347472"/>
          </a:xfrm>
          <a:prstGeom prst="rect">
            <a:avLst/>
          </a:prstGeom>
          <a:noFill/>
          <a:ln/>
        </p:spPr>
        <p:txBody>
          <a:bodyPr wrap="square" rtlCol="0" anchor="ctr"/>
          <a:lstStyle/>
          <a:p>
            <a:pPr indent="0" marL="0">
              <a:buNone/>
            </a:pPr>
            <a:r>
              <a:rPr lang="en-US" sz="850" b="1" dirty="0">
                <a:solidFill>
                  <a:srgbClr val="C0392B"/>
                </a:solidFill>
                <a:latin typeface="Atkinson Hyperlegible" pitchFamily="34" charset="0"/>
                <a:ea typeface="Atkinson Hyperlegible" pitchFamily="34" charset="-122"/>
                <a:cs typeface="Atkinson Hyperlegible" pitchFamily="34" charset="-120"/>
              </a:rPr>
              <a:t>Formación CII</a:t>
            </a:r>
            <a:endParaRPr lang="en-US" sz="850" dirty="0"/>
          </a:p>
        </p:txBody>
      </p:sp>
      <p:sp>
        <p:nvSpPr>
          <p:cNvPr id="14" name="Text 10"/>
          <p:cNvSpPr/>
          <p:nvPr/>
        </p:nvSpPr>
        <p:spPr>
          <a:xfrm>
            <a:off x="4764024" y="1316736"/>
            <a:ext cx="3968496"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Módulos CII sobre 17 conceptos, herramientas SP 34-1, casos de estudio. Mínimo 16 horas de formación.</a:t>
            </a:r>
            <a:endParaRPr lang="en-US" sz="750" dirty="0"/>
          </a:p>
        </p:txBody>
      </p:sp>
      <p:sp>
        <p:nvSpPr>
          <p:cNvPr id="15" name="Shape 11"/>
          <p:cNvSpPr/>
          <p:nvPr/>
        </p:nvSpPr>
        <p:spPr>
          <a:xfrm>
            <a:off x="320040" y="2884932"/>
            <a:ext cx="4169664" cy="1943100"/>
          </a:xfrm>
          <a:prstGeom prst="roundRect">
            <a:avLst>
              <a:gd name="adj" fmla="val 4235"/>
            </a:avLst>
          </a:prstGeom>
          <a:solidFill>
            <a:srgbClr val="C0392B"/>
          </a:solidFill>
          <a:ln w="19050">
            <a:solidFill>
              <a:srgbClr val="C0392B"/>
            </a:solidFill>
            <a:prstDash val="solid"/>
          </a:ln>
        </p:spPr>
      </p:sp>
      <p:sp>
        <p:nvSpPr>
          <p:cNvPr id="16" name="Shape 12"/>
          <p:cNvSpPr/>
          <p:nvPr/>
        </p:nvSpPr>
        <p:spPr>
          <a:xfrm>
            <a:off x="320040" y="2884932"/>
            <a:ext cx="4169664" cy="54864"/>
          </a:xfrm>
          <a:prstGeom prst="rect">
            <a:avLst/>
          </a:prstGeom>
          <a:solidFill>
            <a:srgbClr val="FFFFFF"/>
          </a:solidFill>
          <a:ln w="12700">
            <a:solidFill>
              <a:srgbClr val="FFFFFF"/>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8056" y="3012948"/>
            <a:ext cx="365760" cy="365760"/>
          </a:xfrm>
          <a:prstGeom prst="rect">
            <a:avLst/>
          </a:prstGeom>
        </p:spPr>
      </p:pic>
      <p:sp>
        <p:nvSpPr>
          <p:cNvPr id="18" name="Text 13"/>
          <p:cNvSpPr/>
          <p:nvPr/>
        </p:nvSpPr>
        <p:spPr>
          <a:xfrm>
            <a:off x="868680" y="2994660"/>
            <a:ext cx="3511296"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Rol del Champion</a:t>
            </a:r>
            <a:endParaRPr lang="en-US" sz="850" dirty="0"/>
          </a:p>
        </p:txBody>
      </p:sp>
      <p:sp>
        <p:nvSpPr>
          <p:cNvPr id="19" name="Text 14"/>
          <p:cNvSpPr/>
          <p:nvPr/>
        </p:nvSpPr>
        <p:spPr>
          <a:xfrm>
            <a:off x="429768" y="3396996"/>
            <a:ext cx="3968496"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Facilitador de talleres. Asesor de diseño. Custodio del LLDB. Reporta al gerente del proyecto.</a:t>
            </a:r>
            <a:endParaRPr lang="en-US" sz="750" dirty="0"/>
          </a:p>
        </p:txBody>
      </p:sp>
      <p:sp>
        <p:nvSpPr>
          <p:cNvPr id="20" name="Shape 15"/>
          <p:cNvSpPr/>
          <p:nvPr/>
        </p:nvSpPr>
        <p:spPr>
          <a:xfrm>
            <a:off x="4654296" y="2884932"/>
            <a:ext cx="4169664" cy="1943100"/>
          </a:xfrm>
          <a:prstGeom prst="roundRect">
            <a:avLst>
              <a:gd name="adj" fmla="val 4235"/>
            </a:avLst>
          </a:prstGeom>
          <a:solidFill>
            <a:srgbClr val="FFFFFF"/>
          </a:solidFill>
          <a:ln w="19050">
            <a:solidFill>
              <a:srgbClr val="C0392B"/>
            </a:solidFill>
            <a:prstDash val="solid"/>
          </a:ln>
        </p:spPr>
      </p:sp>
      <p:sp>
        <p:nvSpPr>
          <p:cNvPr id="21" name="Shape 16"/>
          <p:cNvSpPr/>
          <p:nvPr/>
        </p:nvSpPr>
        <p:spPr>
          <a:xfrm>
            <a:off x="4654296" y="2884932"/>
            <a:ext cx="4169664" cy="54864"/>
          </a:xfrm>
          <a:prstGeom prst="rect">
            <a:avLst/>
          </a:prstGeom>
          <a:solidFill>
            <a:srgbClr val="C0392B"/>
          </a:solidFill>
          <a:ln w="12700">
            <a:solidFill>
              <a:srgbClr val="C0392B"/>
            </a:solidFill>
            <a:prstDash val="solid"/>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82312" y="3012948"/>
            <a:ext cx="365760" cy="365760"/>
          </a:xfrm>
          <a:prstGeom prst="rect">
            <a:avLst/>
          </a:prstGeom>
        </p:spPr>
      </p:pic>
      <p:sp>
        <p:nvSpPr>
          <p:cNvPr id="23" name="Text 17"/>
          <p:cNvSpPr/>
          <p:nvPr/>
        </p:nvSpPr>
        <p:spPr>
          <a:xfrm>
            <a:off x="5202936" y="2994660"/>
            <a:ext cx="3511296" cy="347472"/>
          </a:xfrm>
          <a:prstGeom prst="rect">
            <a:avLst/>
          </a:prstGeom>
          <a:noFill/>
          <a:ln/>
        </p:spPr>
        <p:txBody>
          <a:bodyPr wrap="square" rtlCol="0" anchor="ctr"/>
          <a:lstStyle/>
          <a:p>
            <a:pPr indent="0" marL="0">
              <a:buNone/>
            </a:pPr>
            <a:r>
              <a:rPr lang="en-US" sz="850" b="1" dirty="0">
                <a:solidFill>
                  <a:srgbClr val="C0392B"/>
                </a:solidFill>
                <a:latin typeface="Atkinson Hyperlegible" pitchFamily="34" charset="0"/>
                <a:ea typeface="Atkinson Hyperlegible" pitchFamily="34" charset="-122"/>
                <a:cs typeface="Atkinson Hyperlegible" pitchFamily="34" charset="-120"/>
              </a:rPr>
              <a:t>Red de Expertos</a:t>
            </a:r>
            <a:endParaRPr lang="en-US" sz="850" dirty="0"/>
          </a:p>
        </p:txBody>
      </p:sp>
      <p:sp>
        <p:nvSpPr>
          <p:cNvPr id="24" name="Text 18"/>
          <p:cNvSpPr/>
          <p:nvPr/>
        </p:nvSpPr>
        <p:spPr>
          <a:xfrm>
            <a:off x="4764024" y="3396996"/>
            <a:ext cx="3968496"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Acceso a constructores experimentados que pueden participar como revisores en proyectos sin expertise interno suficiente.</a:t>
            </a:r>
            <a:endParaRPr lang="en-US" sz="750" dirty="0"/>
          </a:p>
        </p:txBody>
      </p:sp>
      <p:sp>
        <p:nvSpPr>
          <p:cNvPr id="25" name="Shape 19"/>
          <p:cNvSpPr/>
          <p:nvPr/>
        </p:nvSpPr>
        <p:spPr>
          <a:xfrm>
            <a:off x="182880" y="4956048"/>
            <a:ext cx="8961120" cy="182880"/>
          </a:xfrm>
          <a:prstGeom prst="rect">
            <a:avLst/>
          </a:prstGeom>
          <a:solidFill>
            <a:srgbClr val="C0392B"/>
          </a:solidFill>
          <a:ln w="12700">
            <a:solidFill>
              <a:srgbClr val="C0392B"/>
            </a:solidFill>
            <a:prstDash val="solid"/>
          </a:ln>
        </p:spPr>
      </p:sp>
      <p:sp>
        <p:nvSpPr>
          <p:cNvPr id="26" name="Text 20"/>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46 / 126</a:t>
            </a:r>
            <a:endParaRPr lang="en-US" sz="7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C0392B"/>
          </a:solidFill>
          <a:ln w="12700">
            <a:solidFill>
              <a:srgbClr val="C0392B"/>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Hito 3: Desarrollar Capacidades del Programa</a:t>
            </a:r>
            <a:endParaRPr lang="en-US" sz="1800" dirty="0"/>
          </a:p>
        </p:txBody>
      </p:sp>
      <p:sp>
        <p:nvSpPr>
          <p:cNvPr id="4" name="Shape 2"/>
          <p:cNvSpPr/>
          <p:nvPr/>
        </p:nvSpPr>
        <p:spPr>
          <a:xfrm>
            <a:off x="320040" y="640080"/>
            <a:ext cx="8503920" cy="41148"/>
          </a:xfrm>
          <a:prstGeom prst="rect">
            <a:avLst/>
          </a:prstGeom>
          <a:solidFill>
            <a:srgbClr val="C0392B"/>
          </a:solidFill>
          <a:ln w="12700">
            <a:solidFill>
              <a:srgbClr val="C0392B"/>
            </a:solidFill>
            <a:prstDash val="solid"/>
          </a:ln>
        </p:spPr>
      </p:sp>
      <p:sp>
        <p:nvSpPr>
          <p:cNvPr id="5" name="Shape 3"/>
          <p:cNvSpPr/>
          <p:nvPr/>
        </p:nvSpPr>
        <p:spPr>
          <a:xfrm>
            <a:off x="320040" y="804672"/>
            <a:ext cx="2724912" cy="1943100"/>
          </a:xfrm>
          <a:prstGeom prst="roundRect">
            <a:avLst>
              <a:gd name="adj" fmla="val 4235"/>
            </a:avLst>
          </a:prstGeom>
          <a:solidFill>
            <a:srgbClr val="C0392B"/>
          </a:solidFill>
          <a:ln w="19050">
            <a:solidFill>
              <a:srgbClr val="C0392B"/>
            </a:solidFill>
            <a:prstDash val="solid"/>
          </a:ln>
        </p:spPr>
      </p:sp>
      <p:sp>
        <p:nvSpPr>
          <p:cNvPr id="6" name="Shape 4"/>
          <p:cNvSpPr/>
          <p:nvPr/>
        </p:nvSpPr>
        <p:spPr>
          <a:xfrm>
            <a:off x="320040" y="804672"/>
            <a:ext cx="2724912" cy="54864"/>
          </a:xfrm>
          <a:prstGeom prst="rect">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8056" y="932688"/>
            <a:ext cx="365760" cy="365760"/>
          </a:xfrm>
          <a:prstGeom prst="rect">
            <a:avLst/>
          </a:prstGeom>
        </p:spPr>
      </p:pic>
      <p:sp>
        <p:nvSpPr>
          <p:cNvPr id="8" name="Text 5"/>
          <p:cNvSpPr/>
          <p:nvPr/>
        </p:nvSpPr>
        <p:spPr>
          <a:xfrm>
            <a:off x="868680"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Herramientas CII</a:t>
            </a:r>
            <a:endParaRPr lang="en-US" sz="850" dirty="0"/>
          </a:p>
        </p:txBody>
      </p:sp>
      <p:sp>
        <p:nvSpPr>
          <p:cNvPr id="9" name="Text 6"/>
          <p:cNvSpPr/>
          <p:nvPr/>
        </p:nvSpPr>
        <p:spPr>
          <a:xfrm>
            <a:off x="429768"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Las 19 herramientas del SP 34-1 adaptadas al contexto de la empresa. Matrices, checklists y plantillas de talleres.</a:t>
            </a:r>
            <a:endParaRPr lang="en-US" sz="750" dirty="0"/>
          </a:p>
        </p:txBody>
      </p:sp>
      <p:sp>
        <p:nvSpPr>
          <p:cNvPr id="10" name="Shape 7"/>
          <p:cNvSpPr/>
          <p:nvPr/>
        </p:nvSpPr>
        <p:spPr>
          <a:xfrm>
            <a:off x="3209544" y="804672"/>
            <a:ext cx="2724912" cy="1943100"/>
          </a:xfrm>
          <a:prstGeom prst="roundRect">
            <a:avLst>
              <a:gd name="adj" fmla="val 4235"/>
            </a:avLst>
          </a:prstGeom>
          <a:solidFill>
            <a:srgbClr val="FFFFFF"/>
          </a:solidFill>
          <a:ln w="19050">
            <a:solidFill>
              <a:srgbClr val="C0392B"/>
            </a:solidFill>
            <a:prstDash val="solid"/>
          </a:ln>
        </p:spPr>
      </p:sp>
      <p:sp>
        <p:nvSpPr>
          <p:cNvPr id="11" name="Shape 8"/>
          <p:cNvSpPr/>
          <p:nvPr/>
        </p:nvSpPr>
        <p:spPr>
          <a:xfrm>
            <a:off x="3209544" y="804672"/>
            <a:ext cx="2724912" cy="54864"/>
          </a:xfrm>
          <a:prstGeom prst="rect">
            <a:avLst/>
          </a:prstGeom>
          <a:solidFill>
            <a:srgbClr val="C0392B"/>
          </a:solidFill>
          <a:ln w="12700">
            <a:solidFill>
              <a:srgbClr val="C0392B"/>
            </a:solidFill>
            <a:prstDash val="solid"/>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37560" y="932688"/>
            <a:ext cx="365760" cy="365760"/>
          </a:xfrm>
          <a:prstGeom prst="rect">
            <a:avLst/>
          </a:prstGeom>
        </p:spPr>
      </p:pic>
      <p:sp>
        <p:nvSpPr>
          <p:cNvPr id="13" name="Text 9"/>
          <p:cNvSpPr/>
          <p:nvPr/>
        </p:nvSpPr>
        <p:spPr>
          <a:xfrm>
            <a:off x="3758184" y="914400"/>
            <a:ext cx="2066544" cy="347472"/>
          </a:xfrm>
          <a:prstGeom prst="rect">
            <a:avLst/>
          </a:prstGeom>
          <a:noFill/>
          <a:ln/>
        </p:spPr>
        <p:txBody>
          <a:bodyPr wrap="square" rtlCol="0" anchor="ctr"/>
          <a:lstStyle/>
          <a:p>
            <a:pPr indent="0" marL="0">
              <a:buNone/>
            </a:pPr>
            <a:r>
              <a:rPr lang="en-US" sz="850" b="1" dirty="0">
                <a:solidFill>
                  <a:srgbClr val="C0392B"/>
                </a:solidFill>
                <a:latin typeface="Atkinson Hyperlegible" pitchFamily="34" charset="0"/>
                <a:ea typeface="Atkinson Hyperlegible" pitchFamily="34" charset="-122"/>
                <a:cs typeface="Atkinson Hyperlegible" pitchFamily="34" charset="-120"/>
              </a:rPr>
              <a:t>LLDB (Lessons Learned)</a:t>
            </a:r>
            <a:endParaRPr lang="en-US" sz="850" dirty="0"/>
          </a:p>
        </p:txBody>
      </p:sp>
      <p:sp>
        <p:nvSpPr>
          <p:cNvPr id="14" name="Text 10"/>
          <p:cNvSpPr/>
          <p:nvPr/>
        </p:nvSpPr>
        <p:spPr>
          <a:xfrm>
            <a:off x="3319272" y="131673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Base de datos de lecciones aprendidas. Simple: una hoja Excel es suficiente al inicio. Lo importante es el proceso.</a:t>
            </a:r>
            <a:endParaRPr lang="en-US" sz="750" dirty="0"/>
          </a:p>
        </p:txBody>
      </p:sp>
      <p:sp>
        <p:nvSpPr>
          <p:cNvPr id="15" name="Shape 11"/>
          <p:cNvSpPr/>
          <p:nvPr/>
        </p:nvSpPr>
        <p:spPr>
          <a:xfrm>
            <a:off x="6099048" y="804672"/>
            <a:ext cx="2724912" cy="1943100"/>
          </a:xfrm>
          <a:prstGeom prst="roundRect">
            <a:avLst>
              <a:gd name="adj" fmla="val 4235"/>
            </a:avLst>
          </a:prstGeom>
          <a:solidFill>
            <a:srgbClr val="C0392B"/>
          </a:solidFill>
          <a:ln w="19050">
            <a:solidFill>
              <a:srgbClr val="C0392B"/>
            </a:solidFill>
            <a:prstDash val="solid"/>
          </a:ln>
        </p:spPr>
      </p:sp>
      <p:sp>
        <p:nvSpPr>
          <p:cNvPr id="16" name="Shape 12"/>
          <p:cNvSpPr/>
          <p:nvPr/>
        </p:nvSpPr>
        <p:spPr>
          <a:xfrm>
            <a:off x="6099048" y="804672"/>
            <a:ext cx="2724912" cy="54864"/>
          </a:xfrm>
          <a:prstGeom prst="rect">
            <a:avLst/>
          </a:prstGeom>
          <a:solidFill>
            <a:srgbClr val="FFFFFF"/>
          </a:solidFill>
          <a:ln w="12700">
            <a:solidFill>
              <a:srgbClr val="FFFFFF"/>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27064" y="932688"/>
            <a:ext cx="365760" cy="365760"/>
          </a:xfrm>
          <a:prstGeom prst="rect">
            <a:avLst/>
          </a:prstGeom>
        </p:spPr>
      </p:pic>
      <p:sp>
        <p:nvSpPr>
          <p:cNvPr id="18" name="Text 13"/>
          <p:cNvSpPr/>
          <p:nvPr/>
        </p:nvSpPr>
        <p:spPr>
          <a:xfrm>
            <a:off x="6647688"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Plantillas de Revisión</a:t>
            </a:r>
            <a:endParaRPr lang="en-US" sz="850" dirty="0"/>
          </a:p>
        </p:txBody>
      </p:sp>
      <p:sp>
        <p:nvSpPr>
          <p:cNvPr id="19" name="Text 14"/>
          <p:cNvSpPr/>
          <p:nvPr/>
        </p:nvSpPr>
        <p:spPr>
          <a:xfrm>
            <a:off x="6208776"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Agenda tipo para talleres de constructabilidad. Listas de verificación por disciplina y fase del proyecto.</a:t>
            </a:r>
            <a:endParaRPr lang="en-US" sz="750" dirty="0"/>
          </a:p>
        </p:txBody>
      </p:sp>
      <p:sp>
        <p:nvSpPr>
          <p:cNvPr id="20" name="Shape 15"/>
          <p:cNvSpPr/>
          <p:nvPr/>
        </p:nvSpPr>
        <p:spPr>
          <a:xfrm>
            <a:off x="320040" y="2884932"/>
            <a:ext cx="2724912" cy="1943100"/>
          </a:xfrm>
          <a:prstGeom prst="roundRect">
            <a:avLst>
              <a:gd name="adj" fmla="val 4235"/>
            </a:avLst>
          </a:prstGeom>
          <a:solidFill>
            <a:srgbClr val="FFFFFF"/>
          </a:solidFill>
          <a:ln w="19050">
            <a:solidFill>
              <a:srgbClr val="C0392B"/>
            </a:solidFill>
            <a:prstDash val="solid"/>
          </a:ln>
        </p:spPr>
      </p:sp>
      <p:sp>
        <p:nvSpPr>
          <p:cNvPr id="21" name="Shape 16"/>
          <p:cNvSpPr/>
          <p:nvPr/>
        </p:nvSpPr>
        <p:spPr>
          <a:xfrm>
            <a:off x="320040" y="2884932"/>
            <a:ext cx="2724912" cy="54864"/>
          </a:xfrm>
          <a:prstGeom prst="rect">
            <a:avLst/>
          </a:prstGeom>
          <a:solidFill>
            <a:srgbClr val="C0392B"/>
          </a:solidFill>
          <a:ln w="12700">
            <a:solidFill>
              <a:srgbClr val="C0392B"/>
            </a:solidFill>
            <a:prstDash val="solid"/>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8056" y="3012948"/>
            <a:ext cx="365760" cy="365760"/>
          </a:xfrm>
          <a:prstGeom prst="rect">
            <a:avLst/>
          </a:prstGeom>
        </p:spPr>
      </p:pic>
      <p:sp>
        <p:nvSpPr>
          <p:cNvPr id="23" name="Text 17"/>
          <p:cNvSpPr/>
          <p:nvPr/>
        </p:nvSpPr>
        <p:spPr>
          <a:xfrm>
            <a:off x="868680" y="2994660"/>
            <a:ext cx="2066544" cy="347472"/>
          </a:xfrm>
          <a:prstGeom prst="rect">
            <a:avLst/>
          </a:prstGeom>
          <a:noFill/>
          <a:ln/>
        </p:spPr>
        <p:txBody>
          <a:bodyPr wrap="square" rtlCol="0" anchor="ctr"/>
          <a:lstStyle/>
          <a:p>
            <a:pPr indent="0" marL="0">
              <a:buNone/>
            </a:pPr>
            <a:r>
              <a:rPr lang="en-US" sz="850" b="1" dirty="0">
                <a:solidFill>
                  <a:srgbClr val="C0392B"/>
                </a:solidFill>
                <a:latin typeface="Atkinson Hyperlegible" pitchFamily="34" charset="0"/>
                <a:ea typeface="Atkinson Hyperlegible" pitchFamily="34" charset="-122"/>
                <a:cs typeface="Atkinson Hyperlegible" pitchFamily="34" charset="-120"/>
              </a:rPr>
              <a:t>Criterios de Calificación</a:t>
            </a:r>
            <a:endParaRPr lang="en-US" sz="850" dirty="0"/>
          </a:p>
        </p:txBody>
      </p:sp>
      <p:sp>
        <p:nvSpPr>
          <p:cNvPr id="24" name="Text 18"/>
          <p:cNvSpPr/>
          <p:nvPr/>
        </p:nvSpPr>
        <p:spPr>
          <a:xfrm>
            <a:off x="429768"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¿Qué hace que una observación sea "de constructabilidad"? Criterios claros evitan que todo se llame constructabilidad.</a:t>
            </a:r>
            <a:endParaRPr lang="en-US" sz="750" dirty="0"/>
          </a:p>
        </p:txBody>
      </p:sp>
      <p:sp>
        <p:nvSpPr>
          <p:cNvPr id="25" name="Shape 19"/>
          <p:cNvSpPr/>
          <p:nvPr/>
        </p:nvSpPr>
        <p:spPr>
          <a:xfrm>
            <a:off x="3209544" y="2884932"/>
            <a:ext cx="2724912" cy="1943100"/>
          </a:xfrm>
          <a:prstGeom prst="roundRect">
            <a:avLst>
              <a:gd name="adj" fmla="val 4235"/>
            </a:avLst>
          </a:prstGeom>
          <a:solidFill>
            <a:srgbClr val="C0392B"/>
          </a:solidFill>
          <a:ln w="19050">
            <a:solidFill>
              <a:srgbClr val="C0392B"/>
            </a:solidFill>
            <a:prstDash val="solid"/>
          </a:ln>
        </p:spPr>
      </p:sp>
      <p:sp>
        <p:nvSpPr>
          <p:cNvPr id="26" name="Shape 20"/>
          <p:cNvSpPr/>
          <p:nvPr/>
        </p:nvSpPr>
        <p:spPr>
          <a:xfrm>
            <a:off x="3209544" y="2884932"/>
            <a:ext cx="2724912" cy="54864"/>
          </a:xfrm>
          <a:prstGeom prst="rect">
            <a:avLst/>
          </a:prstGeom>
          <a:solidFill>
            <a:srgbClr val="FFFFFF"/>
          </a:solidFill>
          <a:ln w="12700">
            <a:solidFill>
              <a:srgbClr val="FFFFFF"/>
            </a:solidFill>
            <a:prstDash val="solid"/>
          </a:ln>
        </p:spPr>
      </p:sp>
      <p:pic>
        <p:nvPicPr>
          <p:cNvPr id="2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37560" y="3012948"/>
            <a:ext cx="365760" cy="365760"/>
          </a:xfrm>
          <a:prstGeom prst="rect">
            <a:avLst/>
          </a:prstGeom>
        </p:spPr>
      </p:pic>
      <p:sp>
        <p:nvSpPr>
          <p:cNvPr id="28" name="Text 21"/>
          <p:cNvSpPr/>
          <p:nvPr/>
        </p:nvSpPr>
        <p:spPr>
          <a:xfrm>
            <a:off x="3758184" y="299466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Biblioteca de Casos</a:t>
            </a:r>
            <a:endParaRPr lang="en-US" sz="850" dirty="0"/>
          </a:p>
        </p:txBody>
      </p:sp>
      <p:sp>
        <p:nvSpPr>
          <p:cNvPr id="29" name="Text 22"/>
          <p:cNvSpPr/>
          <p:nvPr/>
        </p:nvSpPr>
        <p:spPr>
          <a:xfrm>
            <a:off x="3319272" y="339699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Casos de estudio internos + casos CII. Los problemas reales del pasado son los mejores ejemplos de capacitación.</a:t>
            </a:r>
            <a:endParaRPr lang="en-US" sz="750" dirty="0"/>
          </a:p>
        </p:txBody>
      </p:sp>
      <p:sp>
        <p:nvSpPr>
          <p:cNvPr id="30" name="Shape 23"/>
          <p:cNvSpPr/>
          <p:nvPr/>
        </p:nvSpPr>
        <p:spPr>
          <a:xfrm>
            <a:off x="6099048" y="2884932"/>
            <a:ext cx="2724912" cy="1943100"/>
          </a:xfrm>
          <a:prstGeom prst="roundRect">
            <a:avLst>
              <a:gd name="adj" fmla="val 4235"/>
            </a:avLst>
          </a:prstGeom>
          <a:solidFill>
            <a:srgbClr val="FFFFFF"/>
          </a:solidFill>
          <a:ln w="19050">
            <a:solidFill>
              <a:srgbClr val="C0392B"/>
            </a:solidFill>
            <a:prstDash val="solid"/>
          </a:ln>
        </p:spPr>
      </p:sp>
      <p:sp>
        <p:nvSpPr>
          <p:cNvPr id="31" name="Shape 24"/>
          <p:cNvSpPr/>
          <p:nvPr/>
        </p:nvSpPr>
        <p:spPr>
          <a:xfrm>
            <a:off x="6099048" y="2884932"/>
            <a:ext cx="2724912" cy="54864"/>
          </a:xfrm>
          <a:prstGeom prst="rect">
            <a:avLst/>
          </a:prstGeom>
          <a:solidFill>
            <a:srgbClr val="C0392B"/>
          </a:solidFill>
          <a:ln w="12700">
            <a:solidFill>
              <a:srgbClr val="C0392B"/>
            </a:solidFill>
            <a:prstDash val="solid"/>
          </a:ln>
        </p:spPr>
      </p:sp>
      <p:pic>
        <p:nvPicPr>
          <p:cNvPr id="3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27064" y="3012948"/>
            <a:ext cx="365760" cy="365760"/>
          </a:xfrm>
          <a:prstGeom prst="rect">
            <a:avLst/>
          </a:prstGeom>
        </p:spPr>
      </p:pic>
      <p:sp>
        <p:nvSpPr>
          <p:cNvPr id="33" name="Text 25"/>
          <p:cNvSpPr/>
          <p:nvPr/>
        </p:nvSpPr>
        <p:spPr>
          <a:xfrm>
            <a:off x="6647688" y="2994660"/>
            <a:ext cx="2066544" cy="347472"/>
          </a:xfrm>
          <a:prstGeom prst="rect">
            <a:avLst/>
          </a:prstGeom>
          <a:noFill/>
          <a:ln/>
        </p:spPr>
        <p:txBody>
          <a:bodyPr wrap="square" rtlCol="0" anchor="ctr"/>
          <a:lstStyle/>
          <a:p>
            <a:pPr indent="0" marL="0">
              <a:buNone/>
            </a:pPr>
            <a:r>
              <a:rPr lang="en-US" sz="850" b="1" dirty="0">
                <a:solidFill>
                  <a:srgbClr val="C0392B"/>
                </a:solidFill>
                <a:latin typeface="Atkinson Hyperlegible" pitchFamily="34" charset="0"/>
                <a:ea typeface="Atkinson Hyperlegible" pitchFamily="34" charset="-122"/>
                <a:cs typeface="Atkinson Hyperlegible" pitchFamily="34" charset="-120"/>
              </a:rPr>
              <a:t>Proceso de Mejora Continua</a:t>
            </a:r>
            <a:endParaRPr lang="en-US" sz="850" dirty="0"/>
          </a:p>
        </p:txBody>
      </p:sp>
      <p:sp>
        <p:nvSpPr>
          <p:cNvPr id="34" name="Text 26"/>
          <p:cNvSpPr/>
          <p:nvPr/>
        </p:nvSpPr>
        <p:spPr>
          <a:xfrm>
            <a:off x="6208776"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Revisión anual del programa. ¿Las herramientas funcionan? ¿El LLDB se usa? ¿El ROI es medible?</a:t>
            </a:r>
            <a:endParaRPr lang="en-US" sz="750" dirty="0"/>
          </a:p>
        </p:txBody>
      </p:sp>
      <p:sp>
        <p:nvSpPr>
          <p:cNvPr id="35" name="Shape 27"/>
          <p:cNvSpPr/>
          <p:nvPr/>
        </p:nvSpPr>
        <p:spPr>
          <a:xfrm>
            <a:off x="182880" y="4956048"/>
            <a:ext cx="8961120" cy="182880"/>
          </a:xfrm>
          <a:prstGeom prst="rect">
            <a:avLst/>
          </a:prstGeom>
          <a:solidFill>
            <a:srgbClr val="C0392B"/>
          </a:solidFill>
          <a:ln w="12700">
            <a:solidFill>
              <a:srgbClr val="C0392B"/>
            </a:solidFill>
            <a:prstDash val="solid"/>
          </a:ln>
        </p:spPr>
      </p:sp>
      <p:sp>
        <p:nvSpPr>
          <p:cNvPr id="36" name="Text 28"/>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47 / 126</a:t>
            </a:r>
            <a:endParaRPr lang="en-US" sz="7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C0392B"/>
          </a:solidFill>
          <a:ln w="12700">
            <a:solidFill>
              <a:srgbClr val="C0392B"/>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Hito 4: Planificar la Implementación en el Proyecto</a:t>
            </a:r>
            <a:endParaRPr lang="en-US" sz="1800" dirty="0"/>
          </a:p>
        </p:txBody>
      </p:sp>
      <p:sp>
        <p:nvSpPr>
          <p:cNvPr id="4" name="Shape 2"/>
          <p:cNvSpPr/>
          <p:nvPr/>
        </p:nvSpPr>
        <p:spPr>
          <a:xfrm>
            <a:off x="320040" y="640080"/>
            <a:ext cx="8503920" cy="41148"/>
          </a:xfrm>
          <a:prstGeom prst="rect">
            <a:avLst/>
          </a:prstGeom>
          <a:solidFill>
            <a:srgbClr val="C0392B"/>
          </a:solidFill>
          <a:ln w="12700">
            <a:solidFill>
              <a:srgbClr val="C0392B"/>
            </a:solidFill>
            <a:prstDash val="solid"/>
          </a:ln>
        </p:spPr>
      </p:sp>
      <p:sp>
        <p:nvSpPr>
          <p:cNvPr id="5" name="Shape 3"/>
          <p:cNvSpPr/>
          <p:nvPr/>
        </p:nvSpPr>
        <p:spPr>
          <a:xfrm>
            <a:off x="320040" y="841248"/>
            <a:ext cx="8503920" cy="594360"/>
          </a:xfrm>
          <a:prstGeom prst="roundRect">
            <a:avLst>
              <a:gd name="adj" fmla="val 9231"/>
            </a:avLst>
          </a:prstGeom>
          <a:solidFill>
            <a:srgbClr val="F8F8FA"/>
          </a:solidFill>
          <a:ln w="15240">
            <a:solidFill>
              <a:srgbClr val="C0392B"/>
            </a:solidFill>
            <a:prstDash val="solid"/>
          </a:ln>
        </p:spPr>
      </p:sp>
      <p:sp>
        <p:nvSpPr>
          <p:cNvPr id="6" name="Shape 4"/>
          <p:cNvSpPr/>
          <p:nvPr/>
        </p:nvSpPr>
        <p:spPr>
          <a:xfrm>
            <a:off x="320040" y="841248"/>
            <a:ext cx="822960" cy="594360"/>
          </a:xfrm>
          <a:prstGeom prst="roundRect">
            <a:avLst>
              <a:gd name="adj" fmla="val 9231"/>
            </a:avLst>
          </a:prstGeom>
          <a:solidFill>
            <a:srgbClr val="C0392B"/>
          </a:solidFill>
          <a:ln w="12700">
            <a:solidFill>
              <a:srgbClr val="C0392B"/>
            </a:solidFill>
            <a:prstDash val="solid"/>
          </a:ln>
        </p:spPr>
      </p:sp>
      <p:sp>
        <p:nvSpPr>
          <p:cNvPr id="7" name="Text 5"/>
          <p:cNvSpPr/>
          <p:nvPr/>
        </p:nvSpPr>
        <p:spPr>
          <a:xfrm>
            <a:off x="320040" y="841248"/>
            <a:ext cx="822960" cy="594360"/>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Paso 1</a:t>
            </a:r>
            <a:endParaRPr lang="en-US" sz="750" dirty="0"/>
          </a:p>
        </p:txBody>
      </p:sp>
      <p:sp>
        <p:nvSpPr>
          <p:cNvPr id="8" name="Text 6"/>
          <p:cNvSpPr/>
          <p:nvPr/>
        </p:nvSpPr>
        <p:spPr>
          <a:xfrm>
            <a:off x="1207008" y="886968"/>
            <a:ext cx="7498080" cy="502920"/>
          </a:xfrm>
          <a:prstGeom prst="rect">
            <a:avLst/>
          </a:prstGeom>
          <a:noFill/>
          <a:ln/>
        </p:spPr>
        <p:txBody>
          <a:bodyPr wrap="square" rtlCol="0" anchor="ctr"/>
          <a:lstStyle/>
          <a:p>
            <a:pPr indent="0" marL="0">
              <a:buNone/>
            </a:pPr>
            <a:r>
              <a:rPr lang="en-US" sz="900" dirty="0">
                <a:solidFill>
                  <a:srgbClr val="1D1D1F"/>
                </a:solidFill>
                <a:latin typeface="Atkinson Hyperlegible" pitchFamily="34" charset="0"/>
                <a:ea typeface="Atkinson Hyperlegible" pitchFamily="34" charset="-122"/>
                <a:cs typeface="Atkinson Hyperlegible" pitchFamily="34" charset="-120"/>
              </a:rPr>
              <a:t>¿Cuáles de los 17 conceptos son relevantes para este proyecto?</a:t>
            </a:r>
            <a:endParaRPr lang="en-US" sz="900" dirty="0"/>
          </a:p>
        </p:txBody>
      </p:sp>
      <p:sp>
        <p:nvSpPr>
          <p:cNvPr id="9" name="Shape 7"/>
          <p:cNvSpPr/>
          <p:nvPr/>
        </p:nvSpPr>
        <p:spPr>
          <a:xfrm>
            <a:off x="320040" y="1499616"/>
            <a:ext cx="8503920" cy="594360"/>
          </a:xfrm>
          <a:prstGeom prst="roundRect">
            <a:avLst>
              <a:gd name="adj" fmla="val 9231"/>
            </a:avLst>
          </a:prstGeom>
          <a:solidFill>
            <a:srgbClr val="FFFFFF"/>
          </a:solidFill>
          <a:ln w="9525">
            <a:solidFill>
              <a:srgbClr val="E5E5EA"/>
            </a:solidFill>
            <a:prstDash val="solid"/>
          </a:ln>
        </p:spPr>
      </p:sp>
      <p:sp>
        <p:nvSpPr>
          <p:cNvPr id="10" name="Shape 8"/>
          <p:cNvSpPr/>
          <p:nvPr/>
        </p:nvSpPr>
        <p:spPr>
          <a:xfrm>
            <a:off x="320040" y="1499616"/>
            <a:ext cx="822960" cy="594360"/>
          </a:xfrm>
          <a:prstGeom prst="roundRect">
            <a:avLst>
              <a:gd name="adj" fmla="val 9231"/>
            </a:avLst>
          </a:prstGeom>
          <a:solidFill>
            <a:srgbClr val="C0392B"/>
          </a:solidFill>
          <a:ln w="12700">
            <a:solidFill>
              <a:srgbClr val="C0392B"/>
            </a:solidFill>
            <a:prstDash val="solid"/>
          </a:ln>
        </p:spPr>
      </p:sp>
      <p:sp>
        <p:nvSpPr>
          <p:cNvPr id="11" name="Text 9"/>
          <p:cNvSpPr/>
          <p:nvPr/>
        </p:nvSpPr>
        <p:spPr>
          <a:xfrm>
            <a:off x="320040" y="1499616"/>
            <a:ext cx="822960" cy="594360"/>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Paso 2</a:t>
            </a:r>
            <a:endParaRPr lang="en-US" sz="750" dirty="0"/>
          </a:p>
        </p:txBody>
      </p:sp>
      <p:sp>
        <p:nvSpPr>
          <p:cNvPr id="12" name="Text 10"/>
          <p:cNvSpPr/>
          <p:nvPr/>
        </p:nvSpPr>
        <p:spPr>
          <a:xfrm>
            <a:off x="1207008" y="1545336"/>
            <a:ext cx="7498080" cy="502920"/>
          </a:xfrm>
          <a:prstGeom prst="rect">
            <a:avLst/>
          </a:prstGeom>
          <a:noFill/>
          <a:ln/>
        </p:spPr>
        <p:txBody>
          <a:bodyPr wrap="square" rtlCol="0" anchor="ctr"/>
          <a:lstStyle/>
          <a:p>
            <a:pPr indent="0" marL="0">
              <a:buNone/>
            </a:pPr>
            <a:r>
              <a:rPr lang="en-US" sz="900" dirty="0">
                <a:solidFill>
                  <a:srgbClr val="1D1D1F"/>
                </a:solidFill>
                <a:latin typeface="Atkinson Hyperlegible" pitchFamily="34" charset="0"/>
                <a:ea typeface="Atkinson Hyperlegible" pitchFamily="34" charset="-122"/>
                <a:cs typeface="Atkinson Hyperlegible" pitchFamily="34" charset="-120"/>
              </a:rPr>
              <a:t>¿Qué hitos de constructabilidad se definirán en el cronograma?</a:t>
            </a:r>
            <a:endParaRPr lang="en-US" sz="900" dirty="0"/>
          </a:p>
        </p:txBody>
      </p:sp>
      <p:sp>
        <p:nvSpPr>
          <p:cNvPr id="13" name="Shape 11"/>
          <p:cNvSpPr/>
          <p:nvPr/>
        </p:nvSpPr>
        <p:spPr>
          <a:xfrm>
            <a:off x="320040" y="2157984"/>
            <a:ext cx="8503920" cy="594360"/>
          </a:xfrm>
          <a:prstGeom prst="roundRect">
            <a:avLst>
              <a:gd name="adj" fmla="val 9231"/>
            </a:avLst>
          </a:prstGeom>
          <a:solidFill>
            <a:srgbClr val="F8F8FA"/>
          </a:solidFill>
          <a:ln w="15240">
            <a:solidFill>
              <a:srgbClr val="C0392B"/>
            </a:solidFill>
            <a:prstDash val="solid"/>
          </a:ln>
        </p:spPr>
      </p:sp>
      <p:sp>
        <p:nvSpPr>
          <p:cNvPr id="14" name="Shape 12"/>
          <p:cNvSpPr/>
          <p:nvPr/>
        </p:nvSpPr>
        <p:spPr>
          <a:xfrm>
            <a:off x="320040" y="2157984"/>
            <a:ext cx="822960" cy="594360"/>
          </a:xfrm>
          <a:prstGeom prst="roundRect">
            <a:avLst>
              <a:gd name="adj" fmla="val 9231"/>
            </a:avLst>
          </a:prstGeom>
          <a:solidFill>
            <a:srgbClr val="C0392B"/>
          </a:solidFill>
          <a:ln w="12700">
            <a:solidFill>
              <a:srgbClr val="C0392B"/>
            </a:solidFill>
            <a:prstDash val="solid"/>
          </a:ln>
        </p:spPr>
      </p:sp>
      <p:sp>
        <p:nvSpPr>
          <p:cNvPr id="15" name="Text 13"/>
          <p:cNvSpPr/>
          <p:nvPr/>
        </p:nvSpPr>
        <p:spPr>
          <a:xfrm>
            <a:off x="320040" y="2157984"/>
            <a:ext cx="822960" cy="594360"/>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Paso 3</a:t>
            </a:r>
            <a:endParaRPr lang="en-US" sz="750" dirty="0"/>
          </a:p>
        </p:txBody>
      </p:sp>
      <p:sp>
        <p:nvSpPr>
          <p:cNvPr id="16" name="Text 14"/>
          <p:cNvSpPr/>
          <p:nvPr/>
        </p:nvSpPr>
        <p:spPr>
          <a:xfrm>
            <a:off x="1207008" y="2203704"/>
            <a:ext cx="7498080" cy="502920"/>
          </a:xfrm>
          <a:prstGeom prst="rect">
            <a:avLst/>
          </a:prstGeom>
          <a:noFill/>
          <a:ln/>
        </p:spPr>
        <p:txBody>
          <a:bodyPr wrap="square" rtlCol="0" anchor="ctr"/>
          <a:lstStyle/>
          <a:p>
            <a:pPr indent="0" marL="0">
              <a:buNone/>
            </a:pPr>
            <a:r>
              <a:rPr lang="en-US" sz="900" dirty="0">
                <a:solidFill>
                  <a:srgbClr val="1D1D1F"/>
                </a:solidFill>
                <a:latin typeface="Atkinson Hyperlegible" pitchFamily="34" charset="0"/>
                <a:ea typeface="Atkinson Hyperlegible" pitchFamily="34" charset="-122"/>
                <a:cs typeface="Atkinson Hyperlegible" pitchFamily="34" charset="-120"/>
              </a:rPr>
              <a:t>¿Qué talleres de revisión se programarán y con quién?</a:t>
            </a:r>
            <a:endParaRPr lang="en-US" sz="900" dirty="0"/>
          </a:p>
        </p:txBody>
      </p:sp>
      <p:sp>
        <p:nvSpPr>
          <p:cNvPr id="17" name="Shape 15"/>
          <p:cNvSpPr/>
          <p:nvPr/>
        </p:nvSpPr>
        <p:spPr>
          <a:xfrm>
            <a:off x="320040" y="2816352"/>
            <a:ext cx="8503920" cy="594360"/>
          </a:xfrm>
          <a:prstGeom prst="roundRect">
            <a:avLst>
              <a:gd name="adj" fmla="val 9231"/>
            </a:avLst>
          </a:prstGeom>
          <a:solidFill>
            <a:srgbClr val="FFFFFF"/>
          </a:solidFill>
          <a:ln w="9525">
            <a:solidFill>
              <a:srgbClr val="E5E5EA"/>
            </a:solidFill>
            <a:prstDash val="solid"/>
          </a:ln>
        </p:spPr>
      </p:sp>
      <p:sp>
        <p:nvSpPr>
          <p:cNvPr id="18" name="Shape 16"/>
          <p:cNvSpPr/>
          <p:nvPr/>
        </p:nvSpPr>
        <p:spPr>
          <a:xfrm>
            <a:off x="320040" y="2816352"/>
            <a:ext cx="822960" cy="594360"/>
          </a:xfrm>
          <a:prstGeom prst="roundRect">
            <a:avLst>
              <a:gd name="adj" fmla="val 9231"/>
            </a:avLst>
          </a:prstGeom>
          <a:solidFill>
            <a:srgbClr val="C0392B"/>
          </a:solidFill>
          <a:ln w="12700">
            <a:solidFill>
              <a:srgbClr val="C0392B"/>
            </a:solidFill>
            <a:prstDash val="solid"/>
          </a:ln>
        </p:spPr>
      </p:sp>
      <p:sp>
        <p:nvSpPr>
          <p:cNvPr id="19" name="Text 17"/>
          <p:cNvSpPr/>
          <p:nvPr/>
        </p:nvSpPr>
        <p:spPr>
          <a:xfrm>
            <a:off x="320040" y="2816352"/>
            <a:ext cx="822960" cy="594360"/>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Paso 4</a:t>
            </a:r>
            <a:endParaRPr lang="en-US" sz="750" dirty="0"/>
          </a:p>
        </p:txBody>
      </p:sp>
      <p:sp>
        <p:nvSpPr>
          <p:cNvPr id="20" name="Text 18"/>
          <p:cNvSpPr/>
          <p:nvPr/>
        </p:nvSpPr>
        <p:spPr>
          <a:xfrm>
            <a:off x="1207008" y="2862072"/>
            <a:ext cx="7498080" cy="502920"/>
          </a:xfrm>
          <a:prstGeom prst="rect">
            <a:avLst/>
          </a:prstGeom>
          <a:noFill/>
          <a:ln/>
        </p:spPr>
        <p:txBody>
          <a:bodyPr wrap="square" rtlCol="0" anchor="ctr"/>
          <a:lstStyle/>
          <a:p>
            <a:pPr indent="0" marL="0">
              <a:buNone/>
            </a:pPr>
            <a:r>
              <a:rPr lang="en-US" sz="900" dirty="0">
                <a:solidFill>
                  <a:srgbClr val="1D1D1F"/>
                </a:solidFill>
                <a:latin typeface="Atkinson Hyperlegible" pitchFamily="34" charset="0"/>
                <a:ea typeface="Atkinson Hyperlegible" pitchFamily="34" charset="-122"/>
                <a:cs typeface="Atkinson Hyperlegible" pitchFamily="34" charset="-120"/>
              </a:rPr>
              <a:t>¿Qué recursos (tiempo, budget) necesita el Champion?</a:t>
            </a:r>
            <a:endParaRPr lang="en-US" sz="900" dirty="0"/>
          </a:p>
        </p:txBody>
      </p:sp>
      <p:sp>
        <p:nvSpPr>
          <p:cNvPr id="21" name="Shape 19"/>
          <p:cNvSpPr/>
          <p:nvPr/>
        </p:nvSpPr>
        <p:spPr>
          <a:xfrm>
            <a:off x="320040" y="3474720"/>
            <a:ext cx="8503920" cy="594360"/>
          </a:xfrm>
          <a:prstGeom prst="roundRect">
            <a:avLst>
              <a:gd name="adj" fmla="val 9231"/>
            </a:avLst>
          </a:prstGeom>
          <a:solidFill>
            <a:srgbClr val="F8F8FA"/>
          </a:solidFill>
          <a:ln w="15240">
            <a:solidFill>
              <a:srgbClr val="C0392B"/>
            </a:solidFill>
            <a:prstDash val="solid"/>
          </a:ln>
        </p:spPr>
      </p:sp>
      <p:sp>
        <p:nvSpPr>
          <p:cNvPr id="22" name="Shape 20"/>
          <p:cNvSpPr/>
          <p:nvPr/>
        </p:nvSpPr>
        <p:spPr>
          <a:xfrm>
            <a:off x="320040" y="3474720"/>
            <a:ext cx="822960" cy="594360"/>
          </a:xfrm>
          <a:prstGeom prst="roundRect">
            <a:avLst>
              <a:gd name="adj" fmla="val 9231"/>
            </a:avLst>
          </a:prstGeom>
          <a:solidFill>
            <a:srgbClr val="C0392B"/>
          </a:solidFill>
          <a:ln w="12700">
            <a:solidFill>
              <a:srgbClr val="C0392B"/>
            </a:solidFill>
            <a:prstDash val="solid"/>
          </a:ln>
        </p:spPr>
      </p:sp>
      <p:sp>
        <p:nvSpPr>
          <p:cNvPr id="23" name="Text 21"/>
          <p:cNvSpPr/>
          <p:nvPr/>
        </p:nvSpPr>
        <p:spPr>
          <a:xfrm>
            <a:off x="320040" y="3474720"/>
            <a:ext cx="822960" cy="594360"/>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Paso 5</a:t>
            </a:r>
            <a:endParaRPr lang="en-US" sz="750" dirty="0"/>
          </a:p>
        </p:txBody>
      </p:sp>
      <p:sp>
        <p:nvSpPr>
          <p:cNvPr id="24" name="Text 22"/>
          <p:cNvSpPr/>
          <p:nvPr/>
        </p:nvSpPr>
        <p:spPr>
          <a:xfrm>
            <a:off x="1207008" y="3520440"/>
            <a:ext cx="7498080" cy="502920"/>
          </a:xfrm>
          <a:prstGeom prst="rect">
            <a:avLst/>
          </a:prstGeom>
          <a:noFill/>
          <a:ln/>
        </p:spPr>
        <p:txBody>
          <a:bodyPr wrap="square" rtlCol="0" anchor="ctr"/>
          <a:lstStyle/>
          <a:p>
            <a:pPr indent="0" marL="0">
              <a:buNone/>
            </a:pPr>
            <a:r>
              <a:rPr lang="en-US" sz="900" dirty="0">
                <a:solidFill>
                  <a:srgbClr val="1D1D1F"/>
                </a:solidFill>
                <a:latin typeface="Atkinson Hyperlegible" pitchFamily="34" charset="0"/>
                <a:ea typeface="Atkinson Hyperlegible" pitchFamily="34" charset="-122"/>
                <a:cs typeface="Atkinson Hyperlegible" pitchFamily="34" charset="-120"/>
              </a:rPr>
              <a:t>¿Cómo se medirá el desempeño del programa en este proyecto?</a:t>
            </a:r>
            <a:endParaRPr lang="en-US" sz="900" dirty="0"/>
          </a:p>
        </p:txBody>
      </p:sp>
      <p:sp>
        <p:nvSpPr>
          <p:cNvPr id="25" name="Shape 23"/>
          <p:cNvSpPr/>
          <p:nvPr/>
        </p:nvSpPr>
        <p:spPr>
          <a:xfrm>
            <a:off x="320040" y="4133088"/>
            <a:ext cx="8503920" cy="594360"/>
          </a:xfrm>
          <a:prstGeom prst="roundRect">
            <a:avLst>
              <a:gd name="adj" fmla="val 9231"/>
            </a:avLst>
          </a:prstGeom>
          <a:solidFill>
            <a:srgbClr val="FFFFFF"/>
          </a:solidFill>
          <a:ln w="9525">
            <a:solidFill>
              <a:srgbClr val="E5E5EA"/>
            </a:solidFill>
            <a:prstDash val="solid"/>
          </a:ln>
        </p:spPr>
      </p:sp>
      <p:sp>
        <p:nvSpPr>
          <p:cNvPr id="26" name="Shape 24"/>
          <p:cNvSpPr/>
          <p:nvPr/>
        </p:nvSpPr>
        <p:spPr>
          <a:xfrm>
            <a:off x="320040" y="4133088"/>
            <a:ext cx="822960" cy="594360"/>
          </a:xfrm>
          <a:prstGeom prst="roundRect">
            <a:avLst>
              <a:gd name="adj" fmla="val 9231"/>
            </a:avLst>
          </a:prstGeom>
          <a:solidFill>
            <a:srgbClr val="C0392B"/>
          </a:solidFill>
          <a:ln w="12700">
            <a:solidFill>
              <a:srgbClr val="C0392B"/>
            </a:solidFill>
            <a:prstDash val="solid"/>
          </a:ln>
        </p:spPr>
      </p:sp>
      <p:sp>
        <p:nvSpPr>
          <p:cNvPr id="27" name="Text 25"/>
          <p:cNvSpPr/>
          <p:nvPr/>
        </p:nvSpPr>
        <p:spPr>
          <a:xfrm>
            <a:off x="320040" y="4133088"/>
            <a:ext cx="822960" cy="594360"/>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Paso 6</a:t>
            </a:r>
            <a:endParaRPr lang="en-US" sz="750" dirty="0"/>
          </a:p>
        </p:txBody>
      </p:sp>
      <p:sp>
        <p:nvSpPr>
          <p:cNvPr id="28" name="Text 26"/>
          <p:cNvSpPr/>
          <p:nvPr/>
        </p:nvSpPr>
        <p:spPr>
          <a:xfrm>
            <a:off x="1207008" y="4178808"/>
            <a:ext cx="7498080" cy="502920"/>
          </a:xfrm>
          <a:prstGeom prst="rect">
            <a:avLst/>
          </a:prstGeom>
          <a:noFill/>
          <a:ln/>
        </p:spPr>
        <p:txBody>
          <a:bodyPr wrap="square" rtlCol="0" anchor="ctr"/>
          <a:lstStyle/>
          <a:p>
            <a:pPr indent="0" marL="0">
              <a:buNone/>
            </a:pPr>
            <a:r>
              <a:rPr lang="en-US" sz="900" dirty="0">
                <a:solidFill>
                  <a:srgbClr val="1D1D1F"/>
                </a:solidFill>
                <a:latin typeface="Atkinson Hyperlegible" pitchFamily="34" charset="0"/>
                <a:ea typeface="Atkinson Hyperlegible" pitchFamily="34" charset="-122"/>
                <a:cs typeface="Atkinson Hyperlegible" pitchFamily="34" charset="-120"/>
              </a:rPr>
              <a:t>¿Cómo se integra con el plan Lean/AWP del proyecto?</a:t>
            </a:r>
            <a:endParaRPr lang="en-US" sz="900" dirty="0"/>
          </a:p>
        </p:txBody>
      </p:sp>
      <p:sp>
        <p:nvSpPr>
          <p:cNvPr id="29" name="Shape 27"/>
          <p:cNvSpPr/>
          <p:nvPr/>
        </p:nvSpPr>
        <p:spPr>
          <a:xfrm>
            <a:off x="182880" y="4956048"/>
            <a:ext cx="8961120" cy="182880"/>
          </a:xfrm>
          <a:prstGeom prst="rect">
            <a:avLst/>
          </a:prstGeom>
          <a:solidFill>
            <a:srgbClr val="C0392B"/>
          </a:solidFill>
          <a:ln w="12700">
            <a:solidFill>
              <a:srgbClr val="C0392B"/>
            </a:solidFill>
            <a:prstDash val="solid"/>
          </a:ln>
        </p:spPr>
      </p:sp>
      <p:sp>
        <p:nvSpPr>
          <p:cNvPr id="30" name="Text 28"/>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48 / 126</a:t>
            </a:r>
            <a:endParaRPr lang="en-US" sz="7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C0392B"/>
          </a:solidFill>
          <a:ln w="12700">
            <a:solidFill>
              <a:srgbClr val="C0392B"/>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Hito 5: Implementar — Herramientas Operativas</a:t>
            </a:r>
            <a:endParaRPr lang="en-US" sz="1800" dirty="0"/>
          </a:p>
        </p:txBody>
      </p:sp>
      <p:sp>
        <p:nvSpPr>
          <p:cNvPr id="4" name="Shape 2"/>
          <p:cNvSpPr/>
          <p:nvPr/>
        </p:nvSpPr>
        <p:spPr>
          <a:xfrm>
            <a:off x="320040" y="640080"/>
            <a:ext cx="8503920" cy="41148"/>
          </a:xfrm>
          <a:prstGeom prst="rect">
            <a:avLst/>
          </a:prstGeom>
          <a:solidFill>
            <a:srgbClr val="C0392B"/>
          </a:solidFill>
          <a:ln w="12700">
            <a:solidFill>
              <a:srgbClr val="C0392B"/>
            </a:solidFill>
            <a:prstDash val="solid"/>
          </a:ln>
        </p:spPr>
      </p:sp>
      <p:sp>
        <p:nvSpPr>
          <p:cNvPr id="5" name="Shape 3"/>
          <p:cNvSpPr/>
          <p:nvPr/>
        </p:nvSpPr>
        <p:spPr>
          <a:xfrm>
            <a:off x="320040" y="804672"/>
            <a:ext cx="2724912" cy="1943100"/>
          </a:xfrm>
          <a:prstGeom prst="roundRect">
            <a:avLst>
              <a:gd name="adj" fmla="val 4235"/>
            </a:avLst>
          </a:prstGeom>
          <a:solidFill>
            <a:srgbClr val="C0392B"/>
          </a:solidFill>
          <a:ln w="19050">
            <a:solidFill>
              <a:srgbClr val="C0392B"/>
            </a:solidFill>
            <a:prstDash val="solid"/>
          </a:ln>
        </p:spPr>
      </p:sp>
      <p:sp>
        <p:nvSpPr>
          <p:cNvPr id="6" name="Shape 4"/>
          <p:cNvSpPr/>
          <p:nvPr/>
        </p:nvSpPr>
        <p:spPr>
          <a:xfrm>
            <a:off x="320040" y="804672"/>
            <a:ext cx="2724912" cy="54864"/>
          </a:xfrm>
          <a:prstGeom prst="rect">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8056" y="932688"/>
            <a:ext cx="365760" cy="365760"/>
          </a:xfrm>
          <a:prstGeom prst="rect">
            <a:avLst/>
          </a:prstGeom>
        </p:spPr>
      </p:pic>
      <p:sp>
        <p:nvSpPr>
          <p:cNvPr id="8" name="Text 5"/>
          <p:cNvSpPr/>
          <p:nvPr/>
        </p:nvSpPr>
        <p:spPr>
          <a:xfrm>
            <a:off x="868680"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Revisión Temprana (T-4)</a:t>
            </a:r>
            <a:endParaRPr lang="en-US" sz="850" dirty="0"/>
          </a:p>
        </p:txBody>
      </p:sp>
      <p:sp>
        <p:nvSpPr>
          <p:cNvPr id="9" name="Text 6"/>
          <p:cNvSpPr/>
          <p:nvPr/>
        </p:nvSpPr>
        <p:spPr>
          <a:xfrm>
            <a:off x="429768"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Sesión en Factibilidad/Ingeniería Conceptual. Identifica las oportunidades de mayor impacto.</a:t>
            </a:r>
            <a:endParaRPr lang="en-US" sz="750" dirty="0"/>
          </a:p>
        </p:txBody>
      </p:sp>
      <p:sp>
        <p:nvSpPr>
          <p:cNvPr id="10" name="Shape 7"/>
          <p:cNvSpPr/>
          <p:nvPr/>
        </p:nvSpPr>
        <p:spPr>
          <a:xfrm>
            <a:off x="3209544" y="804672"/>
            <a:ext cx="2724912" cy="1943100"/>
          </a:xfrm>
          <a:prstGeom prst="roundRect">
            <a:avLst>
              <a:gd name="adj" fmla="val 4235"/>
            </a:avLst>
          </a:prstGeom>
          <a:solidFill>
            <a:srgbClr val="FFFFFF"/>
          </a:solidFill>
          <a:ln w="19050">
            <a:solidFill>
              <a:srgbClr val="C0392B"/>
            </a:solidFill>
            <a:prstDash val="solid"/>
          </a:ln>
        </p:spPr>
      </p:sp>
      <p:sp>
        <p:nvSpPr>
          <p:cNvPr id="11" name="Shape 8"/>
          <p:cNvSpPr/>
          <p:nvPr/>
        </p:nvSpPr>
        <p:spPr>
          <a:xfrm>
            <a:off x="3209544" y="804672"/>
            <a:ext cx="2724912" cy="54864"/>
          </a:xfrm>
          <a:prstGeom prst="rect">
            <a:avLst/>
          </a:prstGeom>
          <a:solidFill>
            <a:srgbClr val="C0392B"/>
          </a:solidFill>
          <a:ln w="12700">
            <a:solidFill>
              <a:srgbClr val="C0392B"/>
            </a:solidFill>
            <a:prstDash val="solid"/>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37560" y="932688"/>
            <a:ext cx="365760" cy="365760"/>
          </a:xfrm>
          <a:prstGeom prst="rect">
            <a:avLst/>
          </a:prstGeom>
        </p:spPr>
      </p:pic>
      <p:sp>
        <p:nvSpPr>
          <p:cNvPr id="13" name="Text 9"/>
          <p:cNvSpPr/>
          <p:nvPr/>
        </p:nvSpPr>
        <p:spPr>
          <a:xfrm>
            <a:off x="3758184" y="914400"/>
            <a:ext cx="2066544" cy="347472"/>
          </a:xfrm>
          <a:prstGeom prst="rect">
            <a:avLst/>
          </a:prstGeom>
          <a:noFill/>
          <a:ln/>
        </p:spPr>
        <p:txBody>
          <a:bodyPr wrap="square" rtlCol="0" anchor="ctr"/>
          <a:lstStyle/>
          <a:p>
            <a:pPr indent="0" marL="0">
              <a:buNone/>
            </a:pPr>
            <a:r>
              <a:rPr lang="en-US" sz="850" b="1" dirty="0">
                <a:solidFill>
                  <a:srgbClr val="C0392B"/>
                </a:solidFill>
                <a:latin typeface="Atkinson Hyperlegible" pitchFamily="34" charset="0"/>
                <a:ea typeface="Atkinson Hyperlegible" pitchFamily="34" charset="-122"/>
                <a:cs typeface="Atkinson Hyperlegible" pitchFamily="34" charset="-120"/>
              </a:rPr>
              <a:t>Taller Integrado (T-5)</a:t>
            </a:r>
            <a:endParaRPr lang="en-US" sz="850" dirty="0"/>
          </a:p>
        </p:txBody>
      </p:sp>
      <p:sp>
        <p:nvSpPr>
          <p:cNvPr id="14" name="Text 10"/>
          <p:cNvSpPr/>
          <p:nvPr/>
        </p:nvSpPr>
        <p:spPr>
          <a:xfrm>
            <a:off x="3319272" y="131673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Sesión estructurada con diseñadores y constructores. Produce ideas de constructabilidad documentadas.</a:t>
            </a:r>
            <a:endParaRPr lang="en-US" sz="750" dirty="0"/>
          </a:p>
        </p:txBody>
      </p:sp>
      <p:sp>
        <p:nvSpPr>
          <p:cNvPr id="15" name="Shape 11"/>
          <p:cNvSpPr/>
          <p:nvPr/>
        </p:nvSpPr>
        <p:spPr>
          <a:xfrm>
            <a:off x="6099048" y="804672"/>
            <a:ext cx="2724912" cy="1943100"/>
          </a:xfrm>
          <a:prstGeom prst="roundRect">
            <a:avLst>
              <a:gd name="adj" fmla="val 4235"/>
            </a:avLst>
          </a:prstGeom>
          <a:solidFill>
            <a:srgbClr val="C0392B"/>
          </a:solidFill>
          <a:ln w="19050">
            <a:solidFill>
              <a:srgbClr val="C0392B"/>
            </a:solidFill>
            <a:prstDash val="solid"/>
          </a:ln>
        </p:spPr>
      </p:sp>
      <p:sp>
        <p:nvSpPr>
          <p:cNvPr id="16" name="Shape 12"/>
          <p:cNvSpPr/>
          <p:nvPr/>
        </p:nvSpPr>
        <p:spPr>
          <a:xfrm>
            <a:off x="6099048" y="804672"/>
            <a:ext cx="2724912" cy="54864"/>
          </a:xfrm>
          <a:prstGeom prst="rect">
            <a:avLst/>
          </a:prstGeom>
          <a:solidFill>
            <a:srgbClr val="FFFFFF"/>
          </a:solidFill>
          <a:ln w="12700">
            <a:solidFill>
              <a:srgbClr val="FFFFFF"/>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27064" y="932688"/>
            <a:ext cx="365760" cy="365760"/>
          </a:xfrm>
          <a:prstGeom prst="rect">
            <a:avLst/>
          </a:prstGeom>
        </p:spPr>
      </p:pic>
      <p:sp>
        <p:nvSpPr>
          <p:cNvPr id="18" name="Text 13"/>
          <p:cNvSpPr/>
          <p:nvPr/>
        </p:nvSpPr>
        <p:spPr>
          <a:xfrm>
            <a:off x="6647688"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Evaluación del Programa (T-3)</a:t>
            </a:r>
            <a:endParaRPr lang="en-US" sz="850" dirty="0"/>
          </a:p>
        </p:txBody>
      </p:sp>
      <p:sp>
        <p:nvSpPr>
          <p:cNvPr id="19" name="Text 14"/>
          <p:cNvSpPr/>
          <p:nvPr/>
        </p:nvSpPr>
        <p:spPr>
          <a:xfrm>
            <a:off x="6208776"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Evalúa madurez del programa en 5 áreas CII: compromiso, conocimiento, herramientas, proceso, métricas.</a:t>
            </a:r>
            <a:endParaRPr lang="en-US" sz="750" dirty="0"/>
          </a:p>
        </p:txBody>
      </p:sp>
      <p:sp>
        <p:nvSpPr>
          <p:cNvPr id="20" name="Shape 15"/>
          <p:cNvSpPr/>
          <p:nvPr/>
        </p:nvSpPr>
        <p:spPr>
          <a:xfrm>
            <a:off x="320040" y="2884932"/>
            <a:ext cx="2724912" cy="1943100"/>
          </a:xfrm>
          <a:prstGeom prst="roundRect">
            <a:avLst>
              <a:gd name="adj" fmla="val 4235"/>
            </a:avLst>
          </a:prstGeom>
          <a:solidFill>
            <a:srgbClr val="FFFFFF"/>
          </a:solidFill>
          <a:ln w="19050">
            <a:solidFill>
              <a:srgbClr val="C0392B"/>
            </a:solidFill>
            <a:prstDash val="solid"/>
          </a:ln>
        </p:spPr>
      </p:sp>
      <p:sp>
        <p:nvSpPr>
          <p:cNvPr id="21" name="Shape 16"/>
          <p:cNvSpPr/>
          <p:nvPr/>
        </p:nvSpPr>
        <p:spPr>
          <a:xfrm>
            <a:off x="320040" y="2884932"/>
            <a:ext cx="2724912" cy="54864"/>
          </a:xfrm>
          <a:prstGeom prst="rect">
            <a:avLst/>
          </a:prstGeom>
          <a:solidFill>
            <a:srgbClr val="C0392B"/>
          </a:solidFill>
          <a:ln w="12700">
            <a:solidFill>
              <a:srgbClr val="C0392B"/>
            </a:solidFill>
            <a:prstDash val="solid"/>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8056" y="3012948"/>
            <a:ext cx="365760" cy="365760"/>
          </a:xfrm>
          <a:prstGeom prst="rect">
            <a:avLst/>
          </a:prstGeom>
        </p:spPr>
      </p:pic>
      <p:sp>
        <p:nvSpPr>
          <p:cNvPr id="23" name="Text 17"/>
          <p:cNvSpPr/>
          <p:nvPr/>
        </p:nvSpPr>
        <p:spPr>
          <a:xfrm>
            <a:off x="868680" y="2994660"/>
            <a:ext cx="2066544" cy="347472"/>
          </a:xfrm>
          <a:prstGeom prst="rect">
            <a:avLst/>
          </a:prstGeom>
          <a:noFill/>
          <a:ln/>
        </p:spPr>
        <p:txBody>
          <a:bodyPr wrap="square" rtlCol="0" anchor="ctr"/>
          <a:lstStyle/>
          <a:p>
            <a:pPr indent="0" marL="0">
              <a:buNone/>
            </a:pPr>
            <a:r>
              <a:rPr lang="en-US" sz="850" b="1" dirty="0">
                <a:solidFill>
                  <a:srgbClr val="C0392B"/>
                </a:solidFill>
                <a:latin typeface="Atkinson Hyperlegible" pitchFamily="34" charset="0"/>
                <a:ea typeface="Atkinson Hyperlegible" pitchFamily="34" charset="-122"/>
                <a:cs typeface="Atkinson Hyperlegible" pitchFamily="34" charset="-120"/>
              </a:rPr>
              <a:t>Rompedores de Barreras (T-6)</a:t>
            </a:r>
            <a:endParaRPr lang="en-US" sz="850" dirty="0"/>
          </a:p>
        </p:txBody>
      </p:sp>
      <p:sp>
        <p:nvSpPr>
          <p:cNvPr id="24" name="Text 18"/>
          <p:cNvSpPr/>
          <p:nvPr/>
        </p:nvSpPr>
        <p:spPr>
          <a:xfrm>
            <a:off x="429768"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Estrategias para las barreras más comunes identificadas en la investigación CII.</a:t>
            </a:r>
            <a:endParaRPr lang="en-US" sz="750" dirty="0"/>
          </a:p>
        </p:txBody>
      </p:sp>
      <p:sp>
        <p:nvSpPr>
          <p:cNvPr id="25" name="Shape 19"/>
          <p:cNvSpPr/>
          <p:nvPr/>
        </p:nvSpPr>
        <p:spPr>
          <a:xfrm>
            <a:off x="3209544" y="2884932"/>
            <a:ext cx="2724912" cy="1943100"/>
          </a:xfrm>
          <a:prstGeom prst="roundRect">
            <a:avLst>
              <a:gd name="adj" fmla="val 4235"/>
            </a:avLst>
          </a:prstGeom>
          <a:solidFill>
            <a:srgbClr val="C0392B"/>
          </a:solidFill>
          <a:ln w="19050">
            <a:solidFill>
              <a:srgbClr val="C0392B"/>
            </a:solidFill>
            <a:prstDash val="solid"/>
          </a:ln>
        </p:spPr>
      </p:sp>
      <p:sp>
        <p:nvSpPr>
          <p:cNvPr id="26" name="Shape 20"/>
          <p:cNvSpPr/>
          <p:nvPr/>
        </p:nvSpPr>
        <p:spPr>
          <a:xfrm>
            <a:off x="3209544" y="2884932"/>
            <a:ext cx="2724912" cy="54864"/>
          </a:xfrm>
          <a:prstGeom prst="rect">
            <a:avLst/>
          </a:prstGeom>
          <a:solidFill>
            <a:srgbClr val="FFFFFF"/>
          </a:solidFill>
          <a:ln w="12700">
            <a:solidFill>
              <a:srgbClr val="FFFFFF"/>
            </a:solidFill>
            <a:prstDash val="solid"/>
          </a:ln>
        </p:spPr>
      </p:sp>
      <p:pic>
        <p:nvPicPr>
          <p:cNvPr id="2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37560" y="3012948"/>
            <a:ext cx="365760" cy="365760"/>
          </a:xfrm>
          <a:prstGeom prst="rect">
            <a:avLst/>
          </a:prstGeom>
        </p:spPr>
      </p:pic>
      <p:sp>
        <p:nvSpPr>
          <p:cNvPr id="28" name="Text 21"/>
          <p:cNvSpPr/>
          <p:nvPr/>
        </p:nvSpPr>
        <p:spPr>
          <a:xfrm>
            <a:off x="3758184" y="299466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Cláusulas Contractuales (T-16)</a:t>
            </a:r>
            <a:endParaRPr lang="en-US" sz="850" dirty="0"/>
          </a:p>
        </p:txBody>
      </p:sp>
      <p:sp>
        <p:nvSpPr>
          <p:cNvPr id="29" name="Text 22"/>
          <p:cNvSpPr/>
          <p:nvPr/>
        </p:nvSpPr>
        <p:spPr>
          <a:xfrm>
            <a:off x="3319272" y="339699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Modelo de cláusulas contractuales que formalizan los requerimientos de constructabilidad en EPC/EPCM.</a:t>
            </a:r>
            <a:endParaRPr lang="en-US" sz="750" dirty="0"/>
          </a:p>
        </p:txBody>
      </p:sp>
      <p:sp>
        <p:nvSpPr>
          <p:cNvPr id="30" name="Shape 23"/>
          <p:cNvSpPr/>
          <p:nvPr/>
        </p:nvSpPr>
        <p:spPr>
          <a:xfrm>
            <a:off x="6099048" y="2884932"/>
            <a:ext cx="2724912" cy="1943100"/>
          </a:xfrm>
          <a:prstGeom prst="roundRect">
            <a:avLst>
              <a:gd name="adj" fmla="val 4235"/>
            </a:avLst>
          </a:prstGeom>
          <a:solidFill>
            <a:srgbClr val="FFFFFF"/>
          </a:solidFill>
          <a:ln w="19050">
            <a:solidFill>
              <a:srgbClr val="C0392B"/>
            </a:solidFill>
            <a:prstDash val="solid"/>
          </a:ln>
        </p:spPr>
      </p:sp>
      <p:sp>
        <p:nvSpPr>
          <p:cNvPr id="31" name="Shape 24"/>
          <p:cNvSpPr/>
          <p:nvPr/>
        </p:nvSpPr>
        <p:spPr>
          <a:xfrm>
            <a:off x="6099048" y="2884932"/>
            <a:ext cx="2724912" cy="54864"/>
          </a:xfrm>
          <a:prstGeom prst="rect">
            <a:avLst/>
          </a:prstGeom>
          <a:solidFill>
            <a:srgbClr val="C0392B"/>
          </a:solidFill>
          <a:ln w="12700">
            <a:solidFill>
              <a:srgbClr val="C0392B"/>
            </a:solidFill>
            <a:prstDash val="solid"/>
          </a:ln>
        </p:spPr>
      </p:sp>
      <p:pic>
        <p:nvPicPr>
          <p:cNvPr id="3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27064" y="3012948"/>
            <a:ext cx="365760" cy="365760"/>
          </a:xfrm>
          <a:prstGeom prst="rect">
            <a:avLst/>
          </a:prstGeom>
        </p:spPr>
      </p:pic>
      <p:sp>
        <p:nvSpPr>
          <p:cNvPr id="33" name="Text 25"/>
          <p:cNvSpPr/>
          <p:nvPr/>
        </p:nvSpPr>
        <p:spPr>
          <a:xfrm>
            <a:off x="6647688" y="2994660"/>
            <a:ext cx="2066544" cy="347472"/>
          </a:xfrm>
          <a:prstGeom prst="rect">
            <a:avLst/>
          </a:prstGeom>
          <a:noFill/>
          <a:ln/>
        </p:spPr>
        <p:txBody>
          <a:bodyPr wrap="square" rtlCol="0" anchor="ctr"/>
          <a:lstStyle/>
          <a:p>
            <a:pPr indent="0" marL="0">
              <a:buNone/>
            </a:pPr>
            <a:r>
              <a:rPr lang="en-US" sz="850" b="1" dirty="0">
                <a:solidFill>
                  <a:srgbClr val="C0392B"/>
                </a:solidFill>
                <a:latin typeface="Atkinson Hyperlegible" pitchFamily="34" charset="0"/>
                <a:ea typeface="Atkinson Hyperlegible" pitchFamily="34" charset="-122"/>
                <a:cs typeface="Atkinson Hyperlegible" pitchFamily="34" charset="-120"/>
              </a:rPr>
              <a:t>Matrices de Aplicación (T-18)</a:t>
            </a:r>
            <a:endParaRPr lang="en-US" sz="850" dirty="0"/>
          </a:p>
        </p:txBody>
      </p:sp>
      <p:sp>
        <p:nvSpPr>
          <p:cNvPr id="34" name="Text 26"/>
          <p:cNvSpPr/>
          <p:nvPr/>
        </p:nvSpPr>
        <p:spPr>
          <a:xfrm>
            <a:off x="6208776"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Evalúa la relevancia de cada concepto según tipo de proyecto, fase y características específicas.</a:t>
            </a:r>
            <a:endParaRPr lang="en-US" sz="750" dirty="0"/>
          </a:p>
        </p:txBody>
      </p:sp>
      <p:sp>
        <p:nvSpPr>
          <p:cNvPr id="35" name="Shape 27"/>
          <p:cNvSpPr/>
          <p:nvPr/>
        </p:nvSpPr>
        <p:spPr>
          <a:xfrm>
            <a:off x="182880" y="4956048"/>
            <a:ext cx="8961120" cy="182880"/>
          </a:xfrm>
          <a:prstGeom prst="rect">
            <a:avLst/>
          </a:prstGeom>
          <a:solidFill>
            <a:srgbClr val="C0392B"/>
          </a:solidFill>
          <a:ln w="12700">
            <a:solidFill>
              <a:srgbClr val="C0392B"/>
            </a:solidFill>
            <a:prstDash val="solid"/>
          </a:ln>
        </p:spPr>
      </p:sp>
      <p:sp>
        <p:nvSpPr>
          <p:cNvPr id="36" name="Text 28"/>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49 / 126</a:t>
            </a:r>
            <a:endParaRPr lang="en-US" sz="7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C0392B"/>
          </a:solidFill>
          <a:ln w="12700">
            <a:solidFill>
              <a:srgbClr val="C0392B"/>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Hito 6: Medir el Desempeño del Programa</a:t>
            </a:r>
            <a:endParaRPr lang="en-US" sz="1800" dirty="0"/>
          </a:p>
        </p:txBody>
      </p:sp>
      <p:sp>
        <p:nvSpPr>
          <p:cNvPr id="4" name="Shape 2"/>
          <p:cNvSpPr/>
          <p:nvPr/>
        </p:nvSpPr>
        <p:spPr>
          <a:xfrm>
            <a:off x="320040" y="640080"/>
            <a:ext cx="8503920" cy="41148"/>
          </a:xfrm>
          <a:prstGeom prst="rect">
            <a:avLst/>
          </a:prstGeom>
          <a:solidFill>
            <a:srgbClr val="C0392B"/>
          </a:solidFill>
          <a:ln w="12700">
            <a:solidFill>
              <a:srgbClr val="C0392B"/>
            </a:solidFill>
            <a:prstDash val="solid"/>
          </a:ln>
        </p:spPr>
      </p:sp>
      <p:sp>
        <p:nvSpPr>
          <p:cNvPr id="5" name="Shape 3"/>
          <p:cNvSpPr/>
          <p:nvPr/>
        </p:nvSpPr>
        <p:spPr>
          <a:xfrm>
            <a:off x="320040" y="841248"/>
            <a:ext cx="2011680" cy="3913632"/>
          </a:xfrm>
          <a:prstGeom prst="roundRect">
            <a:avLst>
              <a:gd name="adj" fmla="val 4545"/>
            </a:avLst>
          </a:prstGeom>
          <a:solidFill>
            <a:srgbClr val="FFFFFF"/>
          </a:solidFill>
          <a:ln w="19050">
            <a:solidFill>
              <a:srgbClr val="C0392B"/>
            </a:solidFill>
            <a:prstDash val="solid"/>
          </a:ln>
        </p:spPr>
      </p:sp>
      <p:sp>
        <p:nvSpPr>
          <p:cNvPr id="6" name="Shape 4"/>
          <p:cNvSpPr/>
          <p:nvPr/>
        </p:nvSpPr>
        <p:spPr>
          <a:xfrm>
            <a:off x="320040" y="841248"/>
            <a:ext cx="2011680" cy="64008"/>
          </a:xfrm>
          <a:prstGeom prst="rect">
            <a:avLst/>
          </a:prstGeom>
          <a:solidFill>
            <a:srgbClr val="C0392B"/>
          </a:solidFill>
          <a:ln w="12700">
            <a:solidFill>
              <a:srgbClr val="C0392B"/>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4400" y="1005840"/>
            <a:ext cx="640080" cy="640080"/>
          </a:xfrm>
          <a:prstGeom prst="rect">
            <a:avLst/>
          </a:prstGeom>
        </p:spPr>
      </p:pic>
      <p:sp>
        <p:nvSpPr>
          <p:cNvPr id="8" name="Text 5"/>
          <p:cNvSpPr/>
          <p:nvPr/>
        </p:nvSpPr>
        <p:spPr>
          <a:xfrm>
            <a:off x="411480" y="1719072"/>
            <a:ext cx="1828800" cy="502920"/>
          </a:xfrm>
          <a:prstGeom prst="rect">
            <a:avLst/>
          </a:prstGeom>
          <a:noFill/>
          <a:ln/>
        </p:spPr>
        <p:txBody>
          <a:bodyPr wrap="square" rtlCol="0" anchor="ctr"/>
          <a:lstStyle/>
          <a:p>
            <a:pPr algn="ctr" indent="0" marL="0">
              <a:buNone/>
            </a:pPr>
            <a:r>
              <a:rPr lang="en-US" sz="850" b="1" dirty="0">
                <a:solidFill>
                  <a:srgbClr val="C0392B"/>
                </a:solidFill>
                <a:latin typeface="Atkinson Hyperlegible" pitchFamily="34" charset="0"/>
                <a:ea typeface="Atkinson Hyperlegible" pitchFamily="34" charset="-122"/>
                <a:cs typeface="Atkinson Hyperlegible" pitchFamily="34" charset="-120"/>
              </a:rPr>
              <a:t># Observaciones por Proyecto</a:t>
            </a:r>
            <a:endParaRPr lang="en-US" sz="850" dirty="0"/>
          </a:p>
        </p:txBody>
      </p:sp>
      <p:sp>
        <p:nvSpPr>
          <p:cNvPr id="9" name="Shape 6"/>
          <p:cNvSpPr/>
          <p:nvPr/>
        </p:nvSpPr>
        <p:spPr>
          <a:xfrm>
            <a:off x="685800" y="2258568"/>
            <a:ext cx="1280160" cy="36576"/>
          </a:xfrm>
          <a:prstGeom prst="rect">
            <a:avLst/>
          </a:prstGeom>
          <a:solidFill>
            <a:srgbClr val="C0392B"/>
          </a:solidFill>
          <a:ln w="12700">
            <a:solidFill>
              <a:srgbClr val="C0392B"/>
            </a:solidFill>
            <a:prstDash val="solid"/>
          </a:ln>
        </p:spPr>
      </p:sp>
      <p:sp>
        <p:nvSpPr>
          <p:cNvPr id="10" name="Text 7"/>
          <p:cNvSpPr/>
          <p:nvPr/>
        </p:nvSpPr>
        <p:spPr>
          <a:xfrm>
            <a:off x="411480" y="2331720"/>
            <a:ext cx="1828800" cy="228600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Meta: mínimo 20 observaciones formales de constructabilidad por proyecto. Indica actividad del programa.</a:t>
            </a:r>
            <a:endParaRPr lang="en-US" sz="750" dirty="0"/>
          </a:p>
        </p:txBody>
      </p:sp>
      <p:sp>
        <p:nvSpPr>
          <p:cNvPr id="11" name="Shape 8"/>
          <p:cNvSpPr/>
          <p:nvPr/>
        </p:nvSpPr>
        <p:spPr>
          <a:xfrm>
            <a:off x="2468880" y="841248"/>
            <a:ext cx="2011680" cy="3913632"/>
          </a:xfrm>
          <a:prstGeom prst="roundRect">
            <a:avLst>
              <a:gd name="adj" fmla="val 4545"/>
            </a:avLst>
          </a:prstGeom>
          <a:solidFill>
            <a:srgbClr val="FFFFFF"/>
          </a:solidFill>
          <a:ln w="19050">
            <a:solidFill>
              <a:srgbClr val="C0392B"/>
            </a:solidFill>
            <a:prstDash val="solid"/>
          </a:ln>
        </p:spPr>
      </p:sp>
      <p:sp>
        <p:nvSpPr>
          <p:cNvPr id="12" name="Shape 9"/>
          <p:cNvSpPr/>
          <p:nvPr/>
        </p:nvSpPr>
        <p:spPr>
          <a:xfrm>
            <a:off x="2468880" y="841248"/>
            <a:ext cx="2011680" cy="64008"/>
          </a:xfrm>
          <a:prstGeom prst="rect">
            <a:avLst/>
          </a:prstGeom>
          <a:solidFill>
            <a:srgbClr val="C0392B"/>
          </a:solidFill>
          <a:ln w="12700">
            <a:solidFill>
              <a:srgbClr val="C0392B"/>
            </a:solidFill>
            <a:prstDash val="solid"/>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63240" y="1005840"/>
            <a:ext cx="640080" cy="640080"/>
          </a:xfrm>
          <a:prstGeom prst="rect">
            <a:avLst/>
          </a:prstGeom>
        </p:spPr>
      </p:pic>
      <p:sp>
        <p:nvSpPr>
          <p:cNvPr id="14" name="Text 10"/>
          <p:cNvSpPr/>
          <p:nvPr/>
        </p:nvSpPr>
        <p:spPr>
          <a:xfrm>
            <a:off x="2560320" y="1719072"/>
            <a:ext cx="1828800" cy="502920"/>
          </a:xfrm>
          <a:prstGeom prst="rect">
            <a:avLst/>
          </a:prstGeom>
          <a:noFill/>
          <a:ln/>
        </p:spPr>
        <p:txBody>
          <a:bodyPr wrap="square" rtlCol="0" anchor="ctr"/>
          <a:lstStyle/>
          <a:p>
            <a:pPr algn="ctr" indent="0" marL="0">
              <a:buNone/>
            </a:pPr>
            <a:r>
              <a:rPr lang="en-US" sz="850" b="1" dirty="0">
                <a:solidFill>
                  <a:srgbClr val="C0392B"/>
                </a:solidFill>
                <a:latin typeface="Atkinson Hyperlegible" pitchFamily="34" charset="0"/>
                <a:ea typeface="Atkinson Hyperlegible" pitchFamily="34" charset="-122"/>
                <a:cs typeface="Atkinson Hyperlegible" pitchFamily="34" charset="-120"/>
              </a:rPr>
              <a:t>Tasa de Implementación</a:t>
            </a:r>
            <a:endParaRPr lang="en-US" sz="850" dirty="0"/>
          </a:p>
        </p:txBody>
      </p:sp>
      <p:sp>
        <p:nvSpPr>
          <p:cNvPr id="15" name="Shape 11"/>
          <p:cNvSpPr/>
          <p:nvPr/>
        </p:nvSpPr>
        <p:spPr>
          <a:xfrm>
            <a:off x="2834640" y="2258568"/>
            <a:ext cx="1280160" cy="36576"/>
          </a:xfrm>
          <a:prstGeom prst="rect">
            <a:avLst/>
          </a:prstGeom>
          <a:solidFill>
            <a:srgbClr val="C0392B"/>
          </a:solidFill>
          <a:ln w="12700">
            <a:solidFill>
              <a:srgbClr val="C0392B"/>
            </a:solidFill>
            <a:prstDash val="solid"/>
          </a:ln>
        </p:spPr>
      </p:sp>
      <p:sp>
        <p:nvSpPr>
          <p:cNvPr id="16" name="Text 12"/>
          <p:cNvSpPr/>
          <p:nvPr/>
        </p:nvSpPr>
        <p:spPr>
          <a:xfrm>
            <a:off x="2560320" y="2331720"/>
            <a:ext cx="1828800" cy="228600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de observaciones formalmente implementadas en el diseño. Meta: &gt;70%. Indica efectividad real.</a:t>
            </a:r>
            <a:endParaRPr lang="en-US" sz="750" dirty="0"/>
          </a:p>
        </p:txBody>
      </p:sp>
      <p:sp>
        <p:nvSpPr>
          <p:cNvPr id="17" name="Shape 13"/>
          <p:cNvSpPr/>
          <p:nvPr/>
        </p:nvSpPr>
        <p:spPr>
          <a:xfrm>
            <a:off x="4617720" y="841248"/>
            <a:ext cx="2011680" cy="3913632"/>
          </a:xfrm>
          <a:prstGeom prst="roundRect">
            <a:avLst>
              <a:gd name="adj" fmla="val 4545"/>
            </a:avLst>
          </a:prstGeom>
          <a:solidFill>
            <a:srgbClr val="FFFFFF"/>
          </a:solidFill>
          <a:ln w="19050">
            <a:solidFill>
              <a:srgbClr val="C0392B"/>
            </a:solidFill>
            <a:prstDash val="solid"/>
          </a:ln>
        </p:spPr>
      </p:sp>
      <p:sp>
        <p:nvSpPr>
          <p:cNvPr id="18" name="Shape 14"/>
          <p:cNvSpPr/>
          <p:nvPr/>
        </p:nvSpPr>
        <p:spPr>
          <a:xfrm>
            <a:off x="4617720" y="841248"/>
            <a:ext cx="2011680" cy="64008"/>
          </a:xfrm>
          <a:prstGeom prst="rect">
            <a:avLst/>
          </a:prstGeom>
          <a:solidFill>
            <a:srgbClr val="C0392B"/>
          </a:solidFill>
          <a:ln w="12700">
            <a:solidFill>
              <a:srgbClr val="C0392B"/>
            </a:solidFill>
            <a:prstDash val="solid"/>
          </a:ln>
        </p:spPr>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12080" y="1005840"/>
            <a:ext cx="640080" cy="640080"/>
          </a:xfrm>
          <a:prstGeom prst="rect">
            <a:avLst/>
          </a:prstGeom>
        </p:spPr>
      </p:pic>
      <p:sp>
        <p:nvSpPr>
          <p:cNvPr id="20" name="Text 15"/>
          <p:cNvSpPr/>
          <p:nvPr/>
        </p:nvSpPr>
        <p:spPr>
          <a:xfrm>
            <a:off x="4709160" y="1719072"/>
            <a:ext cx="1828800" cy="502920"/>
          </a:xfrm>
          <a:prstGeom prst="rect">
            <a:avLst/>
          </a:prstGeom>
          <a:noFill/>
          <a:ln/>
        </p:spPr>
        <p:txBody>
          <a:bodyPr wrap="square" rtlCol="0" anchor="ctr"/>
          <a:lstStyle/>
          <a:p>
            <a:pPr algn="ctr" indent="0" marL="0">
              <a:buNone/>
            </a:pPr>
            <a:r>
              <a:rPr lang="en-US" sz="850" b="1" dirty="0">
                <a:solidFill>
                  <a:srgbClr val="C0392B"/>
                </a:solidFill>
                <a:latin typeface="Atkinson Hyperlegible" pitchFamily="34" charset="0"/>
                <a:ea typeface="Atkinson Hyperlegible" pitchFamily="34" charset="-122"/>
                <a:cs typeface="Atkinson Hyperlegible" pitchFamily="34" charset="-120"/>
              </a:rPr>
              <a:t>Valor Capturado</a:t>
            </a:r>
            <a:endParaRPr lang="en-US" sz="850" dirty="0"/>
          </a:p>
        </p:txBody>
      </p:sp>
      <p:sp>
        <p:nvSpPr>
          <p:cNvPr id="21" name="Shape 16"/>
          <p:cNvSpPr/>
          <p:nvPr/>
        </p:nvSpPr>
        <p:spPr>
          <a:xfrm>
            <a:off x="4983480" y="2258568"/>
            <a:ext cx="1280160" cy="36576"/>
          </a:xfrm>
          <a:prstGeom prst="rect">
            <a:avLst/>
          </a:prstGeom>
          <a:solidFill>
            <a:srgbClr val="C0392B"/>
          </a:solidFill>
          <a:ln w="12700">
            <a:solidFill>
              <a:srgbClr val="C0392B"/>
            </a:solidFill>
            <a:prstDash val="solid"/>
          </a:ln>
        </p:spPr>
      </p:sp>
      <p:sp>
        <p:nvSpPr>
          <p:cNvPr id="22" name="Text 17"/>
          <p:cNvSpPr/>
          <p:nvPr/>
        </p:nvSpPr>
        <p:spPr>
          <a:xfrm>
            <a:off x="4709160" y="2331720"/>
            <a:ext cx="1828800" cy="228600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Ahorro documentado ($) por observaciones implementadas. Construye el business case del programa.</a:t>
            </a:r>
            <a:endParaRPr lang="en-US" sz="750" dirty="0"/>
          </a:p>
        </p:txBody>
      </p:sp>
      <p:sp>
        <p:nvSpPr>
          <p:cNvPr id="23" name="Shape 18"/>
          <p:cNvSpPr/>
          <p:nvPr/>
        </p:nvSpPr>
        <p:spPr>
          <a:xfrm>
            <a:off x="6766560" y="841248"/>
            <a:ext cx="2011680" cy="3913632"/>
          </a:xfrm>
          <a:prstGeom prst="roundRect">
            <a:avLst>
              <a:gd name="adj" fmla="val 4545"/>
            </a:avLst>
          </a:prstGeom>
          <a:solidFill>
            <a:srgbClr val="FFFFFF"/>
          </a:solidFill>
          <a:ln w="19050">
            <a:solidFill>
              <a:srgbClr val="C0392B"/>
            </a:solidFill>
            <a:prstDash val="solid"/>
          </a:ln>
        </p:spPr>
      </p:sp>
      <p:sp>
        <p:nvSpPr>
          <p:cNvPr id="24" name="Shape 19"/>
          <p:cNvSpPr/>
          <p:nvPr/>
        </p:nvSpPr>
        <p:spPr>
          <a:xfrm>
            <a:off x="6766560" y="841248"/>
            <a:ext cx="2011680" cy="64008"/>
          </a:xfrm>
          <a:prstGeom prst="rect">
            <a:avLst/>
          </a:prstGeom>
          <a:solidFill>
            <a:srgbClr val="C0392B"/>
          </a:solidFill>
          <a:ln w="12700">
            <a:solidFill>
              <a:srgbClr val="C0392B"/>
            </a:solidFill>
            <a:prstDash val="solid"/>
          </a:ln>
        </p:spPr>
      </p:sp>
      <p:pic>
        <p:nvPicPr>
          <p:cNvPr id="2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60920" y="1005840"/>
            <a:ext cx="640080" cy="640080"/>
          </a:xfrm>
          <a:prstGeom prst="rect">
            <a:avLst/>
          </a:prstGeom>
        </p:spPr>
      </p:pic>
      <p:sp>
        <p:nvSpPr>
          <p:cNvPr id="26" name="Text 20"/>
          <p:cNvSpPr/>
          <p:nvPr/>
        </p:nvSpPr>
        <p:spPr>
          <a:xfrm>
            <a:off x="6858000" y="1719072"/>
            <a:ext cx="1828800" cy="502920"/>
          </a:xfrm>
          <a:prstGeom prst="rect">
            <a:avLst/>
          </a:prstGeom>
          <a:noFill/>
          <a:ln/>
        </p:spPr>
        <p:txBody>
          <a:bodyPr wrap="square" rtlCol="0" anchor="ctr"/>
          <a:lstStyle/>
          <a:p>
            <a:pPr algn="ctr" indent="0" marL="0">
              <a:buNone/>
            </a:pPr>
            <a:r>
              <a:rPr lang="en-US" sz="850" b="1" dirty="0">
                <a:solidFill>
                  <a:srgbClr val="C0392B"/>
                </a:solidFill>
                <a:latin typeface="Atkinson Hyperlegible" pitchFamily="34" charset="0"/>
                <a:ea typeface="Atkinson Hyperlegible" pitchFamily="34" charset="-122"/>
                <a:cs typeface="Atkinson Hyperlegible" pitchFamily="34" charset="-120"/>
              </a:rPr>
              <a:t>Tiempos de Revisión</a:t>
            </a:r>
            <a:endParaRPr lang="en-US" sz="850" dirty="0"/>
          </a:p>
        </p:txBody>
      </p:sp>
      <p:sp>
        <p:nvSpPr>
          <p:cNvPr id="27" name="Shape 21"/>
          <p:cNvSpPr/>
          <p:nvPr/>
        </p:nvSpPr>
        <p:spPr>
          <a:xfrm>
            <a:off x="7132320" y="2258568"/>
            <a:ext cx="1280160" cy="36576"/>
          </a:xfrm>
          <a:prstGeom prst="rect">
            <a:avLst/>
          </a:prstGeom>
          <a:solidFill>
            <a:srgbClr val="C0392B"/>
          </a:solidFill>
          <a:ln w="12700">
            <a:solidFill>
              <a:srgbClr val="C0392B"/>
            </a:solidFill>
            <a:prstDash val="solid"/>
          </a:ln>
        </p:spPr>
      </p:sp>
      <p:sp>
        <p:nvSpPr>
          <p:cNvPr id="28" name="Text 22"/>
          <p:cNvSpPr/>
          <p:nvPr/>
        </p:nvSpPr>
        <p:spPr>
          <a:xfrm>
            <a:off x="6858000" y="2331720"/>
            <a:ext cx="1828800" cy="228600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Días entre taller y respuesta formal del equipo de diseño. Mide la velocidad del ciclo de mejora.</a:t>
            </a:r>
            <a:endParaRPr lang="en-US" sz="750" dirty="0"/>
          </a:p>
        </p:txBody>
      </p:sp>
      <p:sp>
        <p:nvSpPr>
          <p:cNvPr id="29" name="Shape 23"/>
          <p:cNvSpPr/>
          <p:nvPr/>
        </p:nvSpPr>
        <p:spPr>
          <a:xfrm>
            <a:off x="182880" y="4956048"/>
            <a:ext cx="8961120" cy="182880"/>
          </a:xfrm>
          <a:prstGeom prst="rect">
            <a:avLst/>
          </a:prstGeom>
          <a:solidFill>
            <a:srgbClr val="C0392B"/>
          </a:solidFill>
          <a:ln w="12700">
            <a:solidFill>
              <a:srgbClr val="C0392B"/>
            </a:solidFill>
            <a:prstDash val="solid"/>
          </a:ln>
        </p:spPr>
      </p:sp>
      <p:sp>
        <p:nvSpPr>
          <p:cNvPr id="30" name="Text 24"/>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50 / 126</a:t>
            </a:r>
            <a:endParaRPr lang="en-US" sz="7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C0392B"/>
          </a:solidFill>
          <a:ln w="12700">
            <a:solidFill>
              <a:srgbClr val="C0392B"/>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Barreras de Implementación y Cómo Superarlas</a:t>
            </a:r>
            <a:endParaRPr lang="en-US" sz="1800" dirty="0"/>
          </a:p>
        </p:txBody>
      </p:sp>
      <p:sp>
        <p:nvSpPr>
          <p:cNvPr id="4" name="Shape 2"/>
          <p:cNvSpPr/>
          <p:nvPr/>
        </p:nvSpPr>
        <p:spPr>
          <a:xfrm>
            <a:off x="320040" y="640080"/>
            <a:ext cx="8503920" cy="41148"/>
          </a:xfrm>
          <a:prstGeom prst="rect">
            <a:avLst/>
          </a:prstGeom>
          <a:solidFill>
            <a:srgbClr val="C0392B"/>
          </a:solidFill>
          <a:ln w="12700">
            <a:solidFill>
              <a:srgbClr val="C0392B"/>
            </a:solidFill>
            <a:prstDash val="solid"/>
          </a:ln>
        </p:spPr>
      </p:sp>
      <p:sp>
        <p:nvSpPr>
          <p:cNvPr id="5" name="Shape 3"/>
          <p:cNvSpPr/>
          <p:nvPr/>
        </p:nvSpPr>
        <p:spPr>
          <a:xfrm>
            <a:off x="320040" y="841248"/>
            <a:ext cx="2560320" cy="384048"/>
          </a:xfrm>
          <a:prstGeom prst="rect">
            <a:avLst/>
          </a:prstGeom>
          <a:solidFill>
            <a:srgbClr val="C0392B"/>
          </a:solidFill>
          <a:ln w="12700">
            <a:solidFill>
              <a:srgbClr val="FFFFFF"/>
            </a:solidFill>
            <a:prstDash val="solid"/>
          </a:ln>
        </p:spPr>
      </p:sp>
      <p:sp>
        <p:nvSpPr>
          <p:cNvPr id="6" name="Text 4"/>
          <p:cNvSpPr/>
          <p:nvPr/>
        </p:nvSpPr>
        <p:spPr>
          <a:xfrm>
            <a:off x="384048" y="841248"/>
            <a:ext cx="2468880" cy="384048"/>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Barrera</a:t>
            </a:r>
            <a:endParaRPr lang="en-US" sz="850" dirty="0"/>
          </a:p>
        </p:txBody>
      </p:sp>
      <p:sp>
        <p:nvSpPr>
          <p:cNvPr id="7" name="Shape 5"/>
          <p:cNvSpPr/>
          <p:nvPr/>
        </p:nvSpPr>
        <p:spPr>
          <a:xfrm>
            <a:off x="2935224" y="841248"/>
            <a:ext cx="5760720" cy="384048"/>
          </a:xfrm>
          <a:prstGeom prst="rect">
            <a:avLst/>
          </a:prstGeom>
          <a:solidFill>
            <a:srgbClr val="C0392B"/>
          </a:solidFill>
          <a:ln w="12700">
            <a:solidFill>
              <a:srgbClr val="FFFFFF"/>
            </a:solidFill>
            <a:prstDash val="solid"/>
          </a:ln>
        </p:spPr>
      </p:sp>
      <p:sp>
        <p:nvSpPr>
          <p:cNvPr id="8" name="Text 6"/>
          <p:cNvSpPr/>
          <p:nvPr/>
        </p:nvSpPr>
        <p:spPr>
          <a:xfrm>
            <a:off x="2999232" y="841248"/>
            <a:ext cx="5669280" cy="384048"/>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Estrategia de Superación</a:t>
            </a:r>
            <a:endParaRPr lang="en-US" sz="850" dirty="0"/>
          </a:p>
        </p:txBody>
      </p:sp>
      <p:sp>
        <p:nvSpPr>
          <p:cNvPr id="9" name="Shape 7"/>
          <p:cNvSpPr/>
          <p:nvPr/>
        </p:nvSpPr>
        <p:spPr>
          <a:xfrm>
            <a:off x="320040" y="1261872"/>
            <a:ext cx="2560320" cy="530352"/>
          </a:xfrm>
          <a:prstGeom prst="rect">
            <a:avLst/>
          </a:prstGeom>
          <a:solidFill>
            <a:srgbClr val="F8F8FA"/>
          </a:solidFill>
          <a:ln w="9525">
            <a:solidFill>
              <a:srgbClr val="E5E5EA"/>
            </a:solidFill>
            <a:prstDash val="solid"/>
          </a:ln>
        </p:spPr>
      </p:sp>
      <p:sp>
        <p:nvSpPr>
          <p:cNvPr id="10" name="Text 8"/>
          <p:cNvSpPr/>
          <p:nvPr/>
        </p:nvSpPr>
        <p:spPr>
          <a:xfrm>
            <a:off x="384048" y="1298448"/>
            <a:ext cx="2450592" cy="45720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Cultura de silos</a:t>
            </a:r>
            <a:endParaRPr lang="en-US" sz="850" dirty="0"/>
          </a:p>
        </p:txBody>
      </p:sp>
      <p:sp>
        <p:nvSpPr>
          <p:cNvPr id="11" name="Shape 9"/>
          <p:cNvSpPr/>
          <p:nvPr/>
        </p:nvSpPr>
        <p:spPr>
          <a:xfrm>
            <a:off x="2935224" y="1261872"/>
            <a:ext cx="5760720" cy="530352"/>
          </a:xfrm>
          <a:prstGeom prst="rect">
            <a:avLst/>
          </a:prstGeom>
          <a:solidFill>
            <a:srgbClr val="F8F8FA"/>
          </a:solidFill>
          <a:ln w="9525">
            <a:solidFill>
              <a:srgbClr val="E5E5EA"/>
            </a:solidFill>
            <a:prstDash val="solid"/>
          </a:ln>
        </p:spPr>
      </p:sp>
      <p:sp>
        <p:nvSpPr>
          <p:cNvPr id="12" name="Text 10"/>
          <p:cNvSpPr/>
          <p:nvPr/>
        </p:nvSpPr>
        <p:spPr>
          <a:xfrm>
            <a:off x="2999232" y="1298448"/>
            <a:ext cx="5650992" cy="457200"/>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Crear incentivos compartidos entre diseño y construcción. Contratos integrados (IPD).</a:t>
            </a:r>
            <a:endParaRPr lang="en-US" sz="800" dirty="0"/>
          </a:p>
        </p:txBody>
      </p:sp>
      <p:sp>
        <p:nvSpPr>
          <p:cNvPr id="13" name="Shape 11"/>
          <p:cNvSpPr/>
          <p:nvPr/>
        </p:nvSpPr>
        <p:spPr>
          <a:xfrm>
            <a:off x="320040" y="1828800"/>
            <a:ext cx="2560320" cy="530352"/>
          </a:xfrm>
          <a:prstGeom prst="rect">
            <a:avLst/>
          </a:prstGeom>
          <a:solidFill>
            <a:srgbClr val="FFFFFF"/>
          </a:solidFill>
          <a:ln w="9525">
            <a:solidFill>
              <a:srgbClr val="E5E5EA"/>
            </a:solidFill>
            <a:prstDash val="solid"/>
          </a:ln>
        </p:spPr>
      </p:sp>
      <p:sp>
        <p:nvSpPr>
          <p:cNvPr id="14" name="Text 12"/>
          <p:cNvSpPr/>
          <p:nvPr/>
        </p:nvSpPr>
        <p:spPr>
          <a:xfrm>
            <a:off x="384048" y="1865376"/>
            <a:ext cx="2450592" cy="45720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Falta de tiempo</a:t>
            </a:r>
            <a:endParaRPr lang="en-US" sz="850" dirty="0"/>
          </a:p>
        </p:txBody>
      </p:sp>
      <p:sp>
        <p:nvSpPr>
          <p:cNvPr id="15" name="Shape 13"/>
          <p:cNvSpPr/>
          <p:nvPr/>
        </p:nvSpPr>
        <p:spPr>
          <a:xfrm>
            <a:off x="2935224" y="1828800"/>
            <a:ext cx="5760720" cy="530352"/>
          </a:xfrm>
          <a:prstGeom prst="rect">
            <a:avLst/>
          </a:prstGeom>
          <a:solidFill>
            <a:srgbClr val="FFFFFF"/>
          </a:solidFill>
          <a:ln w="9525">
            <a:solidFill>
              <a:srgbClr val="E5E5EA"/>
            </a:solidFill>
            <a:prstDash val="solid"/>
          </a:ln>
        </p:spPr>
      </p:sp>
      <p:sp>
        <p:nvSpPr>
          <p:cNvPr id="16" name="Text 14"/>
          <p:cNvSpPr/>
          <p:nvPr/>
        </p:nvSpPr>
        <p:spPr>
          <a:xfrm>
            <a:off x="2999232" y="1865376"/>
            <a:ext cx="5650992" cy="457200"/>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Demostrar que 1 hora de taller ahorra 10 horas de RFIs. El ROI es inmediato.</a:t>
            </a:r>
            <a:endParaRPr lang="en-US" sz="800" dirty="0"/>
          </a:p>
        </p:txBody>
      </p:sp>
      <p:sp>
        <p:nvSpPr>
          <p:cNvPr id="17" name="Shape 15"/>
          <p:cNvSpPr/>
          <p:nvPr/>
        </p:nvSpPr>
        <p:spPr>
          <a:xfrm>
            <a:off x="320040" y="2395728"/>
            <a:ext cx="2560320" cy="530352"/>
          </a:xfrm>
          <a:prstGeom prst="rect">
            <a:avLst/>
          </a:prstGeom>
          <a:solidFill>
            <a:srgbClr val="F8F8FA"/>
          </a:solidFill>
          <a:ln w="9525">
            <a:solidFill>
              <a:srgbClr val="E5E5EA"/>
            </a:solidFill>
            <a:prstDash val="solid"/>
          </a:ln>
        </p:spPr>
      </p:sp>
      <p:sp>
        <p:nvSpPr>
          <p:cNvPr id="18" name="Text 16"/>
          <p:cNvSpPr/>
          <p:nvPr/>
        </p:nvSpPr>
        <p:spPr>
          <a:xfrm>
            <a:off x="384048" y="2432304"/>
            <a:ext cx="2450592" cy="45720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Resistencia del equipo de diseño</a:t>
            </a:r>
            <a:endParaRPr lang="en-US" sz="850" dirty="0"/>
          </a:p>
        </p:txBody>
      </p:sp>
      <p:sp>
        <p:nvSpPr>
          <p:cNvPr id="19" name="Shape 17"/>
          <p:cNvSpPr/>
          <p:nvPr/>
        </p:nvSpPr>
        <p:spPr>
          <a:xfrm>
            <a:off x="2935224" y="2395728"/>
            <a:ext cx="5760720" cy="530352"/>
          </a:xfrm>
          <a:prstGeom prst="rect">
            <a:avLst/>
          </a:prstGeom>
          <a:solidFill>
            <a:srgbClr val="F8F8FA"/>
          </a:solidFill>
          <a:ln w="9525">
            <a:solidFill>
              <a:srgbClr val="E5E5EA"/>
            </a:solidFill>
            <a:prstDash val="solid"/>
          </a:ln>
        </p:spPr>
      </p:sp>
      <p:sp>
        <p:nvSpPr>
          <p:cNvPr id="20" name="Text 18"/>
          <p:cNvSpPr/>
          <p:nvPr/>
        </p:nvSpPr>
        <p:spPr>
          <a:xfrm>
            <a:off x="2999232" y="2432304"/>
            <a:ext cx="5650992" cy="457200"/>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Involucrar constructores como asesores, no críticos. Enfoque colaborativo, no punitivo.</a:t>
            </a:r>
            <a:endParaRPr lang="en-US" sz="800" dirty="0"/>
          </a:p>
        </p:txBody>
      </p:sp>
      <p:sp>
        <p:nvSpPr>
          <p:cNvPr id="21" name="Shape 19"/>
          <p:cNvSpPr/>
          <p:nvPr/>
        </p:nvSpPr>
        <p:spPr>
          <a:xfrm>
            <a:off x="320040" y="2962656"/>
            <a:ext cx="2560320" cy="530352"/>
          </a:xfrm>
          <a:prstGeom prst="rect">
            <a:avLst/>
          </a:prstGeom>
          <a:solidFill>
            <a:srgbClr val="FFFFFF"/>
          </a:solidFill>
          <a:ln w="9525">
            <a:solidFill>
              <a:srgbClr val="E5E5EA"/>
            </a:solidFill>
            <a:prstDash val="solid"/>
          </a:ln>
        </p:spPr>
      </p:sp>
      <p:sp>
        <p:nvSpPr>
          <p:cNvPr id="22" name="Text 20"/>
          <p:cNvSpPr/>
          <p:nvPr/>
        </p:nvSpPr>
        <p:spPr>
          <a:xfrm>
            <a:off x="384048" y="2999232"/>
            <a:ext cx="2450592" cy="45720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Ausencia de datos</a:t>
            </a:r>
            <a:endParaRPr lang="en-US" sz="850" dirty="0"/>
          </a:p>
        </p:txBody>
      </p:sp>
      <p:sp>
        <p:nvSpPr>
          <p:cNvPr id="23" name="Shape 21"/>
          <p:cNvSpPr/>
          <p:nvPr/>
        </p:nvSpPr>
        <p:spPr>
          <a:xfrm>
            <a:off x="2935224" y="2962656"/>
            <a:ext cx="5760720" cy="530352"/>
          </a:xfrm>
          <a:prstGeom prst="rect">
            <a:avLst/>
          </a:prstGeom>
          <a:solidFill>
            <a:srgbClr val="FFFFFF"/>
          </a:solidFill>
          <a:ln w="9525">
            <a:solidFill>
              <a:srgbClr val="E5E5EA"/>
            </a:solidFill>
            <a:prstDash val="solid"/>
          </a:ln>
        </p:spPr>
      </p:sp>
      <p:sp>
        <p:nvSpPr>
          <p:cNvPr id="24" name="Text 22"/>
          <p:cNvSpPr/>
          <p:nvPr/>
        </p:nvSpPr>
        <p:spPr>
          <a:xfrm>
            <a:off x="2999232" y="2999232"/>
            <a:ext cx="5650992" cy="457200"/>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Comenzar a documentar desde hoy. Incluso un Excel simple construye el historial.</a:t>
            </a:r>
            <a:endParaRPr lang="en-US" sz="800" dirty="0"/>
          </a:p>
        </p:txBody>
      </p:sp>
      <p:sp>
        <p:nvSpPr>
          <p:cNvPr id="25" name="Shape 23"/>
          <p:cNvSpPr/>
          <p:nvPr/>
        </p:nvSpPr>
        <p:spPr>
          <a:xfrm>
            <a:off x="320040" y="3529584"/>
            <a:ext cx="2560320" cy="530352"/>
          </a:xfrm>
          <a:prstGeom prst="rect">
            <a:avLst/>
          </a:prstGeom>
          <a:solidFill>
            <a:srgbClr val="F8F8FA"/>
          </a:solidFill>
          <a:ln w="9525">
            <a:solidFill>
              <a:srgbClr val="E5E5EA"/>
            </a:solidFill>
            <a:prstDash val="solid"/>
          </a:ln>
        </p:spPr>
      </p:sp>
      <p:sp>
        <p:nvSpPr>
          <p:cNvPr id="26" name="Text 24"/>
          <p:cNvSpPr/>
          <p:nvPr/>
        </p:nvSpPr>
        <p:spPr>
          <a:xfrm>
            <a:off x="384048" y="3566160"/>
            <a:ext cx="2450592" cy="45720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Champion sin autoridad</a:t>
            </a:r>
            <a:endParaRPr lang="en-US" sz="850" dirty="0"/>
          </a:p>
        </p:txBody>
      </p:sp>
      <p:sp>
        <p:nvSpPr>
          <p:cNvPr id="27" name="Shape 25"/>
          <p:cNvSpPr/>
          <p:nvPr/>
        </p:nvSpPr>
        <p:spPr>
          <a:xfrm>
            <a:off x="2935224" y="3529584"/>
            <a:ext cx="5760720" cy="530352"/>
          </a:xfrm>
          <a:prstGeom prst="rect">
            <a:avLst/>
          </a:prstGeom>
          <a:solidFill>
            <a:srgbClr val="F8F8FA"/>
          </a:solidFill>
          <a:ln w="9525">
            <a:solidFill>
              <a:srgbClr val="E5E5EA"/>
            </a:solidFill>
            <a:prstDash val="solid"/>
          </a:ln>
        </p:spPr>
      </p:sp>
      <p:sp>
        <p:nvSpPr>
          <p:cNvPr id="28" name="Text 26"/>
          <p:cNvSpPr/>
          <p:nvPr/>
        </p:nvSpPr>
        <p:spPr>
          <a:xfrm>
            <a:off x="2999232" y="3566160"/>
            <a:ext cx="5650992" cy="457200"/>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La política gerencial debe darle al Champion autoridad formal para requerir revisiones.</a:t>
            </a:r>
            <a:endParaRPr lang="en-US" sz="800" dirty="0"/>
          </a:p>
        </p:txBody>
      </p:sp>
      <p:sp>
        <p:nvSpPr>
          <p:cNvPr id="29" name="Shape 27"/>
          <p:cNvSpPr/>
          <p:nvPr/>
        </p:nvSpPr>
        <p:spPr>
          <a:xfrm>
            <a:off x="320040" y="4096512"/>
            <a:ext cx="2560320" cy="530352"/>
          </a:xfrm>
          <a:prstGeom prst="rect">
            <a:avLst/>
          </a:prstGeom>
          <a:solidFill>
            <a:srgbClr val="FFFFFF"/>
          </a:solidFill>
          <a:ln w="9525">
            <a:solidFill>
              <a:srgbClr val="E5E5EA"/>
            </a:solidFill>
            <a:prstDash val="solid"/>
          </a:ln>
        </p:spPr>
      </p:sp>
      <p:sp>
        <p:nvSpPr>
          <p:cNvPr id="30" name="Text 28"/>
          <p:cNvSpPr/>
          <p:nvPr/>
        </p:nvSpPr>
        <p:spPr>
          <a:xfrm>
            <a:off x="384048" y="4133088"/>
            <a:ext cx="2450592" cy="45720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Contratos que no lo valoran</a:t>
            </a:r>
            <a:endParaRPr lang="en-US" sz="850" dirty="0"/>
          </a:p>
        </p:txBody>
      </p:sp>
      <p:sp>
        <p:nvSpPr>
          <p:cNvPr id="31" name="Shape 29"/>
          <p:cNvSpPr/>
          <p:nvPr/>
        </p:nvSpPr>
        <p:spPr>
          <a:xfrm>
            <a:off x="2935224" y="4096512"/>
            <a:ext cx="5760720" cy="530352"/>
          </a:xfrm>
          <a:prstGeom prst="rect">
            <a:avLst/>
          </a:prstGeom>
          <a:solidFill>
            <a:srgbClr val="FFFFFF"/>
          </a:solidFill>
          <a:ln w="9525">
            <a:solidFill>
              <a:srgbClr val="E5E5EA"/>
            </a:solidFill>
            <a:prstDash val="solid"/>
          </a:ln>
        </p:spPr>
      </p:sp>
      <p:sp>
        <p:nvSpPr>
          <p:cNvPr id="32" name="Text 30"/>
          <p:cNvSpPr/>
          <p:nvPr/>
        </p:nvSpPr>
        <p:spPr>
          <a:xfrm>
            <a:off x="2999232" y="4133088"/>
            <a:ext cx="5650992" cy="457200"/>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Incorporar cláusulas de constructabilidad (T-16) en los próximos contratos EPC/EPCM.</a:t>
            </a:r>
            <a:endParaRPr lang="en-US" sz="800" dirty="0"/>
          </a:p>
        </p:txBody>
      </p:sp>
      <p:sp>
        <p:nvSpPr>
          <p:cNvPr id="33" name="Shape 31"/>
          <p:cNvSpPr/>
          <p:nvPr/>
        </p:nvSpPr>
        <p:spPr>
          <a:xfrm>
            <a:off x="182880" y="4956048"/>
            <a:ext cx="8961120" cy="182880"/>
          </a:xfrm>
          <a:prstGeom prst="rect">
            <a:avLst/>
          </a:prstGeom>
          <a:solidFill>
            <a:srgbClr val="C0392B"/>
          </a:solidFill>
          <a:ln w="12700">
            <a:solidFill>
              <a:srgbClr val="C0392B"/>
            </a:solidFill>
            <a:prstDash val="solid"/>
          </a:ln>
        </p:spPr>
      </p:sp>
      <p:sp>
        <p:nvSpPr>
          <p:cNvPr id="34" name="Text 32"/>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51 / 126</a:t>
            </a:r>
            <a:endParaRPr lang="en-US" sz="7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C0392B"/>
          </a:solidFill>
          <a:ln w="12700">
            <a:solidFill>
              <a:srgbClr val="C0392B"/>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Las 19 Herramientas del SP 34-1 — Visión General</a:t>
            </a:r>
            <a:endParaRPr lang="en-US" sz="1800" dirty="0"/>
          </a:p>
        </p:txBody>
      </p:sp>
      <p:sp>
        <p:nvSpPr>
          <p:cNvPr id="4" name="Shape 2"/>
          <p:cNvSpPr/>
          <p:nvPr/>
        </p:nvSpPr>
        <p:spPr>
          <a:xfrm>
            <a:off x="320040" y="640080"/>
            <a:ext cx="8503920" cy="41148"/>
          </a:xfrm>
          <a:prstGeom prst="rect">
            <a:avLst/>
          </a:prstGeom>
          <a:solidFill>
            <a:srgbClr val="C0392B"/>
          </a:solidFill>
          <a:ln w="12700">
            <a:solidFill>
              <a:srgbClr val="C0392B"/>
            </a:solidFill>
            <a:prstDash val="solid"/>
          </a:ln>
        </p:spPr>
      </p:sp>
      <p:sp>
        <p:nvSpPr>
          <p:cNvPr id="5" name="Shape 3"/>
          <p:cNvSpPr/>
          <p:nvPr/>
        </p:nvSpPr>
        <p:spPr>
          <a:xfrm>
            <a:off x="320040" y="822960"/>
            <a:ext cx="1664208" cy="896112"/>
          </a:xfrm>
          <a:prstGeom prst="roundRect">
            <a:avLst>
              <a:gd name="adj" fmla="val 7143"/>
            </a:avLst>
          </a:prstGeom>
          <a:solidFill>
            <a:srgbClr val="C0392B"/>
          </a:solidFill>
          <a:ln w="12700">
            <a:solidFill>
              <a:srgbClr val="C0392B"/>
            </a:solidFill>
            <a:prstDash val="solid"/>
          </a:ln>
        </p:spPr>
      </p:sp>
      <p:sp>
        <p:nvSpPr>
          <p:cNvPr id="6" name="Text 4"/>
          <p:cNvSpPr/>
          <p:nvPr/>
        </p:nvSpPr>
        <p:spPr>
          <a:xfrm>
            <a:off x="393192" y="877824"/>
            <a:ext cx="457200" cy="320040"/>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T-1</a:t>
            </a:r>
            <a:endParaRPr lang="en-US" sz="800" dirty="0"/>
          </a:p>
        </p:txBody>
      </p:sp>
      <p:sp>
        <p:nvSpPr>
          <p:cNvPr id="7" name="Text 5"/>
          <p:cNvSpPr/>
          <p:nvPr/>
        </p:nvSpPr>
        <p:spPr>
          <a:xfrm>
            <a:off x="393192" y="1170432"/>
            <a:ext cx="1517904" cy="347472"/>
          </a:xfrm>
          <a:prstGeom prst="rect">
            <a:avLst/>
          </a:prstGeom>
          <a:noFill/>
          <a:ln/>
        </p:spPr>
        <p:txBody>
          <a:bodyPr wrap="square" rtlCol="0" anchor="ctr"/>
          <a:lstStyle/>
          <a:p>
            <a:pPr indent="0" marL="0">
              <a:buNone/>
            </a:pPr>
            <a:r>
              <a:rPr lang="en-US" sz="700" dirty="0">
                <a:solidFill>
                  <a:srgbClr val="E8E8ED"/>
                </a:solidFill>
                <a:latin typeface="Atkinson Hyperlegible" pitchFamily="34" charset="0"/>
                <a:ea typeface="Atkinson Hyperlegible" pitchFamily="34" charset="-122"/>
                <a:cs typeface="Atkinson Hyperlegible" pitchFamily="34" charset="-120"/>
              </a:rPr>
              <a:t>Management Awareness</a:t>
            </a:r>
            <a:endParaRPr lang="en-US" sz="700" dirty="0"/>
          </a:p>
        </p:txBody>
      </p:sp>
      <p:sp>
        <p:nvSpPr>
          <p:cNvPr id="8" name="Shape 6"/>
          <p:cNvSpPr/>
          <p:nvPr/>
        </p:nvSpPr>
        <p:spPr>
          <a:xfrm>
            <a:off x="393192" y="1517904"/>
            <a:ext cx="1517904" cy="155448"/>
          </a:xfrm>
          <a:prstGeom prst="roundRect">
            <a:avLst>
              <a:gd name="adj" fmla="val 23529"/>
            </a:avLst>
          </a:prstGeom>
          <a:solidFill>
            <a:srgbClr val="FFFFFF"/>
          </a:solidFill>
          <a:ln w="12700">
            <a:solidFill>
              <a:srgbClr val="FFFFFF"/>
            </a:solidFill>
            <a:prstDash val="solid"/>
          </a:ln>
        </p:spPr>
      </p:sp>
      <p:sp>
        <p:nvSpPr>
          <p:cNvPr id="9" name="Text 7"/>
          <p:cNvSpPr/>
          <p:nvPr/>
        </p:nvSpPr>
        <p:spPr>
          <a:xfrm>
            <a:off x="393192" y="1517904"/>
            <a:ext cx="1517904" cy="155448"/>
          </a:xfrm>
          <a:prstGeom prst="rect">
            <a:avLst/>
          </a:prstGeom>
          <a:noFill/>
          <a:ln/>
        </p:spPr>
        <p:txBody>
          <a:bodyPr wrap="square" rtlCol="0" anchor="ctr"/>
          <a:lstStyle/>
          <a:p>
            <a:pPr algn="ctr" indent="0" marL="0">
              <a:buNone/>
            </a:pPr>
            <a:r>
              <a:rPr lang="en-US" sz="600" b="1" dirty="0">
                <a:solidFill>
                  <a:srgbClr val="AAAAAA"/>
                </a:solidFill>
                <a:latin typeface="Atkinson Hyperlegible" pitchFamily="34" charset="0"/>
                <a:ea typeface="Atkinson Hyperlegible" pitchFamily="34" charset="-122"/>
                <a:cs typeface="Atkinson Hyperlegible" pitchFamily="34" charset="-120"/>
              </a:rPr>
              <a:t>Compromiso</a:t>
            </a:r>
            <a:endParaRPr lang="en-US" sz="600" dirty="0"/>
          </a:p>
        </p:txBody>
      </p:sp>
      <p:sp>
        <p:nvSpPr>
          <p:cNvPr id="10" name="Shape 8"/>
          <p:cNvSpPr/>
          <p:nvPr/>
        </p:nvSpPr>
        <p:spPr>
          <a:xfrm>
            <a:off x="2029968" y="822960"/>
            <a:ext cx="1664208" cy="896112"/>
          </a:xfrm>
          <a:prstGeom prst="roundRect">
            <a:avLst>
              <a:gd name="adj" fmla="val 7143"/>
            </a:avLst>
          </a:prstGeom>
          <a:solidFill>
            <a:srgbClr val="F8F8FA"/>
          </a:solidFill>
          <a:ln w="12700">
            <a:solidFill>
              <a:srgbClr val="C0392B"/>
            </a:solidFill>
            <a:prstDash val="solid"/>
          </a:ln>
        </p:spPr>
      </p:sp>
      <p:sp>
        <p:nvSpPr>
          <p:cNvPr id="11" name="Text 9"/>
          <p:cNvSpPr/>
          <p:nvPr/>
        </p:nvSpPr>
        <p:spPr>
          <a:xfrm>
            <a:off x="2103120" y="877824"/>
            <a:ext cx="457200" cy="320040"/>
          </a:xfrm>
          <a:prstGeom prst="rect">
            <a:avLst/>
          </a:prstGeom>
          <a:noFill/>
          <a:ln/>
        </p:spPr>
        <p:txBody>
          <a:bodyPr wrap="square" rtlCol="0" anchor="ctr"/>
          <a:lstStyle/>
          <a:p>
            <a:pPr indent="0" marL="0">
              <a:buNone/>
            </a:pPr>
            <a:r>
              <a:rPr lang="en-US" sz="800" b="1" dirty="0">
                <a:solidFill>
                  <a:srgbClr val="C0392B"/>
                </a:solidFill>
                <a:latin typeface="Atkinson Hyperlegible" pitchFamily="34" charset="0"/>
                <a:ea typeface="Atkinson Hyperlegible" pitchFamily="34" charset="-122"/>
                <a:cs typeface="Atkinson Hyperlegible" pitchFamily="34" charset="-120"/>
              </a:rPr>
              <a:t>T-2</a:t>
            </a:r>
            <a:endParaRPr lang="en-US" sz="800" dirty="0"/>
          </a:p>
        </p:txBody>
      </p:sp>
      <p:sp>
        <p:nvSpPr>
          <p:cNvPr id="12" name="Text 10"/>
          <p:cNvSpPr/>
          <p:nvPr/>
        </p:nvSpPr>
        <p:spPr>
          <a:xfrm>
            <a:off x="2103120" y="1170432"/>
            <a:ext cx="1517904" cy="347472"/>
          </a:xfrm>
          <a:prstGeom prst="rect">
            <a:avLst/>
          </a:prstGeom>
          <a:noFill/>
          <a:ln/>
        </p:spPr>
        <p:txBody>
          <a:bodyPr wrap="square" rtlCol="0" anchor="ctr"/>
          <a:lstStyle/>
          <a:p>
            <a:pPr indent="0" marL="0">
              <a:buNone/>
            </a:pPr>
            <a:r>
              <a:rPr lang="en-US" sz="700" dirty="0">
                <a:solidFill>
                  <a:srgbClr val="1D1D1F"/>
                </a:solidFill>
                <a:latin typeface="Atkinson Hyperlegible" pitchFamily="34" charset="0"/>
                <a:ea typeface="Atkinson Hyperlegible" pitchFamily="34" charset="-122"/>
                <a:cs typeface="Atkinson Hyperlegible" pitchFamily="34" charset="-120"/>
              </a:rPr>
              <a:t>Program Evaluation</a:t>
            </a:r>
            <a:endParaRPr lang="en-US" sz="700" dirty="0"/>
          </a:p>
        </p:txBody>
      </p:sp>
      <p:sp>
        <p:nvSpPr>
          <p:cNvPr id="13" name="Shape 11"/>
          <p:cNvSpPr/>
          <p:nvPr/>
        </p:nvSpPr>
        <p:spPr>
          <a:xfrm>
            <a:off x="2103120" y="1517904"/>
            <a:ext cx="1517904" cy="155448"/>
          </a:xfrm>
          <a:prstGeom prst="roundRect">
            <a:avLst>
              <a:gd name="adj" fmla="val 23529"/>
            </a:avLst>
          </a:prstGeom>
          <a:solidFill>
            <a:srgbClr val="C0392B"/>
          </a:solidFill>
          <a:ln w="12700">
            <a:solidFill>
              <a:srgbClr val="C0392B"/>
            </a:solidFill>
            <a:prstDash val="solid"/>
          </a:ln>
        </p:spPr>
      </p:sp>
      <p:sp>
        <p:nvSpPr>
          <p:cNvPr id="14" name="Text 12"/>
          <p:cNvSpPr/>
          <p:nvPr/>
        </p:nvSpPr>
        <p:spPr>
          <a:xfrm>
            <a:off x="2103120" y="1517904"/>
            <a:ext cx="1517904" cy="155448"/>
          </a:xfrm>
          <a:prstGeom prst="rect">
            <a:avLst/>
          </a:prstGeom>
          <a:noFill/>
          <a:ln/>
        </p:spPr>
        <p:txBody>
          <a:bodyPr wrap="square" rtlCol="0" anchor="ctr"/>
          <a:lstStyle/>
          <a:p>
            <a:pPr algn="ctr" indent="0" marL="0">
              <a:buNone/>
            </a:pPr>
            <a:r>
              <a:rPr lang="en-US" sz="600" b="1" dirty="0">
                <a:solidFill>
                  <a:srgbClr val="FFFFFF"/>
                </a:solidFill>
                <a:latin typeface="Atkinson Hyperlegible" pitchFamily="34" charset="0"/>
                <a:ea typeface="Atkinson Hyperlegible" pitchFamily="34" charset="-122"/>
                <a:cs typeface="Atkinson Hyperlegible" pitchFamily="34" charset="-120"/>
              </a:rPr>
              <a:t>Evaluación</a:t>
            </a:r>
            <a:endParaRPr lang="en-US" sz="600" dirty="0"/>
          </a:p>
        </p:txBody>
      </p:sp>
      <p:sp>
        <p:nvSpPr>
          <p:cNvPr id="15" name="Shape 13"/>
          <p:cNvSpPr/>
          <p:nvPr/>
        </p:nvSpPr>
        <p:spPr>
          <a:xfrm>
            <a:off x="3739896" y="822960"/>
            <a:ext cx="1664208" cy="896112"/>
          </a:xfrm>
          <a:prstGeom prst="roundRect">
            <a:avLst>
              <a:gd name="adj" fmla="val 7143"/>
            </a:avLst>
          </a:prstGeom>
          <a:solidFill>
            <a:srgbClr val="C0392B"/>
          </a:solidFill>
          <a:ln w="12700">
            <a:solidFill>
              <a:srgbClr val="C0392B"/>
            </a:solidFill>
            <a:prstDash val="solid"/>
          </a:ln>
        </p:spPr>
      </p:sp>
      <p:sp>
        <p:nvSpPr>
          <p:cNvPr id="16" name="Text 14"/>
          <p:cNvSpPr/>
          <p:nvPr/>
        </p:nvSpPr>
        <p:spPr>
          <a:xfrm>
            <a:off x="3813048" y="877824"/>
            <a:ext cx="457200" cy="320040"/>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T-3</a:t>
            </a:r>
            <a:endParaRPr lang="en-US" sz="800" dirty="0"/>
          </a:p>
        </p:txBody>
      </p:sp>
      <p:sp>
        <p:nvSpPr>
          <p:cNvPr id="17" name="Text 15"/>
          <p:cNvSpPr/>
          <p:nvPr/>
        </p:nvSpPr>
        <p:spPr>
          <a:xfrm>
            <a:off x="3813048" y="1170432"/>
            <a:ext cx="1517904" cy="347472"/>
          </a:xfrm>
          <a:prstGeom prst="rect">
            <a:avLst/>
          </a:prstGeom>
          <a:noFill/>
          <a:ln/>
        </p:spPr>
        <p:txBody>
          <a:bodyPr wrap="square" rtlCol="0" anchor="ctr"/>
          <a:lstStyle/>
          <a:p>
            <a:pPr indent="0" marL="0">
              <a:buNone/>
            </a:pPr>
            <a:r>
              <a:rPr lang="en-US" sz="700" dirty="0">
                <a:solidFill>
                  <a:srgbClr val="E8E8ED"/>
                </a:solidFill>
                <a:latin typeface="Atkinson Hyperlegible" pitchFamily="34" charset="0"/>
                <a:ea typeface="Atkinson Hyperlegible" pitchFamily="34" charset="-122"/>
                <a:cs typeface="Atkinson Hyperlegible" pitchFamily="34" charset="-120"/>
              </a:rPr>
              <a:t>Program Assessment</a:t>
            </a:r>
            <a:endParaRPr lang="en-US" sz="700" dirty="0"/>
          </a:p>
        </p:txBody>
      </p:sp>
      <p:sp>
        <p:nvSpPr>
          <p:cNvPr id="18" name="Shape 16"/>
          <p:cNvSpPr/>
          <p:nvPr/>
        </p:nvSpPr>
        <p:spPr>
          <a:xfrm>
            <a:off x="3813048" y="1517904"/>
            <a:ext cx="1517904" cy="155448"/>
          </a:xfrm>
          <a:prstGeom prst="roundRect">
            <a:avLst>
              <a:gd name="adj" fmla="val 23529"/>
            </a:avLst>
          </a:prstGeom>
          <a:solidFill>
            <a:srgbClr val="FFFFFF"/>
          </a:solidFill>
          <a:ln w="12700">
            <a:solidFill>
              <a:srgbClr val="FFFFFF"/>
            </a:solidFill>
            <a:prstDash val="solid"/>
          </a:ln>
        </p:spPr>
      </p:sp>
      <p:sp>
        <p:nvSpPr>
          <p:cNvPr id="19" name="Text 17"/>
          <p:cNvSpPr/>
          <p:nvPr/>
        </p:nvSpPr>
        <p:spPr>
          <a:xfrm>
            <a:off x="3813048" y="1517904"/>
            <a:ext cx="1517904" cy="155448"/>
          </a:xfrm>
          <a:prstGeom prst="rect">
            <a:avLst/>
          </a:prstGeom>
          <a:noFill/>
          <a:ln/>
        </p:spPr>
        <p:txBody>
          <a:bodyPr wrap="square" rtlCol="0" anchor="ctr"/>
          <a:lstStyle/>
          <a:p>
            <a:pPr algn="ctr" indent="0" marL="0">
              <a:buNone/>
            </a:pPr>
            <a:r>
              <a:rPr lang="en-US" sz="600" b="1" dirty="0">
                <a:solidFill>
                  <a:srgbClr val="AAAAAA"/>
                </a:solidFill>
                <a:latin typeface="Atkinson Hyperlegible" pitchFamily="34" charset="0"/>
                <a:ea typeface="Atkinson Hyperlegible" pitchFamily="34" charset="-122"/>
                <a:cs typeface="Atkinson Hyperlegible" pitchFamily="34" charset="-120"/>
              </a:rPr>
              <a:t>Diagnóstico</a:t>
            </a:r>
            <a:endParaRPr lang="en-US" sz="600" dirty="0"/>
          </a:p>
        </p:txBody>
      </p:sp>
      <p:sp>
        <p:nvSpPr>
          <p:cNvPr id="20" name="Shape 18"/>
          <p:cNvSpPr/>
          <p:nvPr/>
        </p:nvSpPr>
        <p:spPr>
          <a:xfrm>
            <a:off x="5449824" y="822960"/>
            <a:ext cx="1664208" cy="896112"/>
          </a:xfrm>
          <a:prstGeom prst="roundRect">
            <a:avLst>
              <a:gd name="adj" fmla="val 7143"/>
            </a:avLst>
          </a:prstGeom>
          <a:solidFill>
            <a:srgbClr val="F8F8FA"/>
          </a:solidFill>
          <a:ln w="12700">
            <a:solidFill>
              <a:srgbClr val="C0392B"/>
            </a:solidFill>
            <a:prstDash val="solid"/>
          </a:ln>
        </p:spPr>
      </p:sp>
      <p:sp>
        <p:nvSpPr>
          <p:cNvPr id="21" name="Text 19"/>
          <p:cNvSpPr/>
          <p:nvPr/>
        </p:nvSpPr>
        <p:spPr>
          <a:xfrm>
            <a:off x="5522976" y="877824"/>
            <a:ext cx="457200" cy="320040"/>
          </a:xfrm>
          <a:prstGeom prst="rect">
            <a:avLst/>
          </a:prstGeom>
          <a:noFill/>
          <a:ln/>
        </p:spPr>
        <p:txBody>
          <a:bodyPr wrap="square" rtlCol="0" anchor="ctr"/>
          <a:lstStyle/>
          <a:p>
            <a:pPr indent="0" marL="0">
              <a:buNone/>
            </a:pPr>
            <a:r>
              <a:rPr lang="en-US" sz="800" b="1" dirty="0">
                <a:solidFill>
                  <a:srgbClr val="C0392B"/>
                </a:solidFill>
                <a:latin typeface="Atkinson Hyperlegible" pitchFamily="34" charset="0"/>
                <a:ea typeface="Atkinson Hyperlegible" pitchFamily="34" charset="-122"/>
                <a:cs typeface="Atkinson Hyperlegible" pitchFamily="34" charset="-120"/>
              </a:rPr>
              <a:t>T-4</a:t>
            </a:r>
            <a:endParaRPr lang="en-US" sz="800" dirty="0"/>
          </a:p>
        </p:txBody>
      </p:sp>
      <p:sp>
        <p:nvSpPr>
          <p:cNvPr id="22" name="Text 20"/>
          <p:cNvSpPr/>
          <p:nvPr/>
        </p:nvSpPr>
        <p:spPr>
          <a:xfrm>
            <a:off x="5522976" y="1170432"/>
            <a:ext cx="1517904" cy="347472"/>
          </a:xfrm>
          <a:prstGeom prst="rect">
            <a:avLst/>
          </a:prstGeom>
          <a:noFill/>
          <a:ln/>
        </p:spPr>
        <p:txBody>
          <a:bodyPr wrap="square" rtlCol="0" anchor="ctr"/>
          <a:lstStyle/>
          <a:p>
            <a:pPr indent="0" marL="0">
              <a:buNone/>
            </a:pPr>
            <a:r>
              <a:rPr lang="en-US" sz="700" dirty="0">
                <a:solidFill>
                  <a:srgbClr val="1D1D1F"/>
                </a:solidFill>
                <a:latin typeface="Atkinson Hyperlegible" pitchFamily="34" charset="0"/>
                <a:ea typeface="Atkinson Hyperlegible" pitchFamily="34" charset="-122"/>
                <a:cs typeface="Atkinson Hyperlegible" pitchFamily="34" charset="-120"/>
              </a:rPr>
              <a:t>Early Constructability Review</a:t>
            </a:r>
            <a:endParaRPr lang="en-US" sz="700" dirty="0"/>
          </a:p>
        </p:txBody>
      </p:sp>
      <p:sp>
        <p:nvSpPr>
          <p:cNvPr id="23" name="Shape 21"/>
          <p:cNvSpPr/>
          <p:nvPr/>
        </p:nvSpPr>
        <p:spPr>
          <a:xfrm>
            <a:off x="5522976" y="1517904"/>
            <a:ext cx="1517904" cy="155448"/>
          </a:xfrm>
          <a:prstGeom prst="roundRect">
            <a:avLst>
              <a:gd name="adj" fmla="val 23529"/>
            </a:avLst>
          </a:prstGeom>
          <a:solidFill>
            <a:srgbClr val="C0392B"/>
          </a:solidFill>
          <a:ln w="12700">
            <a:solidFill>
              <a:srgbClr val="C0392B"/>
            </a:solidFill>
            <a:prstDash val="solid"/>
          </a:ln>
        </p:spPr>
      </p:sp>
      <p:sp>
        <p:nvSpPr>
          <p:cNvPr id="24" name="Text 22"/>
          <p:cNvSpPr/>
          <p:nvPr/>
        </p:nvSpPr>
        <p:spPr>
          <a:xfrm>
            <a:off x="5522976" y="1517904"/>
            <a:ext cx="1517904" cy="155448"/>
          </a:xfrm>
          <a:prstGeom prst="rect">
            <a:avLst/>
          </a:prstGeom>
          <a:noFill/>
          <a:ln/>
        </p:spPr>
        <p:txBody>
          <a:bodyPr wrap="square" rtlCol="0" anchor="ctr"/>
          <a:lstStyle/>
          <a:p>
            <a:pPr algn="ctr" indent="0" marL="0">
              <a:buNone/>
            </a:pPr>
            <a:r>
              <a:rPr lang="en-US" sz="600" b="1" dirty="0">
                <a:solidFill>
                  <a:srgbClr val="FFFFFF"/>
                </a:solidFill>
                <a:latin typeface="Atkinson Hyperlegible" pitchFamily="34" charset="0"/>
                <a:ea typeface="Atkinson Hyperlegible" pitchFamily="34" charset="-122"/>
                <a:cs typeface="Atkinson Hyperlegible" pitchFamily="34" charset="-120"/>
              </a:rPr>
              <a:t>Fase I</a:t>
            </a:r>
            <a:endParaRPr lang="en-US" sz="600" dirty="0"/>
          </a:p>
        </p:txBody>
      </p:sp>
      <p:sp>
        <p:nvSpPr>
          <p:cNvPr id="25" name="Shape 23"/>
          <p:cNvSpPr/>
          <p:nvPr/>
        </p:nvSpPr>
        <p:spPr>
          <a:xfrm>
            <a:off x="7159752" y="822960"/>
            <a:ext cx="1664208" cy="896112"/>
          </a:xfrm>
          <a:prstGeom prst="roundRect">
            <a:avLst>
              <a:gd name="adj" fmla="val 7143"/>
            </a:avLst>
          </a:prstGeom>
          <a:solidFill>
            <a:srgbClr val="C0392B"/>
          </a:solidFill>
          <a:ln w="12700">
            <a:solidFill>
              <a:srgbClr val="C0392B"/>
            </a:solidFill>
            <a:prstDash val="solid"/>
          </a:ln>
        </p:spPr>
      </p:sp>
      <p:sp>
        <p:nvSpPr>
          <p:cNvPr id="26" name="Text 24"/>
          <p:cNvSpPr/>
          <p:nvPr/>
        </p:nvSpPr>
        <p:spPr>
          <a:xfrm>
            <a:off x="7232904" y="877824"/>
            <a:ext cx="457200" cy="320040"/>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T-5</a:t>
            </a:r>
            <a:endParaRPr lang="en-US" sz="800" dirty="0"/>
          </a:p>
        </p:txBody>
      </p:sp>
      <p:sp>
        <p:nvSpPr>
          <p:cNvPr id="27" name="Text 25"/>
          <p:cNvSpPr/>
          <p:nvPr/>
        </p:nvSpPr>
        <p:spPr>
          <a:xfrm>
            <a:off x="7232904" y="1170432"/>
            <a:ext cx="1517904" cy="347472"/>
          </a:xfrm>
          <a:prstGeom prst="rect">
            <a:avLst/>
          </a:prstGeom>
          <a:noFill/>
          <a:ln/>
        </p:spPr>
        <p:txBody>
          <a:bodyPr wrap="square" rtlCol="0" anchor="ctr"/>
          <a:lstStyle/>
          <a:p>
            <a:pPr indent="0" marL="0">
              <a:buNone/>
            </a:pPr>
            <a:r>
              <a:rPr lang="en-US" sz="700" dirty="0">
                <a:solidFill>
                  <a:srgbClr val="E8E8ED"/>
                </a:solidFill>
                <a:latin typeface="Atkinson Hyperlegible" pitchFamily="34" charset="0"/>
                <a:ea typeface="Atkinson Hyperlegible" pitchFamily="34" charset="-122"/>
                <a:cs typeface="Atkinson Hyperlegible" pitchFamily="34" charset="-120"/>
              </a:rPr>
              <a:t>Integrated Workshop</a:t>
            </a:r>
            <a:endParaRPr lang="en-US" sz="700" dirty="0"/>
          </a:p>
        </p:txBody>
      </p:sp>
      <p:sp>
        <p:nvSpPr>
          <p:cNvPr id="28" name="Shape 26"/>
          <p:cNvSpPr/>
          <p:nvPr/>
        </p:nvSpPr>
        <p:spPr>
          <a:xfrm>
            <a:off x="7232904" y="1517904"/>
            <a:ext cx="1517904" cy="155448"/>
          </a:xfrm>
          <a:prstGeom prst="roundRect">
            <a:avLst>
              <a:gd name="adj" fmla="val 23529"/>
            </a:avLst>
          </a:prstGeom>
          <a:solidFill>
            <a:srgbClr val="FFFFFF"/>
          </a:solidFill>
          <a:ln w="12700">
            <a:solidFill>
              <a:srgbClr val="FFFFFF"/>
            </a:solidFill>
            <a:prstDash val="solid"/>
          </a:ln>
        </p:spPr>
      </p:sp>
      <p:sp>
        <p:nvSpPr>
          <p:cNvPr id="29" name="Text 27"/>
          <p:cNvSpPr/>
          <p:nvPr/>
        </p:nvSpPr>
        <p:spPr>
          <a:xfrm>
            <a:off x="7232904" y="1517904"/>
            <a:ext cx="1517904" cy="155448"/>
          </a:xfrm>
          <a:prstGeom prst="rect">
            <a:avLst/>
          </a:prstGeom>
          <a:noFill/>
          <a:ln/>
        </p:spPr>
        <p:txBody>
          <a:bodyPr wrap="square" rtlCol="0" anchor="ctr"/>
          <a:lstStyle/>
          <a:p>
            <a:pPr algn="ctr" indent="0" marL="0">
              <a:buNone/>
            </a:pPr>
            <a:r>
              <a:rPr lang="en-US" sz="600" b="1" dirty="0">
                <a:solidFill>
                  <a:srgbClr val="AAAAAA"/>
                </a:solidFill>
                <a:latin typeface="Atkinson Hyperlegible" pitchFamily="34" charset="0"/>
                <a:ea typeface="Atkinson Hyperlegible" pitchFamily="34" charset="-122"/>
                <a:cs typeface="Atkinson Hyperlegible" pitchFamily="34" charset="-120"/>
              </a:rPr>
              <a:t>Fase I-II</a:t>
            </a:r>
            <a:endParaRPr lang="en-US" sz="600" dirty="0"/>
          </a:p>
        </p:txBody>
      </p:sp>
      <p:sp>
        <p:nvSpPr>
          <p:cNvPr id="30" name="Shape 28"/>
          <p:cNvSpPr/>
          <p:nvPr/>
        </p:nvSpPr>
        <p:spPr>
          <a:xfrm>
            <a:off x="320040" y="1792224"/>
            <a:ext cx="1664208" cy="896112"/>
          </a:xfrm>
          <a:prstGeom prst="roundRect">
            <a:avLst>
              <a:gd name="adj" fmla="val 7143"/>
            </a:avLst>
          </a:prstGeom>
          <a:solidFill>
            <a:srgbClr val="C0392B"/>
          </a:solidFill>
          <a:ln w="12700">
            <a:solidFill>
              <a:srgbClr val="C0392B"/>
            </a:solidFill>
            <a:prstDash val="solid"/>
          </a:ln>
        </p:spPr>
      </p:sp>
      <p:sp>
        <p:nvSpPr>
          <p:cNvPr id="31" name="Text 29"/>
          <p:cNvSpPr/>
          <p:nvPr/>
        </p:nvSpPr>
        <p:spPr>
          <a:xfrm>
            <a:off x="393192" y="1847088"/>
            <a:ext cx="457200" cy="320040"/>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T-6</a:t>
            </a:r>
            <a:endParaRPr lang="en-US" sz="800" dirty="0"/>
          </a:p>
        </p:txBody>
      </p:sp>
      <p:sp>
        <p:nvSpPr>
          <p:cNvPr id="32" name="Text 30"/>
          <p:cNvSpPr/>
          <p:nvPr/>
        </p:nvSpPr>
        <p:spPr>
          <a:xfrm>
            <a:off x="393192" y="2139696"/>
            <a:ext cx="1517904" cy="347472"/>
          </a:xfrm>
          <a:prstGeom prst="rect">
            <a:avLst/>
          </a:prstGeom>
          <a:noFill/>
          <a:ln/>
        </p:spPr>
        <p:txBody>
          <a:bodyPr wrap="square" rtlCol="0" anchor="ctr"/>
          <a:lstStyle/>
          <a:p>
            <a:pPr indent="0" marL="0">
              <a:buNone/>
            </a:pPr>
            <a:r>
              <a:rPr lang="en-US" sz="700" dirty="0">
                <a:solidFill>
                  <a:srgbClr val="E8E8ED"/>
                </a:solidFill>
                <a:latin typeface="Atkinson Hyperlegible" pitchFamily="34" charset="0"/>
                <a:ea typeface="Atkinson Hyperlegible" pitchFamily="34" charset="-122"/>
                <a:cs typeface="Atkinson Hyperlegible" pitchFamily="34" charset="-120"/>
              </a:rPr>
              <a:t>Barrier-Busters</a:t>
            </a:r>
            <a:endParaRPr lang="en-US" sz="700" dirty="0"/>
          </a:p>
        </p:txBody>
      </p:sp>
      <p:sp>
        <p:nvSpPr>
          <p:cNvPr id="33" name="Shape 31"/>
          <p:cNvSpPr/>
          <p:nvPr/>
        </p:nvSpPr>
        <p:spPr>
          <a:xfrm>
            <a:off x="393192" y="2487168"/>
            <a:ext cx="1517904" cy="155448"/>
          </a:xfrm>
          <a:prstGeom prst="roundRect">
            <a:avLst>
              <a:gd name="adj" fmla="val 23529"/>
            </a:avLst>
          </a:prstGeom>
          <a:solidFill>
            <a:srgbClr val="FFFFFF"/>
          </a:solidFill>
          <a:ln w="12700">
            <a:solidFill>
              <a:srgbClr val="FFFFFF"/>
            </a:solidFill>
            <a:prstDash val="solid"/>
          </a:ln>
        </p:spPr>
      </p:sp>
      <p:sp>
        <p:nvSpPr>
          <p:cNvPr id="34" name="Text 32"/>
          <p:cNvSpPr/>
          <p:nvPr/>
        </p:nvSpPr>
        <p:spPr>
          <a:xfrm>
            <a:off x="393192" y="2487168"/>
            <a:ext cx="1517904" cy="155448"/>
          </a:xfrm>
          <a:prstGeom prst="rect">
            <a:avLst/>
          </a:prstGeom>
          <a:noFill/>
          <a:ln/>
        </p:spPr>
        <p:txBody>
          <a:bodyPr wrap="square" rtlCol="0" anchor="ctr"/>
          <a:lstStyle/>
          <a:p>
            <a:pPr algn="ctr" indent="0" marL="0">
              <a:buNone/>
            </a:pPr>
            <a:r>
              <a:rPr lang="en-US" sz="600" b="1" dirty="0">
                <a:solidFill>
                  <a:srgbClr val="AAAAAA"/>
                </a:solidFill>
                <a:latin typeface="Atkinson Hyperlegible" pitchFamily="34" charset="0"/>
                <a:ea typeface="Atkinson Hyperlegible" pitchFamily="34" charset="-122"/>
                <a:cs typeface="Atkinson Hyperlegible" pitchFamily="34" charset="-120"/>
              </a:rPr>
              <a:t>Implementación</a:t>
            </a:r>
            <a:endParaRPr lang="en-US" sz="600" dirty="0"/>
          </a:p>
        </p:txBody>
      </p:sp>
      <p:sp>
        <p:nvSpPr>
          <p:cNvPr id="35" name="Shape 33"/>
          <p:cNvSpPr/>
          <p:nvPr/>
        </p:nvSpPr>
        <p:spPr>
          <a:xfrm>
            <a:off x="2029968" y="1792224"/>
            <a:ext cx="1664208" cy="896112"/>
          </a:xfrm>
          <a:prstGeom prst="roundRect">
            <a:avLst>
              <a:gd name="adj" fmla="val 7143"/>
            </a:avLst>
          </a:prstGeom>
          <a:solidFill>
            <a:srgbClr val="F8F8FA"/>
          </a:solidFill>
          <a:ln w="12700">
            <a:solidFill>
              <a:srgbClr val="C0392B"/>
            </a:solidFill>
            <a:prstDash val="solid"/>
          </a:ln>
        </p:spPr>
      </p:sp>
      <p:sp>
        <p:nvSpPr>
          <p:cNvPr id="36" name="Text 34"/>
          <p:cNvSpPr/>
          <p:nvPr/>
        </p:nvSpPr>
        <p:spPr>
          <a:xfrm>
            <a:off x="2103120" y="1847088"/>
            <a:ext cx="457200" cy="320040"/>
          </a:xfrm>
          <a:prstGeom prst="rect">
            <a:avLst/>
          </a:prstGeom>
          <a:noFill/>
          <a:ln/>
        </p:spPr>
        <p:txBody>
          <a:bodyPr wrap="square" rtlCol="0" anchor="ctr"/>
          <a:lstStyle/>
          <a:p>
            <a:pPr indent="0" marL="0">
              <a:buNone/>
            </a:pPr>
            <a:r>
              <a:rPr lang="en-US" sz="800" b="1" dirty="0">
                <a:solidFill>
                  <a:srgbClr val="C0392B"/>
                </a:solidFill>
                <a:latin typeface="Atkinson Hyperlegible" pitchFamily="34" charset="0"/>
                <a:ea typeface="Atkinson Hyperlegible" pitchFamily="34" charset="-122"/>
                <a:cs typeface="Atkinson Hyperlegible" pitchFamily="34" charset="-120"/>
              </a:rPr>
              <a:t>T-7</a:t>
            </a:r>
            <a:endParaRPr lang="en-US" sz="800" dirty="0"/>
          </a:p>
        </p:txBody>
      </p:sp>
      <p:sp>
        <p:nvSpPr>
          <p:cNvPr id="37" name="Text 35"/>
          <p:cNvSpPr/>
          <p:nvPr/>
        </p:nvSpPr>
        <p:spPr>
          <a:xfrm>
            <a:off x="2103120" y="2139696"/>
            <a:ext cx="1517904" cy="347472"/>
          </a:xfrm>
          <a:prstGeom prst="rect">
            <a:avLst/>
          </a:prstGeom>
          <a:noFill/>
          <a:ln/>
        </p:spPr>
        <p:txBody>
          <a:bodyPr wrap="square" rtlCol="0" anchor="ctr"/>
          <a:lstStyle/>
          <a:p>
            <a:pPr indent="0" marL="0">
              <a:buNone/>
            </a:pPr>
            <a:r>
              <a:rPr lang="en-US" sz="700" dirty="0">
                <a:solidFill>
                  <a:srgbClr val="1D1D1F"/>
                </a:solidFill>
                <a:latin typeface="Atkinson Hyperlegible" pitchFamily="34" charset="0"/>
                <a:ea typeface="Atkinson Hyperlegible" pitchFamily="34" charset="-122"/>
                <a:cs typeface="Atkinson Hyperlegible" pitchFamily="34" charset="-120"/>
              </a:rPr>
              <a:t>Model Completion Strategy</a:t>
            </a:r>
            <a:endParaRPr lang="en-US" sz="700" dirty="0"/>
          </a:p>
        </p:txBody>
      </p:sp>
      <p:sp>
        <p:nvSpPr>
          <p:cNvPr id="38" name="Shape 36"/>
          <p:cNvSpPr/>
          <p:nvPr/>
        </p:nvSpPr>
        <p:spPr>
          <a:xfrm>
            <a:off x="2103120" y="2487168"/>
            <a:ext cx="1517904" cy="155448"/>
          </a:xfrm>
          <a:prstGeom prst="roundRect">
            <a:avLst>
              <a:gd name="adj" fmla="val 23529"/>
            </a:avLst>
          </a:prstGeom>
          <a:solidFill>
            <a:srgbClr val="C0392B"/>
          </a:solidFill>
          <a:ln w="12700">
            <a:solidFill>
              <a:srgbClr val="C0392B"/>
            </a:solidFill>
            <a:prstDash val="solid"/>
          </a:ln>
        </p:spPr>
      </p:sp>
      <p:sp>
        <p:nvSpPr>
          <p:cNvPr id="39" name="Text 37"/>
          <p:cNvSpPr/>
          <p:nvPr/>
        </p:nvSpPr>
        <p:spPr>
          <a:xfrm>
            <a:off x="2103120" y="2487168"/>
            <a:ext cx="1517904" cy="155448"/>
          </a:xfrm>
          <a:prstGeom prst="rect">
            <a:avLst/>
          </a:prstGeom>
          <a:noFill/>
          <a:ln/>
        </p:spPr>
        <p:txBody>
          <a:bodyPr wrap="square" rtlCol="0" anchor="ctr"/>
          <a:lstStyle/>
          <a:p>
            <a:pPr algn="ctr" indent="0" marL="0">
              <a:buNone/>
            </a:pPr>
            <a:r>
              <a:rPr lang="en-US" sz="600" b="1" dirty="0">
                <a:solidFill>
                  <a:srgbClr val="FFFFFF"/>
                </a:solidFill>
                <a:latin typeface="Atkinson Hyperlegible" pitchFamily="34" charset="0"/>
                <a:ea typeface="Atkinson Hyperlegible" pitchFamily="34" charset="-122"/>
                <a:cs typeface="Atkinson Hyperlegible" pitchFamily="34" charset="-120"/>
              </a:rPr>
              <a:t>Fase I</a:t>
            </a:r>
            <a:endParaRPr lang="en-US" sz="600" dirty="0"/>
          </a:p>
        </p:txBody>
      </p:sp>
      <p:sp>
        <p:nvSpPr>
          <p:cNvPr id="40" name="Shape 38"/>
          <p:cNvSpPr/>
          <p:nvPr/>
        </p:nvSpPr>
        <p:spPr>
          <a:xfrm>
            <a:off x="3739896" y="1792224"/>
            <a:ext cx="1664208" cy="896112"/>
          </a:xfrm>
          <a:prstGeom prst="roundRect">
            <a:avLst>
              <a:gd name="adj" fmla="val 7143"/>
            </a:avLst>
          </a:prstGeom>
          <a:solidFill>
            <a:srgbClr val="C0392B"/>
          </a:solidFill>
          <a:ln w="12700">
            <a:solidFill>
              <a:srgbClr val="C0392B"/>
            </a:solidFill>
            <a:prstDash val="solid"/>
          </a:ln>
        </p:spPr>
      </p:sp>
      <p:sp>
        <p:nvSpPr>
          <p:cNvPr id="41" name="Text 39"/>
          <p:cNvSpPr/>
          <p:nvPr/>
        </p:nvSpPr>
        <p:spPr>
          <a:xfrm>
            <a:off x="3813048" y="1847088"/>
            <a:ext cx="457200" cy="320040"/>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T-8</a:t>
            </a:r>
            <a:endParaRPr lang="en-US" sz="800" dirty="0"/>
          </a:p>
        </p:txBody>
      </p:sp>
      <p:sp>
        <p:nvSpPr>
          <p:cNvPr id="42" name="Text 40"/>
          <p:cNvSpPr/>
          <p:nvPr/>
        </p:nvSpPr>
        <p:spPr>
          <a:xfrm>
            <a:off x="3813048" y="2139696"/>
            <a:ext cx="1517904" cy="347472"/>
          </a:xfrm>
          <a:prstGeom prst="rect">
            <a:avLst/>
          </a:prstGeom>
          <a:noFill/>
          <a:ln/>
        </p:spPr>
        <p:txBody>
          <a:bodyPr wrap="square" rtlCol="0" anchor="ctr"/>
          <a:lstStyle/>
          <a:p>
            <a:pPr indent="0" marL="0">
              <a:buNone/>
            </a:pPr>
            <a:r>
              <a:rPr lang="en-US" sz="700" dirty="0">
                <a:solidFill>
                  <a:srgbClr val="E8E8ED"/>
                </a:solidFill>
                <a:latin typeface="Atkinson Hyperlegible" pitchFamily="34" charset="0"/>
                <a:ea typeface="Atkinson Hyperlegible" pitchFamily="34" charset="-122"/>
                <a:cs typeface="Atkinson Hyperlegible" pitchFamily="34" charset="-120"/>
              </a:rPr>
              <a:t>Design/Construction Norms</a:t>
            </a:r>
            <a:endParaRPr lang="en-US" sz="700" dirty="0"/>
          </a:p>
        </p:txBody>
      </p:sp>
      <p:sp>
        <p:nvSpPr>
          <p:cNvPr id="43" name="Shape 41"/>
          <p:cNvSpPr/>
          <p:nvPr/>
        </p:nvSpPr>
        <p:spPr>
          <a:xfrm>
            <a:off x="3813048" y="2487168"/>
            <a:ext cx="1517904" cy="155448"/>
          </a:xfrm>
          <a:prstGeom prst="roundRect">
            <a:avLst>
              <a:gd name="adj" fmla="val 23529"/>
            </a:avLst>
          </a:prstGeom>
          <a:solidFill>
            <a:srgbClr val="FFFFFF"/>
          </a:solidFill>
          <a:ln w="12700">
            <a:solidFill>
              <a:srgbClr val="FFFFFF"/>
            </a:solidFill>
            <a:prstDash val="solid"/>
          </a:ln>
        </p:spPr>
      </p:sp>
      <p:sp>
        <p:nvSpPr>
          <p:cNvPr id="44" name="Text 42"/>
          <p:cNvSpPr/>
          <p:nvPr/>
        </p:nvSpPr>
        <p:spPr>
          <a:xfrm>
            <a:off x="3813048" y="2487168"/>
            <a:ext cx="1517904" cy="155448"/>
          </a:xfrm>
          <a:prstGeom prst="rect">
            <a:avLst/>
          </a:prstGeom>
          <a:noFill/>
          <a:ln/>
        </p:spPr>
        <p:txBody>
          <a:bodyPr wrap="square" rtlCol="0" anchor="ctr"/>
          <a:lstStyle/>
          <a:p>
            <a:pPr algn="ctr" indent="0" marL="0">
              <a:buNone/>
            </a:pPr>
            <a:r>
              <a:rPr lang="en-US" sz="600" b="1" dirty="0">
                <a:solidFill>
                  <a:srgbClr val="AAAAAA"/>
                </a:solidFill>
                <a:latin typeface="Atkinson Hyperlegible" pitchFamily="34" charset="0"/>
                <a:ea typeface="Atkinson Hyperlegible" pitchFamily="34" charset="-122"/>
                <a:cs typeface="Atkinson Hyperlegible" pitchFamily="34" charset="-120"/>
              </a:rPr>
              <a:t>Fase II</a:t>
            </a:r>
            <a:endParaRPr lang="en-US" sz="600" dirty="0"/>
          </a:p>
        </p:txBody>
      </p:sp>
      <p:sp>
        <p:nvSpPr>
          <p:cNvPr id="45" name="Shape 43"/>
          <p:cNvSpPr/>
          <p:nvPr/>
        </p:nvSpPr>
        <p:spPr>
          <a:xfrm>
            <a:off x="5449824" y="1792224"/>
            <a:ext cx="1664208" cy="896112"/>
          </a:xfrm>
          <a:prstGeom prst="roundRect">
            <a:avLst>
              <a:gd name="adj" fmla="val 7143"/>
            </a:avLst>
          </a:prstGeom>
          <a:solidFill>
            <a:srgbClr val="F8F8FA"/>
          </a:solidFill>
          <a:ln w="12700">
            <a:solidFill>
              <a:srgbClr val="C0392B"/>
            </a:solidFill>
            <a:prstDash val="solid"/>
          </a:ln>
        </p:spPr>
      </p:sp>
      <p:sp>
        <p:nvSpPr>
          <p:cNvPr id="46" name="Text 44"/>
          <p:cNvSpPr/>
          <p:nvPr/>
        </p:nvSpPr>
        <p:spPr>
          <a:xfrm>
            <a:off x="5522976" y="1847088"/>
            <a:ext cx="457200" cy="320040"/>
          </a:xfrm>
          <a:prstGeom prst="rect">
            <a:avLst/>
          </a:prstGeom>
          <a:noFill/>
          <a:ln/>
        </p:spPr>
        <p:txBody>
          <a:bodyPr wrap="square" rtlCol="0" anchor="ctr"/>
          <a:lstStyle/>
          <a:p>
            <a:pPr indent="0" marL="0">
              <a:buNone/>
            </a:pPr>
            <a:r>
              <a:rPr lang="en-US" sz="800" b="1" dirty="0">
                <a:solidFill>
                  <a:srgbClr val="C0392B"/>
                </a:solidFill>
                <a:latin typeface="Atkinson Hyperlegible" pitchFamily="34" charset="0"/>
                <a:ea typeface="Atkinson Hyperlegible" pitchFamily="34" charset="-122"/>
                <a:cs typeface="Atkinson Hyperlegible" pitchFamily="34" charset="-120"/>
              </a:rPr>
              <a:t>T-9</a:t>
            </a:r>
            <a:endParaRPr lang="en-US" sz="800" dirty="0"/>
          </a:p>
        </p:txBody>
      </p:sp>
      <p:sp>
        <p:nvSpPr>
          <p:cNvPr id="47" name="Text 45"/>
          <p:cNvSpPr/>
          <p:nvPr/>
        </p:nvSpPr>
        <p:spPr>
          <a:xfrm>
            <a:off x="5522976" y="2139696"/>
            <a:ext cx="1517904" cy="347472"/>
          </a:xfrm>
          <a:prstGeom prst="rect">
            <a:avLst/>
          </a:prstGeom>
          <a:noFill/>
          <a:ln/>
        </p:spPr>
        <p:txBody>
          <a:bodyPr wrap="square" rtlCol="0" anchor="ctr"/>
          <a:lstStyle/>
          <a:p>
            <a:pPr indent="0" marL="0">
              <a:buNone/>
            </a:pPr>
            <a:r>
              <a:rPr lang="en-US" sz="700" dirty="0">
                <a:solidFill>
                  <a:srgbClr val="1D1D1F"/>
                </a:solidFill>
                <a:latin typeface="Atkinson Hyperlegible" pitchFamily="34" charset="0"/>
                <a:ea typeface="Atkinson Hyperlegible" pitchFamily="34" charset="-122"/>
                <a:cs typeface="Atkinson Hyperlegible" pitchFamily="34" charset="-120"/>
              </a:rPr>
              <a:t>Design Simplification</a:t>
            </a:r>
            <a:endParaRPr lang="en-US" sz="700" dirty="0"/>
          </a:p>
        </p:txBody>
      </p:sp>
      <p:sp>
        <p:nvSpPr>
          <p:cNvPr id="48" name="Shape 46"/>
          <p:cNvSpPr/>
          <p:nvPr/>
        </p:nvSpPr>
        <p:spPr>
          <a:xfrm>
            <a:off x="5522976" y="2487168"/>
            <a:ext cx="1517904" cy="155448"/>
          </a:xfrm>
          <a:prstGeom prst="roundRect">
            <a:avLst>
              <a:gd name="adj" fmla="val 23529"/>
            </a:avLst>
          </a:prstGeom>
          <a:solidFill>
            <a:srgbClr val="C0392B"/>
          </a:solidFill>
          <a:ln w="12700">
            <a:solidFill>
              <a:srgbClr val="C0392B"/>
            </a:solidFill>
            <a:prstDash val="solid"/>
          </a:ln>
        </p:spPr>
      </p:sp>
      <p:sp>
        <p:nvSpPr>
          <p:cNvPr id="49" name="Text 47"/>
          <p:cNvSpPr/>
          <p:nvPr/>
        </p:nvSpPr>
        <p:spPr>
          <a:xfrm>
            <a:off x="5522976" y="2487168"/>
            <a:ext cx="1517904" cy="155448"/>
          </a:xfrm>
          <a:prstGeom prst="rect">
            <a:avLst/>
          </a:prstGeom>
          <a:noFill/>
          <a:ln/>
        </p:spPr>
        <p:txBody>
          <a:bodyPr wrap="square" rtlCol="0" anchor="ctr"/>
          <a:lstStyle/>
          <a:p>
            <a:pPr algn="ctr" indent="0" marL="0">
              <a:buNone/>
            </a:pPr>
            <a:r>
              <a:rPr lang="en-US" sz="600" b="1" dirty="0">
                <a:solidFill>
                  <a:srgbClr val="FFFFFF"/>
                </a:solidFill>
                <a:latin typeface="Atkinson Hyperlegible" pitchFamily="34" charset="0"/>
                <a:ea typeface="Atkinson Hyperlegible" pitchFamily="34" charset="-122"/>
                <a:cs typeface="Atkinson Hyperlegible" pitchFamily="34" charset="-120"/>
              </a:rPr>
              <a:t>Fase II</a:t>
            </a:r>
            <a:endParaRPr lang="en-US" sz="600" dirty="0"/>
          </a:p>
        </p:txBody>
      </p:sp>
      <p:sp>
        <p:nvSpPr>
          <p:cNvPr id="50" name="Shape 48"/>
          <p:cNvSpPr/>
          <p:nvPr/>
        </p:nvSpPr>
        <p:spPr>
          <a:xfrm>
            <a:off x="7159752" y="1792224"/>
            <a:ext cx="1664208" cy="896112"/>
          </a:xfrm>
          <a:prstGeom prst="roundRect">
            <a:avLst>
              <a:gd name="adj" fmla="val 7143"/>
            </a:avLst>
          </a:prstGeom>
          <a:solidFill>
            <a:srgbClr val="C0392B"/>
          </a:solidFill>
          <a:ln w="12700">
            <a:solidFill>
              <a:srgbClr val="C0392B"/>
            </a:solidFill>
            <a:prstDash val="solid"/>
          </a:ln>
        </p:spPr>
      </p:sp>
      <p:sp>
        <p:nvSpPr>
          <p:cNvPr id="51" name="Text 49"/>
          <p:cNvSpPr/>
          <p:nvPr/>
        </p:nvSpPr>
        <p:spPr>
          <a:xfrm>
            <a:off x="7232904" y="1847088"/>
            <a:ext cx="457200" cy="320040"/>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T-10</a:t>
            </a:r>
            <a:endParaRPr lang="en-US" sz="800" dirty="0"/>
          </a:p>
        </p:txBody>
      </p:sp>
      <p:sp>
        <p:nvSpPr>
          <p:cNvPr id="52" name="Text 50"/>
          <p:cNvSpPr/>
          <p:nvPr/>
        </p:nvSpPr>
        <p:spPr>
          <a:xfrm>
            <a:off x="7232904" y="2139696"/>
            <a:ext cx="1517904" cy="347472"/>
          </a:xfrm>
          <a:prstGeom prst="rect">
            <a:avLst/>
          </a:prstGeom>
          <a:noFill/>
          <a:ln/>
        </p:spPr>
        <p:txBody>
          <a:bodyPr wrap="square" rtlCol="0" anchor="ctr"/>
          <a:lstStyle/>
          <a:p>
            <a:pPr indent="0" marL="0">
              <a:buNone/>
            </a:pPr>
            <a:r>
              <a:rPr lang="en-US" sz="700" dirty="0">
                <a:solidFill>
                  <a:srgbClr val="E8E8ED"/>
                </a:solidFill>
                <a:latin typeface="Atkinson Hyperlegible" pitchFamily="34" charset="0"/>
                <a:ea typeface="Atkinson Hyperlegible" pitchFamily="34" charset="-122"/>
                <a:cs typeface="Atkinson Hyperlegible" pitchFamily="34" charset="-120"/>
              </a:rPr>
              <a:t>Standard Specifications</a:t>
            </a:r>
            <a:endParaRPr lang="en-US" sz="700" dirty="0"/>
          </a:p>
        </p:txBody>
      </p:sp>
      <p:sp>
        <p:nvSpPr>
          <p:cNvPr id="53" name="Shape 51"/>
          <p:cNvSpPr/>
          <p:nvPr/>
        </p:nvSpPr>
        <p:spPr>
          <a:xfrm>
            <a:off x="7232904" y="2487168"/>
            <a:ext cx="1517904" cy="155448"/>
          </a:xfrm>
          <a:prstGeom prst="roundRect">
            <a:avLst>
              <a:gd name="adj" fmla="val 23529"/>
            </a:avLst>
          </a:prstGeom>
          <a:solidFill>
            <a:srgbClr val="FFFFFF"/>
          </a:solidFill>
          <a:ln w="12700">
            <a:solidFill>
              <a:srgbClr val="FFFFFF"/>
            </a:solidFill>
            <a:prstDash val="solid"/>
          </a:ln>
        </p:spPr>
      </p:sp>
      <p:sp>
        <p:nvSpPr>
          <p:cNvPr id="54" name="Text 52"/>
          <p:cNvSpPr/>
          <p:nvPr/>
        </p:nvSpPr>
        <p:spPr>
          <a:xfrm>
            <a:off x="7232904" y="2487168"/>
            <a:ext cx="1517904" cy="155448"/>
          </a:xfrm>
          <a:prstGeom prst="rect">
            <a:avLst/>
          </a:prstGeom>
          <a:noFill/>
          <a:ln/>
        </p:spPr>
        <p:txBody>
          <a:bodyPr wrap="square" rtlCol="0" anchor="ctr"/>
          <a:lstStyle/>
          <a:p>
            <a:pPr algn="ctr" indent="0" marL="0">
              <a:buNone/>
            </a:pPr>
            <a:r>
              <a:rPr lang="en-US" sz="600" b="1" dirty="0">
                <a:solidFill>
                  <a:srgbClr val="AAAAAA"/>
                </a:solidFill>
                <a:latin typeface="Atkinson Hyperlegible" pitchFamily="34" charset="0"/>
                <a:ea typeface="Atkinson Hyperlegible" pitchFamily="34" charset="-122"/>
                <a:cs typeface="Atkinson Hyperlegible" pitchFamily="34" charset="-120"/>
              </a:rPr>
              <a:t>Fase II</a:t>
            </a:r>
            <a:endParaRPr lang="en-US" sz="600" dirty="0"/>
          </a:p>
        </p:txBody>
      </p:sp>
      <p:sp>
        <p:nvSpPr>
          <p:cNvPr id="55" name="Shape 53"/>
          <p:cNvSpPr/>
          <p:nvPr/>
        </p:nvSpPr>
        <p:spPr>
          <a:xfrm>
            <a:off x="320040" y="2761488"/>
            <a:ext cx="1664208" cy="896112"/>
          </a:xfrm>
          <a:prstGeom prst="roundRect">
            <a:avLst>
              <a:gd name="adj" fmla="val 7143"/>
            </a:avLst>
          </a:prstGeom>
          <a:solidFill>
            <a:srgbClr val="C0392B"/>
          </a:solidFill>
          <a:ln w="12700">
            <a:solidFill>
              <a:srgbClr val="C0392B"/>
            </a:solidFill>
            <a:prstDash val="solid"/>
          </a:ln>
        </p:spPr>
      </p:sp>
      <p:sp>
        <p:nvSpPr>
          <p:cNvPr id="56" name="Text 54"/>
          <p:cNvSpPr/>
          <p:nvPr/>
        </p:nvSpPr>
        <p:spPr>
          <a:xfrm>
            <a:off x="393192" y="2816352"/>
            <a:ext cx="457200" cy="320040"/>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T-11</a:t>
            </a:r>
            <a:endParaRPr lang="en-US" sz="800" dirty="0"/>
          </a:p>
        </p:txBody>
      </p:sp>
      <p:sp>
        <p:nvSpPr>
          <p:cNvPr id="57" name="Text 55"/>
          <p:cNvSpPr/>
          <p:nvPr/>
        </p:nvSpPr>
        <p:spPr>
          <a:xfrm>
            <a:off x="393192" y="3108960"/>
            <a:ext cx="1517904" cy="347472"/>
          </a:xfrm>
          <a:prstGeom prst="rect">
            <a:avLst/>
          </a:prstGeom>
          <a:noFill/>
          <a:ln/>
        </p:spPr>
        <p:txBody>
          <a:bodyPr wrap="square" rtlCol="0" anchor="ctr"/>
          <a:lstStyle/>
          <a:p>
            <a:pPr indent="0" marL="0">
              <a:buNone/>
            </a:pPr>
            <a:r>
              <a:rPr lang="en-US" sz="700" dirty="0">
                <a:solidFill>
                  <a:srgbClr val="E8E8ED"/>
                </a:solidFill>
                <a:latin typeface="Atkinson Hyperlegible" pitchFamily="34" charset="0"/>
                <a:ea typeface="Atkinson Hyperlegible" pitchFamily="34" charset="-122"/>
                <a:cs typeface="Atkinson Hyperlegible" pitchFamily="34" charset="-120"/>
              </a:rPr>
              <a:t>PAM Feasibility</a:t>
            </a:r>
            <a:endParaRPr lang="en-US" sz="700" dirty="0"/>
          </a:p>
        </p:txBody>
      </p:sp>
      <p:sp>
        <p:nvSpPr>
          <p:cNvPr id="58" name="Shape 56"/>
          <p:cNvSpPr/>
          <p:nvPr/>
        </p:nvSpPr>
        <p:spPr>
          <a:xfrm>
            <a:off x="393192" y="3456432"/>
            <a:ext cx="1517904" cy="155448"/>
          </a:xfrm>
          <a:prstGeom prst="roundRect">
            <a:avLst>
              <a:gd name="adj" fmla="val 23529"/>
            </a:avLst>
          </a:prstGeom>
          <a:solidFill>
            <a:srgbClr val="FFFFFF"/>
          </a:solidFill>
          <a:ln w="12700">
            <a:solidFill>
              <a:srgbClr val="FFFFFF"/>
            </a:solidFill>
            <a:prstDash val="solid"/>
          </a:ln>
        </p:spPr>
      </p:sp>
      <p:sp>
        <p:nvSpPr>
          <p:cNvPr id="59" name="Text 57"/>
          <p:cNvSpPr/>
          <p:nvPr/>
        </p:nvSpPr>
        <p:spPr>
          <a:xfrm>
            <a:off x="393192" y="3456432"/>
            <a:ext cx="1517904" cy="155448"/>
          </a:xfrm>
          <a:prstGeom prst="rect">
            <a:avLst/>
          </a:prstGeom>
          <a:noFill/>
          <a:ln/>
        </p:spPr>
        <p:txBody>
          <a:bodyPr wrap="square" rtlCol="0" anchor="ctr"/>
          <a:lstStyle/>
          <a:p>
            <a:pPr algn="ctr" indent="0" marL="0">
              <a:buNone/>
            </a:pPr>
            <a:r>
              <a:rPr lang="en-US" sz="600" b="1" dirty="0">
                <a:solidFill>
                  <a:srgbClr val="AAAAAA"/>
                </a:solidFill>
                <a:latin typeface="Atkinson Hyperlegible" pitchFamily="34" charset="0"/>
                <a:ea typeface="Atkinson Hyperlegible" pitchFamily="34" charset="-122"/>
                <a:cs typeface="Atkinson Hyperlegible" pitchFamily="34" charset="-120"/>
              </a:rPr>
              <a:t>Fase II</a:t>
            </a:r>
            <a:endParaRPr lang="en-US" sz="600" dirty="0"/>
          </a:p>
        </p:txBody>
      </p:sp>
      <p:sp>
        <p:nvSpPr>
          <p:cNvPr id="60" name="Shape 58"/>
          <p:cNvSpPr/>
          <p:nvPr/>
        </p:nvSpPr>
        <p:spPr>
          <a:xfrm>
            <a:off x="2029968" y="2761488"/>
            <a:ext cx="1664208" cy="896112"/>
          </a:xfrm>
          <a:prstGeom prst="roundRect">
            <a:avLst>
              <a:gd name="adj" fmla="val 7143"/>
            </a:avLst>
          </a:prstGeom>
          <a:solidFill>
            <a:srgbClr val="F8F8FA"/>
          </a:solidFill>
          <a:ln w="12700">
            <a:solidFill>
              <a:srgbClr val="C0392B"/>
            </a:solidFill>
            <a:prstDash val="solid"/>
          </a:ln>
        </p:spPr>
      </p:sp>
      <p:sp>
        <p:nvSpPr>
          <p:cNvPr id="61" name="Text 59"/>
          <p:cNvSpPr/>
          <p:nvPr/>
        </p:nvSpPr>
        <p:spPr>
          <a:xfrm>
            <a:off x="2103120" y="2816352"/>
            <a:ext cx="457200" cy="320040"/>
          </a:xfrm>
          <a:prstGeom prst="rect">
            <a:avLst/>
          </a:prstGeom>
          <a:noFill/>
          <a:ln/>
        </p:spPr>
        <p:txBody>
          <a:bodyPr wrap="square" rtlCol="0" anchor="ctr"/>
          <a:lstStyle/>
          <a:p>
            <a:pPr indent="0" marL="0">
              <a:buNone/>
            </a:pPr>
            <a:r>
              <a:rPr lang="en-US" sz="800" b="1" dirty="0">
                <a:solidFill>
                  <a:srgbClr val="C0392B"/>
                </a:solidFill>
                <a:latin typeface="Atkinson Hyperlegible" pitchFamily="34" charset="0"/>
                <a:ea typeface="Atkinson Hyperlegible" pitchFamily="34" charset="-122"/>
                <a:cs typeface="Atkinson Hyperlegible" pitchFamily="34" charset="-120"/>
              </a:rPr>
              <a:t>T-12</a:t>
            </a:r>
            <a:endParaRPr lang="en-US" sz="800" dirty="0"/>
          </a:p>
        </p:txBody>
      </p:sp>
      <p:sp>
        <p:nvSpPr>
          <p:cNvPr id="62" name="Text 60"/>
          <p:cNvSpPr/>
          <p:nvPr/>
        </p:nvSpPr>
        <p:spPr>
          <a:xfrm>
            <a:off x="2103120" y="3108960"/>
            <a:ext cx="1517904" cy="347472"/>
          </a:xfrm>
          <a:prstGeom prst="rect">
            <a:avLst/>
          </a:prstGeom>
          <a:noFill/>
          <a:ln/>
        </p:spPr>
        <p:txBody>
          <a:bodyPr wrap="square" rtlCol="0" anchor="ctr"/>
          <a:lstStyle/>
          <a:p>
            <a:pPr indent="0" marL="0">
              <a:buNone/>
            </a:pPr>
            <a:r>
              <a:rPr lang="en-US" sz="700" dirty="0">
                <a:solidFill>
                  <a:srgbClr val="1D1D1F"/>
                </a:solidFill>
                <a:latin typeface="Atkinson Hyperlegible" pitchFamily="34" charset="0"/>
                <a:ea typeface="Atkinson Hyperlegible" pitchFamily="34" charset="-122"/>
                <a:cs typeface="Atkinson Hyperlegible" pitchFamily="34" charset="-120"/>
              </a:rPr>
              <a:t>Accessibility Review</a:t>
            </a:r>
            <a:endParaRPr lang="en-US" sz="700" dirty="0"/>
          </a:p>
        </p:txBody>
      </p:sp>
      <p:sp>
        <p:nvSpPr>
          <p:cNvPr id="63" name="Shape 61"/>
          <p:cNvSpPr/>
          <p:nvPr/>
        </p:nvSpPr>
        <p:spPr>
          <a:xfrm>
            <a:off x="2103120" y="3456432"/>
            <a:ext cx="1517904" cy="155448"/>
          </a:xfrm>
          <a:prstGeom prst="roundRect">
            <a:avLst>
              <a:gd name="adj" fmla="val 23529"/>
            </a:avLst>
          </a:prstGeom>
          <a:solidFill>
            <a:srgbClr val="C0392B"/>
          </a:solidFill>
          <a:ln w="12700">
            <a:solidFill>
              <a:srgbClr val="C0392B"/>
            </a:solidFill>
            <a:prstDash val="solid"/>
          </a:ln>
        </p:spPr>
      </p:sp>
      <p:sp>
        <p:nvSpPr>
          <p:cNvPr id="64" name="Text 62"/>
          <p:cNvSpPr/>
          <p:nvPr/>
        </p:nvSpPr>
        <p:spPr>
          <a:xfrm>
            <a:off x="2103120" y="3456432"/>
            <a:ext cx="1517904" cy="155448"/>
          </a:xfrm>
          <a:prstGeom prst="rect">
            <a:avLst/>
          </a:prstGeom>
          <a:noFill/>
          <a:ln/>
        </p:spPr>
        <p:txBody>
          <a:bodyPr wrap="square" rtlCol="0" anchor="ctr"/>
          <a:lstStyle/>
          <a:p>
            <a:pPr algn="ctr" indent="0" marL="0">
              <a:buNone/>
            </a:pPr>
            <a:r>
              <a:rPr lang="en-US" sz="600" b="1" dirty="0">
                <a:solidFill>
                  <a:srgbClr val="FFFFFF"/>
                </a:solidFill>
                <a:latin typeface="Atkinson Hyperlegible" pitchFamily="34" charset="0"/>
                <a:ea typeface="Atkinson Hyperlegible" pitchFamily="34" charset="-122"/>
                <a:cs typeface="Atkinson Hyperlegible" pitchFamily="34" charset="-120"/>
              </a:rPr>
              <a:t>Fase II</a:t>
            </a:r>
            <a:endParaRPr lang="en-US" sz="600" dirty="0"/>
          </a:p>
        </p:txBody>
      </p:sp>
      <p:sp>
        <p:nvSpPr>
          <p:cNvPr id="65" name="Shape 63"/>
          <p:cNvSpPr/>
          <p:nvPr/>
        </p:nvSpPr>
        <p:spPr>
          <a:xfrm>
            <a:off x="3739896" y="2761488"/>
            <a:ext cx="1664208" cy="896112"/>
          </a:xfrm>
          <a:prstGeom prst="roundRect">
            <a:avLst>
              <a:gd name="adj" fmla="val 7143"/>
            </a:avLst>
          </a:prstGeom>
          <a:solidFill>
            <a:srgbClr val="C0392B"/>
          </a:solidFill>
          <a:ln w="12700">
            <a:solidFill>
              <a:srgbClr val="C0392B"/>
            </a:solidFill>
            <a:prstDash val="solid"/>
          </a:ln>
        </p:spPr>
      </p:sp>
      <p:sp>
        <p:nvSpPr>
          <p:cNvPr id="66" name="Text 64"/>
          <p:cNvSpPr/>
          <p:nvPr/>
        </p:nvSpPr>
        <p:spPr>
          <a:xfrm>
            <a:off x="3813048" y="2816352"/>
            <a:ext cx="457200" cy="320040"/>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T-13</a:t>
            </a:r>
            <a:endParaRPr lang="en-US" sz="800" dirty="0"/>
          </a:p>
        </p:txBody>
      </p:sp>
      <p:sp>
        <p:nvSpPr>
          <p:cNvPr id="67" name="Text 65"/>
          <p:cNvSpPr/>
          <p:nvPr/>
        </p:nvSpPr>
        <p:spPr>
          <a:xfrm>
            <a:off x="3813048" y="3108960"/>
            <a:ext cx="1517904" cy="347472"/>
          </a:xfrm>
          <a:prstGeom prst="rect">
            <a:avLst/>
          </a:prstGeom>
          <a:noFill/>
          <a:ln/>
        </p:spPr>
        <p:txBody>
          <a:bodyPr wrap="square" rtlCol="0" anchor="ctr"/>
          <a:lstStyle/>
          <a:p>
            <a:pPr indent="0" marL="0">
              <a:buNone/>
            </a:pPr>
            <a:r>
              <a:rPr lang="en-US" sz="700" dirty="0">
                <a:solidFill>
                  <a:srgbClr val="E8E8ED"/>
                </a:solidFill>
                <a:latin typeface="Atkinson Hyperlegible" pitchFamily="34" charset="0"/>
                <a:ea typeface="Atkinson Hyperlegible" pitchFamily="34" charset="-122"/>
                <a:cs typeface="Atkinson Hyperlegible" pitchFamily="34" charset="-120"/>
              </a:rPr>
              <a:t>Construction Sequence</a:t>
            </a:r>
            <a:endParaRPr lang="en-US" sz="700" dirty="0"/>
          </a:p>
        </p:txBody>
      </p:sp>
      <p:sp>
        <p:nvSpPr>
          <p:cNvPr id="68" name="Shape 66"/>
          <p:cNvSpPr/>
          <p:nvPr/>
        </p:nvSpPr>
        <p:spPr>
          <a:xfrm>
            <a:off x="3813048" y="3456432"/>
            <a:ext cx="1517904" cy="155448"/>
          </a:xfrm>
          <a:prstGeom prst="roundRect">
            <a:avLst>
              <a:gd name="adj" fmla="val 23529"/>
            </a:avLst>
          </a:prstGeom>
          <a:solidFill>
            <a:srgbClr val="FFFFFF"/>
          </a:solidFill>
          <a:ln w="12700">
            <a:solidFill>
              <a:srgbClr val="FFFFFF"/>
            </a:solidFill>
            <a:prstDash val="solid"/>
          </a:ln>
        </p:spPr>
      </p:sp>
      <p:sp>
        <p:nvSpPr>
          <p:cNvPr id="69" name="Text 67"/>
          <p:cNvSpPr/>
          <p:nvPr/>
        </p:nvSpPr>
        <p:spPr>
          <a:xfrm>
            <a:off x="3813048" y="3456432"/>
            <a:ext cx="1517904" cy="155448"/>
          </a:xfrm>
          <a:prstGeom prst="rect">
            <a:avLst/>
          </a:prstGeom>
          <a:noFill/>
          <a:ln/>
        </p:spPr>
        <p:txBody>
          <a:bodyPr wrap="square" rtlCol="0" anchor="ctr"/>
          <a:lstStyle/>
          <a:p>
            <a:pPr algn="ctr" indent="0" marL="0">
              <a:buNone/>
            </a:pPr>
            <a:r>
              <a:rPr lang="en-US" sz="600" b="1" dirty="0">
                <a:solidFill>
                  <a:srgbClr val="AAAAAA"/>
                </a:solidFill>
                <a:latin typeface="Atkinson Hyperlegible" pitchFamily="34" charset="0"/>
                <a:ea typeface="Atkinson Hyperlegible" pitchFamily="34" charset="-122"/>
                <a:cs typeface="Atkinson Hyperlegible" pitchFamily="34" charset="-120"/>
              </a:rPr>
              <a:t>Fase III</a:t>
            </a:r>
            <a:endParaRPr lang="en-US" sz="600" dirty="0"/>
          </a:p>
        </p:txBody>
      </p:sp>
      <p:sp>
        <p:nvSpPr>
          <p:cNvPr id="70" name="Shape 68"/>
          <p:cNvSpPr/>
          <p:nvPr/>
        </p:nvSpPr>
        <p:spPr>
          <a:xfrm>
            <a:off x="5449824" y="2761488"/>
            <a:ext cx="1664208" cy="896112"/>
          </a:xfrm>
          <a:prstGeom prst="roundRect">
            <a:avLst>
              <a:gd name="adj" fmla="val 7143"/>
            </a:avLst>
          </a:prstGeom>
          <a:solidFill>
            <a:srgbClr val="F8F8FA"/>
          </a:solidFill>
          <a:ln w="12700">
            <a:solidFill>
              <a:srgbClr val="C0392B"/>
            </a:solidFill>
            <a:prstDash val="solid"/>
          </a:ln>
        </p:spPr>
      </p:sp>
      <p:sp>
        <p:nvSpPr>
          <p:cNvPr id="71" name="Text 69"/>
          <p:cNvSpPr/>
          <p:nvPr/>
        </p:nvSpPr>
        <p:spPr>
          <a:xfrm>
            <a:off x="5522976" y="2816352"/>
            <a:ext cx="457200" cy="320040"/>
          </a:xfrm>
          <a:prstGeom prst="rect">
            <a:avLst/>
          </a:prstGeom>
          <a:noFill/>
          <a:ln/>
        </p:spPr>
        <p:txBody>
          <a:bodyPr wrap="square" rtlCol="0" anchor="ctr"/>
          <a:lstStyle/>
          <a:p>
            <a:pPr indent="0" marL="0">
              <a:buNone/>
            </a:pPr>
            <a:r>
              <a:rPr lang="en-US" sz="800" b="1" dirty="0">
                <a:solidFill>
                  <a:srgbClr val="C0392B"/>
                </a:solidFill>
                <a:latin typeface="Atkinson Hyperlegible" pitchFamily="34" charset="0"/>
                <a:ea typeface="Atkinson Hyperlegible" pitchFamily="34" charset="-122"/>
                <a:cs typeface="Atkinson Hyperlegible" pitchFamily="34" charset="-120"/>
              </a:rPr>
              <a:t>T-14</a:t>
            </a:r>
            <a:endParaRPr lang="en-US" sz="800" dirty="0"/>
          </a:p>
        </p:txBody>
      </p:sp>
      <p:sp>
        <p:nvSpPr>
          <p:cNvPr id="72" name="Text 70"/>
          <p:cNvSpPr/>
          <p:nvPr/>
        </p:nvSpPr>
        <p:spPr>
          <a:xfrm>
            <a:off x="5522976" y="3108960"/>
            <a:ext cx="1517904" cy="347472"/>
          </a:xfrm>
          <a:prstGeom prst="rect">
            <a:avLst/>
          </a:prstGeom>
          <a:noFill/>
          <a:ln/>
        </p:spPr>
        <p:txBody>
          <a:bodyPr wrap="square" rtlCol="0" anchor="ctr"/>
          <a:lstStyle/>
          <a:p>
            <a:pPr indent="0" marL="0">
              <a:buNone/>
            </a:pPr>
            <a:r>
              <a:rPr lang="en-US" sz="700" dirty="0">
                <a:solidFill>
                  <a:srgbClr val="1D1D1F"/>
                </a:solidFill>
                <a:latin typeface="Atkinson Hyperlegible" pitchFamily="34" charset="0"/>
                <a:ea typeface="Atkinson Hyperlegible" pitchFamily="34" charset="-122"/>
                <a:cs typeface="Atkinson Hyperlegible" pitchFamily="34" charset="-120"/>
              </a:rPr>
              <a:t>Labor Productivity</a:t>
            </a:r>
            <a:endParaRPr lang="en-US" sz="700" dirty="0"/>
          </a:p>
        </p:txBody>
      </p:sp>
      <p:sp>
        <p:nvSpPr>
          <p:cNvPr id="73" name="Shape 71"/>
          <p:cNvSpPr/>
          <p:nvPr/>
        </p:nvSpPr>
        <p:spPr>
          <a:xfrm>
            <a:off x="5522976" y="3456432"/>
            <a:ext cx="1517904" cy="155448"/>
          </a:xfrm>
          <a:prstGeom prst="roundRect">
            <a:avLst>
              <a:gd name="adj" fmla="val 23529"/>
            </a:avLst>
          </a:prstGeom>
          <a:solidFill>
            <a:srgbClr val="C0392B"/>
          </a:solidFill>
          <a:ln w="12700">
            <a:solidFill>
              <a:srgbClr val="C0392B"/>
            </a:solidFill>
            <a:prstDash val="solid"/>
          </a:ln>
        </p:spPr>
      </p:sp>
      <p:sp>
        <p:nvSpPr>
          <p:cNvPr id="74" name="Text 72"/>
          <p:cNvSpPr/>
          <p:nvPr/>
        </p:nvSpPr>
        <p:spPr>
          <a:xfrm>
            <a:off x="5522976" y="3456432"/>
            <a:ext cx="1517904" cy="155448"/>
          </a:xfrm>
          <a:prstGeom prst="rect">
            <a:avLst/>
          </a:prstGeom>
          <a:noFill/>
          <a:ln/>
        </p:spPr>
        <p:txBody>
          <a:bodyPr wrap="square" rtlCol="0" anchor="ctr"/>
          <a:lstStyle/>
          <a:p>
            <a:pPr algn="ctr" indent="0" marL="0">
              <a:buNone/>
            </a:pPr>
            <a:r>
              <a:rPr lang="en-US" sz="600" b="1" dirty="0">
                <a:solidFill>
                  <a:srgbClr val="FFFFFF"/>
                </a:solidFill>
                <a:latin typeface="Atkinson Hyperlegible" pitchFamily="34" charset="0"/>
                <a:ea typeface="Atkinson Hyperlegible" pitchFamily="34" charset="-122"/>
                <a:cs typeface="Atkinson Hyperlegible" pitchFamily="34" charset="-120"/>
              </a:rPr>
              <a:t>Fase III</a:t>
            </a:r>
            <a:endParaRPr lang="en-US" sz="600" dirty="0"/>
          </a:p>
        </p:txBody>
      </p:sp>
      <p:sp>
        <p:nvSpPr>
          <p:cNvPr id="75" name="Shape 73"/>
          <p:cNvSpPr/>
          <p:nvPr/>
        </p:nvSpPr>
        <p:spPr>
          <a:xfrm>
            <a:off x="7159752" y="2761488"/>
            <a:ext cx="1664208" cy="896112"/>
          </a:xfrm>
          <a:prstGeom prst="roundRect">
            <a:avLst>
              <a:gd name="adj" fmla="val 7143"/>
            </a:avLst>
          </a:prstGeom>
          <a:solidFill>
            <a:srgbClr val="C0392B"/>
          </a:solidFill>
          <a:ln w="12700">
            <a:solidFill>
              <a:srgbClr val="C0392B"/>
            </a:solidFill>
            <a:prstDash val="solid"/>
          </a:ln>
        </p:spPr>
      </p:sp>
      <p:sp>
        <p:nvSpPr>
          <p:cNvPr id="76" name="Text 74"/>
          <p:cNvSpPr/>
          <p:nvPr/>
        </p:nvSpPr>
        <p:spPr>
          <a:xfrm>
            <a:off x="7232904" y="2816352"/>
            <a:ext cx="457200" cy="320040"/>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T-15</a:t>
            </a:r>
            <a:endParaRPr lang="en-US" sz="800" dirty="0"/>
          </a:p>
        </p:txBody>
      </p:sp>
      <p:sp>
        <p:nvSpPr>
          <p:cNvPr id="77" name="Text 75"/>
          <p:cNvSpPr/>
          <p:nvPr/>
        </p:nvSpPr>
        <p:spPr>
          <a:xfrm>
            <a:off x="7232904" y="3108960"/>
            <a:ext cx="1517904" cy="347472"/>
          </a:xfrm>
          <a:prstGeom prst="rect">
            <a:avLst/>
          </a:prstGeom>
          <a:noFill/>
          <a:ln/>
        </p:spPr>
        <p:txBody>
          <a:bodyPr wrap="square" rtlCol="0" anchor="ctr"/>
          <a:lstStyle/>
          <a:p>
            <a:pPr indent="0" marL="0">
              <a:buNone/>
            </a:pPr>
            <a:r>
              <a:rPr lang="en-US" sz="700" dirty="0">
                <a:solidFill>
                  <a:srgbClr val="E8E8ED"/>
                </a:solidFill>
                <a:latin typeface="Atkinson Hyperlegible" pitchFamily="34" charset="0"/>
                <a:ea typeface="Atkinson Hyperlegible" pitchFamily="34" charset="-122"/>
                <a:cs typeface="Atkinson Hyperlegible" pitchFamily="34" charset="-120"/>
              </a:rPr>
              <a:t>AWP Integration</a:t>
            </a:r>
            <a:endParaRPr lang="en-US" sz="700" dirty="0"/>
          </a:p>
        </p:txBody>
      </p:sp>
      <p:sp>
        <p:nvSpPr>
          <p:cNvPr id="78" name="Shape 76"/>
          <p:cNvSpPr/>
          <p:nvPr/>
        </p:nvSpPr>
        <p:spPr>
          <a:xfrm>
            <a:off x="7232904" y="3456432"/>
            <a:ext cx="1517904" cy="155448"/>
          </a:xfrm>
          <a:prstGeom prst="roundRect">
            <a:avLst>
              <a:gd name="adj" fmla="val 23529"/>
            </a:avLst>
          </a:prstGeom>
          <a:solidFill>
            <a:srgbClr val="FFFFFF"/>
          </a:solidFill>
          <a:ln w="12700">
            <a:solidFill>
              <a:srgbClr val="FFFFFF"/>
            </a:solidFill>
            <a:prstDash val="solid"/>
          </a:ln>
        </p:spPr>
      </p:sp>
      <p:sp>
        <p:nvSpPr>
          <p:cNvPr id="79" name="Text 77"/>
          <p:cNvSpPr/>
          <p:nvPr/>
        </p:nvSpPr>
        <p:spPr>
          <a:xfrm>
            <a:off x="7232904" y="3456432"/>
            <a:ext cx="1517904" cy="155448"/>
          </a:xfrm>
          <a:prstGeom prst="rect">
            <a:avLst/>
          </a:prstGeom>
          <a:noFill/>
          <a:ln/>
        </p:spPr>
        <p:txBody>
          <a:bodyPr wrap="square" rtlCol="0" anchor="ctr"/>
          <a:lstStyle/>
          <a:p>
            <a:pPr algn="ctr" indent="0" marL="0">
              <a:buNone/>
            </a:pPr>
            <a:r>
              <a:rPr lang="en-US" sz="600" b="1" dirty="0">
                <a:solidFill>
                  <a:srgbClr val="AAAAAA"/>
                </a:solidFill>
                <a:latin typeface="Atkinson Hyperlegible" pitchFamily="34" charset="0"/>
                <a:ea typeface="Atkinson Hyperlegible" pitchFamily="34" charset="-122"/>
                <a:cs typeface="Atkinson Hyperlegible" pitchFamily="34" charset="-120"/>
              </a:rPr>
              <a:t>Fase III</a:t>
            </a:r>
            <a:endParaRPr lang="en-US" sz="600" dirty="0"/>
          </a:p>
        </p:txBody>
      </p:sp>
      <p:sp>
        <p:nvSpPr>
          <p:cNvPr id="80" name="Shape 78"/>
          <p:cNvSpPr/>
          <p:nvPr/>
        </p:nvSpPr>
        <p:spPr>
          <a:xfrm>
            <a:off x="320040" y="3730752"/>
            <a:ext cx="1664208" cy="896112"/>
          </a:xfrm>
          <a:prstGeom prst="roundRect">
            <a:avLst>
              <a:gd name="adj" fmla="val 7143"/>
            </a:avLst>
          </a:prstGeom>
          <a:solidFill>
            <a:srgbClr val="C0392B"/>
          </a:solidFill>
          <a:ln w="12700">
            <a:solidFill>
              <a:srgbClr val="C0392B"/>
            </a:solidFill>
            <a:prstDash val="solid"/>
          </a:ln>
        </p:spPr>
      </p:sp>
      <p:sp>
        <p:nvSpPr>
          <p:cNvPr id="81" name="Text 79"/>
          <p:cNvSpPr/>
          <p:nvPr/>
        </p:nvSpPr>
        <p:spPr>
          <a:xfrm>
            <a:off x="393192" y="3785616"/>
            <a:ext cx="457200" cy="320040"/>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T-16</a:t>
            </a:r>
            <a:endParaRPr lang="en-US" sz="800" dirty="0"/>
          </a:p>
        </p:txBody>
      </p:sp>
      <p:sp>
        <p:nvSpPr>
          <p:cNvPr id="82" name="Text 80"/>
          <p:cNvSpPr/>
          <p:nvPr/>
        </p:nvSpPr>
        <p:spPr>
          <a:xfrm>
            <a:off x="393192" y="4078224"/>
            <a:ext cx="1517904" cy="347472"/>
          </a:xfrm>
          <a:prstGeom prst="rect">
            <a:avLst/>
          </a:prstGeom>
          <a:noFill/>
          <a:ln/>
        </p:spPr>
        <p:txBody>
          <a:bodyPr wrap="square" rtlCol="0" anchor="ctr"/>
          <a:lstStyle/>
          <a:p>
            <a:pPr indent="0" marL="0">
              <a:buNone/>
            </a:pPr>
            <a:r>
              <a:rPr lang="en-US" sz="700" dirty="0">
                <a:solidFill>
                  <a:srgbClr val="E8E8ED"/>
                </a:solidFill>
                <a:latin typeface="Atkinson Hyperlegible" pitchFamily="34" charset="0"/>
                <a:ea typeface="Atkinson Hyperlegible" pitchFamily="34" charset="-122"/>
                <a:cs typeface="Atkinson Hyperlegible" pitchFamily="34" charset="-120"/>
              </a:rPr>
              <a:t>Contract Provisions</a:t>
            </a:r>
            <a:endParaRPr lang="en-US" sz="700" dirty="0"/>
          </a:p>
        </p:txBody>
      </p:sp>
      <p:sp>
        <p:nvSpPr>
          <p:cNvPr id="83" name="Shape 81"/>
          <p:cNvSpPr/>
          <p:nvPr/>
        </p:nvSpPr>
        <p:spPr>
          <a:xfrm>
            <a:off x="393192" y="4425696"/>
            <a:ext cx="1517904" cy="155448"/>
          </a:xfrm>
          <a:prstGeom prst="roundRect">
            <a:avLst>
              <a:gd name="adj" fmla="val 23529"/>
            </a:avLst>
          </a:prstGeom>
          <a:solidFill>
            <a:srgbClr val="FFFFFF"/>
          </a:solidFill>
          <a:ln w="12700">
            <a:solidFill>
              <a:srgbClr val="FFFFFF"/>
            </a:solidFill>
            <a:prstDash val="solid"/>
          </a:ln>
        </p:spPr>
      </p:sp>
      <p:sp>
        <p:nvSpPr>
          <p:cNvPr id="84" name="Text 82"/>
          <p:cNvSpPr/>
          <p:nvPr/>
        </p:nvSpPr>
        <p:spPr>
          <a:xfrm>
            <a:off x="393192" y="4425696"/>
            <a:ext cx="1517904" cy="155448"/>
          </a:xfrm>
          <a:prstGeom prst="rect">
            <a:avLst/>
          </a:prstGeom>
          <a:noFill/>
          <a:ln/>
        </p:spPr>
        <p:txBody>
          <a:bodyPr wrap="square" rtlCol="0" anchor="ctr"/>
          <a:lstStyle/>
          <a:p>
            <a:pPr algn="ctr" indent="0" marL="0">
              <a:buNone/>
            </a:pPr>
            <a:r>
              <a:rPr lang="en-US" sz="600" b="1" dirty="0">
                <a:solidFill>
                  <a:srgbClr val="AAAAAA"/>
                </a:solidFill>
                <a:latin typeface="Atkinson Hyperlegible" pitchFamily="34" charset="0"/>
                <a:ea typeface="Atkinson Hyperlegible" pitchFamily="34" charset="-122"/>
                <a:cs typeface="Atkinson Hyperlegible" pitchFamily="34" charset="-120"/>
              </a:rPr>
              <a:t>Contrato</a:t>
            </a:r>
            <a:endParaRPr lang="en-US" sz="600" dirty="0"/>
          </a:p>
        </p:txBody>
      </p:sp>
      <p:sp>
        <p:nvSpPr>
          <p:cNvPr id="85" name="Shape 83"/>
          <p:cNvSpPr/>
          <p:nvPr/>
        </p:nvSpPr>
        <p:spPr>
          <a:xfrm>
            <a:off x="2029968" y="3730752"/>
            <a:ext cx="1664208" cy="896112"/>
          </a:xfrm>
          <a:prstGeom prst="roundRect">
            <a:avLst>
              <a:gd name="adj" fmla="val 7143"/>
            </a:avLst>
          </a:prstGeom>
          <a:solidFill>
            <a:srgbClr val="F8F8FA"/>
          </a:solidFill>
          <a:ln w="12700">
            <a:solidFill>
              <a:srgbClr val="C0392B"/>
            </a:solidFill>
            <a:prstDash val="solid"/>
          </a:ln>
        </p:spPr>
      </p:sp>
      <p:sp>
        <p:nvSpPr>
          <p:cNvPr id="86" name="Text 84"/>
          <p:cNvSpPr/>
          <p:nvPr/>
        </p:nvSpPr>
        <p:spPr>
          <a:xfrm>
            <a:off x="2103120" y="3785616"/>
            <a:ext cx="457200" cy="320040"/>
          </a:xfrm>
          <a:prstGeom prst="rect">
            <a:avLst/>
          </a:prstGeom>
          <a:noFill/>
          <a:ln/>
        </p:spPr>
        <p:txBody>
          <a:bodyPr wrap="square" rtlCol="0" anchor="ctr"/>
          <a:lstStyle/>
          <a:p>
            <a:pPr indent="0" marL="0">
              <a:buNone/>
            </a:pPr>
            <a:r>
              <a:rPr lang="en-US" sz="800" b="1" dirty="0">
                <a:solidFill>
                  <a:srgbClr val="C0392B"/>
                </a:solidFill>
                <a:latin typeface="Atkinson Hyperlegible" pitchFamily="34" charset="0"/>
                <a:ea typeface="Atkinson Hyperlegible" pitchFamily="34" charset="-122"/>
                <a:cs typeface="Atkinson Hyperlegible" pitchFamily="34" charset="-120"/>
              </a:rPr>
              <a:t>T-17</a:t>
            </a:r>
            <a:endParaRPr lang="en-US" sz="800" dirty="0"/>
          </a:p>
        </p:txBody>
      </p:sp>
      <p:sp>
        <p:nvSpPr>
          <p:cNvPr id="87" name="Text 85"/>
          <p:cNvSpPr/>
          <p:nvPr/>
        </p:nvSpPr>
        <p:spPr>
          <a:xfrm>
            <a:off x="2103120" y="4078224"/>
            <a:ext cx="1517904" cy="347472"/>
          </a:xfrm>
          <a:prstGeom prst="rect">
            <a:avLst/>
          </a:prstGeom>
          <a:noFill/>
          <a:ln/>
        </p:spPr>
        <p:txBody>
          <a:bodyPr wrap="square" rtlCol="0" anchor="ctr"/>
          <a:lstStyle/>
          <a:p>
            <a:pPr indent="0" marL="0">
              <a:buNone/>
            </a:pPr>
            <a:r>
              <a:rPr lang="en-US" sz="700" dirty="0">
                <a:solidFill>
                  <a:srgbClr val="1D1D1F"/>
                </a:solidFill>
                <a:latin typeface="Atkinson Hyperlegible" pitchFamily="34" charset="0"/>
                <a:ea typeface="Atkinson Hyperlegible" pitchFamily="34" charset="-122"/>
                <a:cs typeface="Atkinson Hyperlegible" pitchFamily="34" charset="-120"/>
              </a:rPr>
              <a:t>LLDB Management</a:t>
            </a:r>
            <a:endParaRPr lang="en-US" sz="700" dirty="0"/>
          </a:p>
        </p:txBody>
      </p:sp>
      <p:sp>
        <p:nvSpPr>
          <p:cNvPr id="88" name="Shape 86"/>
          <p:cNvSpPr/>
          <p:nvPr/>
        </p:nvSpPr>
        <p:spPr>
          <a:xfrm>
            <a:off x="2103120" y="4425696"/>
            <a:ext cx="1517904" cy="155448"/>
          </a:xfrm>
          <a:prstGeom prst="roundRect">
            <a:avLst>
              <a:gd name="adj" fmla="val 23529"/>
            </a:avLst>
          </a:prstGeom>
          <a:solidFill>
            <a:srgbClr val="C0392B"/>
          </a:solidFill>
          <a:ln w="12700">
            <a:solidFill>
              <a:srgbClr val="C0392B"/>
            </a:solidFill>
            <a:prstDash val="solid"/>
          </a:ln>
        </p:spPr>
      </p:sp>
      <p:sp>
        <p:nvSpPr>
          <p:cNvPr id="89" name="Text 87"/>
          <p:cNvSpPr/>
          <p:nvPr/>
        </p:nvSpPr>
        <p:spPr>
          <a:xfrm>
            <a:off x="2103120" y="4425696"/>
            <a:ext cx="1517904" cy="155448"/>
          </a:xfrm>
          <a:prstGeom prst="rect">
            <a:avLst/>
          </a:prstGeom>
          <a:noFill/>
          <a:ln/>
        </p:spPr>
        <p:txBody>
          <a:bodyPr wrap="square" rtlCol="0" anchor="ctr"/>
          <a:lstStyle/>
          <a:p>
            <a:pPr algn="ctr" indent="0" marL="0">
              <a:buNone/>
            </a:pPr>
            <a:r>
              <a:rPr lang="en-US" sz="600" b="1" dirty="0">
                <a:solidFill>
                  <a:srgbClr val="FFFFFF"/>
                </a:solidFill>
                <a:latin typeface="Atkinson Hyperlegible" pitchFamily="34" charset="0"/>
                <a:ea typeface="Atkinson Hyperlegible" pitchFamily="34" charset="-122"/>
                <a:cs typeface="Atkinson Hyperlegible" pitchFamily="34" charset="-120"/>
              </a:rPr>
              <a:t>LLDB</a:t>
            </a:r>
            <a:endParaRPr lang="en-US" sz="600" dirty="0"/>
          </a:p>
        </p:txBody>
      </p:sp>
      <p:sp>
        <p:nvSpPr>
          <p:cNvPr id="90" name="Shape 88"/>
          <p:cNvSpPr/>
          <p:nvPr/>
        </p:nvSpPr>
        <p:spPr>
          <a:xfrm>
            <a:off x="3739896" y="3730752"/>
            <a:ext cx="1664208" cy="896112"/>
          </a:xfrm>
          <a:prstGeom prst="roundRect">
            <a:avLst>
              <a:gd name="adj" fmla="val 7143"/>
            </a:avLst>
          </a:prstGeom>
          <a:solidFill>
            <a:srgbClr val="C0392B"/>
          </a:solidFill>
          <a:ln w="12700">
            <a:solidFill>
              <a:srgbClr val="C0392B"/>
            </a:solidFill>
            <a:prstDash val="solid"/>
          </a:ln>
        </p:spPr>
      </p:sp>
      <p:sp>
        <p:nvSpPr>
          <p:cNvPr id="91" name="Text 89"/>
          <p:cNvSpPr/>
          <p:nvPr/>
        </p:nvSpPr>
        <p:spPr>
          <a:xfrm>
            <a:off x="3813048" y="3785616"/>
            <a:ext cx="457200" cy="320040"/>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T-18</a:t>
            </a:r>
            <a:endParaRPr lang="en-US" sz="800" dirty="0"/>
          </a:p>
        </p:txBody>
      </p:sp>
      <p:sp>
        <p:nvSpPr>
          <p:cNvPr id="92" name="Text 90"/>
          <p:cNvSpPr/>
          <p:nvPr/>
        </p:nvSpPr>
        <p:spPr>
          <a:xfrm>
            <a:off x="3813048" y="4078224"/>
            <a:ext cx="1517904" cy="347472"/>
          </a:xfrm>
          <a:prstGeom prst="rect">
            <a:avLst/>
          </a:prstGeom>
          <a:noFill/>
          <a:ln/>
        </p:spPr>
        <p:txBody>
          <a:bodyPr wrap="square" rtlCol="0" anchor="ctr"/>
          <a:lstStyle/>
          <a:p>
            <a:pPr indent="0" marL="0">
              <a:buNone/>
            </a:pPr>
            <a:r>
              <a:rPr lang="en-US" sz="700" dirty="0">
                <a:solidFill>
                  <a:srgbClr val="E8E8ED"/>
                </a:solidFill>
                <a:latin typeface="Atkinson Hyperlegible" pitchFamily="34" charset="0"/>
                <a:ea typeface="Atkinson Hyperlegible" pitchFamily="34" charset="-122"/>
                <a:cs typeface="Atkinson Hyperlegible" pitchFamily="34" charset="-120"/>
              </a:rPr>
              <a:t>Application Matrix</a:t>
            </a:r>
            <a:endParaRPr lang="en-US" sz="700" dirty="0"/>
          </a:p>
        </p:txBody>
      </p:sp>
      <p:sp>
        <p:nvSpPr>
          <p:cNvPr id="93" name="Shape 91"/>
          <p:cNvSpPr/>
          <p:nvPr/>
        </p:nvSpPr>
        <p:spPr>
          <a:xfrm>
            <a:off x="3813048" y="4425696"/>
            <a:ext cx="1517904" cy="155448"/>
          </a:xfrm>
          <a:prstGeom prst="roundRect">
            <a:avLst>
              <a:gd name="adj" fmla="val 23529"/>
            </a:avLst>
          </a:prstGeom>
          <a:solidFill>
            <a:srgbClr val="FFFFFF"/>
          </a:solidFill>
          <a:ln w="12700">
            <a:solidFill>
              <a:srgbClr val="FFFFFF"/>
            </a:solidFill>
            <a:prstDash val="solid"/>
          </a:ln>
        </p:spPr>
      </p:sp>
      <p:sp>
        <p:nvSpPr>
          <p:cNvPr id="94" name="Text 92"/>
          <p:cNvSpPr/>
          <p:nvPr/>
        </p:nvSpPr>
        <p:spPr>
          <a:xfrm>
            <a:off x="3813048" y="4425696"/>
            <a:ext cx="1517904" cy="155448"/>
          </a:xfrm>
          <a:prstGeom prst="rect">
            <a:avLst/>
          </a:prstGeom>
          <a:noFill/>
          <a:ln/>
        </p:spPr>
        <p:txBody>
          <a:bodyPr wrap="square" rtlCol="0" anchor="ctr"/>
          <a:lstStyle/>
          <a:p>
            <a:pPr algn="ctr" indent="0" marL="0">
              <a:buNone/>
            </a:pPr>
            <a:r>
              <a:rPr lang="en-US" sz="600" b="1" dirty="0">
                <a:solidFill>
                  <a:srgbClr val="AAAAAA"/>
                </a:solidFill>
                <a:latin typeface="Atkinson Hyperlegible" pitchFamily="34" charset="0"/>
                <a:ea typeface="Atkinson Hyperlegible" pitchFamily="34" charset="-122"/>
                <a:cs typeface="Atkinson Hyperlegible" pitchFamily="34" charset="-120"/>
              </a:rPr>
              <a:t>Todas</a:t>
            </a:r>
            <a:endParaRPr lang="en-US" sz="600" dirty="0"/>
          </a:p>
        </p:txBody>
      </p:sp>
      <p:sp>
        <p:nvSpPr>
          <p:cNvPr id="95" name="Shape 93"/>
          <p:cNvSpPr/>
          <p:nvPr/>
        </p:nvSpPr>
        <p:spPr>
          <a:xfrm>
            <a:off x="5449824" y="3730752"/>
            <a:ext cx="1664208" cy="896112"/>
          </a:xfrm>
          <a:prstGeom prst="roundRect">
            <a:avLst>
              <a:gd name="adj" fmla="val 7143"/>
            </a:avLst>
          </a:prstGeom>
          <a:solidFill>
            <a:srgbClr val="F8F8FA"/>
          </a:solidFill>
          <a:ln w="12700">
            <a:solidFill>
              <a:srgbClr val="C0392B"/>
            </a:solidFill>
            <a:prstDash val="solid"/>
          </a:ln>
        </p:spPr>
      </p:sp>
      <p:sp>
        <p:nvSpPr>
          <p:cNvPr id="96" name="Text 94"/>
          <p:cNvSpPr/>
          <p:nvPr/>
        </p:nvSpPr>
        <p:spPr>
          <a:xfrm>
            <a:off x="5522976" y="3785616"/>
            <a:ext cx="457200" cy="320040"/>
          </a:xfrm>
          <a:prstGeom prst="rect">
            <a:avLst/>
          </a:prstGeom>
          <a:noFill/>
          <a:ln/>
        </p:spPr>
        <p:txBody>
          <a:bodyPr wrap="square" rtlCol="0" anchor="ctr"/>
          <a:lstStyle/>
          <a:p>
            <a:pPr indent="0" marL="0">
              <a:buNone/>
            </a:pPr>
            <a:r>
              <a:rPr lang="en-US" sz="800" b="1" dirty="0">
                <a:solidFill>
                  <a:srgbClr val="C0392B"/>
                </a:solidFill>
                <a:latin typeface="Atkinson Hyperlegible" pitchFamily="34" charset="0"/>
                <a:ea typeface="Atkinson Hyperlegible" pitchFamily="34" charset="-122"/>
                <a:cs typeface="Atkinson Hyperlegible" pitchFamily="34" charset="-120"/>
              </a:rPr>
              <a:t>T-19</a:t>
            </a:r>
            <a:endParaRPr lang="en-US" sz="800" dirty="0"/>
          </a:p>
        </p:txBody>
      </p:sp>
      <p:sp>
        <p:nvSpPr>
          <p:cNvPr id="97" name="Text 95"/>
          <p:cNvSpPr/>
          <p:nvPr/>
        </p:nvSpPr>
        <p:spPr>
          <a:xfrm>
            <a:off x="5522976" y="4078224"/>
            <a:ext cx="1517904" cy="347472"/>
          </a:xfrm>
          <a:prstGeom prst="rect">
            <a:avLst/>
          </a:prstGeom>
          <a:noFill/>
          <a:ln/>
        </p:spPr>
        <p:txBody>
          <a:bodyPr wrap="square" rtlCol="0" anchor="ctr"/>
          <a:lstStyle/>
          <a:p>
            <a:pPr indent="0" marL="0">
              <a:buNone/>
            </a:pPr>
            <a:r>
              <a:rPr lang="en-US" sz="700" dirty="0">
                <a:solidFill>
                  <a:srgbClr val="1D1D1F"/>
                </a:solidFill>
                <a:latin typeface="Atkinson Hyperlegible" pitchFamily="34" charset="0"/>
                <a:ea typeface="Atkinson Hyperlegible" pitchFamily="34" charset="-122"/>
                <a:cs typeface="Atkinson Hyperlegible" pitchFamily="34" charset="-120"/>
              </a:rPr>
              <a:t>KPI Dashboard</a:t>
            </a:r>
            <a:endParaRPr lang="en-US" sz="700" dirty="0"/>
          </a:p>
        </p:txBody>
      </p:sp>
      <p:sp>
        <p:nvSpPr>
          <p:cNvPr id="98" name="Shape 96"/>
          <p:cNvSpPr/>
          <p:nvPr/>
        </p:nvSpPr>
        <p:spPr>
          <a:xfrm>
            <a:off x="5522976" y="4425696"/>
            <a:ext cx="1517904" cy="155448"/>
          </a:xfrm>
          <a:prstGeom prst="roundRect">
            <a:avLst>
              <a:gd name="adj" fmla="val 23529"/>
            </a:avLst>
          </a:prstGeom>
          <a:solidFill>
            <a:srgbClr val="C0392B"/>
          </a:solidFill>
          <a:ln w="12700">
            <a:solidFill>
              <a:srgbClr val="C0392B"/>
            </a:solidFill>
            <a:prstDash val="solid"/>
          </a:ln>
        </p:spPr>
      </p:sp>
      <p:sp>
        <p:nvSpPr>
          <p:cNvPr id="99" name="Text 97"/>
          <p:cNvSpPr/>
          <p:nvPr/>
        </p:nvSpPr>
        <p:spPr>
          <a:xfrm>
            <a:off x="5522976" y="4425696"/>
            <a:ext cx="1517904" cy="155448"/>
          </a:xfrm>
          <a:prstGeom prst="rect">
            <a:avLst/>
          </a:prstGeom>
          <a:noFill/>
          <a:ln/>
        </p:spPr>
        <p:txBody>
          <a:bodyPr wrap="square" rtlCol="0" anchor="ctr"/>
          <a:lstStyle/>
          <a:p>
            <a:pPr algn="ctr" indent="0" marL="0">
              <a:buNone/>
            </a:pPr>
            <a:r>
              <a:rPr lang="en-US" sz="600" b="1" dirty="0">
                <a:solidFill>
                  <a:srgbClr val="FFFFFF"/>
                </a:solidFill>
                <a:latin typeface="Atkinson Hyperlegible" pitchFamily="34" charset="0"/>
                <a:ea typeface="Atkinson Hyperlegible" pitchFamily="34" charset="-122"/>
                <a:cs typeface="Atkinson Hyperlegible" pitchFamily="34" charset="-120"/>
              </a:rPr>
              <a:t>Métricas</a:t>
            </a:r>
            <a:endParaRPr lang="en-US" sz="600" dirty="0"/>
          </a:p>
        </p:txBody>
      </p:sp>
      <p:sp>
        <p:nvSpPr>
          <p:cNvPr id="100" name="Shape 98"/>
          <p:cNvSpPr/>
          <p:nvPr/>
        </p:nvSpPr>
        <p:spPr>
          <a:xfrm>
            <a:off x="182880" y="4956048"/>
            <a:ext cx="8961120" cy="182880"/>
          </a:xfrm>
          <a:prstGeom prst="rect">
            <a:avLst/>
          </a:prstGeom>
          <a:solidFill>
            <a:srgbClr val="C0392B"/>
          </a:solidFill>
          <a:ln w="12700">
            <a:solidFill>
              <a:srgbClr val="C0392B"/>
            </a:solidFill>
            <a:prstDash val="solid"/>
          </a:ln>
        </p:spPr>
      </p:sp>
      <p:sp>
        <p:nvSpPr>
          <p:cNvPr id="101" name="Text 99"/>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52 / 126</a:t>
            </a:r>
            <a:endParaRPr lang="en-US" sz="7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C0392B"/>
          </a:solidFill>
          <a:ln w="12700">
            <a:solidFill>
              <a:srgbClr val="C0392B"/>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LLDB — Lessons Learned Database</a:t>
            </a:r>
            <a:endParaRPr lang="en-US" sz="1800" dirty="0"/>
          </a:p>
        </p:txBody>
      </p:sp>
      <p:sp>
        <p:nvSpPr>
          <p:cNvPr id="4" name="Shape 2"/>
          <p:cNvSpPr/>
          <p:nvPr/>
        </p:nvSpPr>
        <p:spPr>
          <a:xfrm>
            <a:off x="320040" y="640080"/>
            <a:ext cx="8503920" cy="41148"/>
          </a:xfrm>
          <a:prstGeom prst="rect">
            <a:avLst/>
          </a:prstGeom>
          <a:solidFill>
            <a:srgbClr val="C0392B"/>
          </a:solidFill>
          <a:ln w="12700">
            <a:solidFill>
              <a:srgbClr val="C0392B"/>
            </a:solidFill>
            <a:prstDash val="solid"/>
          </a:ln>
        </p:spPr>
      </p:sp>
      <p:sp>
        <p:nvSpPr>
          <p:cNvPr id="5" name="Text 3"/>
          <p:cNvSpPr/>
          <p:nvPr/>
        </p:nvSpPr>
        <p:spPr>
          <a:xfrm>
            <a:off x="320040" y="704088"/>
            <a:ext cx="8503920" cy="256032"/>
          </a:xfrm>
          <a:prstGeom prst="rect">
            <a:avLst/>
          </a:prstGeom>
          <a:noFill/>
          <a:ln/>
        </p:spPr>
        <p:txBody>
          <a:bodyPr wrap="square" rtlCol="0" anchor="ctr"/>
          <a:lstStyle/>
          <a:p>
            <a:pPr indent="0" marL="0">
              <a:buNone/>
            </a:pPr>
            <a:r>
              <a:rPr lang="en-US" sz="900" i="1" dirty="0">
                <a:solidFill>
                  <a:srgbClr val="C0392B"/>
                </a:solidFill>
                <a:latin typeface="Atkinson Hyperlegible" pitchFamily="34" charset="0"/>
                <a:ea typeface="Atkinson Hyperlegible" pitchFamily="34" charset="-122"/>
                <a:cs typeface="Atkinson Hyperlegible" pitchFamily="34" charset="-120"/>
              </a:rPr>
              <a:t>El activo de conocimiento más valioso de un programa de constructabilidad</a:t>
            </a:r>
            <a:endParaRPr lang="en-US" sz="900" dirty="0"/>
          </a:p>
        </p:txBody>
      </p:sp>
      <p:sp>
        <p:nvSpPr>
          <p:cNvPr id="6" name="Shape 4"/>
          <p:cNvSpPr/>
          <p:nvPr/>
        </p:nvSpPr>
        <p:spPr>
          <a:xfrm>
            <a:off x="274320" y="804672"/>
            <a:ext cx="4160520" cy="4114800"/>
          </a:xfrm>
          <a:prstGeom prst="roundRect">
            <a:avLst>
              <a:gd name="adj" fmla="val 2222"/>
            </a:avLst>
          </a:prstGeom>
          <a:solidFill>
            <a:srgbClr val="C0392B"/>
          </a:solidFill>
          <a:ln w="12700">
            <a:solidFill>
              <a:srgbClr val="C0392B"/>
            </a:solidFill>
            <a:prstDash val="solid"/>
          </a:ln>
        </p:spPr>
      </p:sp>
      <p:sp>
        <p:nvSpPr>
          <p:cNvPr id="7" name="Shape 5"/>
          <p:cNvSpPr/>
          <p:nvPr/>
        </p:nvSpPr>
        <p:spPr>
          <a:xfrm>
            <a:off x="274320" y="804672"/>
            <a:ext cx="45720" cy="4114800"/>
          </a:xfrm>
          <a:prstGeom prst="rect">
            <a:avLst/>
          </a:prstGeom>
          <a:solidFill>
            <a:srgbClr val="C0392B"/>
          </a:solidFill>
          <a:ln w="12700">
            <a:solidFill>
              <a:srgbClr val="C0392B"/>
            </a:solidFill>
            <a:prstDash val="solid"/>
          </a:ln>
        </p:spPr>
      </p:sp>
      <p:sp>
        <p:nvSpPr>
          <p:cNvPr id="8" name="Text 6"/>
          <p:cNvSpPr/>
          <p:nvPr/>
        </p:nvSpPr>
        <p:spPr>
          <a:xfrm>
            <a:off x="384048" y="822960"/>
            <a:ext cx="3977640" cy="347472"/>
          </a:xfrm>
          <a:prstGeom prst="rect">
            <a:avLst/>
          </a:prstGeom>
          <a:noFill/>
          <a:ln/>
        </p:spPr>
        <p:txBody>
          <a:bodyPr wrap="square" rtlCol="0" anchor="ctr"/>
          <a:lstStyle/>
          <a:p>
            <a:pPr indent="0" marL="0">
              <a:buNone/>
            </a:pPr>
            <a:r>
              <a:rPr lang="en-US" sz="900" b="1" dirty="0">
                <a:solidFill>
                  <a:srgbClr val="C0392B"/>
                </a:solidFill>
                <a:latin typeface="Atkinson Hyperlegible" pitchFamily="34" charset="0"/>
                <a:ea typeface="Atkinson Hyperlegible" pitchFamily="34" charset="-122"/>
                <a:cs typeface="Atkinson Hyperlegible" pitchFamily="34" charset="-120"/>
              </a:rPr>
              <a:t>El Sistema LLDB</a:t>
            </a:r>
            <a:endParaRPr lang="en-US" sz="900" dirty="0"/>
          </a:p>
        </p:txBody>
      </p:sp>
      <p:sp>
        <p:nvSpPr>
          <p:cNvPr id="9" name="Shape 7"/>
          <p:cNvSpPr/>
          <p:nvPr/>
        </p:nvSpPr>
        <p:spPr>
          <a:xfrm>
            <a:off x="384048" y="1316736"/>
            <a:ext cx="164592" cy="164592"/>
          </a:xfrm>
          <a:prstGeom prst="ellipse">
            <a:avLst/>
          </a:prstGeom>
          <a:solidFill>
            <a:srgbClr val="C0392B"/>
          </a:solidFill>
          <a:ln w="12700">
            <a:solidFill>
              <a:srgbClr val="C0392B"/>
            </a:solidFill>
            <a:prstDash val="solid"/>
          </a:ln>
        </p:spPr>
      </p:sp>
      <p:sp>
        <p:nvSpPr>
          <p:cNvPr id="10" name="Text 8"/>
          <p:cNvSpPr/>
          <p:nvPr/>
        </p:nvSpPr>
        <p:spPr>
          <a:xfrm>
            <a:off x="612648" y="1234440"/>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¿Qué es?</a:t>
            </a:r>
            <a:endParaRPr lang="en-US" sz="850" dirty="0"/>
          </a:p>
        </p:txBody>
      </p:sp>
      <p:sp>
        <p:nvSpPr>
          <p:cNvPr id="11" name="Text 9"/>
          <p:cNvSpPr/>
          <p:nvPr/>
        </p:nvSpPr>
        <p:spPr>
          <a:xfrm>
            <a:off x="612648" y="1481328"/>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Base de datos de lecciones aprendidas estructurada que captura qué funcionó y qué no, con impacto cuantificado.</a:t>
            </a:r>
            <a:endParaRPr lang="en-US" sz="750" dirty="0"/>
          </a:p>
        </p:txBody>
      </p:sp>
      <p:sp>
        <p:nvSpPr>
          <p:cNvPr id="12" name="Shape 10"/>
          <p:cNvSpPr/>
          <p:nvPr/>
        </p:nvSpPr>
        <p:spPr>
          <a:xfrm>
            <a:off x="384048" y="1847088"/>
            <a:ext cx="164592" cy="164592"/>
          </a:xfrm>
          <a:prstGeom prst="ellipse">
            <a:avLst/>
          </a:prstGeom>
          <a:solidFill>
            <a:srgbClr val="C0392B"/>
          </a:solidFill>
          <a:ln w="12700">
            <a:solidFill>
              <a:srgbClr val="C0392B"/>
            </a:solidFill>
            <a:prstDash val="solid"/>
          </a:ln>
        </p:spPr>
      </p:sp>
      <p:sp>
        <p:nvSpPr>
          <p:cNvPr id="13" name="Text 11"/>
          <p:cNvSpPr/>
          <p:nvPr/>
        </p:nvSpPr>
        <p:spPr>
          <a:xfrm>
            <a:off x="612648" y="1764792"/>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Cuándo alimentar</a:t>
            </a:r>
            <a:endParaRPr lang="en-US" sz="850" dirty="0"/>
          </a:p>
        </p:txBody>
      </p:sp>
      <p:sp>
        <p:nvSpPr>
          <p:cNvPr id="14" name="Text 12"/>
          <p:cNvSpPr/>
          <p:nvPr/>
        </p:nvSpPr>
        <p:spPr>
          <a:xfrm>
            <a:off x="612648" y="2011680"/>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En talleres de constructabilidad (observaciones nuevas) y al cerrar proyectos (qué resultó de las observaciones).</a:t>
            </a:r>
            <a:endParaRPr lang="en-US" sz="750" dirty="0"/>
          </a:p>
        </p:txBody>
      </p:sp>
      <p:sp>
        <p:nvSpPr>
          <p:cNvPr id="15" name="Shape 13"/>
          <p:cNvSpPr/>
          <p:nvPr/>
        </p:nvSpPr>
        <p:spPr>
          <a:xfrm>
            <a:off x="384048" y="2377440"/>
            <a:ext cx="164592" cy="164592"/>
          </a:xfrm>
          <a:prstGeom prst="ellipse">
            <a:avLst/>
          </a:prstGeom>
          <a:solidFill>
            <a:srgbClr val="C0392B"/>
          </a:solidFill>
          <a:ln w="12700">
            <a:solidFill>
              <a:srgbClr val="C0392B"/>
            </a:solidFill>
            <a:prstDash val="solid"/>
          </a:ln>
        </p:spPr>
      </p:sp>
      <p:sp>
        <p:nvSpPr>
          <p:cNvPr id="16" name="Text 14"/>
          <p:cNvSpPr/>
          <p:nvPr/>
        </p:nvSpPr>
        <p:spPr>
          <a:xfrm>
            <a:off x="612648" y="2295144"/>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Estructura mínima</a:t>
            </a:r>
            <a:endParaRPr lang="en-US" sz="850" dirty="0"/>
          </a:p>
        </p:txBody>
      </p:sp>
      <p:sp>
        <p:nvSpPr>
          <p:cNvPr id="17" name="Text 15"/>
          <p:cNvSpPr/>
          <p:nvPr/>
        </p:nvSpPr>
        <p:spPr>
          <a:xfrm>
            <a:off x="612648" y="2542032"/>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ID, Proyecto, Fase, Concepto CII, Descripción del problema, Solución, Ahorro estimado, Estado (abierta/implementada).</a:t>
            </a:r>
            <a:endParaRPr lang="en-US" sz="750" dirty="0"/>
          </a:p>
        </p:txBody>
      </p:sp>
      <p:sp>
        <p:nvSpPr>
          <p:cNvPr id="18" name="Shape 16"/>
          <p:cNvSpPr/>
          <p:nvPr/>
        </p:nvSpPr>
        <p:spPr>
          <a:xfrm>
            <a:off x="384048" y="2907792"/>
            <a:ext cx="164592" cy="164592"/>
          </a:xfrm>
          <a:prstGeom prst="ellipse">
            <a:avLst/>
          </a:prstGeom>
          <a:solidFill>
            <a:srgbClr val="C0392B"/>
          </a:solidFill>
          <a:ln w="12700">
            <a:solidFill>
              <a:srgbClr val="C0392B"/>
            </a:solidFill>
            <a:prstDash val="solid"/>
          </a:ln>
        </p:spPr>
      </p:sp>
      <p:sp>
        <p:nvSpPr>
          <p:cNvPr id="19" name="Text 17"/>
          <p:cNvSpPr/>
          <p:nvPr/>
        </p:nvSpPr>
        <p:spPr>
          <a:xfrm>
            <a:off x="612648" y="2825496"/>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Herramienta T-17</a:t>
            </a:r>
            <a:endParaRPr lang="en-US" sz="850" dirty="0"/>
          </a:p>
        </p:txBody>
      </p:sp>
      <p:sp>
        <p:nvSpPr>
          <p:cNvPr id="20" name="Text 18"/>
          <p:cNvSpPr/>
          <p:nvPr/>
        </p:nvSpPr>
        <p:spPr>
          <a:xfrm>
            <a:off x="612648" y="3072384"/>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LLDB Management Guide. Criterios de calidad para entradas al LLDB y proceso de revisión periódica.</a:t>
            </a:r>
            <a:endParaRPr lang="en-US" sz="750" dirty="0"/>
          </a:p>
        </p:txBody>
      </p:sp>
      <p:sp>
        <p:nvSpPr>
          <p:cNvPr id="21" name="Text 19"/>
          <p:cNvSpPr/>
          <p:nvPr/>
        </p:nvSpPr>
        <p:spPr>
          <a:xfrm>
            <a:off x="4617720" y="822960"/>
            <a:ext cx="4251960" cy="347472"/>
          </a:xfrm>
          <a:prstGeom prst="rect">
            <a:avLst/>
          </a:prstGeom>
          <a:noFill/>
          <a:ln/>
        </p:spPr>
        <p:txBody>
          <a:bodyPr wrap="square" rtlCol="0" anchor="ctr"/>
          <a:lstStyle/>
          <a:p>
            <a:pPr indent="0" marL="0">
              <a:buNone/>
            </a:pPr>
            <a:r>
              <a:rPr lang="en-US" sz="900" b="1" dirty="0">
                <a:solidFill>
                  <a:srgbClr val="C0392B"/>
                </a:solidFill>
                <a:latin typeface="Atkinson Hyperlegible" pitchFamily="34" charset="0"/>
                <a:ea typeface="Atkinson Hyperlegible" pitchFamily="34" charset="-122"/>
                <a:cs typeface="Atkinson Hyperlegible" pitchFamily="34" charset="-120"/>
              </a:rPr>
              <a:t>Cómo Usarlo</a:t>
            </a:r>
            <a:endParaRPr lang="en-US" sz="900" dirty="0"/>
          </a:p>
        </p:txBody>
      </p:sp>
      <p:sp>
        <p:nvSpPr>
          <p:cNvPr id="22" name="Shape 20"/>
          <p:cNvSpPr/>
          <p:nvPr/>
        </p:nvSpPr>
        <p:spPr>
          <a:xfrm>
            <a:off x="4617720" y="1316736"/>
            <a:ext cx="164592" cy="164592"/>
          </a:xfrm>
          <a:prstGeom prst="ellipse">
            <a:avLst/>
          </a:prstGeom>
          <a:solidFill>
            <a:srgbClr val="1D1D1F"/>
          </a:solidFill>
          <a:ln w="12700">
            <a:solidFill>
              <a:srgbClr val="1D1D1F"/>
            </a:solidFill>
            <a:prstDash val="solid"/>
          </a:ln>
        </p:spPr>
      </p:sp>
      <p:sp>
        <p:nvSpPr>
          <p:cNvPr id="23" name="Text 21"/>
          <p:cNvSpPr/>
          <p:nvPr/>
        </p:nvSpPr>
        <p:spPr>
          <a:xfrm>
            <a:off x="4846320" y="1234440"/>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Valor del LLDB</a:t>
            </a:r>
            <a:endParaRPr lang="en-US" sz="850" dirty="0"/>
          </a:p>
        </p:txBody>
      </p:sp>
      <p:sp>
        <p:nvSpPr>
          <p:cNvPr id="24" name="Text 22"/>
          <p:cNvSpPr/>
          <p:nvPr/>
        </p:nvSpPr>
        <p:spPr>
          <a:xfrm>
            <a:off x="4846320" y="1481328"/>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Convierte experiencias individuales en conocimiento corporativo. Sobrevive a la rotación del personal.</a:t>
            </a:r>
            <a:endParaRPr lang="en-US" sz="750" dirty="0"/>
          </a:p>
        </p:txBody>
      </p:sp>
      <p:sp>
        <p:nvSpPr>
          <p:cNvPr id="25" name="Shape 23"/>
          <p:cNvSpPr/>
          <p:nvPr/>
        </p:nvSpPr>
        <p:spPr>
          <a:xfrm>
            <a:off x="4617720" y="1847088"/>
            <a:ext cx="164592" cy="164592"/>
          </a:xfrm>
          <a:prstGeom prst="ellipse">
            <a:avLst/>
          </a:prstGeom>
          <a:solidFill>
            <a:srgbClr val="1D1D1F"/>
          </a:solidFill>
          <a:ln w="12700">
            <a:solidFill>
              <a:srgbClr val="1D1D1F"/>
            </a:solidFill>
            <a:prstDash val="solid"/>
          </a:ln>
        </p:spPr>
      </p:sp>
      <p:sp>
        <p:nvSpPr>
          <p:cNvPr id="26" name="Text 24"/>
          <p:cNvSpPr/>
          <p:nvPr/>
        </p:nvSpPr>
        <p:spPr>
          <a:xfrm>
            <a:off x="4846320" y="1764792"/>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Uso en nuevos proyectos</a:t>
            </a:r>
            <a:endParaRPr lang="en-US" sz="850" dirty="0"/>
          </a:p>
        </p:txBody>
      </p:sp>
      <p:sp>
        <p:nvSpPr>
          <p:cNvPr id="27" name="Text 25"/>
          <p:cNvSpPr/>
          <p:nvPr/>
        </p:nvSpPr>
        <p:spPr>
          <a:xfrm>
            <a:off x="4846320" y="2011680"/>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Antes de iniciar diseño, revisar el LLDB en busca de lecciones aplicables al tipo de proyecto.</a:t>
            </a:r>
            <a:endParaRPr lang="en-US" sz="750" dirty="0"/>
          </a:p>
        </p:txBody>
      </p:sp>
      <p:sp>
        <p:nvSpPr>
          <p:cNvPr id="28" name="Shape 26"/>
          <p:cNvSpPr/>
          <p:nvPr/>
        </p:nvSpPr>
        <p:spPr>
          <a:xfrm>
            <a:off x="4617720" y="2377440"/>
            <a:ext cx="164592" cy="164592"/>
          </a:xfrm>
          <a:prstGeom prst="ellipse">
            <a:avLst/>
          </a:prstGeom>
          <a:solidFill>
            <a:srgbClr val="1D1D1F"/>
          </a:solidFill>
          <a:ln w="12700">
            <a:solidFill>
              <a:srgbClr val="1D1D1F"/>
            </a:solidFill>
            <a:prstDash val="solid"/>
          </a:ln>
        </p:spPr>
      </p:sp>
      <p:sp>
        <p:nvSpPr>
          <p:cNvPr id="29" name="Text 27"/>
          <p:cNvSpPr/>
          <p:nvPr/>
        </p:nvSpPr>
        <p:spPr>
          <a:xfrm>
            <a:off x="4846320" y="2295144"/>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Frecuencia de revisión</a:t>
            </a:r>
            <a:endParaRPr lang="en-US" sz="850" dirty="0"/>
          </a:p>
        </p:txBody>
      </p:sp>
      <p:sp>
        <p:nvSpPr>
          <p:cNvPr id="30" name="Text 28"/>
          <p:cNvSpPr/>
          <p:nvPr/>
        </p:nvSpPr>
        <p:spPr>
          <a:xfrm>
            <a:off x="4846320" y="2542032"/>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Revisión semestral del LLDB para archivar entradas obsoletas y actualizar las que cambiaron de estado.</a:t>
            </a:r>
            <a:endParaRPr lang="en-US" sz="750" dirty="0"/>
          </a:p>
        </p:txBody>
      </p:sp>
      <p:sp>
        <p:nvSpPr>
          <p:cNvPr id="31" name="Shape 29"/>
          <p:cNvSpPr/>
          <p:nvPr/>
        </p:nvSpPr>
        <p:spPr>
          <a:xfrm>
            <a:off x="4617720" y="2907792"/>
            <a:ext cx="164592" cy="164592"/>
          </a:xfrm>
          <a:prstGeom prst="ellipse">
            <a:avLst/>
          </a:prstGeom>
          <a:solidFill>
            <a:srgbClr val="1D1D1F"/>
          </a:solidFill>
          <a:ln w="12700">
            <a:solidFill>
              <a:srgbClr val="1D1D1F"/>
            </a:solidFill>
            <a:prstDash val="solid"/>
          </a:ln>
        </p:spPr>
      </p:sp>
      <p:sp>
        <p:nvSpPr>
          <p:cNvPr id="32" name="Text 30"/>
          <p:cNvSpPr/>
          <p:nvPr/>
        </p:nvSpPr>
        <p:spPr>
          <a:xfrm>
            <a:off x="4846320" y="2825496"/>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Digital vs. papel</a:t>
            </a:r>
            <a:endParaRPr lang="en-US" sz="850" dirty="0"/>
          </a:p>
        </p:txBody>
      </p:sp>
      <p:sp>
        <p:nvSpPr>
          <p:cNvPr id="33" name="Text 31"/>
          <p:cNvSpPr/>
          <p:nvPr/>
        </p:nvSpPr>
        <p:spPr>
          <a:xfrm>
            <a:off x="4846320" y="3072384"/>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Una hoja Excel bien estructurada es suficiente. No necesitas un sistema complejo: necesitas disciplina en el uso.</a:t>
            </a:r>
            <a:endParaRPr lang="en-US" sz="750" dirty="0"/>
          </a:p>
        </p:txBody>
      </p:sp>
      <p:sp>
        <p:nvSpPr>
          <p:cNvPr id="34" name="Shape 32"/>
          <p:cNvSpPr/>
          <p:nvPr/>
        </p:nvSpPr>
        <p:spPr>
          <a:xfrm>
            <a:off x="182880" y="4956048"/>
            <a:ext cx="8961120" cy="182880"/>
          </a:xfrm>
          <a:prstGeom prst="rect">
            <a:avLst/>
          </a:prstGeom>
          <a:solidFill>
            <a:srgbClr val="C0392B"/>
          </a:solidFill>
          <a:ln w="12700">
            <a:solidFill>
              <a:srgbClr val="C0392B"/>
            </a:solidFill>
            <a:prstDash val="solid"/>
          </a:ln>
        </p:spPr>
      </p:sp>
      <p:sp>
        <p:nvSpPr>
          <p:cNvPr id="35" name="Text 33"/>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53 / 126</a:t>
            </a:r>
            <a:endParaRPr lang="en-US" sz="7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C0392B"/>
          </a:solidFill>
          <a:ln w="12700">
            <a:solidFill>
              <a:srgbClr val="C0392B"/>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Matrices de Aplicación CII — Tool T-18</a:t>
            </a:r>
            <a:endParaRPr lang="en-US" sz="1800" dirty="0"/>
          </a:p>
        </p:txBody>
      </p:sp>
      <p:sp>
        <p:nvSpPr>
          <p:cNvPr id="4" name="Shape 2"/>
          <p:cNvSpPr/>
          <p:nvPr/>
        </p:nvSpPr>
        <p:spPr>
          <a:xfrm>
            <a:off x="320040" y="640080"/>
            <a:ext cx="8503920" cy="41148"/>
          </a:xfrm>
          <a:prstGeom prst="rect">
            <a:avLst/>
          </a:prstGeom>
          <a:solidFill>
            <a:srgbClr val="C0392B"/>
          </a:solidFill>
          <a:ln w="12700">
            <a:solidFill>
              <a:srgbClr val="C0392B"/>
            </a:solidFill>
            <a:prstDash val="solid"/>
          </a:ln>
        </p:spPr>
      </p:sp>
      <p:sp>
        <p:nvSpPr>
          <p:cNvPr id="5" name="Text 3"/>
          <p:cNvSpPr/>
          <p:nvPr/>
        </p:nvSpPr>
        <p:spPr>
          <a:xfrm>
            <a:off x="320040" y="704088"/>
            <a:ext cx="8503920" cy="256032"/>
          </a:xfrm>
          <a:prstGeom prst="rect">
            <a:avLst/>
          </a:prstGeom>
          <a:noFill/>
          <a:ln/>
        </p:spPr>
        <p:txBody>
          <a:bodyPr wrap="square" rtlCol="0" anchor="ctr"/>
          <a:lstStyle/>
          <a:p>
            <a:pPr indent="0" marL="0">
              <a:buNone/>
            </a:pPr>
            <a:r>
              <a:rPr lang="en-US" sz="900" i="1" dirty="0">
                <a:solidFill>
                  <a:srgbClr val="C0392B"/>
                </a:solidFill>
                <a:latin typeface="Atkinson Hyperlegible" pitchFamily="34" charset="0"/>
                <a:ea typeface="Atkinson Hyperlegible" pitchFamily="34" charset="-122"/>
                <a:cs typeface="Atkinson Hyperlegible" pitchFamily="34" charset="-120"/>
              </a:rPr>
              <a:t>La Matriz T-18 ayuda a priorizar cuáles de los 17 conceptos CII tienen mayor impacto en tu proyecto específico</a:t>
            </a:r>
            <a:endParaRPr lang="en-US" sz="900" dirty="0"/>
          </a:p>
        </p:txBody>
      </p:sp>
      <p:sp>
        <p:nvSpPr>
          <p:cNvPr id="6" name="Shape 4"/>
          <p:cNvSpPr/>
          <p:nvPr/>
        </p:nvSpPr>
        <p:spPr>
          <a:xfrm>
            <a:off x="2423160" y="1005840"/>
            <a:ext cx="1700784" cy="320040"/>
          </a:xfrm>
          <a:prstGeom prst="roundRect">
            <a:avLst>
              <a:gd name="adj" fmla="val 11429"/>
            </a:avLst>
          </a:prstGeom>
          <a:solidFill>
            <a:srgbClr val="C0392B"/>
          </a:solidFill>
          <a:ln w="12700">
            <a:solidFill>
              <a:srgbClr val="FFFFFF"/>
            </a:solidFill>
            <a:prstDash val="solid"/>
          </a:ln>
        </p:spPr>
      </p:sp>
      <p:sp>
        <p:nvSpPr>
          <p:cNvPr id="7" name="Text 5"/>
          <p:cNvSpPr/>
          <p:nvPr/>
        </p:nvSpPr>
        <p:spPr>
          <a:xfrm>
            <a:off x="2423160" y="1005840"/>
            <a:ext cx="1700784" cy="320040"/>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Industrial</a:t>
            </a:r>
            <a:endParaRPr lang="en-US" sz="750" dirty="0"/>
          </a:p>
        </p:txBody>
      </p:sp>
      <p:sp>
        <p:nvSpPr>
          <p:cNvPr id="8" name="Shape 6"/>
          <p:cNvSpPr/>
          <p:nvPr/>
        </p:nvSpPr>
        <p:spPr>
          <a:xfrm>
            <a:off x="4160520" y="1005840"/>
            <a:ext cx="1700784" cy="320040"/>
          </a:xfrm>
          <a:prstGeom prst="roundRect">
            <a:avLst>
              <a:gd name="adj" fmla="val 11429"/>
            </a:avLst>
          </a:prstGeom>
          <a:solidFill>
            <a:srgbClr val="C0392B"/>
          </a:solidFill>
          <a:ln w="12700">
            <a:solidFill>
              <a:srgbClr val="FFFFFF"/>
            </a:solidFill>
            <a:prstDash val="solid"/>
          </a:ln>
        </p:spPr>
      </p:sp>
      <p:sp>
        <p:nvSpPr>
          <p:cNvPr id="9" name="Text 7"/>
          <p:cNvSpPr/>
          <p:nvPr/>
        </p:nvSpPr>
        <p:spPr>
          <a:xfrm>
            <a:off x="4160520" y="1005840"/>
            <a:ext cx="1700784" cy="320040"/>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Infra</a:t>
            </a:r>
            <a:endParaRPr lang="en-US" sz="750" dirty="0"/>
          </a:p>
        </p:txBody>
      </p:sp>
      <p:sp>
        <p:nvSpPr>
          <p:cNvPr id="10" name="Shape 8"/>
          <p:cNvSpPr/>
          <p:nvPr/>
        </p:nvSpPr>
        <p:spPr>
          <a:xfrm>
            <a:off x="5897880" y="1005840"/>
            <a:ext cx="1700784" cy="320040"/>
          </a:xfrm>
          <a:prstGeom prst="roundRect">
            <a:avLst>
              <a:gd name="adj" fmla="val 11429"/>
            </a:avLst>
          </a:prstGeom>
          <a:solidFill>
            <a:srgbClr val="C0392B"/>
          </a:solidFill>
          <a:ln w="12700">
            <a:solidFill>
              <a:srgbClr val="FFFFFF"/>
            </a:solidFill>
            <a:prstDash val="solid"/>
          </a:ln>
        </p:spPr>
      </p:sp>
      <p:sp>
        <p:nvSpPr>
          <p:cNvPr id="11" name="Text 9"/>
          <p:cNvSpPr/>
          <p:nvPr/>
        </p:nvSpPr>
        <p:spPr>
          <a:xfrm>
            <a:off x="5897880" y="1005840"/>
            <a:ext cx="1700784" cy="320040"/>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Edificios</a:t>
            </a:r>
            <a:endParaRPr lang="en-US" sz="750" dirty="0"/>
          </a:p>
        </p:txBody>
      </p:sp>
      <p:sp>
        <p:nvSpPr>
          <p:cNvPr id="12" name="Shape 10"/>
          <p:cNvSpPr/>
          <p:nvPr/>
        </p:nvSpPr>
        <p:spPr>
          <a:xfrm>
            <a:off x="7635240" y="1005840"/>
            <a:ext cx="1700784" cy="320040"/>
          </a:xfrm>
          <a:prstGeom prst="roundRect">
            <a:avLst>
              <a:gd name="adj" fmla="val 11429"/>
            </a:avLst>
          </a:prstGeom>
          <a:solidFill>
            <a:srgbClr val="C0392B"/>
          </a:solidFill>
          <a:ln w="12700">
            <a:solidFill>
              <a:srgbClr val="FFFFFF"/>
            </a:solidFill>
            <a:prstDash val="solid"/>
          </a:ln>
        </p:spPr>
      </p:sp>
      <p:sp>
        <p:nvSpPr>
          <p:cNvPr id="13" name="Text 11"/>
          <p:cNvSpPr/>
          <p:nvPr/>
        </p:nvSpPr>
        <p:spPr>
          <a:xfrm>
            <a:off x="7635240" y="1005840"/>
            <a:ext cx="1700784" cy="320040"/>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Offshore</a:t>
            </a:r>
            <a:endParaRPr lang="en-US" sz="750" dirty="0"/>
          </a:p>
        </p:txBody>
      </p:sp>
      <p:sp>
        <p:nvSpPr>
          <p:cNvPr id="14" name="Shape 12"/>
          <p:cNvSpPr/>
          <p:nvPr/>
        </p:nvSpPr>
        <p:spPr>
          <a:xfrm>
            <a:off x="320040" y="1353312"/>
            <a:ext cx="2066544" cy="182880"/>
          </a:xfrm>
          <a:prstGeom prst="rect">
            <a:avLst/>
          </a:prstGeom>
          <a:solidFill>
            <a:srgbClr val="F8F8FA"/>
          </a:solidFill>
          <a:ln w="6350">
            <a:solidFill>
              <a:srgbClr val="E5E5EA"/>
            </a:solidFill>
            <a:prstDash val="solid"/>
          </a:ln>
        </p:spPr>
      </p:sp>
      <p:sp>
        <p:nvSpPr>
          <p:cNvPr id="15" name="Text 13"/>
          <p:cNvSpPr/>
          <p:nvPr/>
        </p:nvSpPr>
        <p:spPr>
          <a:xfrm>
            <a:off x="365760" y="1353312"/>
            <a:ext cx="2011680" cy="182880"/>
          </a:xfrm>
          <a:prstGeom prst="rect">
            <a:avLst/>
          </a:prstGeom>
          <a:noFill/>
          <a:ln/>
        </p:spPr>
        <p:txBody>
          <a:bodyPr wrap="square" rtlCol="0" anchor="ctr"/>
          <a:lstStyle/>
          <a:p>
            <a:pPr indent="0" marL="0">
              <a:buNone/>
            </a:pPr>
            <a:r>
              <a:rPr lang="en-US" sz="650" dirty="0">
                <a:solidFill>
                  <a:srgbClr val="1D1D1F"/>
                </a:solidFill>
                <a:latin typeface="Atkinson Hyperlegible" pitchFamily="34" charset="0"/>
                <a:ea typeface="Atkinson Hyperlegible" pitchFamily="34" charset="-122"/>
                <a:cs typeface="Atkinson Hyperlegible" pitchFamily="34" charset="-120"/>
              </a:rPr>
              <a:t>I-1</a:t>
            </a:r>
            <a:endParaRPr lang="en-US" sz="650" dirty="0"/>
          </a:p>
        </p:txBody>
      </p:sp>
      <p:sp>
        <p:nvSpPr>
          <p:cNvPr id="16" name="Shape 14"/>
          <p:cNvSpPr/>
          <p:nvPr/>
        </p:nvSpPr>
        <p:spPr>
          <a:xfrm>
            <a:off x="2514600" y="1371600"/>
            <a:ext cx="1517904" cy="146304"/>
          </a:xfrm>
          <a:prstGeom prst="roundRect">
            <a:avLst>
              <a:gd name="adj" fmla="val 18750"/>
            </a:avLst>
          </a:prstGeom>
          <a:solidFill>
            <a:srgbClr val="27AE60"/>
          </a:solidFill>
          <a:ln w="12700">
            <a:solidFill>
              <a:srgbClr val="27AE60"/>
            </a:solidFill>
            <a:prstDash val="solid"/>
          </a:ln>
        </p:spPr>
      </p:sp>
      <p:sp>
        <p:nvSpPr>
          <p:cNvPr id="17" name="Text 15"/>
          <p:cNvSpPr/>
          <p:nvPr/>
        </p:nvSpPr>
        <p:spPr>
          <a:xfrm>
            <a:off x="2514600" y="1371600"/>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8" name="Shape 16"/>
          <p:cNvSpPr/>
          <p:nvPr/>
        </p:nvSpPr>
        <p:spPr>
          <a:xfrm>
            <a:off x="4251960" y="1371600"/>
            <a:ext cx="1517904" cy="146304"/>
          </a:xfrm>
          <a:prstGeom prst="roundRect">
            <a:avLst>
              <a:gd name="adj" fmla="val 18750"/>
            </a:avLst>
          </a:prstGeom>
          <a:solidFill>
            <a:srgbClr val="27AE60"/>
          </a:solidFill>
          <a:ln w="12700">
            <a:solidFill>
              <a:srgbClr val="27AE60"/>
            </a:solidFill>
            <a:prstDash val="solid"/>
          </a:ln>
        </p:spPr>
      </p:sp>
      <p:sp>
        <p:nvSpPr>
          <p:cNvPr id="19" name="Text 17"/>
          <p:cNvSpPr/>
          <p:nvPr/>
        </p:nvSpPr>
        <p:spPr>
          <a:xfrm>
            <a:off x="4251960" y="1371600"/>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20" name="Shape 18"/>
          <p:cNvSpPr/>
          <p:nvPr/>
        </p:nvSpPr>
        <p:spPr>
          <a:xfrm>
            <a:off x="5989320" y="1371600"/>
            <a:ext cx="1517904" cy="146304"/>
          </a:xfrm>
          <a:prstGeom prst="roundRect">
            <a:avLst>
              <a:gd name="adj" fmla="val 18750"/>
            </a:avLst>
          </a:prstGeom>
          <a:solidFill>
            <a:srgbClr val="27AE60"/>
          </a:solidFill>
          <a:ln w="12700">
            <a:solidFill>
              <a:srgbClr val="27AE60"/>
            </a:solidFill>
            <a:prstDash val="solid"/>
          </a:ln>
        </p:spPr>
      </p:sp>
      <p:sp>
        <p:nvSpPr>
          <p:cNvPr id="21" name="Text 19"/>
          <p:cNvSpPr/>
          <p:nvPr/>
        </p:nvSpPr>
        <p:spPr>
          <a:xfrm>
            <a:off x="5989320" y="1371600"/>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22" name="Shape 20"/>
          <p:cNvSpPr/>
          <p:nvPr/>
        </p:nvSpPr>
        <p:spPr>
          <a:xfrm>
            <a:off x="7726680" y="1371600"/>
            <a:ext cx="1517904" cy="146304"/>
          </a:xfrm>
          <a:prstGeom prst="roundRect">
            <a:avLst>
              <a:gd name="adj" fmla="val 18750"/>
            </a:avLst>
          </a:prstGeom>
          <a:solidFill>
            <a:srgbClr val="27AE60"/>
          </a:solidFill>
          <a:ln w="12700">
            <a:solidFill>
              <a:srgbClr val="27AE60"/>
            </a:solidFill>
            <a:prstDash val="solid"/>
          </a:ln>
        </p:spPr>
      </p:sp>
      <p:sp>
        <p:nvSpPr>
          <p:cNvPr id="23" name="Text 21"/>
          <p:cNvSpPr/>
          <p:nvPr/>
        </p:nvSpPr>
        <p:spPr>
          <a:xfrm>
            <a:off x="7726680" y="1371600"/>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24" name="Shape 22"/>
          <p:cNvSpPr/>
          <p:nvPr/>
        </p:nvSpPr>
        <p:spPr>
          <a:xfrm>
            <a:off x="320040" y="1554480"/>
            <a:ext cx="2066544" cy="182880"/>
          </a:xfrm>
          <a:prstGeom prst="rect">
            <a:avLst/>
          </a:prstGeom>
          <a:solidFill>
            <a:srgbClr val="FFFFFF"/>
          </a:solidFill>
          <a:ln w="6350">
            <a:solidFill>
              <a:srgbClr val="E5E5EA"/>
            </a:solidFill>
            <a:prstDash val="solid"/>
          </a:ln>
        </p:spPr>
      </p:sp>
      <p:sp>
        <p:nvSpPr>
          <p:cNvPr id="25" name="Text 23"/>
          <p:cNvSpPr/>
          <p:nvPr/>
        </p:nvSpPr>
        <p:spPr>
          <a:xfrm>
            <a:off x="365760" y="1554480"/>
            <a:ext cx="2011680" cy="182880"/>
          </a:xfrm>
          <a:prstGeom prst="rect">
            <a:avLst/>
          </a:prstGeom>
          <a:noFill/>
          <a:ln/>
        </p:spPr>
        <p:txBody>
          <a:bodyPr wrap="square" rtlCol="0" anchor="ctr"/>
          <a:lstStyle/>
          <a:p>
            <a:pPr indent="0" marL="0">
              <a:buNone/>
            </a:pPr>
            <a:r>
              <a:rPr lang="en-US" sz="650" dirty="0">
                <a:solidFill>
                  <a:srgbClr val="1D1D1F"/>
                </a:solidFill>
                <a:latin typeface="Atkinson Hyperlegible" pitchFamily="34" charset="0"/>
                <a:ea typeface="Atkinson Hyperlegible" pitchFamily="34" charset="-122"/>
                <a:cs typeface="Atkinson Hyperlegible" pitchFamily="34" charset="-120"/>
              </a:rPr>
              <a:t>I-2</a:t>
            </a:r>
            <a:endParaRPr lang="en-US" sz="650" dirty="0"/>
          </a:p>
        </p:txBody>
      </p:sp>
      <p:sp>
        <p:nvSpPr>
          <p:cNvPr id="26" name="Shape 24"/>
          <p:cNvSpPr/>
          <p:nvPr/>
        </p:nvSpPr>
        <p:spPr>
          <a:xfrm>
            <a:off x="2514600" y="1572768"/>
            <a:ext cx="1517904" cy="146304"/>
          </a:xfrm>
          <a:prstGeom prst="roundRect">
            <a:avLst>
              <a:gd name="adj" fmla="val 18750"/>
            </a:avLst>
          </a:prstGeom>
          <a:solidFill>
            <a:srgbClr val="27AE60"/>
          </a:solidFill>
          <a:ln w="12700">
            <a:solidFill>
              <a:srgbClr val="27AE60"/>
            </a:solidFill>
            <a:prstDash val="solid"/>
          </a:ln>
        </p:spPr>
      </p:sp>
      <p:sp>
        <p:nvSpPr>
          <p:cNvPr id="27" name="Text 25"/>
          <p:cNvSpPr/>
          <p:nvPr/>
        </p:nvSpPr>
        <p:spPr>
          <a:xfrm>
            <a:off x="2514600" y="1572768"/>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28" name="Shape 26"/>
          <p:cNvSpPr/>
          <p:nvPr/>
        </p:nvSpPr>
        <p:spPr>
          <a:xfrm>
            <a:off x="4251960" y="1572768"/>
            <a:ext cx="1517904" cy="146304"/>
          </a:xfrm>
          <a:prstGeom prst="roundRect">
            <a:avLst>
              <a:gd name="adj" fmla="val 18750"/>
            </a:avLst>
          </a:prstGeom>
          <a:solidFill>
            <a:srgbClr val="27AE60"/>
          </a:solidFill>
          <a:ln w="12700">
            <a:solidFill>
              <a:srgbClr val="27AE60"/>
            </a:solidFill>
            <a:prstDash val="solid"/>
          </a:ln>
        </p:spPr>
      </p:sp>
      <p:sp>
        <p:nvSpPr>
          <p:cNvPr id="29" name="Text 27"/>
          <p:cNvSpPr/>
          <p:nvPr/>
        </p:nvSpPr>
        <p:spPr>
          <a:xfrm>
            <a:off x="4251960" y="1572768"/>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30" name="Shape 28"/>
          <p:cNvSpPr/>
          <p:nvPr/>
        </p:nvSpPr>
        <p:spPr>
          <a:xfrm>
            <a:off x="5989320" y="1572768"/>
            <a:ext cx="1517904" cy="146304"/>
          </a:xfrm>
          <a:prstGeom prst="roundRect">
            <a:avLst>
              <a:gd name="adj" fmla="val 18750"/>
            </a:avLst>
          </a:prstGeom>
          <a:solidFill>
            <a:srgbClr val="27AE60"/>
          </a:solidFill>
          <a:ln w="12700">
            <a:solidFill>
              <a:srgbClr val="27AE60"/>
            </a:solidFill>
            <a:prstDash val="solid"/>
          </a:ln>
        </p:spPr>
      </p:sp>
      <p:sp>
        <p:nvSpPr>
          <p:cNvPr id="31" name="Text 29"/>
          <p:cNvSpPr/>
          <p:nvPr/>
        </p:nvSpPr>
        <p:spPr>
          <a:xfrm>
            <a:off x="5989320" y="1572768"/>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32" name="Shape 30"/>
          <p:cNvSpPr/>
          <p:nvPr/>
        </p:nvSpPr>
        <p:spPr>
          <a:xfrm>
            <a:off x="7726680" y="1572768"/>
            <a:ext cx="1517904" cy="146304"/>
          </a:xfrm>
          <a:prstGeom prst="roundRect">
            <a:avLst>
              <a:gd name="adj" fmla="val 18750"/>
            </a:avLst>
          </a:prstGeom>
          <a:solidFill>
            <a:srgbClr val="27AE60"/>
          </a:solidFill>
          <a:ln w="12700">
            <a:solidFill>
              <a:srgbClr val="27AE60"/>
            </a:solidFill>
            <a:prstDash val="solid"/>
          </a:ln>
        </p:spPr>
      </p:sp>
      <p:sp>
        <p:nvSpPr>
          <p:cNvPr id="33" name="Text 31"/>
          <p:cNvSpPr/>
          <p:nvPr/>
        </p:nvSpPr>
        <p:spPr>
          <a:xfrm>
            <a:off x="7726680" y="1572768"/>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34" name="Shape 32"/>
          <p:cNvSpPr/>
          <p:nvPr/>
        </p:nvSpPr>
        <p:spPr>
          <a:xfrm>
            <a:off x="320040" y="1755648"/>
            <a:ext cx="2066544" cy="182880"/>
          </a:xfrm>
          <a:prstGeom prst="rect">
            <a:avLst/>
          </a:prstGeom>
          <a:solidFill>
            <a:srgbClr val="F8F8FA"/>
          </a:solidFill>
          <a:ln w="6350">
            <a:solidFill>
              <a:srgbClr val="E5E5EA"/>
            </a:solidFill>
            <a:prstDash val="solid"/>
          </a:ln>
        </p:spPr>
      </p:sp>
      <p:sp>
        <p:nvSpPr>
          <p:cNvPr id="35" name="Text 33"/>
          <p:cNvSpPr/>
          <p:nvPr/>
        </p:nvSpPr>
        <p:spPr>
          <a:xfrm>
            <a:off x="365760" y="1755648"/>
            <a:ext cx="2011680" cy="182880"/>
          </a:xfrm>
          <a:prstGeom prst="rect">
            <a:avLst/>
          </a:prstGeom>
          <a:noFill/>
          <a:ln/>
        </p:spPr>
        <p:txBody>
          <a:bodyPr wrap="square" rtlCol="0" anchor="ctr"/>
          <a:lstStyle/>
          <a:p>
            <a:pPr indent="0" marL="0">
              <a:buNone/>
            </a:pPr>
            <a:r>
              <a:rPr lang="en-US" sz="650" dirty="0">
                <a:solidFill>
                  <a:srgbClr val="1D1D1F"/>
                </a:solidFill>
                <a:latin typeface="Atkinson Hyperlegible" pitchFamily="34" charset="0"/>
                <a:ea typeface="Atkinson Hyperlegible" pitchFamily="34" charset="-122"/>
                <a:cs typeface="Atkinson Hyperlegible" pitchFamily="34" charset="-120"/>
              </a:rPr>
              <a:t>I-3</a:t>
            </a:r>
            <a:endParaRPr lang="en-US" sz="650" dirty="0"/>
          </a:p>
        </p:txBody>
      </p:sp>
      <p:sp>
        <p:nvSpPr>
          <p:cNvPr id="36" name="Shape 34"/>
          <p:cNvSpPr/>
          <p:nvPr/>
        </p:nvSpPr>
        <p:spPr>
          <a:xfrm>
            <a:off x="2514600" y="1773936"/>
            <a:ext cx="1517904" cy="146304"/>
          </a:xfrm>
          <a:prstGeom prst="roundRect">
            <a:avLst>
              <a:gd name="adj" fmla="val 18750"/>
            </a:avLst>
          </a:prstGeom>
          <a:solidFill>
            <a:srgbClr val="27AE60"/>
          </a:solidFill>
          <a:ln w="12700">
            <a:solidFill>
              <a:srgbClr val="27AE60"/>
            </a:solidFill>
            <a:prstDash val="solid"/>
          </a:ln>
        </p:spPr>
      </p:sp>
      <p:sp>
        <p:nvSpPr>
          <p:cNvPr id="37" name="Text 35"/>
          <p:cNvSpPr/>
          <p:nvPr/>
        </p:nvSpPr>
        <p:spPr>
          <a:xfrm>
            <a:off x="2514600" y="1773936"/>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38" name="Shape 36"/>
          <p:cNvSpPr/>
          <p:nvPr/>
        </p:nvSpPr>
        <p:spPr>
          <a:xfrm>
            <a:off x="4251960" y="1773936"/>
            <a:ext cx="1517904" cy="146304"/>
          </a:xfrm>
          <a:prstGeom prst="roundRect">
            <a:avLst>
              <a:gd name="adj" fmla="val 18750"/>
            </a:avLst>
          </a:prstGeom>
          <a:solidFill>
            <a:srgbClr val="D4620A"/>
          </a:solidFill>
          <a:ln w="12700">
            <a:solidFill>
              <a:srgbClr val="D4620A"/>
            </a:solidFill>
            <a:prstDash val="solid"/>
          </a:ln>
        </p:spPr>
      </p:sp>
      <p:sp>
        <p:nvSpPr>
          <p:cNvPr id="39" name="Text 37"/>
          <p:cNvSpPr/>
          <p:nvPr/>
        </p:nvSpPr>
        <p:spPr>
          <a:xfrm>
            <a:off x="4251960" y="1773936"/>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MEDIA</a:t>
            </a:r>
            <a:endParaRPr lang="en-US" sz="550" dirty="0"/>
          </a:p>
        </p:txBody>
      </p:sp>
      <p:sp>
        <p:nvSpPr>
          <p:cNvPr id="40" name="Shape 38"/>
          <p:cNvSpPr/>
          <p:nvPr/>
        </p:nvSpPr>
        <p:spPr>
          <a:xfrm>
            <a:off x="5989320" y="1773936"/>
            <a:ext cx="1517904" cy="146304"/>
          </a:xfrm>
          <a:prstGeom prst="roundRect">
            <a:avLst>
              <a:gd name="adj" fmla="val 18750"/>
            </a:avLst>
          </a:prstGeom>
          <a:solidFill>
            <a:srgbClr val="D4620A"/>
          </a:solidFill>
          <a:ln w="12700">
            <a:solidFill>
              <a:srgbClr val="D4620A"/>
            </a:solidFill>
            <a:prstDash val="solid"/>
          </a:ln>
        </p:spPr>
      </p:sp>
      <p:sp>
        <p:nvSpPr>
          <p:cNvPr id="41" name="Text 39"/>
          <p:cNvSpPr/>
          <p:nvPr/>
        </p:nvSpPr>
        <p:spPr>
          <a:xfrm>
            <a:off x="5989320" y="1773936"/>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MEDIA</a:t>
            </a:r>
            <a:endParaRPr lang="en-US" sz="550" dirty="0"/>
          </a:p>
        </p:txBody>
      </p:sp>
      <p:sp>
        <p:nvSpPr>
          <p:cNvPr id="42" name="Shape 40"/>
          <p:cNvSpPr/>
          <p:nvPr/>
        </p:nvSpPr>
        <p:spPr>
          <a:xfrm>
            <a:off x="7726680" y="1773936"/>
            <a:ext cx="1517904" cy="146304"/>
          </a:xfrm>
          <a:prstGeom prst="roundRect">
            <a:avLst>
              <a:gd name="adj" fmla="val 18750"/>
            </a:avLst>
          </a:prstGeom>
          <a:solidFill>
            <a:srgbClr val="27AE60"/>
          </a:solidFill>
          <a:ln w="12700">
            <a:solidFill>
              <a:srgbClr val="27AE60"/>
            </a:solidFill>
            <a:prstDash val="solid"/>
          </a:ln>
        </p:spPr>
      </p:sp>
      <p:sp>
        <p:nvSpPr>
          <p:cNvPr id="43" name="Text 41"/>
          <p:cNvSpPr/>
          <p:nvPr/>
        </p:nvSpPr>
        <p:spPr>
          <a:xfrm>
            <a:off x="7726680" y="1773936"/>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44" name="Shape 42"/>
          <p:cNvSpPr/>
          <p:nvPr/>
        </p:nvSpPr>
        <p:spPr>
          <a:xfrm>
            <a:off x="320040" y="1956816"/>
            <a:ext cx="2066544" cy="182880"/>
          </a:xfrm>
          <a:prstGeom prst="rect">
            <a:avLst/>
          </a:prstGeom>
          <a:solidFill>
            <a:srgbClr val="FFFFFF"/>
          </a:solidFill>
          <a:ln w="6350">
            <a:solidFill>
              <a:srgbClr val="E5E5EA"/>
            </a:solidFill>
            <a:prstDash val="solid"/>
          </a:ln>
        </p:spPr>
      </p:sp>
      <p:sp>
        <p:nvSpPr>
          <p:cNvPr id="45" name="Text 43"/>
          <p:cNvSpPr/>
          <p:nvPr/>
        </p:nvSpPr>
        <p:spPr>
          <a:xfrm>
            <a:off x="365760" y="1956816"/>
            <a:ext cx="2011680" cy="182880"/>
          </a:xfrm>
          <a:prstGeom prst="rect">
            <a:avLst/>
          </a:prstGeom>
          <a:noFill/>
          <a:ln/>
        </p:spPr>
        <p:txBody>
          <a:bodyPr wrap="square" rtlCol="0" anchor="ctr"/>
          <a:lstStyle/>
          <a:p>
            <a:pPr indent="0" marL="0">
              <a:buNone/>
            </a:pPr>
            <a:r>
              <a:rPr lang="en-US" sz="650" dirty="0">
                <a:solidFill>
                  <a:srgbClr val="1D1D1F"/>
                </a:solidFill>
                <a:latin typeface="Atkinson Hyperlegible" pitchFamily="34" charset="0"/>
                <a:ea typeface="Atkinson Hyperlegible" pitchFamily="34" charset="-122"/>
                <a:cs typeface="Atkinson Hyperlegible" pitchFamily="34" charset="-120"/>
              </a:rPr>
              <a:t>I-4</a:t>
            </a:r>
            <a:endParaRPr lang="en-US" sz="650" dirty="0"/>
          </a:p>
        </p:txBody>
      </p:sp>
      <p:sp>
        <p:nvSpPr>
          <p:cNvPr id="46" name="Shape 44"/>
          <p:cNvSpPr/>
          <p:nvPr/>
        </p:nvSpPr>
        <p:spPr>
          <a:xfrm>
            <a:off x="2514600" y="1975104"/>
            <a:ext cx="1517904" cy="146304"/>
          </a:xfrm>
          <a:prstGeom prst="roundRect">
            <a:avLst>
              <a:gd name="adj" fmla="val 18750"/>
            </a:avLst>
          </a:prstGeom>
          <a:solidFill>
            <a:srgbClr val="27AE60"/>
          </a:solidFill>
          <a:ln w="12700">
            <a:solidFill>
              <a:srgbClr val="27AE60"/>
            </a:solidFill>
            <a:prstDash val="solid"/>
          </a:ln>
        </p:spPr>
      </p:sp>
      <p:sp>
        <p:nvSpPr>
          <p:cNvPr id="47" name="Text 45"/>
          <p:cNvSpPr/>
          <p:nvPr/>
        </p:nvSpPr>
        <p:spPr>
          <a:xfrm>
            <a:off x="2514600" y="1975104"/>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48" name="Shape 46"/>
          <p:cNvSpPr/>
          <p:nvPr/>
        </p:nvSpPr>
        <p:spPr>
          <a:xfrm>
            <a:off x="4251960" y="1975104"/>
            <a:ext cx="1517904" cy="146304"/>
          </a:xfrm>
          <a:prstGeom prst="roundRect">
            <a:avLst>
              <a:gd name="adj" fmla="val 18750"/>
            </a:avLst>
          </a:prstGeom>
          <a:solidFill>
            <a:srgbClr val="D4620A"/>
          </a:solidFill>
          <a:ln w="12700">
            <a:solidFill>
              <a:srgbClr val="D4620A"/>
            </a:solidFill>
            <a:prstDash val="solid"/>
          </a:ln>
        </p:spPr>
      </p:sp>
      <p:sp>
        <p:nvSpPr>
          <p:cNvPr id="49" name="Text 47"/>
          <p:cNvSpPr/>
          <p:nvPr/>
        </p:nvSpPr>
        <p:spPr>
          <a:xfrm>
            <a:off x="4251960" y="1975104"/>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MEDIA</a:t>
            </a:r>
            <a:endParaRPr lang="en-US" sz="550" dirty="0"/>
          </a:p>
        </p:txBody>
      </p:sp>
      <p:sp>
        <p:nvSpPr>
          <p:cNvPr id="50" name="Shape 48"/>
          <p:cNvSpPr/>
          <p:nvPr/>
        </p:nvSpPr>
        <p:spPr>
          <a:xfrm>
            <a:off x="5989320" y="1975104"/>
            <a:ext cx="1517904" cy="146304"/>
          </a:xfrm>
          <a:prstGeom prst="roundRect">
            <a:avLst>
              <a:gd name="adj" fmla="val 18750"/>
            </a:avLst>
          </a:prstGeom>
          <a:solidFill>
            <a:srgbClr val="27AE60"/>
          </a:solidFill>
          <a:ln w="12700">
            <a:solidFill>
              <a:srgbClr val="27AE60"/>
            </a:solidFill>
            <a:prstDash val="solid"/>
          </a:ln>
        </p:spPr>
      </p:sp>
      <p:sp>
        <p:nvSpPr>
          <p:cNvPr id="51" name="Text 49"/>
          <p:cNvSpPr/>
          <p:nvPr/>
        </p:nvSpPr>
        <p:spPr>
          <a:xfrm>
            <a:off x="5989320" y="1975104"/>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52" name="Shape 50"/>
          <p:cNvSpPr/>
          <p:nvPr/>
        </p:nvSpPr>
        <p:spPr>
          <a:xfrm>
            <a:off x="7726680" y="1975104"/>
            <a:ext cx="1517904" cy="146304"/>
          </a:xfrm>
          <a:prstGeom prst="roundRect">
            <a:avLst>
              <a:gd name="adj" fmla="val 18750"/>
            </a:avLst>
          </a:prstGeom>
          <a:solidFill>
            <a:srgbClr val="27AE60"/>
          </a:solidFill>
          <a:ln w="12700">
            <a:solidFill>
              <a:srgbClr val="27AE60"/>
            </a:solidFill>
            <a:prstDash val="solid"/>
          </a:ln>
        </p:spPr>
      </p:sp>
      <p:sp>
        <p:nvSpPr>
          <p:cNvPr id="53" name="Text 51"/>
          <p:cNvSpPr/>
          <p:nvPr/>
        </p:nvSpPr>
        <p:spPr>
          <a:xfrm>
            <a:off x="7726680" y="1975104"/>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54" name="Shape 52"/>
          <p:cNvSpPr/>
          <p:nvPr/>
        </p:nvSpPr>
        <p:spPr>
          <a:xfrm>
            <a:off x="320040" y="2157984"/>
            <a:ext cx="2066544" cy="182880"/>
          </a:xfrm>
          <a:prstGeom prst="rect">
            <a:avLst/>
          </a:prstGeom>
          <a:solidFill>
            <a:srgbClr val="F8F8FA"/>
          </a:solidFill>
          <a:ln w="6350">
            <a:solidFill>
              <a:srgbClr val="E5E5EA"/>
            </a:solidFill>
            <a:prstDash val="solid"/>
          </a:ln>
        </p:spPr>
      </p:sp>
      <p:sp>
        <p:nvSpPr>
          <p:cNvPr id="55" name="Text 53"/>
          <p:cNvSpPr/>
          <p:nvPr/>
        </p:nvSpPr>
        <p:spPr>
          <a:xfrm>
            <a:off x="365760" y="2157984"/>
            <a:ext cx="2011680" cy="182880"/>
          </a:xfrm>
          <a:prstGeom prst="rect">
            <a:avLst/>
          </a:prstGeom>
          <a:noFill/>
          <a:ln/>
        </p:spPr>
        <p:txBody>
          <a:bodyPr wrap="square" rtlCol="0" anchor="ctr"/>
          <a:lstStyle/>
          <a:p>
            <a:pPr indent="0" marL="0">
              <a:buNone/>
            </a:pPr>
            <a:r>
              <a:rPr lang="en-US" sz="650" dirty="0">
                <a:solidFill>
                  <a:srgbClr val="1D1D1F"/>
                </a:solidFill>
                <a:latin typeface="Atkinson Hyperlegible" pitchFamily="34" charset="0"/>
                <a:ea typeface="Atkinson Hyperlegible" pitchFamily="34" charset="-122"/>
                <a:cs typeface="Atkinson Hyperlegible" pitchFamily="34" charset="-120"/>
              </a:rPr>
              <a:t>I-5</a:t>
            </a:r>
            <a:endParaRPr lang="en-US" sz="650" dirty="0"/>
          </a:p>
        </p:txBody>
      </p:sp>
      <p:sp>
        <p:nvSpPr>
          <p:cNvPr id="56" name="Shape 54"/>
          <p:cNvSpPr/>
          <p:nvPr/>
        </p:nvSpPr>
        <p:spPr>
          <a:xfrm>
            <a:off x="2514600" y="2176272"/>
            <a:ext cx="1517904" cy="146304"/>
          </a:xfrm>
          <a:prstGeom prst="roundRect">
            <a:avLst>
              <a:gd name="adj" fmla="val 18750"/>
            </a:avLst>
          </a:prstGeom>
          <a:solidFill>
            <a:srgbClr val="27AE60"/>
          </a:solidFill>
          <a:ln w="12700">
            <a:solidFill>
              <a:srgbClr val="27AE60"/>
            </a:solidFill>
            <a:prstDash val="solid"/>
          </a:ln>
        </p:spPr>
      </p:sp>
      <p:sp>
        <p:nvSpPr>
          <p:cNvPr id="57" name="Text 55"/>
          <p:cNvSpPr/>
          <p:nvPr/>
        </p:nvSpPr>
        <p:spPr>
          <a:xfrm>
            <a:off x="2514600" y="2176272"/>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58" name="Shape 56"/>
          <p:cNvSpPr/>
          <p:nvPr/>
        </p:nvSpPr>
        <p:spPr>
          <a:xfrm>
            <a:off x="4251960" y="2176272"/>
            <a:ext cx="1517904" cy="146304"/>
          </a:xfrm>
          <a:prstGeom prst="roundRect">
            <a:avLst>
              <a:gd name="adj" fmla="val 18750"/>
            </a:avLst>
          </a:prstGeom>
          <a:solidFill>
            <a:srgbClr val="E5E5EA"/>
          </a:solidFill>
          <a:ln w="12700">
            <a:solidFill>
              <a:srgbClr val="E5E5EA"/>
            </a:solidFill>
            <a:prstDash val="solid"/>
          </a:ln>
        </p:spPr>
      </p:sp>
      <p:sp>
        <p:nvSpPr>
          <p:cNvPr id="59" name="Text 57"/>
          <p:cNvSpPr/>
          <p:nvPr/>
        </p:nvSpPr>
        <p:spPr>
          <a:xfrm>
            <a:off x="4251960" y="2176272"/>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BAJA</a:t>
            </a:r>
            <a:endParaRPr lang="en-US" sz="550" dirty="0"/>
          </a:p>
        </p:txBody>
      </p:sp>
      <p:sp>
        <p:nvSpPr>
          <p:cNvPr id="60" name="Shape 58"/>
          <p:cNvSpPr/>
          <p:nvPr/>
        </p:nvSpPr>
        <p:spPr>
          <a:xfrm>
            <a:off x="5989320" y="2176272"/>
            <a:ext cx="1517904" cy="146304"/>
          </a:xfrm>
          <a:prstGeom prst="roundRect">
            <a:avLst>
              <a:gd name="adj" fmla="val 18750"/>
            </a:avLst>
          </a:prstGeom>
          <a:solidFill>
            <a:srgbClr val="D4620A"/>
          </a:solidFill>
          <a:ln w="12700">
            <a:solidFill>
              <a:srgbClr val="D4620A"/>
            </a:solidFill>
            <a:prstDash val="solid"/>
          </a:ln>
        </p:spPr>
      </p:sp>
      <p:sp>
        <p:nvSpPr>
          <p:cNvPr id="61" name="Text 59"/>
          <p:cNvSpPr/>
          <p:nvPr/>
        </p:nvSpPr>
        <p:spPr>
          <a:xfrm>
            <a:off x="5989320" y="2176272"/>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MEDIA</a:t>
            </a:r>
            <a:endParaRPr lang="en-US" sz="550" dirty="0"/>
          </a:p>
        </p:txBody>
      </p:sp>
      <p:sp>
        <p:nvSpPr>
          <p:cNvPr id="62" name="Shape 60"/>
          <p:cNvSpPr/>
          <p:nvPr/>
        </p:nvSpPr>
        <p:spPr>
          <a:xfrm>
            <a:off x="7726680" y="2176272"/>
            <a:ext cx="1517904" cy="146304"/>
          </a:xfrm>
          <a:prstGeom prst="roundRect">
            <a:avLst>
              <a:gd name="adj" fmla="val 18750"/>
            </a:avLst>
          </a:prstGeom>
          <a:solidFill>
            <a:srgbClr val="27AE60"/>
          </a:solidFill>
          <a:ln w="12700">
            <a:solidFill>
              <a:srgbClr val="27AE60"/>
            </a:solidFill>
            <a:prstDash val="solid"/>
          </a:ln>
        </p:spPr>
      </p:sp>
      <p:sp>
        <p:nvSpPr>
          <p:cNvPr id="63" name="Text 61"/>
          <p:cNvSpPr/>
          <p:nvPr/>
        </p:nvSpPr>
        <p:spPr>
          <a:xfrm>
            <a:off x="7726680" y="2176272"/>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64" name="Shape 62"/>
          <p:cNvSpPr/>
          <p:nvPr/>
        </p:nvSpPr>
        <p:spPr>
          <a:xfrm>
            <a:off x="320040" y="2359152"/>
            <a:ext cx="2066544" cy="182880"/>
          </a:xfrm>
          <a:prstGeom prst="rect">
            <a:avLst/>
          </a:prstGeom>
          <a:solidFill>
            <a:srgbClr val="FFFFFF"/>
          </a:solidFill>
          <a:ln w="6350">
            <a:solidFill>
              <a:srgbClr val="E5E5EA"/>
            </a:solidFill>
            <a:prstDash val="solid"/>
          </a:ln>
        </p:spPr>
      </p:sp>
      <p:sp>
        <p:nvSpPr>
          <p:cNvPr id="65" name="Text 63"/>
          <p:cNvSpPr/>
          <p:nvPr/>
        </p:nvSpPr>
        <p:spPr>
          <a:xfrm>
            <a:off x="365760" y="2359152"/>
            <a:ext cx="2011680" cy="182880"/>
          </a:xfrm>
          <a:prstGeom prst="rect">
            <a:avLst/>
          </a:prstGeom>
          <a:noFill/>
          <a:ln/>
        </p:spPr>
        <p:txBody>
          <a:bodyPr wrap="square" rtlCol="0" anchor="ctr"/>
          <a:lstStyle/>
          <a:p>
            <a:pPr indent="0" marL="0">
              <a:buNone/>
            </a:pPr>
            <a:r>
              <a:rPr lang="en-US" sz="650" dirty="0">
                <a:solidFill>
                  <a:srgbClr val="1D1D1F"/>
                </a:solidFill>
                <a:latin typeface="Atkinson Hyperlegible" pitchFamily="34" charset="0"/>
                <a:ea typeface="Atkinson Hyperlegible" pitchFamily="34" charset="-122"/>
                <a:cs typeface="Atkinson Hyperlegible" pitchFamily="34" charset="-120"/>
              </a:rPr>
              <a:t>I-6</a:t>
            </a:r>
            <a:endParaRPr lang="en-US" sz="650" dirty="0"/>
          </a:p>
        </p:txBody>
      </p:sp>
      <p:sp>
        <p:nvSpPr>
          <p:cNvPr id="66" name="Shape 64"/>
          <p:cNvSpPr/>
          <p:nvPr/>
        </p:nvSpPr>
        <p:spPr>
          <a:xfrm>
            <a:off x="2514600" y="2377440"/>
            <a:ext cx="1517904" cy="146304"/>
          </a:xfrm>
          <a:prstGeom prst="roundRect">
            <a:avLst>
              <a:gd name="adj" fmla="val 18750"/>
            </a:avLst>
          </a:prstGeom>
          <a:solidFill>
            <a:srgbClr val="27AE60"/>
          </a:solidFill>
          <a:ln w="12700">
            <a:solidFill>
              <a:srgbClr val="27AE60"/>
            </a:solidFill>
            <a:prstDash val="solid"/>
          </a:ln>
        </p:spPr>
      </p:sp>
      <p:sp>
        <p:nvSpPr>
          <p:cNvPr id="67" name="Text 65"/>
          <p:cNvSpPr/>
          <p:nvPr/>
        </p:nvSpPr>
        <p:spPr>
          <a:xfrm>
            <a:off x="2514600" y="2377440"/>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68" name="Shape 66"/>
          <p:cNvSpPr/>
          <p:nvPr/>
        </p:nvSpPr>
        <p:spPr>
          <a:xfrm>
            <a:off x="4251960" y="2377440"/>
            <a:ext cx="1517904" cy="146304"/>
          </a:xfrm>
          <a:prstGeom prst="roundRect">
            <a:avLst>
              <a:gd name="adj" fmla="val 18750"/>
            </a:avLst>
          </a:prstGeom>
          <a:solidFill>
            <a:srgbClr val="27AE60"/>
          </a:solidFill>
          <a:ln w="12700">
            <a:solidFill>
              <a:srgbClr val="27AE60"/>
            </a:solidFill>
            <a:prstDash val="solid"/>
          </a:ln>
        </p:spPr>
      </p:sp>
      <p:sp>
        <p:nvSpPr>
          <p:cNvPr id="69" name="Text 67"/>
          <p:cNvSpPr/>
          <p:nvPr/>
        </p:nvSpPr>
        <p:spPr>
          <a:xfrm>
            <a:off x="4251960" y="2377440"/>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70" name="Shape 68"/>
          <p:cNvSpPr/>
          <p:nvPr/>
        </p:nvSpPr>
        <p:spPr>
          <a:xfrm>
            <a:off x="5989320" y="2377440"/>
            <a:ext cx="1517904" cy="146304"/>
          </a:xfrm>
          <a:prstGeom prst="roundRect">
            <a:avLst>
              <a:gd name="adj" fmla="val 18750"/>
            </a:avLst>
          </a:prstGeom>
          <a:solidFill>
            <a:srgbClr val="27AE60"/>
          </a:solidFill>
          <a:ln w="12700">
            <a:solidFill>
              <a:srgbClr val="27AE60"/>
            </a:solidFill>
            <a:prstDash val="solid"/>
          </a:ln>
        </p:spPr>
      </p:sp>
      <p:sp>
        <p:nvSpPr>
          <p:cNvPr id="71" name="Text 69"/>
          <p:cNvSpPr/>
          <p:nvPr/>
        </p:nvSpPr>
        <p:spPr>
          <a:xfrm>
            <a:off x="5989320" y="2377440"/>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72" name="Shape 70"/>
          <p:cNvSpPr/>
          <p:nvPr/>
        </p:nvSpPr>
        <p:spPr>
          <a:xfrm>
            <a:off x="7726680" y="2377440"/>
            <a:ext cx="1517904" cy="146304"/>
          </a:xfrm>
          <a:prstGeom prst="roundRect">
            <a:avLst>
              <a:gd name="adj" fmla="val 18750"/>
            </a:avLst>
          </a:prstGeom>
          <a:solidFill>
            <a:srgbClr val="27AE60"/>
          </a:solidFill>
          <a:ln w="12700">
            <a:solidFill>
              <a:srgbClr val="27AE60"/>
            </a:solidFill>
            <a:prstDash val="solid"/>
          </a:ln>
        </p:spPr>
      </p:sp>
      <p:sp>
        <p:nvSpPr>
          <p:cNvPr id="73" name="Text 71"/>
          <p:cNvSpPr/>
          <p:nvPr/>
        </p:nvSpPr>
        <p:spPr>
          <a:xfrm>
            <a:off x="7726680" y="2377440"/>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74" name="Shape 72"/>
          <p:cNvSpPr/>
          <p:nvPr/>
        </p:nvSpPr>
        <p:spPr>
          <a:xfrm>
            <a:off x="320040" y="2560320"/>
            <a:ext cx="2066544" cy="182880"/>
          </a:xfrm>
          <a:prstGeom prst="rect">
            <a:avLst/>
          </a:prstGeom>
          <a:solidFill>
            <a:srgbClr val="F8F8FA"/>
          </a:solidFill>
          <a:ln w="6350">
            <a:solidFill>
              <a:srgbClr val="E5E5EA"/>
            </a:solidFill>
            <a:prstDash val="solid"/>
          </a:ln>
        </p:spPr>
      </p:sp>
      <p:sp>
        <p:nvSpPr>
          <p:cNvPr id="75" name="Text 73"/>
          <p:cNvSpPr/>
          <p:nvPr/>
        </p:nvSpPr>
        <p:spPr>
          <a:xfrm>
            <a:off x="365760" y="2560320"/>
            <a:ext cx="2011680" cy="182880"/>
          </a:xfrm>
          <a:prstGeom prst="rect">
            <a:avLst/>
          </a:prstGeom>
          <a:noFill/>
          <a:ln/>
        </p:spPr>
        <p:txBody>
          <a:bodyPr wrap="square" rtlCol="0" anchor="ctr"/>
          <a:lstStyle/>
          <a:p>
            <a:pPr indent="0" marL="0">
              <a:buNone/>
            </a:pPr>
            <a:r>
              <a:rPr lang="en-US" sz="650" dirty="0">
                <a:solidFill>
                  <a:srgbClr val="1D1D1F"/>
                </a:solidFill>
                <a:latin typeface="Atkinson Hyperlegible" pitchFamily="34" charset="0"/>
                <a:ea typeface="Atkinson Hyperlegible" pitchFamily="34" charset="-122"/>
                <a:cs typeface="Atkinson Hyperlegible" pitchFamily="34" charset="-120"/>
              </a:rPr>
              <a:t>I-7</a:t>
            </a:r>
            <a:endParaRPr lang="en-US" sz="650" dirty="0"/>
          </a:p>
        </p:txBody>
      </p:sp>
      <p:sp>
        <p:nvSpPr>
          <p:cNvPr id="76" name="Shape 74"/>
          <p:cNvSpPr/>
          <p:nvPr/>
        </p:nvSpPr>
        <p:spPr>
          <a:xfrm>
            <a:off x="2514600" y="2578608"/>
            <a:ext cx="1517904" cy="146304"/>
          </a:xfrm>
          <a:prstGeom prst="roundRect">
            <a:avLst>
              <a:gd name="adj" fmla="val 18750"/>
            </a:avLst>
          </a:prstGeom>
          <a:solidFill>
            <a:srgbClr val="27AE60"/>
          </a:solidFill>
          <a:ln w="12700">
            <a:solidFill>
              <a:srgbClr val="27AE60"/>
            </a:solidFill>
            <a:prstDash val="solid"/>
          </a:ln>
        </p:spPr>
      </p:sp>
      <p:sp>
        <p:nvSpPr>
          <p:cNvPr id="77" name="Text 75"/>
          <p:cNvSpPr/>
          <p:nvPr/>
        </p:nvSpPr>
        <p:spPr>
          <a:xfrm>
            <a:off x="2514600" y="2578608"/>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78" name="Shape 76"/>
          <p:cNvSpPr/>
          <p:nvPr/>
        </p:nvSpPr>
        <p:spPr>
          <a:xfrm>
            <a:off x="4251960" y="2578608"/>
            <a:ext cx="1517904" cy="146304"/>
          </a:xfrm>
          <a:prstGeom prst="roundRect">
            <a:avLst>
              <a:gd name="adj" fmla="val 18750"/>
            </a:avLst>
          </a:prstGeom>
          <a:solidFill>
            <a:srgbClr val="D4620A"/>
          </a:solidFill>
          <a:ln w="12700">
            <a:solidFill>
              <a:srgbClr val="D4620A"/>
            </a:solidFill>
            <a:prstDash val="solid"/>
          </a:ln>
        </p:spPr>
      </p:sp>
      <p:sp>
        <p:nvSpPr>
          <p:cNvPr id="79" name="Text 77"/>
          <p:cNvSpPr/>
          <p:nvPr/>
        </p:nvSpPr>
        <p:spPr>
          <a:xfrm>
            <a:off x="4251960" y="2578608"/>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MEDIA</a:t>
            </a:r>
            <a:endParaRPr lang="en-US" sz="550" dirty="0"/>
          </a:p>
        </p:txBody>
      </p:sp>
      <p:sp>
        <p:nvSpPr>
          <p:cNvPr id="80" name="Shape 78"/>
          <p:cNvSpPr/>
          <p:nvPr/>
        </p:nvSpPr>
        <p:spPr>
          <a:xfrm>
            <a:off x="5989320" y="2578608"/>
            <a:ext cx="1517904" cy="146304"/>
          </a:xfrm>
          <a:prstGeom prst="roundRect">
            <a:avLst>
              <a:gd name="adj" fmla="val 18750"/>
            </a:avLst>
          </a:prstGeom>
          <a:solidFill>
            <a:srgbClr val="D4620A"/>
          </a:solidFill>
          <a:ln w="12700">
            <a:solidFill>
              <a:srgbClr val="D4620A"/>
            </a:solidFill>
            <a:prstDash val="solid"/>
          </a:ln>
        </p:spPr>
      </p:sp>
      <p:sp>
        <p:nvSpPr>
          <p:cNvPr id="81" name="Text 79"/>
          <p:cNvSpPr/>
          <p:nvPr/>
        </p:nvSpPr>
        <p:spPr>
          <a:xfrm>
            <a:off x="5989320" y="2578608"/>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MEDIA</a:t>
            </a:r>
            <a:endParaRPr lang="en-US" sz="550" dirty="0"/>
          </a:p>
        </p:txBody>
      </p:sp>
      <p:sp>
        <p:nvSpPr>
          <p:cNvPr id="82" name="Shape 80"/>
          <p:cNvSpPr/>
          <p:nvPr/>
        </p:nvSpPr>
        <p:spPr>
          <a:xfrm>
            <a:off x="7726680" y="2578608"/>
            <a:ext cx="1517904" cy="146304"/>
          </a:xfrm>
          <a:prstGeom prst="roundRect">
            <a:avLst>
              <a:gd name="adj" fmla="val 18750"/>
            </a:avLst>
          </a:prstGeom>
          <a:solidFill>
            <a:srgbClr val="27AE60"/>
          </a:solidFill>
          <a:ln w="12700">
            <a:solidFill>
              <a:srgbClr val="27AE60"/>
            </a:solidFill>
            <a:prstDash val="solid"/>
          </a:ln>
        </p:spPr>
      </p:sp>
      <p:sp>
        <p:nvSpPr>
          <p:cNvPr id="83" name="Text 81"/>
          <p:cNvSpPr/>
          <p:nvPr/>
        </p:nvSpPr>
        <p:spPr>
          <a:xfrm>
            <a:off x="7726680" y="2578608"/>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84" name="Shape 82"/>
          <p:cNvSpPr/>
          <p:nvPr/>
        </p:nvSpPr>
        <p:spPr>
          <a:xfrm>
            <a:off x="320040" y="2761488"/>
            <a:ext cx="2066544" cy="182880"/>
          </a:xfrm>
          <a:prstGeom prst="rect">
            <a:avLst/>
          </a:prstGeom>
          <a:solidFill>
            <a:srgbClr val="FFFFFF"/>
          </a:solidFill>
          <a:ln w="6350">
            <a:solidFill>
              <a:srgbClr val="E5E5EA"/>
            </a:solidFill>
            <a:prstDash val="solid"/>
          </a:ln>
        </p:spPr>
      </p:sp>
      <p:sp>
        <p:nvSpPr>
          <p:cNvPr id="85" name="Text 83"/>
          <p:cNvSpPr/>
          <p:nvPr/>
        </p:nvSpPr>
        <p:spPr>
          <a:xfrm>
            <a:off x="365760" y="2761488"/>
            <a:ext cx="2011680" cy="182880"/>
          </a:xfrm>
          <a:prstGeom prst="rect">
            <a:avLst/>
          </a:prstGeom>
          <a:noFill/>
          <a:ln/>
        </p:spPr>
        <p:txBody>
          <a:bodyPr wrap="square" rtlCol="0" anchor="ctr"/>
          <a:lstStyle/>
          <a:p>
            <a:pPr indent="0" marL="0">
              <a:buNone/>
            </a:pPr>
            <a:r>
              <a:rPr lang="en-US" sz="650" dirty="0">
                <a:solidFill>
                  <a:srgbClr val="1D1D1F"/>
                </a:solidFill>
                <a:latin typeface="Atkinson Hyperlegible" pitchFamily="34" charset="0"/>
                <a:ea typeface="Atkinson Hyperlegible" pitchFamily="34" charset="-122"/>
                <a:cs typeface="Atkinson Hyperlegible" pitchFamily="34" charset="-120"/>
              </a:rPr>
              <a:t>II-1</a:t>
            </a:r>
            <a:endParaRPr lang="en-US" sz="650" dirty="0"/>
          </a:p>
        </p:txBody>
      </p:sp>
      <p:sp>
        <p:nvSpPr>
          <p:cNvPr id="86" name="Shape 84"/>
          <p:cNvSpPr/>
          <p:nvPr/>
        </p:nvSpPr>
        <p:spPr>
          <a:xfrm>
            <a:off x="2514600" y="2779776"/>
            <a:ext cx="1517904" cy="146304"/>
          </a:xfrm>
          <a:prstGeom prst="roundRect">
            <a:avLst>
              <a:gd name="adj" fmla="val 18750"/>
            </a:avLst>
          </a:prstGeom>
          <a:solidFill>
            <a:srgbClr val="27AE60"/>
          </a:solidFill>
          <a:ln w="12700">
            <a:solidFill>
              <a:srgbClr val="27AE60"/>
            </a:solidFill>
            <a:prstDash val="solid"/>
          </a:ln>
        </p:spPr>
      </p:sp>
      <p:sp>
        <p:nvSpPr>
          <p:cNvPr id="87" name="Text 85"/>
          <p:cNvSpPr/>
          <p:nvPr/>
        </p:nvSpPr>
        <p:spPr>
          <a:xfrm>
            <a:off x="2514600" y="2779776"/>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88" name="Shape 86"/>
          <p:cNvSpPr/>
          <p:nvPr/>
        </p:nvSpPr>
        <p:spPr>
          <a:xfrm>
            <a:off x="4251960" y="2779776"/>
            <a:ext cx="1517904" cy="146304"/>
          </a:xfrm>
          <a:prstGeom prst="roundRect">
            <a:avLst>
              <a:gd name="adj" fmla="val 18750"/>
            </a:avLst>
          </a:prstGeom>
          <a:solidFill>
            <a:srgbClr val="D4620A"/>
          </a:solidFill>
          <a:ln w="12700">
            <a:solidFill>
              <a:srgbClr val="D4620A"/>
            </a:solidFill>
            <a:prstDash val="solid"/>
          </a:ln>
        </p:spPr>
      </p:sp>
      <p:sp>
        <p:nvSpPr>
          <p:cNvPr id="89" name="Text 87"/>
          <p:cNvSpPr/>
          <p:nvPr/>
        </p:nvSpPr>
        <p:spPr>
          <a:xfrm>
            <a:off x="4251960" y="2779776"/>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MEDIA</a:t>
            </a:r>
            <a:endParaRPr lang="en-US" sz="550" dirty="0"/>
          </a:p>
        </p:txBody>
      </p:sp>
      <p:sp>
        <p:nvSpPr>
          <p:cNvPr id="90" name="Shape 88"/>
          <p:cNvSpPr/>
          <p:nvPr/>
        </p:nvSpPr>
        <p:spPr>
          <a:xfrm>
            <a:off x="5989320" y="2779776"/>
            <a:ext cx="1517904" cy="146304"/>
          </a:xfrm>
          <a:prstGeom prst="roundRect">
            <a:avLst>
              <a:gd name="adj" fmla="val 18750"/>
            </a:avLst>
          </a:prstGeom>
          <a:solidFill>
            <a:srgbClr val="27AE60"/>
          </a:solidFill>
          <a:ln w="12700">
            <a:solidFill>
              <a:srgbClr val="27AE60"/>
            </a:solidFill>
            <a:prstDash val="solid"/>
          </a:ln>
        </p:spPr>
      </p:sp>
      <p:sp>
        <p:nvSpPr>
          <p:cNvPr id="91" name="Text 89"/>
          <p:cNvSpPr/>
          <p:nvPr/>
        </p:nvSpPr>
        <p:spPr>
          <a:xfrm>
            <a:off x="5989320" y="2779776"/>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92" name="Shape 90"/>
          <p:cNvSpPr/>
          <p:nvPr/>
        </p:nvSpPr>
        <p:spPr>
          <a:xfrm>
            <a:off x="7726680" y="2779776"/>
            <a:ext cx="1517904" cy="146304"/>
          </a:xfrm>
          <a:prstGeom prst="roundRect">
            <a:avLst>
              <a:gd name="adj" fmla="val 18750"/>
            </a:avLst>
          </a:prstGeom>
          <a:solidFill>
            <a:srgbClr val="27AE60"/>
          </a:solidFill>
          <a:ln w="12700">
            <a:solidFill>
              <a:srgbClr val="27AE60"/>
            </a:solidFill>
            <a:prstDash val="solid"/>
          </a:ln>
        </p:spPr>
      </p:sp>
      <p:sp>
        <p:nvSpPr>
          <p:cNvPr id="93" name="Text 91"/>
          <p:cNvSpPr/>
          <p:nvPr/>
        </p:nvSpPr>
        <p:spPr>
          <a:xfrm>
            <a:off x="7726680" y="2779776"/>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94" name="Shape 92"/>
          <p:cNvSpPr/>
          <p:nvPr/>
        </p:nvSpPr>
        <p:spPr>
          <a:xfrm>
            <a:off x="320040" y="2962656"/>
            <a:ext cx="2066544" cy="182880"/>
          </a:xfrm>
          <a:prstGeom prst="rect">
            <a:avLst/>
          </a:prstGeom>
          <a:solidFill>
            <a:srgbClr val="F8F8FA"/>
          </a:solidFill>
          <a:ln w="6350">
            <a:solidFill>
              <a:srgbClr val="E5E5EA"/>
            </a:solidFill>
            <a:prstDash val="solid"/>
          </a:ln>
        </p:spPr>
      </p:sp>
      <p:sp>
        <p:nvSpPr>
          <p:cNvPr id="95" name="Text 93"/>
          <p:cNvSpPr/>
          <p:nvPr/>
        </p:nvSpPr>
        <p:spPr>
          <a:xfrm>
            <a:off x="365760" y="2962656"/>
            <a:ext cx="2011680" cy="182880"/>
          </a:xfrm>
          <a:prstGeom prst="rect">
            <a:avLst/>
          </a:prstGeom>
          <a:noFill/>
          <a:ln/>
        </p:spPr>
        <p:txBody>
          <a:bodyPr wrap="square" rtlCol="0" anchor="ctr"/>
          <a:lstStyle/>
          <a:p>
            <a:pPr indent="0" marL="0">
              <a:buNone/>
            </a:pPr>
            <a:r>
              <a:rPr lang="en-US" sz="650" dirty="0">
                <a:solidFill>
                  <a:srgbClr val="1D1D1F"/>
                </a:solidFill>
                <a:latin typeface="Atkinson Hyperlegible" pitchFamily="34" charset="0"/>
                <a:ea typeface="Atkinson Hyperlegible" pitchFamily="34" charset="-122"/>
                <a:cs typeface="Atkinson Hyperlegible" pitchFamily="34" charset="-120"/>
              </a:rPr>
              <a:t>II-2</a:t>
            </a:r>
            <a:endParaRPr lang="en-US" sz="650" dirty="0"/>
          </a:p>
        </p:txBody>
      </p:sp>
      <p:sp>
        <p:nvSpPr>
          <p:cNvPr id="96" name="Shape 94"/>
          <p:cNvSpPr/>
          <p:nvPr/>
        </p:nvSpPr>
        <p:spPr>
          <a:xfrm>
            <a:off x="2514600" y="2980944"/>
            <a:ext cx="1517904" cy="146304"/>
          </a:xfrm>
          <a:prstGeom prst="roundRect">
            <a:avLst>
              <a:gd name="adj" fmla="val 18750"/>
            </a:avLst>
          </a:prstGeom>
          <a:solidFill>
            <a:srgbClr val="27AE60"/>
          </a:solidFill>
          <a:ln w="12700">
            <a:solidFill>
              <a:srgbClr val="27AE60"/>
            </a:solidFill>
            <a:prstDash val="solid"/>
          </a:ln>
        </p:spPr>
      </p:sp>
      <p:sp>
        <p:nvSpPr>
          <p:cNvPr id="97" name="Text 95"/>
          <p:cNvSpPr/>
          <p:nvPr/>
        </p:nvSpPr>
        <p:spPr>
          <a:xfrm>
            <a:off x="2514600" y="2980944"/>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98" name="Shape 96"/>
          <p:cNvSpPr/>
          <p:nvPr/>
        </p:nvSpPr>
        <p:spPr>
          <a:xfrm>
            <a:off x="4251960" y="2980944"/>
            <a:ext cx="1517904" cy="146304"/>
          </a:xfrm>
          <a:prstGeom prst="roundRect">
            <a:avLst>
              <a:gd name="adj" fmla="val 18750"/>
            </a:avLst>
          </a:prstGeom>
          <a:solidFill>
            <a:srgbClr val="27AE60"/>
          </a:solidFill>
          <a:ln w="12700">
            <a:solidFill>
              <a:srgbClr val="27AE60"/>
            </a:solidFill>
            <a:prstDash val="solid"/>
          </a:ln>
        </p:spPr>
      </p:sp>
      <p:sp>
        <p:nvSpPr>
          <p:cNvPr id="99" name="Text 97"/>
          <p:cNvSpPr/>
          <p:nvPr/>
        </p:nvSpPr>
        <p:spPr>
          <a:xfrm>
            <a:off x="4251960" y="2980944"/>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00" name="Shape 98"/>
          <p:cNvSpPr/>
          <p:nvPr/>
        </p:nvSpPr>
        <p:spPr>
          <a:xfrm>
            <a:off x="5989320" y="2980944"/>
            <a:ext cx="1517904" cy="146304"/>
          </a:xfrm>
          <a:prstGeom prst="roundRect">
            <a:avLst>
              <a:gd name="adj" fmla="val 18750"/>
            </a:avLst>
          </a:prstGeom>
          <a:solidFill>
            <a:srgbClr val="27AE60"/>
          </a:solidFill>
          <a:ln w="12700">
            <a:solidFill>
              <a:srgbClr val="27AE60"/>
            </a:solidFill>
            <a:prstDash val="solid"/>
          </a:ln>
        </p:spPr>
      </p:sp>
      <p:sp>
        <p:nvSpPr>
          <p:cNvPr id="101" name="Text 99"/>
          <p:cNvSpPr/>
          <p:nvPr/>
        </p:nvSpPr>
        <p:spPr>
          <a:xfrm>
            <a:off x="5989320" y="2980944"/>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02" name="Shape 100"/>
          <p:cNvSpPr/>
          <p:nvPr/>
        </p:nvSpPr>
        <p:spPr>
          <a:xfrm>
            <a:off x="7726680" y="2980944"/>
            <a:ext cx="1517904" cy="146304"/>
          </a:xfrm>
          <a:prstGeom prst="roundRect">
            <a:avLst>
              <a:gd name="adj" fmla="val 18750"/>
            </a:avLst>
          </a:prstGeom>
          <a:solidFill>
            <a:srgbClr val="D4620A"/>
          </a:solidFill>
          <a:ln w="12700">
            <a:solidFill>
              <a:srgbClr val="D4620A"/>
            </a:solidFill>
            <a:prstDash val="solid"/>
          </a:ln>
        </p:spPr>
      </p:sp>
      <p:sp>
        <p:nvSpPr>
          <p:cNvPr id="103" name="Text 101"/>
          <p:cNvSpPr/>
          <p:nvPr/>
        </p:nvSpPr>
        <p:spPr>
          <a:xfrm>
            <a:off x="7726680" y="2980944"/>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MEDIA</a:t>
            </a:r>
            <a:endParaRPr lang="en-US" sz="550" dirty="0"/>
          </a:p>
        </p:txBody>
      </p:sp>
      <p:sp>
        <p:nvSpPr>
          <p:cNvPr id="104" name="Shape 102"/>
          <p:cNvSpPr/>
          <p:nvPr/>
        </p:nvSpPr>
        <p:spPr>
          <a:xfrm>
            <a:off x="320040" y="3163824"/>
            <a:ext cx="2066544" cy="182880"/>
          </a:xfrm>
          <a:prstGeom prst="rect">
            <a:avLst/>
          </a:prstGeom>
          <a:solidFill>
            <a:srgbClr val="FFFFFF"/>
          </a:solidFill>
          <a:ln w="6350">
            <a:solidFill>
              <a:srgbClr val="E5E5EA"/>
            </a:solidFill>
            <a:prstDash val="solid"/>
          </a:ln>
        </p:spPr>
      </p:sp>
      <p:sp>
        <p:nvSpPr>
          <p:cNvPr id="105" name="Text 103"/>
          <p:cNvSpPr/>
          <p:nvPr/>
        </p:nvSpPr>
        <p:spPr>
          <a:xfrm>
            <a:off x="365760" y="3163824"/>
            <a:ext cx="2011680" cy="182880"/>
          </a:xfrm>
          <a:prstGeom prst="rect">
            <a:avLst/>
          </a:prstGeom>
          <a:noFill/>
          <a:ln/>
        </p:spPr>
        <p:txBody>
          <a:bodyPr wrap="square" rtlCol="0" anchor="ctr"/>
          <a:lstStyle/>
          <a:p>
            <a:pPr indent="0" marL="0">
              <a:buNone/>
            </a:pPr>
            <a:r>
              <a:rPr lang="en-US" sz="650" dirty="0">
                <a:solidFill>
                  <a:srgbClr val="1D1D1F"/>
                </a:solidFill>
                <a:latin typeface="Atkinson Hyperlegible" pitchFamily="34" charset="0"/>
                <a:ea typeface="Atkinson Hyperlegible" pitchFamily="34" charset="-122"/>
                <a:cs typeface="Atkinson Hyperlegible" pitchFamily="34" charset="-120"/>
              </a:rPr>
              <a:t>II-3</a:t>
            </a:r>
            <a:endParaRPr lang="en-US" sz="650" dirty="0"/>
          </a:p>
        </p:txBody>
      </p:sp>
      <p:sp>
        <p:nvSpPr>
          <p:cNvPr id="106" name="Shape 104"/>
          <p:cNvSpPr/>
          <p:nvPr/>
        </p:nvSpPr>
        <p:spPr>
          <a:xfrm>
            <a:off x="2514600" y="3182112"/>
            <a:ext cx="1517904" cy="146304"/>
          </a:xfrm>
          <a:prstGeom prst="roundRect">
            <a:avLst>
              <a:gd name="adj" fmla="val 18750"/>
            </a:avLst>
          </a:prstGeom>
          <a:solidFill>
            <a:srgbClr val="27AE60"/>
          </a:solidFill>
          <a:ln w="12700">
            <a:solidFill>
              <a:srgbClr val="27AE60"/>
            </a:solidFill>
            <a:prstDash val="solid"/>
          </a:ln>
        </p:spPr>
      </p:sp>
      <p:sp>
        <p:nvSpPr>
          <p:cNvPr id="107" name="Text 105"/>
          <p:cNvSpPr/>
          <p:nvPr/>
        </p:nvSpPr>
        <p:spPr>
          <a:xfrm>
            <a:off x="2514600" y="3182112"/>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08" name="Shape 106"/>
          <p:cNvSpPr/>
          <p:nvPr/>
        </p:nvSpPr>
        <p:spPr>
          <a:xfrm>
            <a:off x="4251960" y="3182112"/>
            <a:ext cx="1517904" cy="146304"/>
          </a:xfrm>
          <a:prstGeom prst="roundRect">
            <a:avLst>
              <a:gd name="adj" fmla="val 18750"/>
            </a:avLst>
          </a:prstGeom>
          <a:solidFill>
            <a:srgbClr val="D4620A"/>
          </a:solidFill>
          <a:ln w="12700">
            <a:solidFill>
              <a:srgbClr val="D4620A"/>
            </a:solidFill>
            <a:prstDash val="solid"/>
          </a:ln>
        </p:spPr>
      </p:sp>
      <p:sp>
        <p:nvSpPr>
          <p:cNvPr id="109" name="Text 107"/>
          <p:cNvSpPr/>
          <p:nvPr/>
        </p:nvSpPr>
        <p:spPr>
          <a:xfrm>
            <a:off x="4251960" y="3182112"/>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MEDIA</a:t>
            </a:r>
            <a:endParaRPr lang="en-US" sz="550" dirty="0"/>
          </a:p>
        </p:txBody>
      </p:sp>
      <p:sp>
        <p:nvSpPr>
          <p:cNvPr id="110" name="Shape 108"/>
          <p:cNvSpPr/>
          <p:nvPr/>
        </p:nvSpPr>
        <p:spPr>
          <a:xfrm>
            <a:off x="5989320" y="3182112"/>
            <a:ext cx="1517904" cy="146304"/>
          </a:xfrm>
          <a:prstGeom prst="roundRect">
            <a:avLst>
              <a:gd name="adj" fmla="val 18750"/>
            </a:avLst>
          </a:prstGeom>
          <a:solidFill>
            <a:srgbClr val="27AE60"/>
          </a:solidFill>
          <a:ln w="12700">
            <a:solidFill>
              <a:srgbClr val="27AE60"/>
            </a:solidFill>
            <a:prstDash val="solid"/>
          </a:ln>
        </p:spPr>
      </p:sp>
      <p:sp>
        <p:nvSpPr>
          <p:cNvPr id="111" name="Text 109"/>
          <p:cNvSpPr/>
          <p:nvPr/>
        </p:nvSpPr>
        <p:spPr>
          <a:xfrm>
            <a:off x="5989320" y="3182112"/>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12" name="Shape 110"/>
          <p:cNvSpPr/>
          <p:nvPr/>
        </p:nvSpPr>
        <p:spPr>
          <a:xfrm>
            <a:off x="7726680" y="3182112"/>
            <a:ext cx="1517904" cy="146304"/>
          </a:xfrm>
          <a:prstGeom prst="roundRect">
            <a:avLst>
              <a:gd name="adj" fmla="val 18750"/>
            </a:avLst>
          </a:prstGeom>
          <a:solidFill>
            <a:srgbClr val="D4620A"/>
          </a:solidFill>
          <a:ln w="12700">
            <a:solidFill>
              <a:srgbClr val="D4620A"/>
            </a:solidFill>
            <a:prstDash val="solid"/>
          </a:ln>
        </p:spPr>
      </p:sp>
      <p:sp>
        <p:nvSpPr>
          <p:cNvPr id="113" name="Text 111"/>
          <p:cNvSpPr/>
          <p:nvPr/>
        </p:nvSpPr>
        <p:spPr>
          <a:xfrm>
            <a:off x="7726680" y="3182112"/>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MEDIA</a:t>
            </a:r>
            <a:endParaRPr lang="en-US" sz="550" dirty="0"/>
          </a:p>
        </p:txBody>
      </p:sp>
      <p:sp>
        <p:nvSpPr>
          <p:cNvPr id="114" name="Shape 112"/>
          <p:cNvSpPr/>
          <p:nvPr/>
        </p:nvSpPr>
        <p:spPr>
          <a:xfrm>
            <a:off x="320040" y="3364992"/>
            <a:ext cx="2066544" cy="182880"/>
          </a:xfrm>
          <a:prstGeom prst="rect">
            <a:avLst/>
          </a:prstGeom>
          <a:solidFill>
            <a:srgbClr val="F8F8FA"/>
          </a:solidFill>
          <a:ln w="6350">
            <a:solidFill>
              <a:srgbClr val="E5E5EA"/>
            </a:solidFill>
            <a:prstDash val="solid"/>
          </a:ln>
        </p:spPr>
      </p:sp>
      <p:sp>
        <p:nvSpPr>
          <p:cNvPr id="115" name="Text 113"/>
          <p:cNvSpPr/>
          <p:nvPr/>
        </p:nvSpPr>
        <p:spPr>
          <a:xfrm>
            <a:off x="365760" y="3364992"/>
            <a:ext cx="2011680" cy="182880"/>
          </a:xfrm>
          <a:prstGeom prst="rect">
            <a:avLst/>
          </a:prstGeom>
          <a:noFill/>
          <a:ln/>
        </p:spPr>
        <p:txBody>
          <a:bodyPr wrap="square" rtlCol="0" anchor="ctr"/>
          <a:lstStyle/>
          <a:p>
            <a:pPr indent="0" marL="0">
              <a:buNone/>
            </a:pPr>
            <a:r>
              <a:rPr lang="en-US" sz="650" dirty="0">
                <a:solidFill>
                  <a:srgbClr val="1D1D1F"/>
                </a:solidFill>
                <a:latin typeface="Atkinson Hyperlegible" pitchFamily="34" charset="0"/>
                <a:ea typeface="Atkinson Hyperlegible" pitchFamily="34" charset="-122"/>
                <a:cs typeface="Atkinson Hyperlegible" pitchFamily="34" charset="-120"/>
              </a:rPr>
              <a:t>II-4</a:t>
            </a:r>
            <a:endParaRPr lang="en-US" sz="650" dirty="0"/>
          </a:p>
        </p:txBody>
      </p:sp>
      <p:sp>
        <p:nvSpPr>
          <p:cNvPr id="116" name="Shape 114"/>
          <p:cNvSpPr/>
          <p:nvPr/>
        </p:nvSpPr>
        <p:spPr>
          <a:xfrm>
            <a:off x="2514600" y="3383280"/>
            <a:ext cx="1517904" cy="146304"/>
          </a:xfrm>
          <a:prstGeom prst="roundRect">
            <a:avLst>
              <a:gd name="adj" fmla="val 18750"/>
            </a:avLst>
          </a:prstGeom>
          <a:solidFill>
            <a:srgbClr val="27AE60"/>
          </a:solidFill>
          <a:ln w="12700">
            <a:solidFill>
              <a:srgbClr val="27AE60"/>
            </a:solidFill>
            <a:prstDash val="solid"/>
          </a:ln>
        </p:spPr>
      </p:sp>
      <p:sp>
        <p:nvSpPr>
          <p:cNvPr id="117" name="Text 115"/>
          <p:cNvSpPr/>
          <p:nvPr/>
        </p:nvSpPr>
        <p:spPr>
          <a:xfrm>
            <a:off x="2514600" y="3383280"/>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18" name="Shape 116"/>
          <p:cNvSpPr/>
          <p:nvPr/>
        </p:nvSpPr>
        <p:spPr>
          <a:xfrm>
            <a:off x="4251960" y="3383280"/>
            <a:ext cx="1517904" cy="146304"/>
          </a:xfrm>
          <a:prstGeom prst="roundRect">
            <a:avLst>
              <a:gd name="adj" fmla="val 18750"/>
            </a:avLst>
          </a:prstGeom>
          <a:solidFill>
            <a:srgbClr val="E5E5EA"/>
          </a:solidFill>
          <a:ln w="12700">
            <a:solidFill>
              <a:srgbClr val="E5E5EA"/>
            </a:solidFill>
            <a:prstDash val="solid"/>
          </a:ln>
        </p:spPr>
      </p:sp>
      <p:sp>
        <p:nvSpPr>
          <p:cNvPr id="119" name="Text 117"/>
          <p:cNvSpPr/>
          <p:nvPr/>
        </p:nvSpPr>
        <p:spPr>
          <a:xfrm>
            <a:off x="4251960" y="3383280"/>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BAJA</a:t>
            </a:r>
            <a:endParaRPr lang="en-US" sz="550" dirty="0"/>
          </a:p>
        </p:txBody>
      </p:sp>
      <p:sp>
        <p:nvSpPr>
          <p:cNvPr id="120" name="Shape 118"/>
          <p:cNvSpPr/>
          <p:nvPr/>
        </p:nvSpPr>
        <p:spPr>
          <a:xfrm>
            <a:off x="5989320" y="3383280"/>
            <a:ext cx="1517904" cy="146304"/>
          </a:xfrm>
          <a:prstGeom prst="roundRect">
            <a:avLst>
              <a:gd name="adj" fmla="val 18750"/>
            </a:avLst>
          </a:prstGeom>
          <a:solidFill>
            <a:srgbClr val="E5E5EA"/>
          </a:solidFill>
          <a:ln w="12700">
            <a:solidFill>
              <a:srgbClr val="E5E5EA"/>
            </a:solidFill>
            <a:prstDash val="solid"/>
          </a:ln>
        </p:spPr>
      </p:sp>
      <p:sp>
        <p:nvSpPr>
          <p:cNvPr id="121" name="Text 119"/>
          <p:cNvSpPr/>
          <p:nvPr/>
        </p:nvSpPr>
        <p:spPr>
          <a:xfrm>
            <a:off x="5989320" y="3383280"/>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BAJA</a:t>
            </a:r>
            <a:endParaRPr lang="en-US" sz="550" dirty="0"/>
          </a:p>
        </p:txBody>
      </p:sp>
      <p:sp>
        <p:nvSpPr>
          <p:cNvPr id="122" name="Shape 120"/>
          <p:cNvSpPr/>
          <p:nvPr/>
        </p:nvSpPr>
        <p:spPr>
          <a:xfrm>
            <a:off x="7726680" y="3383280"/>
            <a:ext cx="1517904" cy="146304"/>
          </a:xfrm>
          <a:prstGeom prst="roundRect">
            <a:avLst>
              <a:gd name="adj" fmla="val 18750"/>
            </a:avLst>
          </a:prstGeom>
          <a:solidFill>
            <a:srgbClr val="27AE60"/>
          </a:solidFill>
          <a:ln w="12700">
            <a:solidFill>
              <a:srgbClr val="27AE60"/>
            </a:solidFill>
            <a:prstDash val="solid"/>
          </a:ln>
        </p:spPr>
      </p:sp>
      <p:sp>
        <p:nvSpPr>
          <p:cNvPr id="123" name="Text 121"/>
          <p:cNvSpPr/>
          <p:nvPr/>
        </p:nvSpPr>
        <p:spPr>
          <a:xfrm>
            <a:off x="7726680" y="3383280"/>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24" name="Shape 122"/>
          <p:cNvSpPr/>
          <p:nvPr/>
        </p:nvSpPr>
        <p:spPr>
          <a:xfrm>
            <a:off x="320040" y="3566160"/>
            <a:ext cx="2066544" cy="182880"/>
          </a:xfrm>
          <a:prstGeom prst="rect">
            <a:avLst/>
          </a:prstGeom>
          <a:solidFill>
            <a:srgbClr val="FFFFFF"/>
          </a:solidFill>
          <a:ln w="6350">
            <a:solidFill>
              <a:srgbClr val="E5E5EA"/>
            </a:solidFill>
            <a:prstDash val="solid"/>
          </a:ln>
        </p:spPr>
      </p:sp>
      <p:sp>
        <p:nvSpPr>
          <p:cNvPr id="125" name="Text 123"/>
          <p:cNvSpPr/>
          <p:nvPr/>
        </p:nvSpPr>
        <p:spPr>
          <a:xfrm>
            <a:off x="365760" y="3566160"/>
            <a:ext cx="2011680" cy="182880"/>
          </a:xfrm>
          <a:prstGeom prst="rect">
            <a:avLst/>
          </a:prstGeom>
          <a:noFill/>
          <a:ln/>
        </p:spPr>
        <p:txBody>
          <a:bodyPr wrap="square" rtlCol="0" anchor="ctr"/>
          <a:lstStyle/>
          <a:p>
            <a:pPr indent="0" marL="0">
              <a:buNone/>
            </a:pPr>
            <a:r>
              <a:rPr lang="en-US" sz="650" dirty="0">
                <a:solidFill>
                  <a:srgbClr val="1D1D1F"/>
                </a:solidFill>
                <a:latin typeface="Atkinson Hyperlegible" pitchFamily="34" charset="0"/>
                <a:ea typeface="Atkinson Hyperlegible" pitchFamily="34" charset="-122"/>
                <a:cs typeface="Atkinson Hyperlegible" pitchFamily="34" charset="-120"/>
              </a:rPr>
              <a:t>II-5</a:t>
            </a:r>
            <a:endParaRPr lang="en-US" sz="650" dirty="0"/>
          </a:p>
        </p:txBody>
      </p:sp>
      <p:sp>
        <p:nvSpPr>
          <p:cNvPr id="126" name="Shape 124"/>
          <p:cNvSpPr/>
          <p:nvPr/>
        </p:nvSpPr>
        <p:spPr>
          <a:xfrm>
            <a:off x="2514600" y="3584448"/>
            <a:ext cx="1517904" cy="146304"/>
          </a:xfrm>
          <a:prstGeom prst="roundRect">
            <a:avLst>
              <a:gd name="adj" fmla="val 18750"/>
            </a:avLst>
          </a:prstGeom>
          <a:solidFill>
            <a:srgbClr val="27AE60"/>
          </a:solidFill>
          <a:ln w="12700">
            <a:solidFill>
              <a:srgbClr val="27AE60"/>
            </a:solidFill>
            <a:prstDash val="solid"/>
          </a:ln>
        </p:spPr>
      </p:sp>
      <p:sp>
        <p:nvSpPr>
          <p:cNvPr id="127" name="Text 125"/>
          <p:cNvSpPr/>
          <p:nvPr/>
        </p:nvSpPr>
        <p:spPr>
          <a:xfrm>
            <a:off x="2514600" y="3584448"/>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28" name="Shape 126"/>
          <p:cNvSpPr/>
          <p:nvPr/>
        </p:nvSpPr>
        <p:spPr>
          <a:xfrm>
            <a:off x="4251960" y="3584448"/>
            <a:ext cx="1517904" cy="146304"/>
          </a:xfrm>
          <a:prstGeom prst="roundRect">
            <a:avLst>
              <a:gd name="adj" fmla="val 18750"/>
            </a:avLst>
          </a:prstGeom>
          <a:solidFill>
            <a:srgbClr val="D4620A"/>
          </a:solidFill>
          <a:ln w="12700">
            <a:solidFill>
              <a:srgbClr val="D4620A"/>
            </a:solidFill>
            <a:prstDash val="solid"/>
          </a:ln>
        </p:spPr>
      </p:sp>
      <p:sp>
        <p:nvSpPr>
          <p:cNvPr id="129" name="Text 127"/>
          <p:cNvSpPr/>
          <p:nvPr/>
        </p:nvSpPr>
        <p:spPr>
          <a:xfrm>
            <a:off x="4251960" y="3584448"/>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MEDIA</a:t>
            </a:r>
            <a:endParaRPr lang="en-US" sz="550" dirty="0"/>
          </a:p>
        </p:txBody>
      </p:sp>
      <p:sp>
        <p:nvSpPr>
          <p:cNvPr id="130" name="Shape 128"/>
          <p:cNvSpPr/>
          <p:nvPr/>
        </p:nvSpPr>
        <p:spPr>
          <a:xfrm>
            <a:off x="5989320" y="3584448"/>
            <a:ext cx="1517904" cy="146304"/>
          </a:xfrm>
          <a:prstGeom prst="roundRect">
            <a:avLst>
              <a:gd name="adj" fmla="val 18750"/>
            </a:avLst>
          </a:prstGeom>
          <a:solidFill>
            <a:srgbClr val="27AE60"/>
          </a:solidFill>
          <a:ln w="12700">
            <a:solidFill>
              <a:srgbClr val="27AE60"/>
            </a:solidFill>
            <a:prstDash val="solid"/>
          </a:ln>
        </p:spPr>
      </p:sp>
      <p:sp>
        <p:nvSpPr>
          <p:cNvPr id="131" name="Text 129"/>
          <p:cNvSpPr/>
          <p:nvPr/>
        </p:nvSpPr>
        <p:spPr>
          <a:xfrm>
            <a:off x="5989320" y="3584448"/>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32" name="Shape 130"/>
          <p:cNvSpPr/>
          <p:nvPr/>
        </p:nvSpPr>
        <p:spPr>
          <a:xfrm>
            <a:off x="7726680" y="3584448"/>
            <a:ext cx="1517904" cy="146304"/>
          </a:xfrm>
          <a:prstGeom prst="roundRect">
            <a:avLst>
              <a:gd name="adj" fmla="val 18750"/>
            </a:avLst>
          </a:prstGeom>
          <a:solidFill>
            <a:srgbClr val="27AE60"/>
          </a:solidFill>
          <a:ln w="12700">
            <a:solidFill>
              <a:srgbClr val="27AE60"/>
            </a:solidFill>
            <a:prstDash val="solid"/>
          </a:ln>
        </p:spPr>
      </p:sp>
      <p:sp>
        <p:nvSpPr>
          <p:cNvPr id="133" name="Text 131"/>
          <p:cNvSpPr/>
          <p:nvPr/>
        </p:nvSpPr>
        <p:spPr>
          <a:xfrm>
            <a:off x="7726680" y="3584448"/>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34" name="Shape 132"/>
          <p:cNvSpPr/>
          <p:nvPr/>
        </p:nvSpPr>
        <p:spPr>
          <a:xfrm>
            <a:off x="320040" y="3767328"/>
            <a:ext cx="2066544" cy="182880"/>
          </a:xfrm>
          <a:prstGeom prst="rect">
            <a:avLst/>
          </a:prstGeom>
          <a:solidFill>
            <a:srgbClr val="F8F8FA"/>
          </a:solidFill>
          <a:ln w="6350">
            <a:solidFill>
              <a:srgbClr val="E5E5EA"/>
            </a:solidFill>
            <a:prstDash val="solid"/>
          </a:ln>
        </p:spPr>
      </p:sp>
      <p:sp>
        <p:nvSpPr>
          <p:cNvPr id="135" name="Text 133"/>
          <p:cNvSpPr/>
          <p:nvPr/>
        </p:nvSpPr>
        <p:spPr>
          <a:xfrm>
            <a:off x="365760" y="3767328"/>
            <a:ext cx="2011680" cy="182880"/>
          </a:xfrm>
          <a:prstGeom prst="rect">
            <a:avLst/>
          </a:prstGeom>
          <a:noFill/>
          <a:ln/>
        </p:spPr>
        <p:txBody>
          <a:bodyPr wrap="square" rtlCol="0" anchor="ctr"/>
          <a:lstStyle/>
          <a:p>
            <a:pPr indent="0" marL="0">
              <a:buNone/>
            </a:pPr>
            <a:r>
              <a:rPr lang="en-US" sz="650" dirty="0">
                <a:solidFill>
                  <a:srgbClr val="1D1D1F"/>
                </a:solidFill>
                <a:latin typeface="Atkinson Hyperlegible" pitchFamily="34" charset="0"/>
                <a:ea typeface="Atkinson Hyperlegible" pitchFamily="34" charset="-122"/>
                <a:cs typeface="Atkinson Hyperlegible" pitchFamily="34" charset="-120"/>
              </a:rPr>
              <a:t>II-6</a:t>
            </a:r>
            <a:endParaRPr lang="en-US" sz="650" dirty="0"/>
          </a:p>
        </p:txBody>
      </p:sp>
      <p:sp>
        <p:nvSpPr>
          <p:cNvPr id="136" name="Shape 134"/>
          <p:cNvSpPr/>
          <p:nvPr/>
        </p:nvSpPr>
        <p:spPr>
          <a:xfrm>
            <a:off x="2514600" y="3785616"/>
            <a:ext cx="1517904" cy="146304"/>
          </a:xfrm>
          <a:prstGeom prst="roundRect">
            <a:avLst>
              <a:gd name="adj" fmla="val 18750"/>
            </a:avLst>
          </a:prstGeom>
          <a:solidFill>
            <a:srgbClr val="27AE60"/>
          </a:solidFill>
          <a:ln w="12700">
            <a:solidFill>
              <a:srgbClr val="27AE60"/>
            </a:solidFill>
            <a:prstDash val="solid"/>
          </a:ln>
        </p:spPr>
      </p:sp>
      <p:sp>
        <p:nvSpPr>
          <p:cNvPr id="137" name="Text 135"/>
          <p:cNvSpPr/>
          <p:nvPr/>
        </p:nvSpPr>
        <p:spPr>
          <a:xfrm>
            <a:off x="2514600" y="3785616"/>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38" name="Shape 136"/>
          <p:cNvSpPr/>
          <p:nvPr/>
        </p:nvSpPr>
        <p:spPr>
          <a:xfrm>
            <a:off x="4251960" y="3785616"/>
            <a:ext cx="1517904" cy="146304"/>
          </a:xfrm>
          <a:prstGeom prst="roundRect">
            <a:avLst>
              <a:gd name="adj" fmla="val 18750"/>
            </a:avLst>
          </a:prstGeom>
          <a:solidFill>
            <a:srgbClr val="27AE60"/>
          </a:solidFill>
          <a:ln w="12700">
            <a:solidFill>
              <a:srgbClr val="27AE60"/>
            </a:solidFill>
            <a:prstDash val="solid"/>
          </a:ln>
        </p:spPr>
      </p:sp>
      <p:sp>
        <p:nvSpPr>
          <p:cNvPr id="139" name="Text 137"/>
          <p:cNvSpPr/>
          <p:nvPr/>
        </p:nvSpPr>
        <p:spPr>
          <a:xfrm>
            <a:off x="4251960" y="3785616"/>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40" name="Shape 138"/>
          <p:cNvSpPr/>
          <p:nvPr/>
        </p:nvSpPr>
        <p:spPr>
          <a:xfrm>
            <a:off x="5989320" y="3785616"/>
            <a:ext cx="1517904" cy="146304"/>
          </a:xfrm>
          <a:prstGeom prst="roundRect">
            <a:avLst>
              <a:gd name="adj" fmla="val 18750"/>
            </a:avLst>
          </a:prstGeom>
          <a:solidFill>
            <a:srgbClr val="27AE60"/>
          </a:solidFill>
          <a:ln w="12700">
            <a:solidFill>
              <a:srgbClr val="27AE60"/>
            </a:solidFill>
            <a:prstDash val="solid"/>
          </a:ln>
        </p:spPr>
      </p:sp>
      <p:sp>
        <p:nvSpPr>
          <p:cNvPr id="141" name="Text 139"/>
          <p:cNvSpPr/>
          <p:nvPr/>
        </p:nvSpPr>
        <p:spPr>
          <a:xfrm>
            <a:off x="5989320" y="3785616"/>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42" name="Shape 140"/>
          <p:cNvSpPr/>
          <p:nvPr/>
        </p:nvSpPr>
        <p:spPr>
          <a:xfrm>
            <a:off x="7726680" y="3785616"/>
            <a:ext cx="1517904" cy="146304"/>
          </a:xfrm>
          <a:prstGeom prst="roundRect">
            <a:avLst>
              <a:gd name="adj" fmla="val 18750"/>
            </a:avLst>
          </a:prstGeom>
          <a:solidFill>
            <a:srgbClr val="27AE60"/>
          </a:solidFill>
          <a:ln w="12700">
            <a:solidFill>
              <a:srgbClr val="27AE60"/>
            </a:solidFill>
            <a:prstDash val="solid"/>
          </a:ln>
        </p:spPr>
      </p:sp>
      <p:sp>
        <p:nvSpPr>
          <p:cNvPr id="143" name="Text 141"/>
          <p:cNvSpPr/>
          <p:nvPr/>
        </p:nvSpPr>
        <p:spPr>
          <a:xfrm>
            <a:off x="7726680" y="3785616"/>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44" name="Shape 142"/>
          <p:cNvSpPr/>
          <p:nvPr/>
        </p:nvSpPr>
        <p:spPr>
          <a:xfrm>
            <a:off x="320040" y="3968496"/>
            <a:ext cx="2066544" cy="182880"/>
          </a:xfrm>
          <a:prstGeom prst="rect">
            <a:avLst/>
          </a:prstGeom>
          <a:solidFill>
            <a:srgbClr val="FFFFFF"/>
          </a:solidFill>
          <a:ln w="6350">
            <a:solidFill>
              <a:srgbClr val="E5E5EA"/>
            </a:solidFill>
            <a:prstDash val="solid"/>
          </a:ln>
        </p:spPr>
      </p:sp>
      <p:sp>
        <p:nvSpPr>
          <p:cNvPr id="145" name="Text 143"/>
          <p:cNvSpPr/>
          <p:nvPr/>
        </p:nvSpPr>
        <p:spPr>
          <a:xfrm>
            <a:off x="365760" y="3968496"/>
            <a:ext cx="2011680" cy="182880"/>
          </a:xfrm>
          <a:prstGeom prst="rect">
            <a:avLst/>
          </a:prstGeom>
          <a:noFill/>
          <a:ln/>
        </p:spPr>
        <p:txBody>
          <a:bodyPr wrap="square" rtlCol="0" anchor="ctr"/>
          <a:lstStyle/>
          <a:p>
            <a:pPr indent="0" marL="0">
              <a:buNone/>
            </a:pPr>
            <a:r>
              <a:rPr lang="en-US" sz="650" dirty="0">
                <a:solidFill>
                  <a:srgbClr val="1D1D1F"/>
                </a:solidFill>
                <a:latin typeface="Atkinson Hyperlegible" pitchFamily="34" charset="0"/>
                <a:ea typeface="Atkinson Hyperlegible" pitchFamily="34" charset="-122"/>
                <a:cs typeface="Atkinson Hyperlegible" pitchFamily="34" charset="-120"/>
              </a:rPr>
              <a:t>II-7</a:t>
            </a:r>
            <a:endParaRPr lang="en-US" sz="650" dirty="0"/>
          </a:p>
        </p:txBody>
      </p:sp>
      <p:sp>
        <p:nvSpPr>
          <p:cNvPr id="146" name="Shape 144"/>
          <p:cNvSpPr/>
          <p:nvPr/>
        </p:nvSpPr>
        <p:spPr>
          <a:xfrm>
            <a:off x="2514600" y="3986784"/>
            <a:ext cx="1517904" cy="146304"/>
          </a:xfrm>
          <a:prstGeom prst="roundRect">
            <a:avLst>
              <a:gd name="adj" fmla="val 18750"/>
            </a:avLst>
          </a:prstGeom>
          <a:solidFill>
            <a:srgbClr val="27AE60"/>
          </a:solidFill>
          <a:ln w="12700">
            <a:solidFill>
              <a:srgbClr val="27AE60"/>
            </a:solidFill>
            <a:prstDash val="solid"/>
          </a:ln>
        </p:spPr>
      </p:sp>
      <p:sp>
        <p:nvSpPr>
          <p:cNvPr id="147" name="Text 145"/>
          <p:cNvSpPr/>
          <p:nvPr/>
        </p:nvSpPr>
        <p:spPr>
          <a:xfrm>
            <a:off x="2514600" y="3986784"/>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48" name="Shape 146"/>
          <p:cNvSpPr/>
          <p:nvPr/>
        </p:nvSpPr>
        <p:spPr>
          <a:xfrm>
            <a:off x="4251960" y="3986784"/>
            <a:ext cx="1517904" cy="146304"/>
          </a:xfrm>
          <a:prstGeom prst="roundRect">
            <a:avLst>
              <a:gd name="adj" fmla="val 18750"/>
            </a:avLst>
          </a:prstGeom>
          <a:solidFill>
            <a:srgbClr val="27AE60"/>
          </a:solidFill>
          <a:ln w="12700">
            <a:solidFill>
              <a:srgbClr val="27AE60"/>
            </a:solidFill>
            <a:prstDash val="solid"/>
          </a:ln>
        </p:spPr>
      </p:sp>
      <p:sp>
        <p:nvSpPr>
          <p:cNvPr id="149" name="Text 147"/>
          <p:cNvSpPr/>
          <p:nvPr/>
        </p:nvSpPr>
        <p:spPr>
          <a:xfrm>
            <a:off x="4251960" y="3986784"/>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50" name="Shape 148"/>
          <p:cNvSpPr/>
          <p:nvPr/>
        </p:nvSpPr>
        <p:spPr>
          <a:xfrm>
            <a:off x="5989320" y="3986784"/>
            <a:ext cx="1517904" cy="146304"/>
          </a:xfrm>
          <a:prstGeom prst="roundRect">
            <a:avLst>
              <a:gd name="adj" fmla="val 18750"/>
            </a:avLst>
          </a:prstGeom>
          <a:solidFill>
            <a:srgbClr val="27AE60"/>
          </a:solidFill>
          <a:ln w="12700">
            <a:solidFill>
              <a:srgbClr val="27AE60"/>
            </a:solidFill>
            <a:prstDash val="solid"/>
          </a:ln>
        </p:spPr>
      </p:sp>
      <p:sp>
        <p:nvSpPr>
          <p:cNvPr id="151" name="Text 149"/>
          <p:cNvSpPr/>
          <p:nvPr/>
        </p:nvSpPr>
        <p:spPr>
          <a:xfrm>
            <a:off x="5989320" y="3986784"/>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52" name="Shape 150"/>
          <p:cNvSpPr/>
          <p:nvPr/>
        </p:nvSpPr>
        <p:spPr>
          <a:xfrm>
            <a:off x="7726680" y="3986784"/>
            <a:ext cx="1517904" cy="146304"/>
          </a:xfrm>
          <a:prstGeom prst="roundRect">
            <a:avLst>
              <a:gd name="adj" fmla="val 18750"/>
            </a:avLst>
          </a:prstGeom>
          <a:solidFill>
            <a:srgbClr val="27AE60"/>
          </a:solidFill>
          <a:ln w="12700">
            <a:solidFill>
              <a:srgbClr val="27AE60"/>
            </a:solidFill>
            <a:prstDash val="solid"/>
          </a:ln>
        </p:spPr>
      </p:sp>
      <p:sp>
        <p:nvSpPr>
          <p:cNvPr id="153" name="Text 151"/>
          <p:cNvSpPr/>
          <p:nvPr/>
        </p:nvSpPr>
        <p:spPr>
          <a:xfrm>
            <a:off x="7726680" y="3986784"/>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54" name="Shape 152"/>
          <p:cNvSpPr/>
          <p:nvPr/>
        </p:nvSpPr>
        <p:spPr>
          <a:xfrm>
            <a:off x="320040" y="4169664"/>
            <a:ext cx="2066544" cy="182880"/>
          </a:xfrm>
          <a:prstGeom prst="rect">
            <a:avLst/>
          </a:prstGeom>
          <a:solidFill>
            <a:srgbClr val="F8F8FA"/>
          </a:solidFill>
          <a:ln w="6350">
            <a:solidFill>
              <a:srgbClr val="E5E5EA"/>
            </a:solidFill>
            <a:prstDash val="solid"/>
          </a:ln>
        </p:spPr>
      </p:sp>
      <p:sp>
        <p:nvSpPr>
          <p:cNvPr id="155" name="Text 153"/>
          <p:cNvSpPr/>
          <p:nvPr/>
        </p:nvSpPr>
        <p:spPr>
          <a:xfrm>
            <a:off x="365760" y="4169664"/>
            <a:ext cx="2011680" cy="182880"/>
          </a:xfrm>
          <a:prstGeom prst="rect">
            <a:avLst/>
          </a:prstGeom>
          <a:noFill/>
          <a:ln/>
        </p:spPr>
        <p:txBody>
          <a:bodyPr wrap="square" rtlCol="0" anchor="ctr"/>
          <a:lstStyle/>
          <a:p>
            <a:pPr indent="0" marL="0">
              <a:buNone/>
            </a:pPr>
            <a:r>
              <a:rPr lang="en-US" sz="650" dirty="0">
                <a:solidFill>
                  <a:srgbClr val="1D1D1F"/>
                </a:solidFill>
                <a:latin typeface="Atkinson Hyperlegible" pitchFamily="34" charset="0"/>
                <a:ea typeface="Atkinson Hyperlegible" pitchFamily="34" charset="-122"/>
                <a:cs typeface="Atkinson Hyperlegible" pitchFamily="34" charset="-120"/>
              </a:rPr>
              <a:t>II-8</a:t>
            </a:r>
            <a:endParaRPr lang="en-US" sz="650" dirty="0"/>
          </a:p>
        </p:txBody>
      </p:sp>
      <p:sp>
        <p:nvSpPr>
          <p:cNvPr id="156" name="Shape 154"/>
          <p:cNvSpPr/>
          <p:nvPr/>
        </p:nvSpPr>
        <p:spPr>
          <a:xfrm>
            <a:off x="2514600" y="4187952"/>
            <a:ext cx="1517904" cy="146304"/>
          </a:xfrm>
          <a:prstGeom prst="roundRect">
            <a:avLst>
              <a:gd name="adj" fmla="val 18750"/>
            </a:avLst>
          </a:prstGeom>
          <a:solidFill>
            <a:srgbClr val="27AE60"/>
          </a:solidFill>
          <a:ln w="12700">
            <a:solidFill>
              <a:srgbClr val="27AE60"/>
            </a:solidFill>
            <a:prstDash val="solid"/>
          </a:ln>
        </p:spPr>
      </p:sp>
      <p:sp>
        <p:nvSpPr>
          <p:cNvPr id="157" name="Text 155"/>
          <p:cNvSpPr/>
          <p:nvPr/>
        </p:nvSpPr>
        <p:spPr>
          <a:xfrm>
            <a:off x="2514600" y="4187952"/>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58" name="Shape 156"/>
          <p:cNvSpPr/>
          <p:nvPr/>
        </p:nvSpPr>
        <p:spPr>
          <a:xfrm>
            <a:off x="4251960" y="4187952"/>
            <a:ext cx="1517904" cy="146304"/>
          </a:xfrm>
          <a:prstGeom prst="roundRect">
            <a:avLst>
              <a:gd name="adj" fmla="val 18750"/>
            </a:avLst>
          </a:prstGeom>
          <a:solidFill>
            <a:srgbClr val="27AE60"/>
          </a:solidFill>
          <a:ln w="12700">
            <a:solidFill>
              <a:srgbClr val="27AE60"/>
            </a:solidFill>
            <a:prstDash val="solid"/>
          </a:ln>
        </p:spPr>
      </p:sp>
      <p:sp>
        <p:nvSpPr>
          <p:cNvPr id="159" name="Text 157"/>
          <p:cNvSpPr/>
          <p:nvPr/>
        </p:nvSpPr>
        <p:spPr>
          <a:xfrm>
            <a:off x="4251960" y="4187952"/>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60" name="Shape 158"/>
          <p:cNvSpPr/>
          <p:nvPr/>
        </p:nvSpPr>
        <p:spPr>
          <a:xfrm>
            <a:off x="5989320" y="4187952"/>
            <a:ext cx="1517904" cy="146304"/>
          </a:xfrm>
          <a:prstGeom prst="roundRect">
            <a:avLst>
              <a:gd name="adj" fmla="val 18750"/>
            </a:avLst>
          </a:prstGeom>
          <a:solidFill>
            <a:srgbClr val="27AE60"/>
          </a:solidFill>
          <a:ln w="12700">
            <a:solidFill>
              <a:srgbClr val="27AE60"/>
            </a:solidFill>
            <a:prstDash val="solid"/>
          </a:ln>
        </p:spPr>
      </p:sp>
      <p:sp>
        <p:nvSpPr>
          <p:cNvPr id="161" name="Text 159"/>
          <p:cNvSpPr/>
          <p:nvPr/>
        </p:nvSpPr>
        <p:spPr>
          <a:xfrm>
            <a:off x="5989320" y="4187952"/>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62" name="Shape 160"/>
          <p:cNvSpPr/>
          <p:nvPr/>
        </p:nvSpPr>
        <p:spPr>
          <a:xfrm>
            <a:off x="7726680" y="4187952"/>
            <a:ext cx="1517904" cy="146304"/>
          </a:xfrm>
          <a:prstGeom prst="roundRect">
            <a:avLst>
              <a:gd name="adj" fmla="val 18750"/>
            </a:avLst>
          </a:prstGeom>
          <a:solidFill>
            <a:srgbClr val="27AE60"/>
          </a:solidFill>
          <a:ln w="12700">
            <a:solidFill>
              <a:srgbClr val="27AE60"/>
            </a:solidFill>
            <a:prstDash val="solid"/>
          </a:ln>
        </p:spPr>
      </p:sp>
      <p:sp>
        <p:nvSpPr>
          <p:cNvPr id="163" name="Text 161"/>
          <p:cNvSpPr/>
          <p:nvPr/>
        </p:nvSpPr>
        <p:spPr>
          <a:xfrm>
            <a:off x="7726680" y="4187952"/>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64" name="Shape 162"/>
          <p:cNvSpPr/>
          <p:nvPr/>
        </p:nvSpPr>
        <p:spPr>
          <a:xfrm>
            <a:off x="320040" y="4370832"/>
            <a:ext cx="2066544" cy="182880"/>
          </a:xfrm>
          <a:prstGeom prst="rect">
            <a:avLst/>
          </a:prstGeom>
          <a:solidFill>
            <a:srgbClr val="FFFFFF"/>
          </a:solidFill>
          <a:ln w="6350">
            <a:solidFill>
              <a:srgbClr val="E5E5EA"/>
            </a:solidFill>
            <a:prstDash val="solid"/>
          </a:ln>
        </p:spPr>
      </p:sp>
      <p:sp>
        <p:nvSpPr>
          <p:cNvPr id="165" name="Text 163"/>
          <p:cNvSpPr/>
          <p:nvPr/>
        </p:nvSpPr>
        <p:spPr>
          <a:xfrm>
            <a:off x="365760" y="4370832"/>
            <a:ext cx="2011680" cy="182880"/>
          </a:xfrm>
          <a:prstGeom prst="rect">
            <a:avLst/>
          </a:prstGeom>
          <a:noFill/>
          <a:ln/>
        </p:spPr>
        <p:txBody>
          <a:bodyPr wrap="square" rtlCol="0" anchor="ctr"/>
          <a:lstStyle/>
          <a:p>
            <a:pPr indent="0" marL="0">
              <a:buNone/>
            </a:pPr>
            <a:r>
              <a:rPr lang="en-US" sz="650" dirty="0">
                <a:solidFill>
                  <a:srgbClr val="1D1D1F"/>
                </a:solidFill>
                <a:latin typeface="Atkinson Hyperlegible" pitchFamily="34" charset="0"/>
                <a:ea typeface="Atkinson Hyperlegible" pitchFamily="34" charset="-122"/>
                <a:cs typeface="Atkinson Hyperlegible" pitchFamily="34" charset="-120"/>
              </a:rPr>
              <a:t>III-1</a:t>
            </a:r>
            <a:endParaRPr lang="en-US" sz="650" dirty="0"/>
          </a:p>
        </p:txBody>
      </p:sp>
      <p:sp>
        <p:nvSpPr>
          <p:cNvPr id="166" name="Shape 164"/>
          <p:cNvSpPr/>
          <p:nvPr/>
        </p:nvSpPr>
        <p:spPr>
          <a:xfrm>
            <a:off x="2514600" y="4389120"/>
            <a:ext cx="1517904" cy="146304"/>
          </a:xfrm>
          <a:prstGeom prst="roundRect">
            <a:avLst>
              <a:gd name="adj" fmla="val 18750"/>
            </a:avLst>
          </a:prstGeom>
          <a:solidFill>
            <a:srgbClr val="27AE60"/>
          </a:solidFill>
          <a:ln w="12700">
            <a:solidFill>
              <a:srgbClr val="27AE60"/>
            </a:solidFill>
            <a:prstDash val="solid"/>
          </a:ln>
        </p:spPr>
      </p:sp>
      <p:sp>
        <p:nvSpPr>
          <p:cNvPr id="167" name="Text 165"/>
          <p:cNvSpPr/>
          <p:nvPr/>
        </p:nvSpPr>
        <p:spPr>
          <a:xfrm>
            <a:off x="2514600" y="4389120"/>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68" name="Shape 166"/>
          <p:cNvSpPr/>
          <p:nvPr/>
        </p:nvSpPr>
        <p:spPr>
          <a:xfrm>
            <a:off x="4251960" y="4389120"/>
            <a:ext cx="1517904" cy="146304"/>
          </a:xfrm>
          <a:prstGeom prst="roundRect">
            <a:avLst>
              <a:gd name="adj" fmla="val 18750"/>
            </a:avLst>
          </a:prstGeom>
          <a:solidFill>
            <a:srgbClr val="D4620A"/>
          </a:solidFill>
          <a:ln w="12700">
            <a:solidFill>
              <a:srgbClr val="D4620A"/>
            </a:solidFill>
            <a:prstDash val="solid"/>
          </a:ln>
        </p:spPr>
      </p:sp>
      <p:sp>
        <p:nvSpPr>
          <p:cNvPr id="169" name="Text 167"/>
          <p:cNvSpPr/>
          <p:nvPr/>
        </p:nvSpPr>
        <p:spPr>
          <a:xfrm>
            <a:off x="4251960" y="4389120"/>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MEDIA</a:t>
            </a:r>
            <a:endParaRPr lang="en-US" sz="550" dirty="0"/>
          </a:p>
        </p:txBody>
      </p:sp>
      <p:sp>
        <p:nvSpPr>
          <p:cNvPr id="170" name="Shape 168"/>
          <p:cNvSpPr/>
          <p:nvPr/>
        </p:nvSpPr>
        <p:spPr>
          <a:xfrm>
            <a:off x="5989320" y="4389120"/>
            <a:ext cx="1517904" cy="146304"/>
          </a:xfrm>
          <a:prstGeom prst="roundRect">
            <a:avLst>
              <a:gd name="adj" fmla="val 18750"/>
            </a:avLst>
          </a:prstGeom>
          <a:solidFill>
            <a:srgbClr val="E5E5EA"/>
          </a:solidFill>
          <a:ln w="12700">
            <a:solidFill>
              <a:srgbClr val="E5E5EA"/>
            </a:solidFill>
            <a:prstDash val="solid"/>
          </a:ln>
        </p:spPr>
      </p:sp>
      <p:sp>
        <p:nvSpPr>
          <p:cNvPr id="171" name="Text 169"/>
          <p:cNvSpPr/>
          <p:nvPr/>
        </p:nvSpPr>
        <p:spPr>
          <a:xfrm>
            <a:off x="5989320" y="4389120"/>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BAJA</a:t>
            </a:r>
            <a:endParaRPr lang="en-US" sz="550" dirty="0"/>
          </a:p>
        </p:txBody>
      </p:sp>
      <p:sp>
        <p:nvSpPr>
          <p:cNvPr id="172" name="Shape 170"/>
          <p:cNvSpPr/>
          <p:nvPr/>
        </p:nvSpPr>
        <p:spPr>
          <a:xfrm>
            <a:off x="7726680" y="4389120"/>
            <a:ext cx="1517904" cy="146304"/>
          </a:xfrm>
          <a:prstGeom prst="roundRect">
            <a:avLst>
              <a:gd name="adj" fmla="val 18750"/>
            </a:avLst>
          </a:prstGeom>
          <a:solidFill>
            <a:srgbClr val="27AE60"/>
          </a:solidFill>
          <a:ln w="12700">
            <a:solidFill>
              <a:srgbClr val="27AE60"/>
            </a:solidFill>
            <a:prstDash val="solid"/>
          </a:ln>
        </p:spPr>
      </p:sp>
      <p:sp>
        <p:nvSpPr>
          <p:cNvPr id="173" name="Text 171"/>
          <p:cNvSpPr/>
          <p:nvPr/>
        </p:nvSpPr>
        <p:spPr>
          <a:xfrm>
            <a:off x="7726680" y="4389120"/>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74" name="Shape 172"/>
          <p:cNvSpPr/>
          <p:nvPr/>
        </p:nvSpPr>
        <p:spPr>
          <a:xfrm>
            <a:off x="320040" y="4572000"/>
            <a:ext cx="2066544" cy="182880"/>
          </a:xfrm>
          <a:prstGeom prst="rect">
            <a:avLst/>
          </a:prstGeom>
          <a:solidFill>
            <a:srgbClr val="F8F8FA"/>
          </a:solidFill>
          <a:ln w="6350">
            <a:solidFill>
              <a:srgbClr val="E5E5EA"/>
            </a:solidFill>
            <a:prstDash val="solid"/>
          </a:ln>
        </p:spPr>
      </p:sp>
      <p:sp>
        <p:nvSpPr>
          <p:cNvPr id="175" name="Text 173"/>
          <p:cNvSpPr/>
          <p:nvPr/>
        </p:nvSpPr>
        <p:spPr>
          <a:xfrm>
            <a:off x="365760" y="4572000"/>
            <a:ext cx="2011680" cy="182880"/>
          </a:xfrm>
          <a:prstGeom prst="rect">
            <a:avLst/>
          </a:prstGeom>
          <a:noFill/>
          <a:ln/>
        </p:spPr>
        <p:txBody>
          <a:bodyPr wrap="square" rtlCol="0" anchor="ctr"/>
          <a:lstStyle/>
          <a:p>
            <a:pPr indent="0" marL="0">
              <a:buNone/>
            </a:pPr>
            <a:r>
              <a:rPr lang="en-US" sz="650" dirty="0">
                <a:solidFill>
                  <a:srgbClr val="1D1D1F"/>
                </a:solidFill>
                <a:latin typeface="Atkinson Hyperlegible" pitchFamily="34" charset="0"/>
                <a:ea typeface="Atkinson Hyperlegible" pitchFamily="34" charset="-122"/>
                <a:cs typeface="Atkinson Hyperlegible" pitchFamily="34" charset="-120"/>
              </a:rPr>
              <a:t>III-2</a:t>
            </a:r>
            <a:endParaRPr lang="en-US" sz="650" dirty="0"/>
          </a:p>
        </p:txBody>
      </p:sp>
      <p:sp>
        <p:nvSpPr>
          <p:cNvPr id="176" name="Shape 174"/>
          <p:cNvSpPr/>
          <p:nvPr/>
        </p:nvSpPr>
        <p:spPr>
          <a:xfrm>
            <a:off x="2514600" y="4590288"/>
            <a:ext cx="1517904" cy="146304"/>
          </a:xfrm>
          <a:prstGeom prst="roundRect">
            <a:avLst>
              <a:gd name="adj" fmla="val 18750"/>
            </a:avLst>
          </a:prstGeom>
          <a:solidFill>
            <a:srgbClr val="27AE60"/>
          </a:solidFill>
          <a:ln w="12700">
            <a:solidFill>
              <a:srgbClr val="27AE60"/>
            </a:solidFill>
            <a:prstDash val="solid"/>
          </a:ln>
        </p:spPr>
      </p:sp>
      <p:sp>
        <p:nvSpPr>
          <p:cNvPr id="177" name="Text 175"/>
          <p:cNvSpPr/>
          <p:nvPr/>
        </p:nvSpPr>
        <p:spPr>
          <a:xfrm>
            <a:off x="2514600" y="4590288"/>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78" name="Shape 176"/>
          <p:cNvSpPr/>
          <p:nvPr/>
        </p:nvSpPr>
        <p:spPr>
          <a:xfrm>
            <a:off x="4251960" y="4590288"/>
            <a:ext cx="1517904" cy="146304"/>
          </a:xfrm>
          <a:prstGeom prst="roundRect">
            <a:avLst>
              <a:gd name="adj" fmla="val 18750"/>
            </a:avLst>
          </a:prstGeom>
          <a:solidFill>
            <a:srgbClr val="27AE60"/>
          </a:solidFill>
          <a:ln w="12700">
            <a:solidFill>
              <a:srgbClr val="27AE60"/>
            </a:solidFill>
            <a:prstDash val="solid"/>
          </a:ln>
        </p:spPr>
      </p:sp>
      <p:sp>
        <p:nvSpPr>
          <p:cNvPr id="179" name="Text 177"/>
          <p:cNvSpPr/>
          <p:nvPr/>
        </p:nvSpPr>
        <p:spPr>
          <a:xfrm>
            <a:off x="4251960" y="4590288"/>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80" name="Shape 178"/>
          <p:cNvSpPr/>
          <p:nvPr/>
        </p:nvSpPr>
        <p:spPr>
          <a:xfrm>
            <a:off x="5989320" y="4590288"/>
            <a:ext cx="1517904" cy="146304"/>
          </a:xfrm>
          <a:prstGeom prst="roundRect">
            <a:avLst>
              <a:gd name="adj" fmla="val 18750"/>
            </a:avLst>
          </a:prstGeom>
          <a:solidFill>
            <a:srgbClr val="27AE60"/>
          </a:solidFill>
          <a:ln w="12700">
            <a:solidFill>
              <a:srgbClr val="27AE60"/>
            </a:solidFill>
            <a:prstDash val="solid"/>
          </a:ln>
        </p:spPr>
      </p:sp>
      <p:sp>
        <p:nvSpPr>
          <p:cNvPr id="181" name="Text 179"/>
          <p:cNvSpPr/>
          <p:nvPr/>
        </p:nvSpPr>
        <p:spPr>
          <a:xfrm>
            <a:off x="5989320" y="4590288"/>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82" name="Shape 180"/>
          <p:cNvSpPr/>
          <p:nvPr/>
        </p:nvSpPr>
        <p:spPr>
          <a:xfrm>
            <a:off x="7726680" y="4590288"/>
            <a:ext cx="1517904" cy="146304"/>
          </a:xfrm>
          <a:prstGeom prst="roundRect">
            <a:avLst>
              <a:gd name="adj" fmla="val 18750"/>
            </a:avLst>
          </a:prstGeom>
          <a:solidFill>
            <a:srgbClr val="27AE60"/>
          </a:solidFill>
          <a:ln w="12700">
            <a:solidFill>
              <a:srgbClr val="27AE60"/>
            </a:solidFill>
            <a:prstDash val="solid"/>
          </a:ln>
        </p:spPr>
      </p:sp>
      <p:sp>
        <p:nvSpPr>
          <p:cNvPr id="183" name="Text 181"/>
          <p:cNvSpPr/>
          <p:nvPr/>
        </p:nvSpPr>
        <p:spPr>
          <a:xfrm>
            <a:off x="7726680" y="4590288"/>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84" name="Shape 182"/>
          <p:cNvSpPr/>
          <p:nvPr/>
        </p:nvSpPr>
        <p:spPr>
          <a:xfrm>
            <a:off x="320040" y="4773168"/>
            <a:ext cx="2066544" cy="182880"/>
          </a:xfrm>
          <a:prstGeom prst="rect">
            <a:avLst/>
          </a:prstGeom>
          <a:solidFill>
            <a:srgbClr val="FFFFFF"/>
          </a:solidFill>
          <a:ln w="6350">
            <a:solidFill>
              <a:srgbClr val="E5E5EA"/>
            </a:solidFill>
            <a:prstDash val="solid"/>
          </a:ln>
        </p:spPr>
      </p:sp>
      <p:sp>
        <p:nvSpPr>
          <p:cNvPr id="185" name="Text 183"/>
          <p:cNvSpPr/>
          <p:nvPr/>
        </p:nvSpPr>
        <p:spPr>
          <a:xfrm>
            <a:off x="365760" y="4773168"/>
            <a:ext cx="2011680" cy="182880"/>
          </a:xfrm>
          <a:prstGeom prst="rect">
            <a:avLst/>
          </a:prstGeom>
          <a:noFill/>
          <a:ln/>
        </p:spPr>
        <p:txBody>
          <a:bodyPr wrap="square" rtlCol="0" anchor="ctr"/>
          <a:lstStyle/>
          <a:p>
            <a:pPr indent="0" marL="0">
              <a:buNone/>
            </a:pPr>
            <a:r>
              <a:rPr lang="en-US" sz="650" dirty="0">
                <a:solidFill>
                  <a:srgbClr val="1D1D1F"/>
                </a:solidFill>
                <a:latin typeface="Atkinson Hyperlegible" pitchFamily="34" charset="0"/>
                <a:ea typeface="Atkinson Hyperlegible" pitchFamily="34" charset="-122"/>
                <a:cs typeface="Atkinson Hyperlegible" pitchFamily="34" charset="-120"/>
              </a:rPr>
              <a:t>III-3</a:t>
            </a:r>
            <a:endParaRPr lang="en-US" sz="650" dirty="0"/>
          </a:p>
        </p:txBody>
      </p:sp>
      <p:sp>
        <p:nvSpPr>
          <p:cNvPr id="186" name="Shape 184"/>
          <p:cNvSpPr/>
          <p:nvPr/>
        </p:nvSpPr>
        <p:spPr>
          <a:xfrm>
            <a:off x="2514600" y="4791456"/>
            <a:ext cx="1517904" cy="146304"/>
          </a:xfrm>
          <a:prstGeom prst="roundRect">
            <a:avLst>
              <a:gd name="adj" fmla="val 18750"/>
            </a:avLst>
          </a:prstGeom>
          <a:solidFill>
            <a:srgbClr val="27AE60"/>
          </a:solidFill>
          <a:ln w="12700">
            <a:solidFill>
              <a:srgbClr val="27AE60"/>
            </a:solidFill>
            <a:prstDash val="solid"/>
          </a:ln>
        </p:spPr>
      </p:sp>
      <p:sp>
        <p:nvSpPr>
          <p:cNvPr id="187" name="Text 185"/>
          <p:cNvSpPr/>
          <p:nvPr/>
        </p:nvSpPr>
        <p:spPr>
          <a:xfrm>
            <a:off x="2514600" y="4791456"/>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88" name="Shape 186"/>
          <p:cNvSpPr/>
          <p:nvPr/>
        </p:nvSpPr>
        <p:spPr>
          <a:xfrm>
            <a:off x="4251960" y="4791456"/>
            <a:ext cx="1517904" cy="146304"/>
          </a:xfrm>
          <a:prstGeom prst="roundRect">
            <a:avLst>
              <a:gd name="adj" fmla="val 18750"/>
            </a:avLst>
          </a:prstGeom>
          <a:solidFill>
            <a:srgbClr val="D4620A"/>
          </a:solidFill>
          <a:ln w="12700">
            <a:solidFill>
              <a:srgbClr val="D4620A"/>
            </a:solidFill>
            <a:prstDash val="solid"/>
          </a:ln>
        </p:spPr>
      </p:sp>
      <p:sp>
        <p:nvSpPr>
          <p:cNvPr id="189" name="Text 187"/>
          <p:cNvSpPr/>
          <p:nvPr/>
        </p:nvSpPr>
        <p:spPr>
          <a:xfrm>
            <a:off x="4251960" y="4791456"/>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MEDIA</a:t>
            </a:r>
            <a:endParaRPr lang="en-US" sz="550" dirty="0"/>
          </a:p>
        </p:txBody>
      </p:sp>
      <p:sp>
        <p:nvSpPr>
          <p:cNvPr id="190" name="Shape 188"/>
          <p:cNvSpPr/>
          <p:nvPr/>
        </p:nvSpPr>
        <p:spPr>
          <a:xfrm>
            <a:off x="5989320" y="4791456"/>
            <a:ext cx="1517904" cy="146304"/>
          </a:xfrm>
          <a:prstGeom prst="roundRect">
            <a:avLst>
              <a:gd name="adj" fmla="val 18750"/>
            </a:avLst>
          </a:prstGeom>
          <a:solidFill>
            <a:srgbClr val="E5E5EA"/>
          </a:solidFill>
          <a:ln w="12700">
            <a:solidFill>
              <a:srgbClr val="E5E5EA"/>
            </a:solidFill>
            <a:prstDash val="solid"/>
          </a:ln>
        </p:spPr>
      </p:sp>
      <p:sp>
        <p:nvSpPr>
          <p:cNvPr id="191" name="Text 189"/>
          <p:cNvSpPr/>
          <p:nvPr/>
        </p:nvSpPr>
        <p:spPr>
          <a:xfrm>
            <a:off x="5989320" y="4791456"/>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BAJA</a:t>
            </a:r>
            <a:endParaRPr lang="en-US" sz="550" dirty="0"/>
          </a:p>
        </p:txBody>
      </p:sp>
      <p:sp>
        <p:nvSpPr>
          <p:cNvPr id="192" name="Shape 190"/>
          <p:cNvSpPr/>
          <p:nvPr/>
        </p:nvSpPr>
        <p:spPr>
          <a:xfrm>
            <a:off x="7726680" y="4791456"/>
            <a:ext cx="1517904" cy="146304"/>
          </a:xfrm>
          <a:prstGeom prst="roundRect">
            <a:avLst>
              <a:gd name="adj" fmla="val 18750"/>
            </a:avLst>
          </a:prstGeom>
          <a:solidFill>
            <a:srgbClr val="27AE60"/>
          </a:solidFill>
          <a:ln w="12700">
            <a:solidFill>
              <a:srgbClr val="27AE60"/>
            </a:solidFill>
            <a:prstDash val="solid"/>
          </a:ln>
        </p:spPr>
      </p:sp>
      <p:sp>
        <p:nvSpPr>
          <p:cNvPr id="193" name="Text 191"/>
          <p:cNvSpPr/>
          <p:nvPr/>
        </p:nvSpPr>
        <p:spPr>
          <a:xfrm>
            <a:off x="7726680" y="4791456"/>
            <a:ext cx="1517904" cy="146304"/>
          </a:xfrm>
          <a:prstGeom prst="rect">
            <a:avLst/>
          </a:prstGeom>
          <a:noFill/>
          <a:ln/>
        </p:spPr>
        <p:txBody>
          <a:bodyPr wrap="square" rtlCol="0" anchor="ctr"/>
          <a:lstStyle/>
          <a:p>
            <a:pPr algn="ctr" indent="0" marL="0">
              <a:buNone/>
            </a:pPr>
            <a:r>
              <a:rPr lang="en-US" sz="550" b="1" dirty="0">
                <a:solidFill>
                  <a:srgbClr val="FFFFFF"/>
                </a:solidFill>
                <a:latin typeface="Atkinson Hyperlegible" pitchFamily="34" charset="0"/>
                <a:ea typeface="Atkinson Hyperlegible" pitchFamily="34" charset="-122"/>
                <a:cs typeface="Atkinson Hyperlegible" pitchFamily="34" charset="-120"/>
              </a:rPr>
              <a:t>ALTA</a:t>
            </a:r>
            <a:endParaRPr lang="en-US" sz="550" dirty="0"/>
          </a:p>
        </p:txBody>
      </p:sp>
      <p:sp>
        <p:nvSpPr>
          <p:cNvPr id="194" name="Shape 192"/>
          <p:cNvSpPr/>
          <p:nvPr/>
        </p:nvSpPr>
        <p:spPr>
          <a:xfrm>
            <a:off x="182880" y="4956048"/>
            <a:ext cx="8961120" cy="182880"/>
          </a:xfrm>
          <a:prstGeom prst="rect">
            <a:avLst/>
          </a:prstGeom>
          <a:solidFill>
            <a:srgbClr val="C0392B"/>
          </a:solidFill>
          <a:ln w="12700">
            <a:solidFill>
              <a:srgbClr val="C0392B"/>
            </a:solidFill>
            <a:prstDash val="solid"/>
          </a:ln>
        </p:spPr>
      </p:sp>
      <p:sp>
        <p:nvSpPr>
          <p:cNvPr id="195" name="Text 193"/>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54 / 126</a:t>
            </a:r>
            <a:endParaRPr lang="en-US" sz="7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C0392B"/>
          </a:solidFill>
          <a:ln w="12700">
            <a:solidFill>
              <a:srgbClr val="C0392B"/>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KPIs del Programa de Constructabilidad</a:t>
            </a:r>
            <a:endParaRPr lang="en-US" sz="1800" dirty="0"/>
          </a:p>
        </p:txBody>
      </p:sp>
      <p:sp>
        <p:nvSpPr>
          <p:cNvPr id="4" name="Shape 2"/>
          <p:cNvSpPr/>
          <p:nvPr/>
        </p:nvSpPr>
        <p:spPr>
          <a:xfrm>
            <a:off x="320040" y="640080"/>
            <a:ext cx="8503920" cy="41148"/>
          </a:xfrm>
          <a:prstGeom prst="rect">
            <a:avLst/>
          </a:prstGeom>
          <a:solidFill>
            <a:srgbClr val="C0392B"/>
          </a:solidFill>
          <a:ln w="12700">
            <a:solidFill>
              <a:srgbClr val="C0392B"/>
            </a:solidFill>
            <a:prstDash val="solid"/>
          </a:ln>
        </p:spPr>
      </p:sp>
      <p:sp>
        <p:nvSpPr>
          <p:cNvPr id="5" name="Shape 3"/>
          <p:cNvSpPr/>
          <p:nvPr/>
        </p:nvSpPr>
        <p:spPr>
          <a:xfrm>
            <a:off x="320040" y="804672"/>
            <a:ext cx="2724912" cy="1943100"/>
          </a:xfrm>
          <a:prstGeom prst="roundRect">
            <a:avLst>
              <a:gd name="adj" fmla="val 4235"/>
            </a:avLst>
          </a:prstGeom>
          <a:solidFill>
            <a:srgbClr val="C0392B"/>
          </a:solidFill>
          <a:ln w="19050">
            <a:solidFill>
              <a:srgbClr val="C0392B"/>
            </a:solidFill>
            <a:prstDash val="solid"/>
          </a:ln>
        </p:spPr>
      </p:sp>
      <p:sp>
        <p:nvSpPr>
          <p:cNvPr id="6" name="Shape 4"/>
          <p:cNvSpPr/>
          <p:nvPr/>
        </p:nvSpPr>
        <p:spPr>
          <a:xfrm>
            <a:off x="320040" y="804672"/>
            <a:ext cx="2724912" cy="54864"/>
          </a:xfrm>
          <a:prstGeom prst="rect">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8056" y="932688"/>
            <a:ext cx="365760" cy="365760"/>
          </a:xfrm>
          <a:prstGeom prst="rect">
            <a:avLst/>
          </a:prstGeom>
        </p:spPr>
      </p:pic>
      <p:sp>
        <p:nvSpPr>
          <p:cNvPr id="8" name="Text 5"/>
          <p:cNvSpPr/>
          <p:nvPr/>
        </p:nvSpPr>
        <p:spPr>
          <a:xfrm>
            <a:off x="868680"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Índice de Actividad</a:t>
            </a:r>
            <a:endParaRPr lang="en-US" sz="850" dirty="0"/>
          </a:p>
        </p:txBody>
      </p:sp>
      <p:sp>
        <p:nvSpPr>
          <p:cNvPr id="9" name="Text 6"/>
          <p:cNvSpPr/>
          <p:nvPr/>
        </p:nvSpPr>
        <p:spPr>
          <a:xfrm>
            <a:off x="429768"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 observaciones / $ millones invertidos. Compara entre proyectos de diferente tamaño.</a:t>
            </a:r>
            <a:endParaRPr lang="en-US" sz="750" dirty="0"/>
          </a:p>
        </p:txBody>
      </p:sp>
      <p:sp>
        <p:nvSpPr>
          <p:cNvPr id="10" name="Shape 7"/>
          <p:cNvSpPr/>
          <p:nvPr/>
        </p:nvSpPr>
        <p:spPr>
          <a:xfrm>
            <a:off x="3209544" y="804672"/>
            <a:ext cx="2724912" cy="1943100"/>
          </a:xfrm>
          <a:prstGeom prst="roundRect">
            <a:avLst>
              <a:gd name="adj" fmla="val 4235"/>
            </a:avLst>
          </a:prstGeom>
          <a:solidFill>
            <a:srgbClr val="FFFFFF"/>
          </a:solidFill>
          <a:ln w="19050">
            <a:solidFill>
              <a:srgbClr val="C0392B"/>
            </a:solidFill>
            <a:prstDash val="solid"/>
          </a:ln>
        </p:spPr>
      </p:sp>
      <p:sp>
        <p:nvSpPr>
          <p:cNvPr id="11" name="Shape 8"/>
          <p:cNvSpPr/>
          <p:nvPr/>
        </p:nvSpPr>
        <p:spPr>
          <a:xfrm>
            <a:off x="3209544" y="804672"/>
            <a:ext cx="2724912" cy="54864"/>
          </a:xfrm>
          <a:prstGeom prst="rect">
            <a:avLst/>
          </a:prstGeom>
          <a:solidFill>
            <a:srgbClr val="C0392B"/>
          </a:solidFill>
          <a:ln w="12700">
            <a:solidFill>
              <a:srgbClr val="C0392B"/>
            </a:solidFill>
            <a:prstDash val="solid"/>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37560" y="932688"/>
            <a:ext cx="365760" cy="365760"/>
          </a:xfrm>
          <a:prstGeom prst="rect">
            <a:avLst/>
          </a:prstGeom>
        </p:spPr>
      </p:pic>
      <p:sp>
        <p:nvSpPr>
          <p:cNvPr id="13" name="Text 9"/>
          <p:cNvSpPr/>
          <p:nvPr/>
        </p:nvSpPr>
        <p:spPr>
          <a:xfrm>
            <a:off x="3758184" y="914400"/>
            <a:ext cx="2066544" cy="347472"/>
          </a:xfrm>
          <a:prstGeom prst="rect">
            <a:avLst/>
          </a:prstGeom>
          <a:noFill/>
          <a:ln/>
        </p:spPr>
        <p:txBody>
          <a:bodyPr wrap="square" rtlCol="0" anchor="ctr"/>
          <a:lstStyle/>
          <a:p>
            <a:pPr indent="0" marL="0">
              <a:buNone/>
            </a:pPr>
            <a:r>
              <a:rPr lang="en-US" sz="850" b="1" dirty="0">
                <a:solidFill>
                  <a:srgbClr val="C0392B"/>
                </a:solidFill>
                <a:latin typeface="Atkinson Hyperlegible" pitchFamily="34" charset="0"/>
                <a:ea typeface="Atkinson Hyperlegible" pitchFamily="34" charset="-122"/>
                <a:cs typeface="Atkinson Hyperlegible" pitchFamily="34" charset="-120"/>
              </a:rPr>
              <a:t>Tasa de Captura</a:t>
            </a:r>
            <a:endParaRPr lang="en-US" sz="850" dirty="0"/>
          </a:p>
        </p:txBody>
      </p:sp>
      <p:sp>
        <p:nvSpPr>
          <p:cNvPr id="14" name="Text 10"/>
          <p:cNvSpPr/>
          <p:nvPr/>
        </p:nvSpPr>
        <p:spPr>
          <a:xfrm>
            <a:off x="3319272" y="131673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observaciones implementadas. Meta: &gt;70%. Indica que el programa tiene impacto real, no solo documenta.</a:t>
            </a:r>
            <a:endParaRPr lang="en-US" sz="750" dirty="0"/>
          </a:p>
        </p:txBody>
      </p:sp>
      <p:sp>
        <p:nvSpPr>
          <p:cNvPr id="15" name="Shape 11"/>
          <p:cNvSpPr/>
          <p:nvPr/>
        </p:nvSpPr>
        <p:spPr>
          <a:xfrm>
            <a:off x="6099048" y="804672"/>
            <a:ext cx="2724912" cy="1943100"/>
          </a:xfrm>
          <a:prstGeom prst="roundRect">
            <a:avLst>
              <a:gd name="adj" fmla="val 4235"/>
            </a:avLst>
          </a:prstGeom>
          <a:solidFill>
            <a:srgbClr val="C0392B"/>
          </a:solidFill>
          <a:ln w="19050">
            <a:solidFill>
              <a:srgbClr val="C0392B"/>
            </a:solidFill>
            <a:prstDash val="solid"/>
          </a:ln>
        </p:spPr>
      </p:sp>
      <p:sp>
        <p:nvSpPr>
          <p:cNvPr id="16" name="Shape 12"/>
          <p:cNvSpPr/>
          <p:nvPr/>
        </p:nvSpPr>
        <p:spPr>
          <a:xfrm>
            <a:off x="6099048" y="804672"/>
            <a:ext cx="2724912" cy="54864"/>
          </a:xfrm>
          <a:prstGeom prst="rect">
            <a:avLst/>
          </a:prstGeom>
          <a:solidFill>
            <a:srgbClr val="FFFFFF"/>
          </a:solidFill>
          <a:ln w="12700">
            <a:solidFill>
              <a:srgbClr val="FFFFFF"/>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27064" y="932688"/>
            <a:ext cx="365760" cy="365760"/>
          </a:xfrm>
          <a:prstGeom prst="rect">
            <a:avLst/>
          </a:prstGeom>
        </p:spPr>
      </p:pic>
      <p:sp>
        <p:nvSpPr>
          <p:cNvPr id="18" name="Text 13"/>
          <p:cNvSpPr/>
          <p:nvPr/>
        </p:nvSpPr>
        <p:spPr>
          <a:xfrm>
            <a:off x="6647688"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Valor por Observación</a:t>
            </a:r>
            <a:endParaRPr lang="en-US" sz="850" dirty="0"/>
          </a:p>
        </p:txBody>
      </p:sp>
      <p:sp>
        <p:nvSpPr>
          <p:cNvPr id="19" name="Text 14"/>
          <p:cNvSpPr/>
          <p:nvPr/>
        </p:nvSpPr>
        <p:spPr>
          <a:xfrm>
            <a:off x="6208776"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Ahorro promedio por observación implementada. Construye el caso para aumentar la inversión en el programa.</a:t>
            </a:r>
            <a:endParaRPr lang="en-US" sz="750" dirty="0"/>
          </a:p>
        </p:txBody>
      </p:sp>
      <p:sp>
        <p:nvSpPr>
          <p:cNvPr id="20" name="Shape 15"/>
          <p:cNvSpPr/>
          <p:nvPr/>
        </p:nvSpPr>
        <p:spPr>
          <a:xfrm>
            <a:off x="320040" y="2884932"/>
            <a:ext cx="2724912" cy="1943100"/>
          </a:xfrm>
          <a:prstGeom prst="roundRect">
            <a:avLst>
              <a:gd name="adj" fmla="val 4235"/>
            </a:avLst>
          </a:prstGeom>
          <a:solidFill>
            <a:srgbClr val="FFFFFF"/>
          </a:solidFill>
          <a:ln w="19050">
            <a:solidFill>
              <a:srgbClr val="C0392B"/>
            </a:solidFill>
            <a:prstDash val="solid"/>
          </a:ln>
        </p:spPr>
      </p:sp>
      <p:sp>
        <p:nvSpPr>
          <p:cNvPr id="21" name="Shape 16"/>
          <p:cNvSpPr/>
          <p:nvPr/>
        </p:nvSpPr>
        <p:spPr>
          <a:xfrm>
            <a:off x="320040" y="2884932"/>
            <a:ext cx="2724912" cy="54864"/>
          </a:xfrm>
          <a:prstGeom prst="rect">
            <a:avLst/>
          </a:prstGeom>
          <a:solidFill>
            <a:srgbClr val="C0392B"/>
          </a:solidFill>
          <a:ln w="12700">
            <a:solidFill>
              <a:srgbClr val="C0392B"/>
            </a:solidFill>
            <a:prstDash val="solid"/>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8056" y="3012948"/>
            <a:ext cx="365760" cy="365760"/>
          </a:xfrm>
          <a:prstGeom prst="rect">
            <a:avLst/>
          </a:prstGeom>
        </p:spPr>
      </p:pic>
      <p:sp>
        <p:nvSpPr>
          <p:cNvPr id="23" name="Text 17"/>
          <p:cNvSpPr/>
          <p:nvPr/>
        </p:nvSpPr>
        <p:spPr>
          <a:xfrm>
            <a:off x="868680" y="2994660"/>
            <a:ext cx="2066544" cy="347472"/>
          </a:xfrm>
          <a:prstGeom prst="rect">
            <a:avLst/>
          </a:prstGeom>
          <a:noFill/>
          <a:ln/>
        </p:spPr>
        <p:txBody>
          <a:bodyPr wrap="square" rtlCol="0" anchor="ctr"/>
          <a:lstStyle/>
          <a:p>
            <a:pPr indent="0" marL="0">
              <a:buNone/>
            </a:pPr>
            <a:r>
              <a:rPr lang="en-US" sz="850" b="1" dirty="0">
                <a:solidFill>
                  <a:srgbClr val="C0392B"/>
                </a:solidFill>
                <a:latin typeface="Atkinson Hyperlegible" pitchFamily="34" charset="0"/>
                <a:ea typeface="Atkinson Hyperlegible" pitchFamily="34" charset="-122"/>
                <a:cs typeface="Atkinson Hyperlegible" pitchFamily="34" charset="-120"/>
              </a:rPr>
              <a:t>Oportunidad Temprana</a:t>
            </a:r>
            <a:endParaRPr lang="en-US" sz="850" dirty="0"/>
          </a:p>
        </p:txBody>
      </p:sp>
      <p:sp>
        <p:nvSpPr>
          <p:cNvPr id="24" name="Text 18"/>
          <p:cNvSpPr/>
          <p:nvPr/>
        </p:nvSpPr>
        <p:spPr>
          <a:xfrm>
            <a:off x="429768"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observaciones en Fase I vs. total. Meta: &gt;40% en Fase I, donde el impacto es mayor.</a:t>
            </a:r>
            <a:endParaRPr lang="en-US" sz="750" dirty="0"/>
          </a:p>
        </p:txBody>
      </p:sp>
      <p:sp>
        <p:nvSpPr>
          <p:cNvPr id="25" name="Shape 19"/>
          <p:cNvSpPr/>
          <p:nvPr/>
        </p:nvSpPr>
        <p:spPr>
          <a:xfrm>
            <a:off x="3209544" y="2884932"/>
            <a:ext cx="2724912" cy="1943100"/>
          </a:xfrm>
          <a:prstGeom prst="roundRect">
            <a:avLst>
              <a:gd name="adj" fmla="val 4235"/>
            </a:avLst>
          </a:prstGeom>
          <a:solidFill>
            <a:srgbClr val="C0392B"/>
          </a:solidFill>
          <a:ln w="19050">
            <a:solidFill>
              <a:srgbClr val="C0392B"/>
            </a:solidFill>
            <a:prstDash val="solid"/>
          </a:ln>
        </p:spPr>
      </p:sp>
      <p:sp>
        <p:nvSpPr>
          <p:cNvPr id="26" name="Shape 20"/>
          <p:cNvSpPr/>
          <p:nvPr/>
        </p:nvSpPr>
        <p:spPr>
          <a:xfrm>
            <a:off x="3209544" y="2884932"/>
            <a:ext cx="2724912" cy="54864"/>
          </a:xfrm>
          <a:prstGeom prst="rect">
            <a:avLst/>
          </a:prstGeom>
          <a:solidFill>
            <a:srgbClr val="FFFFFF"/>
          </a:solidFill>
          <a:ln w="12700">
            <a:solidFill>
              <a:srgbClr val="FFFFFF"/>
            </a:solidFill>
            <a:prstDash val="solid"/>
          </a:ln>
        </p:spPr>
      </p:sp>
      <p:pic>
        <p:nvPicPr>
          <p:cNvPr id="2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37560" y="3012948"/>
            <a:ext cx="365760" cy="365760"/>
          </a:xfrm>
          <a:prstGeom prst="rect">
            <a:avLst/>
          </a:prstGeom>
        </p:spPr>
      </p:pic>
      <p:sp>
        <p:nvSpPr>
          <p:cNvPr id="28" name="Text 21"/>
          <p:cNvSpPr/>
          <p:nvPr/>
        </p:nvSpPr>
        <p:spPr>
          <a:xfrm>
            <a:off x="3758184" y="299466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Participación del Equipo</a:t>
            </a:r>
            <a:endParaRPr lang="en-US" sz="850" dirty="0"/>
          </a:p>
        </p:txBody>
      </p:sp>
      <p:sp>
        <p:nvSpPr>
          <p:cNvPr id="29" name="Text 22"/>
          <p:cNvSpPr/>
          <p:nvPr/>
        </p:nvSpPr>
        <p:spPr>
          <a:xfrm>
            <a:off x="3319272" y="339699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 disciplinas representadas en talleres. Indica si el programa es verdaderamente multidisciplinario.</a:t>
            </a:r>
            <a:endParaRPr lang="en-US" sz="750" dirty="0"/>
          </a:p>
        </p:txBody>
      </p:sp>
      <p:sp>
        <p:nvSpPr>
          <p:cNvPr id="30" name="Shape 23"/>
          <p:cNvSpPr/>
          <p:nvPr/>
        </p:nvSpPr>
        <p:spPr>
          <a:xfrm>
            <a:off x="6099048" y="2884932"/>
            <a:ext cx="2724912" cy="1943100"/>
          </a:xfrm>
          <a:prstGeom prst="roundRect">
            <a:avLst>
              <a:gd name="adj" fmla="val 4235"/>
            </a:avLst>
          </a:prstGeom>
          <a:solidFill>
            <a:srgbClr val="FFFFFF"/>
          </a:solidFill>
          <a:ln w="19050">
            <a:solidFill>
              <a:srgbClr val="C0392B"/>
            </a:solidFill>
            <a:prstDash val="solid"/>
          </a:ln>
        </p:spPr>
      </p:sp>
      <p:sp>
        <p:nvSpPr>
          <p:cNvPr id="31" name="Shape 24"/>
          <p:cNvSpPr/>
          <p:nvPr/>
        </p:nvSpPr>
        <p:spPr>
          <a:xfrm>
            <a:off x="6099048" y="2884932"/>
            <a:ext cx="2724912" cy="54864"/>
          </a:xfrm>
          <a:prstGeom prst="rect">
            <a:avLst/>
          </a:prstGeom>
          <a:solidFill>
            <a:srgbClr val="C0392B"/>
          </a:solidFill>
          <a:ln w="12700">
            <a:solidFill>
              <a:srgbClr val="C0392B"/>
            </a:solidFill>
            <a:prstDash val="solid"/>
          </a:ln>
        </p:spPr>
      </p:sp>
      <p:pic>
        <p:nvPicPr>
          <p:cNvPr id="3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27064" y="3012948"/>
            <a:ext cx="365760" cy="365760"/>
          </a:xfrm>
          <a:prstGeom prst="rect">
            <a:avLst/>
          </a:prstGeom>
        </p:spPr>
      </p:pic>
      <p:sp>
        <p:nvSpPr>
          <p:cNvPr id="33" name="Text 25"/>
          <p:cNvSpPr/>
          <p:nvPr/>
        </p:nvSpPr>
        <p:spPr>
          <a:xfrm>
            <a:off x="6647688" y="2994660"/>
            <a:ext cx="2066544" cy="347472"/>
          </a:xfrm>
          <a:prstGeom prst="rect">
            <a:avLst/>
          </a:prstGeom>
          <a:noFill/>
          <a:ln/>
        </p:spPr>
        <p:txBody>
          <a:bodyPr wrap="square" rtlCol="0" anchor="ctr"/>
          <a:lstStyle/>
          <a:p>
            <a:pPr indent="0" marL="0">
              <a:buNone/>
            </a:pPr>
            <a:r>
              <a:rPr lang="en-US" sz="850" b="1" dirty="0">
                <a:solidFill>
                  <a:srgbClr val="C0392B"/>
                </a:solidFill>
                <a:latin typeface="Atkinson Hyperlegible" pitchFamily="34" charset="0"/>
                <a:ea typeface="Atkinson Hyperlegible" pitchFamily="34" charset="-122"/>
                <a:cs typeface="Atkinson Hyperlegible" pitchFamily="34" charset="-120"/>
              </a:rPr>
              <a:t>LLDB Utilización</a:t>
            </a:r>
            <a:endParaRPr lang="en-US" sz="850" dirty="0"/>
          </a:p>
        </p:txBody>
      </p:sp>
      <p:sp>
        <p:nvSpPr>
          <p:cNvPr id="34" name="Text 26"/>
          <p:cNvSpPr/>
          <p:nvPr/>
        </p:nvSpPr>
        <p:spPr>
          <a:xfrm>
            <a:off x="6208776"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veces que el LLDB fue consultado antes de inicio de diseño. Indica que el conocimiento se transfiere.</a:t>
            </a:r>
            <a:endParaRPr lang="en-US" sz="750" dirty="0"/>
          </a:p>
        </p:txBody>
      </p:sp>
      <p:sp>
        <p:nvSpPr>
          <p:cNvPr id="35" name="Shape 27"/>
          <p:cNvSpPr/>
          <p:nvPr/>
        </p:nvSpPr>
        <p:spPr>
          <a:xfrm>
            <a:off x="182880" y="4956048"/>
            <a:ext cx="8961120" cy="182880"/>
          </a:xfrm>
          <a:prstGeom prst="rect">
            <a:avLst/>
          </a:prstGeom>
          <a:solidFill>
            <a:srgbClr val="C0392B"/>
          </a:solidFill>
          <a:ln w="12700">
            <a:solidFill>
              <a:srgbClr val="C0392B"/>
            </a:solidFill>
            <a:prstDash val="solid"/>
          </a:ln>
        </p:spPr>
      </p:sp>
      <p:sp>
        <p:nvSpPr>
          <p:cNvPr id="36" name="Text 28"/>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55 / 126</a:t>
            </a:r>
            <a:endParaRPr lang="en-US" sz="7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C0392B"/>
          </a:solidFill>
          <a:ln w="12700">
            <a:solidFill>
              <a:srgbClr val="C0392B"/>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Diagnóstico del Nivel de Madurez del Programa</a:t>
            </a:r>
            <a:endParaRPr lang="en-US" sz="1800" dirty="0"/>
          </a:p>
        </p:txBody>
      </p:sp>
      <p:sp>
        <p:nvSpPr>
          <p:cNvPr id="4" name="Shape 2"/>
          <p:cNvSpPr/>
          <p:nvPr/>
        </p:nvSpPr>
        <p:spPr>
          <a:xfrm>
            <a:off x="320040" y="640080"/>
            <a:ext cx="8503920" cy="41148"/>
          </a:xfrm>
          <a:prstGeom prst="rect">
            <a:avLst/>
          </a:prstGeom>
          <a:solidFill>
            <a:srgbClr val="C0392B"/>
          </a:solidFill>
          <a:ln w="12700">
            <a:solidFill>
              <a:srgbClr val="C0392B"/>
            </a:solidFill>
            <a:prstDash val="solid"/>
          </a:ln>
        </p:spPr>
      </p:sp>
      <p:sp>
        <p:nvSpPr>
          <p:cNvPr id="5" name="Text 3"/>
          <p:cNvSpPr/>
          <p:nvPr/>
        </p:nvSpPr>
        <p:spPr>
          <a:xfrm>
            <a:off x="320040" y="704088"/>
            <a:ext cx="8503920" cy="256032"/>
          </a:xfrm>
          <a:prstGeom prst="rect">
            <a:avLst/>
          </a:prstGeom>
          <a:noFill/>
          <a:ln/>
        </p:spPr>
        <p:txBody>
          <a:bodyPr wrap="square" rtlCol="0" anchor="ctr"/>
          <a:lstStyle/>
          <a:p>
            <a:pPr indent="0" marL="0">
              <a:buNone/>
            </a:pPr>
            <a:r>
              <a:rPr lang="en-US" sz="900" i="1" dirty="0">
                <a:solidFill>
                  <a:srgbClr val="C0392B"/>
                </a:solidFill>
                <a:latin typeface="Atkinson Hyperlegible" pitchFamily="34" charset="0"/>
                <a:ea typeface="Atkinson Hyperlegible" pitchFamily="34" charset="-122"/>
                <a:cs typeface="Atkinson Hyperlegible" pitchFamily="34" charset="-120"/>
              </a:rPr>
              <a:t>Herramienta T-3: CII Constructability Program Assessment</a:t>
            </a:r>
            <a:endParaRPr lang="en-US" sz="900" dirty="0"/>
          </a:p>
        </p:txBody>
      </p:sp>
      <p:sp>
        <p:nvSpPr>
          <p:cNvPr id="6" name="Text 4"/>
          <p:cNvSpPr/>
          <p:nvPr/>
        </p:nvSpPr>
        <p:spPr>
          <a:xfrm>
            <a:off x="320040" y="841248"/>
            <a:ext cx="2926080" cy="347472"/>
          </a:xfrm>
          <a:prstGeom prst="rect">
            <a:avLst/>
          </a:prstGeom>
          <a:noFill/>
          <a:ln/>
        </p:spPr>
        <p:txBody>
          <a:bodyPr wrap="square" rtlCol="0" anchor="ctr"/>
          <a:lstStyle/>
          <a:p>
            <a:pPr indent="0" marL="0">
              <a:buNone/>
            </a:pPr>
            <a:r>
              <a:rPr lang="en-US" sz="900" b="1" dirty="0">
                <a:solidFill>
                  <a:srgbClr val="C0392B"/>
                </a:solidFill>
                <a:latin typeface="Atkinson Hyperlegible" pitchFamily="34" charset="0"/>
                <a:ea typeface="Atkinson Hyperlegible" pitchFamily="34" charset="-122"/>
                <a:cs typeface="Atkinson Hyperlegible" pitchFamily="34" charset="-120"/>
              </a:rPr>
              <a:t>Compromiso Gerencial</a:t>
            </a:r>
            <a:endParaRPr lang="en-US" sz="900" dirty="0"/>
          </a:p>
        </p:txBody>
      </p:sp>
      <p:sp>
        <p:nvSpPr>
          <p:cNvPr id="7" name="Shape 5"/>
          <p:cNvSpPr/>
          <p:nvPr/>
        </p:nvSpPr>
        <p:spPr>
          <a:xfrm>
            <a:off x="3337560" y="896112"/>
            <a:ext cx="5029200" cy="256032"/>
          </a:xfrm>
          <a:prstGeom prst="roundRect">
            <a:avLst>
              <a:gd name="adj" fmla="val 17857"/>
            </a:avLst>
          </a:prstGeom>
          <a:solidFill>
            <a:srgbClr val="E5E5EA"/>
          </a:solidFill>
          <a:ln w="12700">
            <a:solidFill>
              <a:srgbClr val="E5E5EA"/>
            </a:solidFill>
            <a:prstDash val="solid"/>
          </a:ln>
        </p:spPr>
      </p:sp>
      <p:sp>
        <p:nvSpPr>
          <p:cNvPr id="8" name="Shape 6"/>
          <p:cNvSpPr/>
          <p:nvPr/>
        </p:nvSpPr>
        <p:spPr>
          <a:xfrm>
            <a:off x="3337560" y="896112"/>
            <a:ext cx="2011680" cy="256032"/>
          </a:xfrm>
          <a:prstGeom prst="roundRect">
            <a:avLst>
              <a:gd name="adj" fmla="val 17857"/>
            </a:avLst>
          </a:prstGeom>
          <a:solidFill>
            <a:srgbClr val="C0392B"/>
          </a:solidFill>
          <a:ln w="12700">
            <a:solidFill>
              <a:srgbClr val="C0392B"/>
            </a:solidFill>
            <a:prstDash val="solid"/>
          </a:ln>
        </p:spPr>
      </p:sp>
      <p:sp>
        <p:nvSpPr>
          <p:cNvPr id="9" name="Text 7"/>
          <p:cNvSpPr/>
          <p:nvPr/>
        </p:nvSpPr>
        <p:spPr>
          <a:xfrm>
            <a:off x="8458200" y="841248"/>
            <a:ext cx="457200" cy="347472"/>
          </a:xfrm>
          <a:prstGeom prst="rect">
            <a:avLst/>
          </a:prstGeom>
          <a:noFill/>
          <a:ln/>
        </p:spPr>
        <p:txBody>
          <a:bodyPr wrap="square" rtlCol="0" anchor="ctr"/>
          <a:lstStyle/>
          <a:p>
            <a:pPr indent="0" marL="0">
              <a:buNone/>
            </a:pPr>
            <a:r>
              <a:rPr lang="en-US" sz="900" b="1" dirty="0">
                <a:solidFill>
                  <a:srgbClr val="C0392B"/>
                </a:solidFill>
                <a:latin typeface="Atkinson Hyperlegible" pitchFamily="34" charset="0"/>
                <a:ea typeface="Atkinson Hyperlegible" pitchFamily="34" charset="-122"/>
                <a:cs typeface="Atkinson Hyperlegible" pitchFamily="34" charset="-120"/>
              </a:rPr>
              <a:t>2/5</a:t>
            </a:r>
            <a:endParaRPr lang="en-US" sz="900" dirty="0"/>
          </a:p>
        </p:txBody>
      </p:sp>
      <p:sp>
        <p:nvSpPr>
          <p:cNvPr id="10" name="Text 8"/>
          <p:cNvSpPr/>
          <p:nvPr/>
        </p:nvSpPr>
        <p:spPr>
          <a:xfrm>
            <a:off x="320040" y="1207008"/>
            <a:ext cx="8503920" cy="34747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¿Hay política formal? ¿El Champion tiene autoridad real? ¿Hay budget asignado?</a:t>
            </a:r>
            <a:endParaRPr lang="en-US" sz="750" dirty="0"/>
          </a:p>
        </p:txBody>
      </p:sp>
      <p:sp>
        <p:nvSpPr>
          <p:cNvPr id="11" name="Text 9"/>
          <p:cNvSpPr/>
          <p:nvPr/>
        </p:nvSpPr>
        <p:spPr>
          <a:xfrm>
            <a:off x="320040" y="1591056"/>
            <a:ext cx="2926080" cy="347472"/>
          </a:xfrm>
          <a:prstGeom prst="rect">
            <a:avLst/>
          </a:prstGeom>
          <a:noFill/>
          <a:ln/>
        </p:spPr>
        <p:txBody>
          <a:bodyPr wrap="square" rtlCol="0" anchor="ctr"/>
          <a:lstStyle/>
          <a:p>
            <a:pPr indent="0" marL="0">
              <a:buNone/>
            </a:pPr>
            <a:r>
              <a:rPr lang="en-US" sz="900" b="1" dirty="0">
                <a:solidFill>
                  <a:srgbClr val="C0392B"/>
                </a:solidFill>
                <a:latin typeface="Atkinson Hyperlegible" pitchFamily="34" charset="0"/>
                <a:ea typeface="Atkinson Hyperlegible" pitchFamily="34" charset="-122"/>
                <a:cs typeface="Atkinson Hyperlegible" pitchFamily="34" charset="-120"/>
              </a:rPr>
              <a:t>Conocimiento del Equipo</a:t>
            </a:r>
            <a:endParaRPr lang="en-US" sz="900" dirty="0"/>
          </a:p>
        </p:txBody>
      </p:sp>
      <p:sp>
        <p:nvSpPr>
          <p:cNvPr id="12" name="Shape 10"/>
          <p:cNvSpPr/>
          <p:nvPr/>
        </p:nvSpPr>
        <p:spPr>
          <a:xfrm>
            <a:off x="3337560" y="1645920"/>
            <a:ext cx="5029200" cy="256032"/>
          </a:xfrm>
          <a:prstGeom prst="roundRect">
            <a:avLst>
              <a:gd name="adj" fmla="val 17857"/>
            </a:avLst>
          </a:prstGeom>
          <a:solidFill>
            <a:srgbClr val="E5E5EA"/>
          </a:solidFill>
          <a:ln w="12700">
            <a:solidFill>
              <a:srgbClr val="E5E5EA"/>
            </a:solidFill>
            <a:prstDash val="solid"/>
          </a:ln>
        </p:spPr>
      </p:sp>
      <p:sp>
        <p:nvSpPr>
          <p:cNvPr id="13" name="Shape 11"/>
          <p:cNvSpPr/>
          <p:nvPr/>
        </p:nvSpPr>
        <p:spPr>
          <a:xfrm>
            <a:off x="3337560" y="1645920"/>
            <a:ext cx="3017520" cy="256032"/>
          </a:xfrm>
          <a:prstGeom prst="roundRect">
            <a:avLst>
              <a:gd name="adj" fmla="val 17857"/>
            </a:avLst>
          </a:prstGeom>
          <a:solidFill>
            <a:srgbClr val="C0392B"/>
          </a:solidFill>
          <a:ln w="12700">
            <a:solidFill>
              <a:srgbClr val="C0392B"/>
            </a:solidFill>
            <a:prstDash val="solid"/>
          </a:ln>
        </p:spPr>
      </p:sp>
      <p:sp>
        <p:nvSpPr>
          <p:cNvPr id="14" name="Text 12"/>
          <p:cNvSpPr/>
          <p:nvPr/>
        </p:nvSpPr>
        <p:spPr>
          <a:xfrm>
            <a:off x="8458200" y="1591056"/>
            <a:ext cx="457200" cy="347472"/>
          </a:xfrm>
          <a:prstGeom prst="rect">
            <a:avLst/>
          </a:prstGeom>
          <a:noFill/>
          <a:ln/>
        </p:spPr>
        <p:txBody>
          <a:bodyPr wrap="square" rtlCol="0" anchor="ctr"/>
          <a:lstStyle/>
          <a:p>
            <a:pPr indent="0" marL="0">
              <a:buNone/>
            </a:pPr>
            <a:r>
              <a:rPr lang="en-US" sz="900" b="1" dirty="0">
                <a:solidFill>
                  <a:srgbClr val="C0392B"/>
                </a:solidFill>
                <a:latin typeface="Atkinson Hyperlegible" pitchFamily="34" charset="0"/>
                <a:ea typeface="Atkinson Hyperlegible" pitchFamily="34" charset="-122"/>
                <a:cs typeface="Atkinson Hyperlegible" pitchFamily="34" charset="-120"/>
              </a:rPr>
              <a:t>3/5</a:t>
            </a:r>
            <a:endParaRPr lang="en-US" sz="900" dirty="0"/>
          </a:p>
        </p:txBody>
      </p:sp>
      <p:sp>
        <p:nvSpPr>
          <p:cNvPr id="15" name="Text 13"/>
          <p:cNvSpPr/>
          <p:nvPr/>
        </p:nvSpPr>
        <p:spPr>
          <a:xfrm>
            <a:off x="320040" y="1956816"/>
            <a:ext cx="8503920" cy="34747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¿El Champion tiene formación CII? ¿El equipo conoce los 17 conceptos? ¿Hay red de expertos?</a:t>
            </a:r>
            <a:endParaRPr lang="en-US" sz="750" dirty="0"/>
          </a:p>
        </p:txBody>
      </p:sp>
      <p:sp>
        <p:nvSpPr>
          <p:cNvPr id="16" name="Text 14"/>
          <p:cNvSpPr/>
          <p:nvPr/>
        </p:nvSpPr>
        <p:spPr>
          <a:xfrm>
            <a:off x="320040" y="2340864"/>
            <a:ext cx="2926080" cy="347472"/>
          </a:xfrm>
          <a:prstGeom prst="rect">
            <a:avLst/>
          </a:prstGeom>
          <a:noFill/>
          <a:ln/>
        </p:spPr>
        <p:txBody>
          <a:bodyPr wrap="square" rtlCol="0" anchor="ctr"/>
          <a:lstStyle/>
          <a:p>
            <a:pPr indent="0" marL="0">
              <a:buNone/>
            </a:pPr>
            <a:r>
              <a:rPr lang="en-US" sz="900" b="1" dirty="0">
                <a:solidFill>
                  <a:srgbClr val="C0392B"/>
                </a:solidFill>
                <a:latin typeface="Atkinson Hyperlegible" pitchFamily="34" charset="0"/>
                <a:ea typeface="Atkinson Hyperlegible" pitchFamily="34" charset="-122"/>
                <a:cs typeface="Atkinson Hyperlegible" pitchFamily="34" charset="-120"/>
              </a:rPr>
              <a:t>Herramientas Disponibles</a:t>
            </a:r>
            <a:endParaRPr lang="en-US" sz="900" dirty="0"/>
          </a:p>
        </p:txBody>
      </p:sp>
      <p:sp>
        <p:nvSpPr>
          <p:cNvPr id="17" name="Shape 15"/>
          <p:cNvSpPr/>
          <p:nvPr/>
        </p:nvSpPr>
        <p:spPr>
          <a:xfrm>
            <a:off x="3337560" y="2395728"/>
            <a:ext cx="5029200" cy="256032"/>
          </a:xfrm>
          <a:prstGeom prst="roundRect">
            <a:avLst>
              <a:gd name="adj" fmla="val 17857"/>
            </a:avLst>
          </a:prstGeom>
          <a:solidFill>
            <a:srgbClr val="E5E5EA"/>
          </a:solidFill>
          <a:ln w="12700">
            <a:solidFill>
              <a:srgbClr val="E5E5EA"/>
            </a:solidFill>
            <a:prstDash val="solid"/>
          </a:ln>
        </p:spPr>
      </p:sp>
      <p:sp>
        <p:nvSpPr>
          <p:cNvPr id="18" name="Shape 16"/>
          <p:cNvSpPr/>
          <p:nvPr/>
        </p:nvSpPr>
        <p:spPr>
          <a:xfrm>
            <a:off x="3337560" y="2395728"/>
            <a:ext cx="2011680" cy="256032"/>
          </a:xfrm>
          <a:prstGeom prst="roundRect">
            <a:avLst>
              <a:gd name="adj" fmla="val 17857"/>
            </a:avLst>
          </a:prstGeom>
          <a:solidFill>
            <a:srgbClr val="C0392B"/>
          </a:solidFill>
          <a:ln w="12700">
            <a:solidFill>
              <a:srgbClr val="C0392B"/>
            </a:solidFill>
            <a:prstDash val="solid"/>
          </a:ln>
        </p:spPr>
      </p:sp>
      <p:sp>
        <p:nvSpPr>
          <p:cNvPr id="19" name="Text 17"/>
          <p:cNvSpPr/>
          <p:nvPr/>
        </p:nvSpPr>
        <p:spPr>
          <a:xfrm>
            <a:off x="8458200" y="2340864"/>
            <a:ext cx="457200" cy="347472"/>
          </a:xfrm>
          <a:prstGeom prst="rect">
            <a:avLst/>
          </a:prstGeom>
          <a:noFill/>
          <a:ln/>
        </p:spPr>
        <p:txBody>
          <a:bodyPr wrap="square" rtlCol="0" anchor="ctr"/>
          <a:lstStyle/>
          <a:p>
            <a:pPr indent="0" marL="0">
              <a:buNone/>
            </a:pPr>
            <a:r>
              <a:rPr lang="en-US" sz="900" b="1" dirty="0">
                <a:solidFill>
                  <a:srgbClr val="C0392B"/>
                </a:solidFill>
                <a:latin typeface="Atkinson Hyperlegible" pitchFamily="34" charset="0"/>
                <a:ea typeface="Atkinson Hyperlegible" pitchFamily="34" charset="-122"/>
                <a:cs typeface="Atkinson Hyperlegible" pitchFamily="34" charset="-120"/>
              </a:rPr>
              <a:t>2/5</a:t>
            </a:r>
            <a:endParaRPr lang="en-US" sz="900" dirty="0"/>
          </a:p>
        </p:txBody>
      </p:sp>
      <p:sp>
        <p:nvSpPr>
          <p:cNvPr id="20" name="Text 18"/>
          <p:cNvSpPr/>
          <p:nvPr/>
        </p:nvSpPr>
        <p:spPr>
          <a:xfrm>
            <a:off x="320040" y="2706624"/>
            <a:ext cx="8503920" cy="34747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¿Se tienen las herramientas T-1 a T-19? ¿Están adaptadas al contexto de la empresa?</a:t>
            </a:r>
            <a:endParaRPr lang="en-US" sz="750" dirty="0"/>
          </a:p>
        </p:txBody>
      </p:sp>
      <p:sp>
        <p:nvSpPr>
          <p:cNvPr id="21" name="Text 19"/>
          <p:cNvSpPr/>
          <p:nvPr/>
        </p:nvSpPr>
        <p:spPr>
          <a:xfrm>
            <a:off x="320040" y="3090672"/>
            <a:ext cx="2926080" cy="347472"/>
          </a:xfrm>
          <a:prstGeom prst="rect">
            <a:avLst/>
          </a:prstGeom>
          <a:noFill/>
          <a:ln/>
        </p:spPr>
        <p:txBody>
          <a:bodyPr wrap="square" rtlCol="0" anchor="ctr"/>
          <a:lstStyle/>
          <a:p>
            <a:pPr indent="0" marL="0">
              <a:buNone/>
            </a:pPr>
            <a:r>
              <a:rPr lang="en-US" sz="900" b="1" dirty="0">
                <a:solidFill>
                  <a:srgbClr val="C0392B"/>
                </a:solidFill>
                <a:latin typeface="Atkinson Hyperlegible" pitchFamily="34" charset="0"/>
                <a:ea typeface="Atkinson Hyperlegible" pitchFamily="34" charset="-122"/>
                <a:cs typeface="Atkinson Hyperlegible" pitchFamily="34" charset="-120"/>
              </a:rPr>
              <a:t>Proceso Implementado</a:t>
            </a:r>
            <a:endParaRPr lang="en-US" sz="900" dirty="0"/>
          </a:p>
        </p:txBody>
      </p:sp>
      <p:sp>
        <p:nvSpPr>
          <p:cNvPr id="22" name="Shape 20"/>
          <p:cNvSpPr/>
          <p:nvPr/>
        </p:nvSpPr>
        <p:spPr>
          <a:xfrm>
            <a:off x="3337560" y="3145536"/>
            <a:ext cx="5029200" cy="256032"/>
          </a:xfrm>
          <a:prstGeom prst="roundRect">
            <a:avLst>
              <a:gd name="adj" fmla="val 17857"/>
            </a:avLst>
          </a:prstGeom>
          <a:solidFill>
            <a:srgbClr val="E5E5EA"/>
          </a:solidFill>
          <a:ln w="12700">
            <a:solidFill>
              <a:srgbClr val="E5E5EA"/>
            </a:solidFill>
            <a:prstDash val="solid"/>
          </a:ln>
        </p:spPr>
      </p:sp>
      <p:sp>
        <p:nvSpPr>
          <p:cNvPr id="23" name="Shape 21"/>
          <p:cNvSpPr/>
          <p:nvPr/>
        </p:nvSpPr>
        <p:spPr>
          <a:xfrm>
            <a:off x="3337560" y="3145536"/>
            <a:ext cx="1005840" cy="256032"/>
          </a:xfrm>
          <a:prstGeom prst="roundRect">
            <a:avLst>
              <a:gd name="adj" fmla="val 17857"/>
            </a:avLst>
          </a:prstGeom>
          <a:solidFill>
            <a:srgbClr val="C0392B"/>
          </a:solidFill>
          <a:ln w="12700">
            <a:solidFill>
              <a:srgbClr val="C0392B"/>
            </a:solidFill>
            <a:prstDash val="solid"/>
          </a:ln>
        </p:spPr>
      </p:sp>
      <p:sp>
        <p:nvSpPr>
          <p:cNvPr id="24" name="Text 22"/>
          <p:cNvSpPr/>
          <p:nvPr/>
        </p:nvSpPr>
        <p:spPr>
          <a:xfrm>
            <a:off x="8458200" y="3090672"/>
            <a:ext cx="457200" cy="347472"/>
          </a:xfrm>
          <a:prstGeom prst="rect">
            <a:avLst/>
          </a:prstGeom>
          <a:noFill/>
          <a:ln/>
        </p:spPr>
        <p:txBody>
          <a:bodyPr wrap="square" rtlCol="0" anchor="ctr"/>
          <a:lstStyle/>
          <a:p>
            <a:pPr indent="0" marL="0">
              <a:buNone/>
            </a:pPr>
            <a:r>
              <a:rPr lang="en-US" sz="900" b="1" dirty="0">
                <a:solidFill>
                  <a:srgbClr val="C0392B"/>
                </a:solidFill>
                <a:latin typeface="Atkinson Hyperlegible" pitchFamily="34" charset="0"/>
                <a:ea typeface="Atkinson Hyperlegible" pitchFamily="34" charset="-122"/>
                <a:cs typeface="Atkinson Hyperlegible" pitchFamily="34" charset="-120"/>
              </a:rPr>
              <a:t>1/5</a:t>
            </a:r>
            <a:endParaRPr lang="en-US" sz="900" dirty="0"/>
          </a:p>
        </p:txBody>
      </p:sp>
      <p:sp>
        <p:nvSpPr>
          <p:cNvPr id="25" name="Text 23"/>
          <p:cNvSpPr/>
          <p:nvPr/>
        </p:nvSpPr>
        <p:spPr>
          <a:xfrm>
            <a:off x="320040" y="3456432"/>
            <a:ext cx="8503920" cy="34747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¿Los talleres ocurren? ¿Las observaciones se documentan? ¿El LLDB está activo y se usa?</a:t>
            </a:r>
            <a:endParaRPr lang="en-US" sz="750" dirty="0"/>
          </a:p>
        </p:txBody>
      </p:sp>
      <p:sp>
        <p:nvSpPr>
          <p:cNvPr id="26" name="Text 24"/>
          <p:cNvSpPr/>
          <p:nvPr/>
        </p:nvSpPr>
        <p:spPr>
          <a:xfrm>
            <a:off x="320040" y="3840480"/>
            <a:ext cx="2926080" cy="347472"/>
          </a:xfrm>
          <a:prstGeom prst="rect">
            <a:avLst/>
          </a:prstGeom>
          <a:noFill/>
          <a:ln/>
        </p:spPr>
        <p:txBody>
          <a:bodyPr wrap="square" rtlCol="0" anchor="ctr"/>
          <a:lstStyle/>
          <a:p>
            <a:pPr indent="0" marL="0">
              <a:buNone/>
            </a:pPr>
            <a:r>
              <a:rPr lang="en-US" sz="900" b="1" dirty="0">
                <a:solidFill>
                  <a:srgbClr val="C0392B"/>
                </a:solidFill>
                <a:latin typeface="Atkinson Hyperlegible" pitchFamily="34" charset="0"/>
                <a:ea typeface="Atkinson Hyperlegible" pitchFamily="34" charset="-122"/>
                <a:cs typeface="Atkinson Hyperlegible" pitchFamily="34" charset="-120"/>
              </a:rPr>
              <a:t>Medición y Mejora</a:t>
            </a:r>
            <a:endParaRPr lang="en-US" sz="900" dirty="0"/>
          </a:p>
        </p:txBody>
      </p:sp>
      <p:sp>
        <p:nvSpPr>
          <p:cNvPr id="27" name="Shape 25"/>
          <p:cNvSpPr/>
          <p:nvPr/>
        </p:nvSpPr>
        <p:spPr>
          <a:xfrm>
            <a:off x="3337560" y="3895344"/>
            <a:ext cx="5029200" cy="256032"/>
          </a:xfrm>
          <a:prstGeom prst="roundRect">
            <a:avLst>
              <a:gd name="adj" fmla="val 17857"/>
            </a:avLst>
          </a:prstGeom>
          <a:solidFill>
            <a:srgbClr val="E5E5EA"/>
          </a:solidFill>
          <a:ln w="12700">
            <a:solidFill>
              <a:srgbClr val="E5E5EA"/>
            </a:solidFill>
            <a:prstDash val="solid"/>
          </a:ln>
        </p:spPr>
      </p:sp>
      <p:sp>
        <p:nvSpPr>
          <p:cNvPr id="28" name="Shape 26"/>
          <p:cNvSpPr/>
          <p:nvPr/>
        </p:nvSpPr>
        <p:spPr>
          <a:xfrm>
            <a:off x="3337560" y="3895344"/>
            <a:ext cx="1005840" cy="256032"/>
          </a:xfrm>
          <a:prstGeom prst="roundRect">
            <a:avLst>
              <a:gd name="adj" fmla="val 17857"/>
            </a:avLst>
          </a:prstGeom>
          <a:solidFill>
            <a:srgbClr val="C0392B"/>
          </a:solidFill>
          <a:ln w="12700">
            <a:solidFill>
              <a:srgbClr val="C0392B"/>
            </a:solidFill>
            <a:prstDash val="solid"/>
          </a:ln>
        </p:spPr>
      </p:sp>
      <p:sp>
        <p:nvSpPr>
          <p:cNvPr id="29" name="Text 27"/>
          <p:cNvSpPr/>
          <p:nvPr/>
        </p:nvSpPr>
        <p:spPr>
          <a:xfrm>
            <a:off x="8458200" y="3840480"/>
            <a:ext cx="457200" cy="347472"/>
          </a:xfrm>
          <a:prstGeom prst="rect">
            <a:avLst/>
          </a:prstGeom>
          <a:noFill/>
          <a:ln/>
        </p:spPr>
        <p:txBody>
          <a:bodyPr wrap="square" rtlCol="0" anchor="ctr"/>
          <a:lstStyle/>
          <a:p>
            <a:pPr indent="0" marL="0">
              <a:buNone/>
            </a:pPr>
            <a:r>
              <a:rPr lang="en-US" sz="900" b="1" dirty="0">
                <a:solidFill>
                  <a:srgbClr val="C0392B"/>
                </a:solidFill>
                <a:latin typeface="Atkinson Hyperlegible" pitchFamily="34" charset="0"/>
                <a:ea typeface="Atkinson Hyperlegible" pitchFamily="34" charset="-122"/>
                <a:cs typeface="Atkinson Hyperlegible" pitchFamily="34" charset="-120"/>
              </a:rPr>
              <a:t>1/5</a:t>
            </a:r>
            <a:endParaRPr lang="en-US" sz="900" dirty="0"/>
          </a:p>
        </p:txBody>
      </p:sp>
      <p:sp>
        <p:nvSpPr>
          <p:cNvPr id="30" name="Text 28"/>
          <p:cNvSpPr/>
          <p:nvPr/>
        </p:nvSpPr>
        <p:spPr>
          <a:xfrm>
            <a:off x="320040" y="4206240"/>
            <a:ext cx="8503920" cy="347472"/>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¿Se calculan KPIs? ¿El programa mejora entre proyectos? ¿Se reporta el ROI a la dirección?</a:t>
            </a:r>
            <a:endParaRPr lang="en-US" sz="750" dirty="0"/>
          </a:p>
        </p:txBody>
      </p:sp>
      <p:sp>
        <p:nvSpPr>
          <p:cNvPr id="31" name="Shape 29"/>
          <p:cNvSpPr/>
          <p:nvPr/>
        </p:nvSpPr>
        <p:spPr>
          <a:xfrm>
            <a:off x="182880" y="4956048"/>
            <a:ext cx="8961120" cy="182880"/>
          </a:xfrm>
          <a:prstGeom prst="rect">
            <a:avLst/>
          </a:prstGeom>
          <a:solidFill>
            <a:srgbClr val="C0392B"/>
          </a:solidFill>
          <a:ln w="12700">
            <a:solidFill>
              <a:srgbClr val="C0392B"/>
            </a:solidFill>
            <a:prstDash val="solid"/>
          </a:ln>
        </p:spPr>
      </p:sp>
      <p:sp>
        <p:nvSpPr>
          <p:cNvPr id="32" name="Text 30"/>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56 / 126</a:t>
            </a:r>
            <a:endParaRPr lang="en-US" sz="7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C0392B"/>
          </a:solidFill>
          <a:ln w="12700">
            <a:solidFill>
              <a:srgbClr val="C0392B"/>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El Rol del Owner en la Constructabilidad</a:t>
            </a:r>
            <a:endParaRPr lang="en-US" sz="1800" dirty="0"/>
          </a:p>
        </p:txBody>
      </p:sp>
      <p:sp>
        <p:nvSpPr>
          <p:cNvPr id="4" name="Shape 2"/>
          <p:cNvSpPr/>
          <p:nvPr/>
        </p:nvSpPr>
        <p:spPr>
          <a:xfrm>
            <a:off x="320040" y="640080"/>
            <a:ext cx="8503920" cy="41148"/>
          </a:xfrm>
          <a:prstGeom prst="rect">
            <a:avLst/>
          </a:prstGeom>
          <a:solidFill>
            <a:srgbClr val="C0392B"/>
          </a:solidFill>
          <a:ln w="12700">
            <a:solidFill>
              <a:srgbClr val="C0392B"/>
            </a:solidFill>
            <a:prstDash val="solid"/>
          </a:ln>
        </p:spPr>
      </p:sp>
      <p:sp>
        <p:nvSpPr>
          <p:cNvPr id="5" name="Shape 3"/>
          <p:cNvSpPr/>
          <p:nvPr/>
        </p:nvSpPr>
        <p:spPr>
          <a:xfrm>
            <a:off x="274320" y="804672"/>
            <a:ext cx="4160520" cy="4114800"/>
          </a:xfrm>
          <a:prstGeom prst="roundRect">
            <a:avLst>
              <a:gd name="adj" fmla="val 2222"/>
            </a:avLst>
          </a:prstGeom>
          <a:solidFill>
            <a:srgbClr val="C0392B"/>
          </a:solidFill>
          <a:ln w="12700">
            <a:solidFill>
              <a:srgbClr val="C0392B"/>
            </a:solidFill>
            <a:prstDash val="solid"/>
          </a:ln>
        </p:spPr>
      </p:sp>
      <p:sp>
        <p:nvSpPr>
          <p:cNvPr id="6" name="Shape 4"/>
          <p:cNvSpPr/>
          <p:nvPr/>
        </p:nvSpPr>
        <p:spPr>
          <a:xfrm>
            <a:off x="274320" y="804672"/>
            <a:ext cx="45720" cy="4114800"/>
          </a:xfrm>
          <a:prstGeom prst="rect">
            <a:avLst/>
          </a:prstGeom>
          <a:solidFill>
            <a:srgbClr val="C0392B"/>
          </a:solidFill>
          <a:ln w="12700">
            <a:solidFill>
              <a:srgbClr val="C0392B"/>
            </a:solidFill>
            <a:prstDash val="solid"/>
          </a:ln>
        </p:spPr>
      </p:sp>
      <p:sp>
        <p:nvSpPr>
          <p:cNvPr id="7" name="Text 5"/>
          <p:cNvSpPr/>
          <p:nvPr/>
        </p:nvSpPr>
        <p:spPr>
          <a:xfrm>
            <a:off x="384048" y="822960"/>
            <a:ext cx="3977640" cy="347472"/>
          </a:xfrm>
          <a:prstGeom prst="rect">
            <a:avLst/>
          </a:prstGeom>
          <a:noFill/>
          <a:ln/>
        </p:spPr>
        <p:txBody>
          <a:bodyPr wrap="square" rtlCol="0" anchor="ctr"/>
          <a:lstStyle/>
          <a:p>
            <a:pPr indent="0" marL="0">
              <a:buNone/>
            </a:pPr>
            <a:r>
              <a:rPr lang="en-US" sz="900" b="1" dirty="0">
                <a:solidFill>
                  <a:srgbClr val="C0392B"/>
                </a:solidFill>
                <a:latin typeface="Atkinson Hyperlegible" pitchFamily="34" charset="0"/>
                <a:ea typeface="Atkinson Hyperlegible" pitchFamily="34" charset="-122"/>
                <a:cs typeface="Atkinson Hyperlegible" pitchFamily="34" charset="-120"/>
              </a:rPr>
              <a:t>El Owner debe...</a:t>
            </a:r>
            <a:endParaRPr lang="en-US" sz="900" dirty="0"/>
          </a:p>
        </p:txBody>
      </p:sp>
      <p:sp>
        <p:nvSpPr>
          <p:cNvPr id="8" name="Shape 6"/>
          <p:cNvSpPr/>
          <p:nvPr/>
        </p:nvSpPr>
        <p:spPr>
          <a:xfrm>
            <a:off x="384048" y="1316736"/>
            <a:ext cx="164592" cy="164592"/>
          </a:xfrm>
          <a:prstGeom prst="ellipse">
            <a:avLst/>
          </a:prstGeom>
          <a:solidFill>
            <a:srgbClr val="C0392B"/>
          </a:solidFill>
          <a:ln w="12700">
            <a:solidFill>
              <a:srgbClr val="C0392B"/>
            </a:solidFill>
            <a:prstDash val="solid"/>
          </a:ln>
        </p:spPr>
      </p:sp>
      <p:sp>
        <p:nvSpPr>
          <p:cNvPr id="9" name="Text 7"/>
          <p:cNvSpPr/>
          <p:nvPr/>
        </p:nvSpPr>
        <p:spPr>
          <a:xfrm>
            <a:off x="612648" y="1234440"/>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Requiere constructabilidad en contratos</a:t>
            </a:r>
            <a:endParaRPr lang="en-US" sz="850" dirty="0"/>
          </a:p>
        </p:txBody>
      </p:sp>
      <p:sp>
        <p:nvSpPr>
          <p:cNvPr id="10" name="Text 8"/>
          <p:cNvSpPr/>
          <p:nvPr/>
        </p:nvSpPr>
        <p:spPr>
          <a:xfrm>
            <a:off x="612648" y="1481328"/>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El Owner debe exigir en las bases de licitación que el contratista tenga un programa formal CII.</a:t>
            </a:r>
            <a:endParaRPr lang="en-US" sz="750" dirty="0"/>
          </a:p>
        </p:txBody>
      </p:sp>
      <p:sp>
        <p:nvSpPr>
          <p:cNvPr id="11" name="Shape 9"/>
          <p:cNvSpPr/>
          <p:nvPr/>
        </p:nvSpPr>
        <p:spPr>
          <a:xfrm>
            <a:off x="384048" y="1847088"/>
            <a:ext cx="164592" cy="164592"/>
          </a:xfrm>
          <a:prstGeom prst="ellipse">
            <a:avLst/>
          </a:prstGeom>
          <a:solidFill>
            <a:srgbClr val="C0392B"/>
          </a:solidFill>
          <a:ln w="12700">
            <a:solidFill>
              <a:srgbClr val="C0392B"/>
            </a:solidFill>
            <a:prstDash val="solid"/>
          </a:ln>
        </p:spPr>
      </p:sp>
      <p:sp>
        <p:nvSpPr>
          <p:cNvPr id="12" name="Text 10"/>
          <p:cNvSpPr/>
          <p:nvPr/>
        </p:nvSpPr>
        <p:spPr>
          <a:xfrm>
            <a:off x="612648" y="1764792"/>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Financia el programa</a:t>
            </a:r>
            <a:endParaRPr lang="en-US" sz="850" dirty="0"/>
          </a:p>
        </p:txBody>
      </p:sp>
      <p:sp>
        <p:nvSpPr>
          <p:cNvPr id="13" name="Text 11"/>
          <p:cNvSpPr/>
          <p:nvPr/>
        </p:nvSpPr>
        <p:spPr>
          <a:xfrm>
            <a:off x="612648" y="2011680"/>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El costo del programa (0.1-0.3% del capex) es responsabilidad del Owner o se incluye en el fee del EPCM.</a:t>
            </a:r>
            <a:endParaRPr lang="en-US" sz="750" dirty="0"/>
          </a:p>
        </p:txBody>
      </p:sp>
      <p:sp>
        <p:nvSpPr>
          <p:cNvPr id="14" name="Shape 12"/>
          <p:cNvSpPr/>
          <p:nvPr/>
        </p:nvSpPr>
        <p:spPr>
          <a:xfrm>
            <a:off x="384048" y="2377440"/>
            <a:ext cx="164592" cy="164592"/>
          </a:xfrm>
          <a:prstGeom prst="ellipse">
            <a:avLst/>
          </a:prstGeom>
          <a:solidFill>
            <a:srgbClr val="C0392B"/>
          </a:solidFill>
          <a:ln w="12700">
            <a:solidFill>
              <a:srgbClr val="C0392B"/>
            </a:solidFill>
            <a:prstDash val="solid"/>
          </a:ln>
        </p:spPr>
      </p:sp>
      <p:sp>
        <p:nvSpPr>
          <p:cNvPr id="15" name="Text 13"/>
          <p:cNvSpPr/>
          <p:nvPr/>
        </p:nvSpPr>
        <p:spPr>
          <a:xfrm>
            <a:off x="612648" y="2295144"/>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Participa en talleres</a:t>
            </a:r>
            <a:endParaRPr lang="en-US" sz="850" dirty="0"/>
          </a:p>
        </p:txBody>
      </p:sp>
      <p:sp>
        <p:nvSpPr>
          <p:cNvPr id="16" name="Text 14"/>
          <p:cNvSpPr/>
          <p:nvPr/>
        </p:nvSpPr>
        <p:spPr>
          <a:xfrm>
            <a:off x="612648" y="2542032"/>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El Owner y el operador participan en los talleres de constructabilidad. No solo el equipo de diseño.</a:t>
            </a:r>
            <a:endParaRPr lang="en-US" sz="750" dirty="0"/>
          </a:p>
        </p:txBody>
      </p:sp>
      <p:sp>
        <p:nvSpPr>
          <p:cNvPr id="17" name="Shape 15"/>
          <p:cNvSpPr/>
          <p:nvPr/>
        </p:nvSpPr>
        <p:spPr>
          <a:xfrm>
            <a:off x="384048" y="2907792"/>
            <a:ext cx="164592" cy="164592"/>
          </a:xfrm>
          <a:prstGeom prst="ellipse">
            <a:avLst/>
          </a:prstGeom>
          <a:solidFill>
            <a:srgbClr val="C0392B"/>
          </a:solidFill>
          <a:ln w="12700">
            <a:solidFill>
              <a:srgbClr val="C0392B"/>
            </a:solidFill>
            <a:prstDash val="solid"/>
          </a:ln>
        </p:spPr>
      </p:sp>
      <p:sp>
        <p:nvSpPr>
          <p:cNvPr id="18" name="Text 16"/>
          <p:cNvSpPr/>
          <p:nvPr/>
        </p:nvSpPr>
        <p:spPr>
          <a:xfrm>
            <a:off x="612648" y="2825496"/>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Aprueba cambios constructivos</a:t>
            </a:r>
            <a:endParaRPr lang="en-US" sz="850" dirty="0"/>
          </a:p>
        </p:txBody>
      </p:sp>
      <p:sp>
        <p:nvSpPr>
          <p:cNvPr id="19" name="Text 17"/>
          <p:cNvSpPr/>
          <p:nvPr/>
        </p:nvSpPr>
        <p:spPr>
          <a:xfrm>
            <a:off x="612648" y="3072384"/>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El Owner tiene autoridad para aprobar cambios de diseño recomendados por el Champion.</a:t>
            </a:r>
            <a:endParaRPr lang="en-US" sz="750" dirty="0"/>
          </a:p>
        </p:txBody>
      </p:sp>
      <p:sp>
        <p:nvSpPr>
          <p:cNvPr id="20" name="Text 18"/>
          <p:cNvSpPr/>
          <p:nvPr/>
        </p:nvSpPr>
        <p:spPr>
          <a:xfrm>
            <a:off x="4617720" y="822960"/>
            <a:ext cx="4251960" cy="347472"/>
          </a:xfrm>
          <a:prstGeom prst="rect">
            <a:avLst/>
          </a:prstGeom>
          <a:noFill/>
          <a:ln/>
        </p:spPr>
        <p:txBody>
          <a:bodyPr wrap="square" rtlCol="0" anchor="ctr"/>
          <a:lstStyle/>
          <a:p>
            <a:pPr indent="0" marL="0">
              <a:buNone/>
            </a:pPr>
            <a:r>
              <a:rPr lang="en-US" sz="900" b="1" dirty="0">
                <a:solidFill>
                  <a:srgbClr val="C0392B"/>
                </a:solidFill>
                <a:latin typeface="Atkinson Hyperlegible" pitchFamily="34" charset="0"/>
                <a:ea typeface="Atkinson Hyperlegible" pitchFamily="34" charset="-122"/>
                <a:cs typeface="Atkinson Hyperlegible" pitchFamily="34" charset="-120"/>
              </a:rPr>
              <a:t>¿Por qué es crítico?</a:t>
            </a:r>
            <a:endParaRPr lang="en-US" sz="900" dirty="0"/>
          </a:p>
        </p:txBody>
      </p:sp>
      <p:sp>
        <p:nvSpPr>
          <p:cNvPr id="21" name="Shape 19"/>
          <p:cNvSpPr/>
          <p:nvPr/>
        </p:nvSpPr>
        <p:spPr>
          <a:xfrm>
            <a:off x="4617720" y="1316736"/>
            <a:ext cx="164592" cy="164592"/>
          </a:xfrm>
          <a:prstGeom prst="ellipse">
            <a:avLst/>
          </a:prstGeom>
          <a:solidFill>
            <a:srgbClr val="1D1D1F"/>
          </a:solidFill>
          <a:ln w="12700">
            <a:solidFill>
              <a:srgbClr val="1D1D1F"/>
            </a:solidFill>
            <a:prstDash val="solid"/>
          </a:ln>
        </p:spPr>
      </p:sp>
      <p:sp>
        <p:nvSpPr>
          <p:cNvPr id="22" name="Text 20"/>
          <p:cNvSpPr/>
          <p:nvPr/>
        </p:nvSpPr>
        <p:spPr>
          <a:xfrm>
            <a:off x="4846320" y="1234440"/>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Protege el programa bajo presión</a:t>
            </a:r>
            <a:endParaRPr lang="en-US" sz="850" dirty="0"/>
          </a:p>
        </p:txBody>
      </p:sp>
      <p:sp>
        <p:nvSpPr>
          <p:cNvPr id="23" name="Text 21"/>
          <p:cNvSpPr/>
          <p:nvPr/>
        </p:nvSpPr>
        <p:spPr>
          <a:xfrm>
            <a:off x="4846320" y="1481328"/>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Cuando el cronograma se aprieta, el Owner protege los talleres de constructabilidad. No los sacrifica.</a:t>
            </a:r>
            <a:endParaRPr lang="en-US" sz="750" dirty="0"/>
          </a:p>
        </p:txBody>
      </p:sp>
      <p:sp>
        <p:nvSpPr>
          <p:cNvPr id="24" name="Shape 22"/>
          <p:cNvSpPr/>
          <p:nvPr/>
        </p:nvSpPr>
        <p:spPr>
          <a:xfrm>
            <a:off x="4617720" y="1847088"/>
            <a:ext cx="164592" cy="164592"/>
          </a:xfrm>
          <a:prstGeom prst="ellipse">
            <a:avLst/>
          </a:prstGeom>
          <a:solidFill>
            <a:srgbClr val="1D1D1F"/>
          </a:solidFill>
          <a:ln w="12700">
            <a:solidFill>
              <a:srgbClr val="1D1D1F"/>
            </a:solidFill>
            <a:prstDash val="solid"/>
          </a:ln>
        </p:spPr>
      </p:sp>
      <p:sp>
        <p:nvSpPr>
          <p:cNvPr id="25" name="Text 23"/>
          <p:cNvSpPr/>
          <p:nvPr/>
        </p:nvSpPr>
        <p:spPr>
          <a:xfrm>
            <a:off x="4846320" y="1764792"/>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Exige métricas</a:t>
            </a:r>
            <a:endParaRPr lang="en-US" sz="850" dirty="0"/>
          </a:p>
        </p:txBody>
      </p:sp>
      <p:sp>
        <p:nvSpPr>
          <p:cNvPr id="26" name="Text 24"/>
          <p:cNvSpPr/>
          <p:nvPr/>
        </p:nvSpPr>
        <p:spPr>
          <a:xfrm>
            <a:off x="4846320" y="2011680"/>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El Owner solicita al equipo del proyecto el reporte mensual de KPIs de constructabilidad.</a:t>
            </a:r>
            <a:endParaRPr lang="en-US" sz="750" dirty="0"/>
          </a:p>
        </p:txBody>
      </p:sp>
      <p:sp>
        <p:nvSpPr>
          <p:cNvPr id="27" name="Shape 25"/>
          <p:cNvSpPr/>
          <p:nvPr/>
        </p:nvSpPr>
        <p:spPr>
          <a:xfrm>
            <a:off x="4617720" y="2377440"/>
            <a:ext cx="164592" cy="164592"/>
          </a:xfrm>
          <a:prstGeom prst="ellipse">
            <a:avLst/>
          </a:prstGeom>
          <a:solidFill>
            <a:srgbClr val="1D1D1F"/>
          </a:solidFill>
          <a:ln w="12700">
            <a:solidFill>
              <a:srgbClr val="1D1D1F"/>
            </a:solidFill>
            <a:prstDash val="solid"/>
          </a:ln>
        </p:spPr>
      </p:sp>
      <p:sp>
        <p:nvSpPr>
          <p:cNvPr id="28" name="Text 26"/>
          <p:cNvSpPr/>
          <p:nvPr/>
        </p:nvSpPr>
        <p:spPr>
          <a:xfrm>
            <a:off x="4846320" y="2295144"/>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Transfiere conocimiento al operador</a:t>
            </a:r>
            <a:endParaRPr lang="en-US" sz="850" dirty="0"/>
          </a:p>
        </p:txBody>
      </p:sp>
      <p:sp>
        <p:nvSpPr>
          <p:cNvPr id="29" name="Text 27"/>
          <p:cNvSpPr/>
          <p:nvPr/>
        </p:nvSpPr>
        <p:spPr>
          <a:xfrm>
            <a:off x="4846320" y="2542032"/>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El Owner asegura que las lecciones aprendidas de construcción se transfieran al equipo de operaciones.</a:t>
            </a:r>
            <a:endParaRPr lang="en-US" sz="750" dirty="0"/>
          </a:p>
        </p:txBody>
      </p:sp>
      <p:sp>
        <p:nvSpPr>
          <p:cNvPr id="30" name="Shape 28"/>
          <p:cNvSpPr/>
          <p:nvPr/>
        </p:nvSpPr>
        <p:spPr>
          <a:xfrm>
            <a:off x="4617720" y="2907792"/>
            <a:ext cx="164592" cy="164592"/>
          </a:xfrm>
          <a:prstGeom prst="ellipse">
            <a:avLst/>
          </a:prstGeom>
          <a:solidFill>
            <a:srgbClr val="1D1D1F"/>
          </a:solidFill>
          <a:ln w="12700">
            <a:solidFill>
              <a:srgbClr val="1D1D1F"/>
            </a:solidFill>
            <a:prstDash val="solid"/>
          </a:ln>
        </p:spPr>
      </p:sp>
      <p:sp>
        <p:nvSpPr>
          <p:cNvPr id="31" name="Text 29"/>
          <p:cNvSpPr/>
          <p:nvPr/>
        </p:nvSpPr>
        <p:spPr>
          <a:xfrm>
            <a:off x="4846320" y="2825496"/>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Estrategia corporativa</a:t>
            </a:r>
            <a:endParaRPr lang="en-US" sz="850" dirty="0"/>
          </a:p>
        </p:txBody>
      </p:sp>
      <p:sp>
        <p:nvSpPr>
          <p:cNvPr id="32" name="Text 30"/>
          <p:cNvSpPr/>
          <p:nvPr/>
        </p:nvSpPr>
        <p:spPr>
          <a:xfrm>
            <a:off x="4846320" y="3072384"/>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Los Owners maduros tienen política corporativa de constructabilidad que aplica a todos los proyectos de capital.</a:t>
            </a:r>
            <a:endParaRPr lang="en-US" sz="750" dirty="0"/>
          </a:p>
        </p:txBody>
      </p:sp>
      <p:sp>
        <p:nvSpPr>
          <p:cNvPr id="33" name="Shape 31"/>
          <p:cNvSpPr/>
          <p:nvPr/>
        </p:nvSpPr>
        <p:spPr>
          <a:xfrm>
            <a:off x="182880" y="4956048"/>
            <a:ext cx="8961120" cy="182880"/>
          </a:xfrm>
          <a:prstGeom prst="rect">
            <a:avLst/>
          </a:prstGeom>
          <a:solidFill>
            <a:srgbClr val="C0392B"/>
          </a:solidFill>
          <a:ln w="12700">
            <a:solidFill>
              <a:srgbClr val="C0392B"/>
            </a:solidFill>
            <a:prstDash val="solid"/>
          </a:ln>
        </p:spPr>
      </p:sp>
      <p:sp>
        <p:nvSpPr>
          <p:cNvPr id="34" name="Text 32"/>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57 / 126</a:t>
            </a:r>
            <a:endParaRPr lang="en-US" sz="7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C0392B"/>
          </a:solidFill>
          <a:ln w="12700">
            <a:solidFill>
              <a:srgbClr val="C0392B"/>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La Trampa de las Revisiones de Diseño</a:t>
            </a:r>
            <a:endParaRPr lang="en-US" sz="1800" dirty="0"/>
          </a:p>
        </p:txBody>
      </p:sp>
      <p:sp>
        <p:nvSpPr>
          <p:cNvPr id="4" name="Shape 2"/>
          <p:cNvSpPr/>
          <p:nvPr/>
        </p:nvSpPr>
        <p:spPr>
          <a:xfrm>
            <a:off x="320040" y="640080"/>
            <a:ext cx="8503920" cy="41148"/>
          </a:xfrm>
          <a:prstGeom prst="rect">
            <a:avLst/>
          </a:prstGeom>
          <a:solidFill>
            <a:srgbClr val="C0392B"/>
          </a:solidFill>
          <a:ln w="12700">
            <a:solidFill>
              <a:srgbClr val="C0392B"/>
            </a:solidFill>
            <a:prstDash val="solid"/>
          </a:ln>
        </p:spPr>
      </p:sp>
      <p:sp>
        <p:nvSpPr>
          <p:cNvPr id="5" name="Shape 3"/>
          <p:cNvSpPr/>
          <p:nvPr/>
        </p:nvSpPr>
        <p:spPr>
          <a:xfrm>
            <a:off x="320040" y="822960"/>
            <a:ext cx="3931920" cy="4005072"/>
          </a:xfrm>
          <a:prstGeom prst="roundRect">
            <a:avLst>
              <a:gd name="adj" fmla="val 2326"/>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17320" y="914400"/>
            <a:ext cx="640080" cy="640080"/>
          </a:xfrm>
          <a:prstGeom prst="rect">
            <a:avLst/>
          </a:prstGeom>
        </p:spPr>
      </p:pic>
      <p:sp>
        <p:nvSpPr>
          <p:cNvPr id="7" name="Text 4"/>
          <p:cNvSpPr/>
          <p:nvPr/>
        </p:nvSpPr>
        <p:spPr>
          <a:xfrm>
            <a:off x="457200" y="1600200"/>
            <a:ext cx="3657600" cy="411480"/>
          </a:xfrm>
          <a:prstGeom prst="rect">
            <a:avLst/>
          </a:prstGeom>
          <a:noFill/>
          <a:ln/>
        </p:spPr>
        <p:txBody>
          <a:bodyPr wrap="square" rtlCol="0" anchor="ctr"/>
          <a:lstStyle/>
          <a:p>
            <a:pPr algn="ct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La Trampa Común</a:t>
            </a:r>
            <a:endParaRPr lang="en-US" sz="1100" dirty="0"/>
          </a:p>
        </p:txBody>
      </p:sp>
      <p:sp>
        <p:nvSpPr>
          <p:cNvPr id="8" name="Shape 5"/>
          <p:cNvSpPr/>
          <p:nvPr/>
        </p:nvSpPr>
        <p:spPr>
          <a:xfrm>
            <a:off x="502920" y="2176272"/>
            <a:ext cx="164592" cy="164592"/>
          </a:xfrm>
          <a:prstGeom prst="ellipse">
            <a:avLst/>
          </a:prstGeom>
          <a:solidFill>
            <a:srgbClr val="FFFFFF"/>
          </a:solidFill>
          <a:ln w="12700">
            <a:solidFill>
              <a:srgbClr val="FFFFFF"/>
            </a:solidFill>
            <a:prstDash val="solid"/>
          </a:ln>
        </p:spPr>
      </p:sp>
      <p:sp>
        <p:nvSpPr>
          <p:cNvPr id="9" name="Text 6"/>
          <p:cNvSpPr/>
          <p:nvPr/>
        </p:nvSpPr>
        <p:spPr>
          <a:xfrm>
            <a:off x="731520" y="2103120"/>
            <a:ext cx="3337560" cy="329184"/>
          </a:xfrm>
          <a:prstGeom prst="rect">
            <a:avLst/>
          </a:prstGeom>
          <a:noFill/>
          <a:ln/>
        </p:spPr>
        <p:txBody>
          <a:bodyPr wrap="square" rtlCol="0" anchor="ctr"/>
          <a:lstStyle/>
          <a:p>
            <a:pPr indent="0" marL="0">
              <a:buNone/>
            </a:pPr>
            <a:r>
              <a:rPr lang="en-US" sz="800" dirty="0">
                <a:solidFill>
                  <a:srgbClr val="FFFFFF"/>
                </a:solidFill>
                <a:latin typeface="Atkinson Hyperlegible" pitchFamily="34" charset="0"/>
                <a:ea typeface="Atkinson Hyperlegible" pitchFamily="34" charset="-122"/>
                <a:cs typeface="Atkinson Hyperlegible" pitchFamily="34" charset="-120"/>
              </a:rPr>
              <a:t>Revisiones de diseño sin constructores presentes</a:t>
            </a:r>
            <a:endParaRPr lang="en-US" sz="800" dirty="0"/>
          </a:p>
        </p:txBody>
      </p:sp>
      <p:sp>
        <p:nvSpPr>
          <p:cNvPr id="10" name="Shape 7"/>
          <p:cNvSpPr/>
          <p:nvPr/>
        </p:nvSpPr>
        <p:spPr>
          <a:xfrm>
            <a:off x="502920" y="2523744"/>
            <a:ext cx="164592" cy="164592"/>
          </a:xfrm>
          <a:prstGeom prst="ellipse">
            <a:avLst/>
          </a:prstGeom>
          <a:solidFill>
            <a:srgbClr val="FFFFFF"/>
          </a:solidFill>
          <a:ln w="12700">
            <a:solidFill>
              <a:srgbClr val="FFFFFF"/>
            </a:solidFill>
            <a:prstDash val="solid"/>
          </a:ln>
        </p:spPr>
      </p:sp>
      <p:sp>
        <p:nvSpPr>
          <p:cNvPr id="11" name="Text 8"/>
          <p:cNvSpPr/>
          <p:nvPr/>
        </p:nvSpPr>
        <p:spPr>
          <a:xfrm>
            <a:off x="731520" y="2450592"/>
            <a:ext cx="3337560" cy="329184"/>
          </a:xfrm>
          <a:prstGeom prst="rect">
            <a:avLst/>
          </a:prstGeom>
          <a:noFill/>
          <a:ln/>
        </p:spPr>
        <p:txBody>
          <a:bodyPr wrap="square" rtlCol="0" anchor="ctr"/>
          <a:lstStyle/>
          <a:p>
            <a:pPr indent="0" marL="0">
              <a:buNone/>
            </a:pPr>
            <a:r>
              <a:rPr lang="en-US" sz="800" dirty="0">
                <a:solidFill>
                  <a:srgbClr val="FFFFFF"/>
                </a:solidFill>
                <a:latin typeface="Atkinson Hyperlegible" pitchFamily="34" charset="0"/>
                <a:ea typeface="Atkinson Hyperlegible" pitchFamily="34" charset="-122"/>
                <a:cs typeface="Atkinson Hyperlegible" pitchFamily="34" charset="-120"/>
              </a:rPr>
              <a:t>Observaciones que llegan cuando el diseño ya está congelado</a:t>
            </a:r>
            <a:endParaRPr lang="en-US" sz="800" dirty="0"/>
          </a:p>
        </p:txBody>
      </p:sp>
      <p:sp>
        <p:nvSpPr>
          <p:cNvPr id="12" name="Shape 9"/>
          <p:cNvSpPr/>
          <p:nvPr/>
        </p:nvSpPr>
        <p:spPr>
          <a:xfrm>
            <a:off x="502920" y="2871216"/>
            <a:ext cx="164592" cy="164592"/>
          </a:xfrm>
          <a:prstGeom prst="ellipse">
            <a:avLst/>
          </a:prstGeom>
          <a:solidFill>
            <a:srgbClr val="FFFFFF"/>
          </a:solidFill>
          <a:ln w="12700">
            <a:solidFill>
              <a:srgbClr val="FFFFFF"/>
            </a:solidFill>
            <a:prstDash val="solid"/>
          </a:ln>
        </p:spPr>
      </p:sp>
      <p:sp>
        <p:nvSpPr>
          <p:cNvPr id="13" name="Text 10"/>
          <p:cNvSpPr/>
          <p:nvPr/>
        </p:nvSpPr>
        <p:spPr>
          <a:xfrm>
            <a:off x="731520" y="2798064"/>
            <a:ext cx="3337560" cy="329184"/>
          </a:xfrm>
          <a:prstGeom prst="rect">
            <a:avLst/>
          </a:prstGeom>
          <a:noFill/>
          <a:ln/>
        </p:spPr>
        <p:txBody>
          <a:bodyPr wrap="square" rtlCol="0" anchor="ctr"/>
          <a:lstStyle/>
          <a:p>
            <a:pPr indent="0" marL="0">
              <a:buNone/>
            </a:pPr>
            <a:r>
              <a:rPr lang="en-US" sz="800" dirty="0">
                <a:solidFill>
                  <a:srgbClr val="FFFFFF"/>
                </a:solidFill>
                <a:latin typeface="Atkinson Hyperlegible" pitchFamily="34" charset="0"/>
                <a:ea typeface="Atkinson Hyperlegible" pitchFamily="34" charset="-122"/>
                <a:cs typeface="Atkinson Hyperlegible" pitchFamily="34" charset="-120"/>
              </a:rPr>
              <a:t>Revisores que solo aprueban para no retrasar el proyecto</a:t>
            </a:r>
            <a:endParaRPr lang="en-US" sz="800" dirty="0"/>
          </a:p>
        </p:txBody>
      </p:sp>
      <p:sp>
        <p:nvSpPr>
          <p:cNvPr id="14" name="Shape 11"/>
          <p:cNvSpPr/>
          <p:nvPr/>
        </p:nvSpPr>
        <p:spPr>
          <a:xfrm>
            <a:off x="502920" y="3218688"/>
            <a:ext cx="164592" cy="164592"/>
          </a:xfrm>
          <a:prstGeom prst="ellipse">
            <a:avLst/>
          </a:prstGeom>
          <a:solidFill>
            <a:srgbClr val="FFFFFF"/>
          </a:solidFill>
          <a:ln w="12700">
            <a:solidFill>
              <a:srgbClr val="FFFFFF"/>
            </a:solidFill>
            <a:prstDash val="solid"/>
          </a:ln>
        </p:spPr>
      </p:sp>
      <p:sp>
        <p:nvSpPr>
          <p:cNvPr id="15" name="Text 12"/>
          <p:cNvSpPr/>
          <p:nvPr/>
        </p:nvSpPr>
        <p:spPr>
          <a:xfrm>
            <a:off x="731520" y="3145536"/>
            <a:ext cx="3337560" cy="329184"/>
          </a:xfrm>
          <a:prstGeom prst="rect">
            <a:avLst/>
          </a:prstGeom>
          <a:noFill/>
          <a:ln/>
        </p:spPr>
        <p:txBody>
          <a:bodyPr wrap="square" rtlCol="0" anchor="ctr"/>
          <a:lstStyle/>
          <a:p>
            <a:pPr indent="0" marL="0">
              <a:buNone/>
            </a:pPr>
            <a:r>
              <a:rPr lang="en-US" sz="800" dirty="0">
                <a:solidFill>
                  <a:srgbClr val="FFFFFF"/>
                </a:solidFill>
                <a:latin typeface="Atkinson Hyperlegible" pitchFamily="34" charset="0"/>
                <a:ea typeface="Atkinson Hyperlegible" pitchFamily="34" charset="-122"/>
                <a:cs typeface="Atkinson Hyperlegible" pitchFamily="34" charset="-120"/>
              </a:rPr>
              <a:t>Observaciones sin seguimiento ni cierre formal</a:t>
            </a:r>
            <a:endParaRPr lang="en-US" sz="800" dirty="0"/>
          </a:p>
        </p:txBody>
      </p:sp>
      <p:sp>
        <p:nvSpPr>
          <p:cNvPr id="16" name="Shape 13"/>
          <p:cNvSpPr/>
          <p:nvPr/>
        </p:nvSpPr>
        <p:spPr>
          <a:xfrm>
            <a:off x="502920" y="3566160"/>
            <a:ext cx="164592" cy="164592"/>
          </a:xfrm>
          <a:prstGeom prst="ellipse">
            <a:avLst/>
          </a:prstGeom>
          <a:solidFill>
            <a:srgbClr val="FFFFFF"/>
          </a:solidFill>
          <a:ln w="12700">
            <a:solidFill>
              <a:srgbClr val="FFFFFF"/>
            </a:solidFill>
            <a:prstDash val="solid"/>
          </a:ln>
        </p:spPr>
      </p:sp>
      <p:sp>
        <p:nvSpPr>
          <p:cNvPr id="17" name="Text 14"/>
          <p:cNvSpPr/>
          <p:nvPr/>
        </p:nvSpPr>
        <p:spPr>
          <a:xfrm>
            <a:off x="731520" y="3493008"/>
            <a:ext cx="3337560" cy="329184"/>
          </a:xfrm>
          <a:prstGeom prst="rect">
            <a:avLst/>
          </a:prstGeom>
          <a:noFill/>
          <a:ln/>
        </p:spPr>
        <p:txBody>
          <a:bodyPr wrap="square" rtlCol="0" anchor="ctr"/>
          <a:lstStyle/>
          <a:p>
            <a:pPr indent="0" marL="0">
              <a:buNone/>
            </a:pPr>
            <a:r>
              <a:rPr lang="en-US" sz="800" dirty="0">
                <a:solidFill>
                  <a:srgbClr val="FFFFFF"/>
                </a:solidFill>
                <a:latin typeface="Atkinson Hyperlegible" pitchFamily="34" charset="0"/>
                <a:ea typeface="Atkinson Hyperlegible" pitchFamily="34" charset="-122"/>
                <a:cs typeface="Atkinson Hyperlegible" pitchFamily="34" charset="-120"/>
              </a:rPr>
              <a:t>Cambios "aceptados" verbalmente pero no documentados</a:t>
            </a:r>
            <a:endParaRPr lang="en-US" sz="800" dirty="0"/>
          </a:p>
        </p:txBody>
      </p:sp>
      <p:sp>
        <p:nvSpPr>
          <p:cNvPr id="18" name="Shape 15"/>
          <p:cNvSpPr/>
          <p:nvPr/>
        </p:nvSpPr>
        <p:spPr>
          <a:xfrm>
            <a:off x="502920" y="3913632"/>
            <a:ext cx="164592" cy="164592"/>
          </a:xfrm>
          <a:prstGeom prst="ellipse">
            <a:avLst/>
          </a:prstGeom>
          <a:solidFill>
            <a:srgbClr val="FFFFFF"/>
          </a:solidFill>
          <a:ln w="12700">
            <a:solidFill>
              <a:srgbClr val="FFFFFF"/>
            </a:solidFill>
            <a:prstDash val="solid"/>
          </a:ln>
        </p:spPr>
      </p:sp>
      <p:sp>
        <p:nvSpPr>
          <p:cNvPr id="19" name="Text 16"/>
          <p:cNvSpPr/>
          <p:nvPr/>
        </p:nvSpPr>
        <p:spPr>
          <a:xfrm>
            <a:off x="731520" y="3840480"/>
            <a:ext cx="3337560" cy="329184"/>
          </a:xfrm>
          <a:prstGeom prst="rect">
            <a:avLst/>
          </a:prstGeom>
          <a:noFill/>
          <a:ln/>
        </p:spPr>
        <p:txBody>
          <a:bodyPr wrap="square" rtlCol="0" anchor="ctr"/>
          <a:lstStyle/>
          <a:p>
            <a:pPr indent="0" marL="0">
              <a:buNone/>
            </a:pPr>
            <a:r>
              <a:rPr lang="en-US" sz="800" dirty="0">
                <a:solidFill>
                  <a:srgbClr val="FFFFFF"/>
                </a:solidFill>
                <a:latin typeface="Atkinson Hyperlegible" pitchFamily="34" charset="0"/>
                <a:ea typeface="Atkinson Hyperlegible" pitchFamily="34" charset="-122"/>
                <a:cs typeface="Atkinson Hyperlegible" pitchFamily="34" charset="-120"/>
              </a:rPr>
              <a:t>El LLDB existe pero nadie lo consulta</a:t>
            </a:r>
            <a:endParaRPr lang="en-US" sz="8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35040" y="914400"/>
            <a:ext cx="640080" cy="640080"/>
          </a:xfrm>
          <a:prstGeom prst="rect">
            <a:avLst/>
          </a:prstGeom>
        </p:spPr>
      </p:pic>
      <p:sp>
        <p:nvSpPr>
          <p:cNvPr id="21" name="Text 17"/>
          <p:cNvSpPr/>
          <p:nvPr/>
        </p:nvSpPr>
        <p:spPr>
          <a:xfrm>
            <a:off x="4389120" y="1600200"/>
            <a:ext cx="4297680" cy="411480"/>
          </a:xfrm>
          <a:prstGeom prst="rect">
            <a:avLst/>
          </a:prstGeom>
          <a:noFill/>
          <a:ln/>
        </p:spPr>
        <p:txBody>
          <a:bodyPr wrap="square" rtlCol="0" anchor="ctr"/>
          <a:lstStyle/>
          <a:p>
            <a:pPr algn="ctr" indent="0" marL="0">
              <a:buNone/>
            </a:pPr>
            <a:r>
              <a:rPr lang="en-US" sz="1100" b="1" dirty="0">
                <a:solidFill>
                  <a:srgbClr val="C0392B"/>
                </a:solidFill>
                <a:latin typeface="Atkinson Hyperlegible" pitchFamily="34" charset="0"/>
                <a:ea typeface="Atkinson Hyperlegible" pitchFamily="34" charset="-122"/>
                <a:cs typeface="Atkinson Hyperlegible" pitchFamily="34" charset="-120"/>
              </a:rPr>
              <a:t>La Solución CII</a:t>
            </a:r>
            <a:endParaRPr lang="en-US" sz="1100" dirty="0"/>
          </a:p>
        </p:txBody>
      </p:sp>
      <p:sp>
        <p:nvSpPr>
          <p:cNvPr id="22" name="Shape 18"/>
          <p:cNvSpPr/>
          <p:nvPr/>
        </p:nvSpPr>
        <p:spPr>
          <a:xfrm>
            <a:off x="4407408" y="2176272"/>
            <a:ext cx="164592" cy="164592"/>
          </a:xfrm>
          <a:prstGeom prst="ellipse">
            <a:avLst/>
          </a:prstGeom>
          <a:solidFill>
            <a:srgbClr val="C0392B"/>
          </a:solidFill>
          <a:ln w="12700">
            <a:solidFill>
              <a:srgbClr val="C0392B"/>
            </a:solidFill>
            <a:prstDash val="solid"/>
          </a:ln>
        </p:spPr>
      </p:sp>
      <p:sp>
        <p:nvSpPr>
          <p:cNvPr id="23" name="Text 19"/>
          <p:cNvSpPr/>
          <p:nvPr/>
        </p:nvSpPr>
        <p:spPr>
          <a:xfrm>
            <a:off x="4626864" y="2103120"/>
            <a:ext cx="4114800" cy="20116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Constructores en el equipo de revisión</a:t>
            </a:r>
            <a:endParaRPr lang="en-US" sz="850" dirty="0"/>
          </a:p>
        </p:txBody>
      </p:sp>
      <p:sp>
        <p:nvSpPr>
          <p:cNvPr id="24" name="Text 20"/>
          <p:cNvSpPr/>
          <p:nvPr/>
        </p:nvSpPr>
        <p:spPr>
          <a:xfrm>
            <a:off x="4626864" y="2304288"/>
            <a:ext cx="4114800" cy="201168"/>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Validación real de campo, no solo teórica.</a:t>
            </a:r>
            <a:endParaRPr lang="en-US" sz="750" dirty="0"/>
          </a:p>
        </p:txBody>
      </p:sp>
      <p:sp>
        <p:nvSpPr>
          <p:cNvPr id="25" name="Shape 21"/>
          <p:cNvSpPr/>
          <p:nvPr/>
        </p:nvSpPr>
        <p:spPr>
          <a:xfrm>
            <a:off x="4407408" y="2596896"/>
            <a:ext cx="164592" cy="164592"/>
          </a:xfrm>
          <a:prstGeom prst="ellipse">
            <a:avLst/>
          </a:prstGeom>
          <a:solidFill>
            <a:srgbClr val="C0392B"/>
          </a:solidFill>
          <a:ln w="12700">
            <a:solidFill>
              <a:srgbClr val="C0392B"/>
            </a:solidFill>
            <a:prstDash val="solid"/>
          </a:ln>
        </p:spPr>
      </p:sp>
      <p:sp>
        <p:nvSpPr>
          <p:cNvPr id="26" name="Text 22"/>
          <p:cNvSpPr/>
          <p:nvPr/>
        </p:nvSpPr>
        <p:spPr>
          <a:xfrm>
            <a:off x="4626864" y="2523744"/>
            <a:ext cx="4114800" cy="20116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Revisiones en cada fase del proyecto</a:t>
            </a:r>
            <a:endParaRPr lang="en-US" sz="850" dirty="0"/>
          </a:p>
        </p:txBody>
      </p:sp>
      <p:sp>
        <p:nvSpPr>
          <p:cNvPr id="27" name="Text 23"/>
          <p:cNvSpPr/>
          <p:nvPr/>
        </p:nvSpPr>
        <p:spPr>
          <a:xfrm>
            <a:off x="4626864" y="2724912"/>
            <a:ext cx="4114800" cy="201168"/>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No esperar al IFC: revisar en Conceptual y Básico.</a:t>
            </a:r>
            <a:endParaRPr lang="en-US" sz="750" dirty="0"/>
          </a:p>
        </p:txBody>
      </p:sp>
      <p:sp>
        <p:nvSpPr>
          <p:cNvPr id="28" name="Shape 24"/>
          <p:cNvSpPr/>
          <p:nvPr/>
        </p:nvSpPr>
        <p:spPr>
          <a:xfrm>
            <a:off x="4407408" y="3017520"/>
            <a:ext cx="164592" cy="164592"/>
          </a:xfrm>
          <a:prstGeom prst="ellipse">
            <a:avLst/>
          </a:prstGeom>
          <a:solidFill>
            <a:srgbClr val="C0392B"/>
          </a:solidFill>
          <a:ln w="12700">
            <a:solidFill>
              <a:srgbClr val="C0392B"/>
            </a:solidFill>
            <a:prstDash val="solid"/>
          </a:ln>
        </p:spPr>
      </p:sp>
      <p:sp>
        <p:nvSpPr>
          <p:cNvPr id="29" name="Text 25"/>
          <p:cNvSpPr/>
          <p:nvPr/>
        </p:nvSpPr>
        <p:spPr>
          <a:xfrm>
            <a:off x="4626864" y="2944368"/>
            <a:ext cx="4114800" cy="20116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Autoridad formal del Champion</a:t>
            </a:r>
            <a:endParaRPr lang="en-US" sz="850" dirty="0"/>
          </a:p>
        </p:txBody>
      </p:sp>
      <p:sp>
        <p:nvSpPr>
          <p:cNvPr id="30" name="Text 26"/>
          <p:cNvSpPr/>
          <p:nvPr/>
        </p:nvSpPr>
        <p:spPr>
          <a:xfrm>
            <a:off x="4626864" y="3145536"/>
            <a:ext cx="4114800" cy="201168"/>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Puede pausar un diseño si el impacto es crítico.</a:t>
            </a:r>
            <a:endParaRPr lang="en-US" sz="750" dirty="0"/>
          </a:p>
        </p:txBody>
      </p:sp>
      <p:sp>
        <p:nvSpPr>
          <p:cNvPr id="31" name="Shape 27"/>
          <p:cNvSpPr/>
          <p:nvPr/>
        </p:nvSpPr>
        <p:spPr>
          <a:xfrm>
            <a:off x="4407408" y="3438144"/>
            <a:ext cx="164592" cy="164592"/>
          </a:xfrm>
          <a:prstGeom prst="ellipse">
            <a:avLst/>
          </a:prstGeom>
          <a:solidFill>
            <a:srgbClr val="C0392B"/>
          </a:solidFill>
          <a:ln w="12700">
            <a:solidFill>
              <a:srgbClr val="C0392B"/>
            </a:solidFill>
            <a:prstDash val="solid"/>
          </a:ln>
        </p:spPr>
      </p:sp>
      <p:sp>
        <p:nvSpPr>
          <p:cNvPr id="32" name="Text 28"/>
          <p:cNvSpPr/>
          <p:nvPr/>
        </p:nvSpPr>
        <p:spPr>
          <a:xfrm>
            <a:off x="4626864" y="3364992"/>
            <a:ext cx="4114800" cy="20116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Cierre documentado por observación</a:t>
            </a:r>
            <a:endParaRPr lang="en-US" sz="850" dirty="0"/>
          </a:p>
        </p:txBody>
      </p:sp>
      <p:sp>
        <p:nvSpPr>
          <p:cNvPr id="33" name="Text 29"/>
          <p:cNvSpPr/>
          <p:nvPr/>
        </p:nvSpPr>
        <p:spPr>
          <a:xfrm>
            <a:off x="4626864" y="3566160"/>
            <a:ext cx="4114800" cy="201168"/>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Cada observación tiene un estado: abierta, en proceso, implementada, rechazada.</a:t>
            </a:r>
            <a:endParaRPr lang="en-US" sz="750" dirty="0"/>
          </a:p>
        </p:txBody>
      </p:sp>
      <p:sp>
        <p:nvSpPr>
          <p:cNvPr id="34" name="Shape 30"/>
          <p:cNvSpPr/>
          <p:nvPr/>
        </p:nvSpPr>
        <p:spPr>
          <a:xfrm>
            <a:off x="4407408" y="3858768"/>
            <a:ext cx="164592" cy="164592"/>
          </a:xfrm>
          <a:prstGeom prst="ellipse">
            <a:avLst/>
          </a:prstGeom>
          <a:solidFill>
            <a:srgbClr val="C0392B"/>
          </a:solidFill>
          <a:ln w="12700">
            <a:solidFill>
              <a:srgbClr val="C0392B"/>
            </a:solidFill>
            <a:prstDash val="solid"/>
          </a:ln>
        </p:spPr>
      </p:sp>
      <p:sp>
        <p:nvSpPr>
          <p:cNvPr id="35" name="Text 31"/>
          <p:cNvSpPr/>
          <p:nvPr/>
        </p:nvSpPr>
        <p:spPr>
          <a:xfrm>
            <a:off x="4626864" y="3785616"/>
            <a:ext cx="4114800" cy="20116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LLDB activo y consultado</a:t>
            </a:r>
            <a:endParaRPr lang="en-US" sz="850" dirty="0"/>
          </a:p>
        </p:txBody>
      </p:sp>
      <p:sp>
        <p:nvSpPr>
          <p:cNvPr id="36" name="Text 32"/>
          <p:cNvSpPr/>
          <p:nvPr/>
        </p:nvSpPr>
        <p:spPr>
          <a:xfrm>
            <a:off x="4626864" y="3986784"/>
            <a:ext cx="4114800" cy="201168"/>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El knowledge del pasado alimenta el diseño del presente.</a:t>
            </a:r>
            <a:endParaRPr lang="en-US" sz="750" dirty="0"/>
          </a:p>
        </p:txBody>
      </p:sp>
      <p:sp>
        <p:nvSpPr>
          <p:cNvPr id="37" name="Shape 33"/>
          <p:cNvSpPr/>
          <p:nvPr/>
        </p:nvSpPr>
        <p:spPr>
          <a:xfrm>
            <a:off x="182880" y="4956048"/>
            <a:ext cx="8961120" cy="182880"/>
          </a:xfrm>
          <a:prstGeom prst="rect">
            <a:avLst/>
          </a:prstGeom>
          <a:solidFill>
            <a:srgbClr val="C0392B"/>
          </a:solidFill>
          <a:ln w="12700">
            <a:solidFill>
              <a:srgbClr val="C0392B"/>
            </a:solidFill>
            <a:prstDash val="solid"/>
          </a:ln>
        </p:spPr>
      </p:sp>
      <p:sp>
        <p:nvSpPr>
          <p:cNvPr id="38" name="Text 34"/>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58 / 126</a:t>
            </a:r>
            <a:endParaRPr lang="en-US" sz="7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C0392B"/>
          </a:solidFill>
          <a:ln w="12700">
            <a:solidFill>
              <a:srgbClr val="C0392B"/>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Constructabilidad en Contratos EPC/EPCM</a:t>
            </a:r>
            <a:endParaRPr lang="en-US" sz="1800" dirty="0"/>
          </a:p>
        </p:txBody>
      </p:sp>
      <p:sp>
        <p:nvSpPr>
          <p:cNvPr id="4" name="Shape 2"/>
          <p:cNvSpPr/>
          <p:nvPr/>
        </p:nvSpPr>
        <p:spPr>
          <a:xfrm>
            <a:off x="320040" y="640080"/>
            <a:ext cx="8503920" cy="41148"/>
          </a:xfrm>
          <a:prstGeom prst="rect">
            <a:avLst/>
          </a:prstGeom>
          <a:solidFill>
            <a:srgbClr val="C0392B"/>
          </a:solidFill>
          <a:ln w="12700">
            <a:solidFill>
              <a:srgbClr val="C0392B"/>
            </a:solidFill>
            <a:prstDash val="solid"/>
          </a:ln>
        </p:spPr>
      </p:sp>
      <p:sp>
        <p:nvSpPr>
          <p:cNvPr id="5" name="Text 3"/>
          <p:cNvSpPr/>
          <p:nvPr/>
        </p:nvSpPr>
        <p:spPr>
          <a:xfrm>
            <a:off x="320040" y="704088"/>
            <a:ext cx="8503920" cy="256032"/>
          </a:xfrm>
          <a:prstGeom prst="rect">
            <a:avLst/>
          </a:prstGeom>
          <a:noFill/>
          <a:ln/>
        </p:spPr>
        <p:txBody>
          <a:bodyPr wrap="square" rtlCol="0" anchor="ctr"/>
          <a:lstStyle/>
          <a:p>
            <a:pPr indent="0" marL="0">
              <a:buNone/>
            </a:pPr>
            <a:r>
              <a:rPr lang="en-US" sz="900" i="1" dirty="0">
                <a:solidFill>
                  <a:srgbClr val="C0392B"/>
                </a:solidFill>
                <a:latin typeface="Atkinson Hyperlegible" pitchFamily="34" charset="0"/>
                <a:ea typeface="Atkinson Hyperlegible" pitchFamily="34" charset="-122"/>
                <a:cs typeface="Atkinson Hyperlegible" pitchFamily="34" charset="-120"/>
              </a:rPr>
              <a:t>Herramienta T-16: Contract Provisions for Constructability</a:t>
            </a:r>
            <a:endParaRPr lang="en-US" sz="900" dirty="0"/>
          </a:p>
        </p:txBody>
      </p:sp>
      <p:sp>
        <p:nvSpPr>
          <p:cNvPr id="6" name="Shape 4"/>
          <p:cNvSpPr/>
          <p:nvPr/>
        </p:nvSpPr>
        <p:spPr>
          <a:xfrm>
            <a:off x="320040" y="804672"/>
            <a:ext cx="2724912" cy="1943100"/>
          </a:xfrm>
          <a:prstGeom prst="roundRect">
            <a:avLst>
              <a:gd name="adj" fmla="val 4235"/>
            </a:avLst>
          </a:prstGeom>
          <a:solidFill>
            <a:srgbClr val="C0392B"/>
          </a:solidFill>
          <a:ln w="19050">
            <a:solidFill>
              <a:srgbClr val="C0392B"/>
            </a:solidFill>
            <a:prstDash val="solid"/>
          </a:ln>
        </p:spPr>
      </p:sp>
      <p:sp>
        <p:nvSpPr>
          <p:cNvPr id="7" name="Shape 5"/>
          <p:cNvSpPr/>
          <p:nvPr/>
        </p:nvSpPr>
        <p:spPr>
          <a:xfrm>
            <a:off x="320040" y="804672"/>
            <a:ext cx="2724912" cy="54864"/>
          </a:xfrm>
          <a:prstGeom prst="rect">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8056" y="932688"/>
            <a:ext cx="365760" cy="365760"/>
          </a:xfrm>
          <a:prstGeom prst="rect">
            <a:avLst/>
          </a:prstGeom>
        </p:spPr>
      </p:pic>
      <p:sp>
        <p:nvSpPr>
          <p:cNvPr id="9" name="Text 6"/>
          <p:cNvSpPr/>
          <p:nvPr/>
        </p:nvSpPr>
        <p:spPr>
          <a:xfrm>
            <a:off x="868680"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Requerimiento de Programa</a:t>
            </a:r>
            <a:endParaRPr lang="en-US" sz="850" dirty="0"/>
          </a:p>
        </p:txBody>
      </p:sp>
      <p:sp>
        <p:nvSpPr>
          <p:cNvPr id="10" name="Text 7"/>
          <p:cNvSpPr/>
          <p:nvPr/>
        </p:nvSpPr>
        <p:spPr>
          <a:xfrm>
            <a:off x="429768"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Cláusula que exige que el contratista establezca y opere un programa formal de constructabilidad CII.</a:t>
            </a:r>
            <a:endParaRPr lang="en-US" sz="750" dirty="0"/>
          </a:p>
        </p:txBody>
      </p:sp>
      <p:sp>
        <p:nvSpPr>
          <p:cNvPr id="11" name="Shape 8"/>
          <p:cNvSpPr/>
          <p:nvPr/>
        </p:nvSpPr>
        <p:spPr>
          <a:xfrm>
            <a:off x="3209544" y="804672"/>
            <a:ext cx="2724912" cy="1943100"/>
          </a:xfrm>
          <a:prstGeom prst="roundRect">
            <a:avLst>
              <a:gd name="adj" fmla="val 4235"/>
            </a:avLst>
          </a:prstGeom>
          <a:solidFill>
            <a:srgbClr val="FFFFFF"/>
          </a:solidFill>
          <a:ln w="19050">
            <a:solidFill>
              <a:srgbClr val="C0392B"/>
            </a:solidFill>
            <a:prstDash val="solid"/>
          </a:ln>
        </p:spPr>
      </p:sp>
      <p:sp>
        <p:nvSpPr>
          <p:cNvPr id="12" name="Shape 9"/>
          <p:cNvSpPr/>
          <p:nvPr/>
        </p:nvSpPr>
        <p:spPr>
          <a:xfrm>
            <a:off x="3209544" y="804672"/>
            <a:ext cx="2724912" cy="54864"/>
          </a:xfrm>
          <a:prstGeom prst="rect">
            <a:avLst/>
          </a:prstGeom>
          <a:solidFill>
            <a:srgbClr val="C0392B"/>
          </a:solidFill>
          <a:ln w="12700">
            <a:solidFill>
              <a:srgbClr val="C0392B"/>
            </a:solidFill>
            <a:prstDash val="solid"/>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37560" y="932688"/>
            <a:ext cx="365760" cy="365760"/>
          </a:xfrm>
          <a:prstGeom prst="rect">
            <a:avLst/>
          </a:prstGeom>
        </p:spPr>
      </p:pic>
      <p:sp>
        <p:nvSpPr>
          <p:cNvPr id="14" name="Text 10"/>
          <p:cNvSpPr/>
          <p:nvPr/>
        </p:nvSpPr>
        <p:spPr>
          <a:xfrm>
            <a:off x="3758184" y="914400"/>
            <a:ext cx="2066544" cy="347472"/>
          </a:xfrm>
          <a:prstGeom prst="rect">
            <a:avLst/>
          </a:prstGeom>
          <a:noFill/>
          <a:ln/>
        </p:spPr>
        <p:txBody>
          <a:bodyPr wrap="square" rtlCol="0" anchor="ctr"/>
          <a:lstStyle/>
          <a:p>
            <a:pPr indent="0" marL="0">
              <a:buNone/>
            </a:pPr>
            <a:r>
              <a:rPr lang="en-US" sz="850" b="1" dirty="0">
                <a:solidFill>
                  <a:srgbClr val="C0392B"/>
                </a:solidFill>
                <a:latin typeface="Atkinson Hyperlegible" pitchFamily="34" charset="0"/>
                <a:ea typeface="Atkinson Hyperlegible" pitchFamily="34" charset="-122"/>
                <a:cs typeface="Atkinson Hyperlegible" pitchFamily="34" charset="-120"/>
              </a:rPr>
              <a:t>Champion del Contratista</a:t>
            </a:r>
            <a:endParaRPr lang="en-US" sz="850" dirty="0"/>
          </a:p>
        </p:txBody>
      </p:sp>
      <p:sp>
        <p:nvSpPr>
          <p:cNvPr id="15" name="Text 11"/>
          <p:cNvSpPr/>
          <p:nvPr/>
        </p:nvSpPr>
        <p:spPr>
          <a:xfrm>
            <a:off x="3319272" y="131673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El contratista debe designar un Champion con experiencia real en campo y dedicación mínima definida.</a:t>
            </a:r>
            <a:endParaRPr lang="en-US" sz="750" dirty="0"/>
          </a:p>
        </p:txBody>
      </p:sp>
      <p:sp>
        <p:nvSpPr>
          <p:cNvPr id="16" name="Shape 12"/>
          <p:cNvSpPr/>
          <p:nvPr/>
        </p:nvSpPr>
        <p:spPr>
          <a:xfrm>
            <a:off x="6099048" y="804672"/>
            <a:ext cx="2724912" cy="1943100"/>
          </a:xfrm>
          <a:prstGeom prst="roundRect">
            <a:avLst>
              <a:gd name="adj" fmla="val 4235"/>
            </a:avLst>
          </a:prstGeom>
          <a:solidFill>
            <a:srgbClr val="C0392B"/>
          </a:solidFill>
          <a:ln w="19050">
            <a:solidFill>
              <a:srgbClr val="C0392B"/>
            </a:solidFill>
            <a:prstDash val="solid"/>
          </a:ln>
        </p:spPr>
      </p:sp>
      <p:sp>
        <p:nvSpPr>
          <p:cNvPr id="17" name="Shape 13"/>
          <p:cNvSpPr/>
          <p:nvPr/>
        </p:nvSpPr>
        <p:spPr>
          <a:xfrm>
            <a:off x="6099048" y="804672"/>
            <a:ext cx="2724912" cy="54864"/>
          </a:xfrm>
          <a:prstGeom prst="rect">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27064" y="932688"/>
            <a:ext cx="365760" cy="365760"/>
          </a:xfrm>
          <a:prstGeom prst="rect">
            <a:avLst/>
          </a:prstGeom>
        </p:spPr>
      </p:pic>
      <p:sp>
        <p:nvSpPr>
          <p:cNvPr id="19" name="Text 14"/>
          <p:cNvSpPr/>
          <p:nvPr/>
        </p:nvSpPr>
        <p:spPr>
          <a:xfrm>
            <a:off x="6647688"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Hitos de Constructabilidad</a:t>
            </a:r>
            <a:endParaRPr lang="en-US" sz="850" dirty="0"/>
          </a:p>
        </p:txBody>
      </p:sp>
      <p:sp>
        <p:nvSpPr>
          <p:cNvPr id="20" name="Text 15"/>
          <p:cNvSpPr/>
          <p:nvPr/>
        </p:nvSpPr>
        <p:spPr>
          <a:xfrm>
            <a:off x="6208776"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Los talleres de revisión son hitos contractuales. Su no realización puede activar penalidades.</a:t>
            </a:r>
            <a:endParaRPr lang="en-US" sz="750" dirty="0"/>
          </a:p>
        </p:txBody>
      </p:sp>
      <p:sp>
        <p:nvSpPr>
          <p:cNvPr id="21" name="Shape 16"/>
          <p:cNvSpPr/>
          <p:nvPr/>
        </p:nvSpPr>
        <p:spPr>
          <a:xfrm>
            <a:off x="320040" y="2884932"/>
            <a:ext cx="2724912" cy="1943100"/>
          </a:xfrm>
          <a:prstGeom prst="roundRect">
            <a:avLst>
              <a:gd name="adj" fmla="val 4235"/>
            </a:avLst>
          </a:prstGeom>
          <a:solidFill>
            <a:srgbClr val="FFFFFF"/>
          </a:solidFill>
          <a:ln w="19050">
            <a:solidFill>
              <a:srgbClr val="C0392B"/>
            </a:solidFill>
            <a:prstDash val="solid"/>
          </a:ln>
        </p:spPr>
      </p:sp>
      <p:sp>
        <p:nvSpPr>
          <p:cNvPr id="22" name="Shape 17"/>
          <p:cNvSpPr/>
          <p:nvPr/>
        </p:nvSpPr>
        <p:spPr>
          <a:xfrm>
            <a:off x="320040" y="2884932"/>
            <a:ext cx="2724912" cy="54864"/>
          </a:xfrm>
          <a:prstGeom prst="rect">
            <a:avLst/>
          </a:prstGeom>
          <a:solidFill>
            <a:srgbClr val="C0392B"/>
          </a:solidFill>
          <a:ln w="12700">
            <a:solidFill>
              <a:srgbClr val="C0392B"/>
            </a:solidFill>
            <a:prstDash val="solid"/>
          </a:ln>
        </p:spPr>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8056" y="3012948"/>
            <a:ext cx="365760" cy="365760"/>
          </a:xfrm>
          <a:prstGeom prst="rect">
            <a:avLst/>
          </a:prstGeom>
        </p:spPr>
      </p:pic>
      <p:sp>
        <p:nvSpPr>
          <p:cNvPr id="24" name="Text 18"/>
          <p:cNvSpPr/>
          <p:nvPr/>
        </p:nvSpPr>
        <p:spPr>
          <a:xfrm>
            <a:off x="868680" y="2994660"/>
            <a:ext cx="2066544" cy="347472"/>
          </a:xfrm>
          <a:prstGeom prst="rect">
            <a:avLst/>
          </a:prstGeom>
          <a:noFill/>
          <a:ln/>
        </p:spPr>
        <p:txBody>
          <a:bodyPr wrap="square" rtlCol="0" anchor="ctr"/>
          <a:lstStyle/>
          <a:p>
            <a:pPr indent="0" marL="0">
              <a:buNone/>
            </a:pPr>
            <a:r>
              <a:rPr lang="en-US" sz="850" b="1" dirty="0">
                <a:solidFill>
                  <a:srgbClr val="C0392B"/>
                </a:solidFill>
                <a:latin typeface="Atkinson Hyperlegible" pitchFamily="34" charset="0"/>
                <a:ea typeface="Atkinson Hyperlegible" pitchFamily="34" charset="-122"/>
                <a:cs typeface="Atkinson Hyperlegible" pitchFamily="34" charset="-120"/>
              </a:rPr>
              <a:t>Entregables LLDB</a:t>
            </a:r>
            <a:endParaRPr lang="en-US" sz="850" dirty="0"/>
          </a:p>
        </p:txBody>
      </p:sp>
      <p:sp>
        <p:nvSpPr>
          <p:cNvPr id="25" name="Text 19"/>
          <p:cNvSpPr/>
          <p:nvPr/>
        </p:nvSpPr>
        <p:spPr>
          <a:xfrm>
            <a:off x="429768"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El contratista entrega un LLDB al cierre del proyecto. El Owner retiene los derechos del conocimiento generado.</a:t>
            </a:r>
            <a:endParaRPr lang="en-US" sz="750" dirty="0"/>
          </a:p>
        </p:txBody>
      </p:sp>
      <p:sp>
        <p:nvSpPr>
          <p:cNvPr id="26" name="Shape 20"/>
          <p:cNvSpPr/>
          <p:nvPr/>
        </p:nvSpPr>
        <p:spPr>
          <a:xfrm>
            <a:off x="3209544" y="2884932"/>
            <a:ext cx="2724912" cy="1943100"/>
          </a:xfrm>
          <a:prstGeom prst="roundRect">
            <a:avLst>
              <a:gd name="adj" fmla="val 4235"/>
            </a:avLst>
          </a:prstGeom>
          <a:solidFill>
            <a:srgbClr val="C0392B"/>
          </a:solidFill>
          <a:ln w="19050">
            <a:solidFill>
              <a:srgbClr val="C0392B"/>
            </a:solidFill>
            <a:prstDash val="solid"/>
          </a:ln>
        </p:spPr>
      </p:sp>
      <p:sp>
        <p:nvSpPr>
          <p:cNvPr id="27" name="Shape 21"/>
          <p:cNvSpPr/>
          <p:nvPr/>
        </p:nvSpPr>
        <p:spPr>
          <a:xfrm>
            <a:off x="3209544" y="2884932"/>
            <a:ext cx="2724912" cy="54864"/>
          </a:xfrm>
          <a:prstGeom prst="rect">
            <a:avLst/>
          </a:prstGeom>
          <a:solidFill>
            <a:srgbClr val="FFFFFF"/>
          </a:solidFill>
          <a:ln w="12700">
            <a:solidFill>
              <a:srgbClr val="FFFFFF"/>
            </a:solidFill>
            <a:prstDash val="solid"/>
          </a:ln>
        </p:spPr>
      </p:sp>
      <p:pic>
        <p:nvPicPr>
          <p:cNvPr id="2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37560" y="3012948"/>
            <a:ext cx="365760" cy="365760"/>
          </a:xfrm>
          <a:prstGeom prst="rect">
            <a:avLst/>
          </a:prstGeom>
        </p:spPr>
      </p:pic>
      <p:sp>
        <p:nvSpPr>
          <p:cNvPr id="29" name="Text 22"/>
          <p:cNvSpPr/>
          <p:nvPr/>
        </p:nvSpPr>
        <p:spPr>
          <a:xfrm>
            <a:off x="3758184" y="299466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Incentivos de Desempeño</a:t>
            </a:r>
            <a:endParaRPr lang="en-US" sz="850" dirty="0"/>
          </a:p>
        </p:txBody>
      </p:sp>
      <p:sp>
        <p:nvSpPr>
          <p:cNvPr id="30" name="Text 23"/>
          <p:cNvSpPr/>
          <p:nvPr/>
        </p:nvSpPr>
        <p:spPr>
          <a:xfrm>
            <a:off x="3319272" y="339699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Bonus por KPIs de constructabilidad: # observaciones implementadas, ahorro documentado, satisfacción.</a:t>
            </a:r>
            <a:endParaRPr lang="en-US" sz="750" dirty="0"/>
          </a:p>
        </p:txBody>
      </p:sp>
      <p:sp>
        <p:nvSpPr>
          <p:cNvPr id="31" name="Shape 24"/>
          <p:cNvSpPr/>
          <p:nvPr/>
        </p:nvSpPr>
        <p:spPr>
          <a:xfrm>
            <a:off x="6099048" y="2884932"/>
            <a:ext cx="2724912" cy="1943100"/>
          </a:xfrm>
          <a:prstGeom prst="roundRect">
            <a:avLst>
              <a:gd name="adj" fmla="val 4235"/>
            </a:avLst>
          </a:prstGeom>
          <a:solidFill>
            <a:srgbClr val="FFFFFF"/>
          </a:solidFill>
          <a:ln w="19050">
            <a:solidFill>
              <a:srgbClr val="C0392B"/>
            </a:solidFill>
            <a:prstDash val="solid"/>
          </a:ln>
        </p:spPr>
      </p:sp>
      <p:sp>
        <p:nvSpPr>
          <p:cNvPr id="32" name="Shape 25"/>
          <p:cNvSpPr/>
          <p:nvPr/>
        </p:nvSpPr>
        <p:spPr>
          <a:xfrm>
            <a:off x="6099048" y="2884932"/>
            <a:ext cx="2724912" cy="54864"/>
          </a:xfrm>
          <a:prstGeom prst="rect">
            <a:avLst/>
          </a:prstGeom>
          <a:solidFill>
            <a:srgbClr val="C0392B"/>
          </a:solidFill>
          <a:ln w="12700">
            <a:solidFill>
              <a:srgbClr val="C0392B"/>
            </a:solidFill>
            <a:prstDash val="solid"/>
          </a:ln>
        </p:spPr>
      </p:sp>
      <p:pic>
        <p:nvPicPr>
          <p:cNvPr id="3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27064" y="3012948"/>
            <a:ext cx="365760" cy="365760"/>
          </a:xfrm>
          <a:prstGeom prst="rect">
            <a:avLst/>
          </a:prstGeom>
        </p:spPr>
      </p:pic>
      <p:sp>
        <p:nvSpPr>
          <p:cNvPr id="34" name="Text 26"/>
          <p:cNvSpPr/>
          <p:nvPr/>
        </p:nvSpPr>
        <p:spPr>
          <a:xfrm>
            <a:off x="6647688" y="2994660"/>
            <a:ext cx="2066544" cy="347472"/>
          </a:xfrm>
          <a:prstGeom prst="rect">
            <a:avLst/>
          </a:prstGeom>
          <a:noFill/>
          <a:ln/>
        </p:spPr>
        <p:txBody>
          <a:bodyPr wrap="square" rtlCol="0" anchor="ctr"/>
          <a:lstStyle/>
          <a:p>
            <a:pPr indent="0" marL="0">
              <a:buNone/>
            </a:pPr>
            <a:r>
              <a:rPr lang="en-US" sz="850" b="1" dirty="0">
                <a:solidFill>
                  <a:srgbClr val="C0392B"/>
                </a:solidFill>
                <a:latin typeface="Atkinson Hyperlegible" pitchFamily="34" charset="0"/>
                <a:ea typeface="Atkinson Hyperlegible" pitchFamily="34" charset="-122"/>
                <a:cs typeface="Atkinson Hyperlegible" pitchFamily="34" charset="-120"/>
              </a:rPr>
              <a:t>Integración con Lean/AWP</a:t>
            </a:r>
            <a:endParaRPr lang="en-US" sz="850" dirty="0"/>
          </a:p>
        </p:txBody>
      </p:sp>
      <p:sp>
        <p:nvSpPr>
          <p:cNvPr id="35" name="Text 27"/>
          <p:cNvSpPr/>
          <p:nvPr/>
        </p:nvSpPr>
        <p:spPr>
          <a:xfrm>
            <a:off x="6208776"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Las cláusulas de constructabilidad se coordinan con los requerimientos de AWP del contrato.</a:t>
            </a:r>
            <a:endParaRPr lang="en-US" sz="750" dirty="0"/>
          </a:p>
        </p:txBody>
      </p:sp>
      <p:sp>
        <p:nvSpPr>
          <p:cNvPr id="36" name="Shape 28"/>
          <p:cNvSpPr/>
          <p:nvPr/>
        </p:nvSpPr>
        <p:spPr>
          <a:xfrm>
            <a:off x="182880" y="4956048"/>
            <a:ext cx="8961120" cy="182880"/>
          </a:xfrm>
          <a:prstGeom prst="rect">
            <a:avLst/>
          </a:prstGeom>
          <a:solidFill>
            <a:srgbClr val="C0392B"/>
          </a:solidFill>
          <a:ln w="12700">
            <a:solidFill>
              <a:srgbClr val="C0392B"/>
            </a:solidFill>
            <a:prstDash val="solid"/>
          </a:ln>
        </p:spPr>
      </p:sp>
      <p:sp>
        <p:nvSpPr>
          <p:cNvPr id="37" name="Text 29"/>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59 / 126</a:t>
            </a:r>
            <a:endParaRPr lang="en-US" sz="7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C0392B"/>
          </a:solidFill>
          <a:ln w="12700">
            <a:solidFill>
              <a:srgbClr val="C0392B"/>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Agenda Tipo de un Taller de Constructabilidad</a:t>
            </a:r>
            <a:endParaRPr lang="en-US" sz="1800" dirty="0"/>
          </a:p>
        </p:txBody>
      </p:sp>
      <p:sp>
        <p:nvSpPr>
          <p:cNvPr id="4" name="Shape 2"/>
          <p:cNvSpPr/>
          <p:nvPr/>
        </p:nvSpPr>
        <p:spPr>
          <a:xfrm>
            <a:off x="320040" y="640080"/>
            <a:ext cx="8503920" cy="41148"/>
          </a:xfrm>
          <a:prstGeom prst="rect">
            <a:avLst/>
          </a:prstGeom>
          <a:solidFill>
            <a:srgbClr val="C0392B"/>
          </a:solidFill>
          <a:ln w="12700">
            <a:solidFill>
              <a:srgbClr val="C0392B"/>
            </a:solidFill>
            <a:prstDash val="solid"/>
          </a:ln>
        </p:spPr>
      </p:sp>
      <p:sp>
        <p:nvSpPr>
          <p:cNvPr id="5" name="Text 3"/>
          <p:cNvSpPr/>
          <p:nvPr/>
        </p:nvSpPr>
        <p:spPr>
          <a:xfrm>
            <a:off x="320040" y="704088"/>
            <a:ext cx="8503920" cy="256032"/>
          </a:xfrm>
          <a:prstGeom prst="rect">
            <a:avLst/>
          </a:prstGeom>
          <a:noFill/>
          <a:ln/>
        </p:spPr>
        <p:txBody>
          <a:bodyPr wrap="square" rtlCol="0" anchor="ctr"/>
          <a:lstStyle/>
          <a:p>
            <a:pPr indent="0" marL="0">
              <a:buNone/>
            </a:pPr>
            <a:r>
              <a:rPr lang="en-US" sz="900" i="1" dirty="0">
                <a:solidFill>
                  <a:srgbClr val="C0392B"/>
                </a:solidFill>
                <a:latin typeface="Atkinson Hyperlegible" pitchFamily="34" charset="0"/>
                <a:ea typeface="Atkinson Hyperlegible" pitchFamily="34" charset="-122"/>
                <a:cs typeface="Atkinson Hyperlegible" pitchFamily="34" charset="-120"/>
              </a:rPr>
              <a:t>Herramienta T-5: Integrated Constructability Workshop</a:t>
            </a:r>
            <a:endParaRPr lang="en-US" sz="900" dirty="0"/>
          </a:p>
        </p:txBody>
      </p:sp>
      <p:sp>
        <p:nvSpPr>
          <p:cNvPr id="6" name="Shape 4"/>
          <p:cNvSpPr/>
          <p:nvPr/>
        </p:nvSpPr>
        <p:spPr>
          <a:xfrm>
            <a:off x="320040" y="841248"/>
            <a:ext cx="914400" cy="457200"/>
          </a:xfrm>
          <a:prstGeom prst="roundRect">
            <a:avLst>
              <a:gd name="adj" fmla="val 10000"/>
            </a:avLst>
          </a:prstGeom>
          <a:solidFill>
            <a:srgbClr val="C0392B"/>
          </a:solidFill>
          <a:ln w="12700">
            <a:solidFill>
              <a:srgbClr val="C0392B"/>
            </a:solidFill>
            <a:prstDash val="solid"/>
          </a:ln>
        </p:spPr>
      </p:sp>
      <p:sp>
        <p:nvSpPr>
          <p:cNvPr id="7" name="Text 5"/>
          <p:cNvSpPr/>
          <p:nvPr/>
        </p:nvSpPr>
        <p:spPr>
          <a:xfrm>
            <a:off x="320040" y="841248"/>
            <a:ext cx="914400" cy="457200"/>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08:00</a:t>
            </a:r>
            <a:endParaRPr lang="en-US" sz="850" dirty="0"/>
          </a:p>
        </p:txBody>
      </p:sp>
      <p:sp>
        <p:nvSpPr>
          <p:cNvPr id="8" name="Shape 6"/>
          <p:cNvSpPr/>
          <p:nvPr/>
        </p:nvSpPr>
        <p:spPr>
          <a:xfrm>
            <a:off x="1280160" y="841248"/>
            <a:ext cx="7543800" cy="457200"/>
          </a:xfrm>
          <a:prstGeom prst="roundRect">
            <a:avLst>
              <a:gd name="adj" fmla="val 10000"/>
            </a:avLst>
          </a:prstGeom>
          <a:solidFill>
            <a:srgbClr val="F8F8FA"/>
          </a:solidFill>
          <a:ln w="9525">
            <a:solidFill>
              <a:srgbClr val="E5E5EA"/>
            </a:solidFill>
            <a:prstDash val="solid"/>
          </a:ln>
        </p:spPr>
      </p:sp>
      <p:sp>
        <p:nvSpPr>
          <p:cNvPr id="9" name="Text 7"/>
          <p:cNvSpPr/>
          <p:nvPr/>
        </p:nvSpPr>
        <p:spPr>
          <a:xfrm>
            <a:off x="1371600" y="868680"/>
            <a:ext cx="2560320" cy="201168"/>
          </a:xfrm>
          <a:prstGeom prst="rect">
            <a:avLst/>
          </a:prstGeom>
          <a:noFill/>
          <a:ln/>
        </p:spPr>
        <p:txBody>
          <a:bodyPr wrap="square" rtlCol="0" anchor="ctr"/>
          <a:lstStyle/>
          <a:p>
            <a:pPr indent="0" marL="0">
              <a:buNone/>
            </a:pPr>
            <a:r>
              <a:rPr lang="en-US" sz="850" b="1" dirty="0">
                <a:solidFill>
                  <a:srgbClr val="C0392B"/>
                </a:solidFill>
                <a:latin typeface="Atkinson Hyperlegible" pitchFamily="34" charset="0"/>
                <a:ea typeface="Atkinson Hyperlegible" pitchFamily="34" charset="-122"/>
                <a:cs typeface="Atkinson Hyperlegible" pitchFamily="34" charset="-120"/>
              </a:rPr>
              <a:t>Apertura y contexto</a:t>
            </a:r>
            <a:endParaRPr lang="en-US" sz="850" dirty="0"/>
          </a:p>
        </p:txBody>
      </p:sp>
      <p:sp>
        <p:nvSpPr>
          <p:cNvPr id="10" name="Text 8"/>
          <p:cNvSpPr/>
          <p:nvPr/>
        </p:nvSpPr>
        <p:spPr>
          <a:xfrm>
            <a:off x="1371600" y="1069848"/>
            <a:ext cx="7315200" cy="201168"/>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Objetivos del taller, reglas de participación, presentación del equipo.</a:t>
            </a:r>
            <a:endParaRPr lang="en-US" sz="750" dirty="0"/>
          </a:p>
        </p:txBody>
      </p:sp>
      <p:sp>
        <p:nvSpPr>
          <p:cNvPr id="11" name="Shape 9"/>
          <p:cNvSpPr/>
          <p:nvPr/>
        </p:nvSpPr>
        <p:spPr>
          <a:xfrm>
            <a:off x="320040" y="1335024"/>
            <a:ext cx="914400" cy="457200"/>
          </a:xfrm>
          <a:prstGeom prst="roundRect">
            <a:avLst>
              <a:gd name="adj" fmla="val 10000"/>
            </a:avLst>
          </a:prstGeom>
          <a:solidFill>
            <a:srgbClr val="E5E5EA"/>
          </a:solidFill>
          <a:ln w="12700">
            <a:solidFill>
              <a:srgbClr val="E5E5EA"/>
            </a:solidFill>
            <a:prstDash val="solid"/>
          </a:ln>
        </p:spPr>
      </p:sp>
      <p:sp>
        <p:nvSpPr>
          <p:cNvPr id="12" name="Text 10"/>
          <p:cNvSpPr/>
          <p:nvPr/>
        </p:nvSpPr>
        <p:spPr>
          <a:xfrm>
            <a:off x="320040" y="1335024"/>
            <a:ext cx="914400" cy="457200"/>
          </a:xfrm>
          <a:prstGeom prst="rect">
            <a:avLst/>
          </a:prstGeom>
          <a:noFill/>
          <a:ln/>
        </p:spPr>
        <p:txBody>
          <a:bodyPr wrap="square" rtlCol="0" anchor="ctr"/>
          <a:lstStyle/>
          <a:p>
            <a:pPr algn="ct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08:30</a:t>
            </a:r>
            <a:endParaRPr lang="en-US" sz="850" dirty="0"/>
          </a:p>
        </p:txBody>
      </p:sp>
      <p:sp>
        <p:nvSpPr>
          <p:cNvPr id="13" name="Shape 11"/>
          <p:cNvSpPr/>
          <p:nvPr/>
        </p:nvSpPr>
        <p:spPr>
          <a:xfrm>
            <a:off x="1280160" y="1335024"/>
            <a:ext cx="7543800" cy="457200"/>
          </a:xfrm>
          <a:prstGeom prst="roundRect">
            <a:avLst>
              <a:gd name="adj" fmla="val 10000"/>
            </a:avLst>
          </a:prstGeom>
          <a:solidFill>
            <a:srgbClr val="FFFFFF"/>
          </a:solidFill>
          <a:ln w="9525">
            <a:solidFill>
              <a:srgbClr val="E5E5EA"/>
            </a:solidFill>
            <a:prstDash val="solid"/>
          </a:ln>
        </p:spPr>
      </p:sp>
      <p:sp>
        <p:nvSpPr>
          <p:cNvPr id="14" name="Text 12"/>
          <p:cNvSpPr/>
          <p:nvPr/>
        </p:nvSpPr>
        <p:spPr>
          <a:xfrm>
            <a:off x="1371600" y="1362456"/>
            <a:ext cx="2560320" cy="20116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Revisión del estado del proyecto</a:t>
            </a:r>
            <a:endParaRPr lang="en-US" sz="850" dirty="0"/>
          </a:p>
        </p:txBody>
      </p:sp>
      <p:sp>
        <p:nvSpPr>
          <p:cNvPr id="15" name="Text 13"/>
          <p:cNvSpPr/>
          <p:nvPr/>
        </p:nvSpPr>
        <p:spPr>
          <a:xfrm>
            <a:off x="1371600" y="1563624"/>
            <a:ext cx="7315200" cy="201168"/>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Avance de diseño, cronograma, riesgos identificados. Contexto para los participantes.</a:t>
            </a:r>
            <a:endParaRPr lang="en-US" sz="750" dirty="0"/>
          </a:p>
        </p:txBody>
      </p:sp>
      <p:sp>
        <p:nvSpPr>
          <p:cNvPr id="16" name="Shape 14"/>
          <p:cNvSpPr/>
          <p:nvPr/>
        </p:nvSpPr>
        <p:spPr>
          <a:xfrm>
            <a:off x="320040" y="1828800"/>
            <a:ext cx="914400" cy="457200"/>
          </a:xfrm>
          <a:prstGeom prst="roundRect">
            <a:avLst>
              <a:gd name="adj" fmla="val 10000"/>
            </a:avLst>
          </a:prstGeom>
          <a:solidFill>
            <a:srgbClr val="C0392B"/>
          </a:solidFill>
          <a:ln w="12700">
            <a:solidFill>
              <a:srgbClr val="C0392B"/>
            </a:solidFill>
            <a:prstDash val="solid"/>
          </a:ln>
        </p:spPr>
      </p:sp>
      <p:sp>
        <p:nvSpPr>
          <p:cNvPr id="17" name="Text 15"/>
          <p:cNvSpPr/>
          <p:nvPr/>
        </p:nvSpPr>
        <p:spPr>
          <a:xfrm>
            <a:off x="320040" y="1828800"/>
            <a:ext cx="914400" cy="457200"/>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09:30</a:t>
            </a:r>
            <a:endParaRPr lang="en-US" sz="850" dirty="0"/>
          </a:p>
        </p:txBody>
      </p:sp>
      <p:sp>
        <p:nvSpPr>
          <p:cNvPr id="18" name="Shape 16"/>
          <p:cNvSpPr/>
          <p:nvPr/>
        </p:nvSpPr>
        <p:spPr>
          <a:xfrm>
            <a:off x="1280160" y="1828800"/>
            <a:ext cx="7543800" cy="457200"/>
          </a:xfrm>
          <a:prstGeom prst="roundRect">
            <a:avLst>
              <a:gd name="adj" fmla="val 10000"/>
            </a:avLst>
          </a:prstGeom>
          <a:solidFill>
            <a:srgbClr val="F8F8FA"/>
          </a:solidFill>
          <a:ln w="9525">
            <a:solidFill>
              <a:srgbClr val="E5E5EA"/>
            </a:solidFill>
            <a:prstDash val="solid"/>
          </a:ln>
        </p:spPr>
      </p:sp>
      <p:sp>
        <p:nvSpPr>
          <p:cNvPr id="19" name="Text 17"/>
          <p:cNvSpPr/>
          <p:nvPr/>
        </p:nvSpPr>
        <p:spPr>
          <a:xfrm>
            <a:off x="1371600" y="1856232"/>
            <a:ext cx="2560320" cy="201168"/>
          </a:xfrm>
          <a:prstGeom prst="rect">
            <a:avLst/>
          </a:prstGeom>
          <a:noFill/>
          <a:ln/>
        </p:spPr>
        <p:txBody>
          <a:bodyPr wrap="square" rtlCol="0" anchor="ctr"/>
          <a:lstStyle/>
          <a:p>
            <a:pPr indent="0" marL="0">
              <a:buNone/>
            </a:pPr>
            <a:r>
              <a:rPr lang="en-US" sz="850" b="1" dirty="0">
                <a:solidFill>
                  <a:srgbClr val="C0392B"/>
                </a:solidFill>
                <a:latin typeface="Atkinson Hyperlegible" pitchFamily="34" charset="0"/>
                <a:ea typeface="Atkinson Hyperlegible" pitchFamily="34" charset="-122"/>
                <a:cs typeface="Atkinson Hyperlegible" pitchFamily="34" charset="-120"/>
              </a:rPr>
              <a:t>Revisión por disciplina</a:t>
            </a:r>
            <a:endParaRPr lang="en-US" sz="850" dirty="0"/>
          </a:p>
        </p:txBody>
      </p:sp>
      <p:sp>
        <p:nvSpPr>
          <p:cNvPr id="20" name="Text 18"/>
          <p:cNvSpPr/>
          <p:nvPr/>
        </p:nvSpPr>
        <p:spPr>
          <a:xfrm>
            <a:off x="1371600" y="2057400"/>
            <a:ext cx="7315200" cy="201168"/>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Cada disciplina presenta su estado con foco en aspectos constructivos. Equipo de construcción comenta.</a:t>
            </a:r>
            <a:endParaRPr lang="en-US" sz="750" dirty="0"/>
          </a:p>
        </p:txBody>
      </p:sp>
      <p:sp>
        <p:nvSpPr>
          <p:cNvPr id="21" name="Shape 19"/>
          <p:cNvSpPr/>
          <p:nvPr/>
        </p:nvSpPr>
        <p:spPr>
          <a:xfrm>
            <a:off x="320040" y="2322576"/>
            <a:ext cx="914400" cy="457200"/>
          </a:xfrm>
          <a:prstGeom prst="roundRect">
            <a:avLst>
              <a:gd name="adj" fmla="val 10000"/>
            </a:avLst>
          </a:prstGeom>
          <a:solidFill>
            <a:srgbClr val="E5E5EA"/>
          </a:solidFill>
          <a:ln w="12700">
            <a:solidFill>
              <a:srgbClr val="E5E5EA"/>
            </a:solidFill>
            <a:prstDash val="solid"/>
          </a:ln>
        </p:spPr>
      </p:sp>
      <p:sp>
        <p:nvSpPr>
          <p:cNvPr id="22" name="Text 20"/>
          <p:cNvSpPr/>
          <p:nvPr/>
        </p:nvSpPr>
        <p:spPr>
          <a:xfrm>
            <a:off x="320040" y="2322576"/>
            <a:ext cx="914400" cy="457200"/>
          </a:xfrm>
          <a:prstGeom prst="rect">
            <a:avLst/>
          </a:prstGeom>
          <a:noFill/>
          <a:ln/>
        </p:spPr>
        <p:txBody>
          <a:bodyPr wrap="square" rtlCol="0" anchor="ctr"/>
          <a:lstStyle/>
          <a:p>
            <a:pPr algn="ct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11:00</a:t>
            </a:r>
            <a:endParaRPr lang="en-US" sz="850" dirty="0"/>
          </a:p>
        </p:txBody>
      </p:sp>
      <p:sp>
        <p:nvSpPr>
          <p:cNvPr id="23" name="Shape 21"/>
          <p:cNvSpPr/>
          <p:nvPr/>
        </p:nvSpPr>
        <p:spPr>
          <a:xfrm>
            <a:off x="1280160" y="2322576"/>
            <a:ext cx="7543800" cy="457200"/>
          </a:xfrm>
          <a:prstGeom prst="roundRect">
            <a:avLst>
              <a:gd name="adj" fmla="val 10000"/>
            </a:avLst>
          </a:prstGeom>
          <a:solidFill>
            <a:srgbClr val="FFFFFF"/>
          </a:solidFill>
          <a:ln w="9525">
            <a:solidFill>
              <a:srgbClr val="E5E5EA"/>
            </a:solidFill>
            <a:prstDash val="solid"/>
          </a:ln>
        </p:spPr>
      </p:sp>
      <p:sp>
        <p:nvSpPr>
          <p:cNvPr id="24" name="Text 22"/>
          <p:cNvSpPr/>
          <p:nvPr/>
        </p:nvSpPr>
        <p:spPr>
          <a:xfrm>
            <a:off x="1371600" y="2350008"/>
            <a:ext cx="2560320" cy="20116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Sesión de observaciones</a:t>
            </a:r>
            <a:endParaRPr lang="en-US" sz="850" dirty="0"/>
          </a:p>
        </p:txBody>
      </p:sp>
      <p:sp>
        <p:nvSpPr>
          <p:cNvPr id="25" name="Text 23"/>
          <p:cNvSpPr/>
          <p:nvPr/>
        </p:nvSpPr>
        <p:spPr>
          <a:xfrm>
            <a:off x="1371600" y="2551176"/>
            <a:ext cx="7315200" cy="201168"/>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Registro en tiempo real de cada observación: descripción, impacto estimado, responsable.</a:t>
            </a:r>
            <a:endParaRPr lang="en-US" sz="750" dirty="0"/>
          </a:p>
        </p:txBody>
      </p:sp>
      <p:sp>
        <p:nvSpPr>
          <p:cNvPr id="26" name="Shape 24"/>
          <p:cNvSpPr/>
          <p:nvPr/>
        </p:nvSpPr>
        <p:spPr>
          <a:xfrm>
            <a:off x="320040" y="2816352"/>
            <a:ext cx="914400" cy="457200"/>
          </a:xfrm>
          <a:prstGeom prst="roundRect">
            <a:avLst>
              <a:gd name="adj" fmla="val 10000"/>
            </a:avLst>
          </a:prstGeom>
          <a:solidFill>
            <a:srgbClr val="C0392B"/>
          </a:solidFill>
          <a:ln w="12700">
            <a:solidFill>
              <a:srgbClr val="C0392B"/>
            </a:solidFill>
            <a:prstDash val="solid"/>
          </a:ln>
        </p:spPr>
      </p:sp>
      <p:sp>
        <p:nvSpPr>
          <p:cNvPr id="27" name="Text 25"/>
          <p:cNvSpPr/>
          <p:nvPr/>
        </p:nvSpPr>
        <p:spPr>
          <a:xfrm>
            <a:off x="320040" y="2816352"/>
            <a:ext cx="914400" cy="457200"/>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13:00</a:t>
            </a:r>
            <a:endParaRPr lang="en-US" sz="850" dirty="0"/>
          </a:p>
        </p:txBody>
      </p:sp>
      <p:sp>
        <p:nvSpPr>
          <p:cNvPr id="28" name="Shape 26"/>
          <p:cNvSpPr/>
          <p:nvPr/>
        </p:nvSpPr>
        <p:spPr>
          <a:xfrm>
            <a:off x="1280160" y="2816352"/>
            <a:ext cx="7543800" cy="457200"/>
          </a:xfrm>
          <a:prstGeom prst="roundRect">
            <a:avLst>
              <a:gd name="adj" fmla="val 10000"/>
            </a:avLst>
          </a:prstGeom>
          <a:solidFill>
            <a:srgbClr val="F8F8FA"/>
          </a:solidFill>
          <a:ln w="9525">
            <a:solidFill>
              <a:srgbClr val="E5E5EA"/>
            </a:solidFill>
            <a:prstDash val="solid"/>
          </a:ln>
        </p:spPr>
      </p:sp>
      <p:sp>
        <p:nvSpPr>
          <p:cNvPr id="29" name="Text 27"/>
          <p:cNvSpPr/>
          <p:nvPr/>
        </p:nvSpPr>
        <p:spPr>
          <a:xfrm>
            <a:off x="1371600" y="2843784"/>
            <a:ext cx="2560320" cy="201168"/>
          </a:xfrm>
          <a:prstGeom prst="rect">
            <a:avLst/>
          </a:prstGeom>
          <a:noFill/>
          <a:ln/>
        </p:spPr>
        <p:txBody>
          <a:bodyPr wrap="square" rtlCol="0" anchor="ctr"/>
          <a:lstStyle/>
          <a:p>
            <a:pPr indent="0" marL="0">
              <a:buNone/>
            </a:pPr>
            <a:r>
              <a:rPr lang="en-US" sz="850" b="1" dirty="0">
                <a:solidFill>
                  <a:srgbClr val="C0392B"/>
                </a:solidFill>
                <a:latin typeface="Atkinson Hyperlegible" pitchFamily="34" charset="0"/>
                <a:ea typeface="Atkinson Hyperlegible" pitchFamily="34" charset="-122"/>
                <a:cs typeface="Atkinson Hyperlegible" pitchFamily="34" charset="-120"/>
              </a:rPr>
              <a:t>Almuerzo de trabajo</a:t>
            </a:r>
            <a:endParaRPr lang="en-US" sz="850" dirty="0"/>
          </a:p>
        </p:txBody>
      </p:sp>
      <p:sp>
        <p:nvSpPr>
          <p:cNvPr id="30" name="Text 28"/>
          <p:cNvSpPr/>
          <p:nvPr/>
        </p:nvSpPr>
        <p:spPr>
          <a:xfrm>
            <a:off x="1371600" y="3044952"/>
            <a:ext cx="7315200" cy="201168"/>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Continuación informal de discusiones críticas en grupos pequeños.</a:t>
            </a:r>
            <a:endParaRPr lang="en-US" sz="750" dirty="0"/>
          </a:p>
        </p:txBody>
      </p:sp>
      <p:sp>
        <p:nvSpPr>
          <p:cNvPr id="31" name="Shape 29"/>
          <p:cNvSpPr/>
          <p:nvPr/>
        </p:nvSpPr>
        <p:spPr>
          <a:xfrm>
            <a:off x="320040" y="3310128"/>
            <a:ext cx="914400" cy="457200"/>
          </a:xfrm>
          <a:prstGeom prst="roundRect">
            <a:avLst>
              <a:gd name="adj" fmla="val 10000"/>
            </a:avLst>
          </a:prstGeom>
          <a:solidFill>
            <a:srgbClr val="E5E5EA"/>
          </a:solidFill>
          <a:ln w="12700">
            <a:solidFill>
              <a:srgbClr val="E5E5EA"/>
            </a:solidFill>
            <a:prstDash val="solid"/>
          </a:ln>
        </p:spPr>
      </p:sp>
      <p:sp>
        <p:nvSpPr>
          <p:cNvPr id="32" name="Text 30"/>
          <p:cNvSpPr/>
          <p:nvPr/>
        </p:nvSpPr>
        <p:spPr>
          <a:xfrm>
            <a:off x="320040" y="3310128"/>
            <a:ext cx="914400" cy="457200"/>
          </a:xfrm>
          <a:prstGeom prst="rect">
            <a:avLst/>
          </a:prstGeom>
          <a:noFill/>
          <a:ln/>
        </p:spPr>
        <p:txBody>
          <a:bodyPr wrap="square" rtlCol="0" anchor="ctr"/>
          <a:lstStyle/>
          <a:p>
            <a:pPr algn="ct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14:00</a:t>
            </a:r>
            <a:endParaRPr lang="en-US" sz="850" dirty="0"/>
          </a:p>
        </p:txBody>
      </p:sp>
      <p:sp>
        <p:nvSpPr>
          <p:cNvPr id="33" name="Shape 31"/>
          <p:cNvSpPr/>
          <p:nvPr/>
        </p:nvSpPr>
        <p:spPr>
          <a:xfrm>
            <a:off x="1280160" y="3310128"/>
            <a:ext cx="7543800" cy="457200"/>
          </a:xfrm>
          <a:prstGeom prst="roundRect">
            <a:avLst>
              <a:gd name="adj" fmla="val 10000"/>
            </a:avLst>
          </a:prstGeom>
          <a:solidFill>
            <a:srgbClr val="FFFFFF"/>
          </a:solidFill>
          <a:ln w="9525">
            <a:solidFill>
              <a:srgbClr val="E5E5EA"/>
            </a:solidFill>
            <a:prstDash val="solid"/>
          </a:ln>
        </p:spPr>
      </p:sp>
      <p:sp>
        <p:nvSpPr>
          <p:cNvPr id="34" name="Text 32"/>
          <p:cNvSpPr/>
          <p:nvPr/>
        </p:nvSpPr>
        <p:spPr>
          <a:xfrm>
            <a:off x="1371600" y="3337560"/>
            <a:ext cx="2560320" cy="20116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Priorización de observaciones</a:t>
            </a:r>
            <a:endParaRPr lang="en-US" sz="850" dirty="0"/>
          </a:p>
        </p:txBody>
      </p:sp>
      <p:sp>
        <p:nvSpPr>
          <p:cNvPr id="35" name="Text 33"/>
          <p:cNvSpPr/>
          <p:nvPr/>
        </p:nvSpPr>
        <p:spPr>
          <a:xfrm>
            <a:off x="1371600" y="3538728"/>
            <a:ext cx="7315200" cy="201168"/>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El equipo vota y prioriza por impacto en costo/plazo/seguridad. Top 10 se asignan formalmente.</a:t>
            </a:r>
            <a:endParaRPr lang="en-US" sz="750" dirty="0"/>
          </a:p>
        </p:txBody>
      </p:sp>
      <p:sp>
        <p:nvSpPr>
          <p:cNvPr id="36" name="Shape 34"/>
          <p:cNvSpPr/>
          <p:nvPr/>
        </p:nvSpPr>
        <p:spPr>
          <a:xfrm>
            <a:off x="320040" y="3803904"/>
            <a:ext cx="914400" cy="457200"/>
          </a:xfrm>
          <a:prstGeom prst="roundRect">
            <a:avLst>
              <a:gd name="adj" fmla="val 10000"/>
            </a:avLst>
          </a:prstGeom>
          <a:solidFill>
            <a:srgbClr val="C0392B"/>
          </a:solidFill>
          <a:ln w="12700">
            <a:solidFill>
              <a:srgbClr val="C0392B"/>
            </a:solidFill>
            <a:prstDash val="solid"/>
          </a:ln>
        </p:spPr>
      </p:sp>
      <p:sp>
        <p:nvSpPr>
          <p:cNvPr id="37" name="Text 35"/>
          <p:cNvSpPr/>
          <p:nvPr/>
        </p:nvSpPr>
        <p:spPr>
          <a:xfrm>
            <a:off x="320040" y="3803904"/>
            <a:ext cx="914400" cy="457200"/>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15:30</a:t>
            </a:r>
            <a:endParaRPr lang="en-US" sz="850" dirty="0"/>
          </a:p>
        </p:txBody>
      </p:sp>
      <p:sp>
        <p:nvSpPr>
          <p:cNvPr id="38" name="Shape 36"/>
          <p:cNvSpPr/>
          <p:nvPr/>
        </p:nvSpPr>
        <p:spPr>
          <a:xfrm>
            <a:off x="1280160" y="3803904"/>
            <a:ext cx="7543800" cy="457200"/>
          </a:xfrm>
          <a:prstGeom prst="roundRect">
            <a:avLst>
              <a:gd name="adj" fmla="val 10000"/>
            </a:avLst>
          </a:prstGeom>
          <a:solidFill>
            <a:srgbClr val="F8F8FA"/>
          </a:solidFill>
          <a:ln w="9525">
            <a:solidFill>
              <a:srgbClr val="E5E5EA"/>
            </a:solidFill>
            <a:prstDash val="solid"/>
          </a:ln>
        </p:spPr>
      </p:sp>
      <p:sp>
        <p:nvSpPr>
          <p:cNvPr id="39" name="Text 37"/>
          <p:cNvSpPr/>
          <p:nvPr/>
        </p:nvSpPr>
        <p:spPr>
          <a:xfrm>
            <a:off x="1371600" y="3831336"/>
            <a:ext cx="2560320" cy="201168"/>
          </a:xfrm>
          <a:prstGeom prst="rect">
            <a:avLst/>
          </a:prstGeom>
          <a:noFill/>
          <a:ln/>
        </p:spPr>
        <p:txBody>
          <a:bodyPr wrap="square" rtlCol="0" anchor="ctr"/>
          <a:lstStyle/>
          <a:p>
            <a:pPr indent="0" marL="0">
              <a:buNone/>
            </a:pPr>
            <a:r>
              <a:rPr lang="en-US" sz="850" b="1" dirty="0">
                <a:solidFill>
                  <a:srgbClr val="C0392B"/>
                </a:solidFill>
                <a:latin typeface="Atkinson Hyperlegible" pitchFamily="34" charset="0"/>
                <a:ea typeface="Atkinson Hyperlegible" pitchFamily="34" charset="-122"/>
                <a:cs typeface="Atkinson Hyperlegible" pitchFamily="34" charset="-120"/>
              </a:rPr>
              <a:t>Plan de acción</a:t>
            </a:r>
            <a:endParaRPr lang="en-US" sz="850" dirty="0"/>
          </a:p>
        </p:txBody>
      </p:sp>
      <p:sp>
        <p:nvSpPr>
          <p:cNvPr id="40" name="Text 38"/>
          <p:cNvSpPr/>
          <p:nvPr/>
        </p:nvSpPr>
        <p:spPr>
          <a:xfrm>
            <a:off x="1371600" y="4032504"/>
            <a:ext cx="7315200" cy="201168"/>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Responsable, fecha de respuesta y criterio de cierre para cada observación priorizada.</a:t>
            </a:r>
            <a:endParaRPr lang="en-US" sz="750" dirty="0"/>
          </a:p>
        </p:txBody>
      </p:sp>
      <p:sp>
        <p:nvSpPr>
          <p:cNvPr id="41" name="Shape 39"/>
          <p:cNvSpPr/>
          <p:nvPr/>
        </p:nvSpPr>
        <p:spPr>
          <a:xfrm>
            <a:off x="320040" y="4297680"/>
            <a:ext cx="914400" cy="457200"/>
          </a:xfrm>
          <a:prstGeom prst="roundRect">
            <a:avLst>
              <a:gd name="adj" fmla="val 10000"/>
            </a:avLst>
          </a:prstGeom>
          <a:solidFill>
            <a:srgbClr val="E5E5EA"/>
          </a:solidFill>
          <a:ln w="12700">
            <a:solidFill>
              <a:srgbClr val="E5E5EA"/>
            </a:solidFill>
            <a:prstDash val="solid"/>
          </a:ln>
        </p:spPr>
      </p:sp>
      <p:sp>
        <p:nvSpPr>
          <p:cNvPr id="42" name="Text 40"/>
          <p:cNvSpPr/>
          <p:nvPr/>
        </p:nvSpPr>
        <p:spPr>
          <a:xfrm>
            <a:off x="320040" y="4297680"/>
            <a:ext cx="914400" cy="457200"/>
          </a:xfrm>
          <a:prstGeom prst="rect">
            <a:avLst/>
          </a:prstGeom>
          <a:noFill/>
          <a:ln/>
        </p:spPr>
        <p:txBody>
          <a:bodyPr wrap="square" rtlCol="0" anchor="ctr"/>
          <a:lstStyle/>
          <a:p>
            <a:pPr algn="ct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16:30</a:t>
            </a:r>
            <a:endParaRPr lang="en-US" sz="850" dirty="0"/>
          </a:p>
        </p:txBody>
      </p:sp>
      <p:sp>
        <p:nvSpPr>
          <p:cNvPr id="43" name="Shape 41"/>
          <p:cNvSpPr/>
          <p:nvPr/>
        </p:nvSpPr>
        <p:spPr>
          <a:xfrm>
            <a:off x="1280160" y="4297680"/>
            <a:ext cx="7543800" cy="457200"/>
          </a:xfrm>
          <a:prstGeom prst="roundRect">
            <a:avLst>
              <a:gd name="adj" fmla="val 10000"/>
            </a:avLst>
          </a:prstGeom>
          <a:solidFill>
            <a:srgbClr val="FFFFFF"/>
          </a:solidFill>
          <a:ln w="9525">
            <a:solidFill>
              <a:srgbClr val="E5E5EA"/>
            </a:solidFill>
            <a:prstDash val="solid"/>
          </a:ln>
        </p:spPr>
      </p:sp>
      <p:sp>
        <p:nvSpPr>
          <p:cNvPr id="44" name="Text 42"/>
          <p:cNvSpPr/>
          <p:nvPr/>
        </p:nvSpPr>
        <p:spPr>
          <a:xfrm>
            <a:off x="1371600" y="4325112"/>
            <a:ext cx="2560320" cy="20116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Cierre y compromisos</a:t>
            </a:r>
            <a:endParaRPr lang="en-US" sz="850" dirty="0"/>
          </a:p>
        </p:txBody>
      </p:sp>
      <p:sp>
        <p:nvSpPr>
          <p:cNvPr id="45" name="Text 43"/>
          <p:cNvSpPr/>
          <p:nvPr/>
        </p:nvSpPr>
        <p:spPr>
          <a:xfrm>
            <a:off x="1371600" y="4526280"/>
            <a:ext cx="7315200" cy="201168"/>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Lectura de compromisos, próximos pasos, fecha del próximo taller o revisión.</a:t>
            </a:r>
            <a:endParaRPr lang="en-US" sz="750" dirty="0"/>
          </a:p>
        </p:txBody>
      </p:sp>
      <p:sp>
        <p:nvSpPr>
          <p:cNvPr id="46" name="Shape 44"/>
          <p:cNvSpPr/>
          <p:nvPr/>
        </p:nvSpPr>
        <p:spPr>
          <a:xfrm>
            <a:off x="182880" y="4956048"/>
            <a:ext cx="8961120" cy="182880"/>
          </a:xfrm>
          <a:prstGeom prst="rect">
            <a:avLst/>
          </a:prstGeom>
          <a:solidFill>
            <a:srgbClr val="C0392B"/>
          </a:solidFill>
          <a:ln w="12700">
            <a:solidFill>
              <a:srgbClr val="C0392B"/>
            </a:solidFill>
            <a:prstDash val="solid"/>
          </a:ln>
        </p:spPr>
      </p:sp>
      <p:sp>
        <p:nvSpPr>
          <p:cNvPr id="47" name="Text 45"/>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60 / 126</a:t>
            </a:r>
            <a:endParaRPr lang="en-US" sz="7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C3E8C"/>
          </a:solidFill>
          <a:ln w="12700">
            <a:solidFill>
              <a:srgbClr val="2C3E8C"/>
            </a:solidFill>
            <a:prstDash val="solid"/>
          </a:ln>
        </p:spPr>
      </p:sp>
      <p:sp>
        <p:nvSpPr>
          <p:cNvPr id="3" name="Shape 1"/>
          <p:cNvSpPr/>
          <p:nvPr/>
        </p:nvSpPr>
        <p:spPr>
          <a:xfrm>
            <a:off x="0" y="0"/>
            <a:ext cx="2011680" cy="5143500"/>
          </a:xfrm>
          <a:prstGeom prst="rect">
            <a:avLst/>
          </a:prstGeom>
          <a:solidFill>
            <a:srgbClr val="FFFFFF"/>
          </a:solidFill>
          <a:ln w="12700">
            <a:solidFill>
              <a:srgbClr val="FFFFFF"/>
            </a:solidFill>
            <a:prstDash val="solid"/>
          </a:ln>
        </p:spPr>
      </p:sp>
      <p:sp>
        <p:nvSpPr>
          <p:cNvPr id="4" name="Text 2"/>
          <p:cNvSpPr/>
          <p:nvPr/>
        </p:nvSpPr>
        <p:spPr>
          <a:xfrm>
            <a:off x="320040" y="1463040"/>
            <a:ext cx="1828800" cy="1371600"/>
          </a:xfrm>
          <a:prstGeom prst="rect">
            <a:avLst/>
          </a:prstGeom>
          <a:noFill/>
          <a:ln/>
        </p:spPr>
        <p:txBody>
          <a:bodyPr wrap="square" rtlCol="0" anchor="ctr"/>
          <a:lstStyle/>
          <a:p>
            <a:pPr indent="0" marL="0">
              <a:buNone/>
            </a:pPr>
            <a:r>
              <a:rPr lang="en-US" sz="9000" b="1" dirty="0">
                <a:solidFill>
                  <a:srgbClr val="FFFFFF">
                    <a:alpha val="80000"/>
                  </a:srgbClr>
                </a:solidFill>
                <a:latin typeface="Atkinson Hyperlegible" pitchFamily="34" charset="0"/>
                <a:ea typeface="Atkinson Hyperlegible" pitchFamily="34" charset="-122"/>
                <a:cs typeface="Atkinson Hyperlegible" pitchFamily="34" charset="-120"/>
              </a:rPr>
              <a:t>07</a:t>
            </a:r>
            <a:endParaRPr lang="en-US" sz="9000" dirty="0"/>
          </a:p>
        </p:txBody>
      </p:sp>
      <p:sp>
        <p:nvSpPr>
          <p:cNvPr id="5" name="Shape 3"/>
          <p:cNvSpPr/>
          <p:nvPr/>
        </p:nvSpPr>
        <p:spPr>
          <a:xfrm>
            <a:off x="2286000" y="1371600"/>
            <a:ext cx="54864" cy="2286000"/>
          </a:xfrm>
          <a:prstGeom prst="rect">
            <a:avLst/>
          </a:prstGeom>
          <a:solidFill>
            <a:srgbClr val="FFFFFF"/>
          </a:solidFill>
          <a:ln w="12700">
            <a:solidFill>
              <a:srgbClr val="FFFFFF"/>
            </a:solidFill>
            <a:prstDash val="solid"/>
          </a:ln>
        </p:spPr>
      </p:sp>
      <p:sp>
        <p:nvSpPr>
          <p:cNvPr id="6" name="Text 4"/>
          <p:cNvSpPr/>
          <p:nvPr/>
        </p:nvSpPr>
        <p:spPr>
          <a:xfrm>
            <a:off x="2560320" y="1554480"/>
            <a:ext cx="6217920" cy="1005840"/>
          </a:xfrm>
          <a:prstGeom prst="rect">
            <a:avLst/>
          </a:prstGeom>
          <a:noFill/>
          <a:ln/>
        </p:spPr>
        <p:txBody>
          <a:bodyPr wrap="square" rtlCol="0" anchor="ctr"/>
          <a:lstStyle/>
          <a:p>
            <a:pPr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Casos de Estudio</a:t>
            </a:r>
            <a:endParaRPr lang="en-US" sz="2800" dirty="0"/>
          </a:p>
        </p:txBody>
      </p:sp>
      <p:sp>
        <p:nvSpPr>
          <p:cNvPr id="7" name="Text 5"/>
          <p:cNvSpPr/>
          <p:nvPr/>
        </p:nvSpPr>
        <p:spPr>
          <a:xfrm>
            <a:off x="2560320" y="2651760"/>
            <a:ext cx="6217920" cy="1097280"/>
          </a:xfrm>
          <a:prstGeom prst="rect">
            <a:avLst/>
          </a:prstGeom>
          <a:noFill/>
          <a:ln/>
        </p:spPr>
        <p:txBody>
          <a:bodyPr wrap="square" rtlCol="0" anchor="ctr"/>
          <a:lstStyle/>
          <a:p>
            <a:pPr indent="0" marL="0">
              <a:buNone/>
            </a:pPr>
            <a:r>
              <a:rPr lang="en-US" sz="1200" dirty="0">
                <a:solidFill>
                  <a:srgbClr val="FFFFFF">
                    <a:alpha val="85000"/>
                  </a:srgbClr>
                </a:solidFill>
                <a:latin typeface="Atkinson Hyperlegible" pitchFamily="34" charset="0"/>
                <a:ea typeface="Atkinson Hyperlegible" pitchFamily="34" charset="-122"/>
                <a:cs typeface="Atkinson Hyperlegible" pitchFamily="34" charset="-120"/>
              </a:rPr>
              <a:t>Constructabilidad en acción: evidencia de proyectos reales documentados por el CII</a:t>
            </a:r>
            <a:endParaRPr lang="en-US" sz="1200" dirty="0"/>
          </a:p>
        </p:txBody>
      </p:sp>
      <p:sp>
        <p:nvSpPr>
          <p:cNvPr id="8" name="Shape 6"/>
          <p:cNvSpPr/>
          <p:nvPr/>
        </p:nvSpPr>
        <p:spPr>
          <a:xfrm>
            <a:off x="182880" y="4956048"/>
            <a:ext cx="8961120" cy="182880"/>
          </a:xfrm>
          <a:prstGeom prst="rect">
            <a:avLst/>
          </a:prstGeom>
          <a:solidFill>
            <a:srgbClr val="1D1D1F"/>
          </a:solidFill>
          <a:ln w="12700">
            <a:solidFill>
              <a:srgbClr val="1D1D1F"/>
            </a:solidFill>
            <a:prstDash val="solid"/>
          </a:ln>
        </p:spPr>
      </p:sp>
      <p:sp>
        <p:nvSpPr>
          <p:cNvPr id="9" name="Text 7"/>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61 / 126</a:t>
            </a:r>
            <a:endParaRPr lang="en-US" sz="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2C3E8C"/>
          </a:solidFill>
          <a:ln w="12700">
            <a:solidFill>
              <a:srgbClr val="2C3E8C"/>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Casos de Estudio CII — Resumen</a:t>
            </a:r>
            <a:endParaRPr lang="en-US" sz="1800" dirty="0"/>
          </a:p>
        </p:txBody>
      </p:sp>
      <p:sp>
        <p:nvSpPr>
          <p:cNvPr id="4" name="Shape 2"/>
          <p:cNvSpPr/>
          <p:nvPr/>
        </p:nvSpPr>
        <p:spPr>
          <a:xfrm>
            <a:off x="320040" y="640080"/>
            <a:ext cx="8503920" cy="41148"/>
          </a:xfrm>
          <a:prstGeom prst="rect">
            <a:avLst/>
          </a:prstGeom>
          <a:solidFill>
            <a:srgbClr val="2C3E8C"/>
          </a:solidFill>
          <a:ln w="12700">
            <a:solidFill>
              <a:srgbClr val="2C3E8C"/>
            </a:solidFill>
            <a:prstDash val="solid"/>
          </a:ln>
        </p:spPr>
      </p:sp>
      <p:sp>
        <p:nvSpPr>
          <p:cNvPr id="5" name="Text 3"/>
          <p:cNvSpPr/>
          <p:nvPr/>
        </p:nvSpPr>
        <p:spPr>
          <a:xfrm>
            <a:off x="320040" y="704088"/>
            <a:ext cx="8503920" cy="256032"/>
          </a:xfrm>
          <a:prstGeom prst="rect">
            <a:avLst/>
          </a:prstGeom>
          <a:noFill/>
          <a:ln/>
        </p:spPr>
        <p:txBody>
          <a:bodyPr wrap="square" rtlCol="0" anchor="ctr"/>
          <a:lstStyle/>
          <a:p>
            <a:pPr indent="0" marL="0">
              <a:buNone/>
            </a:pPr>
            <a:r>
              <a:rPr lang="en-US" sz="900" i="1" dirty="0">
                <a:solidFill>
                  <a:srgbClr val="2C3E8C"/>
                </a:solidFill>
                <a:latin typeface="Atkinson Hyperlegible" pitchFamily="34" charset="0"/>
                <a:ea typeface="Atkinson Hyperlegible" pitchFamily="34" charset="-122"/>
                <a:cs typeface="Atkinson Hyperlegible" pitchFamily="34" charset="-120"/>
              </a:rPr>
              <a:t>Proyectos donde la constructabilidad marcó la diferencia</a:t>
            </a:r>
            <a:endParaRPr lang="en-US" sz="900" dirty="0"/>
          </a:p>
        </p:txBody>
      </p:sp>
      <p:sp>
        <p:nvSpPr>
          <p:cNvPr id="6" name="Shape 4"/>
          <p:cNvSpPr/>
          <p:nvPr/>
        </p:nvSpPr>
        <p:spPr>
          <a:xfrm>
            <a:off x="320040" y="804672"/>
            <a:ext cx="4169664" cy="1943100"/>
          </a:xfrm>
          <a:prstGeom prst="roundRect">
            <a:avLst>
              <a:gd name="adj" fmla="val 4235"/>
            </a:avLst>
          </a:prstGeom>
          <a:solidFill>
            <a:srgbClr val="2C3E8C"/>
          </a:solidFill>
          <a:ln w="19050">
            <a:solidFill>
              <a:srgbClr val="2C3E8C"/>
            </a:solidFill>
            <a:prstDash val="solid"/>
          </a:ln>
        </p:spPr>
      </p:sp>
      <p:sp>
        <p:nvSpPr>
          <p:cNvPr id="7" name="Shape 5"/>
          <p:cNvSpPr/>
          <p:nvPr/>
        </p:nvSpPr>
        <p:spPr>
          <a:xfrm>
            <a:off x="320040" y="804672"/>
            <a:ext cx="4169664" cy="54864"/>
          </a:xfrm>
          <a:prstGeom prst="rect">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8056" y="932688"/>
            <a:ext cx="365760" cy="365760"/>
          </a:xfrm>
          <a:prstGeom prst="rect">
            <a:avLst/>
          </a:prstGeom>
        </p:spPr>
      </p:pic>
      <p:sp>
        <p:nvSpPr>
          <p:cNvPr id="9" name="Text 6"/>
          <p:cNvSpPr/>
          <p:nvPr/>
        </p:nvSpPr>
        <p:spPr>
          <a:xfrm>
            <a:off x="868680" y="914400"/>
            <a:ext cx="3511296"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CS-1: Planta Petroquímica</a:t>
            </a:r>
            <a:endParaRPr lang="en-US" sz="850" dirty="0"/>
          </a:p>
        </p:txBody>
      </p:sp>
      <p:sp>
        <p:nvSpPr>
          <p:cNvPr id="10" name="Text 7"/>
          <p:cNvSpPr/>
          <p:nvPr/>
        </p:nvSpPr>
        <p:spPr>
          <a:xfrm>
            <a:off x="429768" y="1316736"/>
            <a:ext cx="3968496"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Proyecto de $1.2B. Modularización al 65%. Reducción de 8 meses en cronograma. ROI del programa: 18:1.</a:t>
            </a:r>
            <a:endParaRPr lang="en-US" sz="750" dirty="0"/>
          </a:p>
        </p:txBody>
      </p:sp>
      <p:sp>
        <p:nvSpPr>
          <p:cNvPr id="11" name="Shape 8"/>
          <p:cNvSpPr/>
          <p:nvPr/>
        </p:nvSpPr>
        <p:spPr>
          <a:xfrm>
            <a:off x="4654296" y="804672"/>
            <a:ext cx="4169664" cy="1943100"/>
          </a:xfrm>
          <a:prstGeom prst="roundRect">
            <a:avLst>
              <a:gd name="adj" fmla="val 4235"/>
            </a:avLst>
          </a:prstGeom>
          <a:solidFill>
            <a:srgbClr val="FFFFFF"/>
          </a:solidFill>
          <a:ln w="19050">
            <a:solidFill>
              <a:srgbClr val="2C3E8C"/>
            </a:solidFill>
            <a:prstDash val="solid"/>
          </a:ln>
        </p:spPr>
      </p:sp>
      <p:sp>
        <p:nvSpPr>
          <p:cNvPr id="12" name="Shape 9"/>
          <p:cNvSpPr/>
          <p:nvPr/>
        </p:nvSpPr>
        <p:spPr>
          <a:xfrm>
            <a:off x="4654296" y="804672"/>
            <a:ext cx="4169664" cy="54864"/>
          </a:xfrm>
          <a:prstGeom prst="rect">
            <a:avLst/>
          </a:prstGeom>
          <a:solidFill>
            <a:srgbClr val="2C3E8C"/>
          </a:solidFill>
          <a:ln w="12700">
            <a:solidFill>
              <a:srgbClr val="2C3E8C"/>
            </a:solidFill>
            <a:prstDash val="solid"/>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82312" y="932688"/>
            <a:ext cx="365760" cy="365760"/>
          </a:xfrm>
          <a:prstGeom prst="rect">
            <a:avLst/>
          </a:prstGeom>
        </p:spPr>
      </p:pic>
      <p:sp>
        <p:nvSpPr>
          <p:cNvPr id="14" name="Text 10"/>
          <p:cNvSpPr/>
          <p:nvPr/>
        </p:nvSpPr>
        <p:spPr>
          <a:xfrm>
            <a:off x="5202936" y="914400"/>
            <a:ext cx="3511296" cy="347472"/>
          </a:xfrm>
          <a:prstGeom prst="rect">
            <a:avLst/>
          </a:prstGeom>
          <a:noFill/>
          <a:ln/>
        </p:spPr>
        <p:txBody>
          <a:bodyPr wrap="square" rtlCol="0" anchor="ctr"/>
          <a:lstStyle/>
          <a:p>
            <a:pPr indent="0" marL="0">
              <a:buNone/>
            </a:pPr>
            <a:r>
              <a:rPr lang="en-US" sz="850" b="1" dirty="0">
                <a:solidFill>
                  <a:srgbClr val="2C3E8C"/>
                </a:solidFill>
                <a:latin typeface="Atkinson Hyperlegible" pitchFamily="34" charset="0"/>
                <a:ea typeface="Atkinson Hyperlegible" pitchFamily="34" charset="-122"/>
                <a:cs typeface="Atkinson Hyperlegible" pitchFamily="34" charset="-120"/>
              </a:rPr>
              <a:t>CS-2: Planta Aluminio Fjardaál</a:t>
            </a:r>
            <a:endParaRPr lang="en-US" sz="850" dirty="0"/>
          </a:p>
        </p:txBody>
      </p:sp>
      <p:sp>
        <p:nvSpPr>
          <p:cNvPr id="15" name="Text 11"/>
          <p:cNvSpPr/>
          <p:nvPr/>
        </p:nvSpPr>
        <p:spPr>
          <a:xfrm>
            <a:off x="4764024" y="1316736"/>
            <a:ext cx="3968496"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Alcoa, Islandia. Primera planta en zona remota extrema. Constructabilidad desde Factibilidad: 40% reducción de costos de campo.</a:t>
            </a:r>
            <a:endParaRPr lang="en-US" sz="750" dirty="0"/>
          </a:p>
        </p:txBody>
      </p:sp>
      <p:sp>
        <p:nvSpPr>
          <p:cNvPr id="16" name="Shape 12"/>
          <p:cNvSpPr/>
          <p:nvPr/>
        </p:nvSpPr>
        <p:spPr>
          <a:xfrm>
            <a:off x="320040" y="2884932"/>
            <a:ext cx="4169664" cy="1943100"/>
          </a:xfrm>
          <a:prstGeom prst="roundRect">
            <a:avLst>
              <a:gd name="adj" fmla="val 4235"/>
            </a:avLst>
          </a:prstGeom>
          <a:solidFill>
            <a:srgbClr val="2C3E8C"/>
          </a:solidFill>
          <a:ln w="19050">
            <a:solidFill>
              <a:srgbClr val="2C3E8C"/>
            </a:solidFill>
            <a:prstDash val="solid"/>
          </a:ln>
        </p:spPr>
      </p:sp>
      <p:sp>
        <p:nvSpPr>
          <p:cNvPr id="17" name="Shape 13"/>
          <p:cNvSpPr/>
          <p:nvPr/>
        </p:nvSpPr>
        <p:spPr>
          <a:xfrm>
            <a:off x="320040" y="2884932"/>
            <a:ext cx="4169664" cy="54864"/>
          </a:xfrm>
          <a:prstGeom prst="rect">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8056" y="3012948"/>
            <a:ext cx="365760" cy="365760"/>
          </a:xfrm>
          <a:prstGeom prst="rect">
            <a:avLst/>
          </a:prstGeom>
        </p:spPr>
      </p:pic>
      <p:sp>
        <p:nvSpPr>
          <p:cNvPr id="19" name="Text 14"/>
          <p:cNvSpPr/>
          <p:nvPr/>
        </p:nvSpPr>
        <p:spPr>
          <a:xfrm>
            <a:off x="868680" y="2994660"/>
            <a:ext cx="3511296"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CS-3: Análisis Histórico CII</a:t>
            </a:r>
            <a:endParaRPr lang="en-US" sz="850" dirty="0"/>
          </a:p>
        </p:txBody>
      </p:sp>
      <p:sp>
        <p:nvSpPr>
          <p:cNvPr id="20" name="Text 15"/>
          <p:cNvSpPr/>
          <p:nvPr/>
        </p:nvSpPr>
        <p:spPr>
          <a:xfrm>
            <a:off x="429768" y="3396996"/>
            <a:ext cx="3968496"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Base de datos de 100+ proyectos. Los con programa formal superan consistentemente en costo, plazo y calidad.</a:t>
            </a:r>
            <a:endParaRPr lang="en-US" sz="750" dirty="0"/>
          </a:p>
        </p:txBody>
      </p:sp>
      <p:sp>
        <p:nvSpPr>
          <p:cNvPr id="21" name="Shape 16"/>
          <p:cNvSpPr/>
          <p:nvPr/>
        </p:nvSpPr>
        <p:spPr>
          <a:xfrm>
            <a:off x="4654296" y="2884932"/>
            <a:ext cx="4169664" cy="1943100"/>
          </a:xfrm>
          <a:prstGeom prst="roundRect">
            <a:avLst>
              <a:gd name="adj" fmla="val 4235"/>
            </a:avLst>
          </a:prstGeom>
          <a:solidFill>
            <a:srgbClr val="FFFFFF"/>
          </a:solidFill>
          <a:ln w="19050">
            <a:solidFill>
              <a:srgbClr val="2C3E8C"/>
            </a:solidFill>
            <a:prstDash val="solid"/>
          </a:ln>
        </p:spPr>
      </p:sp>
      <p:sp>
        <p:nvSpPr>
          <p:cNvPr id="22" name="Shape 17"/>
          <p:cNvSpPr/>
          <p:nvPr/>
        </p:nvSpPr>
        <p:spPr>
          <a:xfrm>
            <a:off x="4654296" y="2884932"/>
            <a:ext cx="4169664" cy="54864"/>
          </a:xfrm>
          <a:prstGeom prst="rect">
            <a:avLst/>
          </a:prstGeom>
          <a:solidFill>
            <a:srgbClr val="2C3E8C"/>
          </a:solidFill>
          <a:ln w="12700">
            <a:solidFill>
              <a:srgbClr val="2C3E8C"/>
            </a:solidFill>
            <a:prstDash val="solid"/>
          </a:ln>
        </p:spPr>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82312" y="3012948"/>
            <a:ext cx="365760" cy="365760"/>
          </a:xfrm>
          <a:prstGeom prst="rect">
            <a:avLst/>
          </a:prstGeom>
        </p:spPr>
      </p:pic>
      <p:sp>
        <p:nvSpPr>
          <p:cNvPr id="24" name="Text 18"/>
          <p:cNvSpPr/>
          <p:nvPr/>
        </p:nvSpPr>
        <p:spPr>
          <a:xfrm>
            <a:off x="5202936" y="2994660"/>
            <a:ext cx="3511296" cy="347472"/>
          </a:xfrm>
          <a:prstGeom prst="rect">
            <a:avLst/>
          </a:prstGeom>
          <a:noFill/>
          <a:ln/>
        </p:spPr>
        <p:txBody>
          <a:bodyPr wrap="square" rtlCol="0" anchor="ctr"/>
          <a:lstStyle/>
          <a:p>
            <a:pPr indent="0" marL="0">
              <a:buNone/>
            </a:pPr>
            <a:r>
              <a:rPr lang="en-US" sz="850" b="1" dirty="0">
                <a:solidFill>
                  <a:srgbClr val="2C3E8C"/>
                </a:solidFill>
                <a:latin typeface="Atkinson Hyperlegible" pitchFamily="34" charset="0"/>
                <a:ea typeface="Atkinson Hyperlegible" pitchFamily="34" charset="-122"/>
                <a:cs typeface="Atkinson Hyperlegible" pitchFamily="34" charset="-120"/>
              </a:rPr>
              <a:t>CS-4: Análisis Comparativo</a:t>
            </a:r>
            <a:endParaRPr lang="en-US" sz="850" dirty="0"/>
          </a:p>
        </p:txBody>
      </p:sp>
      <p:sp>
        <p:nvSpPr>
          <p:cNvPr id="25" name="Text 19"/>
          <p:cNvSpPr/>
          <p:nvPr/>
        </p:nvSpPr>
        <p:spPr>
          <a:xfrm>
            <a:off x="4764024" y="3396996"/>
            <a:ext cx="3968496"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Proyectos con/sin constructabilidad: 23% menos Change Orders, 18% menos tiempo de construcción, 15:1 ROI promedio.</a:t>
            </a:r>
            <a:endParaRPr lang="en-US" sz="750" dirty="0"/>
          </a:p>
        </p:txBody>
      </p:sp>
      <p:sp>
        <p:nvSpPr>
          <p:cNvPr id="26" name="Shape 20"/>
          <p:cNvSpPr/>
          <p:nvPr/>
        </p:nvSpPr>
        <p:spPr>
          <a:xfrm>
            <a:off x="182880" y="4956048"/>
            <a:ext cx="8961120" cy="182880"/>
          </a:xfrm>
          <a:prstGeom prst="rect">
            <a:avLst/>
          </a:prstGeom>
          <a:solidFill>
            <a:srgbClr val="2C3E8C"/>
          </a:solidFill>
          <a:ln w="12700">
            <a:solidFill>
              <a:srgbClr val="2C3E8C"/>
            </a:solidFill>
            <a:prstDash val="solid"/>
          </a:ln>
        </p:spPr>
      </p:sp>
      <p:sp>
        <p:nvSpPr>
          <p:cNvPr id="27" name="Text 21"/>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62 / 126</a:t>
            </a:r>
            <a:endParaRPr lang="en-US" sz="7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2C3E8C"/>
          </a:solidFill>
          <a:ln w="12700">
            <a:solidFill>
              <a:srgbClr val="2C3E8C"/>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CS-1: Planta Petroquímica — Modularización Exitosa</a:t>
            </a:r>
            <a:endParaRPr lang="en-US" sz="1800" dirty="0"/>
          </a:p>
        </p:txBody>
      </p:sp>
      <p:sp>
        <p:nvSpPr>
          <p:cNvPr id="4" name="Shape 2"/>
          <p:cNvSpPr/>
          <p:nvPr/>
        </p:nvSpPr>
        <p:spPr>
          <a:xfrm>
            <a:off x="320040" y="640080"/>
            <a:ext cx="8503920" cy="41148"/>
          </a:xfrm>
          <a:prstGeom prst="rect">
            <a:avLst/>
          </a:prstGeom>
          <a:solidFill>
            <a:srgbClr val="2C3E8C"/>
          </a:solidFill>
          <a:ln w="12700">
            <a:solidFill>
              <a:srgbClr val="2C3E8C"/>
            </a:solidFill>
            <a:prstDash val="solid"/>
          </a:ln>
        </p:spPr>
      </p:sp>
      <p:sp>
        <p:nvSpPr>
          <p:cNvPr id="5" name="Shape 3"/>
          <p:cNvSpPr/>
          <p:nvPr/>
        </p:nvSpPr>
        <p:spPr>
          <a:xfrm>
            <a:off x="274320" y="804672"/>
            <a:ext cx="4160520" cy="4114800"/>
          </a:xfrm>
          <a:prstGeom prst="roundRect">
            <a:avLst>
              <a:gd name="adj" fmla="val 2222"/>
            </a:avLst>
          </a:prstGeom>
          <a:solidFill>
            <a:srgbClr val="2C3E8C"/>
          </a:solidFill>
          <a:ln w="12700">
            <a:solidFill>
              <a:srgbClr val="2C3E8C"/>
            </a:solidFill>
            <a:prstDash val="solid"/>
          </a:ln>
        </p:spPr>
      </p:sp>
      <p:sp>
        <p:nvSpPr>
          <p:cNvPr id="6" name="Shape 4"/>
          <p:cNvSpPr/>
          <p:nvPr/>
        </p:nvSpPr>
        <p:spPr>
          <a:xfrm>
            <a:off x="274320" y="804672"/>
            <a:ext cx="45720" cy="4114800"/>
          </a:xfrm>
          <a:prstGeom prst="rect">
            <a:avLst/>
          </a:prstGeom>
          <a:solidFill>
            <a:srgbClr val="2C3E8C"/>
          </a:solidFill>
          <a:ln w="12700">
            <a:solidFill>
              <a:srgbClr val="2C3E8C"/>
            </a:solidFill>
            <a:prstDash val="solid"/>
          </a:ln>
        </p:spPr>
      </p:sp>
      <p:sp>
        <p:nvSpPr>
          <p:cNvPr id="7" name="Text 5"/>
          <p:cNvSpPr/>
          <p:nvPr/>
        </p:nvSpPr>
        <p:spPr>
          <a:xfrm>
            <a:off x="384048" y="822960"/>
            <a:ext cx="3977640" cy="347472"/>
          </a:xfrm>
          <a:prstGeom prst="rect">
            <a:avLst/>
          </a:prstGeom>
          <a:noFill/>
          <a:ln/>
        </p:spPr>
        <p:txBody>
          <a:bodyPr wrap="square" rtlCol="0" anchor="ctr"/>
          <a:lstStyle/>
          <a:p>
            <a:pPr indent="0" marL="0">
              <a:buNone/>
            </a:pPr>
            <a:r>
              <a:rPr lang="en-US" sz="900" b="1" dirty="0">
                <a:solidFill>
                  <a:srgbClr val="2C3E8C"/>
                </a:solidFill>
                <a:latin typeface="Atkinson Hyperlegible" pitchFamily="34" charset="0"/>
                <a:ea typeface="Atkinson Hyperlegible" pitchFamily="34" charset="-122"/>
                <a:cs typeface="Atkinson Hyperlegible" pitchFamily="34" charset="-120"/>
              </a:rPr>
              <a:t>El Proyecto</a:t>
            </a:r>
            <a:endParaRPr lang="en-US" sz="900" dirty="0"/>
          </a:p>
        </p:txBody>
      </p:sp>
      <p:sp>
        <p:nvSpPr>
          <p:cNvPr id="8" name="Shape 6"/>
          <p:cNvSpPr/>
          <p:nvPr/>
        </p:nvSpPr>
        <p:spPr>
          <a:xfrm>
            <a:off x="384048" y="1316736"/>
            <a:ext cx="164592" cy="164592"/>
          </a:xfrm>
          <a:prstGeom prst="ellipse">
            <a:avLst/>
          </a:prstGeom>
          <a:solidFill>
            <a:srgbClr val="2C3E8C"/>
          </a:solidFill>
          <a:ln w="12700">
            <a:solidFill>
              <a:srgbClr val="2C3E8C"/>
            </a:solidFill>
            <a:prstDash val="solid"/>
          </a:ln>
        </p:spPr>
      </p:sp>
      <p:sp>
        <p:nvSpPr>
          <p:cNvPr id="9" name="Text 7"/>
          <p:cNvSpPr/>
          <p:nvPr/>
        </p:nvSpPr>
        <p:spPr>
          <a:xfrm>
            <a:off x="612648" y="1234440"/>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Descripción del proyecto</a:t>
            </a:r>
            <a:endParaRPr lang="en-US" sz="850" dirty="0"/>
          </a:p>
        </p:txBody>
      </p:sp>
      <p:sp>
        <p:nvSpPr>
          <p:cNvPr id="10" name="Text 8"/>
          <p:cNvSpPr/>
          <p:nvPr/>
        </p:nvSpPr>
        <p:spPr>
          <a:xfrm>
            <a:off x="612648" y="1481328"/>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Planta petroquímica en zona remota. Capex: $1.2B. 3.5 millones de horas-hombre.</a:t>
            </a:r>
            <a:endParaRPr lang="en-US" sz="750" dirty="0"/>
          </a:p>
        </p:txBody>
      </p:sp>
      <p:sp>
        <p:nvSpPr>
          <p:cNvPr id="11" name="Shape 9"/>
          <p:cNvSpPr/>
          <p:nvPr/>
        </p:nvSpPr>
        <p:spPr>
          <a:xfrm>
            <a:off x="384048" y="1847088"/>
            <a:ext cx="164592" cy="164592"/>
          </a:xfrm>
          <a:prstGeom prst="ellipse">
            <a:avLst/>
          </a:prstGeom>
          <a:solidFill>
            <a:srgbClr val="2C3E8C"/>
          </a:solidFill>
          <a:ln w="12700">
            <a:solidFill>
              <a:srgbClr val="2C3E8C"/>
            </a:solidFill>
            <a:prstDash val="solid"/>
          </a:ln>
        </p:spPr>
      </p:sp>
      <p:sp>
        <p:nvSpPr>
          <p:cNvPr id="12" name="Text 10"/>
          <p:cNvSpPr/>
          <p:nvPr/>
        </p:nvSpPr>
        <p:spPr>
          <a:xfrm>
            <a:off x="612648" y="1764792"/>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Decisión de modularización</a:t>
            </a:r>
            <a:endParaRPr lang="en-US" sz="850" dirty="0"/>
          </a:p>
        </p:txBody>
      </p:sp>
      <p:sp>
        <p:nvSpPr>
          <p:cNvPr id="13" name="Text 11"/>
          <p:cNvSpPr/>
          <p:nvPr/>
        </p:nvSpPr>
        <p:spPr>
          <a:xfrm>
            <a:off x="612648" y="2011680"/>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Constructabilidad Fase I identificó ventana para módulos: 65% de la planta en 180 módulos prefabricados.</a:t>
            </a:r>
            <a:endParaRPr lang="en-US" sz="750" dirty="0"/>
          </a:p>
        </p:txBody>
      </p:sp>
      <p:sp>
        <p:nvSpPr>
          <p:cNvPr id="14" name="Shape 12"/>
          <p:cNvSpPr/>
          <p:nvPr/>
        </p:nvSpPr>
        <p:spPr>
          <a:xfrm>
            <a:off x="384048" y="2377440"/>
            <a:ext cx="164592" cy="164592"/>
          </a:xfrm>
          <a:prstGeom prst="ellipse">
            <a:avLst/>
          </a:prstGeom>
          <a:solidFill>
            <a:srgbClr val="2C3E8C"/>
          </a:solidFill>
          <a:ln w="12700">
            <a:solidFill>
              <a:srgbClr val="2C3E8C"/>
            </a:solidFill>
            <a:prstDash val="solid"/>
          </a:ln>
        </p:spPr>
      </p:sp>
      <p:sp>
        <p:nvSpPr>
          <p:cNvPr id="15" name="Text 13"/>
          <p:cNvSpPr/>
          <p:nvPr/>
        </p:nvSpPr>
        <p:spPr>
          <a:xfrm>
            <a:off x="612648" y="2295144"/>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Programa implementado</a:t>
            </a:r>
            <a:endParaRPr lang="en-US" sz="850" dirty="0"/>
          </a:p>
        </p:txBody>
      </p:sp>
      <p:sp>
        <p:nvSpPr>
          <p:cNvPr id="16" name="Text 14"/>
          <p:cNvSpPr/>
          <p:nvPr/>
        </p:nvSpPr>
        <p:spPr>
          <a:xfrm>
            <a:off x="612648" y="2542032"/>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Champion dedicado desde Factibilidad. 12 talleres durante diseño. LLDB con 340 observaciones implementadas.</a:t>
            </a:r>
            <a:endParaRPr lang="en-US" sz="750" dirty="0"/>
          </a:p>
        </p:txBody>
      </p:sp>
      <p:sp>
        <p:nvSpPr>
          <p:cNvPr id="17" name="Shape 15"/>
          <p:cNvSpPr/>
          <p:nvPr/>
        </p:nvSpPr>
        <p:spPr>
          <a:xfrm>
            <a:off x="384048" y="2907792"/>
            <a:ext cx="164592" cy="164592"/>
          </a:xfrm>
          <a:prstGeom prst="ellipse">
            <a:avLst/>
          </a:prstGeom>
          <a:solidFill>
            <a:srgbClr val="2C3E8C"/>
          </a:solidFill>
          <a:ln w="12700">
            <a:solidFill>
              <a:srgbClr val="2C3E8C"/>
            </a:solidFill>
            <a:prstDash val="solid"/>
          </a:ln>
        </p:spPr>
      </p:sp>
      <p:sp>
        <p:nvSpPr>
          <p:cNvPr id="18" name="Text 16"/>
          <p:cNvSpPr/>
          <p:nvPr/>
        </p:nvSpPr>
        <p:spPr>
          <a:xfrm>
            <a:off x="612648" y="2825496"/>
            <a:ext cx="365760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Reto principal</a:t>
            </a:r>
            <a:endParaRPr lang="en-US" sz="850" dirty="0"/>
          </a:p>
        </p:txBody>
      </p:sp>
      <p:sp>
        <p:nvSpPr>
          <p:cNvPr id="19" name="Text 17"/>
          <p:cNvSpPr/>
          <p:nvPr/>
        </p:nvSpPr>
        <p:spPr>
          <a:xfrm>
            <a:off x="612648" y="3072384"/>
            <a:ext cx="365760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Transportar módulos de hasta 800 ton desde el fabricante al sitio remoto. Diseño de rutas y accesos desde Factibilidad.</a:t>
            </a:r>
            <a:endParaRPr lang="en-US" sz="750" dirty="0"/>
          </a:p>
        </p:txBody>
      </p:sp>
      <p:sp>
        <p:nvSpPr>
          <p:cNvPr id="20" name="Text 18"/>
          <p:cNvSpPr/>
          <p:nvPr/>
        </p:nvSpPr>
        <p:spPr>
          <a:xfrm>
            <a:off x="4617720" y="822960"/>
            <a:ext cx="4251960" cy="347472"/>
          </a:xfrm>
          <a:prstGeom prst="rect">
            <a:avLst/>
          </a:prstGeom>
          <a:noFill/>
          <a:ln/>
        </p:spPr>
        <p:txBody>
          <a:bodyPr wrap="square" rtlCol="0" anchor="ctr"/>
          <a:lstStyle/>
          <a:p>
            <a:pPr indent="0" marL="0">
              <a:buNone/>
            </a:pPr>
            <a:r>
              <a:rPr lang="en-US" sz="900" b="1" dirty="0">
                <a:solidFill>
                  <a:srgbClr val="2C3E8C"/>
                </a:solidFill>
                <a:latin typeface="Atkinson Hyperlegible" pitchFamily="34" charset="0"/>
                <a:ea typeface="Atkinson Hyperlegible" pitchFamily="34" charset="-122"/>
                <a:cs typeface="Atkinson Hyperlegible" pitchFamily="34" charset="-120"/>
              </a:rPr>
              <a:t>Los Resultados</a:t>
            </a:r>
            <a:endParaRPr lang="en-US" sz="900" dirty="0"/>
          </a:p>
        </p:txBody>
      </p:sp>
      <p:sp>
        <p:nvSpPr>
          <p:cNvPr id="21" name="Shape 19"/>
          <p:cNvSpPr/>
          <p:nvPr/>
        </p:nvSpPr>
        <p:spPr>
          <a:xfrm>
            <a:off x="4617720" y="1316736"/>
            <a:ext cx="164592" cy="164592"/>
          </a:xfrm>
          <a:prstGeom prst="ellipse">
            <a:avLst/>
          </a:prstGeom>
          <a:solidFill>
            <a:srgbClr val="1D1D1F"/>
          </a:solidFill>
          <a:ln w="12700">
            <a:solidFill>
              <a:srgbClr val="1D1D1F"/>
            </a:solidFill>
            <a:prstDash val="solid"/>
          </a:ln>
        </p:spPr>
      </p:sp>
      <p:sp>
        <p:nvSpPr>
          <p:cNvPr id="22" name="Text 20"/>
          <p:cNvSpPr/>
          <p:nvPr/>
        </p:nvSpPr>
        <p:spPr>
          <a:xfrm>
            <a:off x="4846320" y="1234440"/>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Resultado en costo</a:t>
            </a:r>
            <a:endParaRPr lang="en-US" sz="850" dirty="0"/>
          </a:p>
        </p:txBody>
      </p:sp>
      <p:sp>
        <p:nvSpPr>
          <p:cNvPr id="23" name="Text 21"/>
          <p:cNvSpPr/>
          <p:nvPr/>
        </p:nvSpPr>
        <p:spPr>
          <a:xfrm>
            <a:off x="4846320" y="1481328"/>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4.2% de reducción en costo total del proyecto = $50M de ahorro documentado.</a:t>
            </a:r>
            <a:endParaRPr lang="en-US" sz="750" dirty="0"/>
          </a:p>
        </p:txBody>
      </p:sp>
      <p:sp>
        <p:nvSpPr>
          <p:cNvPr id="24" name="Shape 22"/>
          <p:cNvSpPr/>
          <p:nvPr/>
        </p:nvSpPr>
        <p:spPr>
          <a:xfrm>
            <a:off x="4617720" y="1847088"/>
            <a:ext cx="164592" cy="164592"/>
          </a:xfrm>
          <a:prstGeom prst="ellipse">
            <a:avLst/>
          </a:prstGeom>
          <a:solidFill>
            <a:srgbClr val="1D1D1F"/>
          </a:solidFill>
          <a:ln w="12700">
            <a:solidFill>
              <a:srgbClr val="1D1D1F"/>
            </a:solidFill>
            <a:prstDash val="solid"/>
          </a:ln>
        </p:spPr>
      </p:sp>
      <p:sp>
        <p:nvSpPr>
          <p:cNvPr id="25" name="Text 23"/>
          <p:cNvSpPr/>
          <p:nvPr/>
        </p:nvSpPr>
        <p:spPr>
          <a:xfrm>
            <a:off x="4846320" y="1764792"/>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Resultado en cronograma</a:t>
            </a:r>
            <a:endParaRPr lang="en-US" sz="850" dirty="0"/>
          </a:p>
        </p:txBody>
      </p:sp>
      <p:sp>
        <p:nvSpPr>
          <p:cNvPr id="26" name="Text 24"/>
          <p:cNvSpPr/>
          <p:nvPr/>
        </p:nvSpPr>
        <p:spPr>
          <a:xfrm>
            <a:off x="4846320" y="2011680"/>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8 meses de reducción vs. plan original. Primer gas 8 meses antes del plan de negocios.</a:t>
            </a:r>
            <a:endParaRPr lang="en-US" sz="750" dirty="0"/>
          </a:p>
        </p:txBody>
      </p:sp>
      <p:sp>
        <p:nvSpPr>
          <p:cNvPr id="27" name="Shape 25"/>
          <p:cNvSpPr/>
          <p:nvPr/>
        </p:nvSpPr>
        <p:spPr>
          <a:xfrm>
            <a:off x="4617720" y="2377440"/>
            <a:ext cx="164592" cy="164592"/>
          </a:xfrm>
          <a:prstGeom prst="ellipse">
            <a:avLst/>
          </a:prstGeom>
          <a:solidFill>
            <a:srgbClr val="1D1D1F"/>
          </a:solidFill>
          <a:ln w="12700">
            <a:solidFill>
              <a:srgbClr val="1D1D1F"/>
            </a:solidFill>
            <a:prstDash val="solid"/>
          </a:ln>
        </p:spPr>
      </p:sp>
      <p:sp>
        <p:nvSpPr>
          <p:cNvPr id="28" name="Text 26"/>
          <p:cNvSpPr/>
          <p:nvPr/>
        </p:nvSpPr>
        <p:spPr>
          <a:xfrm>
            <a:off x="4846320" y="2295144"/>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Resultado en seguridad</a:t>
            </a:r>
            <a:endParaRPr lang="en-US" sz="850" dirty="0"/>
          </a:p>
        </p:txBody>
      </p:sp>
      <p:sp>
        <p:nvSpPr>
          <p:cNvPr id="29" name="Text 27"/>
          <p:cNvSpPr/>
          <p:nvPr/>
        </p:nvSpPr>
        <p:spPr>
          <a:xfrm>
            <a:off x="4846320" y="2542032"/>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45% menos incidentes recordables vs. proyectos similares del portafolio sin modularización.</a:t>
            </a:r>
            <a:endParaRPr lang="en-US" sz="750" dirty="0"/>
          </a:p>
        </p:txBody>
      </p:sp>
      <p:sp>
        <p:nvSpPr>
          <p:cNvPr id="30" name="Shape 28"/>
          <p:cNvSpPr/>
          <p:nvPr/>
        </p:nvSpPr>
        <p:spPr>
          <a:xfrm>
            <a:off x="4617720" y="2907792"/>
            <a:ext cx="164592" cy="164592"/>
          </a:xfrm>
          <a:prstGeom prst="ellipse">
            <a:avLst/>
          </a:prstGeom>
          <a:solidFill>
            <a:srgbClr val="1D1D1F"/>
          </a:solidFill>
          <a:ln w="12700">
            <a:solidFill>
              <a:srgbClr val="1D1D1F"/>
            </a:solidFill>
            <a:prstDash val="solid"/>
          </a:ln>
        </p:spPr>
      </p:sp>
      <p:sp>
        <p:nvSpPr>
          <p:cNvPr id="31" name="Text 29"/>
          <p:cNvSpPr/>
          <p:nvPr/>
        </p:nvSpPr>
        <p:spPr>
          <a:xfrm>
            <a:off x="4846320" y="2825496"/>
            <a:ext cx="3840480" cy="246888"/>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ROI del programa</a:t>
            </a:r>
            <a:endParaRPr lang="en-US" sz="850" dirty="0"/>
          </a:p>
        </p:txBody>
      </p:sp>
      <p:sp>
        <p:nvSpPr>
          <p:cNvPr id="32" name="Text 30"/>
          <p:cNvSpPr/>
          <p:nvPr/>
        </p:nvSpPr>
        <p:spPr>
          <a:xfrm>
            <a:off x="4846320" y="3072384"/>
            <a:ext cx="3840480" cy="274320"/>
          </a:xfrm>
          <a:prstGeom prst="rect">
            <a:avLst/>
          </a:prstGeom>
          <a:noFill/>
          <a:ln/>
        </p:spPr>
        <p:txBody>
          <a:bodyPr wrap="square" rtlCol="0" anchor="ctr"/>
          <a:lstStyle/>
          <a:p>
            <a:pPr indent="0" marL="0">
              <a:buNone/>
            </a:pPr>
            <a:r>
              <a:rPr lang="en-US" sz="750" dirty="0">
                <a:solidFill>
                  <a:srgbClr val="8E8E93"/>
                </a:solidFill>
                <a:latin typeface="Atkinson Hyperlegible" pitchFamily="34" charset="0"/>
                <a:ea typeface="Atkinson Hyperlegible" pitchFamily="34" charset="-122"/>
                <a:cs typeface="Atkinson Hyperlegible" pitchFamily="34" charset="-120"/>
              </a:rPr>
              <a:t>El costo del programa fue $2.8M. El ahorro documentado fue $50M. ROI: 18:1.</a:t>
            </a:r>
            <a:endParaRPr lang="en-US" sz="750" dirty="0"/>
          </a:p>
        </p:txBody>
      </p:sp>
      <p:sp>
        <p:nvSpPr>
          <p:cNvPr id="33" name="Shape 31"/>
          <p:cNvSpPr/>
          <p:nvPr/>
        </p:nvSpPr>
        <p:spPr>
          <a:xfrm>
            <a:off x="182880" y="4956048"/>
            <a:ext cx="8961120" cy="182880"/>
          </a:xfrm>
          <a:prstGeom prst="rect">
            <a:avLst/>
          </a:prstGeom>
          <a:solidFill>
            <a:srgbClr val="2C3E8C"/>
          </a:solidFill>
          <a:ln w="12700">
            <a:solidFill>
              <a:srgbClr val="2C3E8C"/>
            </a:solidFill>
            <a:prstDash val="solid"/>
          </a:ln>
        </p:spPr>
      </p:sp>
      <p:sp>
        <p:nvSpPr>
          <p:cNvPr id="34" name="Text 32"/>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63 / 126</a:t>
            </a:r>
            <a:endParaRPr lang="en-US" sz="7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2C3E8C"/>
          </a:solidFill>
          <a:ln w="12700">
            <a:solidFill>
              <a:srgbClr val="2C3E8C"/>
            </a:solidFill>
            <a:prstDash val="solid"/>
          </a:ln>
        </p:spPr>
      </p:sp>
      <p:sp>
        <p:nvSpPr>
          <p:cNvPr id="3" name="Text 1"/>
          <p:cNvSpPr/>
          <p:nvPr/>
        </p:nvSpPr>
        <p:spPr>
          <a:xfrm>
            <a:off x="320040" y="91440"/>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CS-2: Fjardaál — Alcoa, Islandia</a:t>
            </a:r>
            <a:endParaRPr lang="en-US" sz="1800" dirty="0"/>
          </a:p>
        </p:txBody>
      </p:sp>
      <p:sp>
        <p:nvSpPr>
          <p:cNvPr id="4" name="Shape 2"/>
          <p:cNvSpPr/>
          <p:nvPr/>
        </p:nvSpPr>
        <p:spPr>
          <a:xfrm>
            <a:off x="320040" y="640080"/>
            <a:ext cx="8503920" cy="41148"/>
          </a:xfrm>
          <a:prstGeom prst="rect">
            <a:avLst/>
          </a:prstGeom>
          <a:solidFill>
            <a:srgbClr val="2C3E8C"/>
          </a:solidFill>
          <a:ln w="12700">
            <a:solidFill>
              <a:srgbClr val="2C3E8C"/>
            </a:solidFill>
            <a:prstDash val="solid"/>
          </a:ln>
        </p:spPr>
      </p:sp>
      <p:sp>
        <p:nvSpPr>
          <p:cNvPr id="5" name="Text 3"/>
          <p:cNvSpPr/>
          <p:nvPr/>
        </p:nvSpPr>
        <p:spPr>
          <a:xfrm>
            <a:off x="320040" y="704088"/>
            <a:ext cx="8503920" cy="256032"/>
          </a:xfrm>
          <a:prstGeom prst="rect">
            <a:avLst/>
          </a:prstGeom>
          <a:noFill/>
          <a:ln/>
        </p:spPr>
        <p:txBody>
          <a:bodyPr wrap="square" rtlCol="0" anchor="ctr"/>
          <a:lstStyle/>
          <a:p>
            <a:pPr indent="0" marL="0">
              <a:buNone/>
            </a:pPr>
            <a:r>
              <a:rPr lang="en-US" sz="900" i="1" dirty="0">
                <a:solidFill>
                  <a:srgbClr val="2C3E8C"/>
                </a:solidFill>
                <a:latin typeface="Atkinson Hyperlegible" pitchFamily="34" charset="0"/>
                <a:ea typeface="Atkinson Hyperlegible" pitchFamily="34" charset="-122"/>
                <a:cs typeface="Atkinson Hyperlegible" pitchFamily="34" charset="-120"/>
              </a:rPr>
              <a:t>Primera planta de aluminio en zona remota extrema: 70°N, viento, nieve, logística imposible</a:t>
            </a:r>
            <a:endParaRPr lang="en-US" sz="900" dirty="0"/>
          </a:p>
        </p:txBody>
      </p:sp>
      <p:sp>
        <p:nvSpPr>
          <p:cNvPr id="6" name="Shape 4"/>
          <p:cNvSpPr/>
          <p:nvPr/>
        </p:nvSpPr>
        <p:spPr>
          <a:xfrm>
            <a:off x="320040" y="804672"/>
            <a:ext cx="2724912" cy="1943100"/>
          </a:xfrm>
          <a:prstGeom prst="roundRect">
            <a:avLst>
              <a:gd name="adj" fmla="val 4235"/>
            </a:avLst>
          </a:prstGeom>
          <a:solidFill>
            <a:srgbClr val="2C3E8C"/>
          </a:solidFill>
          <a:ln w="19050">
            <a:solidFill>
              <a:srgbClr val="2C3E8C"/>
            </a:solidFill>
            <a:prstDash val="solid"/>
          </a:ln>
        </p:spPr>
      </p:sp>
      <p:sp>
        <p:nvSpPr>
          <p:cNvPr id="7" name="Shape 5"/>
          <p:cNvSpPr/>
          <p:nvPr/>
        </p:nvSpPr>
        <p:spPr>
          <a:xfrm>
            <a:off x="320040" y="804672"/>
            <a:ext cx="2724912" cy="54864"/>
          </a:xfrm>
          <a:prstGeom prst="rect">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8056" y="932688"/>
            <a:ext cx="365760" cy="365760"/>
          </a:xfrm>
          <a:prstGeom prst="rect">
            <a:avLst/>
          </a:prstGeom>
        </p:spPr>
      </p:pic>
      <p:sp>
        <p:nvSpPr>
          <p:cNvPr id="9" name="Text 6"/>
          <p:cNvSpPr/>
          <p:nvPr/>
        </p:nvSpPr>
        <p:spPr>
          <a:xfrm>
            <a:off x="868680"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El Desafío Extremo</a:t>
            </a:r>
            <a:endParaRPr lang="en-US" sz="850" dirty="0"/>
          </a:p>
        </p:txBody>
      </p:sp>
      <p:sp>
        <p:nvSpPr>
          <p:cNvPr id="10" name="Text 7"/>
          <p:cNvSpPr/>
          <p:nvPr/>
        </p:nvSpPr>
        <p:spPr>
          <a:xfrm>
            <a:off x="429768"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Construcción en Islandia del Este. Clima extremo. Cero infraestructura local. Toda la mano de obra importada. Logística marítima única.</a:t>
            </a:r>
            <a:endParaRPr lang="en-US" sz="750" dirty="0"/>
          </a:p>
        </p:txBody>
      </p:sp>
      <p:sp>
        <p:nvSpPr>
          <p:cNvPr id="11" name="Shape 8"/>
          <p:cNvSpPr/>
          <p:nvPr/>
        </p:nvSpPr>
        <p:spPr>
          <a:xfrm>
            <a:off x="3209544" y="804672"/>
            <a:ext cx="2724912" cy="1943100"/>
          </a:xfrm>
          <a:prstGeom prst="roundRect">
            <a:avLst>
              <a:gd name="adj" fmla="val 4235"/>
            </a:avLst>
          </a:prstGeom>
          <a:solidFill>
            <a:srgbClr val="FFFFFF"/>
          </a:solidFill>
          <a:ln w="19050">
            <a:solidFill>
              <a:srgbClr val="2C3E8C"/>
            </a:solidFill>
            <a:prstDash val="solid"/>
          </a:ln>
        </p:spPr>
      </p:sp>
      <p:sp>
        <p:nvSpPr>
          <p:cNvPr id="12" name="Shape 9"/>
          <p:cNvSpPr/>
          <p:nvPr/>
        </p:nvSpPr>
        <p:spPr>
          <a:xfrm>
            <a:off x="3209544" y="804672"/>
            <a:ext cx="2724912" cy="54864"/>
          </a:xfrm>
          <a:prstGeom prst="rect">
            <a:avLst/>
          </a:prstGeom>
          <a:solidFill>
            <a:srgbClr val="2C3E8C"/>
          </a:solidFill>
          <a:ln w="12700">
            <a:solidFill>
              <a:srgbClr val="2C3E8C"/>
            </a:solidFill>
            <a:prstDash val="solid"/>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37560" y="932688"/>
            <a:ext cx="365760" cy="365760"/>
          </a:xfrm>
          <a:prstGeom prst="rect">
            <a:avLst/>
          </a:prstGeom>
        </p:spPr>
      </p:pic>
      <p:sp>
        <p:nvSpPr>
          <p:cNvPr id="14" name="Text 10"/>
          <p:cNvSpPr/>
          <p:nvPr/>
        </p:nvSpPr>
        <p:spPr>
          <a:xfrm>
            <a:off x="3758184" y="914400"/>
            <a:ext cx="2066544" cy="347472"/>
          </a:xfrm>
          <a:prstGeom prst="rect">
            <a:avLst/>
          </a:prstGeom>
          <a:noFill/>
          <a:ln/>
        </p:spPr>
        <p:txBody>
          <a:bodyPr wrap="square" rtlCol="0" anchor="ctr"/>
          <a:lstStyle/>
          <a:p>
            <a:pPr indent="0" marL="0">
              <a:buNone/>
            </a:pPr>
            <a:r>
              <a:rPr lang="en-US" sz="850" b="1" dirty="0">
                <a:solidFill>
                  <a:srgbClr val="2C3E8C"/>
                </a:solidFill>
                <a:latin typeface="Atkinson Hyperlegible" pitchFamily="34" charset="0"/>
                <a:ea typeface="Atkinson Hyperlegible" pitchFamily="34" charset="-122"/>
                <a:cs typeface="Atkinson Hyperlegible" pitchFamily="34" charset="-120"/>
              </a:rPr>
              <a:t>Constructabilidad desde Factibilidad</a:t>
            </a:r>
            <a:endParaRPr lang="en-US" sz="850" dirty="0"/>
          </a:p>
        </p:txBody>
      </p:sp>
      <p:sp>
        <p:nvSpPr>
          <p:cNvPr id="15" name="Text 11"/>
          <p:cNvSpPr/>
          <p:nvPr/>
        </p:nvSpPr>
        <p:spPr>
          <a:xfrm>
            <a:off x="3319272" y="131673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El programa se inició en la fase de Factibilidad, 3 años antes de construcción. Primera vez en la historia de Alcoa.</a:t>
            </a:r>
            <a:endParaRPr lang="en-US" sz="750" dirty="0"/>
          </a:p>
        </p:txBody>
      </p:sp>
      <p:sp>
        <p:nvSpPr>
          <p:cNvPr id="16" name="Shape 12"/>
          <p:cNvSpPr/>
          <p:nvPr/>
        </p:nvSpPr>
        <p:spPr>
          <a:xfrm>
            <a:off x="6099048" y="804672"/>
            <a:ext cx="2724912" cy="1943100"/>
          </a:xfrm>
          <a:prstGeom prst="roundRect">
            <a:avLst>
              <a:gd name="adj" fmla="val 4235"/>
            </a:avLst>
          </a:prstGeom>
          <a:solidFill>
            <a:srgbClr val="2C3E8C"/>
          </a:solidFill>
          <a:ln w="19050">
            <a:solidFill>
              <a:srgbClr val="2C3E8C"/>
            </a:solidFill>
            <a:prstDash val="solid"/>
          </a:ln>
        </p:spPr>
      </p:sp>
      <p:sp>
        <p:nvSpPr>
          <p:cNvPr id="17" name="Shape 13"/>
          <p:cNvSpPr/>
          <p:nvPr/>
        </p:nvSpPr>
        <p:spPr>
          <a:xfrm>
            <a:off x="6099048" y="804672"/>
            <a:ext cx="2724912" cy="54864"/>
          </a:xfrm>
          <a:prstGeom prst="rect">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27064" y="932688"/>
            <a:ext cx="365760" cy="365760"/>
          </a:xfrm>
          <a:prstGeom prst="rect">
            <a:avLst/>
          </a:prstGeom>
        </p:spPr>
      </p:pic>
      <p:sp>
        <p:nvSpPr>
          <p:cNvPr id="19" name="Text 14"/>
          <p:cNvSpPr/>
          <p:nvPr/>
        </p:nvSpPr>
        <p:spPr>
          <a:xfrm>
            <a:off x="6647688" y="91440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Decisiones Clave</a:t>
            </a:r>
            <a:endParaRPr lang="en-US" sz="850" dirty="0"/>
          </a:p>
        </p:txBody>
      </p:sp>
      <p:sp>
        <p:nvSpPr>
          <p:cNvPr id="20" name="Text 15"/>
          <p:cNvSpPr/>
          <p:nvPr/>
        </p:nvSpPr>
        <p:spPr>
          <a:xfrm>
            <a:off x="6208776" y="131673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Modularización máxima en Europa para minimizar trabajo en campo en Islandia. Estandarización de 95% de componentes.</a:t>
            </a:r>
            <a:endParaRPr lang="en-US" sz="750" dirty="0"/>
          </a:p>
        </p:txBody>
      </p:sp>
      <p:sp>
        <p:nvSpPr>
          <p:cNvPr id="21" name="Shape 16"/>
          <p:cNvSpPr/>
          <p:nvPr/>
        </p:nvSpPr>
        <p:spPr>
          <a:xfrm>
            <a:off x="320040" y="2884932"/>
            <a:ext cx="2724912" cy="1943100"/>
          </a:xfrm>
          <a:prstGeom prst="roundRect">
            <a:avLst>
              <a:gd name="adj" fmla="val 4235"/>
            </a:avLst>
          </a:prstGeom>
          <a:solidFill>
            <a:srgbClr val="FFFFFF"/>
          </a:solidFill>
          <a:ln w="19050">
            <a:solidFill>
              <a:srgbClr val="2C3E8C"/>
            </a:solidFill>
            <a:prstDash val="solid"/>
          </a:ln>
        </p:spPr>
      </p:sp>
      <p:sp>
        <p:nvSpPr>
          <p:cNvPr id="22" name="Shape 17"/>
          <p:cNvSpPr/>
          <p:nvPr/>
        </p:nvSpPr>
        <p:spPr>
          <a:xfrm>
            <a:off x="320040" y="2884932"/>
            <a:ext cx="2724912" cy="54864"/>
          </a:xfrm>
          <a:prstGeom prst="rect">
            <a:avLst/>
          </a:prstGeom>
          <a:solidFill>
            <a:srgbClr val="2C3E8C"/>
          </a:solidFill>
          <a:ln w="12700">
            <a:solidFill>
              <a:srgbClr val="2C3E8C"/>
            </a:solidFill>
            <a:prstDash val="solid"/>
          </a:ln>
        </p:spPr>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8056" y="3012948"/>
            <a:ext cx="365760" cy="365760"/>
          </a:xfrm>
          <a:prstGeom prst="rect">
            <a:avLst/>
          </a:prstGeom>
        </p:spPr>
      </p:pic>
      <p:sp>
        <p:nvSpPr>
          <p:cNvPr id="24" name="Text 18"/>
          <p:cNvSpPr/>
          <p:nvPr/>
        </p:nvSpPr>
        <p:spPr>
          <a:xfrm>
            <a:off x="868680" y="2994660"/>
            <a:ext cx="2066544" cy="347472"/>
          </a:xfrm>
          <a:prstGeom prst="rect">
            <a:avLst/>
          </a:prstGeom>
          <a:noFill/>
          <a:ln/>
        </p:spPr>
        <p:txBody>
          <a:bodyPr wrap="square" rtlCol="0" anchor="ctr"/>
          <a:lstStyle/>
          <a:p>
            <a:pPr indent="0" marL="0">
              <a:buNone/>
            </a:pPr>
            <a:r>
              <a:rPr lang="en-US" sz="850" b="1" dirty="0">
                <a:solidFill>
                  <a:srgbClr val="2C3E8C"/>
                </a:solidFill>
                <a:latin typeface="Atkinson Hyperlegible" pitchFamily="34" charset="0"/>
                <a:ea typeface="Atkinson Hyperlegible" pitchFamily="34" charset="-122"/>
                <a:cs typeface="Atkinson Hyperlegible" pitchFamily="34" charset="-120"/>
              </a:rPr>
              <a:t>Resultados</a:t>
            </a:r>
            <a:endParaRPr lang="en-US" sz="850" dirty="0"/>
          </a:p>
        </p:txBody>
      </p:sp>
      <p:sp>
        <p:nvSpPr>
          <p:cNvPr id="25" name="Text 19"/>
          <p:cNvSpPr/>
          <p:nvPr/>
        </p:nvSpPr>
        <p:spPr>
          <a:xfrm>
            <a:off x="429768"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40% reducción en horas de campo vs. planta equivalente. Cero accidentes fatales. Entrega 4 meses antes del plan.</a:t>
            </a:r>
            <a:endParaRPr lang="en-US" sz="750" dirty="0"/>
          </a:p>
        </p:txBody>
      </p:sp>
      <p:sp>
        <p:nvSpPr>
          <p:cNvPr id="26" name="Shape 20"/>
          <p:cNvSpPr/>
          <p:nvPr/>
        </p:nvSpPr>
        <p:spPr>
          <a:xfrm>
            <a:off x="3209544" y="2884932"/>
            <a:ext cx="2724912" cy="1943100"/>
          </a:xfrm>
          <a:prstGeom prst="roundRect">
            <a:avLst>
              <a:gd name="adj" fmla="val 4235"/>
            </a:avLst>
          </a:prstGeom>
          <a:solidFill>
            <a:srgbClr val="2C3E8C"/>
          </a:solidFill>
          <a:ln w="19050">
            <a:solidFill>
              <a:srgbClr val="2C3E8C"/>
            </a:solidFill>
            <a:prstDash val="solid"/>
          </a:ln>
        </p:spPr>
      </p:sp>
      <p:sp>
        <p:nvSpPr>
          <p:cNvPr id="27" name="Shape 21"/>
          <p:cNvSpPr/>
          <p:nvPr/>
        </p:nvSpPr>
        <p:spPr>
          <a:xfrm>
            <a:off x="3209544" y="2884932"/>
            <a:ext cx="2724912" cy="54864"/>
          </a:xfrm>
          <a:prstGeom prst="rect">
            <a:avLst/>
          </a:prstGeom>
          <a:solidFill>
            <a:srgbClr val="FFFFFF"/>
          </a:solidFill>
          <a:ln w="12700">
            <a:solidFill>
              <a:srgbClr val="FFFFFF"/>
            </a:solidFill>
            <a:prstDash val="solid"/>
          </a:ln>
        </p:spPr>
      </p:sp>
      <p:pic>
        <p:nvPicPr>
          <p:cNvPr id="2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37560" y="3012948"/>
            <a:ext cx="365760" cy="365760"/>
          </a:xfrm>
          <a:prstGeom prst="rect">
            <a:avLst/>
          </a:prstGeom>
        </p:spPr>
      </p:pic>
      <p:sp>
        <p:nvSpPr>
          <p:cNvPr id="29" name="Text 22"/>
          <p:cNvSpPr/>
          <p:nvPr/>
        </p:nvSpPr>
        <p:spPr>
          <a:xfrm>
            <a:off x="3758184" y="2994660"/>
            <a:ext cx="2066544" cy="34747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Equipo Integrado</a:t>
            </a:r>
            <a:endParaRPr lang="en-US" sz="850" dirty="0"/>
          </a:p>
        </p:txBody>
      </p:sp>
      <p:sp>
        <p:nvSpPr>
          <p:cNvPr id="30" name="Text 23"/>
          <p:cNvSpPr/>
          <p:nvPr/>
        </p:nvSpPr>
        <p:spPr>
          <a:xfrm>
            <a:off x="3319272" y="3396996"/>
            <a:ext cx="2523744" cy="1348740"/>
          </a:xfrm>
          <a:prstGeom prst="rect">
            <a:avLst/>
          </a:prstGeom>
          <a:noFill/>
          <a:ln/>
        </p:spPr>
        <p:txBody>
          <a:bodyPr wrap="square" rtlCol="0" anchor="t"/>
          <a:lstStyle/>
          <a:p>
            <a:pPr indent="0" marL="0">
              <a:buNone/>
            </a:pPr>
            <a:r>
              <a:rPr lang="en-US" sz="750" dirty="0">
                <a:solidFill>
                  <a:srgbClr val="E8E8ED"/>
                </a:solidFill>
                <a:latin typeface="Atkinson Hyperlegible" pitchFamily="34" charset="0"/>
                <a:ea typeface="Atkinson Hyperlegible" pitchFamily="34" charset="-122"/>
                <a:cs typeface="Atkinson Hyperlegible" pitchFamily="34" charset="-120"/>
              </a:rPr>
              <a:t>Diseñadores europeos + constructores del campo + logistas navieros trabajando juntos desde el primer día.</a:t>
            </a:r>
            <a:endParaRPr lang="en-US" sz="750" dirty="0"/>
          </a:p>
        </p:txBody>
      </p:sp>
      <p:sp>
        <p:nvSpPr>
          <p:cNvPr id="31" name="Shape 24"/>
          <p:cNvSpPr/>
          <p:nvPr/>
        </p:nvSpPr>
        <p:spPr>
          <a:xfrm>
            <a:off x="6099048" y="2884932"/>
            <a:ext cx="2724912" cy="1943100"/>
          </a:xfrm>
          <a:prstGeom prst="roundRect">
            <a:avLst>
              <a:gd name="adj" fmla="val 4235"/>
            </a:avLst>
          </a:prstGeom>
          <a:solidFill>
            <a:srgbClr val="FFFFFF"/>
          </a:solidFill>
          <a:ln w="19050">
            <a:solidFill>
              <a:srgbClr val="2C3E8C"/>
            </a:solidFill>
            <a:prstDash val="solid"/>
          </a:ln>
        </p:spPr>
      </p:sp>
      <p:sp>
        <p:nvSpPr>
          <p:cNvPr id="32" name="Shape 25"/>
          <p:cNvSpPr/>
          <p:nvPr/>
        </p:nvSpPr>
        <p:spPr>
          <a:xfrm>
            <a:off x="6099048" y="2884932"/>
            <a:ext cx="2724912" cy="54864"/>
          </a:xfrm>
          <a:prstGeom prst="rect">
            <a:avLst/>
          </a:prstGeom>
          <a:solidFill>
            <a:srgbClr val="2C3E8C"/>
          </a:solidFill>
          <a:ln w="12700">
            <a:solidFill>
              <a:srgbClr val="2C3E8C"/>
            </a:solidFill>
            <a:prstDash val="solid"/>
          </a:ln>
        </p:spPr>
      </p:sp>
      <p:pic>
        <p:nvPicPr>
          <p:cNvPr id="3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27064" y="3012948"/>
            <a:ext cx="365760" cy="365760"/>
          </a:xfrm>
          <a:prstGeom prst="rect">
            <a:avLst/>
          </a:prstGeom>
        </p:spPr>
      </p:pic>
      <p:sp>
        <p:nvSpPr>
          <p:cNvPr id="34" name="Text 26"/>
          <p:cNvSpPr/>
          <p:nvPr/>
        </p:nvSpPr>
        <p:spPr>
          <a:xfrm>
            <a:off x="6647688" y="2994660"/>
            <a:ext cx="2066544" cy="347472"/>
          </a:xfrm>
          <a:prstGeom prst="rect">
            <a:avLst/>
          </a:prstGeom>
          <a:noFill/>
          <a:ln/>
        </p:spPr>
        <p:txBody>
          <a:bodyPr wrap="square" rtlCol="0" anchor="ctr"/>
          <a:lstStyle/>
          <a:p>
            <a:pPr indent="0" marL="0">
              <a:buNone/>
            </a:pPr>
            <a:r>
              <a:rPr lang="en-US" sz="850" b="1" dirty="0">
                <a:solidFill>
                  <a:srgbClr val="2C3E8C"/>
                </a:solidFill>
                <a:latin typeface="Atkinson Hyperlegible" pitchFamily="34" charset="0"/>
                <a:ea typeface="Atkinson Hyperlegible" pitchFamily="34" charset="-122"/>
                <a:cs typeface="Atkinson Hyperlegible" pitchFamily="34" charset="-120"/>
              </a:rPr>
              <a:t>Lecciones Aprendidas</a:t>
            </a:r>
            <a:endParaRPr lang="en-US" sz="850" dirty="0"/>
          </a:p>
        </p:txBody>
      </p:sp>
      <p:sp>
        <p:nvSpPr>
          <p:cNvPr id="35" name="Text 27"/>
          <p:cNvSpPr/>
          <p:nvPr/>
        </p:nvSpPr>
        <p:spPr>
          <a:xfrm>
            <a:off x="6208776" y="3396996"/>
            <a:ext cx="2523744" cy="1348740"/>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La constructabilidad no es solo para proyectos complejos — es especialmente crítica cuando el sitio tiene restricciones extremas.</a:t>
            </a:r>
            <a:endParaRPr lang="en-US" sz="750" dirty="0"/>
          </a:p>
        </p:txBody>
      </p:sp>
      <p:sp>
        <p:nvSpPr>
          <p:cNvPr id="36" name="Shape 28"/>
          <p:cNvSpPr/>
          <p:nvPr/>
        </p:nvSpPr>
        <p:spPr>
          <a:xfrm>
            <a:off x="182880" y="4956048"/>
            <a:ext cx="8961120" cy="182880"/>
          </a:xfrm>
          <a:prstGeom prst="rect">
            <a:avLst/>
          </a:prstGeom>
          <a:solidFill>
            <a:srgbClr val="2C3E8C"/>
          </a:solidFill>
          <a:ln w="12700">
            <a:solidFill>
              <a:srgbClr val="2C3E8C"/>
            </a:solidFill>
            <a:prstDash val="solid"/>
          </a:ln>
        </p:spPr>
      </p:sp>
      <p:sp>
        <p:nvSpPr>
          <p:cNvPr id="37" name="Text 29"/>
          <p:cNvSpPr/>
          <p:nvPr/>
        </p:nvSpPr>
        <p:spPr>
          <a:xfrm>
            <a:off x="7863840" y="4956048"/>
            <a:ext cx="109728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64 / 126</a:t>
            </a:r>
            <a:endParaRPr lang="en-US" sz="7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392B"/>
          </a:solidFill>
          <a:ln w="12700">
            <a:solidFill>
              <a:srgbClr val="C0392B"/>
            </a:solidFill>
            <a:prstDash val="solid"/>
          </a:ln>
        </p:spPr>
      </p:sp>
      <p:sp>
        <p:nvSpPr>
          <p:cNvPr id="3" name="Shape 1"/>
          <p:cNvSpPr/>
          <p:nvPr/>
        </p:nvSpPr>
        <p:spPr>
          <a:xfrm>
            <a:off x="164592" y="4956048"/>
            <a:ext cx="8979408" cy="182880"/>
          </a:xfrm>
          <a:prstGeom prst="rect">
            <a:avLst/>
          </a:prstGeom>
          <a:solidFill>
            <a:srgbClr val="C0392B"/>
          </a:solidFill>
          <a:ln w="12700">
            <a:solidFill>
              <a:srgbClr val="C0392B"/>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65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CS-3: Proyecto Hospital – Sector Salud</a:t>
            </a:r>
            <a:endParaRPr lang="en-US" sz="1800" dirty="0"/>
          </a:p>
        </p:txBody>
      </p:sp>
      <p:sp>
        <p:nvSpPr>
          <p:cNvPr id="6" name="Shape 4"/>
          <p:cNvSpPr/>
          <p:nvPr/>
        </p:nvSpPr>
        <p:spPr>
          <a:xfrm>
            <a:off x="320040" y="621792"/>
            <a:ext cx="8503920" cy="41148"/>
          </a:xfrm>
          <a:prstGeom prst="rect">
            <a:avLst/>
          </a:prstGeom>
          <a:solidFill>
            <a:srgbClr val="0E7490"/>
          </a:solidFill>
          <a:ln w="12700">
            <a:solidFill>
              <a:srgbClr val="0E7490"/>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E7490"/>
                </a:solidFill>
                <a:latin typeface="Atkinson Hyperlegible" pitchFamily="34" charset="0"/>
                <a:ea typeface="Atkinson Hyperlegible" pitchFamily="34" charset="-122"/>
                <a:cs typeface="Atkinson Hyperlegible" pitchFamily="34" charset="-120"/>
              </a:rPr>
              <a:t>Edificación hospitalaria con AWP — mejoras en programa y costos</a:t>
            </a:r>
            <a:endParaRPr lang="en-US" sz="900" dirty="0"/>
          </a:p>
        </p:txBody>
      </p:sp>
      <p:sp>
        <p:nvSpPr>
          <p:cNvPr id="8" name="Shape 6"/>
          <p:cNvSpPr/>
          <p:nvPr/>
        </p:nvSpPr>
        <p:spPr>
          <a:xfrm>
            <a:off x="320040" y="960120"/>
            <a:ext cx="3931920" cy="3840480"/>
          </a:xfrm>
          <a:prstGeom prst="rect">
            <a:avLst>
              <a:gd name="adj" fmla="val 1905"/>
            </a:avLst>
          </a:prstGeom>
          <a:solidFill>
            <a:srgbClr val="F0FAFA"/>
          </a:solidFill>
          <a:ln w="12700">
            <a:solidFill>
              <a:srgbClr val="0E9E9E"/>
            </a:solidFill>
            <a:prstDash val="solid"/>
          </a:ln>
        </p:spPr>
      </p:sp>
      <p:sp>
        <p:nvSpPr>
          <p:cNvPr id="9" name="Text 7"/>
          <p:cNvSpPr/>
          <p:nvPr/>
        </p:nvSpPr>
        <p:spPr>
          <a:xfrm>
            <a:off x="411480" y="1005840"/>
            <a:ext cx="3749040" cy="274320"/>
          </a:xfrm>
          <a:prstGeom prst="rect">
            <a:avLst/>
          </a:prstGeom>
          <a:noFill/>
          <a:ln/>
        </p:spPr>
        <p:txBody>
          <a:bodyPr wrap="square" rtlCol="0" anchor="ctr"/>
          <a:lstStyle/>
          <a:p>
            <a:pPr indent="0" marL="0">
              <a:buNone/>
            </a:pPr>
            <a:r>
              <a:rPr lang="en-US" sz="1000" b="1" dirty="0">
                <a:solidFill>
                  <a:srgbClr val="0E9E9E"/>
                </a:solidFill>
                <a:latin typeface="Atkinson Hyperlegible" pitchFamily="34" charset="0"/>
                <a:ea typeface="Atkinson Hyperlegible" pitchFamily="34" charset="-122"/>
                <a:cs typeface="Atkinson Hyperlegible" pitchFamily="34" charset="-120"/>
              </a:rPr>
              <a:t>Perfil del Proyecto</a:t>
            </a:r>
            <a:endParaRPr lang="en-US" sz="1000" dirty="0"/>
          </a:p>
        </p:txBody>
      </p:sp>
      <p:sp>
        <p:nvSpPr>
          <p:cNvPr id="10" name="Shape 8"/>
          <p:cNvSpPr/>
          <p:nvPr/>
        </p:nvSpPr>
        <p:spPr>
          <a:xfrm>
            <a:off x="411480" y="1353312"/>
            <a:ext cx="3749040" cy="420624"/>
          </a:xfrm>
          <a:prstGeom prst="rect">
            <a:avLst>
              <a:gd name="adj" fmla="val 8696"/>
            </a:avLst>
          </a:prstGeom>
          <a:solidFill>
            <a:srgbClr val="FFFFFF"/>
          </a:solidFill>
          <a:ln w="6350">
            <a:solidFill>
              <a:srgbClr val="E5E5EA"/>
            </a:solidFill>
            <a:prstDash val="solid"/>
          </a:ln>
        </p:spPr>
      </p:sp>
      <p:sp>
        <p:nvSpPr>
          <p:cNvPr id="11" name="Text 9"/>
          <p:cNvSpPr/>
          <p:nvPr/>
        </p:nvSpPr>
        <p:spPr>
          <a:xfrm>
            <a:off x="502920" y="1389888"/>
            <a:ext cx="1280160" cy="347472"/>
          </a:xfrm>
          <a:prstGeom prst="rect">
            <a:avLst/>
          </a:prstGeom>
          <a:noFill/>
          <a:ln/>
        </p:spPr>
        <p:txBody>
          <a:bodyPr wrap="square" rtlCol="0" anchor="ctr"/>
          <a:lstStyle/>
          <a:p>
            <a:pPr indent="0" marL="0">
              <a:buNone/>
            </a:pPr>
            <a:r>
              <a:rPr lang="en-US" sz="800" b="1" dirty="0">
                <a:solidFill>
                  <a:srgbClr val="444444"/>
                </a:solidFill>
                <a:latin typeface="Atkinson Hyperlegible" pitchFamily="34" charset="0"/>
                <a:ea typeface="Atkinson Hyperlegible" pitchFamily="34" charset="-122"/>
                <a:cs typeface="Atkinson Hyperlegible" pitchFamily="34" charset="-120"/>
              </a:rPr>
              <a:t>Tipo:</a:t>
            </a:r>
            <a:endParaRPr lang="en-US" sz="800" dirty="0"/>
          </a:p>
        </p:txBody>
      </p:sp>
      <p:sp>
        <p:nvSpPr>
          <p:cNvPr id="12" name="Text 10"/>
          <p:cNvSpPr/>
          <p:nvPr/>
        </p:nvSpPr>
        <p:spPr>
          <a:xfrm>
            <a:off x="1783080" y="1389888"/>
            <a:ext cx="2286000" cy="347472"/>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Hospital de especialidades</a:t>
            </a:r>
            <a:endParaRPr lang="en-US" sz="800" dirty="0"/>
          </a:p>
        </p:txBody>
      </p:sp>
      <p:sp>
        <p:nvSpPr>
          <p:cNvPr id="13" name="Shape 11"/>
          <p:cNvSpPr/>
          <p:nvPr/>
        </p:nvSpPr>
        <p:spPr>
          <a:xfrm>
            <a:off x="411480" y="1828800"/>
            <a:ext cx="3749040" cy="420624"/>
          </a:xfrm>
          <a:prstGeom prst="rect">
            <a:avLst>
              <a:gd name="adj" fmla="val 8696"/>
            </a:avLst>
          </a:prstGeom>
          <a:solidFill>
            <a:srgbClr val="F8F8FA"/>
          </a:solidFill>
          <a:ln w="6350">
            <a:solidFill>
              <a:srgbClr val="E5E5EA"/>
            </a:solidFill>
            <a:prstDash val="solid"/>
          </a:ln>
        </p:spPr>
      </p:sp>
      <p:sp>
        <p:nvSpPr>
          <p:cNvPr id="14" name="Text 12"/>
          <p:cNvSpPr/>
          <p:nvPr/>
        </p:nvSpPr>
        <p:spPr>
          <a:xfrm>
            <a:off x="502920" y="1865376"/>
            <a:ext cx="1280160" cy="347472"/>
          </a:xfrm>
          <a:prstGeom prst="rect">
            <a:avLst/>
          </a:prstGeom>
          <a:noFill/>
          <a:ln/>
        </p:spPr>
        <p:txBody>
          <a:bodyPr wrap="square" rtlCol="0" anchor="ctr"/>
          <a:lstStyle/>
          <a:p>
            <a:pPr indent="0" marL="0">
              <a:buNone/>
            </a:pPr>
            <a:r>
              <a:rPr lang="en-US" sz="800" b="1" dirty="0">
                <a:solidFill>
                  <a:srgbClr val="444444"/>
                </a:solidFill>
                <a:latin typeface="Atkinson Hyperlegible" pitchFamily="34" charset="0"/>
                <a:ea typeface="Atkinson Hyperlegible" pitchFamily="34" charset="-122"/>
                <a:cs typeface="Atkinson Hyperlegible" pitchFamily="34" charset="-120"/>
              </a:rPr>
              <a:t>Inversión:</a:t>
            </a:r>
            <a:endParaRPr lang="en-US" sz="800" dirty="0"/>
          </a:p>
        </p:txBody>
      </p:sp>
      <p:sp>
        <p:nvSpPr>
          <p:cNvPr id="15" name="Text 13"/>
          <p:cNvSpPr/>
          <p:nvPr/>
        </p:nvSpPr>
        <p:spPr>
          <a:xfrm>
            <a:off x="1783080" y="1865376"/>
            <a:ext cx="2286000" cy="347472"/>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US$ 280M</a:t>
            </a:r>
            <a:endParaRPr lang="en-US" sz="800" dirty="0"/>
          </a:p>
        </p:txBody>
      </p:sp>
      <p:sp>
        <p:nvSpPr>
          <p:cNvPr id="16" name="Shape 14"/>
          <p:cNvSpPr/>
          <p:nvPr/>
        </p:nvSpPr>
        <p:spPr>
          <a:xfrm>
            <a:off x="411480" y="2304288"/>
            <a:ext cx="3749040" cy="420624"/>
          </a:xfrm>
          <a:prstGeom prst="rect">
            <a:avLst>
              <a:gd name="adj" fmla="val 8696"/>
            </a:avLst>
          </a:prstGeom>
          <a:solidFill>
            <a:srgbClr val="FFFFFF"/>
          </a:solidFill>
          <a:ln w="6350">
            <a:solidFill>
              <a:srgbClr val="E5E5EA"/>
            </a:solidFill>
            <a:prstDash val="solid"/>
          </a:ln>
        </p:spPr>
      </p:sp>
      <p:sp>
        <p:nvSpPr>
          <p:cNvPr id="17" name="Text 15"/>
          <p:cNvSpPr/>
          <p:nvPr/>
        </p:nvSpPr>
        <p:spPr>
          <a:xfrm>
            <a:off x="502920" y="2340864"/>
            <a:ext cx="1280160" cy="347472"/>
          </a:xfrm>
          <a:prstGeom prst="rect">
            <a:avLst/>
          </a:prstGeom>
          <a:noFill/>
          <a:ln/>
        </p:spPr>
        <p:txBody>
          <a:bodyPr wrap="square" rtlCol="0" anchor="ctr"/>
          <a:lstStyle/>
          <a:p>
            <a:pPr indent="0" marL="0">
              <a:buNone/>
            </a:pPr>
            <a:r>
              <a:rPr lang="en-US" sz="800" b="1" dirty="0">
                <a:solidFill>
                  <a:srgbClr val="444444"/>
                </a:solidFill>
                <a:latin typeface="Atkinson Hyperlegible" pitchFamily="34" charset="0"/>
                <a:ea typeface="Atkinson Hyperlegible" pitchFamily="34" charset="-122"/>
                <a:cs typeface="Atkinson Hyperlegible" pitchFamily="34" charset="-120"/>
              </a:rPr>
              <a:t>Duración:</a:t>
            </a:r>
            <a:endParaRPr lang="en-US" sz="800" dirty="0"/>
          </a:p>
        </p:txBody>
      </p:sp>
      <p:sp>
        <p:nvSpPr>
          <p:cNvPr id="18" name="Text 16"/>
          <p:cNvSpPr/>
          <p:nvPr/>
        </p:nvSpPr>
        <p:spPr>
          <a:xfrm>
            <a:off x="1783080" y="2340864"/>
            <a:ext cx="2286000" cy="347472"/>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38 meses</a:t>
            </a:r>
            <a:endParaRPr lang="en-US" sz="800" dirty="0"/>
          </a:p>
        </p:txBody>
      </p:sp>
      <p:sp>
        <p:nvSpPr>
          <p:cNvPr id="19" name="Shape 17"/>
          <p:cNvSpPr/>
          <p:nvPr/>
        </p:nvSpPr>
        <p:spPr>
          <a:xfrm>
            <a:off x="411480" y="2779776"/>
            <a:ext cx="3749040" cy="420624"/>
          </a:xfrm>
          <a:prstGeom prst="rect">
            <a:avLst>
              <a:gd name="adj" fmla="val 8696"/>
            </a:avLst>
          </a:prstGeom>
          <a:solidFill>
            <a:srgbClr val="F8F8FA"/>
          </a:solidFill>
          <a:ln w="6350">
            <a:solidFill>
              <a:srgbClr val="E5E5EA"/>
            </a:solidFill>
            <a:prstDash val="solid"/>
          </a:ln>
        </p:spPr>
      </p:sp>
      <p:sp>
        <p:nvSpPr>
          <p:cNvPr id="20" name="Text 18"/>
          <p:cNvSpPr/>
          <p:nvPr/>
        </p:nvSpPr>
        <p:spPr>
          <a:xfrm>
            <a:off x="502920" y="2816352"/>
            <a:ext cx="1280160" cy="347472"/>
          </a:xfrm>
          <a:prstGeom prst="rect">
            <a:avLst/>
          </a:prstGeom>
          <a:noFill/>
          <a:ln/>
        </p:spPr>
        <p:txBody>
          <a:bodyPr wrap="square" rtlCol="0" anchor="ctr"/>
          <a:lstStyle/>
          <a:p>
            <a:pPr indent="0" marL="0">
              <a:buNone/>
            </a:pPr>
            <a:r>
              <a:rPr lang="en-US" sz="800" b="1" dirty="0">
                <a:solidFill>
                  <a:srgbClr val="444444"/>
                </a:solidFill>
                <a:latin typeface="Atkinson Hyperlegible" pitchFamily="34" charset="0"/>
                <a:ea typeface="Atkinson Hyperlegible" pitchFamily="34" charset="-122"/>
                <a:cs typeface="Atkinson Hyperlegible" pitchFamily="34" charset="-120"/>
              </a:rPr>
              <a:t>Ubicación:</a:t>
            </a:r>
            <a:endParaRPr lang="en-US" sz="800" dirty="0"/>
          </a:p>
        </p:txBody>
      </p:sp>
      <p:sp>
        <p:nvSpPr>
          <p:cNvPr id="21" name="Text 19"/>
          <p:cNvSpPr/>
          <p:nvPr/>
        </p:nvSpPr>
        <p:spPr>
          <a:xfrm>
            <a:off x="1783080" y="2816352"/>
            <a:ext cx="2286000" cy="347472"/>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Latinoamérica</a:t>
            </a:r>
            <a:endParaRPr lang="en-US" sz="800" dirty="0"/>
          </a:p>
        </p:txBody>
      </p:sp>
      <p:sp>
        <p:nvSpPr>
          <p:cNvPr id="22" name="Shape 20"/>
          <p:cNvSpPr/>
          <p:nvPr/>
        </p:nvSpPr>
        <p:spPr>
          <a:xfrm>
            <a:off x="411480" y="3255264"/>
            <a:ext cx="3749040" cy="420624"/>
          </a:xfrm>
          <a:prstGeom prst="rect">
            <a:avLst>
              <a:gd name="adj" fmla="val 8696"/>
            </a:avLst>
          </a:prstGeom>
          <a:solidFill>
            <a:srgbClr val="FFFFFF"/>
          </a:solidFill>
          <a:ln w="6350">
            <a:solidFill>
              <a:srgbClr val="E5E5EA"/>
            </a:solidFill>
            <a:prstDash val="solid"/>
          </a:ln>
        </p:spPr>
      </p:sp>
      <p:sp>
        <p:nvSpPr>
          <p:cNvPr id="23" name="Text 21"/>
          <p:cNvSpPr/>
          <p:nvPr/>
        </p:nvSpPr>
        <p:spPr>
          <a:xfrm>
            <a:off x="502920" y="3291840"/>
            <a:ext cx="1280160" cy="347472"/>
          </a:xfrm>
          <a:prstGeom prst="rect">
            <a:avLst/>
          </a:prstGeom>
          <a:noFill/>
          <a:ln/>
        </p:spPr>
        <p:txBody>
          <a:bodyPr wrap="square" rtlCol="0" anchor="ctr"/>
          <a:lstStyle/>
          <a:p>
            <a:pPr indent="0" marL="0">
              <a:buNone/>
            </a:pPr>
            <a:r>
              <a:rPr lang="en-US" sz="800" b="1" dirty="0">
                <a:solidFill>
                  <a:srgbClr val="444444"/>
                </a:solidFill>
                <a:latin typeface="Atkinson Hyperlegible" pitchFamily="34" charset="0"/>
                <a:ea typeface="Atkinson Hyperlegible" pitchFamily="34" charset="-122"/>
                <a:cs typeface="Atkinson Hyperlegible" pitchFamily="34" charset="-120"/>
              </a:rPr>
              <a:t>Contratista:</a:t>
            </a:r>
            <a:endParaRPr lang="en-US" sz="800" dirty="0"/>
          </a:p>
        </p:txBody>
      </p:sp>
      <p:sp>
        <p:nvSpPr>
          <p:cNvPr id="24" name="Text 22"/>
          <p:cNvSpPr/>
          <p:nvPr/>
        </p:nvSpPr>
        <p:spPr>
          <a:xfrm>
            <a:off x="1783080" y="3291840"/>
            <a:ext cx="2286000" cy="347472"/>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EPC con AWP</a:t>
            </a:r>
            <a:endParaRPr lang="en-US" sz="800" dirty="0"/>
          </a:p>
        </p:txBody>
      </p:sp>
      <p:sp>
        <p:nvSpPr>
          <p:cNvPr id="25" name="Shape 23"/>
          <p:cNvSpPr/>
          <p:nvPr/>
        </p:nvSpPr>
        <p:spPr>
          <a:xfrm>
            <a:off x="411480" y="3730752"/>
            <a:ext cx="3749040" cy="420624"/>
          </a:xfrm>
          <a:prstGeom prst="rect">
            <a:avLst>
              <a:gd name="adj" fmla="val 8696"/>
            </a:avLst>
          </a:prstGeom>
          <a:solidFill>
            <a:srgbClr val="F8F8FA"/>
          </a:solidFill>
          <a:ln w="6350">
            <a:solidFill>
              <a:srgbClr val="E5E5EA"/>
            </a:solidFill>
            <a:prstDash val="solid"/>
          </a:ln>
        </p:spPr>
      </p:sp>
      <p:sp>
        <p:nvSpPr>
          <p:cNvPr id="26" name="Text 24"/>
          <p:cNvSpPr/>
          <p:nvPr/>
        </p:nvSpPr>
        <p:spPr>
          <a:xfrm>
            <a:off x="502920" y="3767328"/>
            <a:ext cx="1280160" cy="347472"/>
          </a:xfrm>
          <a:prstGeom prst="rect">
            <a:avLst/>
          </a:prstGeom>
          <a:noFill/>
          <a:ln/>
        </p:spPr>
        <p:txBody>
          <a:bodyPr wrap="square" rtlCol="0" anchor="ctr"/>
          <a:lstStyle/>
          <a:p>
            <a:pPr indent="0" marL="0">
              <a:buNone/>
            </a:pPr>
            <a:r>
              <a:rPr lang="en-US" sz="800" b="1" dirty="0">
                <a:solidFill>
                  <a:srgbClr val="444444"/>
                </a:solidFill>
                <a:latin typeface="Atkinson Hyperlegible" pitchFamily="34" charset="0"/>
                <a:ea typeface="Atkinson Hyperlegible" pitchFamily="34" charset="-122"/>
                <a:cs typeface="Atkinson Hyperlegible" pitchFamily="34" charset="-120"/>
              </a:rPr>
              <a:t>Área:</a:t>
            </a:r>
            <a:endParaRPr lang="en-US" sz="800" dirty="0"/>
          </a:p>
        </p:txBody>
      </p:sp>
      <p:sp>
        <p:nvSpPr>
          <p:cNvPr id="27" name="Text 25"/>
          <p:cNvSpPr/>
          <p:nvPr/>
        </p:nvSpPr>
        <p:spPr>
          <a:xfrm>
            <a:off x="1783080" y="3767328"/>
            <a:ext cx="2286000" cy="347472"/>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45,000 m²</a:t>
            </a:r>
            <a:endParaRPr lang="en-US" sz="800" dirty="0"/>
          </a:p>
        </p:txBody>
      </p:sp>
      <p:sp>
        <p:nvSpPr>
          <p:cNvPr id="28" name="Shape 26"/>
          <p:cNvSpPr/>
          <p:nvPr/>
        </p:nvSpPr>
        <p:spPr>
          <a:xfrm>
            <a:off x="4434840" y="1005840"/>
            <a:ext cx="1920240" cy="1078992"/>
          </a:xfrm>
          <a:prstGeom prst="rect">
            <a:avLst>
              <a:gd name="adj" fmla="val 6780"/>
            </a:avLst>
          </a:prstGeom>
          <a:solidFill>
            <a:srgbClr val="FFFFFF"/>
          </a:solidFill>
          <a:ln w="12700">
            <a:solidFill>
              <a:srgbClr val="0E9E9E"/>
            </a:solidFill>
            <a:prstDash val="solid"/>
          </a:ln>
        </p:spPr>
      </p:sp>
      <p:sp>
        <p:nvSpPr>
          <p:cNvPr id="29" name="Text 27"/>
          <p:cNvSpPr/>
          <p:nvPr/>
        </p:nvSpPr>
        <p:spPr>
          <a:xfrm>
            <a:off x="4434840" y="1097280"/>
            <a:ext cx="1920240" cy="566928"/>
          </a:xfrm>
          <a:prstGeom prst="rect">
            <a:avLst/>
          </a:prstGeom>
          <a:noFill/>
          <a:ln/>
        </p:spPr>
        <p:txBody>
          <a:bodyPr wrap="square" rtlCol="0" anchor="ctr"/>
          <a:lstStyle/>
          <a:p>
            <a:pPr algn="ctr" indent="0" marL="0">
              <a:buNone/>
            </a:pPr>
            <a:r>
              <a:rPr lang="en-US" sz="2800" b="1" dirty="0">
                <a:solidFill>
                  <a:srgbClr val="0E9E9E"/>
                </a:solidFill>
                <a:latin typeface="Atkinson Hyperlegible" pitchFamily="34" charset="0"/>
                <a:ea typeface="Atkinson Hyperlegible" pitchFamily="34" charset="-122"/>
                <a:cs typeface="Atkinson Hyperlegible" pitchFamily="34" charset="-120"/>
              </a:rPr>
              <a:t>1.08</a:t>
            </a:r>
            <a:endParaRPr lang="en-US" sz="2800" dirty="0"/>
          </a:p>
        </p:txBody>
      </p:sp>
      <p:sp>
        <p:nvSpPr>
          <p:cNvPr id="30" name="Text 28"/>
          <p:cNvSpPr/>
          <p:nvPr/>
        </p:nvSpPr>
        <p:spPr>
          <a:xfrm>
            <a:off x="4434840" y="1627632"/>
            <a:ext cx="1920240" cy="256032"/>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CPI</a:t>
            </a:r>
            <a:endParaRPr lang="en-US" sz="800" dirty="0"/>
          </a:p>
        </p:txBody>
      </p:sp>
      <p:sp>
        <p:nvSpPr>
          <p:cNvPr id="31" name="Text 29"/>
          <p:cNvSpPr/>
          <p:nvPr/>
        </p:nvSpPr>
        <p:spPr>
          <a:xfrm>
            <a:off x="4434840" y="1847088"/>
            <a:ext cx="1920240" cy="201168"/>
          </a:xfrm>
          <a:prstGeom prst="rect">
            <a:avLst/>
          </a:prstGeom>
          <a:noFill/>
          <a:ln/>
        </p:spPr>
        <p:txBody>
          <a:bodyPr wrap="square" rtlCol="0" anchor="ctr"/>
          <a:lstStyle/>
          <a:p>
            <a:pPr algn="ctr" indent="0" marL="0">
              <a:buNone/>
            </a:pPr>
            <a:r>
              <a:rPr lang="en-US" sz="700" dirty="0">
                <a:solidFill>
                  <a:srgbClr val="666666"/>
                </a:solidFill>
                <a:latin typeface="Atkinson Hyperlegible" pitchFamily="34" charset="0"/>
                <a:ea typeface="Atkinson Hyperlegible" pitchFamily="34" charset="-122"/>
                <a:cs typeface="Atkinson Hyperlegible" pitchFamily="34" charset="-120"/>
              </a:rPr>
              <a:t>Costo</a:t>
            </a:r>
            <a:endParaRPr lang="en-US" sz="700" dirty="0"/>
          </a:p>
        </p:txBody>
      </p:sp>
      <p:sp>
        <p:nvSpPr>
          <p:cNvPr id="32" name="Shape 30"/>
          <p:cNvSpPr/>
          <p:nvPr/>
        </p:nvSpPr>
        <p:spPr>
          <a:xfrm>
            <a:off x="6583680" y="1005840"/>
            <a:ext cx="1920240" cy="1078992"/>
          </a:xfrm>
          <a:prstGeom prst="rect">
            <a:avLst>
              <a:gd name="adj" fmla="val 6780"/>
            </a:avLst>
          </a:prstGeom>
          <a:solidFill>
            <a:srgbClr val="FFFFFF"/>
          </a:solidFill>
          <a:ln w="12700">
            <a:solidFill>
              <a:srgbClr val="0E9E9E"/>
            </a:solidFill>
            <a:prstDash val="solid"/>
          </a:ln>
        </p:spPr>
      </p:sp>
      <p:sp>
        <p:nvSpPr>
          <p:cNvPr id="33" name="Text 31"/>
          <p:cNvSpPr/>
          <p:nvPr/>
        </p:nvSpPr>
        <p:spPr>
          <a:xfrm>
            <a:off x="6583680" y="1097280"/>
            <a:ext cx="1920240" cy="566928"/>
          </a:xfrm>
          <a:prstGeom prst="rect">
            <a:avLst/>
          </a:prstGeom>
          <a:noFill/>
          <a:ln/>
        </p:spPr>
        <p:txBody>
          <a:bodyPr wrap="square" rtlCol="0" anchor="ctr"/>
          <a:lstStyle/>
          <a:p>
            <a:pPr algn="ctr" indent="0" marL="0">
              <a:buNone/>
            </a:pPr>
            <a:r>
              <a:rPr lang="en-US" sz="2800" b="1" dirty="0">
                <a:solidFill>
                  <a:srgbClr val="0E9E9E"/>
                </a:solidFill>
                <a:latin typeface="Atkinson Hyperlegible" pitchFamily="34" charset="0"/>
                <a:ea typeface="Atkinson Hyperlegible" pitchFamily="34" charset="-122"/>
                <a:cs typeface="Atkinson Hyperlegible" pitchFamily="34" charset="-120"/>
              </a:rPr>
              <a:t>1.05</a:t>
            </a:r>
            <a:endParaRPr lang="en-US" sz="2800" dirty="0"/>
          </a:p>
        </p:txBody>
      </p:sp>
      <p:sp>
        <p:nvSpPr>
          <p:cNvPr id="34" name="Text 32"/>
          <p:cNvSpPr/>
          <p:nvPr/>
        </p:nvSpPr>
        <p:spPr>
          <a:xfrm>
            <a:off x="6583680" y="1627632"/>
            <a:ext cx="1920240" cy="256032"/>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SPI</a:t>
            </a:r>
            <a:endParaRPr lang="en-US" sz="800" dirty="0"/>
          </a:p>
        </p:txBody>
      </p:sp>
      <p:sp>
        <p:nvSpPr>
          <p:cNvPr id="35" name="Text 33"/>
          <p:cNvSpPr/>
          <p:nvPr/>
        </p:nvSpPr>
        <p:spPr>
          <a:xfrm>
            <a:off x="6583680" y="1847088"/>
            <a:ext cx="1920240" cy="201168"/>
          </a:xfrm>
          <a:prstGeom prst="rect">
            <a:avLst/>
          </a:prstGeom>
          <a:noFill/>
          <a:ln/>
        </p:spPr>
        <p:txBody>
          <a:bodyPr wrap="square" rtlCol="0" anchor="ctr"/>
          <a:lstStyle/>
          <a:p>
            <a:pPr algn="ctr" indent="0" marL="0">
              <a:buNone/>
            </a:pPr>
            <a:r>
              <a:rPr lang="en-US" sz="700" dirty="0">
                <a:solidFill>
                  <a:srgbClr val="666666"/>
                </a:solidFill>
                <a:latin typeface="Atkinson Hyperlegible" pitchFamily="34" charset="0"/>
                <a:ea typeface="Atkinson Hyperlegible" pitchFamily="34" charset="-122"/>
                <a:cs typeface="Atkinson Hyperlegible" pitchFamily="34" charset="-120"/>
              </a:rPr>
              <a:t>Cronograma</a:t>
            </a:r>
            <a:endParaRPr lang="en-US" sz="700" dirty="0"/>
          </a:p>
        </p:txBody>
      </p:sp>
      <p:sp>
        <p:nvSpPr>
          <p:cNvPr id="36" name="Shape 34"/>
          <p:cNvSpPr/>
          <p:nvPr/>
        </p:nvSpPr>
        <p:spPr>
          <a:xfrm>
            <a:off x="4434840" y="2240280"/>
            <a:ext cx="1920240" cy="1078992"/>
          </a:xfrm>
          <a:prstGeom prst="rect">
            <a:avLst>
              <a:gd name="adj" fmla="val 6780"/>
            </a:avLst>
          </a:prstGeom>
          <a:solidFill>
            <a:srgbClr val="FFFFFF"/>
          </a:solidFill>
          <a:ln w="12700">
            <a:solidFill>
              <a:srgbClr val="0E9E9E"/>
            </a:solidFill>
            <a:prstDash val="solid"/>
          </a:ln>
        </p:spPr>
      </p:sp>
      <p:sp>
        <p:nvSpPr>
          <p:cNvPr id="37" name="Text 35"/>
          <p:cNvSpPr/>
          <p:nvPr/>
        </p:nvSpPr>
        <p:spPr>
          <a:xfrm>
            <a:off x="4434840" y="2331720"/>
            <a:ext cx="1920240" cy="566928"/>
          </a:xfrm>
          <a:prstGeom prst="rect">
            <a:avLst/>
          </a:prstGeom>
          <a:noFill/>
          <a:ln/>
        </p:spPr>
        <p:txBody>
          <a:bodyPr wrap="square" rtlCol="0" anchor="ctr"/>
          <a:lstStyle/>
          <a:p>
            <a:pPr algn="ctr" indent="0" marL="0">
              <a:buNone/>
            </a:pPr>
            <a:r>
              <a:rPr lang="en-US" sz="2800" b="1" dirty="0">
                <a:solidFill>
                  <a:srgbClr val="0E9E9E"/>
                </a:solidFill>
                <a:latin typeface="Atkinson Hyperlegible" pitchFamily="34" charset="0"/>
                <a:ea typeface="Atkinson Hyperlegible" pitchFamily="34" charset="-122"/>
                <a:cs typeface="Atkinson Hyperlegible" pitchFamily="34" charset="-120"/>
              </a:rPr>
              <a:t>62%</a:t>
            </a:r>
            <a:endParaRPr lang="en-US" sz="2800" dirty="0"/>
          </a:p>
        </p:txBody>
      </p:sp>
      <p:sp>
        <p:nvSpPr>
          <p:cNvPr id="38" name="Text 36"/>
          <p:cNvSpPr/>
          <p:nvPr/>
        </p:nvSpPr>
        <p:spPr>
          <a:xfrm>
            <a:off x="4434840" y="2862072"/>
            <a:ext cx="1920240" cy="256032"/>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RFI Red.</a:t>
            </a:r>
            <a:endParaRPr lang="en-US" sz="800" dirty="0"/>
          </a:p>
        </p:txBody>
      </p:sp>
      <p:sp>
        <p:nvSpPr>
          <p:cNvPr id="39" name="Text 37"/>
          <p:cNvSpPr/>
          <p:nvPr/>
        </p:nvSpPr>
        <p:spPr>
          <a:xfrm>
            <a:off x="4434840" y="3081528"/>
            <a:ext cx="1920240" cy="201168"/>
          </a:xfrm>
          <a:prstGeom prst="rect">
            <a:avLst/>
          </a:prstGeom>
          <a:noFill/>
          <a:ln/>
        </p:spPr>
        <p:txBody>
          <a:bodyPr wrap="square" rtlCol="0" anchor="ctr"/>
          <a:lstStyle/>
          <a:p>
            <a:pPr algn="ctr" indent="0" marL="0">
              <a:buNone/>
            </a:pPr>
            <a:r>
              <a:rPr lang="en-US" sz="700" dirty="0">
                <a:solidFill>
                  <a:srgbClr val="666666"/>
                </a:solidFill>
                <a:latin typeface="Atkinson Hyperlegible" pitchFamily="34" charset="0"/>
                <a:ea typeface="Atkinson Hyperlegible" pitchFamily="34" charset="-122"/>
                <a:cs typeface="Atkinson Hyperlegible" pitchFamily="34" charset="-120"/>
              </a:rPr>
              <a:t>Calidad</a:t>
            </a:r>
            <a:endParaRPr lang="en-US" sz="700" dirty="0"/>
          </a:p>
        </p:txBody>
      </p:sp>
      <p:sp>
        <p:nvSpPr>
          <p:cNvPr id="40" name="Shape 38"/>
          <p:cNvSpPr/>
          <p:nvPr/>
        </p:nvSpPr>
        <p:spPr>
          <a:xfrm>
            <a:off x="6583680" y="2240280"/>
            <a:ext cx="1920240" cy="1078992"/>
          </a:xfrm>
          <a:prstGeom prst="rect">
            <a:avLst>
              <a:gd name="adj" fmla="val 6780"/>
            </a:avLst>
          </a:prstGeom>
          <a:solidFill>
            <a:srgbClr val="FFFFFF"/>
          </a:solidFill>
          <a:ln w="12700">
            <a:solidFill>
              <a:srgbClr val="0E9E9E"/>
            </a:solidFill>
            <a:prstDash val="solid"/>
          </a:ln>
        </p:spPr>
      </p:sp>
      <p:sp>
        <p:nvSpPr>
          <p:cNvPr id="41" name="Text 39"/>
          <p:cNvSpPr/>
          <p:nvPr/>
        </p:nvSpPr>
        <p:spPr>
          <a:xfrm>
            <a:off x="6583680" y="2331720"/>
            <a:ext cx="1920240" cy="566928"/>
          </a:xfrm>
          <a:prstGeom prst="rect">
            <a:avLst/>
          </a:prstGeom>
          <a:noFill/>
          <a:ln/>
        </p:spPr>
        <p:txBody>
          <a:bodyPr wrap="square" rtlCol="0" anchor="ctr"/>
          <a:lstStyle/>
          <a:p>
            <a:pPr algn="ctr" indent="0" marL="0">
              <a:buNone/>
            </a:pPr>
            <a:r>
              <a:rPr lang="en-US" sz="2800" b="1" dirty="0">
                <a:solidFill>
                  <a:srgbClr val="0E9E9E"/>
                </a:solidFill>
                <a:latin typeface="Atkinson Hyperlegible" pitchFamily="34" charset="0"/>
                <a:ea typeface="Atkinson Hyperlegible" pitchFamily="34" charset="-122"/>
                <a:cs typeface="Atkinson Hyperlegible" pitchFamily="34" charset="-120"/>
              </a:rPr>
              <a:t>↓18%</a:t>
            </a:r>
            <a:endParaRPr lang="en-US" sz="2800" dirty="0"/>
          </a:p>
        </p:txBody>
      </p:sp>
      <p:sp>
        <p:nvSpPr>
          <p:cNvPr id="42" name="Text 40"/>
          <p:cNvSpPr/>
          <p:nvPr/>
        </p:nvSpPr>
        <p:spPr>
          <a:xfrm>
            <a:off x="6583680" y="2862072"/>
            <a:ext cx="1920240" cy="256032"/>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Retrabajo</a:t>
            </a:r>
            <a:endParaRPr lang="en-US" sz="800" dirty="0"/>
          </a:p>
        </p:txBody>
      </p:sp>
      <p:sp>
        <p:nvSpPr>
          <p:cNvPr id="43" name="Text 41"/>
          <p:cNvSpPr/>
          <p:nvPr/>
        </p:nvSpPr>
        <p:spPr>
          <a:xfrm>
            <a:off x="6583680" y="3081528"/>
            <a:ext cx="1920240" cy="201168"/>
          </a:xfrm>
          <a:prstGeom prst="rect">
            <a:avLst/>
          </a:prstGeom>
          <a:noFill/>
          <a:ln/>
        </p:spPr>
        <p:txBody>
          <a:bodyPr wrap="square" rtlCol="0" anchor="ctr"/>
          <a:lstStyle/>
          <a:p>
            <a:pPr algn="ctr" indent="0" marL="0">
              <a:buNone/>
            </a:pPr>
            <a:r>
              <a:rPr lang="en-US" sz="700" dirty="0">
                <a:solidFill>
                  <a:srgbClr val="666666"/>
                </a:solidFill>
                <a:latin typeface="Atkinson Hyperlegible" pitchFamily="34" charset="0"/>
                <a:ea typeface="Atkinson Hyperlegible" pitchFamily="34" charset="-122"/>
                <a:cs typeface="Atkinson Hyperlegible" pitchFamily="34" charset="-120"/>
              </a:rPr>
              <a:t>Calidad</a:t>
            </a:r>
            <a:endParaRPr lang="en-US" sz="700" dirty="0"/>
          </a:p>
        </p:txBody>
      </p:sp>
      <p:sp>
        <p:nvSpPr>
          <p:cNvPr id="44" name="Shape 42"/>
          <p:cNvSpPr/>
          <p:nvPr/>
        </p:nvSpPr>
        <p:spPr>
          <a:xfrm>
            <a:off x="4434840" y="3474720"/>
            <a:ext cx="4297680" cy="1234440"/>
          </a:xfrm>
          <a:prstGeom prst="rect">
            <a:avLst>
              <a:gd name="adj" fmla="val 4444"/>
            </a:avLst>
          </a:prstGeom>
          <a:solidFill>
            <a:srgbClr val="FFF8E7"/>
          </a:solidFill>
          <a:ln w="12700">
            <a:solidFill>
              <a:srgbClr val="D4620A"/>
            </a:solidFill>
            <a:prstDash val="solid"/>
          </a:ln>
        </p:spPr>
      </p:sp>
      <p:sp>
        <p:nvSpPr>
          <p:cNvPr id="45" name="Text 43"/>
          <p:cNvSpPr/>
          <p:nvPr/>
        </p:nvSpPr>
        <p:spPr>
          <a:xfrm>
            <a:off x="4544568" y="3547872"/>
            <a:ext cx="4078224" cy="256032"/>
          </a:xfrm>
          <a:prstGeom prst="rect">
            <a:avLst/>
          </a:prstGeom>
          <a:noFill/>
          <a:ln/>
        </p:spPr>
        <p:txBody>
          <a:bodyPr wrap="square" rtlCol="0" anchor="ctr"/>
          <a:lstStyle/>
          <a:p>
            <a:pPr indent="0" marL="0">
              <a:buNone/>
            </a:pPr>
            <a:r>
              <a:rPr lang="en-US" sz="900" b="1" dirty="0">
                <a:solidFill>
                  <a:srgbClr val="D4620A"/>
                </a:solidFill>
                <a:latin typeface="Atkinson Hyperlegible" pitchFamily="34" charset="0"/>
                <a:ea typeface="Atkinson Hyperlegible" pitchFamily="34" charset="-122"/>
                <a:cs typeface="Atkinson Hyperlegible" pitchFamily="34" charset="-120"/>
              </a:rPr>
              <a:t>Lecciones Aprendidas</a:t>
            </a:r>
            <a:endParaRPr lang="en-US" sz="900" dirty="0"/>
          </a:p>
        </p:txBody>
      </p:sp>
      <p:sp>
        <p:nvSpPr>
          <p:cNvPr id="46" name="Text 44"/>
          <p:cNvSpPr/>
          <p:nvPr/>
        </p:nvSpPr>
        <p:spPr>
          <a:xfrm>
            <a:off x="4544568" y="3822192"/>
            <a:ext cx="4078224" cy="25603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AWP redujo cuellos de botella entre diseño y construcción</a:t>
            </a:r>
            <a:endParaRPr lang="en-US" sz="750" dirty="0"/>
          </a:p>
        </p:txBody>
      </p:sp>
      <p:sp>
        <p:nvSpPr>
          <p:cNvPr id="47" name="Text 45"/>
          <p:cNvSpPr/>
          <p:nvPr/>
        </p:nvSpPr>
        <p:spPr>
          <a:xfrm>
            <a:off x="4544568" y="4105656"/>
            <a:ext cx="4078224" cy="25603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IWPs para MEP crítico disminuyeron interferencias 40%</a:t>
            </a:r>
            <a:endParaRPr lang="en-US" sz="750" dirty="0"/>
          </a:p>
        </p:txBody>
      </p:sp>
      <p:sp>
        <p:nvSpPr>
          <p:cNvPr id="48" name="Text 46"/>
          <p:cNvSpPr/>
          <p:nvPr/>
        </p:nvSpPr>
        <p:spPr>
          <a:xfrm>
            <a:off x="4544568" y="4389120"/>
            <a:ext cx="4078224" cy="25603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Integración con BIM: clash detection anticipada mejoró CWPs</a:t>
            </a:r>
            <a:endParaRPr lang="en-US" sz="7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392B"/>
          </a:solidFill>
          <a:ln w="12700">
            <a:solidFill>
              <a:srgbClr val="C0392B"/>
            </a:solidFill>
            <a:prstDash val="solid"/>
          </a:ln>
        </p:spPr>
      </p:sp>
      <p:sp>
        <p:nvSpPr>
          <p:cNvPr id="3" name="Shape 1"/>
          <p:cNvSpPr/>
          <p:nvPr/>
        </p:nvSpPr>
        <p:spPr>
          <a:xfrm>
            <a:off x="164592" y="4956048"/>
            <a:ext cx="8979408" cy="182880"/>
          </a:xfrm>
          <a:prstGeom prst="rect">
            <a:avLst/>
          </a:prstGeom>
          <a:solidFill>
            <a:srgbClr val="C0392B"/>
          </a:solidFill>
          <a:ln w="12700">
            <a:solidFill>
              <a:srgbClr val="C0392B"/>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66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Lecciones Consolidadas de Casos de Estudio</a:t>
            </a:r>
            <a:endParaRPr lang="en-US" sz="1800" dirty="0"/>
          </a:p>
        </p:txBody>
      </p:sp>
      <p:sp>
        <p:nvSpPr>
          <p:cNvPr id="6" name="Shape 4"/>
          <p:cNvSpPr/>
          <p:nvPr/>
        </p:nvSpPr>
        <p:spPr>
          <a:xfrm>
            <a:off x="320040" y="621792"/>
            <a:ext cx="8503920" cy="41148"/>
          </a:xfrm>
          <a:prstGeom prst="rect">
            <a:avLst/>
          </a:prstGeom>
          <a:solidFill>
            <a:srgbClr val="C0392B"/>
          </a:solidFill>
          <a:ln w="12700">
            <a:solidFill>
              <a:srgbClr val="C0392B"/>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C0392B"/>
                </a:solidFill>
                <a:latin typeface="Atkinson Hyperlegible" pitchFamily="34" charset="0"/>
                <a:ea typeface="Atkinson Hyperlegible" pitchFamily="34" charset="-122"/>
                <a:cs typeface="Atkinson Hyperlegible" pitchFamily="34" charset="-120"/>
              </a:rPr>
              <a:t>Patrones comunes en implementaciones exitosas de constructabilidad</a:t>
            </a:r>
            <a:endParaRPr lang="en-US" sz="900" dirty="0"/>
          </a:p>
        </p:txBody>
      </p:sp>
      <p:sp>
        <p:nvSpPr>
          <p:cNvPr id="8" name="Shape 6"/>
          <p:cNvSpPr/>
          <p:nvPr/>
        </p:nvSpPr>
        <p:spPr>
          <a:xfrm>
            <a:off x="320040" y="960120"/>
            <a:ext cx="2712720" cy="1851660"/>
          </a:xfrm>
          <a:prstGeom prst="rect">
            <a:avLst>
              <a:gd name="adj" fmla="val 3457"/>
            </a:avLst>
          </a:prstGeom>
          <a:solidFill>
            <a:srgbClr val="FFFFFF"/>
          </a:solidFill>
          <a:ln w="15240">
            <a:solidFill>
              <a:srgbClr val="27AE60"/>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9768" y="1069848"/>
            <a:ext cx="384048" cy="384048"/>
          </a:xfrm>
          <a:prstGeom prst="rect">
            <a:avLst/>
          </a:prstGeom>
        </p:spPr>
      </p:pic>
      <p:sp>
        <p:nvSpPr>
          <p:cNvPr id="10" name="Text 7"/>
          <p:cNvSpPr/>
          <p:nvPr/>
        </p:nvSpPr>
        <p:spPr>
          <a:xfrm>
            <a:off x="850392" y="1051560"/>
            <a:ext cx="2072640" cy="329184"/>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Involucramiento Temprano</a:t>
            </a:r>
            <a:endParaRPr lang="en-US" sz="900" dirty="0"/>
          </a:p>
        </p:txBody>
      </p:sp>
      <p:sp>
        <p:nvSpPr>
          <p:cNvPr id="11" name="Text 8"/>
          <p:cNvSpPr/>
          <p:nvPr/>
        </p:nvSpPr>
        <p:spPr>
          <a:xfrm>
            <a:off x="429768" y="1508760"/>
            <a:ext cx="2493264" cy="1193292"/>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Constructabilidad desde fase conceptual reduce cambios tardíos &gt;50%</a:t>
            </a:r>
            <a:endParaRPr lang="en-US" sz="800" dirty="0"/>
          </a:p>
        </p:txBody>
      </p:sp>
      <p:sp>
        <p:nvSpPr>
          <p:cNvPr id="12" name="Shape 9"/>
          <p:cNvSpPr/>
          <p:nvPr/>
        </p:nvSpPr>
        <p:spPr>
          <a:xfrm>
            <a:off x="3215640" y="960120"/>
            <a:ext cx="2712720" cy="1851660"/>
          </a:xfrm>
          <a:prstGeom prst="rect">
            <a:avLst>
              <a:gd name="adj" fmla="val 3457"/>
            </a:avLst>
          </a:prstGeom>
          <a:solidFill>
            <a:srgbClr val="FFFFFF"/>
          </a:solidFill>
          <a:ln w="15240">
            <a:solidFill>
              <a:srgbClr val="0A74E3"/>
            </a:solidFill>
            <a:prstDash val="solid"/>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25368" y="1069848"/>
            <a:ext cx="384048" cy="384048"/>
          </a:xfrm>
          <a:prstGeom prst="rect">
            <a:avLst/>
          </a:prstGeom>
        </p:spPr>
      </p:pic>
      <p:sp>
        <p:nvSpPr>
          <p:cNvPr id="14" name="Text 10"/>
          <p:cNvSpPr/>
          <p:nvPr/>
        </p:nvSpPr>
        <p:spPr>
          <a:xfrm>
            <a:off x="3745992" y="1051560"/>
            <a:ext cx="2072640" cy="329184"/>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Equipos Integrados</a:t>
            </a:r>
            <a:endParaRPr lang="en-US" sz="900" dirty="0"/>
          </a:p>
        </p:txBody>
      </p:sp>
      <p:sp>
        <p:nvSpPr>
          <p:cNvPr id="15" name="Text 11"/>
          <p:cNvSpPr/>
          <p:nvPr/>
        </p:nvSpPr>
        <p:spPr>
          <a:xfrm>
            <a:off x="3325368" y="1508760"/>
            <a:ext cx="2493264" cy="1193292"/>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Diseñadores y constructores en mismo equipo desde inicio = menor retrabajo</a:t>
            </a:r>
            <a:endParaRPr lang="en-US" sz="800" dirty="0"/>
          </a:p>
        </p:txBody>
      </p:sp>
      <p:sp>
        <p:nvSpPr>
          <p:cNvPr id="16" name="Shape 12"/>
          <p:cNvSpPr/>
          <p:nvPr/>
        </p:nvSpPr>
        <p:spPr>
          <a:xfrm>
            <a:off x="6111240" y="960120"/>
            <a:ext cx="2712720" cy="1851660"/>
          </a:xfrm>
          <a:prstGeom prst="rect">
            <a:avLst>
              <a:gd name="adj" fmla="val 3457"/>
            </a:avLst>
          </a:prstGeom>
          <a:solidFill>
            <a:srgbClr val="FFFFFF"/>
          </a:solidFill>
          <a:ln w="15240">
            <a:solidFill>
              <a:srgbClr val="0E9E9E"/>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20968" y="1069848"/>
            <a:ext cx="384048" cy="384048"/>
          </a:xfrm>
          <a:prstGeom prst="rect">
            <a:avLst/>
          </a:prstGeom>
        </p:spPr>
      </p:pic>
      <p:sp>
        <p:nvSpPr>
          <p:cNvPr id="18" name="Text 13"/>
          <p:cNvSpPr/>
          <p:nvPr/>
        </p:nvSpPr>
        <p:spPr>
          <a:xfrm>
            <a:off x="6641592" y="1051560"/>
            <a:ext cx="2072640" cy="329184"/>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IWP Detallados</a:t>
            </a:r>
            <a:endParaRPr lang="en-US" sz="900" dirty="0"/>
          </a:p>
        </p:txBody>
      </p:sp>
      <p:sp>
        <p:nvSpPr>
          <p:cNvPr id="19" name="Text 14"/>
          <p:cNvSpPr/>
          <p:nvPr/>
        </p:nvSpPr>
        <p:spPr>
          <a:xfrm>
            <a:off x="6220968" y="1508760"/>
            <a:ext cx="2493264" cy="1193292"/>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Work packages con ≤1,000 horas hombre permiten control granular</a:t>
            </a:r>
            <a:endParaRPr lang="en-US" sz="800" dirty="0"/>
          </a:p>
        </p:txBody>
      </p:sp>
      <p:sp>
        <p:nvSpPr>
          <p:cNvPr id="20" name="Shape 15"/>
          <p:cNvSpPr/>
          <p:nvPr/>
        </p:nvSpPr>
        <p:spPr>
          <a:xfrm>
            <a:off x="320040" y="2948940"/>
            <a:ext cx="2712720" cy="1851660"/>
          </a:xfrm>
          <a:prstGeom prst="rect">
            <a:avLst>
              <a:gd name="adj" fmla="val 3457"/>
            </a:avLst>
          </a:prstGeom>
          <a:solidFill>
            <a:srgbClr val="FFFFFF"/>
          </a:solidFill>
          <a:ln w="15240">
            <a:solidFill>
              <a:srgbClr val="D4620A"/>
            </a:solidFill>
            <a:prstDash val="solid"/>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9768" y="3058668"/>
            <a:ext cx="384048" cy="384048"/>
          </a:xfrm>
          <a:prstGeom prst="rect">
            <a:avLst/>
          </a:prstGeom>
        </p:spPr>
      </p:pic>
      <p:sp>
        <p:nvSpPr>
          <p:cNvPr id="22" name="Text 16"/>
          <p:cNvSpPr/>
          <p:nvPr/>
        </p:nvSpPr>
        <p:spPr>
          <a:xfrm>
            <a:off x="850392" y="3040380"/>
            <a:ext cx="2072640" cy="329184"/>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Métricas Desde Inicio</a:t>
            </a:r>
            <a:endParaRPr lang="en-US" sz="900" dirty="0"/>
          </a:p>
        </p:txBody>
      </p:sp>
      <p:sp>
        <p:nvSpPr>
          <p:cNvPr id="23" name="Text 17"/>
          <p:cNvSpPr/>
          <p:nvPr/>
        </p:nvSpPr>
        <p:spPr>
          <a:xfrm>
            <a:off x="429768" y="3497580"/>
            <a:ext cx="2493264" cy="1193292"/>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KPIs definidos en fase de planificación facilitan comparaciones objetivas</a:t>
            </a:r>
            <a:endParaRPr lang="en-US" sz="800" dirty="0"/>
          </a:p>
        </p:txBody>
      </p:sp>
      <p:sp>
        <p:nvSpPr>
          <p:cNvPr id="24" name="Shape 18"/>
          <p:cNvSpPr/>
          <p:nvPr/>
        </p:nvSpPr>
        <p:spPr>
          <a:xfrm>
            <a:off x="3215640" y="2948940"/>
            <a:ext cx="2712720" cy="1851660"/>
          </a:xfrm>
          <a:prstGeom prst="rect">
            <a:avLst>
              <a:gd name="adj" fmla="val 3457"/>
            </a:avLst>
          </a:prstGeom>
          <a:solidFill>
            <a:srgbClr val="FFFFFF"/>
          </a:solidFill>
          <a:ln w="15240">
            <a:solidFill>
              <a:srgbClr val="8E44AD"/>
            </a:solidFill>
            <a:prstDash val="solid"/>
          </a:ln>
        </p:spPr>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25368" y="3058668"/>
            <a:ext cx="384048" cy="384048"/>
          </a:xfrm>
          <a:prstGeom prst="rect">
            <a:avLst/>
          </a:prstGeom>
        </p:spPr>
      </p:pic>
      <p:sp>
        <p:nvSpPr>
          <p:cNvPr id="26" name="Text 19"/>
          <p:cNvSpPr/>
          <p:nvPr/>
        </p:nvSpPr>
        <p:spPr>
          <a:xfrm>
            <a:off x="3745992" y="3040380"/>
            <a:ext cx="2072640" cy="329184"/>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Tecnología Habilitadora</a:t>
            </a:r>
            <a:endParaRPr lang="en-US" sz="900" dirty="0"/>
          </a:p>
        </p:txBody>
      </p:sp>
      <p:sp>
        <p:nvSpPr>
          <p:cNvPr id="27" name="Text 20"/>
          <p:cNvSpPr/>
          <p:nvPr/>
        </p:nvSpPr>
        <p:spPr>
          <a:xfrm>
            <a:off x="3325368" y="3497580"/>
            <a:ext cx="2493264" cy="1193292"/>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BIM + CDE + dashboards integrados multiplican el valor de AWP</a:t>
            </a:r>
            <a:endParaRPr lang="en-US" sz="800" dirty="0"/>
          </a:p>
        </p:txBody>
      </p:sp>
      <p:sp>
        <p:nvSpPr>
          <p:cNvPr id="28" name="Shape 21"/>
          <p:cNvSpPr/>
          <p:nvPr/>
        </p:nvSpPr>
        <p:spPr>
          <a:xfrm>
            <a:off x="6111240" y="2948940"/>
            <a:ext cx="2712720" cy="1851660"/>
          </a:xfrm>
          <a:prstGeom prst="rect">
            <a:avLst>
              <a:gd name="adj" fmla="val 3457"/>
            </a:avLst>
          </a:prstGeom>
          <a:solidFill>
            <a:srgbClr val="FFFFFF"/>
          </a:solidFill>
          <a:ln w="15240">
            <a:solidFill>
              <a:srgbClr val="2C3E8C"/>
            </a:solidFill>
            <a:prstDash val="solid"/>
          </a:ln>
        </p:spPr>
      </p:sp>
      <p:pic>
        <p:nvPicPr>
          <p:cNvPr id="2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20968" y="3058668"/>
            <a:ext cx="384048" cy="384048"/>
          </a:xfrm>
          <a:prstGeom prst="rect">
            <a:avLst/>
          </a:prstGeom>
        </p:spPr>
      </p:pic>
      <p:sp>
        <p:nvSpPr>
          <p:cNvPr id="30" name="Text 22"/>
          <p:cNvSpPr/>
          <p:nvPr/>
        </p:nvSpPr>
        <p:spPr>
          <a:xfrm>
            <a:off x="6641592" y="3040380"/>
            <a:ext cx="2072640" cy="329184"/>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Cultura y Liderazgo</a:t>
            </a:r>
            <a:endParaRPr lang="en-US" sz="900" dirty="0"/>
          </a:p>
        </p:txBody>
      </p:sp>
      <p:sp>
        <p:nvSpPr>
          <p:cNvPr id="31" name="Text 23"/>
          <p:cNvSpPr/>
          <p:nvPr/>
        </p:nvSpPr>
        <p:spPr>
          <a:xfrm>
            <a:off x="6220968" y="3497580"/>
            <a:ext cx="2493264" cy="1193292"/>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Patrocinador ejecutivo activo = factor diferenciador #1 en todos los casos</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C3E8C"/>
          </a:solidFill>
          <a:ln w="12700">
            <a:solidFill>
              <a:srgbClr val="2C3E8C"/>
            </a:solidFill>
            <a:prstDash val="solid"/>
          </a:ln>
        </p:spPr>
      </p:sp>
      <p:sp>
        <p:nvSpPr>
          <p:cNvPr id="3" name="Shape 1"/>
          <p:cNvSpPr/>
          <p:nvPr/>
        </p:nvSpPr>
        <p:spPr>
          <a:xfrm>
            <a:off x="0" y="0"/>
            <a:ext cx="3200400" cy="5143500"/>
          </a:xfrm>
          <a:prstGeom prst="rect">
            <a:avLst/>
          </a:prstGeom>
          <a:solidFill>
            <a:srgbClr val="000000"/>
          </a:solidFill>
          <a:ln w="12700">
            <a:solidFill>
              <a:srgbClr val="000000"/>
            </a:solidFill>
            <a:prstDash val="solid"/>
          </a:ln>
        </p:spPr>
      </p:sp>
      <p:sp>
        <p:nvSpPr>
          <p:cNvPr id="4" name="Text 2"/>
          <p:cNvSpPr/>
          <p:nvPr/>
        </p:nvSpPr>
        <p:spPr>
          <a:xfrm>
            <a:off x="365760" y="365760"/>
            <a:ext cx="2743200" cy="1828800"/>
          </a:xfrm>
          <a:prstGeom prst="rect">
            <a:avLst/>
          </a:prstGeom>
          <a:noFill/>
          <a:ln/>
        </p:spPr>
        <p:txBody>
          <a:bodyPr wrap="square" rtlCol="0" anchor="ctr"/>
          <a:lstStyle/>
          <a:p>
            <a:pPr indent="0" marL="0">
              <a:buNone/>
            </a:pPr>
            <a:r>
              <a:rPr lang="en-US" sz="9600" b="1" dirty="0">
                <a:solidFill>
                  <a:srgbClr val="FFFFFF">
                    <a:alpha val="40000"/>
                  </a:srgbClr>
                </a:solidFill>
                <a:latin typeface="Atkinson Hyperlegible" pitchFamily="34" charset="0"/>
                <a:ea typeface="Atkinson Hyperlegible" pitchFamily="34" charset="-122"/>
                <a:cs typeface="Atkinson Hyperlegible" pitchFamily="34" charset="-120"/>
              </a:rPr>
              <a:t>07</a:t>
            </a:r>
            <a:endParaRPr lang="en-US" sz="9600" dirty="0"/>
          </a:p>
        </p:txBody>
      </p:sp>
      <p:sp>
        <p:nvSpPr>
          <p:cNvPr id="5" name="Text 3"/>
          <p:cNvSpPr/>
          <p:nvPr/>
        </p:nvSpPr>
        <p:spPr>
          <a:xfrm>
            <a:off x="3474720" y="1645920"/>
            <a:ext cx="5303520" cy="1097280"/>
          </a:xfrm>
          <a:prstGeom prst="rect">
            <a:avLst/>
          </a:prstGeom>
          <a:noFill/>
          <a:ln/>
        </p:spPr>
        <p:txBody>
          <a:bodyPr wrap="square" rtlCol="0" anchor="ctr"/>
          <a:lstStyle/>
          <a:p>
            <a:pPr indent="0" marL="0">
              <a:buNone/>
            </a:pPr>
            <a:r>
              <a:rPr lang="en-US" sz="3200" b="1" dirty="0">
                <a:solidFill>
                  <a:srgbClr val="FFFFFF"/>
                </a:solidFill>
                <a:latin typeface="Atkinson Hyperlegible" pitchFamily="34" charset="0"/>
                <a:ea typeface="Atkinson Hyperlegible" pitchFamily="34" charset="-122"/>
                <a:cs typeface="Atkinson Hyperlegible" pitchFamily="34" charset="-120"/>
              </a:rPr>
              <a:t>Herramientas</a:t>
            </a:r>
            <a:endParaRPr lang="en-US" sz="3200" dirty="0"/>
          </a:p>
          <a:p>
            <a:pPr indent="0" marL="0">
              <a:buNone/>
            </a:pPr>
            <a:r>
              <a:rPr lang="en-US" sz="3200" b="1" dirty="0">
                <a:solidFill>
                  <a:srgbClr val="FFFFFF"/>
                </a:solidFill>
                <a:latin typeface="Atkinson Hyperlegible" pitchFamily="34" charset="0"/>
                <a:ea typeface="Atkinson Hyperlegible" pitchFamily="34" charset="-122"/>
                <a:cs typeface="Atkinson Hyperlegible" pitchFamily="34" charset="-120"/>
              </a:rPr>
              <a:t>Digitales</a:t>
            </a:r>
            <a:endParaRPr lang="en-US" sz="3200" dirty="0"/>
          </a:p>
        </p:txBody>
      </p:sp>
      <p:sp>
        <p:nvSpPr>
          <p:cNvPr id="6" name="Text 4"/>
          <p:cNvSpPr/>
          <p:nvPr/>
        </p:nvSpPr>
        <p:spPr>
          <a:xfrm>
            <a:off x="3474720" y="2834640"/>
            <a:ext cx="5303520" cy="822960"/>
          </a:xfrm>
          <a:prstGeom prst="rect">
            <a:avLst/>
          </a:prstGeom>
          <a:noFill/>
          <a:ln/>
        </p:spPr>
        <p:txBody>
          <a:bodyPr wrap="square" rtlCol="0" anchor="ctr"/>
          <a:lstStyle/>
          <a:p>
            <a:pPr indent="0" marL="0">
              <a:buNone/>
            </a:pPr>
            <a:r>
              <a:rPr lang="en-US" sz="1400" i="1" dirty="0">
                <a:solidFill>
                  <a:srgbClr val="FFFFFF">
                    <a:alpha val="75000"/>
                  </a:srgbClr>
                </a:solidFill>
                <a:latin typeface="Atkinson Hyperlegible" pitchFamily="34" charset="0"/>
                <a:ea typeface="Atkinson Hyperlegible" pitchFamily="34" charset="-122"/>
                <a:cs typeface="Atkinson Hyperlegible" pitchFamily="34" charset="-120"/>
              </a:rPr>
              <a:t>Tecnología al servicio de la constructabilidad</a:t>
            </a:r>
            <a:endParaRPr lang="en-US" sz="1400" dirty="0"/>
          </a:p>
        </p:txBody>
      </p:sp>
      <p:sp>
        <p:nvSpPr>
          <p:cNvPr id="7" name="Text 5"/>
          <p:cNvSpPr/>
          <p:nvPr/>
        </p:nvSpPr>
        <p:spPr>
          <a:xfrm>
            <a:off x="7772400" y="4846320"/>
            <a:ext cx="1188720" cy="182880"/>
          </a:xfrm>
          <a:prstGeom prst="rect">
            <a:avLst/>
          </a:prstGeom>
          <a:noFill/>
          <a:ln/>
        </p:spPr>
        <p:txBody>
          <a:bodyPr wrap="square" rtlCol="0" anchor="ctr"/>
          <a:lstStyle/>
          <a:p>
            <a:pPr algn="r" indent="0" marL="0">
              <a:buNone/>
            </a:pPr>
            <a:r>
              <a:rPr lang="en-US" sz="800" dirty="0">
                <a:solidFill>
                  <a:srgbClr val="FFFFFF"/>
                </a:solidFill>
                <a:latin typeface="Atkinson Hyperlegible" pitchFamily="34" charset="0"/>
                <a:ea typeface="Atkinson Hyperlegible" pitchFamily="34" charset="-122"/>
                <a:cs typeface="Atkinson Hyperlegible" pitchFamily="34" charset="-120"/>
              </a:rPr>
              <a:t>67 / 126</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C3E8C"/>
          </a:solidFill>
          <a:ln w="12700">
            <a:solidFill>
              <a:srgbClr val="2C3E8C"/>
            </a:solidFill>
            <a:prstDash val="solid"/>
          </a:ln>
        </p:spPr>
      </p:sp>
      <p:sp>
        <p:nvSpPr>
          <p:cNvPr id="3" name="Shape 1"/>
          <p:cNvSpPr/>
          <p:nvPr/>
        </p:nvSpPr>
        <p:spPr>
          <a:xfrm>
            <a:off x="164592" y="4956048"/>
            <a:ext cx="8979408" cy="182880"/>
          </a:xfrm>
          <a:prstGeom prst="rect">
            <a:avLst/>
          </a:prstGeom>
          <a:solidFill>
            <a:srgbClr val="2C3E8C"/>
          </a:solidFill>
          <a:ln w="12700">
            <a:solidFill>
              <a:srgbClr val="2C3E8C"/>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68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Ecosistema Digital para AWP</a:t>
            </a:r>
            <a:endParaRPr lang="en-US" sz="1800" dirty="0"/>
          </a:p>
        </p:txBody>
      </p:sp>
      <p:sp>
        <p:nvSpPr>
          <p:cNvPr id="6" name="Shape 4"/>
          <p:cNvSpPr/>
          <p:nvPr/>
        </p:nvSpPr>
        <p:spPr>
          <a:xfrm>
            <a:off x="320040" y="621792"/>
            <a:ext cx="8503920" cy="41148"/>
          </a:xfrm>
          <a:prstGeom prst="rect">
            <a:avLst/>
          </a:prstGeom>
          <a:solidFill>
            <a:srgbClr val="2C3E8C"/>
          </a:solidFill>
          <a:ln w="12700">
            <a:solidFill>
              <a:srgbClr val="2C3E8C"/>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2C3E8C"/>
                </a:solidFill>
                <a:latin typeface="Atkinson Hyperlegible" pitchFamily="34" charset="0"/>
                <a:ea typeface="Atkinson Hyperlegible" pitchFamily="34" charset="-122"/>
                <a:cs typeface="Atkinson Hyperlegible" pitchFamily="34" charset="-120"/>
              </a:rPr>
              <a:t>Capas tecnológicas que soportan la constructabilidad avanzada</a:t>
            </a:r>
            <a:endParaRPr lang="en-US" sz="900" dirty="0"/>
          </a:p>
        </p:txBody>
      </p:sp>
      <p:sp>
        <p:nvSpPr>
          <p:cNvPr id="8" name="Shape 6"/>
          <p:cNvSpPr/>
          <p:nvPr/>
        </p:nvSpPr>
        <p:spPr>
          <a:xfrm>
            <a:off x="320040" y="987552"/>
            <a:ext cx="8503920" cy="877824"/>
          </a:xfrm>
          <a:prstGeom prst="rect">
            <a:avLst>
              <a:gd name="adj" fmla="val 6250"/>
            </a:avLst>
          </a:prstGeom>
          <a:solidFill>
            <a:srgbClr val="FFFFFF"/>
          </a:solidFill>
          <a:ln w="15240">
            <a:solidFill>
              <a:srgbClr val="2C3E8C"/>
            </a:solidFill>
            <a:prstDash val="solid"/>
          </a:ln>
        </p:spPr>
      </p:sp>
      <p:sp>
        <p:nvSpPr>
          <p:cNvPr id="9" name="Shape 7"/>
          <p:cNvSpPr/>
          <p:nvPr/>
        </p:nvSpPr>
        <p:spPr>
          <a:xfrm>
            <a:off x="320040" y="987552"/>
            <a:ext cx="1554480" cy="877824"/>
          </a:xfrm>
          <a:prstGeom prst="rect">
            <a:avLst>
              <a:gd name="adj" fmla="val 6250"/>
            </a:avLst>
          </a:prstGeom>
          <a:solidFill>
            <a:srgbClr val="2C3E8C"/>
          </a:solidFill>
          <a:ln w="12700">
            <a:solidFill>
              <a:srgbClr val="2C3E8C"/>
            </a:solidFill>
            <a:prstDash val="solid"/>
          </a:ln>
        </p:spPr>
      </p:sp>
      <p:sp>
        <p:nvSpPr>
          <p:cNvPr id="10" name="Text 8"/>
          <p:cNvSpPr/>
          <p:nvPr/>
        </p:nvSpPr>
        <p:spPr>
          <a:xfrm>
            <a:off x="365760" y="987552"/>
            <a:ext cx="1463040" cy="877824"/>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Capa de Datos</a:t>
            </a:r>
            <a:endParaRPr lang="en-US" sz="850" dirty="0"/>
          </a:p>
        </p:txBody>
      </p:sp>
      <p:sp>
        <p:nvSpPr>
          <p:cNvPr id="11" name="Shape 9"/>
          <p:cNvSpPr/>
          <p:nvPr/>
        </p:nvSpPr>
        <p:spPr>
          <a:xfrm>
            <a:off x="2057400" y="1152144"/>
            <a:ext cx="1572768" cy="548640"/>
          </a:xfrm>
          <a:prstGeom prst="roundRect">
            <a:avLst>
              <a:gd name="adj" fmla="val 8333"/>
            </a:avLst>
          </a:prstGeom>
          <a:solidFill>
            <a:srgbClr val="F5F5FF"/>
          </a:solidFill>
          <a:ln w="10160">
            <a:solidFill>
              <a:srgbClr val="2C3E8C"/>
            </a:solidFill>
            <a:prstDash val="solid"/>
          </a:ln>
        </p:spPr>
      </p:sp>
      <p:sp>
        <p:nvSpPr>
          <p:cNvPr id="12" name="Text 10"/>
          <p:cNvSpPr/>
          <p:nvPr/>
        </p:nvSpPr>
        <p:spPr>
          <a:xfrm>
            <a:off x="2057400" y="1152144"/>
            <a:ext cx="1572768" cy="548640"/>
          </a:xfrm>
          <a:prstGeom prst="rect">
            <a:avLst/>
          </a:prstGeom>
          <a:noFill/>
          <a:ln/>
        </p:spPr>
        <p:txBody>
          <a:bodyPr wrap="square" rtlCol="0" anchor="ctr"/>
          <a:lstStyle/>
          <a:p>
            <a:pPr algn="ct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BIM (3D/4D/5D)</a:t>
            </a:r>
            <a:endParaRPr lang="en-US" sz="800" dirty="0"/>
          </a:p>
        </p:txBody>
      </p:sp>
      <p:sp>
        <p:nvSpPr>
          <p:cNvPr id="13" name="Shape 11"/>
          <p:cNvSpPr/>
          <p:nvPr/>
        </p:nvSpPr>
        <p:spPr>
          <a:xfrm>
            <a:off x="3739896" y="1152144"/>
            <a:ext cx="1572768" cy="548640"/>
          </a:xfrm>
          <a:prstGeom prst="roundRect">
            <a:avLst>
              <a:gd name="adj" fmla="val 8333"/>
            </a:avLst>
          </a:prstGeom>
          <a:solidFill>
            <a:srgbClr val="F5F5FF"/>
          </a:solidFill>
          <a:ln w="10160">
            <a:solidFill>
              <a:srgbClr val="2C3E8C"/>
            </a:solidFill>
            <a:prstDash val="solid"/>
          </a:ln>
        </p:spPr>
      </p:sp>
      <p:sp>
        <p:nvSpPr>
          <p:cNvPr id="14" name="Text 12"/>
          <p:cNvSpPr/>
          <p:nvPr/>
        </p:nvSpPr>
        <p:spPr>
          <a:xfrm>
            <a:off x="3739896" y="1152144"/>
            <a:ext cx="1572768" cy="548640"/>
          </a:xfrm>
          <a:prstGeom prst="rect">
            <a:avLst/>
          </a:prstGeom>
          <a:noFill/>
          <a:ln/>
        </p:spPr>
        <p:txBody>
          <a:bodyPr wrap="square" rtlCol="0" anchor="ctr"/>
          <a:lstStyle/>
          <a:p>
            <a:pPr algn="ct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CDE / SharePoint</a:t>
            </a:r>
            <a:endParaRPr lang="en-US" sz="800" dirty="0"/>
          </a:p>
        </p:txBody>
      </p:sp>
      <p:sp>
        <p:nvSpPr>
          <p:cNvPr id="15" name="Shape 13"/>
          <p:cNvSpPr/>
          <p:nvPr/>
        </p:nvSpPr>
        <p:spPr>
          <a:xfrm>
            <a:off x="5422392" y="1152144"/>
            <a:ext cx="1572768" cy="548640"/>
          </a:xfrm>
          <a:prstGeom prst="roundRect">
            <a:avLst>
              <a:gd name="adj" fmla="val 8333"/>
            </a:avLst>
          </a:prstGeom>
          <a:solidFill>
            <a:srgbClr val="F5F5FF"/>
          </a:solidFill>
          <a:ln w="10160">
            <a:solidFill>
              <a:srgbClr val="2C3E8C"/>
            </a:solidFill>
            <a:prstDash val="solid"/>
          </a:ln>
        </p:spPr>
      </p:sp>
      <p:sp>
        <p:nvSpPr>
          <p:cNvPr id="16" name="Text 14"/>
          <p:cNvSpPr/>
          <p:nvPr/>
        </p:nvSpPr>
        <p:spPr>
          <a:xfrm>
            <a:off x="5422392" y="1152144"/>
            <a:ext cx="1572768" cy="548640"/>
          </a:xfrm>
          <a:prstGeom prst="rect">
            <a:avLst/>
          </a:prstGeom>
          <a:noFill/>
          <a:ln/>
        </p:spPr>
        <p:txBody>
          <a:bodyPr wrap="square" rtlCol="0" anchor="ctr"/>
          <a:lstStyle/>
          <a:p>
            <a:pPr algn="ct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EDMS</a:t>
            </a:r>
            <a:endParaRPr lang="en-US" sz="800" dirty="0"/>
          </a:p>
        </p:txBody>
      </p:sp>
      <p:sp>
        <p:nvSpPr>
          <p:cNvPr id="17" name="Shape 15"/>
          <p:cNvSpPr/>
          <p:nvPr/>
        </p:nvSpPr>
        <p:spPr>
          <a:xfrm>
            <a:off x="7104888" y="1152144"/>
            <a:ext cx="1572768" cy="548640"/>
          </a:xfrm>
          <a:prstGeom prst="roundRect">
            <a:avLst>
              <a:gd name="adj" fmla="val 8333"/>
            </a:avLst>
          </a:prstGeom>
          <a:solidFill>
            <a:srgbClr val="F5F5FF"/>
          </a:solidFill>
          <a:ln w="10160">
            <a:solidFill>
              <a:srgbClr val="2C3E8C"/>
            </a:solidFill>
            <a:prstDash val="solid"/>
          </a:ln>
        </p:spPr>
      </p:sp>
      <p:sp>
        <p:nvSpPr>
          <p:cNvPr id="18" name="Text 16"/>
          <p:cNvSpPr/>
          <p:nvPr/>
        </p:nvSpPr>
        <p:spPr>
          <a:xfrm>
            <a:off x="7104888" y="1152144"/>
            <a:ext cx="1572768" cy="548640"/>
          </a:xfrm>
          <a:prstGeom prst="rect">
            <a:avLst/>
          </a:prstGeom>
          <a:noFill/>
          <a:ln/>
        </p:spPr>
        <p:txBody>
          <a:bodyPr wrap="square" rtlCol="0" anchor="ctr"/>
          <a:lstStyle/>
          <a:p>
            <a:pPr algn="ct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Laser Scan</a:t>
            </a:r>
            <a:endParaRPr lang="en-US" sz="800" dirty="0"/>
          </a:p>
        </p:txBody>
      </p:sp>
      <p:sp>
        <p:nvSpPr>
          <p:cNvPr id="19" name="Shape 17"/>
          <p:cNvSpPr/>
          <p:nvPr/>
        </p:nvSpPr>
        <p:spPr>
          <a:xfrm>
            <a:off x="320040" y="1975104"/>
            <a:ext cx="8503920" cy="877824"/>
          </a:xfrm>
          <a:prstGeom prst="rect">
            <a:avLst>
              <a:gd name="adj" fmla="val 6250"/>
            </a:avLst>
          </a:prstGeom>
          <a:solidFill>
            <a:srgbClr val="FFFFFF"/>
          </a:solidFill>
          <a:ln w="15240">
            <a:solidFill>
              <a:srgbClr val="0E9E9E"/>
            </a:solidFill>
            <a:prstDash val="solid"/>
          </a:ln>
        </p:spPr>
      </p:sp>
      <p:sp>
        <p:nvSpPr>
          <p:cNvPr id="20" name="Shape 18"/>
          <p:cNvSpPr/>
          <p:nvPr/>
        </p:nvSpPr>
        <p:spPr>
          <a:xfrm>
            <a:off x="320040" y="1975104"/>
            <a:ext cx="1554480" cy="877824"/>
          </a:xfrm>
          <a:prstGeom prst="rect">
            <a:avLst>
              <a:gd name="adj" fmla="val 6250"/>
            </a:avLst>
          </a:prstGeom>
          <a:solidFill>
            <a:srgbClr val="0E9E9E"/>
          </a:solidFill>
          <a:ln w="12700">
            <a:solidFill>
              <a:srgbClr val="0E9E9E"/>
            </a:solidFill>
            <a:prstDash val="solid"/>
          </a:ln>
        </p:spPr>
      </p:sp>
      <p:sp>
        <p:nvSpPr>
          <p:cNvPr id="21" name="Text 19"/>
          <p:cNvSpPr/>
          <p:nvPr/>
        </p:nvSpPr>
        <p:spPr>
          <a:xfrm>
            <a:off x="365760" y="1975104"/>
            <a:ext cx="1463040" cy="877824"/>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Capa de Planificación</a:t>
            </a:r>
            <a:endParaRPr lang="en-US" sz="850" dirty="0"/>
          </a:p>
        </p:txBody>
      </p:sp>
      <p:sp>
        <p:nvSpPr>
          <p:cNvPr id="22" name="Shape 20"/>
          <p:cNvSpPr/>
          <p:nvPr/>
        </p:nvSpPr>
        <p:spPr>
          <a:xfrm>
            <a:off x="2057400" y="2139696"/>
            <a:ext cx="1572768" cy="548640"/>
          </a:xfrm>
          <a:prstGeom prst="roundRect">
            <a:avLst>
              <a:gd name="adj" fmla="val 8333"/>
            </a:avLst>
          </a:prstGeom>
          <a:solidFill>
            <a:srgbClr val="F5F5FF"/>
          </a:solidFill>
          <a:ln w="10160">
            <a:solidFill>
              <a:srgbClr val="0E9E9E"/>
            </a:solidFill>
            <a:prstDash val="solid"/>
          </a:ln>
        </p:spPr>
      </p:sp>
      <p:sp>
        <p:nvSpPr>
          <p:cNvPr id="23" name="Text 21"/>
          <p:cNvSpPr/>
          <p:nvPr/>
        </p:nvSpPr>
        <p:spPr>
          <a:xfrm>
            <a:off x="2057400" y="2139696"/>
            <a:ext cx="1572768" cy="548640"/>
          </a:xfrm>
          <a:prstGeom prst="rect">
            <a:avLst/>
          </a:prstGeom>
          <a:noFill/>
          <a:ln/>
        </p:spPr>
        <p:txBody>
          <a:bodyPr wrap="square" rtlCol="0" anchor="ctr"/>
          <a:lstStyle/>
          <a:p>
            <a:pPr algn="ct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Primavera P6</a:t>
            </a:r>
            <a:endParaRPr lang="en-US" sz="800" dirty="0"/>
          </a:p>
        </p:txBody>
      </p:sp>
      <p:sp>
        <p:nvSpPr>
          <p:cNvPr id="24" name="Shape 22"/>
          <p:cNvSpPr/>
          <p:nvPr/>
        </p:nvSpPr>
        <p:spPr>
          <a:xfrm>
            <a:off x="3739896" y="2139696"/>
            <a:ext cx="1572768" cy="548640"/>
          </a:xfrm>
          <a:prstGeom prst="roundRect">
            <a:avLst>
              <a:gd name="adj" fmla="val 8333"/>
            </a:avLst>
          </a:prstGeom>
          <a:solidFill>
            <a:srgbClr val="F5F5FF"/>
          </a:solidFill>
          <a:ln w="10160">
            <a:solidFill>
              <a:srgbClr val="0E9E9E"/>
            </a:solidFill>
            <a:prstDash val="solid"/>
          </a:ln>
        </p:spPr>
      </p:sp>
      <p:sp>
        <p:nvSpPr>
          <p:cNvPr id="25" name="Text 23"/>
          <p:cNvSpPr/>
          <p:nvPr/>
        </p:nvSpPr>
        <p:spPr>
          <a:xfrm>
            <a:off x="3739896" y="2139696"/>
            <a:ext cx="1572768" cy="548640"/>
          </a:xfrm>
          <a:prstGeom prst="rect">
            <a:avLst/>
          </a:prstGeom>
          <a:noFill/>
          <a:ln/>
        </p:spPr>
        <p:txBody>
          <a:bodyPr wrap="square" rtlCol="0" anchor="ctr"/>
          <a:lstStyle/>
          <a:p>
            <a:pPr algn="ct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AWP Software</a:t>
            </a:r>
            <a:endParaRPr lang="en-US" sz="800" dirty="0"/>
          </a:p>
        </p:txBody>
      </p:sp>
      <p:sp>
        <p:nvSpPr>
          <p:cNvPr id="26" name="Shape 24"/>
          <p:cNvSpPr/>
          <p:nvPr/>
        </p:nvSpPr>
        <p:spPr>
          <a:xfrm>
            <a:off x="5422392" y="2139696"/>
            <a:ext cx="1572768" cy="548640"/>
          </a:xfrm>
          <a:prstGeom prst="roundRect">
            <a:avLst>
              <a:gd name="adj" fmla="val 8333"/>
            </a:avLst>
          </a:prstGeom>
          <a:solidFill>
            <a:srgbClr val="F5F5FF"/>
          </a:solidFill>
          <a:ln w="10160">
            <a:solidFill>
              <a:srgbClr val="0E9E9E"/>
            </a:solidFill>
            <a:prstDash val="solid"/>
          </a:ln>
        </p:spPr>
      </p:sp>
      <p:sp>
        <p:nvSpPr>
          <p:cNvPr id="27" name="Text 25"/>
          <p:cNvSpPr/>
          <p:nvPr/>
        </p:nvSpPr>
        <p:spPr>
          <a:xfrm>
            <a:off x="5422392" y="2139696"/>
            <a:ext cx="1572768" cy="548640"/>
          </a:xfrm>
          <a:prstGeom prst="rect">
            <a:avLst/>
          </a:prstGeom>
          <a:noFill/>
          <a:ln/>
        </p:spPr>
        <p:txBody>
          <a:bodyPr wrap="square" rtlCol="0" anchor="ctr"/>
          <a:lstStyle/>
          <a:p>
            <a:pPr algn="ct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Navisworks</a:t>
            </a:r>
            <a:endParaRPr lang="en-US" sz="800" dirty="0"/>
          </a:p>
        </p:txBody>
      </p:sp>
      <p:sp>
        <p:nvSpPr>
          <p:cNvPr id="28" name="Shape 26"/>
          <p:cNvSpPr/>
          <p:nvPr/>
        </p:nvSpPr>
        <p:spPr>
          <a:xfrm>
            <a:off x="7104888" y="2139696"/>
            <a:ext cx="1572768" cy="548640"/>
          </a:xfrm>
          <a:prstGeom prst="roundRect">
            <a:avLst>
              <a:gd name="adj" fmla="val 8333"/>
            </a:avLst>
          </a:prstGeom>
          <a:solidFill>
            <a:srgbClr val="F5F5FF"/>
          </a:solidFill>
          <a:ln w="10160">
            <a:solidFill>
              <a:srgbClr val="0E9E9E"/>
            </a:solidFill>
            <a:prstDash val="solid"/>
          </a:ln>
        </p:spPr>
      </p:sp>
      <p:sp>
        <p:nvSpPr>
          <p:cNvPr id="29" name="Text 27"/>
          <p:cNvSpPr/>
          <p:nvPr/>
        </p:nvSpPr>
        <p:spPr>
          <a:xfrm>
            <a:off x="7104888" y="2139696"/>
            <a:ext cx="1572768" cy="548640"/>
          </a:xfrm>
          <a:prstGeom prst="rect">
            <a:avLst/>
          </a:prstGeom>
          <a:noFill/>
          <a:ln/>
        </p:spPr>
        <p:txBody>
          <a:bodyPr wrap="square" rtlCol="0" anchor="ctr"/>
          <a:lstStyle/>
          <a:p>
            <a:pPr algn="ct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WBS Chart Pro</a:t>
            </a:r>
            <a:endParaRPr lang="en-US" sz="800" dirty="0"/>
          </a:p>
        </p:txBody>
      </p:sp>
      <p:sp>
        <p:nvSpPr>
          <p:cNvPr id="30" name="Shape 28"/>
          <p:cNvSpPr/>
          <p:nvPr/>
        </p:nvSpPr>
        <p:spPr>
          <a:xfrm>
            <a:off x="320040" y="2962656"/>
            <a:ext cx="8503920" cy="877824"/>
          </a:xfrm>
          <a:prstGeom prst="rect">
            <a:avLst>
              <a:gd name="adj" fmla="val 6250"/>
            </a:avLst>
          </a:prstGeom>
          <a:solidFill>
            <a:srgbClr val="FFFFFF"/>
          </a:solidFill>
          <a:ln w="15240">
            <a:solidFill>
              <a:srgbClr val="27AE60"/>
            </a:solidFill>
            <a:prstDash val="solid"/>
          </a:ln>
        </p:spPr>
      </p:sp>
      <p:sp>
        <p:nvSpPr>
          <p:cNvPr id="31" name="Shape 29"/>
          <p:cNvSpPr/>
          <p:nvPr/>
        </p:nvSpPr>
        <p:spPr>
          <a:xfrm>
            <a:off x="320040" y="2962656"/>
            <a:ext cx="1554480" cy="877824"/>
          </a:xfrm>
          <a:prstGeom prst="rect">
            <a:avLst>
              <a:gd name="adj" fmla="val 6250"/>
            </a:avLst>
          </a:prstGeom>
          <a:solidFill>
            <a:srgbClr val="27AE60"/>
          </a:solidFill>
          <a:ln w="12700">
            <a:solidFill>
              <a:srgbClr val="27AE60"/>
            </a:solidFill>
            <a:prstDash val="solid"/>
          </a:ln>
        </p:spPr>
      </p:sp>
      <p:sp>
        <p:nvSpPr>
          <p:cNvPr id="32" name="Text 30"/>
          <p:cNvSpPr/>
          <p:nvPr/>
        </p:nvSpPr>
        <p:spPr>
          <a:xfrm>
            <a:off x="365760" y="2962656"/>
            <a:ext cx="1463040" cy="877824"/>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Capa de Ejecución</a:t>
            </a:r>
            <a:endParaRPr lang="en-US" sz="850" dirty="0"/>
          </a:p>
        </p:txBody>
      </p:sp>
      <p:sp>
        <p:nvSpPr>
          <p:cNvPr id="33" name="Shape 31"/>
          <p:cNvSpPr/>
          <p:nvPr/>
        </p:nvSpPr>
        <p:spPr>
          <a:xfrm>
            <a:off x="2057400" y="3127248"/>
            <a:ext cx="1572768" cy="548640"/>
          </a:xfrm>
          <a:prstGeom prst="roundRect">
            <a:avLst>
              <a:gd name="adj" fmla="val 8333"/>
            </a:avLst>
          </a:prstGeom>
          <a:solidFill>
            <a:srgbClr val="F5F5FF"/>
          </a:solidFill>
          <a:ln w="10160">
            <a:solidFill>
              <a:srgbClr val="27AE60"/>
            </a:solidFill>
            <a:prstDash val="solid"/>
          </a:ln>
        </p:spPr>
      </p:sp>
      <p:sp>
        <p:nvSpPr>
          <p:cNvPr id="34" name="Text 32"/>
          <p:cNvSpPr/>
          <p:nvPr/>
        </p:nvSpPr>
        <p:spPr>
          <a:xfrm>
            <a:off x="2057400" y="3127248"/>
            <a:ext cx="1572768" cy="548640"/>
          </a:xfrm>
          <a:prstGeom prst="rect">
            <a:avLst/>
          </a:prstGeom>
          <a:noFill/>
          <a:ln/>
        </p:spPr>
        <p:txBody>
          <a:bodyPr wrap="square" rtlCol="0" anchor="ctr"/>
          <a:lstStyle/>
          <a:p>
            <a:pPr algn="ct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IWP Tracking</a:t>
            </a:r>
            <a:endParaRPr lang="en-US" sz="800" dirty="0"/>
          </a:p>
        </p:txBody>
      </p:sp>
      <p:sp>
        <p:nvSpPr>
          <p:cNvPr id="35" name="Shape 33"/>
          <p:cNvSpPr/>
          <p:nvPr/>
        </p:nvSpPr>
        <p:spPr>
          <a:xfrm>
            <a:off x="3739896" y="3127248"/>
            <a:ext cx="1572768" cy="548640"/>
          </a:xfrm>
          <a:prstGeom prst="roundRect">
            <a:avLst>
              <a:gd name="adj" fmla="val 8333"/>
            </a:avLst>
          </a:prstGeom>
          <a:solidFill>
            <a:srgbClr val="F5F5FF"/>
          </a:solidFill>
          <a:ln w="10160">
            <a:solidFill>
              <a:srgbClr val="27AE60"/>
            </a:solidFill>
            <a:prstDash val="solid"/>
          </a:ln>
        </p:spPr>
      </p:sp>
      <p:sp>
        <p:nvSpPr>
          <p:cNvPr id="36" name="Text 34"/>
          <p:cNvSpPr/>
          <p:nvPr/>
        </p:nvSpPr>
        <p:spPr>
          <a:xfrm>
            <a:off x="3739896" y="3127248"/>
            <a:ext cx="1572768" cy="548640"/>
          </a:xfrm>
          <a:prstGeom prst="rect">
            <a:avLst/>
          </a:prstGeom>
          <a:noFill/>
          <a:ln/>
        </p:spPr>
        <p:txBody>
          <a:bodyPr wrap="square" rtlCol="0" anchor="ctr"/>
          <a:lstStyle/>
          <a:p>
            <a:pPr algn="ct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Mobile Field Apps</a:t>
            </a:r>
            <a:endParaRPr lang="en-US" sz="800" dirty="0"/>
          </a:p>
        </p:txBody>
      </p:sp>
      <p:sp>
        <p:nvSpPr>
          <p:cNvPr id="37" name="Shape 35"/>
          <p:cNvSpPr/>
          <p:nvPr/>
        </p:nvSpPr>
        <p:spPr>
          <a:xfrm>
            <a:off x="5422392" y="3127248"/>
            <a:ext cx="1572768" cy="548640"/>
          </a:xfrm>
          <a:prstGeom prst="roundRect">
            <a:avLst>
              <a:gd name="adj" fmla="val 8333"/>
            </a:avLst>
          </a:prstGeom>
          <a:solidFill>
            <a:srgbClr val="F5F5FF"/>
          </a:solidFill>
          <a:ln w="10160">
            <a:solidFill>
              <a:srgbClr val="27AE60"/>
            </a:solidFill>
            <a:prstDash val="solid"/>
          </a:ln>
        </p:spPr>
      </p:sp>
      <p:sp>
        <p:nvSpPr>
          <p:cNvPr id="38" name="Text 36"/>
          <p:cNvSpPr/>
          <p:nvPr/>
        </p:nvSpPr>
        <p:spPr>
          <a:xfrm>
            <a:off x="5422392" y="3127248"/>
            <a:ext cx="1572768" cy="548640"/>
          </a:xfrm>
          <a:prstGeom prst="rect">
            <a:avLst/>
          </a:prstGeom>
          <a:noFill/>
          <a:ln/>
        </p:spPr>
        <p:txBody>
          <a:bodyPr wrap="square" rtlCol="0" anchor="ctr"/>
          <a:lstStyle/>
          <a:p>
            <a:pPr algn="ct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QR / RFID</a:t>
            </a:r>
            <a:endParaRPr lang="en-US" sz="800" dirty="0"/>
          </a:p>
        </p:txBody>
      </p:sp>
      <p:sp>
        <p:nvSpPr>
          <p:cNvPr id="39" name="Shape 37"/>
          <p:cNvSpPr/>
          <p:nvPr/>
        </p:nvSpPr>
        <p:spPr>
          <a:xfrm>
            <a:off x="7104888" y="3127248"/>
            <a:ext cx="1572768" cy="548640"/>
          </a:xfrm>
          <a:prstGeom prst="roundRect">
            <a:avLst>
              <a:gd name="adj" fmla="val 8333"/>
            </a:avLst>
          </a:prstGeom>
          <a:solidFill>
            <a:srgbClr val="F5F5FF"/>
          </a:solidFill>
          <a:ln w="10160">
            <a:solidFill>
              <a:srgbClr val="27AE60"/>
            </a:solidFill>
            <a:prstDash val="solid"/>
          </a:ln>
        </p:spPr>
      </p:sp>
      <p:sp>
        <p:nvSpPr>
          <p:cNvPr id="40" name="Text 38"/>
          <p:cNvSpPr/>
          <p:nvPr/>
        </p:nvSpPr>
        <p:spPr>
          <a:xfrm>
            <a:off x="7104888" y="3127248"/>
            <a:ext cx="1572768" cy="548640"/>
          </a:xfrm>
          <a:prstGeom prst="rect">
            <a:avLst/>
          </a:prstGeom>
          <a:noFill/>
          <a:ln/>
        </p:spPr>
        <p:txBody>
          <a:bodyPr wrap="square" rtlCol="0" anchor="ctr"/>
          <a:lstStyle/>
          <a:p>
            <a:pPr algn="ct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RFI Systems</a:t>
            </a:r>
            <a:endParaRPr lang="en-US" sz="800" dirty="0"/>
          </a:p>
        </p:txBody>
      </p:sp>
      <p:sp>
        <p:nvSpPr>
          <p:cNvPr id="41" name="Shape 39"/>
          <p:cNvSpPr/>
          <p:nvPr/>
        </p:nvSpPr>
        <p:spPr>
          <a:xfrm>
            <a:off x="320040" y="3950208"/>
            <a:ext cx="8503920" cy="877824"/>
          </a:xfrm>
          <a:prstGeom prst="rect">
            <a:avLst>
              <a:gd name="adj" fmla="val 6250"/>
            </a:avLst>
          </a:prstGeom>
          <a:solidFill>
            <a:srgbClr val="FFFFFF"/>
          </a:solidFill>
          <a:ln w="15240">
            <a:solidFill>
              <a:srgbClr val="D4620A"/>
            </a:solidFill>
            <a:prstDash val="solid"/>
          </a:ln>
        </p:spPr>
      </p:sp>
      <p:sp>
        <p:nvSpPr>
          <p:cNvPr id="42" name="Shape 40"/>
          <p:cNvSpPr/>
          <p:nvPr/>
        </p:nvSpPr>
        <p:spPr>
          <a:xfrm>
            <a:off x="320040" y="3950208"/>
            <a:ext cx="1554480" cy="877824"/>
          </a:xfrm>
          <a:prstGeom prst="rect">
            <a:avLst>
              <a:gd name="adj" fmla="val 6250"/>
            </a:avLst>
          </a:prstGeom>
          <a:solidFill>
            <a:srgbClr val="D4620A"/>
          </a:solidFill>
          <a:ln w="12700">
            <a:solidFill>
              <a:srgbClr val="D4620A"/>
            </a:solidFill>
            <a:prstDash val="solid"/>
          </a:ln>
        </p:spPr>
      </p:sp>
      <p:sp>
        <p:nvSpPr>
          <p:cNvPr id="43" name="Text 41"/>
          <p:cNvSpPr/>
          <p:nvPr/>
        </p:nvSpPr>
        <p:spPr>
          <a:xfrm>
            <a:off x="365760" y="3950208"/>
            <a:ext cx="1463040" cy="877824"/>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Capa de Analítica</a:t>
            </a:r>
            <a:endParaRPr lang="en-US" sz="850" dirty="0"/>
          </a:p>
        </p:txBody>
      </p:sp>
      <p:sp>
        <p:nvSpPr>
          <p:cNvPr id="44" name="Shape 42"/>
          <p:cNvSpPr/>
          <p:nvPr/>
        </p:nvSpPr>
        <p:spPr>
          <a:xfrm>
            <a:off x="2057400" y="4114800"/>
            <a:ext cx="1572768" cy="548640"/>
          </a:xfrm>
          <a:prstGeom prst="roundRect">
            <a:avLst>
              <a:gd name="adj" fmla="val 8333"/>
            </a:avLst>
          </a:prstGeom>
          <a:solidFill>
            <a:srgbClr val="F5F5FF"/>
          </a:solidFill>
          <a:ln w="10160">
            <a:solidFill>
              <a:srgbClr val="D4620A"/>
            </a:solidFill>
            <a:prstDash val="solid"/>
          </a:ln>
        </p:spPr>
      </p:sp>
      <p:sp>
        <p:nvSpPr>
          <p:cNvPr id="45" name="Text 43"/>
          <p:cNvSpPr/>
          <p:nvPr/>
        </p:nvSpPr>
        <p:spPr>
          <a:xfrm>
            <a:off x="2057400" y="4114800"/>
            <a:ext cx="1572768" cy="548640"/>
          </a:xfrm>
          <a:prstGeom prst="rect">
            <a:avLst/>
          </a:prstGeom>
          <a:noFill/>
          <a:ln/>
        </p:spPr>
        <p:txBody>
          <a:bodyPr wrap="square" rtlCol="0" anchor="ctr"/>
          <a:lstStyle/>
          <a:p>
            <a:pPr algn="ct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Power BI</a:t>
            </a:r>
            <a:endParaRPr lang="en-US" sz="800" dirty="0"/>
          </a:p>
        </p:txBody>
      </p:sp>
      <p:sp>
        <p:nvSpPr>
          <p:cNvPr id="46" name="Shape 44"/>
          <p:cNvSpPr/>
          <p:nvPr/>
        </p:nvSpPr>
        <p:spPr>
          <a:xfrm>
            <a:off x="3739896" y="4114800"/>
            <a:ext cx="1572768" cy="548640"/>
          </a:xfrm>
          <a:prstGeom prst="roundRect">
            <a:avLst>
              <a:gd name="adj" fmla="val 8333"/>
            </a:avLst>
          </a:prstGeom>
          <a:solidFill>
            <a:srgbClr val="F5F5FF"/>
          </a:solidFill>
          <a:ln w="10160">
            <a:solidFill>
              <a:srgbClr val="D4620A"/>
            </a:solidFill>
            <a:prstDash val="solid"/>
          </a:ln>
        </p:spPr>
      </p:sp>
      <p:sp>
        <p:nvSpPr>
          <p:cNvPr id="47" name="Text 45"/>
          <p:cNvSpPr/>
          <p:nvPr/>
        </p:nvSpPr>
        <p:spPr>
          <a:xfrm>
            <a:off x="3739896" y="4114800"/>
            <a:ext cx="1572768" cy="548640"/>
          </a:xfrm>
          <a:prstGeom prst="rect">
            <a:avLst/>
          </a:prstGeom>
          <a:noFill/>
          <a:ln/>
        </p:spPr>
        <p:txBody>
          <a:bodyPr wrap="square" rtlCol="0" anchor="ctr"/>
          <a:lstStyle/>
          <a:p>
            <a:pPr algn="ct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EVM Dashboards</a:t>
            </a:r>
            <a:endParaRPr lang="en-US" sz="800" dirty="0"/>
          </a:p>
        </p:txBody>
      </p:sp>
      <p:sp>
        <p:nvSpPr>
          <p:cNvPr id="48" name="Shape 46"/>
          <p:cNvSpPr/>
          <p:nvPr/>
        </p:nvSpPr>
        <p:spPr>
          <a:xfrm>
            <a:off x="5422392" y="4114800"/>
            <a:ext cx="1572768" cy="548640"/>
          </a:xfrm>
          <a:prstGeom prst="roundRect">
            <a:avLst>
              <a:gd name="adj" fmla="val 8333"/>
            </a:avLst>
          </a:prstGeom>
          <a:solidFill>
            <a:srgbClr val="F5F5FF"/>
          </a:solidFill>
          <a:ln w="10160">
            <a:solidFill>
              <a:srgbClr val="D4620A"/>
            </a:solidFill>
            <a:prstDash val="solid"/>
          </a:ln>
        </p:spPr>
      </p:sp>
      <p:sp>
        <p:nvSpPr>
          <p:cNvPr id="49" name="Text 47"/>
          <p:cNvSpPr/>
          <p:nvPr/>
        </p:nvSpPr>
        <p:spPr>
          <a:xfrm>
            <a:off x="5422392" y="4114800"/>
            <a:ext cx="1572768" cy="548640"/>
          </a:xfrm>
          <a:prstGeom prst="rect">
            <a:avLst/>
          </a:prstGeom>
          <a:noFill/>
          <a:ln/>
        </p:spPr>
        <p:txBody>
          <a:bodyPr wrap="square" rtlCol="0" anchor="ctr"/>
          <a:lstStyle/>
          <a:p>
            <a:pPr algn="ct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Predictive AI</a:t>
            </a:r>
            <a:endParaRPr lang="en-US" sz="800" dirty="0"/>
          </a:p>
        </p:txBody>
      </p:sp>
      <p:sp>
        <p:nvSpPr>
          <p:cNvPr id="50" name="Shape 48"/>
          <p:cNvSpPr/>
          <p:nvPr/>
        </p:nvSpPr>
        <p:spPr>
          <a:xfrm>
            <a:off x="7104888" y="4114800"/>
            <a:ext cx="1572768" cy="548640"/>
          </a:xfrm>
          <a:prstGeom prst="roundRect">
            <a:avLst>
              <a:gd name="adj" fmla="val 8333"/>
            </a:avLst>
          </a:prstGeom>
          <a:solidFill>
            <a:srgbClr val="F5F5FF"/>
          </a:solidFill>
          <a:ln w="10160">
            <a:solidFill>
              <a:srgbClr val="D4620A"/>
            </a:solidFill>
            <a:prstDash val="solid"/>
          </a:ln>
        </p:spPr>
      </p:sp>
      <p:sp>
        <p:nvSpPr>
          <p:cNvPr id="51" name="Text 49"/>
          <p:cNvSpPr/>
          <p:nvPr/>
        </p:nvSpPr>
        <p:spPr>
          <a:xfrm>
            <a:off x="7104888" y="4114800"/>
            <a:ext cx="1572768" cy="548640"/>
          </a:xfrm>
          <a:prstGeom prst="rect">
            <a:avLst/>
          </a:prstGeom>
          <a:noFill/>
          <a:ln/>
        </p:spPr>
        <p:txBody>
          <a:bodyPr wrap="square" rtlCol="0" anchor="ctr"/>
          <a:lstStyle/>
          <a:p>
            <a:pPr algn="ct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Digital Twin</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C3E8C"/>
          </a:solidFill>
          <a:ln w="12700">
            <a:solidFill>
              <a:srgbClr val="2C3E8C"/>
            </a:solidFill>
            <a:prstDash val="solid"/>
          </a:ln>
        </p:spPr>
      </p:sp>
      <p:sp>
        <p:nvSpPr>
          <p:cNvPr id="3" name="Shape 1"/>
          <p:cNvSpPr/>
          <p:nvPr/>
        </p:nvSpPr>
        <p:spPr>
          <a:xfrm>
            <a:off x="164592" y="4956048"/>
            <a:ext cx="8979408" cy="182880"/>
          </a:xfrm>
          <a:prstGeom prst="rect">
            <a:avLst/>
          </a:prstGeom>
          <a:solidFill>
            <a:srgbClr val="2C3E8C"/>
          </a:solidFill>
          <a:ln w="12700">
            <a:solidFill>
              <a:srgbClr val="2C3E8C"/>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69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BIM como Habilitador de Constructabilidad</a:t>
            </a:r>
            <a:endParaRPr lang="en-US" sz="1800" dirty="0"/>
          </a:p>
        </p:txBody>
      </p:sp>
      <p:sp>
        <p:nvSpPr>
          <p:cNvPr id="6" name="Shape 4"/>
          <p:cNvSpPr/>
          <p:nvPr/>
        </p:nvSpPr>
        <p:spPr>
          <a:xfrm>
            <a:off x="320040" y="621792"/>
            <a:ext cx="8503920" cy="41148"/>
          </a:xfrm>
          <a:prstGeom prst="rect">
            <a:avLst/>
          </a:prstGeom>
          <a:solidFill>
            <a:srgbClr val="2C3E8C"/>
          </a:solidFill>
          <a:ln w="12700">
            <a:solidFill>
              <a:srgbClr val="2C3E8C"/>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2C3E8C"/>
                </a:solidFill>
                <a:latin typeface="Atkinson Hyperlegible" pitchFamily="34" charset="0"/>
                <a:ea typeface="Atkinson Hyperlegible" pitchFamily="34" charset="-122"/>
                <a:cs typeface="Atkinson Hyperlegible" pitchFamily="34" charset="-120"/>
              </a:rPr>
              <a:t>De modelo 3D a herramienta de planificación integrada</a:t>
            </a:r>
            <a:endParaRPr lang="en-US" sz="900" dirty="0"/>
          </a:p>
        </p:txBody>
      </p:sp>
      <p:sp>
        <p:nvSpPr>
          <p:cNvPr id="8" name="Shape 6"/>
          <p:cNvSpPr/>
          <p:nvPr/>
        </p:nvSpPr>
        <p:spPr>
          <a:xfrm>
            <a:off x="320040" y="987552"/>
            <a:ext cx="4023360" cy="1828800"/>
          </a:xfrm>
          <a:prstGeom prst="rect">
            <a:avLst>
              <a:gd name="adj" fmla="val 3500"/>
            </a:avLst>
          </a:prstGeom>
          <a:solidFill>
            <a:srgbClr val="FFFFFF"/>
          </a:solidFill>
          <a:ln w="15240">
            <a:solidFill>
              <a:srgbClr val="0A74E3"/>
            </a:solidFill>
            <a:prstDash val="solid"/>
          </a:ln>
        </p:spPr>
      </p:sp>
      <p:sp>
        <p:nvSpPr>
          <p:cNvPr id="9" name="Shape 7"/>
          <p:cNvSpPr/>
          <p:nvPr/>
        </p:nvSpPr>
        <p:spPr>
          <a:xfrm>
            <a:off x="320040" y="987552"/>
            <a:ext cx="4023360" cy="402336"/>
          </a:xfrm>
          <a:prstGeom prst="rect">
            <a:avLst>
              <a:gd name="adj" fmla="val 15909"/>
            </a:avLst>
          </a:prstGeom>
          <a:solidFill>
            <a:srgbClr val="0A74E3"/>
          </a:solidFill>
          <a:ln w="12700">
            <a:solidFill>
              <a:srgbClr val="0A74E3"/>
            </a:solidFill>
            <a:prstDash val="solid"/>
          </a:ln>
        </p:spPr>
      </p:sp>
      <p:sp>
        <p:nvSpPr>
          <p:cNvPr id="10" name="Text 8"/>
          <p:cNvSpPr/>
          <p:nvPr/>
        </p:nvSpPr>
        <p:spPr>
          <a:xfrm>
            <a:off x="429768" y="1005840"/>
            <a:ext cx="1097280" cy="365760"/>
          </a:xfrm>
          <a:prstGeom prst="rect">
            <a:avLst/>
          </a:prstGeom>
          <a:noFill/>
          <a:ln/>
        </p:spPr>
        <p:txBody>
          <a:bodyPr wrap="square"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BIM 4D</a:t>
            </a:r>
            <a:endParaRPr lang="en-US" sz="1100" dirty="0"/>
          </a:p>
        </p:txBody>
      </p:sp>
      <p:sp>
        <p:nvSpPr>
          <p:cNvPr id="11" name="Text 9"/>
          <p:cNvSpPr/>
          <p:nvPr/>
        </p:nvSpPr>
        <p:spPr>
          <a:xfrm>
            <a:off x="1554480" y="1024128"/>
            <a:ext cx="2679192" cy="329184"/>
          </a:xfrm>
          <a:prstGeom prst="rect">
            <a:avLst/>
          </a:prstGeom>
          <a:noFill/>
          <a:ln/>
        </p:spPr>
        <p:txBody>
          <a:bodyPr wrap="square" rtlCol="0" anchor="ctr"/>
          <a:lstStyle/>
          <a:p>
            <a:pP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Simulación de Secuencia</a:t>
            </a:r>
            <a:endParaRPr lang="en-US" sz="900" dirty="0"/>
          </a:p>
        </p:txBody>
      </p:sp>
      <p:sp>
        <p:nvSpPr>
          <p:cNvPr id="12" name="Text 10"/>
          <p:cNvSpPr/>
          <p:nvPr/>
        </p:nvSpPr>
        <p:spPr>
          <a:xfrm>
            <a:off x="457200" y="1463040"/>
            <a:ext cx="3749040" cy="1234440"/>
          </a:xfrm>
          <a:prstGeom prst="rect">
            <a:avLst/>
          </a:prstGeom>
          <a:noFill/>
          <a:ln/>
        </p:spPr>
        <p:txBody>
          <a:bodyPr wrap="square" rtlCol="0" anchor="t"/>
          <a:lstStyle/>
          <a:p>
            <a:pPr indent="0" marL="0">
              <a:buNone/>
            </a:pPr>
            <a:r>
              <a:rPr lang="en-US" sz="800" dirty="0">
                <a:solidFill>
                  <a:srgbClr val="333333"/>
                </a:solidFill>
                <a:latin typeface="Atkinson Hyperlegible" pitchFamily="34" charset="0"/>
                <a:ea typeface="Atkinson Hyperlegible" pitchFamily="34" charset="-122"/>
                <a:cs typeface="Atkinson Hyperlegible" pitchFamily="34" charset="-120"/>
              </a:rPr>
              <a:t>Vincular actividades de Primavera con objetos BIM para validar constructabilidad de la secuencia constructiva antes de ejecutar.</a:t>
            </a:r>
            <a:endParaRPr lang="en-US" sz="800" dirty="0"/>
          </a:p>
        </p:txBody>
      </p:sp>
      <p:sp>
        <p:nvSpPr>
          <p:cNvPr id="13" name="Shape 11"/>
          <p:cNvSpPr/>
          <p:nvPr/>
        </p:nvSpPr>
        <p:spPr>
          <a:xfrm>
            <a:off x="4663440" y="987552"/>
            <a:ext cx="4023360" cy="1828800"/>
          </a:xfrm>
          <a:prstGeom prst="rect">
            <a:avLst>
              <a:gd name="adj" fmla="val 3500"/>
            </a:avLst>
          </a:prstGeom>
          <a:solidFill>
            <a:srgbClr val="FFFFFF"/>
          </a:solidFill>
          <a:ln w="15240">
            <a:solidFill>
              <a:srgbClr val="0E9E9E"/>
            </a:solidFill>
            <a:prstDash val="solid"/>
          </a:ln>
        </p:spPr>
      </p:sp>
      <p:sp>
        <p:nvSpPr>
          <p:cNvPr id="14" name="Shape 12"/>
          <p:cNvSpPr/>
          <p:nvPr/>
        </p:nvSpPr>
        <p:spPr>
          <a:xfrm>
            <a:off x="4663440" y="987552"/>
            <a:ext cx="4023360" cy="402336"/>
          </a:xfrm>
          <a:prstGeom prst="rect">
            <a:avLst>
              <a:gd name="adj" fmla="val 15909"/>
            </a:avLst>
          </a:prstGeom>
          <a:solidFill>
            <a:srgbClr val="0E9E9E"/>
          </a:solidFill>
          <a:ln w="12700">
            <a:solidFill>
              <a:srgbClr val="0E9E9E"/>
            </a:solidFill>
            <a:prstDash val="solid"/>
          </a:ln>
        </p:spPr>
      </p:sp>
      <p:sp>
        <p:nvSpPr>
          <p:cNvPr id="15" name="Text 13"/>
          <p:cNvSpPr/>
          <p:nvPr/>
        </p:nvSpPr>
        <p:spPr>
          <a:xfrm>
            <a:off x="4773168" y="1005840"/>
            <a:ext cx="1097280" cy="365760"/>
          </a:xfrm>
          <a:prstGeom prst="rect">
            <a:avLst/>
          </a:prstGeom>
          <a:noFill/>
          <a:ln/>
        </p:spPr>
        <p:txBody>
          <a:bodyPr wrap="square"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BIM 5D</a:t>
            </a:r>
            <a:endParaRPr lang="en-US" sz="1100" dirty="0"/>
          </a:p>
        </p:txBody>
      </p:sp>
      <p:sp>
        <p:nvSpPr>
          <p:cNvPr id="16" name="Text 14"/>
          <p:cNvSpPr/>
          <p:nvPr/>
        </p:nvSpPr>
        <p:spPr>
          <a:xfrm>
            <a:off x="5897880" y="1024128"/>
            <a:ext cx="2679192" cy="329184"/>
          </a:xfrm>
          <a:prstGeom prst="rect">
            <a:avLst/>
          </a:prstGeom>
          <a:noFill/>
          <a:ln/>
        </p:spPr>
        <p:txBody>
          <a:bodyPr wrap="square" rtlCol="0" anchor="ctr"/>
          <a:lstStyle/>
          <a:p>
            <a:pP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Control de Costo por CWP</a:t>
            </a:r>
            <a:endParaRPr lang="en-US" sz="900" dirty="0"/>
          </a:p>
        </p:txBody>
      </p:sp>
      <p:sp>
        <p:nvSpPr>
          <p:cNvPr id="17" name="Text 15"/>
          <p:cNvSpPr/>
          <p:nvPr/>
        </p:nvSpPr>
        <p:spPr>
          <a:xfrm>
            <a:off x="4800600" y="1463040"/>
            <a:ext cx="3749040" cy="1234440"/>
          </a:xfrm>
          <a:prstGeom prst="rect">
            <a:avLst/>
          </a:prstGeom>
          <a:noFill/>
          <a:ln/>
        </p:spPr>
        <p:txBody>
          <a:bodyPr wrap="square" rtlCol="0" anchor="t"/>
          <a:lstStyle/>
          <a:p>
            <a:pPr indent="0" marL="0">
              <a:buNone/>
            </a:pPr>
            <a:r>
              <a:rPr lang="en-US" sz="800" dirty="0">
                <a:solidFill>
                  <a:srgbClr val="333333"/>
                </a:solidFill>
                <a:latin typeface="Atkinson Hyperlegible" pitchFamily="34" charset="0"/>
                <a:ea typeface="Atkinson Hyperlegible" pitchFamily="34" charset="-122"/>
                <a:cs typeface="Atkinson Hyperlegible" pitchFamily="34" charset="-120"/>
              </a:rPr>
              <a:t>Asociar cantidades BIM a work packages permite proyectar costos en tiempo real por IWP/CWP con alta precisión.</a:t>
            </a:r>
            <a:endParaRPr lang="en-US" sz="800" dirty="0"/>
          </a:p>
        </p:txBody>
      </p:sp>
      <p:sp>
        <p:nvSpPr>
          <p:cNvPr id="18" name="Shape 16"/>
          <p:cNvSpPr/>
          <p:nvPr/>
        </p:nvSpPr>
        <p:spPr>
          <a:xfrm>
            <a:off x="320040" y="2953512"/>
            <a:ext cx="4023360" cy="1828800"/>
          </a:xfrm>
          <a:prstGeom prst="rect">
            <a:avLst>
              <a:gd name="adj" fmla="val 3500"/>
            </a:avLst>
          </a:prstGeom>
          <a:solidFill>
            <a:srgbClr val="FFFFFF"/>
          </a:solidFill>
          <a:ln w="15240">
            <a:solidFill>
              <a:srgbClr val="27AE60"/>
            </a:solidFill>
            <a:prstDash val="solid"/>
          </a:ln>
        </p:spPr>
      </p:sp>
      <p:sp>
        <p:nvSpPr>
          <p:cNvPr id="19" name="Shape 17"/>
          <p:cNvSpPr/>
          <p:nvPr/>
        </p:nvSpPr>
        <p:spPr>
          <a:xfrm>
            <a:off x="320040" y="2953512"/>
            <a:ext cx="4023360" cy="402336"/>
          </a:xfrm>
          <a:prstGeom prst="rect">
            <a:avLst>
              <a:gd name="adj" fmla="val 15909"/>
            </a:avLst>
          </a:prstGeom>
          <a:solidFill>
            <a:srgbClr val="27AE60"/>
          </a:solidFill>
          <a:ln w="12700">
            <a:solidFill>
              <a:srgbClr val="27AE60"/>
            </a:solidFill>
            <a:prstDash val="solid"/>
          </a:ln>
        </p:spPr>
      </p:sp>
      <p:sp>
        <p:nvSpPr>
          <p:cNvPr id="20" name="Text 18"/>
          <p:cNvSpPr/>
          <p:nvPr/>
        </p:nvSpPr>
        <p:spPr>
          <a:xfrm>
            <a:off x="429768" y="2971800"/>
            <a:ext cx="1097280" cy="365760"/>
          </a:xfrm>
          <a:prstGeom prst="rect">
            <a:avLst/>
          </a:prstGeom>
          <a:noFill/>
          <a:ln/>
        </p:spPr>
        <p:txBody>
          <a:bodyPr wrap="square"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BIM Clash</a:t>
            </a:r>
            <a:endParaRPr lang="en-US" sz="1100" dirty="0"/>
          </a:p>
        </p:txBody>
      </p:sp>
      <p:sp>
        <p:nvSpPr>
          <p:cNvPr id="21" name="Text 19"/>
          <p:cNvSpPr/>
          <p:nvPr/>
        </p:nvSpPr>
        <p:spPr>
          <a:xfrm>
            <a:off x="1554480" y="2990088"/>
            <a:ext cx="2679192" cy="329184"/>
          </a:xfrm>
          <a:prstGeom prst="rect">
            <a:avLst/>
          </a:prstGeom>
          <a:noFill/>
          <a:ln/>
        </p:spPr>
        <p:txBody>
          <a:bodyPr wrap="square" rtlCol="0" anchor="ctr"/>
          <a:lstStyle/>
          <a:p>
            <a:pP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Detección de Interferencias</a:t>
            </a:r>
            <a:endParaRPr lang="en-US" sz="900" dirty="0"/>
          </a:p>
        </p:txBody>
      </p:sp>
      <p:sp>
        <p:nvSpPr>
          <p:cNvPr id="22" name="Text 20"/>
          <p:cNvSpPr/>
          <p:nvPr/>
        </p:nvSpPr>
        <p:spPr>
          <a:xfrm>
            <a:off x="457200" y="3429000"/>
            <a:ext cx="3749040" cy="1234440"/>
          </a:xfrm>
          <a:prstGeom prst="rect">
            <a:avLst/>
          </a:prstGeom>
          <a:noFill/>
          <a:ln/>
        </p:spPr>
        <p:txBody>
          <a:bodyPr wrap="square" rtlCol="0" anchor="t"/>
          <a:lstStyle/>
          <a:p>
            <a:pPr indent="0" marL="0">
              <a:buNone/>
            </a:pPr>
            <a:r>
              <a:rPr lang="en-US" sz="800" dirty="0">
                <a:solidFill>
                  <a:srgbClr val="333333"/>
                </a:solidFill>
                <a:latin typeface="Atkinson Hyperlegible" pitchFamily="34" charset="0"/>
                <a:ea typeface="Atkinson Hyperlegible" pitchFamily="34" charset="-122"/>
                <a:cs typeface="Atkinson Hyperlegible" pitchFamily="34" charset="-120"/>
              </a:rPr>
              <a:t>Coordinación multidisciplina anticipada en BIM elimina RFIs de campo: ahorra 2-4 semanas por proyecto.</a:t>
            </a:r>
            <a:endParaRPr lang="en-US" sz="800" dirty="0"/>
          </a:p>
        </p:txBody>
      </p:sp>
      <p:sp>
        <p:nvSpPr>
          <p:cNvPr id="23" name="Shape 21"/>
          <p:cNvSpPr/>
          <p:nvPr/>
        </p:nvSpPr>
        <p:spPr>
          <a:xfrm>
            <a:off x="4663440" y="2953512"/>
            <a:ext cx="4023360" cy="1828800"/>
          </a:xfrm>
          <a:prstGeom prst="rect">
            <a:avLst>
              <a:gd name="adj" fmla="val 3500"/>
            </a:avLst>
          </a:prstGeom>
          <a:solidFill>
            <a:srgbClr val="FFFFFF"/>
          </a:solidFill>
          <a:ln w="15240">
            <a:solidFill>
              <a:srgbClr val="D4620A"/>
            </a:solidFill>
            <a:prstDash val="solid"/>
          </a:ln>
        </p:spPr>
      </p:sp>
      <p:sp>
        <p:nvSpPr>
          <p:cNvPr id="24" name="Shape 22"/>
          <p:cNvSpPr/>
          <p:nvPr/>
        </p:nvSpPr>
        <p:spPr>
          <a:xfrm>
            <a:off x="4663440" y="2953512"/>
            <a:ext cx="4023360" cy="402336"/>
          </a:xfrm>
          <a:prstGeom prst="rect">
            <a:avLst>
              <a:gd name="adj" fmla="val 15909"/>
            </a:avLst>
          </a:prstGeom>
          <a:solidFill>
            <a:srgbClr val="D4620A"/>
          </a:solidFill>
          <a:ln w="12700">
            <a:solidFill>
              <a:srgbClr val="D4620A"/>
            </a:solidFill>
            <a:prstDash val="solid"/>
          </a:ln>
        </p:spPr>
      </p:sp>
      <p:sp>
        <p:nvSpPr>
          <p:cNvPr id="25" name="Text 23"/>
          <p:cNvSpPr/>
          <p:nvPr/>
        </p:nvSpPr>
        <p:spPr>
          <a:xfrm>
            <a:off x="4773168" y="2971800"/>
            <a:ext cx="1097280" cy="365760"/>
          </a:xfrm>
          <a:prstGeom prst="rect">
            <a:avLst/>
          </a:prstGeom>
          <a:noFill/>
          <a:ln/>
        </p:spPr>
        <p:txBody>
          <a:bodyPr wrap="square"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BIM As-Built</a:t>
            </a:r>
            <a:endParaRPr lang="en-US" sz="1100" dirty="0"/>
          </a:p>
        </p:txBody>
      </p:sp>
      <p:sp>
        <p:nvSpPr>
          <p:cNvPr id="26" name="Text 24"/>
          <p:cNvSpPr/>
          <p:nvPr/>
        </p:nvSpPr>
        <p:spPr>
          <a:xfrm>
            <a:off x="5897880" y="2990088"/>
            <a:ext cx="2679192" cy="329184"/>
          </a:xfrm>
          <a:prstGeom prst="rect">
            <a:avLst/>
          </a:prstGeom>
          <a:noFill/>
          <a:ln/>
        </p:spPr>
        <p:txBody>
          <a:bodyPr wrap="square" rtlCol="0" anchor="ctr"/>
          <a:lstStyle/>
          <a:p>
            <a:pP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Registro Digital</a:t>
            </a:r>
            <a:endParaRPr lang="en-US" sz="900" dirty="0"/>
          </a:p>
        </p:txBody>
      </p:sp>
      <p:sp>
        <p:nvSpPr>
          <p:cNvPr id="27" name="Text 25"/>
          <p:cNvSpPr/>
          <p:nvPr/>
        </p:nvSpPr>
        <p:spPr>
          <a:xfrm>
            <a:off x="4800600" y="3429000"/>
            <a:ext cx="3749040" cy="1234440"/>
          </a:xfrm>
          <a:prstGeom prst="rect">
            <a:avLst/>
          </a:prstGeom>
          <a:noFill/>
          <a:ln/>
        </p:spPr>
        <p:txBody>
          <a:bodyPr wrap="square" rtlCol="0" anchor="t"/>
          <a:lstStyle/>
          <a:p>
            <a:pPr indent="0" marL="0">
              <a:buNone/>
            </a:pPr>
            <a:r>
              <a:rPr lang="en-US" sz="800" dirty="0">
                <a:solidFill>
                  <a:srgbClr val="333333"/>
                </a:solidFill>
                <a:latin typeface="Atkinson Hyperlegible" pitchFamily="34" charset="0"/>
                <a:ea typeface="Atkinson Hyperlegible" pitchFamily="34" charset="-122"/>
                <a:cs typeface="Atkinson Hyperlegible" pitchFamily="34" charset="-120"/>
              </a:rPr>
              <a:t>Laser scan + BIM actualización continua: base para O&amp;M, capital spares y gemelo digital del proyecto.</a:t>
            </a:r>
            <a:endParaRPr lang="en-US" sz="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C3E8C"/>
          </a:solidFill>
          <a:ln w="12700">
            <a:solidFill>
              <a:srgbClr val="2C3E8C"/>
            </a:solidFill>
            <a:prstDash val="solid"/>
          </a:ln>
        </p:spPr>
      </p:sp>
      <p:sp>
        <p:nvSpPr>
          <p:cNvPr id="3" name="Shape 1"/>
          <p:cNvSpPr/>
          <p:nvPr/>
        </p:nvSpPr>
        <p:spPr>
          <a:xfrm>
            <a:off x="164592" y="4956048"/>
            <a:ext cx="8979408" cy="182880"/>
          </a:xfrm>
          <a:prstGeom prst="rect">
            <a:avLst/>
          </a:prstGeom>
          <a:solidFill>
            <a:srgbClr val="2C3E8C"/>
          </a:solidFill>
          <a:ln w="12700">
            <a:solidFill>
              <a:srgbClr val="2C3E8C"/>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70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Plataformas Especializadas de AWP</a:t>
            </a:r>
            <a:endParaRPr lang="en-US" sz="1800" dirty="0"/>
          </a:p>
        </p:txBody>
      </p:sp>
      <p:sp>
        <p:nvSpPr>
          <p:cNvPr id="6" name="Shape 4"/>
          <p:cNvSpPr/>
          <p:nvPr/>
        </p:nvSpPr>
        <p:spPr>
          <a:xfrm>
            <a:off x="320040" y="621792"/>
            <a:ext cx="8503920" cy="41148"/>
          </a:xfrm>
          <a:prstGeom prst="rect">
            <a:avLst/>
          </a:prstGeom>
          <a:solidFill>
            <a:srgbClr val="2C3E8C"/>
          </a:solidFill>
          <a:ln w="12700">
            <a:solidFill>
              <a:srgbClr val="2C3E8C"/>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2C3E8C"/>
                </a:solidFill>
                <a:latin typeface="Atkinson Hyperlegible" pitchFamily="34" charset="0"/>
                <a:ea typeface="Atkinson Hyperlegible" pitchFamily="34" charset="-122"/>
                <a:cs typeface="Atkinson Hyperlegible" pitchFamily="34" charset="-120"/>
              </a:rPr>
              <a:t>Software dedicado para gestión de work packages en proyectos de capital</a:t>
            </a:r>
            <a:endParaRPr lang="en-US" sz="900" dirty="0"/>
          </a:p>
        </p:txBody>
      </p:sp>
      <p:sp>
        <p:nvSpPr>
          <p:cNvPr id="8" name="Shape 6"/>
          <p:cNvSpPr/>
          <p:nvPr/>
        </p:nvSpPr>
        <p:spPr>
          <a:xfrm>
            <a:off x="320040" y="987552"/>
            <a:ext cx="2724912" cy="1810512"/>
          </a:xfrm>
          <a:prstGeom prst="rect">
            <a:avLst>
              <a:gd name="adj" fmla="val 3535"/>
            </a:avLst>
          </a:prstGeom>
          <a:solidFill>
            <a:srgbClr val="FFFFFF"/>
          </a:solidFill>
          <a:ln w="12700">
            <a:solidFill>
              <a:srgbClr val="2C3E8C"/>
            </a:solidFill>
            <a:prstDash val="solid"/>
          </a:ln>
        </p:spPr>
      </p:sp>
      <p:sp>
        <p:nvSpPr>
          <p:cNvPr id="9" name="Shape 7"/>
          <p:cNvSpPr/>
          <p:nvPr/>
        </p:nvSpPr>
        <p:spPr>
          <a:xfrm>
            <a:off x="320040" y="987552"/>
            <a:ext cx="2724912" cy="420624"/>
          </a:xfrm>
          <a:prstGeom prst="rect">
            <a:avLst>
              <a:gd name="adj" fmla="val 15217"/>
            </a:avLst>
          </a:prstGeom>
          <a:solidFill>
            <a:srgbClr val="2C3E8C"/>
          </a:solidFill>
          <a:ln w="12700">
            <a:solidFill>
              <a:srgbClr val="2C3E8C"/>
            </a:solidFill>
            <a:prstDash val="solid"/>
          </a:ln>
        </p:spPr>
      </p:sp>
      <p:sp>
        <p:nvSpPr>
          <p:cNvPr id="10" name="Text 8"/>
          <p:cNvSpPr/>
          <p:nvPr/>
        </p:nvSpPr>
        <p:spPr>
          <a:xfrm>
            <a:off x="411480" y="1024128"/>
            <a:ext cx="2542032" cy="219456"/>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EcoSys (Hexagon)</a:t>
            </a:r>
            <a:endParaRPr lang="en-US" sz="850" dirty="0"/>
          </a:p>
        </p:txBody>
      </p:sp>
      <p:sp>
        <p:nvSpPr>
          <p:cNvPr id="11" name="Text 9"/>
          <p:cNvSpPr/>
          <p:nvPr/>
        </p:nvSpPr>
        <p:spPr>
          <a:xfrm>
            <a:off x="411480" y="1243584"/>
            <a:ext cx="2542032" cy="146304"/>
          </a:xfrm>
          <a:prstGeom prst="rect">
            <a:avLst/>
          </a:prstGeom>
          <a:noFill/>
          <a:ln/>
        </p:spPr>
        <p:txBody>
          <a:bodyPr wrap="square" rtlCol="0" anchor="ctr"/>
          <a:lstStyle/>
          <a:p>
            <a:pPr indent="0" marL="0">
              <a:buNone/>
            </a:pPr>
            <a:r>
              <a:rPr lang="en-US" sz="700" i="1" dirty="0">
                <a:solidFill>
                  <a:srgbClr val="FFFFFF"/>
                </a:solidFill>
                <a:latin typeface="Atkinson Hyperlegible" pitchFamily="34" charset="0"/>
                <a:ea typeface="Atkinson Hyperlegible" pitchFamily="34" charset="-122"/>
                <a:cs typeface="Atkinson Hyperlegible" pitchFamily="34" charset="-120"/>
              </a:rPr>
              <a:t>EPC Control</a:t>
            </a:r>
            <a:endParaRPr lang="en-US" sz="700" dirty="0"/>
          </a:p>
        </p:txBody>
      </p:sp>
      <p:sp>
        <p:nvSpPr>
          <p:cNvPr id="12" name="Text 10"/>
          <p:cNvSpPr/>
          <p:nvPr/>
        </p:nvSpPr>
        <p:spPr>
          <a:xfrm>
            <a:off x="411480" y="149047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Gestión de IWPs</a:t>
            </a:r>
            <a:endParaRPr lang="en-US" sz="750" dirty="0"/>
          </a:p>
        </p:txBody>
      </p:sp>
      <p:sp>
        <p:nvSpPr>
          <p:cNvPr id="13" name="Text 11"/>
          <p:cNvSpPr/>
          <p:nvPr/>
        </p:nvSpPr>
        <p:spPr>
          <a:xfrm>
            <a:off x="411480" y="181051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Integración P6</a:t>
            </a:r>
            <a:endParaRPr lang="en-US" sz="750" dirty="0"/>
          </a:p>
        </p:txBody>
      </p:sp>
      <p:sp>
        <p:nvSpPr>
          <p:cNvPr id="14" name="Text 12"/>
          <p:cNvSpPr/>
          <p:nvPr/>
        </p:nvSpPr>
        <p:spPr>
          <a:xfrm>
            <a:off x="411480" y="213055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EVM automático</a:t>
            </a:r>
            <a:endParaRPr lang="en-US" sz="750" dirty="0"/>
          </a:p>
        </p:txBody>
      </p:sp>
      <p:sp>
        <p:nvSpPr>
          <p:cNvPr id="15" name="Text 13"/>
          <p:cNvSpPr/>
          <p:nvPr/>
        </p:nvSpPr>
        <p:spPr>
          <a:xfrm>
            <a:off x="411480" y="245059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Forecasting AI</a:t>
            </a:r>
            <a:endParaRPr lang="en-US" sz="750" dirty="0"/>
          </a:p>
        </p:txBody>
      </p:sp>
      <p:sp>
        <p:nvSpPr>
          <p:cNvPr id="16" name="Shape 14"/>
          <p:cNvSpPr/>
          <p:nvPr/>
        </p:nvSpPr>
        <p:spPr>
          <a:xfrm>
            <a:off x="3209544" y="987552"/>
            <a:ext cx="2724912" cy="1810512"/>
          </a:xfrm>
          <a:prstGeom prst="rect">
            <a:avLst>
              <a:gd name="adj" fmla="val 3535"/>
            </a:avLst>
          </a:prstGeom>
          <a:solidFill>
            <a:srgbClr val="FFFFFF"/>
          </a:solidFill>
          <a:ln w="12700">
            <a:solidFill>
              <a:srgbClr val="2C3E8C"/>
            </a:solidFill>
            <a:prstDash val="solid"/>
          </a:ln>
        </p:spPr>
      </p:sp>
      <p:sp>
        <p:nvSpPr>
          <p:cNvPr id="17" name="Shape 15"/>
          <p:cNvSpPr/>
          <p:nvPr/>
        </p:nvSpPr>
        <p:spPr>
          <a:xfrm>
            <a:off x="3209544" y="987552"/>
            <a:ext cx="2724912" cy="420624"/>
          </a:xfrm>
          <a:prstGeom prst="rect">
            <a:avLst>
              <a:gd name="adj" fmla="val 15217"/>
            </a:avLst>
          </a:prstGeom>
          <a:solidFill>
            <a:srgbClr val="2C3E8C"/>
          </a:solidFill>
          <a:ln w="12700">
            <a:solidFill>
              <a:srgbClr val="2C3E8C"/>
            </a:solidFill>
            <a:prstDash val="solid"/>
          </a:ln>
        </p:spPr>
      </p:sp>
      <p:sp>
        <p:nvSpPr>
          <p:cNvPr id="18" name="Text 16"/>
          <p:cNvSpPr/>
          <p:nvPr/>
        </p:nvSpPr>
        <p:spPr>
          <a:xfrm>
            <a:off x="3300984" y="1024128"/>
            <a:ext cx="2542032" cy="219456"/>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AVEVA / IntelliShip</a:t>
            </a:r>
            <a:endParaRPr lang="en-US" sz="850" dirty="0"/>
          </a:p>
        </p:txBody>
      </p:sp>
      <p:sp>
        <p:nvSpPr>
          <p:cNvPr id="19" name="Text 17"/>
          <p:cNvSpPr/>
          <p:nvPr/>
        </p:nvSpPr>
        <p:spPr>
          <a:xfrm>
            <a:off x="3300984" y="1243584"/>
            <a:ext cx="2542032" cy="146304"/>
          </a:xfrm>
          <a:prstGeom prst="rect">
            <a:avLst/>
          </a:prstGeom>
          <a:noFill/>
          <a:ln/>
        </p:spPr>
        <p:txBody>
          <a:bodyPr wrap="square" rtlCol="0" anchor="ctr"/>
          <a:lstStyle/>
          <a:p>
            <a:pPr indent="0" marL="0">
              <a:buNone/>
            </a:pPr>
            <a:r>
              <a:rPr lang="en-US" sz="700" i="1" dirty="0">
                <a:solidFill>
                  <a:srgbClr val="FFFFFF"/>
                </a:solidFill>
                <a:latin typeface="Atkinson Hyperlegible" pitchFamily="34" charset="0"/>
                <a:ea typeface="Atkinson Hyperlegible" pitchFamily="34" charset="-122"/>
                <a:cs typeface="Atkinson Hyperlegible" pitchFamily="34" charset="-120"/>
              </a:rPr>
              <a:t>Engineering</a:t>
            </a:r>
            <a:endParaRPr lang="en-US" sz="700" dirty="0"/>
          </a:p>
        </p:txBody>
      </p:sp>
      <p:sp>
        <p:nvSpPr>
          <p:cNvPr id="20" name="Text 18"/>
          <p:cNvSpPr/>
          <p:nvPr/>
        </p:nvSpPr>
        <p:spPr>
          <a:xfrm>
            <a:off x="3300984" y="149047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CWP desde modelo 3D</a:t>
            </a:r>
            <a:endParaRPr lang="en-US" sz="750" dirty="0"/>
          </a:p>
        </p:txBody>
      </p:sp>
      <p:sp>
        <p:nvSpPr>
          <p:cNvPr id="21" name="Text 19"/>
          <p:cNvSpPr/>
          <p:nvPr/>
        </p:nvSpPr>
        <p:spPr>
          <a:xfrm>
            <a:off x="3300984" y="181051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Automatización IWP</a:t>
            </a:r>
            <a:endParaRPr lang="en-US" sz="750" dirty="0"/>
          </a:p>
        </p:txBody>
      </p:sp>
      <p:sp>
        <p:nvSpPr>
          <p:cNvPr id="22" name="Text 20"/>
          <p:cNvSpPr/>
          <p:nvPr/>
        </p:nvSpPr>
        <p:spPr>
          <a:xfrm>
            <a:off x="3300984" y="213055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Link con PDMS</a:t>
            </a:r>
            <a:endParaRPr lang="en-US" sz="750" dirty="0"/>
          </a:p>
        </p:txBody>
      </p:sp>
      <p:sp>
        <p:nvSpPr>
          <p:cNvPr id="23" name="Text 21"/>
          <p:cNvSpPr/>
          <p:nvPr/>
        </p:nvSpPr>
        <p:spPr>
          <a:xfrm>
            <a:off x="3300984" y="245059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Material tracking</a:t>
            </a:r>
            <a:endParaRPr lang="en-US" sz="750" dirty="0"/>
          </a:p>
        </p:txBody>
      </p:sp>
      <p:sp>
        <p:nvSpPr>
          <p:cNvPr id="24" name="Shape 22"/>
          <p:cNvSpPr/>
          <p:nvPr/>
        </p:nvSpPr>
        <p:spPr>
          <a:xfrm>
            <a:off x="6099048" y="987552"/>
            <a:ext cx="2724912" cy="1810512"/>
          </a:xfrm>
          <a:prstGeom prst="rect">
            <a:avLst>
              <a:gd name="adj" fmla="val 3535"/>
            </a:avLst>
          </a:prstGeom>
          <a:solidFill>
            <a:srgbClr val="FFFFFF"/>
          </a:solidFill>
          <a:ln w="12700">
            <a:solidFill>
              <a:srgbClr val="2C3E8C"/>
            </a:solidFill>
            <a:prstDash val="solid"/>
          </a:ln>
        </p:spPr>
      </p:sp>
      <p:sp>
        <p:nvSpPr>
          <p:cNvPr id="25" name="Shape 23"/>
          <p:cNvSpPr/>
          <p:nvPr/>
        </p:nvSpPr>
        <p:spPr>
          <a:xfrm>
            <a:off x="6099048" y="987552"/>
            <a:ext cx="2724912" cy="420624"/>
          </a:xfrm>
          <a:prstGeom prst="rect">
            <a:avLst>
              <a:gd name="adj" fmla="val 15217"/>
            </a:avLst>
          </a:prstGeom>
          <a:solidFill>
            <a:srgbClr val="2C3E8C"/>
          </a:solidFill>
          <a:ln w="12700">
            <a:solidFill>
              <a:srgbClr val="2C3E8C"/>
            </a:solidFill>
            <a:prstDash val="solid"/>
          </a:ln>
        </p:spPr>
      </p:sp>
      <p:sp>
        <p:nvSpPr>
          <p:cNvPr id="26" name="Text 24"/>
          <p:cNvSpPr/>
          <p:nvPr/>
        </p:nvSpPr>
        <p:spPr>
          <a:xfrm>
            <a:off x="6190488" y="1024128"/>
            <a:ext cx="2542032" cy="219456"/>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Aurigo Masterworks</a:t>
            </a:r>
            <a:endParaRPr lang="en-US" sz="850" dirty="0"/>
          </a:p>
        </p:txBody>
      </p:sp>
      <p:sp>
        <p:nvSpPr>
          <p:cNvPr id="27" name="Text 25"/>
          <p:cNvSpPr/>
          <p:nvPr/>
        </p:nvSpPr>
        <p:spPr>
          <a:xfrm>
            <a:off x="6190488" y="1243584"/>
            <a:ext cx="2542032" cy="146304"/>
          </a:xfrm>
          <a:prstGeom prst="rect">
            <a:avLst/>
          </a:prstGeom>
          <a:noFill/>
          <a:ln/>
        </p:spPr>
        <p:txBody>
          <a:bodyPr wrap="square" rtlCol="0" anchor="ctr"/>
          <a:lstStyle/>
          <a:p>
            <a:pPr indent="0" marL="0">
              <a:buNone/>
            </a:pPr>
            <a:r>
              <a:rPr lang="en-US" sz="700" i="1" dirty="0">
                <a:solidFill>
                  <a:srgbClr val="FFFFFF"/>
                </a:solidFill>
                <a:latin typeface="Atkinson Hyperlegible" pitchFamily="34" charset="0"/>
                <a:ea typeface="Atkinson Hyperlegible" pitchFamily="34" charset="-122"/>
                <a:cs typeface="Atkinson Hyperlegible" pitchFamily="34" charset="-120"/>
              </a:rPr>
              <a:t>Capital Projects</a:t>
            </a:r>
            <a:endParaRPr lang="en-US" sz="700" dirty="0"/>
          </a:p>
        </p:txBody>
      </p:sp>
      <p:sp>
        <p:nvSpPr>
          <p:cNvPr id="28" name="Text 26"/>
          <p:cNvSpPr/>
          <p:nvPr/>
        </p:nvSpPr>
        <p:spPr>
          <a:xfrm>
            <a:off x="6190488" y="149047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Program management</a:t>
            </a:r>
            <a:endParaRPr lang="en-US" sz="750" dirty="0"/>
          </a:p>
        </p:txBody>
      </p:sp>
      <p:sp>
        <p:nvSpPr>
          <p:cNvPr id="29" name="Text 27"/>
          <p:cNvSpPr/>
          <p:nvPr/>
        </p:nvSpPr>
        <p:spPr>
          <a:xfrm>
            <a:off x="6190488" y="181051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AWP workflow</a:t>
            </a:r>
            <a:endParaRPr lang="en-US" sz="750" dirty="0"/>
          </a:p>
        </p:txBody>
      </p:sp>
      <p:sp>
        <p:nvSpPr>
          <p:cNvPr id="30" name="Text 28"/>
          <p:cNvSpPr/>
          <p:nvPr/>
        </p:nvSpPr>
        <p:spPr>
          <a:xfrm>
            <a:off x="6190488" y="213055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Document control</a:t>
            </a:r>
            <a:endParaRPr lang="en-US" sz="750" dirty="0"/>
          </a:p>
        </p:txBody>
      </p:sp>
      <p:sp>
        <p:nvSpPr>
          <p:cNvPr id="31" name="Text 29"/>
          <p:cNvSpPr/>
          <p:nvPr/>
        </p:nvSpPr>
        <p:spPr>
          <a:xfrm>
            <a:off x="6190488" y="245059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Owner tools</a:t>
            </a:r>
            <a:endParaRPr lang="en-US" sz="750" dirty="0"/>
          </a:p>
        </p:txBody>
      </p:sp>
      <p:sp>
        <p:nvSpPr>
          <p:cNvPr id="32" name="Shape 30"/>
          <p:cNvSpPr/>
          <p:nvPr/>
        </p:nvSpPr>
        <p:spPr>
          <a:xfrm>
            <a:off x="320040" y="2907792"/>
            <a:ext cx="2724912" cy="1810512"/>
          </a:xfrm>
          <a:prstGeom prst="rect">
            <a:avLst>
              <a:gd name="adj" fmla="val 3535"/>
            </a:avLst>
          </a:prstGeom>
          <a:solidFill>
            <a:srgbClr val="FFFFFF"/>
          </a:solidFill>
          <a:ln w="12700">
            <a:solidFill>
              <a:srgbClr val="2C3E8C"/>
            </a:solidFill>
            <a:prstDash val="solid"/>
          </a:ln>
        </p:spPr>
      </p:sp>
      <p:sp>
        <p:nvSpPr>
          <p:cNvPr id="33" name="Shape 31"/>
          <p:cNvSpPr/>
          <p:nvPr/>
        </p:nvSpPr>
        <p:spPr>
          <a:xfrm>
            <a:off x="320040" y="2907792"/>
            <a:ext cx="2724912" cy="420624"/>
          </a:xfrm>
          <a:prstGeom prst="rect">
            <a:avLst>
              <a:gd name="adj" fmla="val 15217"/>
            </a:avLst>
          </a:prstGeom>
          <a:solidFill>
            <a:srgbClr val="2C3E8C"/>
          </a:solidFill>
          <a:ln w="12700">
            <a:solidFill>
              <a:srgbClr val="2C3E8C"/>
            </a:solidFill>
            <a:prstDash val="solid"/>
          </a:ln>
        </p:spPr>
      </p:sp>
      <p:sp>
        <p:nvSpPr>
          <p:cNvPr id="34" name="Text 32"/>
          <p:cNvSpPr/>
          <p:nvPr/>
        </p:nvSpPr>
        <p:spPr>
          <a:xfrm>
            <a:off x="411480" y="2944368"/>
            <a:ext cx="2542032" cy="219456"/>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Oracle Primavera Cloud</a:t>
            </a:r>
            <a:endParaRPr lang="en-US" sz="850" dirty="0"/>
          </a:p>
        </p:txBody>
      </p:sp>
      <p:sp>
        <p:nvSpPr>
          <p:cNvPr id="35" name="Text 33"/>
          <p:cNvSpPr/>
          <p:nvPr/>
        </p:nvSpPr>
        <p:spPr>
          <a:xfrm>
            <a:off x="411480" y="3163824"/>
            <a:ext cx="2542032" cy="146304"/>
          </a:xfrm>
          <a:prstGeom prst="rect">
            <a:avLst/>
          </a:prstGeom>
          <a:noFill/>
          <a:ln/>
        </p:spPr>
        <p:txBody>
          <a:bodyPr wrap="square" rtlCol="0" anchor="ctr"/>
          <a:lstStyle/>
          <a:p>
            <a:pPr indent="0" marL="0">
              <a:buNone/>
            </a:pPr>
            <a:r>
              <a:rPr lang="en-US" sz="700" i="1" dirty="0">
                <a:solidFill>
                  <a:srgbClr val="FFFFFF"/>
                </a:solidFill>
                <a:latin typeface="Atkinson Hyperlegible" pitchFamily="34" charset="0"/>
                <a:ea typeface="Atkinson Hyperlegible" pitchFamily="34" charset="-122"/>
                <a:cs typeface="Atkinson Hyperlegible" pitchFamily="34" charset="-120"/>
              </a:rPr>
              <a:t>Scheduling</a:t>
            </a:r>
            <a:endParaRPr lang="en-US" sz="700" dirty="0"/>
          </a:p>
        </p:txBody>
      </p:sp>
      <p:sp>
        <p:nvSpPr>
          <p:cNvPr id="36" name="Text 34"/>
          <p:cNvSpPr/>
          <p:nvPr/>
        </p:nvSpPr>
        <p:spPr>
          <a:xfrm>
            <a:off x="411480" y="341071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Risk analysis</a:t>
            </a:r>
            <a:endParaRPr lang="en-US" sz="750" dirty="0"/>
          </a:p>
        </p:txBody>
      </p:sp>
      <p:sp>
        <p:nvSpPr>
          <p:cNvPr id="37" name="Text 35"/>
          <p:cNvSpPr/>
          <p:nvPr/>
        </p:nvSpPr>
        <p:spPr>
          <a:xfrm>
            <a:off x="411480" y="373075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Resource leveling</a:t>
            </a:r>
            <a:endParaRPr lang="en-US" sz="750" dirty="0"/>
          </a:p>
        </p:txBody>
      </p:sp>
      <p:sp>
        <p:nvSpPr>
          <p:cNvPr id="38" name="Text 36"/>
          <p:cNvSpPr/>
          <p:nvPr/>
        </p:nvSpPr>
        <p:spPr>
          <a:xfrm>
            <a:off x="411480" y="405079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CWP integration</a:t>
            </a:r>
            <a:endParaRPr lang="en-US" sz="750" dirty="0"/>
          </a:p>
        </p:txBody>
      </p:sp>
      <p:sp>
        <p:nvSpPr>
          <p:cNvPr id="39" name="Text 37"/>
          <p:cNvSpPr/>
          <p:nvPr/>
        </p:nvSpPr>
        <p:spPr>
          <a:xfrm>
            <a:off x="411480" y="437083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Mobile field</a:t>
            </a:r>
            <a:endParaRPr lang="en-US" sz="750" dirty="0"/>
          </a:p>
        </p:txBody>
      </p:sp>
      <p:sp>
        <p:nvSpPr>
          <p:cNvPr id="40" name="Shape 38"/>
          <p:cNvSpPr/>
          <p:nvPr/>
        </p:nvSpPr>
        <p:spPr>
          <a:xfrm>
            <a:off x="3209544" y="2907792"/>
            <a:ext cx="2724912" cy="1810512"/>
          </a:xfrm>
          <a:prstGeom prst="rect">
            <a:avLst>
              <a:gd name="adj" fmla="val 3535"/>
            </a:avLst>
          </a:prstGeom>
          <a:solidFill>
            <a:srgbClr val="FFFFFF"/>
          </a:solidFill>
          <a:ln w="12700">
            <a:solidFill>
              <a:srgbClr val="2C3E8C"/>
            </a:solidFill>
            <a:prstDash val="solid"/>
          </a:ln>
        </p:spPr>
      </p:sp>
      <p:sp>
        <p:nvSpPr>
          <p:cNvPr id="41" name="Shape 39"/>
          <p:cNvSpPr/>
          <p:nvPr/>
        </p:nvSpPr>
        <p:spPr>
          <a:xfrm>
            <a:off x="3209544" y="2907792"/>
            <a:ext cx="2724912" cy="420624"/>
          </a:xfrm>
          <a:prstGeom prst="rect">
            <a:avLst>
              <a:gd name="adj" fmla="val 15217"/>
            </a:avLst>
          </a:prstGeom>
          <a:solidFill>
            <a:srgbClr val="2C3E8C"/>
          </a:solidFill>
          <a:ln w="12700">
            <a:solidFill>
              <a:srgbClr val="2C3E8C"/>
            </a:solidFill>
            <a:prstDash val="solid"/>
          </a:ln>
        </p:spPr>
      </p:sp>
      <p:sp>
        <p:nvSpPr>
          <p:cNvPr id="42" name="Text 40"/>
          <p:cNvSpPr/>
          <p:nvPr/>
        </p:nvSpPr>
        <p:spPr>
          <a:xfrm>
            <a:off x="3300984" y="2944368"/>
            <a:ext cx="2542032" cy="219456"/>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Procore + AWP Plugin</a:t>
            </a:r>
            <a:endParaRPr lang="en-US" sz="850" dirty="0"/>
          </a:p>
        </p:txBody>
      </p:sp>
      <p:sp>
        <p:nvSpPr>
          <p:cNvPr id="43" name="Text 41"/>
          <p:cNvSpPr/>
          <p:nvPr/>
        </p:nvSpPr>
        <p:spPr>
          <a:xfrm>
            <a:off x="3300984" y="3163824"/>
            <a:ext cx="2542032" cy="146304"/>
          </a:xfrm>
          <a:prstGeom prst="rect">
            <a:avLst/>
          </a:prstGeom>
          <a:noFill/>
          <a:ln/>
        </p:spPr>
        <p:txBody>
          <a:bodyPr wrap="square" rtlCol="0" anchor="ctr"/>
          <a:lstStyle/>
          <a:p>
            <a:pPr indent="0" marL="0">
              <a:buNone/>
            </a:pPr>
            <a:r>
              <a:rPr lang="en-US" sz="700" i="1" dirty="0">
                <a:solidFill>
                  <a:srgbClr val="FFFFFF"/>
                </a:solidFill>
                <a:latin typeface="Atkinson Hyperlegible" pitchFamily="34" charset="0"/>
                <a:ea typeface="Atkinson Hyperlegible" pitchFamily="34" charset="-122"/>
                <a:cs typeface="Atkinson Hyperlegible" pitchFamily="34" charset="-120"/>
              </a:rPr>
              <a:t>Construction Mgmt</a:t>
            </a:r>
            <a:endParaRPr lang="en-US" sz="700" dirty="0"/>
          </a:p>
        </p:txBody>
      </p:sp>
      <p:sp>
        <p:nvSpPr>
          <p:cNvPr id="44" name="Text 42"/>
          <p:cNvSpPr/>
          <p:nvPr/>
        </p:nvSpPr>
        <p:spPr>
          <a:xfrm>
            <a:off x="3300984" y="341071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RFI / Submittals</a:t>
            </a:r>
            <a:endParaRPr lang="en-US" sz="750" dirty="0"/>
          </a:p>
        </p:txBody>
      </p:sp>
      <p:sp>
        <p:nvSpPr>
          <p:cNvPr id="45" name="Text 43"/>
          <p:cNvSpPr/>
          <p:nvPr/>
        </p:nvSpPr>
        <p:spPr>
          <a:xfrm>
            <a:off x="3300984" y="373075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IWP field tracking</a:t>
            </a:r>
            <a:endParaRPr lang="en-US" sz="750" dirty="0"/>
          </a:p>
        </p:txBody>
      </p:sp>
      <p:sp>
        <p:nvSpPr>
          <p:cNvPr id="46" name="Text 44"/>
          <p:cNvSpPr/>
          <p:nvPr/>
        </p:nvSpPr>
        <p:spPr>
          <a:xfrm>
            <a:off x="3300984" y="405079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Quality records</a:t>
            </a:r>
            <a:endParaRPr lang="en-US" sz="750" dirty="0"/>
          </a:p>
        </p:txBody>
      </p:sp>
      <p:sp>
        <p:nvSpPr>
          <p:cNvPr id="47" name="Text 45"/>
          <p:cNvSpPr/>
          <p:nvPr/>
        </p:nvSpPr>
        <p:spPr>
          <a:xfrm>
            <a:off x="3300984" y="437083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Daily logs</a:t>
            </a:r>
            <a:endParaRPr lang="en-US" sz="750" dirty="0"/>
          </a:p>
        </p:txBody>
      </p:sp>
      <p:sp>
        <p:nvSpPr>
          <p:cNvPr id="48" name="Shape 46"/>
          <p:cNvSpPr/>
          <p:nvPr/>
        </p:nvSpPr>
        <p:spPr>
          <a:xfrm>
            <a:off x="6099048" y="2907792"/>
            <a:ext cx="2724912" cy="1810512"/>
          </a:xfrm>
          <a:prstGeom prst="rect">
            <a:avLst>
              <a:gd name="adj" fmla="val 3535"/>
            </a:avLst>
          </a:prstGeom>
          <a:solidFill>
            <a:srgbClr val="FFFFFF"/>
          </a:solidFill>
          <a:ln w="12700">
            <a:solidFill>
              <a:srgbClr val="2C3E8C"/>
            </a:solidFill>
            <a:prstDash val="solid"/>
          </a:ln>
        </p:spPr>
      </p:sp>
      <p:sp>
        <p:nvSpPr>
          <p:cNvPr id="49" name="Shape 47"/>
          <p:cNvSpPr/>
          <p:nvPr/>
        </p:nvSpPr>
        <p:spPr>
          <a:xfrm>
            <a:off x="6099048" y="2907792"/>
            <a:ext cx="2724912" cy="420624"/>
          </a:xfrm>
          <a:prstGeom prst="rect">
            <a:avLst>
              <a:gd name="adj" fmla="val 15217"/>
            </a:avLst>
          </a:prstGeom>
          <a:solidFill>
            <a:srgbClr val="2C3E8C"/>
          </a:solidFill>
          <a:ln w="12700">
            <a:solidFill>
              <a:srgbClr val="2C3E8C"/>
            </a:solidFill>
            <a:prstDash val="solid"/>
          </a:ln>
        </p:spPr>
      </p:sp>
      <p:sp>
        <p:nvSpPr>
          <p:cNvPr id="50" name="Text 48"/>
          <p:cNvSpPr/>
          <p:nvPr/>
        </p:nvSpPr>
        <p:spPr>
          <a:xfrm>
            <a:off x="6190488" y="2944368"/>
            <a:ext cx="2542032" cy="219456"/>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Power BI / Tableau</a:t>
            </a:r>
            <a:endParaRPr lang="en-US" sz="850" dirty="0"/>
          </a:p>
        </p:txBody>
      </p:sp>
      <p:sp>
        <p:nvSpPr>
          <p:cNvPr id="51" name="Text 49"/>
          <p:cNvSpPr/>
          <p:nvPr/>
        </p:nvSpPr>
        <p:spPr>
          <a:xfrm>
            <a:off x="6190488" y="3163824"/>
            <a:ext cx="2542032" cy="146304"/>
          </a:xfrm>
          <a:prstGeom prst="rect">
            <a:avLst/>
          </a:prstGeom>
          <a:noFill/>
          <a:ln/>
        </p:spPr>
        <p:txBody>
          <a:bodyPr wrap="square" rtlCol="0" anchor="ctr"/>
          <a:lstStyle/>
          <a:p>
            <a:pPr indent="0" marL="0">
              <a:buNone/>
            </a:pPr>
            <a:r>
              <a:rPr lang="en-US" sz="700" i="1" dirty="0">
                <a:solidFill>
                  <a:srgbClr val="FFFFFF"/>
                </a:solidFill>
                <a:latin typeface="Atkinson Hyperlegible" pitchFamily="34" charset="0"/>
                <a:ea typeface="Atkinson Hyperlegible" pitchFamily="34" charset="-122"/>
                <a:cs typeface="Atkinson Hyperlegible" pitchFamily="34" charset="-120"/>
              </a:rPr>
              <a:t>Analytics</a:t>
            </a:r>
            <a:endParaRPr lang="en-US" sz="700" dirty="0"/>
          </a:p>
        </p:txBody>
      </p:sp>
      <p:sp>
        <p:nvSpPr>
          <p:cNvPr id="52" name="Text 50"/>
          <p:cNvSpPr/>
          <p:nvPr/>
        </p:nvSpPr>
        <p:spPr>
          <a:xfrm>
            <a:off x="6190488" y="341071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KPI dashboards</a:t>
            </a:r>
            <a:endParaRPr lang="en-US" sz="750" dirty="0"/>
          </a:p>
        </p:txBody>
      </p:sp>
      <p:sp>
        <p:nvSpPr>
          <p:cNvPr id="53" name="Text 51"/>
          <p:cNvSpPr/>
          <p:nvPr/>
        </p:nvSpPr>
        <p:spPr>
          <a:xfrm>
            <a:off x="6190488" y="373075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Trend analysis</a:t>
            </a:r>
            <a:endParaRPr lang="en-US" sz="750" dirty="0"/>
          </a:p>
        </p:txBody>
      </p:sp>
      <p:sp>
        <p:nvSpPr>
          <p:cNvPr id="54" name="Text 52"/>
          <p:cNvSpPr/>
          <p:nvPr/>
        </p:nvSpPr>
        <p:spPr>
          <a:xfrm>
            <a:off x="6190488" y="405079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EVM charts</a:t>
            </a:r>
            <a:endParaRPr lang="en-US" sz="750" dirty="0"/>
          </a:p>
        </p:txBody>
      </p:sp>
      <p:sp>
        <p:nvSpPr>
          <p:cNvPr id="55" name="Text 53"/>
          <p:cNvSpPr/>
          <p:nvPr/>
        </p:nvSpPr>
        <p:spPr>
          <a:xfrm>
            <a:off x="6190488" y="4370832"/>
            <a:ext cx="2542032" cy="29260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S-Curves</a:t>
            </a:r>
            <a:endParaRPr lang="en-US" sz="7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C3E8C"/>
          </a:solidFill>
          <a:ln w="12700">
            <a:solidFill>
              <a:srgbClr val="2C3E8C"/>
            </a:solidFill>
            <a:prstDash val="solid"/>
          </a:ln>
        </p:spPr>
      </p:sp>
      <p:sp>
        <p:nvSpPr>
          <p:cNvPr id="3" name="Shape 1"/>
          <p:cNvSpPr/>
          <p:nvPr/>
        </p:nvSpPr>
        <p:spPr>
          <a:xfrm>
            <a:off x="164592" y="4956048"/>
            <a:ext cx="8979408" cy="182880"/>
          </a:xfrm>
          <a:prstGeom prst="rect">
            <a:avLst/>
          </a:prstGeom>
          <a:solidFill>
            <a:srgbClr val="2C3E8C"/>
          </a:solidFill>
          <a:ln w="12700">
            <a:solidFill>
              <a:srgbClr val="2C3E8C"/>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71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Inteligencia Artificial en Constructabilidad</a:t>
            </a:r>
            <a:endParaRPr lang="en-US" sz="1800" dirty="0"/>
          </a:p>
        </p:txBody>
      </p:sp>
      <p:sp>
        <p:nvSpPr>
          <p:cNvPr id="6" name="Shape 4"/>
          <p:cNvSpPr/>
          <p:nvPr/>
        </p:nvSpPr>
        <p:spPr>
          <a:xfrm>
            <a:off x="320040" y="621792"/>
            <a:ext cx="8503920" cy="41148"/>
          </a:xfrm>
          <a:prstGeom prst="rect">
            <a:avLst/>
          </a:prstGeom>
          <a:solidFill>
            <a:srgbClr val="2C3E8C"/>
          </a:solidFill>
          <a:ln w="12700">
            <a:solidFill>
              <a:srgbClr val="2C3E8C"/>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2C3E8C"/>
                </a:solidFill>
                <a:latin typeface="Atkinson Hyperlegible" pitchFamily="34" charset="0"/>
                <a:ea typeface="Atkinson Hyperlegible" pitchFamily="34" charset="-122"/>
                <a:cs typeface="Atkinson Hyperlegible" pitchFamily="34" charset="-120"/>
              </a:rPr>
              <a:t>De análisis descriptivo a prescriptivo: el futuro ya está aquí</a:t>
            </a:r>
            <a:endParaRPr lang="en-US" sz="900" dirty="0"/>
          </a:p>
        </p:txBody>
      </p:sp>
      <p:sp>
        <p:nvSpPr>
          <p:cNvPr id="8" name="Shape 6"/>
          <p:cNvSpPr/>
          <p:nvPr/>
        </p:nvSpPr>
        <p:spPr>
          <a:xfrm>
            <a:off x="320040" y="960120"/>
            <a:ext cx="4023360" cy="3840480"/>
          </a:xfrm>
          <a:prstGeom prst="rect">
            <a:avLst>
              <a:gd name="adj" fmla="val 1905"/>
            </a:avLst>
          </a:prstGeom>
          <a:solidFill>
            <a:srgbClr val="F0F4FF"/>
          </a:solidFill>
          <a:ln w="12700">
            <a:solidFill>
              <a:srgbClr val="2C3E8C"/>
            </a:solidFill>
            <a:prstDash val="solid"/>
          </a:ln>
        </p:spPr>
      </p:sp>
      <p:sp>
        <p:nvSpPr>
          <p:cNvPr id="9" name="Text 7"/>
          <p:cNvSpPr/>
          <p:nvPr/>
        </p:nvSpPr>
        <p:spPr>
          <a:xfrm>
            <a:off x="411480" y="1024128"/>
            <a:ext cx="3840480" cy="274320"/>
          </a:xfrm>
          <a:prstGeom prst="rect">
            <a:avLst/>
          </a:prstGeom>
          <a:noFill/>
          <a:ln/>
        </p:spPr>
        <p:txBody>
          <a:bodyPr wrap="square" rtlCol="0" anchor="ctr"/>
          <a:lstStyle/>
          <a:p>
            <a:pPr indent="0" marL="0">
              <a:buNone/>
            </a:pPr>
            <a:r>
              <a:rPr lang="en-US" sz="1000" b="1" dirty="0">
                <a:solidFill>
                  <a:srgbClr val="2C3E8C"/>
                </a:solidFill>
                <a:latin typeface="Atkinson Hyperlegible" pitchFamily="34" charset="0"/>
                <a:ea typeface="Atkinson Hyperlegible" pitchFamily="34" charset="-122"/>
                <a:cs typeface="Atkinson Hyperlegible" pitchFamily="34" charset="-120"/>
              </a:rPr>
              <a:t>Capacidades IA Actuales</a:t>
            </a:r>
            <a:endParaRPr lang="en-US" sz="1000" dirty="0"/>
          </a:p>
        </p:txBody>
      </p:sp>
      <p:sp>
        <p:nvSpPr>
          <p:cNvPr id="10" name="Shape 8"/>
          <p:cNvSpPr/>
          <p:nvPr/>
        </p:nvSpPr>
        <p:spPr>
          <a:xfrm>
            <a:off x="457200" y="1463040"/>
            <a:ext cx="256032" cy="256032"/>
          </a:xfrm>
          <a:prstGeom prst="ellipse">
            <a:avLst/>
          </a:prstGeom>
          <a:solidFill>
            <a:srgbClr val="2C3E8C"/>
          </a:solidFill>
          <a:ln w="12700">
            <a:solidFill>
              <a:srgbClr val="2C3E8C"/>
            </a:solidFill>
            <a:prstDash val="solid"/>
          </a:ln>
        </p:spPr>
      </p:sp>
      <p:sp>
        <p:nvSpPr>
          <p:cNvPr id="11" name="Text 9"/>
          <p:cNvSpPr/>
          <p:nvPr/>
        </p:nvSpPr>
        <p:spPr>
          <a:xfrm>
            <a:off x="457200" y="1463040"/>
            <a:ext cx="256032" cy="256032"/>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1</a:t>
            </a:r>
            <a:endParaRPr lang="en-US" sz="800" dirty="0"/>
          </a:p>
        </p:txBody>
      </p:sp>
      <p:sp>
        <p:nvSpPr>
          <p:cNvPr id="12" name="Text 10"/>
          <p:cNvSpPr/>
          <p:nvPr/>
        </p:nvSpPr>
        <p:spPr>
          <a:xfrm>
            <a:off x="786384" y="1426464"/>
            <a:ext cx="3474720" cy="219456"/>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Análisis de planos 2D</a:t>
            </a:r>
            <a:endParaRPr lang="en-US" sz="850" dirty="0"/>
          </a:p>
        </p:txBody>
      </p:sp>
      <p:sp>
        <p:nvSpPr>
          <p:cNvPr id="13" name="Text 11"/>
          <p:cNvSpPr/>
          <p:nvPr/>
        </p:nvSpPr>
        <p:spPr>
          <a:xfrm>
            <a:off x="786384" y="1664208"/>
            <a:ext cx="3474720" cy="32918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OCR + ML extrae cantidades y detecta inconsistencias en planos automáticamente</a:t>
            </a:r>
            <a:endParaRPr lang="en-US" sz="750" dirty="0"/>
          </a:p>
        </p:txBody>
      </p:sp>
      <p:sp>
        <p:nvSpPr>
          <p:cNvPr id="14" name="Shape 12"/>
          <p:cNvSpPr/>
          <p:nvPr/>
        </p:nvSpPr>
        <p:spPr>
          <a:xfrm>
            <a:off x="457200" y="2121408"/>
            <a:ext cx="256032" cy="256032"/>
          </a:xfrm>
          <a:prstGeom prst="ellipse">
            <a:avLst/>
          </a:prstGeom>
          <a:solidFill>
            <a:srgbClr val="2C3E8C"/>
          </a:solidFill>
          <a:ln w="12700">
            <a:solidFill>
              <a:srgbClr val="2C3E8C"/>
            </a:solidFill>
            <a:prstDash val="solid"/>
          </a:ln>
        </p:spPr>
      </p:sp>
      <p:sp>
        <p:nvSpPr>
          <p:cNvPr id="15" name="Text 13"/>
          <p:cNvSpPr/>
          <p:nvPr/>
        </p:nvSpPr>
        <p:spPr>
          <a:xfrm>
            <a:off x="457200" y="2121408"/>
            <a:ext cx="256032" cy="256032"/>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2</a:t>
            </a:r>
            <a:endParaRPr lang="en-US" sz="800" dirty="0"/>
          </a:p>
        </p:txBody>
      </p:sp>
      <p:sp>
        <p:nvSpPr>
          <p:cNvPr id="16" name="Text 14"/>
          <p:cNvSpPr/>
          <p:nvPr/>
        </p:nvSpPr>
        <p:spPr>
          <a:xfrm>
            <a:off x="786384" y="2084832"/>
            <a:ext cx="3474720" cy="219456"/>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Optimización de secuencias</a:t>
            </a:r>
            <a:endParaRPr lang="en-US" sz="850" dirty="0"/>
          </a:p>
        </p:txBody>
      </p:sp>
      <p:sp>
        <p:nvSpPr>
          <p:cNvPr id="17" name="Text 15"/>
          <p:cNvSpPr/>
          <p:nvPr/>
        </p:nvSpPr>
        <p:spPr>
          <a:xfrm>
            <a:off x="786384" y="2322576"/>
            <a:ext cx="3474720" cy="32918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Algoritmos genéticos generan secuencias constructivas óptimas dados restricciones de espacio</a:t>
            </a:r>
            <a:endParaRPr lang="en-US" sz="750" dirty="0"/>
          </a:p>
        </p:txBody>
      </p:sp>
      <p:sp>
        <p:nvSpPr>
          <p:cNvPr id="18" name="Shape 16"/>
          <p:cNvSpPr/>
          <p:nvPr/>
        </p:nvSpPr>
        <p:spPr>
          <a:xfrm>
            <a:off x="457200" y="2779776"/>
            <a:ext cx="256032" cy="256032"/>
          </a:xfrm>
          <a:prstGeom prst="ellipse">
            <a:avLst/>
          </a:prstGeom>
          <a:solidFill>
            <a:srgbClr val="2C3E8C"/>
          </a:solidFill>
          <a:ln w="12700">
            <a:solidFill>
              <a:srgbClr val="2C3E8C"/>
            </a:solidFill>
            <a:prstDash val="solid"/>
          </a:ln>
        </p:spPr>
      </p:sp>
      <p:sp>
        <p:nvSpPr>
          <p:cNvPr id="19" name="Text 17"/>
          <p:cNvSpPr/>
          <p:nvPr/>
        </p:nvSpPr>
        <p:spPr>
          <a:xfrm>
            <a:off x="457200" y="2779776"/>
            <a:ext cx="256032" cy="256032"/>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3</a:t>
            </a:r>
            <a:endParaRPr lang="en-US" sz="800" dirty="0"/>
          </a:p>
        </p:txBody>
      </p:sp>
      <p:sp>
        <p:nvSpPr>
          <p:cNvPr id="20" name="Text 18"/>
          <p:cNvSpPr/>
          <p:nvPr/>
        </p:nvSpPr>
        <p:spPr>
          <a:xfrm>
            <a:off x="786384" y="2743200"/>
            <a:ext cx="3474720" cy="219456"/>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Predicción de conflictos</a:t>
            </a:r>
            <a:endParaRPr lang="en-US" sz="850" dirty="0"/>
          </a:p>
        </p:txBody>
      </p:sp>
      <p:sp>
        <p:nvSpPr>
          <p:cNvPr id="21" name="Text 19"/>
          <p:cNvSpPr/>
          <p:nvPr/>
        </p:nvSpPr>
        <p:spPr>
          <a:xfrm>
            <a:off x="786384" y="2980944"/>
            <a:ext cx="3474720" cy="32918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NLP sobre RFIs históricos predice zonas de alta densidad de interferencias</a:t>
            </a:r>
            <a:endParaRPr lang="en-US" sz="750" dirty="0"/>
          </a:p>
        </p:txBody>
      </p:sp>
      <p:sp>
        <p:nvSpPr>
          <p:cNvPr id="22" name="Shape 20"/>
          <p:cNvSpPr/>
          <p:nvPr/>
        </p:nvSpPr>
        <p:spPr>
          <a:xfrm>
            <a:off x="457200" y="3438144"/>
            <a:ext cx="256032" cy="256032"/>
          </a:xfrm>
          <a:prstGeom prst="ellipse">
            <a:avLst/>
          </a:prstGeom>
          <a:solidFill>
            <a:srgbClr val="2C3E8C"/>
          </a:solidFill>
          <a:ln w="12700">
            <a:solidFill>
              <a:srgbClr val="2C3E8C"/>
            </a:solidFill>
            <a:prstDash val="solid"/>
          </a:ln>
        </p:spPr>
      </p:sp>
      <p:sp>
        <p:nvSpPr>
          <p:cNvPr id="23" name="Text 21"/>
          <p:cNvSpPr/>
          <p:nvPr/>
        </p:nvSpPr>
        <p:spPr>
          <a:xfrm>
            <a:off x="457200" y="3438144"/>
            <a:ext cx="256032" cy="256032"/>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4</a:t>
            </a:r>
            <a:endParaRPr lang="en-US" sz="800" dirty="0"/>
          </a:p>
        </p:txBody>
      </p:sp>
      <p:sp>
        <p:nvSpPr>
          <p:cNvPr id="24" name="Text 22"/>
          <p:cNvSpPr/>
          <p:nvPr/>
        </p:nvSpPr>
        <p:spPr>
          <a:xfrm>
            <a:off x="786384" y="3401568"/>
            <a:ext cx="3474720" cy="219456"/>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Generación de IWPs</a:t>
            </a:r>
            <a:endParaRPr lang="en-US" sz="850" dirty="0"/>
          </a:p>
        </p:txBody>
      </p:sp>
      <p:sp>
        <p:nvSpPr>
          <p:cNvPr id="25" name="Text 23"/>
          <p:cNvSpPr/>
          <p:nvPr/>
        </p:nvSpPr>
        <p:spPr>
          <a:xfrm>
            <a:off x="786384" y="3639312"/>
            <a:ext cx="3474720" cy="32918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LLMs asisten en redacción y verificación de work packages contra normas CII</a:t>
            </a:r>
            <a:endParaRPr lang="en-US" sz="750" dirty="0"/>
          </a:p>
        </p:txBody>
      </p:sp>
      <p:sp>
        <p:nvSpPr>
          <p:cNvPr id="26" name="Shape 24"/>
          <p:cNvSpPr/>
          <p:nvPr/>
        </p:nvSpPr>
        <p:spPr>
          <a:xfrm>
            <a:off x="457200" y="4096512"/>
            <a:ext cx="256032" cy="256032"/>
          </a:xfrm>
          <a:prstGeom prst="ellipse">
            <a:avLst/>
          </a:prstGeom>
          <a:solidFill>
            <a:srgbClr val="2C3E8C"/>
          </a:solidFill>
          <a:ln w="12700">
            <a:solidFill>
              <a:srgbClr val="2C3E8C"/>
            </a:solidFill>
            <a:prstDash val="solid"/>
          </a:ln>
        </p:spPr>
      </p:sp>
      <p:sp>
        <p:nvSpPr>
          <p:cNvPr id="27" name="Text 25"/>
          <p:cNvSpPr/>
          <p:nvPr/>
        </p:nvSpPr>
        <p:spPr>
          <a:xfrm>
            <a:off x="457200" y="4096512"/>
            <a:ext cx="256032" cy="256032"/>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5</a:t>
            </a:r>
            <a:endParaRPr lang="en-US" sz="800" dirty="0"/>
          </a:p>
        </p:txBody>
      </p:sp>
      <p:sp>
        <p:nvSpPr>
          <p:cNvPr id="28" name="Text 26"/>
          <p:cNvSpPr/>
          <p:nvPr/>
        </p:nvSpPr>
        <p:spPr>
          <a:xfrm>
            <a:off x="786384" y="4059936"/>
            <a:ext cx="3474720" cy="219456"/>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Gemelo digital predictivo</a:t>
            </a:r>
            <a:endParaRPr lang="en-US" sz="850" dirty="0"/>
          </a:p>
        </p:txBody>
      </p:sp>
      <p:sp>
        <p:nvSpPr>
          <p:cNvPr id="29" name="Text 27"/>
          <p:cNvSpPr/>
          <p:nvPr/>
        </p:nvSpPr>
        <p:spPr>
          <a:xfrm>
            <a:off x="786384" y="4297680"/>
            <a:ext cx="3474720" cy="32918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Modelos de simulación proyectan estado del proyecto en tiempo real</a:t>
            </a:r>
            <a:endParaRPr lang="en-US" sz="750" dirty="0"/>
          </a:p>
        </p:txBody>
      </p:sp>
      <p:sp>
        <p:nvSpPr>
          <p:cNvPr id="30" name="Shape 28"/>
          <p:cNvSpPr/>
          <p:nvPr/>
        </p:nvSpPr>
        <p:spPr>
          <a:xfrm>
            <a:off x="4526280" y="960120"/>
            <a:ext cx="4297680" cy="3840480"/>
          </a:xfrm>
          <a:prstGeom prst="rect">
            <a:avLst>
              <a:gd name="adj" fmla="val 1905"/>
            </a:avLst>
          </a:prstGeom>
          <a:solidFill>
            <a:srgbClr val="FFFFFF"/>
          </a:solidFill>
          <a:ln w="12700">
            <a:solidFill>
              <a:srgbClr val="2C3E8C"/>
            </a:solidFill>
            <a:prstDash val="solid"/>
          </a:ln>
        </p:spPr>
      </p:sp>
      <p:sp>
        <p:nvSpPr>
          <p:cNvPr id="31" name="Text 29"/>
          <p:cNvSpPr/>
          <p:nvPr/>
        </p:nvSpPr>
        <p:spPr>
          <a:xfrm>
            <a:off x="4617720" y="1024128"/>
            <a:ext cx="4114800" cy="274320"/>
          </a:xfrm>
          <a:prstGeom prst="rect">
            <a:avLst/>
          </a:prstGeom>
          <a:noFill/>
          <a:ln/>
        </p:spPr>
        <p:txBody>
          <a:bodyPr wrap="square" rtlCol="0" anchor="ctr"/>
          <a:lstStyle/>
          <a:p>
            <a:pPr indent="0" marL="0">
              <a:buNone/>
            </a:pPr>
            <a:r>
              <a:rPr lang="en-US" sz="1000" b="1" dirty="0">
                <a:solidFill>
                  <a:srgbClr val="2C3E8C"/>
                </a:solidFill>
                <a:latin typeface="Atkinson Hyperlegible" pitchFamily="34" charset="0"/>
                <a:ea typeface="Atkinson Hyperlegible" pitchFamily="34" charset="-122"/>
                <a:cs typeface="Atkinson Hyperlegible" pitchFamily="34" charset="-120"/>
              </a:rPr>
              <a:t>Madurez IA por Función</a:t>
            </a:r>
            <a:endParaRPr lang="en-US" sz="1000" dirty="0"/>
          </a:p>
        </p:txBody>
      </p:sp>
      <p:sp>
        <p:nvSpPr>
          <p:cNvPr id="32" name="Text 30"/>
          <p:cNvSpPr/>
          <p:nvPr/>
        </p:nvSpPr>
        <p:spPr>
          <a:xfrm>
            <a:off x="4617720" y="1389888"/>
            <a:ext cx="2194560" cy="237744"/>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Clash Detection</a:t>
            </a:r>
            <a:endParaRPr lang="en-US" sz="800" dirty="0"/>
          </a:p>
        </p:txBody>
      </p:sp>
      <p:sp>
        <p:nvSpPr>
          <p:cNvPr id="33" name="Shape 31"/>
          <p:cNvSpPr/>
          <p:nvPr/>
        </p:nvSpPr>
        <p:spPr>
          <a:xfrm>
            <a:off x="4617720" y="1645920"/>
            <a:ext cx="3931920" cy="201168"/>
          </a:xfrm>
          <a:prstGeom prst="rect">
            <a:avLst>
              <a:gd name="adj" fmla="val 18182"/>
            </a:avLst>
          </a:prstGeom>
          <a:solidFill>
            <a:srgbClr val="E5E5EA"/>
          </a:solidFill>
          <a:ln w="12700">
            <a:solidFill>
              <a:srgbClr val="E5E5EA"/>
            </a:solidFill>
            <a:prstDash val="solid"/>
          </a:ln>
        </p:spPr>
      </p:sp>
      <p:sp>
        <p:nvSpPr>
          <p:cNvPr id="34" name="Shape 32"/>
          <p:cNvSpPr/>
          <p:nvPr/>
        </p:nvSpPr>
        <p:spPr>
          <a:xfrm>
            <a:off x="4617720" y="1645920"/>
            <a:ext cx="3617366" cy="201168"/>
          </a:xfrm>
          <a:prstGeom prst="rect">
            <a:avLst>
              <a:gd name="adj" fmla="val 18182"/>
            </a:avLst>
          </a:prstGeom>
          <a:solidFill>
            <a:srgbClr val="2C3E8C"/>
          </a:solidFill>
          <a:ln w="12700">
            <a:solidFill>
              <a:srgbClr val="2C3E8C"/>
            </a:solidFill>
            <a:prstDash val="solid"/>
          </a:ln>
        </p:spPr>
      </p:sp>
      <p:sp>
        <p:nvSpPr>
          <p:cNvPr id="35" name="Text 33"/>
          <p:cNvSpPr/>
          <p:nvPr/>
        </p:nvSpPr>
        <p:spPr>
          <a:xfrm>
            <a:off x="8321040" y="1645920"/>
            <a:ext cx="457200" cy="201168"/>
          </a:xfrm>
          <a:prstGeom prst="rect">
            <a:avLst/>
          </a:prstGeom>
          <a:noFill/>
          <a:ln/>
        </p:spPr>
        <p:txBody>
          <a:bodyPr wrap="square" rtlCol="0" anchor="ctr"/>
          <a:lstStyle/>
          <a:p>
            <a:pPr algn="r" indent="0" marL="0">
              <a:buNone/>
            </a:pPr>
            <a:r>
              <a:rPr lang="en-US" sz="750" b="1" dirty="0">
                <a:solidFill>
                  <a:srgbClr val="2C3E8C"/>
                </a:solidFill>
                <a:latin typeface="Atkinson Hyperlegible" pitchFamily="34" charset="0"/>
                <a:ea typeface="Atkinson Hyperlegible" pitchFamily="34" charset="-122"/>
                <a:cs typeface="Atkinson Hyperlegible" pitchFamily="34" charset="-120"/>
              </a:rPr>
              <a:t>92%</a:t>
            </a:r>
            <a:endParaRPr lang="en-US" sz="750" dirty="0"/>
          </a:p>
        </p:txBody>
      </p:sp>
      <p:sp>
        <p:nvSpPr>
          <p:cNvPr id="36" name="Text 34"/>
          <p:cNvSpPr/>
          <p:nvPr/>
        </p:nvSpPr>
        <p:spPr>
          <a:xfrm>
            <a:off x="4617720" y="1956816"/>
            <a:ext cx="2194560" cy="237744"/>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Quantity Takeoff</a:t>
            </a:r>
            <a:endParaRPr lang="en-US" sz="800" dirty="0"/>
          </a:p>
        </p:txBody>
      </p:sp>
      <p:sp>
        <p:nvSpPr>
          <p:cNvPr id="37" name="Shape 35"/>
          <p:cNvSpPr/>
          <p:nvPr/>
        </p:nvSpPr>
        <p:spPr>
          <a:xfrm>
            <a:off x="4617720" y="2212848"/>
            <a:ext cx="3931920" cy="201168"/>
          </a:xfrm>
          <a:prstGeom prst="rect">
            <a:avLst>
              <a:gd name="adj" fmla="val 18182"/>
            </a:avLst>
          </a:prstGeom>
          <a:solidFill>
            <a:srgbClr val="E5E5EA"/>
          </a:solidFill>
          <a:ln w="12700">
            <a:solidFill>
              <a:srgbClr val="E5E5EA"/>
            </a:solidFill>
            <a:prstDash val="solid"/>
          </a:ln>
        </p:spPr>
      </p:sp>
      <p:sp>
        <p:nvSpPr>
          <p:cNvPr id="38" name="Shape 36"/>
          <p:cNvSpPr/>
          <p:nvPr/>
        </p:nvSpPr>
        <p:spPr>
          <a:xfrm>
            <a:off x="4617720" y="2212848"/>
            <a:ext cx="3342132" cy="201168"/>
          </a:xfrm>
          <a:prstGeom prst="rect">
            <a:avLst>
              <a:gd name="adj" fmla="val 18182"/>
            </a:avLst>
          </a:prstGeom>
          <a:solidFill>
            <a:srgbClr val="2C3E8C"/>
          </a:solidFill>
          <a:ln w="12700">
            <a:solidFill>
              <a:srgbClr val="2C3E8C"/>
            </a:solidFill>
            <a:prstDash val="solid"/>
          </a:ln>
        </p:spPr>
      </p:sp>
      <p:sp>
        <p:nvSpPr>
          <p:cNvPr id="39" name="Text 37"/>
          <p:cNvSpPr/>
          <p:nvPr/>
        </p:nvSpPr>
        <p:spPr>
          <a:xfrm>
            <a:off x="8321040" y="2212848"/>
            <a:ext cx="457200" cy="201168"/>
          </a:xfrm>
          <a:prstGeom prst="rect">
            <a:avLst/>
          </a:prstGeom>
          <a:noFill/>
          <a:ln/>
        </p:spPr>
        <p:txBody>
          <a:bodyPr wrap="square" rtlCol="0" anchor="ctr"/>
          <a:lstStyle/>
          <a:p>
            <a:pPr algn="r" indent="0" marL="0">
              <a:buNone/>
            </a:pPr>
            <a:r>
              <a:rPr lang="en-US" sz="750" b="1" dirty="0">
                <a:solidFill>
                  <a:srgbClr val="2C3E8C"/>
                </a:solidFill>
                <a:latin typeface="Atkinson Hyperlegible" pitchFamily="34" charset="0"/>
                <a:ea typeface="Atkinson Hyperlegible" pitchFamily="34" charset="-122"/>
                <a:cs typeface="Atkinson Hyperlegible" pitchFamily="34" charset="-120"/>
              </a:rPr>
              <a:t>85%</a:t>
            </a:r>
            <a:endParaRPr lang="en-US" sz="750" dirty="0"/>
          </a:p>
        </p:txBody>
      </p:sp>
      <p:sp>
        <p:nvSpPr>
          <p:cNvPr id="40" name="Text 38"/>
          <p:cNvSpPr/>
          <p:nvPr/>
        </p:nvSpPr>
        <p:spPr>
          <a:xfrm>
            <a:off x="4617720" y="2523744"/>
            <a:ext cx="2194560" cy="237744"/>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Schedule Optimization</a:t>
            </a:r>
            <a:endParaRPr lang="en-US" sz="800" dirty="0"/>
          </a:p>
        </p:txBody>
      </p:sp>
      <p:sp>
        <p:nvSpPr>
          <p:cNvPr id="41" name="Shape 39"/>
          <p:cNvSpPr/>
          <p:nvPr/>
        </p:nvSpPr>
        <p:spPr>
          <a:xfrm>
            <a:off x="4617720" y="2779776"/>
            <a:ext cx="3931920" cy="201168"/>
          </a:xfrm>
          <a:prstGeom prst="rect">
            <a:avLst>
              <a:gd name="adj" fmla="val 18182"/>
            </a:avLst>
          </a:prstGeom>
          <a:solidFill>
            <a:srgbClr val="E5E5EA"/>
          </a:solidFill>
          <a:ln w="12700">
            <a:solidFill>
              <a:srgbClr val="E5E5EA"/>
            </a:solidFill>
            <a:prstDash val="solid"/>
          </a:ln>
        </p:spPr>
      </p:sp>
      <p:sp>
        <p:nvSpPr>
          <p:cNvPr id="42" name="Shape 40"/>
          <p:cNvSpPr/>
          <p:nvPr/>
        </p:nvSpPr>
        <p:spPr>
          <a:xfrm>
            <a:off x="4617720" y="2779776"/>
            <a:ext cx="2673706" cy="201168"/>
          </a:xfrm>
          <a:prstGeom prst="rect">
            <a:avLst>
              <a:gd name="adj" fmla="val 18182"/>
            </a:avLst>
          </a:prstGeom>
          <a:solidFill>
            <a:srgbClr val="2C3E8C"/>
          </a:solidFill>
          <a:ln w="12700">
            <a:solidFill>
              <a:srgbClr val="2C3E8C"/>
            </a:solidFill>
            <a:prstDash val="solid"/>
          </a:ln>
        </p:spPr>
      </p:sp>
      <p:sp>
        <p:nvSpPr>
          <p:cNvPr id="43" name="Text 41"/>
          <p:cNvSpPr/>
          <p:nvPr/>
        </p:nvSpPr>
        <p:spPr>
          <a:xfrm>
            <a:off x="8321040" y="2779776"/>
            <a:ext cx="457200" cy="201168"/>
          </a:xfrm>
          <a:prstGeom prst="rect">
            <a:avLst/>
          </a:prstGeom>
          <a:noFill/>
          <a:ln/>
        </p:spPr>
        <p:txBody>
          <a:bodyPr wrap="square" rtlCol="0" anchor="ctr"/>
          <a:lstStyle/>
          <a:p>
            <a:pPr algn="r" indent="0" marL="0">
              <a:buNone/>
            </a:pPr>
            <a:r>
              <a:rPr lang="en-US" sz="750" b="1" dirty="0">
                <a:solidFill>
                  <a:srgbClr val="2C3E8C"/>
                </a:solidFill>
                <a:latin typeface="Atkinson Hyperlegible" pitchFamily="34" charset="0"/>
                <a:ea typeface="Atkinson Hyperlegible" pitchFamily="34" charset="-122"/>
                <a:cs typeface="Atkinson Hyperlegible" pitchFamily="34" charset="-120"/>
              </a:rPr>
              <a:t>68%</a:t>
            </a:r>
            <a:endParaRPr lang="en-US" sz="750" dirty="0"/>
          </a:p>
        </p:txBody>
      </p:sp>
      <p:sp>
        <p:nvSpPr>
          <p:cNvPr id="44" name="Text 42"/>
          <p:cNvSpPr/>
          <p:nvPr/>
        </p:nvSpPr>
        <p:spPr>
          <a:xfrm>
            <a:off x="4617720" y="3090672"/>
            <a:ext cx="2194560" cy="237744"/>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IWP Generation</a:t>
            </a:r>
            <a:endParaRPr lang="en-US" sz="800" dirty="0"/>
          </a:p>
        </p:txBody>
      </p:sp>
      <p:sp>
        <p:nvSpPr>
          <p:cNvPr id="45" name="Shape 43"/>
          <p:cNvSpPr/>
          <p:nvPr/>
        </p:nvSpPr>
        <p:spPr>
          <a:xfrm>
            <a:off x="4617720" y="3346704"/>
            <a:ext cx="3931920" cy="201168"/>
          </a:xfrm>
          <a:prstGeom prst="rect">
            <a:avLst>
              <a:gd name="adj" fmla="val 18182"/>
            </a:avLst>
          </a:prstGeom>
          <a:solidFill>
            <a:srgbClr val="E5E5EA"/>
          </a:solidFill>
          <a:ln w="12700">
            <a:solidFill>
              <a:srgbClr val="E5E5EA"/>
            </a:solidFill>
            <a:prstDash val="solid"/>
          </a:ln>
        </p:spPr>
      </p:sp>
      <p:sp>
        <p:nvSpPr>
          <p:cNvPr id="46" name="Shape 44"/>
          <p:cNvSpPr/>
          <p:nvPr/>
        </p:nvSpPr>
        <p:spPr>
          <a:xfrm>
            <a:off x="4617720" y="3346704"/>
            <a:ext cx="2044598" cy="201168"/>
          </a:xfrm>
          <a:prstGeom prst="rect">
            <a:avLst>
              <a:gd name="adj" fmla="val 18182"/>
            </a:avLst>
          </a:prstGeom>
          <a:solidFill>
            <a:srgbClr val="2C3E8C"/>
          </a:solidFill>
          <a:ln w="12700">
            <a:solidFill>
              <a:srgbClr val="2C3E8C"/>
            </a:solidFill>
            <a:prstDash val="solid"/>
          </a:ln>
        </p:spPr>
      </p:sp>
      <p:sp>
        <p:nvSpPr>
          <p:cNvPr id="47" name="Text 45"/>
          <p:cNvSpPr/>
          <p:nvPr/>
        </p:nvSpPr>
        <p:spPr>
          <a:xfrm>
            <a:off x="8321040" y="3346704"/>
            <a:ext cx="457200" cy="201168"/>
          </a:xfrm>
          <a:prstGeom prst="rect">
            <a:avLst/>
          </a:prstGeom>
          <a:noFill/>
          <a:ln/>
        </p:spPr>
        <p:txBody>
          <a:bodyPr wrap="square" rtlCol="0" anchor="ctr"/>
          <a:lstStyle/>
          <a:p>
            <a:pPr algn="r" indent="0" marL="0">
              <a:buNone/>
            </a:pPr>
            <a:r>
              <a:rPr lang="en-US" sz="750" b="1" dirty="0">
                <a:solidFill>
                  <a:srgbClr val="2C3E8C"/>
                </a:solidFill>
                <a:latin typeface="Atkinson Hyperlegible" pitchFamily="34" charset="0"/>
                <a:ea typeface="Atkinson Hyperlegible" pitchFamily="34" charset="-122"/>
                <a:cs typeface="Atkinson Hyperlegible" pitchFamily="34" charset="-120"/>
              </a:rPr>
              <a:t>52%</a:t>
            </a:r>
            <a:endParaRPr lang="en-US" sz="750" dirty="0"/>
          </a:p>
        </p:txBody>
      </p:sp>
      <p:sp>
        <p:nvSpPr>
          <p:cNvPr id="48" name="Text 46"/>
          <p:cNvSpPr/>
          <p:nvPr/>
        </p:nvSpPr>
        <p:spPr>
          <a:xfrm>
            <a:off x="4617720" y="3657600"/>
            <a:ext cx="2194560" cy="237744"/>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Risk Prediction</a:t>
            </a:r>
            <a:endParaRPr lang="en-US" sz="800" dirty="0"/>
          </a:p>
        </p:txBody>
      </p:sp>
      <p:sp>
        <p:nvSpPr>
          <p:cNvPr id="49" name="Shape 47"/>
          <p:cNvSpPr/>
          <p:nvPr/>
        </p:nvSpPr>
        <p:spPr>
          <a:xfrm>
            <a:off x="4617720" y="3913632"/>
            <a:ext cx="3931920" cy="201168"/>
          </a:xfrm>
          <a:prstGeom prst="rect">
            <a:avLst>
              <a:gd name="adj" fmla="val 18182"/>
            </a:avLst>
          </a:prstGeom>
          <a:solidFill>
            <a:srgbClr val="E5E5EA"/>
          </a:solidFill>
          <a:ln w="12700">
            <a:solidFill>
              <a:srgbClr val="E5E5EA"/>
            </a:solidFill>
            <a:prstDash val="solid"/>
          </a:ln>
        </p:spPr>
      </p:sp>
      <p:sp>
        <p:nvSpPr>
          <p:cNvPr id="50" name="Shape 48"/>
          <p:cNvSpPr/>
          <p:nvPr/>
        </p:nvSpPr>
        <p:spPr>
          <a:xfrm>
            <a:off x="4617720" y="3913632"/>
            <a:ext cx="2398471" cy="201168"/>
          </a:xfrm>
          <a:prstGeom prst="rect">
            <a:avLst>
              <a:gd name="adj" fmla="val 18182"/>
            </a:avLst>
          </a:prstGeom>
          <a:solidFill>
            <a:srgbClr val="2C3E8C"/>
          </a:solidFill>
          <a:ln w="12700">
            <a:solidFill>
              <a:srgbClr val="2C3E8C"/>
            </a:solidFill>
            <a:prstDash val="solid"/>
          </a:ln>
        </p:spPr>
      </p:sp>
      <p:sp>
        <p:nvSpPr>
          <p:cNvPr id="51" name="Text 49"/>
          <p:cNvSpPr/>
          <p:nvPr/>
        </p:nvSpPr>
        <p:spPr>
          <a:xfrm>
            <a:off x="8321040" y="3913632"/>
            <a:ext cx="457200" cy="201168"/>
          </a:xfrm>
          <a:prstGeom prst="rect">
            <a:avLst/>
          </a:prstGeom>
          <a:noFill/>
          <a:ln/>
        </p:spPr>
        <p:txBody>
          <a:bodyPr wrap="square" rtlCol="0" anchor="ctr"/>
          <a:lstStyle/>
          <a:p>
            <a:pPr algn="r" indent="0" marL="0">
              <a:buNone/>
            </a:pPr>
            <a:r>
              <a:rPr lang="en-US" sz="750" b="1" dirty="0">
                <a:solidFill>
                  <a:srgbClr val="2C3E8C"/>
                </a:solidFill>
                <a:latin typeface="Atkinson Hyperlegible" pitchFamily="34" charset="0"/>
                <a:ea typeface="Atkinson Hyperlegible" pitchFamily="34" charset="-122"/>
                <a:cs typeface="Atkinson Hyperlegible" pitchFamily="34" charset="-120"/>
              </a:rPr>
              <a:t>61%</a:t>
            </a:r>
            <a:endParaRPr lang="en-US" sz="750" dirty="0"/>
          </a:p>
        </p:txBody>
      </p:sp>
      <p:sp>
        <p:nvSpPr>
          <p:cNvPr id="52" name="Text 50"/>
          <p:cNvSpPr/>
          <p:nvPr/>
        </p:nvSpPr>
        <p:spPr>
          <a:xfrm>
            <a:off x="4617720" y="4224528"/>
            <a:ext cx="2194560" cy="237744"/>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Cost Forecasting</a:t>
            </a:r>
            <a:endParaRPr lang="en-US" sz="800" dirty="0"/>
          </a:p>
        </p:txBody>
      </p:sp>
      <p:sp>
        <p:nvSpPr>
          <p:cNvPr id="53" name="Shape 51"/>
          <p:cNvSpPr/>
          <p:nvPr/>
        </p:nvSpPr>
        <p:spPr>
          <a:xfrm>
            <a:off x="4617720" y="4480560"/>
            <a:ext cx="3931920" cy="201168"/>
          </a:xfrm>
          <a:prstGeom prst="rect">
            <a:avLst>
              <a:gd name="adj" fmla="val 18182"/>
            </a:avLst>
          </a:prstGeom>
          <a:solidFill>
            <a:srgbClr val="E5E5EA"/>
          </a:solidFill>
          <a:ln w="12700">
            <a:solidFill>
              <a:srgbClr val="E5E5EA"/>
            </a:solidFill>
            <a:prstDash val="solid"/>
          </a:ln>
        </p:spPr>
      </p:sp>
      <p:sp>
        <p:nvSpPr>
          <p:cNvPr id="54" name="Shape 52"/>
          <p:cNvSpPr/>
          <p:nvPr/>
        </p:nvSpPr>
        <p:spPr>
          <a:xfrm>
            <a:off x="4617720" y="4480560"/>
            <a:ext cx="2909621" cy="201168"/>
          </a:xfrm>
          <a:prstGeom prst="rect">
            <a:avLst>
              <a:gd name="adj" fmla="val 18182"/>
            </a:avLst>
          </a:prstGeom>
          <a:solidFill>
            <a:srgbClr val="2C3E8C"/>
          </a:solidFill>
          <a:ln w="12700">
            <a:solidFill>
              <a:srgbClr val="2C3E8C"/>
            </a:solidFill>
            <a:prstDash val="solid"/>
          </a:ln>
        </p:spPr>
      </p:sp>
      <p:sp>
        <p:nvSpPr>
          <p:cNvPr id="55" name="Text 53"/>
          <p:cNvSpPr/>
          <p:nvPr/>
        </p:nvSpPr>
        <p:spPr>
          <a:xfrm>
            <a:off x="8321040" y="4480560"/>
            <a:ext cx="457200" cy="201168"/>
          </a:xfrm>
          <a:prstGeom prst="rect">
            <a:avLst/>
          </a:prstGeom>
          <a:noFill/>
          <a:ln/>
        </p:spPr>
        <p:txBody>
          <a:bodyPr wrap="square" rtlCol="0" anchor="ctr"/>
          <a:lstStyle/>
          <a:p>
            <a:pPr algn="r" indent="0" marL="0">
              <a:buNone/>
            </a:pPr>
            <a:r>
              <a:rPr lang="en-US" sz="750" b="1" dirty="0">
                <a:solidFill>
                  <a:srgbClr val="2C3E8C"/>
                </a:solidFill>
                <a:latin typeface="Atkinson Hyperlegible" pitchFamily="34" charset="0"/>
                <a:ea typeface="Atkinson Hyperlegible" pitchFamily="34" charset="-122"/>
                <a:cs typeface="Atkinson Hyperlegible" pitchFamily="34" charset="-120"/>
              </a:rPr>
              <a:t>74%</a:t>
            </a:r>
            <a:endParaRPr lang="en-US" sz="7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C3E8C"/>
          </a:solidFill>
          <a:ln w="12700">
            <a:solidFill>
              <a:srgbClr val="2C3E8C"/>
            </a:solidFill>
            <a:prstDash val="solid"/>
          </a:ln>
        </p:spPr>
      </p:sp>
      <p:sp>
        <p:nvSpPr>
          <p:cNvPr id="3" name="Shape 1"/>
          <p:cNvSpPr/>
          <p:nvPr/>
        </p:nvSpPr>
        <p:spPr>
          <a:xfrm>
            <a:off x="164592" y="4956048"/>
            <a:ext cx="8979408" cy="182880"/>
          </a:xfrm>
          <a:prstGeom prst="rect">
            <a:avLst/>
          </a:prstGeom>
          <a:solidFill>
            <a:srgbClr val="2C3E8C"/>
          </a:solidFill>
          <a:ln w="12700">
            <a:solidFill>
              <a:srgbClr val="2C3E8C"/>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72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Gemelo Digital en Proyectos de Capital</a:t>
            </a:r>
            <a:endParaRPr lang="en-US" sz="1800" dirty="0"/>
          </a:p>
        </p:txBody>
      </p:sp>
      <p:sp>
        <p:nvSpPr>
          <p:cNvPr id="6" name="Shape 4"/>
          <p:cNvSpPr/>
          <p:nvPr/>
        </p:nvSpPr>
        <p:spPr>
          <a:xfrm>
            <a:off x="320040" y="621792"/>
            <a:ext cx="8503920" cy="41148"/>
          </a:xfrm>
          <a:prstGeom prst="rect">
            <a:avLst/>
          </a:prstGeom>
          <a:solidFill>
            <a:srgbClr val="2C3E8C"/>
          </a:solidFill>
          <a:ln w="12700">
            <a:solidFill>
              <a:srgbClr val="2C3E8C"/>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2C3E8C"/>
                </a:solidFill>
                <a:latin typeface="Atkinson Hyperlegible" pitchFamily="34" charset="0"/>
                <a:ea typeface="Atkinson Hyperlegible" pitchFamily="34" charset="-122"/>
                <a:cs typeface="Atkinson Hyperlegible" pitchFamily="34" charset="-120"/>
              </a:rPr>
              <a:t>Sincronización entre modelo virtual y realidad de campo en tiempo real</a:t>
            </a:r>
            <a:endParaRPr lang="en-US" sz="900" dirty="0"/>
          </a:p>
        </p:txBody>
      </p:sp>
      <p:sp>
        <p:nvSpPr>
          <p:cNvPr id="8" name="Shape 6"/>
          <p:cNvSpPr/>
          <p:nvPr/>
        </p:nvSpPr>
        <p:spPr>
          <a:xfrm>
            <a:off x="320040" y="1097280"/>
            <a:ext cx="1539850" cy="1097280"/>
          </a:xfrm>
          <a:prstGeom prst="rect">
            <a:avLst>
              <a:gd name="adj" fmla="val 5000"/>
            </a:avLst>
          </a:prstGeom>
          <a:solidFill>
            <a:srgbClr val="2C3E8C"/>
          </a:solidFill>
          <a:ln w="12700">
            <a:solidFill>
              <a:srgbClr val="2C3E8C"/>
            </a:solidFill>
            <a:prstDash val="solid"/>
          </a:ln>
        </p:spPr>
      </p:sp>
      <p:sp>
        <p:nvSpPr>
          <p:cNvPr id="9" name="Shape 7"/>
          <p:cNvSpPr/>
          <p:nvPr/>
        </p:nvSpPr>
        <p:spPr>
          <a:xfrm>
            <a:off x="888797" y="896112"/>
            <a:ext cx="402336" cy="402336"/>
          </a:xfrm>
          <a:prstGeom prst="ellipse">
            <a:avLst/>
          </a:prstGeom>
          <a:solidFill>
            <a:srgbClr val="FFFFFF"/>
          </a:solidFill>
          <a:ln w="12700">
            <a:solidFill>
              <a:srgbClr val="2C3E8C"/>
            </a:solidFill>
            <a:prstDash val="solid"/>
          </a:ln>
        </p:spPr>
      </p:sp>
      <p:sp>
        <p:nvSpPr>
          <p:cNvPr id="10" name="Text 8"/>
          <p:cNvSpPr/>
          <p:nvPr/>
        </p:nvSpPr>
        <p:spPr>
          <a:xfrm>
            <a:off x="888797" y="896112"/>
            <a:ext cx="402336" cy="402336"/>
          </a:xfrm>
          <a:prstGeom prst="rect">
            <a:avLst/>
          </a:prstGeom>
          <a:noFill/>
          <a:ln/>
        </p:spPr>
        <p:txBody>
          <a:bodyPr wrap="square" rtlCol="0" anchor="ctr"/>
          <a:lstStyle/>
          <a:p>
            <a:pPr algn="ctr" indent="0" marL="0">
              <a:buNone/>
            </a:pPr>
            <a:r>
              <a:rPr lang="en-US" sz="900" b="1" dirty="0">
                <a:solidFill>
                  <a:srgbClr val="2C3E8C"/>
                </a:solidFill>
                <a:latin typeface="Atkinson Hyperlegible" pitchFamily="34" charset="0"/>
                <a:ea typeface="Atkinson Hyperlegible" pitchFamily="34" charset="-122"/>
                <a:cs typeface="Atkinson Hyperlegible" pitchFamily="34" charset="-120"/>
              </a:rPr>
              <a:t>1</a:t>
            </a:r>
            <a:endParaRPr lang="en-US" sz="900" dirty="0"/>
          </a:p>
        </p:txBody>
      </p:sp>
      <p:sp>
        <p:nvSpPr>
          <p:cNvPr id="11" name="Text 9"/>
          <p:cNvSpPr/>
          <p:nvPr/>
        </p:nvSpPr>
        <p:spPr>
          <a:xfrm>
            <a:off x="374904" y="1133856"/>
            <a:ext cx="1430122" cy="329184"/>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Modelo BIM Base</a:t>
            </a:r>
            <a:endParaRPr lang="en-US" sz="800" dirty="0"/>
          </a:p>
        </p:txBody>
      </p:sp>
      <p:sp>
        <p:nvSpPr>
          <p:cNvPr id="12" name="Text 10"/>
          <p:cNvSpPr/>
          <p:nvPr/>
        </p:nvSpPr>
        <p:spPr>
          <a:xfrm>
            <a:off x="374904" y="1481328"/>
            <a:ext cx="1430122" cy="640080"/>
          </a:xfrm>
          <a:prstGeom prst="rect">
            <a:avLst/>
          </a:prstGeom>
          <a:noFill/>
          <a:ln/>
        </p:spPr>
        <p:txBody>
          <a:bodyPr wrap="square" rtlCol="0" anchor="ctr"/>
          <a:lstStyle/>
          <a:p>
            <a:pPr algn="ct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Diseño 3D integrado con datos de ingeniería</a:t>
            </a:r>
            <a:endParaRPr lang="en-US" sz="700" dirty="0"/>
          </a:p>
        </p:txBody>
      </p:sp>
      <p:sp>
        <p:nvSpPr>
          <p:cNvPr id="13" name="Shape 11"/>
          <p:cNvSpPr/>
          <p:nvPr/>
        </p:nvSpPr>
        <p:spPr>
          <a:xfrm>
            <a:off x="1869034" y="1517904"/>
            <a:ext cx="201168" cy="256032"/>
          </a:xfrm>
          <a:prstGeom prst="chevron">
            <a:avLst/>
          </a:prstGeom>
          <a:solidFill>
            <a:srgbClr val="2C3E8C"/>
          </a:solidFill>
          <a:ln w="12700">
            <a:solidFill>
              <a:srgbClr val="2C3E8C"/>
            </a:solidFill>
            <a:prstDash val="solid"/>
          </a:ln>
        </p:spPr>
      </p:sp>
      <p:sp>
        <p:nvSpPr>
          <p:cNvPr id="14" name="Shape 12"/>
          <p:cNvSpPr/>
          <p:nvPr/>
        </p:nvSpPr>
        <p:spPr>
          <a:xfrm>
            <a:off x="2061058" y="1097280"/>
            <a:ext cx="1539850" cy="1097280"/>
          </a:xfrm>
          <a:prstGeom prst="rect">
            <a:avLst>
              <a:gd name="adj" fmla="val 5000"/>
            </a:avLst>
          </a:prstGeom>
          <a:solidFill>
            <a:srgbClr val="FFFFFF"/>
          </a:solidFill>
          <a:ln w="12700">
            <a:solidFill>
              <a:srgbClr val="2C3E8C"/>
            </a:solidFill>
            <a:prstDash val="solid"/>
          </a:ln>
        </p:spPr>
      </p:sp>
      <p:sp>
        <p:nvSpPr>
          <p:cNvPr id="15" name="Shape 13"/>
          <p:cNvSpPr/>
          <p:nvPr/>
        </p:nvSpPr>
        <p:spPr>
          <a:xfrm>
            <a:off x="2629814" y="896112"/>
            <a:ext cx="402336" cy="402336"/>
          </a:xfrm>
          <a:prstGeom prst="ellipse">
            <a:avLst/>
          </a:prstGeom>
          <a:solidFill>
            <a:srgbClr val="2C3E8C"/>
          </a:solidFill>
          <a:ln w="12700">
            <a:solidFill>
              <a:srgbClr val="2C3E8C"/>
            </a:solidFill>
            <a:prstDash val="solid"/>
          </a:ln>
        </p:spPr>
      </p:sp>
      <p:sp>
        <p:nvSpPr>
          <p:cNvPr id="16" name="Text 14"/>
          <p:cNvSpPr/>
          <p:nvPr/>
        </p:nvSpPr>
        <p:spPr>
          <a:xfrm>
            <a:off x="2629814" y="896112"/>
            <a:ext cx="402336" cy="402336"/>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2</a:t>
            </a:r>
            <a:endParaRPr lang="en-US" sz="900" dirty="0"/>
          </a:p>
        </p:txBody>
      </p:sp>
      <p:sp>
        <p:nvSpPr>
          <p:cNvPr id="17" name="Text 15"/>
          <p:cNvSpPr/>
          <p:nvPr/>
        </p:nvSpPr>
        <p:spPr>
          <a:xfrm>
            <a:off x="2115922" y="1133856"/>
            <a:ext cx="1430122" cy="329184"/>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Alimentación de Datos</a:t>
            </a:r>
            <a:endParaRPr lang="en-US" sz="800" dirty="0"/>
          </a:p>
        </p:txBody>
      </p:sp>
      <p:sp>
        <p:nvSpPr>
          <p:cNvPr id="18" name="Text 16"/>
          <p:cNvSpPr/>
          <p:nvPr/>
        </p:nvSpPr>
        <p:spPr>
          <a:xfrm>
            <a:off x="2115922" y="1481328"/>
            <a:ext cx="1430122" cy="640080"/>
          </a:xfrm>
          <a:prstGeom prst="rect">
            <a:avLst/>
          </a:prstGeom>
          <a:noFill/>
          <a:ln/>
        </p:spPr>
        <p:txBody>
          <a:bodyPr wrap="square" rtlCol="0" anchor="ctr"/>
          <a:lstStyle/>
          <a:p>
            <a:pPr algn="ctr" indent="0" marL="0">
              <a:buNone/>
            </a:pPr>
            <a:r>
              <a:rPr lang="en-US" sz="700" dirty="0">
                <a:solidFill>
                  <a:srgbClr val="444444"/>
                </a:solidFill>
                <a:latin typeface="Atkinson Hyperlegible" pitchFamily="34" charset="0"/>
                <a:ea typeface="Atkinson Hyperlegible" pitchFamily="34" charset="-122"/>
                <a:cs typeface="Atkinson Hyperlegible" pitchFamily="34" charset="-120"/>
              </a:rPr>
              <a:t>IoT, sensores, mobile apps, drones</a:t>
            </a:r>
            <a:endParaRPr lang="en-US" sz="700" dirty="0"/>
          </a:p>
        </p:txBody>
      </p:sp>
      <p:sp>
        <p:nvSpPr>
          <p:cNvPr id="19" name="Shape 17"/>
          <p:cNvSpPr/>
          <p:nvPr/>
        </p:nvSpPr>
        <p:spPr>
          <a:xfrm>
            <a:off x="3610051" y="1517904"/>
            <a:ext cx="201168" cy="256032"/>
          </a:xfrm>
          <a:prstGeom prst="chevron">
            <a:avLst/>
          </a:prstGeom>
          <a:solidFill>
            <a:srgbClr val="2C3E8C"/>
          </a:solidFill>
          <a:ln w="12700">
            <a:solidFill>
              <a:srgbClr val="2C3E8C"/>
            </a:solidFill>
            <a:prstDash val="solid"/>
          </a:ln>
        </p:spPr>
      </p:sp>
      <p:sp>
        <p:nvSpPr>
          <p:cNvPr id="20" name="Shape 18"/>
          <p:cNvSpPr/>
          <p:nvPr/>
        </p:nvSpPr>
        <p:spPr>
          <a:xfrm>
            <a:off x="3802075" y="1097280"/>
            <a:ext cx="1539850" cy="1097280"/>
          </a:xfrm>
          <a:prstGeom prst="rect">
            <a:avLst>
              <a:gd name="adj" fmla="val 5000"/>
            </a:avLst>
          </a:prstGeom>
          <a:solidFill>
            <a:srgbClr val="2C3E8C"/>
          </a:solidFill>
          <a:ln w="12700">
            <a:solidFill>
              <a:srgbClr val="2C3E8C"/>
            </a:solidFill>
            <a:prstDash val="solid"/>
          </a:ln>
        </p:spPr>
      </p:sp>
      <p:sp>
        <p:nvSpPr>
          <p:cNvPr id="21" name="Shape 19"/>
          <p:cNvSpPr/>
          <p:nvPr/>
        </p:nvSpPr>
        <p:spPr>
          <a:xfrm>
            <a:off x="4370832" y="896112"/>
            <a:ext cx="402336" cy="402336"/>
          </a:xfrm>
          <a:prstGeom prst="ellipse">
            <a:avLst/>
          </a:prstGeom>
          <a:solidFill>
            <a:srgbClr val="FFFFFF"/>
          </a:solidFill>
          <a:ln w="12700">
            <a:solidFill>
              <a:srgbClr val="2C3E8C"/>
            </a:solidFill>
            <a:prstDash val="solid"/>
          </a:ln>
        </p:spPr>
      </p:sp>
      <p:sp>
        <p:nvSpPr>
          <p:cNvPr id="22" name="Text 20"/>
          <p:cNvSpPr/>
          <p:nvPr/>
        </p:nvSpPr>
        <p:spPr>
          <a:xfrm>
            <a:off x="4370832" y="896112"/>
            <a:ext cx="402336" cy="402336"/>
          </a:xfrm>
          <a:prstGeom prst="rect">
            <a:avLst/>
          </a:prstGeom>
          <a:noFill/>
          <a:ln/>
        </p:spPr>
        <p:txBody>
          <a:bodyPr wrap="square" rtlCol="0" anchor="ctr"/>
          <a:lstStyle/>
          <a:p>
            <a:pPr algn="ctr" indent="0" marL="0">
              <a:buNone/>
            </a:pPr>
            <a:r>
              <a:rPr lang="en-US" sz="900" b="1" dirty="0">
                <a:solidFill>
                  <a:srgbClr val="2C3E8C"/>
                </a:solidFill>
                <a:latin typeface="Atkinson Hyperlegible" pitchFamily="34" charset="0"/>
                <a:ea typeface="Atkinson Hyperlegible" pitchFamily="34" charset="-122"/>
                <a:cs typeface="Atkinson Hyperlegible" pitchFamily="34" charset="-120"/>
              </a:rPr>
              <a:t>3</a:t>
            </a:r>
            <a:endParaRPr lang="en-US" sz="900" dirty="0"/>
          </a:p>
        </p:txBody>
      </p:sp>
      <p:sp>
        <p:nvSpPr>
          <p:cNvPr id="23" name="Text 21"/>
          <p:cNvSpPr/>
          <p:nvPr/>
        </p:nvSpPr>
        <p:spPr>
          <a:xfrm>
            <a:off x="3856939" y="1133856"/>
            <a:ext cx="1430122" cy="329184"/>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Gemelo Digital</a:t>
            </a:r>
            <a:endParaRPr lang="en-US" sz="800" dirty="0"/>
          </a:p>
        </p:txBody>
      </p:sp>
      <p:sp>
        <p:nvSpPr>
          <p:cNvPr id="24" name="Text 22"/>
          <p:cNvSpPr/>
          <p:nvPr/>
        </p:nvSpPr>
        <p:spPr>
          <a:xfrm>
            <a:off x="3856939" y="1481328"/>
            <a:ext cx="1430122" cy="640080"/>
          </a:xfrm>
          <a:prstGeom prst="rect">
            <a:avLst/>
          </a:prstGeom>
          <a:noFill/>
          <a:ln/>
        </p:spPr>
        <p:txBody>
          <a:bodyPr wrap="square" rtlCol="0" anchor="ctr"/>
          <a:lstStyle/>
          <a:p>
            <a:pPr algn="ct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Réplica virtual sincronizada en tiempo real</a:t>
            </a:r>
            <a:endParaRPr lang="en-US" sz="700" dirty="0"/>
          </a:p>
        </p:txBody>
      </p:sp>
      <p:sp>
        <p:nvSpPr>
          <p:cNvPr id="25" name="Shape 23"/>
          <p:cNvSpPr/>
          <p:nvPr/>
        </p:nvSpPr>
        <p:spPr>
          <a:xfrm>
            <a:off x="5351069" y="1517904"/>
            <a:ext cx="201168" cy="256032"/>
          </a:xfrm>
          <a:prstGeom prst="chevron">
            <a:avLst/>
          </a:prstGeom>
          <a:solidFill>
            <a:srgbClr val="2C3E8C"/>
          </a:solidFill>
          <a:ln w="12700">
            <a:solidFill>
              <a:srgbClr val="2C3E8C"/>
            </a:solidFill>
            <a:prstDash val="solid"/>
          </a:ln>
        </p:spPr>
      </p:sp>
      <p:sp>
        <p:nvSpPr>
          <p:cNvPr id="26" name="Shape 24"/>
          <p:cNvSpPr/>
          <p:nvPr/>
        </p:nvSpPr>
        <p:spPr>
          <a:xfrm>
            <a:off x="5543093" y="1097280"/>
            <a:ext cx="1539850" cy="1097280"/>
          </a:xfrm>
          <a:prstGeom prst="rect">
            <a:avLst>
              <a:gd name="adj" fmla="val 5000"/>
            </a:avLst>
          </a:prstGeom>
          <a:solidFill>
            <a:srgbClr val="FFFFFF"/>
          </a:solidFill>
          <a:ln w="12700">
            <a:solidFill>
              <a:srgbClr val="2C3E8C"/>
            </a:solidFill>
            <a:prstDash val="solid"/>
          </a:ln>
        </p:spPr>
      </p:sp>
      <p:sp>
        <p:nvSpPr>
          <p:cNvPr id="27" name="Shape 25"/>
          <p:cNvSpPr/>
          <p:nvPr/>
        </p:nvSpPr>
        <p:spPr>
          <a:xfrm>
            <a:off x="6111850" y="896112"/>
            <a:ext cx="402336" cy="402336"/>
          </a:xfrm>
          <a:prstGeom prst="ellipse">
            <a:avLst/>
          </a:prstGeom>
          <a:solidFill>
            <a:srgbClr val="2C3E8C"/>
          </a:solidFill>
          <a:ln w="12700">
            <a:solidFill>
              <a:srgbClr val="2C3E8C"/>
            </a:solidFill>
            <a:prstDash val="solid"/>
          </a:ln>
        </p:spPr>
      </p:sp>
      <p:sp>
        <p:nvSpPr>
          <p:cNvPr id="28" name="Text 26"/>
          <p:cNvSpPr/>
          <p:nvPr/>
        </p:nvSpPr>
        <p:spPr>
          <a:xfrm>
            <a:off x="6111850" y="896112"/>
            <a:ext cx="402336" cy="402336"/>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4</a:t>
            </a:r>
            <a:endParaRPr lang="en-US" sz="900" dirty="0"/>
          </a:p>
        </p:txBody>
      </p:sp>
      <p:sp>
        <p:nvSpPr>
          <p:cNvPr id="29" name="Text 27"/>
          <p:cNvSpPr/>
          <p:nvPr/>
        </p:nvSpPr>
        <p:spPr>
          <a:xfrm>
            <a:off x="5597957" y="1133856"/>
            <a:ext cx="1430122" cy="329184"/>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Analítica Predictiva</a:t>
            </a:r>
            <a:endParaRPr lang="en-US" sz="800" dirty="0"/>
          </a:p>
        </p:txBody>
      </p:sp>
      <p:sp>
        <p:nvSpPr>
          <p:cNvPr id="30" name="Text 28"/>
          <p:cNvSpPr/>
          <p:nvPr/>
        </p:nvSpPr>
        <p:spPr>
          <a:xfrm>
            <a:off x="5597957" y="1481328"/>
            <a:ext cx="1430122" cy="640080"/>
          </a:xfrm>
          <a:prstGeom prst="rect">
            <a:avLst/>
          </a:prstGeom>
          <a:noFill/>
          <a:ln/>
        </p:spPr>
        <p:txBody>
          <a:bodyPr wrap="square" rtlCol="0" anchor="ctr"/>
          <a:lstStyle/>
          <a:p>
            <a:pPr algn="ctr" indent="0" marL="0">
              <a:buNone/>
            </a:pPr>
            <a:r>
              <a:rPr lang="en-US" sz="700" dirty="0">
                <a:solidFill>
                  <a:srgbClr val="444444"/>
                </a:solidFill>
                <a:latin typeface="Atkinson Hyperlegible" pitchFamily="34" charset="0"/>
                <a:ea typeface="Atkinson Hyperlegible" pitchFamily="34" charset="-122"/>
                <a:cs typeface="Atkinson Hyperlegible" pitchFamily="34" charset="-120"/>
              </a:rPr>
              <a:t>Identificación de desvíos y alertas tempranas</a:t>
            </a:r>
            <a:endParaRPr lang="en-US" sz="700" dirty="0"/>
          </a:p>
        </p:txBody>
      </p:sp>
      <p:sp>
        <p:nvSpPr>
          <p:cNvPr id="31" name="Shape 29"/>
          <p:cNvSpPr/>
          <p:nvPr/>
        </p:nvSpPr>
        <p:spPr>
          <a:xfrm>
            <a:off x="7092086" y="1517904"/>
            <a:ext cx="201168" cy="256032"/>
          </a:xfrm>
          <a:prstGeom prst="chevron">
            <a:avLst/>
          </a:prstGeom>
          <a:solidFill>
            <a:srgbClr val="2C3E8C"/>
          </a:solidFill>
          <a:ln w="12700">
            <a:solidFill>
              <a:srgbClr val="2C3E8C"/>
            </a:solidFill>
            <a:prstDash val="solid"/>
          </a:ln>
        </p:spPr>
      </p:sp>
      <p:sp>
        <p:nvSpPr>
          <p:cNvPr id="32" name="Shape 30"/>
          <p:cNvSpPr/>
          <p:nvPr/>
        </p:nvSpPr>
        <p:spPr>
          <a:xfrm>
            <a:off x="7284110" y="1097280"/>
            <a:ext cx="1539850" cy="1097280"/>
          </a:xfrm>
          <a:prstGeom prst="rect">
            <a:avLst>
              <a:gd name="adj" fmla="val 5000"/>
            </a:avLst>
          </a:prstGeom>
          <a:solidFill>
            <a:srgbClr val="2C3E8C"/>
          </a:solidFill>
          <a:ln w="12700">
            <a:solidFill>
              <a:srgbClr val="2C3E8C"/>
            </a:solidFill>
            <a:prstDash val="solid"/>
          </a:ln>
        </p:spPr>
      </p:sp>
      <p:sp>
        <p:nvSpPr>
          <p:cNvPr id="33" name="Shape 31"/>
          <p:cNvSpPr/>
          <p:nvPr/>
        </p:nvSpPr>
        <p:spPr>
          <a:xfrm>
            <a:off x="7852867" y="896112"/>
            <a:ext cx="402336" cy="402336"/>
          </a:xfrm>
          <a:prstGeom prst="ellipse">
            <a:avLst/>
          </a:prstGeom>
          <a:solidFill>
            <a:srgbClr val="FFFFFF"/>
          </a:solidFill>
          <a:ln w="12700">
            <a:solidFill>
              <a:srgbClr val="2C3E8C"/>
            </a:solidFill>
            <a:prstDash val="solid"/>
          </a:ln>
        </p:spPr>
      </p:sp>
      <p:sp>
        <p:nvSpPr>
          <p:cNvPr id="34" name="Text 32"/>
          <p:cNvSpPr/>
          <p:nvPr/>
        </p:nvSpPr>
        <p:spPr>
          <a:xfrm>
            <a:off x="7852867" y="896112"/>
            <a:ext cx="402336" cy="402336"/>
          </a:xfrm>
          <a:prstGeom prst="rect">
            <a:avLst/>
          </a:prstGeom>
          <a:noFill/>
          <a:ln/>
        </p:spPr>
        <p:txBody>
          <a:bodyPr wrap="square" rtlCol="0" anchor="ctr"/>
          <a:lstStyle/>
          <a:p>
            <a:pPr algn="ctr" indent="0" marL="0">
              <a:buNone/>
            </a:pPr>
            <a:r>
              <a:rPr lang="en-US" sz="900" b="1" dirty="0">
                <a:solidFill>
                  <a:srgbClr val="2C3E8C"/>
                </a:solidFill>
                <a:latin typeface="Atkinson Hyperlegible" pitchFamily="34" charset="0"/>
                <a:ea typeface="Atkinson Hyperlegible" pitchFamily="34" charset="-122"/>
                <a:cs typeface="Atkinson Hyperlegible" pitchFamily="34" charset="-120"/>
              </a:rPr>
              <a:t>5</a:t>
            </a:r>
            <a:endParaRPr lang="en-US" sz="900" dirty="0"/>
          </a:p>
        </p:txBody>
      </p:sp>
      <p:sp>
        <p:nvSpPr>
          <p:cNvPr id="35" name="Text 33"/>
          <p:cNvSpPr/>
          <p:nvPr/>
        </p:nvSpPr>
        <p:spPr>
          <a:xfrm>
            <a:off x="7338974" y="1133856"/>
            <a:ext cx="1430122" cy="329184"/>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Decisiones Accionables</a:t>
            </a:r>
            <a:endParaRPr lang="en-US" sz="800" dirty="0"/>
          </a:p>
        </p:txBody>
      </p:sp>
      <p:sp>
        <p:nvSpPr>
          <p:cNvPr id="36" name="Text 34"/>
          <p:cNvSpPr/>
          <p:nvPr/>
        </p:nvSpPr>
        <p:spPr>
          <a:xfrm>
            <a:off x="7338974" y="1481328"/>
            <a:ext cx="1430122" cy="640080"/>
          </a:xfrm>
          <a:prstGeom prst="rect">
            <a:avLst/>
          </a:prstGeom>
          <a:noFill/>
          <a:ln/>
        </p:spPr>
        <p:txBody>
          <a:bodyPr wrap="square" rtlCol="0" anchor="ctr"/>
          <a:lstStyle/>
          <a:p>
            <a:pPr algn="ct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Reprogramación, reabastecimiento, rediseño</a:t>
            </a:r>
            <a:endParaRPr lang="en-US" sz="700" dirty="0"/>
          </a:p>
        </p:txBody>
      </p:sp>
      <p:sp>
        <p:nvSpPr>
          <p:cNvPr id="37" name="Shape 35"/>
          <p:cNvSpPr/>
          <p:nvPr/>
        </p:nvSpPr>
        <p:spPr>
          <a:xfrm>
            <a:off x="320040" y="2487168"/>
            <a:ext cx="4023360" cy="1115568"/>
          </a:xfrm>
          <a:prstGeom prst="rect">
            <a:avLst>
              <a:gd name="adj" fmla="val 4918"/>
            </a:avLst>
          </a:prstGeom>
          <a:solidFill>
            <a:srgbClr val="FFFFFF"/>
          </a:solidFill>
          <a:ln w="6350">
            <a:solidFill>
              <a:srgbClr val="E5E5EA"/>
            </a:solidFill>
            <a:prstDash val="solid"/>
          </a:ln>
        </p:spPr>
      </p:sp>
      <p:pic>
        <p:nvPicPr>
          <p:cNvPr id="3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38912" y="2578608"/>
            <a:ext cx="329184" cy="329184"/>
          </a:xfrm>
          <a:prstGeom prst="rect">
            <a:avLst/>
          </a:prstGeom>
        </p:spPr>
      </p:pic>
      <p:sp>
        <p:nvSpPr>
          <p:cNvPr id="39" name="Text 36"/>
          <p:cNvSpPr/>
          <p:nvPr/>
        </p:nvSpPr>
        <p:spPr>
          <a:xfrm>
            <a:off x="795528" y="255117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Visibilidad 360°</a:t>
            </a:r>
            <a:endParaRPr lang="en-US" sz="900" dirty="0"/>
          </a:p>
        </p:txBody>
      </p:sp>
      <p:sp>
        <p:nvSpPr>
          <p:cNvPr id="40" name="Text 37"/>
          <p:cNvSpPr/>
          <p:nvPr/>
        </p:nvSpPr>
        <p:spPr>
          <a:xfrm>
            <a:off x="795528" y="2779776"/>
            <a:ext cx="3429000" cy="749808"/>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Estado real de materiales, equipos y mano de obra</a:t>
            </a:r>
            <a:endParaRPr lang="en-US" sz="750" dirty="0"/>
          </a:p>
        </p:txBody>
      </p:sp>
      <p:sp>
        <p:nvSpPr>
          <p:cNvPr id="41" name="Shape 38"/>
          <p:cNvSpPr/>
          <p:nvPr/>
        </p:nvSpPr>
        <p:spPr>
          <a:xfrm>
            <a:off x="4663440" y="2487168"/>
            <a:ext cx="4023360" cy="1115568"/>
          </a:xfrm>
          <a:prstGeom prst="rect">
            <a:avLst>
              <a:gd name="adj" fmla="val 4918"/>
            </a:avLst>
          </a:prstGeom>
          <a:solidFill>
            <a:srgbClr val="FFFFFF"/>
          </a:solidFill>
          <a:ln w="6350">
            <a:solidFill>
              <a:srgbClr val="E5E5EA"/>
            </a:solidFill>
            <a:prstDash val="solid"/>
          </a:ln>
        </p:spPr>
      </p:sp>
      <p:pic>
        <p:nvPicPr>
          <p:cNvPr id="4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82312" y="2578608"/>
            <a:ext cx="329184" cy="329184"/>
          </a:xfrm>
          <a:prstGeom prst="rect">
            <a:avLst/>
          </a:prstGeom>
        </p:spPr>
      </p:pic>
      <p:sp>
        <p:nvSpPr>
          <p:cNvPr id="43" name="Text 39"/>
          <p:cNvSpPr/>
          <p:nvPr/>
        </p:nvSpPr>
        <p:spPr>
          <a:xfrm>
            <a:off x="5138928" y="255117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Simulación de Escenarios</a:t>
            </a:r>
            <a:endParaRPr lang="en-US" sz="900" dirty="0"/>
          </a:p>
        </p:txBody>
      </p:sp>
      <p:sp>
        <p:nvSpPr>
          <p:cNvPr id="44" name="Text 40"/>
          <p:cNvSpPr/>
          <p:nvPr/>
        </p:nvSpPr>
        <p:spPr>
          <a:xfrm>
            <a:off x="5138928" y="2779776"/>
            <a:ext cx="3429000" cy="749808"/>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Evalúa impacto de cambios antes de implementar</a:t>
            </a:r>
            <a:endParaRPr lang="en-US" sz="750" dirty="0"/>
          </a:p>
        </p:txBody>
      </p:sp>
      <p:sp>
        <p:nvSpPr>
          <p:cNvPr id="45" name="Shape 41"/>
          <p:cNvSpPr/>
          <p:nvPr/>
        </p:nvSpPr>
        <p:spPr>
          <a:xfrm>
            <a:off x="320040" y="3749040"/>
            <a:ext cx="4023360" cy="1115568"/>
          </a:xfrm>
          <a:prstGeom prst="rect">
            <a:avLst>
              <a:gd name="adj" fmla="val 4918"/>
            </a:avLst>
          </a:prstGeom>
          <a:solidFill>
            <a:srgbClr val="FFFFFF"/>
          </a:solidFill>
          <a:ln w="6350">
            <a:solidFill>
              <a:srgbClr val="E5E5EA"/>
            </a:solidFill>
            <a:prstDash val="solid"/>
          </a:ln>
        </p:spPr>
      </p:sp>
      <p:pic>
        <p:nvPicPr>
          <p:cNvPr id="4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8912" y="3840480"/>
            <a:ext cx="329184" cy="329184"/>
          </a:xfrm>
          <a:prstGeom prst="rect">
            <a:avLst/>
          </a:prstGeom>
        </p:spPr>
      </p:pic>
      <p:sp>
        <p:nvSpPr>
          <p:cNvPr id="47" name="Text 42"/>
          <p:cNvSpPr/>
          <p:nvPr/>
        </p:nvSpPr>
        <p:spPr>
          <a:xfrm>
            <a:off x="795528" y="3813048"/>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Trazabilidad Total</a:t>
            </a:r>
            <a:endParaRPr lang="en-US" sz="900" dirty="0"/>
          </a:p>
        </p:txBody>
      </p:sp>
      <p:sp>
        <p:nvSpPr>
          <p:cNvPr id="48" name="Text 43"/>
          <p:cNvSpPr/>
          <p:nvPr/>
        </p:nvSpPr>
        <p:spPr>
          <a:xfrm>
            <a:off x="795528" y="4041648"/>
            <a:ext cx="3429000" cy="749808"/>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Historial completo de decisiones y modificaciones</a:t>
            </a:r>
            <a:endParaRPr lang="en-US" sz="750" dirty="0"/>
          </a:p>
        </p:txBody>
      </p:sp>
      <p:sp>
        <p:nvSpPr>
          <p:cNvPr id="49" name="Shape 44"/>
          <p:cNvSpPr/>
          <p:nvPr/>
        </p:nvSpPr>
        <p:spPr>
          <a:xfrm>
            <a:off x="4663440" y="3749040"/>
            <a:ext cx="4023360" cy="1115568"/>
          </a:xfrm>
          <a:prstGeom prst="rect">
            <a:avLst>
              <a:gd name="adj" fmla="val 4918"/>
            </a:avLst>
          </a:prstGeom>
          <a:solidFill>
            <a:srgbClr val="FFFFFF"/>
          </a:solidFill>
          <a:ln w="6350">
            <a:solidFill>
              <a:srgbClr val="E5E5EA"/>
            </a:solidFill>
            <a:prstDash val="solid"/>
          </a:ln>
        </p:spPr>
      </p:sp>
      <p:pic>
        <p:nvPicPr>
          <p:cNvPr id="5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82312" y="3840480"/>
            <a:ext cx="329184" cy="329184"/>
          </a:xfrm>
          <a:prstGeom prst="rect">
            <a:avLst/>
          </a:prstGeom>
        </p:spPr>
      </p:pic>
      <p:sp>
        <p:nvSpPr>
          <p:cNvPr id="51" name="Text 45"/>
          <p:cNvSpPr/>
          <p:nvPr/>
        </p:nvSpPr>
        <p:spPr>
          <a:xfrm>
            <a:off x="5138928" y="3813048"/>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O&amp;M Desde Construcción</a:t>
            </a:r>
            <a:endParaRPr lang="en-US" sz="900" dirty="0"/>
          </a:p>
        </p:txBody>
      </p:sp>
      <p:sp>
        <p:nvSpPr>
          <p:cNvPr id="52" name="Text 46"/>
          <p:cNvSpPr/>
          <p:nvPr/>
        </p:nvSpPr>
        <p:spPr>
          <a:xfrm>
            <a:off x="5138928" y="4041648"/>
            <a:ext cx="3429000" cy="749808"/>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Datos integrados para mantenimiento predictivo</a:t>
            </a:r>
            <a:endParaRPr lang="en-US" sz="7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C3E8C"/>
          </a:solidFill>
          <a:ln w="12700">
            <a:solidFill>
              <a:srgbClr val="2C3E8C"/>
            </a:solidFill>
            <a:prstDash val="solid"/>
          </a:ln>
        </p:spPr>
      </p:sp>
      <p:sp>
        <p:nvSpPr>
          <p:cNvPr id="3" name="Shape 1"/>
          <p:cNvSpPr/>
          <p:nvPr/>
        </p:nvSpPr>
        <p:spPr>
          <a:xfrm>
            <a:off x="164592" y="4956048"/>
            <a:ext cx="8979408" cy="182880"/>
          </a:xfrm>
          <a:prstGeom prst="rect">
            <a:avLst/>
          </a:prstGeom>
          <a:solidFill>
            <a:srgbClr val="2C3E8C"/>
          </a:solidFill>
          <a:ln w="12700">
            <a:solidFill>
              <a:srgbClr val="2C3E8C"/>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73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Hoja de Ruta de Herramientas Digitales</a:t>
            </a:r>
            <a:endParaRPr lang="en-US" sz="1800" dirty="0"/>
          </a:p>
        </p:txBody>
      </p:sp>
      <p:sp>
        <p:nvSpPr>
          <p:cNvPr id="6" name="Shape 4"/>
          <p:cNvSpPr/>
          <p:nvPr/>
        </p:nvSpPr>
        <p:spPr>
          <a:xfrm>
            <a:off x="320040" y="621792"/>
            <a:ext cx="8503920" cy="41148"/>
          </a:xfrm>
          <a:prstGeom prst="rect">
            <a:avLst/>
          </a:prstGeom>
          <a:solidFill>
            <a:srgbClr val="2C3E8C"/>
          </a:solidFill>
          <a:ln w="12700">
            <a:solidFill>
              <a:srgbClr val="2C3E8C"/>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2C3E8C"/>
                </a:solidFill>
                <a:latin typeface="Atkinson Hyperlegible" pitchFamily="34" charset="0"/>
                <a:ea typeface="Atkinson Hyperlegible" pitchFamily="34" charset="-122"/>
                <a:cs typeface="Atkinson Hyperlegible" pitchFamily="34" charset="-120"/>
              </a:rPr>
              <a:t>Secuencia de adopción tecnológica para constructabilidad avanzada</a:t>
            </a:r>
            <a:endParaRPr lang="en-US" sz="900" dirty="0"/>
          </a:p>
        </p:txBody>
      </p:sp>
      <p:sp>
        <p:nvSpPr>
          <p:cNvPr id="8" name="Shape 6"/>
          <p:cNvSpPr/>
          <p:nvPr/>
        </p:nvSpPr>
        <p:spPr>
          <a:xfrm>
            <a:off x="3566160" y="960120"/>
            <a:ext cx="2011680" cy="530352"/>
          </a:xfrm>
          <a:prstGeom prst="rect">
            <a:avLst>
              <a:gd name="adj" fmla="val 10345"/>
            </a:avLst>
          </a:prstGeom>
          <a:solidFill>
            <a:srgbClr val="2C3E8C"/>
          </a:solidFill>
          <a:ln w="12700">
            <a:solidFill>
              <a:srgbClr val="2C3E8C"/>
            </a:solidFill>
            <a:prstDash val="solid"/>
          </a:ln>
        </p:spPr>
      </p:sp>
      <p:sp>
        <p:nvSpPr>
          <p:cNvPr id="9" name="Text 7"/>
          <p:cNvSpPr/>
          <p:nvPr/>
        </p:nvSpPr>
        <p:spPr>
          <a:xfrm>
            <a:off x="3566160" y="960120"/>
            <a:ext cx="2011680" cy="530352"/>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Estrategia Digital AWP</a:t>
            </a:r>
            <a:endParaRPr lang="en-US" sz="900" dirty="0"/>
          </a:p>
        </p:txBody>
      </p:sp>
      <p:sp>
        <p:nvSpPr>
          <p:cNvPr id="10" name="Shape 8"/>
          <p:cNvSpPr/>
          <p:nvPr/>
        </p:nvSpPr>
        <p:spPr>
          <a:xfrm>
            <a:off x="4562856" y="1490472"/>
            <a:ext cx="18288" cy="320040"/>
          </a:xfrm>
          <a:prstGeom prst="line">
            <a:avLst/>
          </a:prstGeom>
          <a:noFill/>
          <a:ln w="19050">
            <a:solidFill>
              <a:srgbClr val="2C3E8C"/>
            </a:solidFill>
            <a:prstDash val="solid"/>
          </a:ln>
        </p:spPr>
      </p:sp>
      <p:sp>
        <p:nvSpPr>
          <p:cNvPr id="11" name="Shape 9"/>
          <p:cNvSpPr/>
          <p:nvPr/>
        </p:nvSpPr>
        <p:spPr>
          <a:xfrm>
            <a:off x="2240280" y="1801368"/>
            <a:ext cx="4663440" cy="18288"/>
          </a:xfrm>
          <a:prstGeom prst="line">
            <a:avLst/>
          </a:prstGeom>
          <a:noFill/>
          <a:ln w="15240">
            <a:solidFill>
              <a:srgbClr val="2C3E8C"/>
            </a:solidFill>
            <a:prstDash val="solid"/>
          </a:ln>
        </p:spPr>
      </p:sp>
      <p:sp>
        <p:nvSpPr>
          <p:cNvPr id="12" name="Shape 10"/>
          <p:cNvSpPr/>
          <p:nvPr/>
        </p:nvSpPr>
        <p:spPr>
          <a:xfrm>
            <a:off x="2231136" y="1801368"/>
            <a:ext cx="18288" cy="256032"/>
          </a:xfrm>
          <a:prstGeom prst="line">
            <a:avLst/>
          </a:prstGeom>
          <a:noFill/>
          <a:ln w="15240">
            <a:solidFill>
              <a:srgbClr val="2C3E8C"/>
            </a:solidFill>
            <a:prstDash val="solid"/>
          </a:ln>
        </p:spPr>
      </p:sp>
      <p:sp>
        <p:nvSpPr>
          <p:cNvPr id="13" name="Shape 11"/>
          <p:cNvSpPr/>
          <p:nvPr/>
        </p:nvSpPr>
        <p:spPr>
          <a:xfrm>
            <a:off x="1554480" y="2066544"/>
            <a:ext cx="1371600" cy="512064"/>
          </a:xfrm>
          <a:prstGeom prst="roundRect">
            <a:avLst>
              <a:gd name="adj" fmla="val 8929"/>
            </a:avLst>
          </a:prstGeom>
          <a:solidFill>
            <a:srgbClr val="FFFFFF"/>
          </a:solidFill>
          <a:ln w="12700">
            <a:solidFill>
              <a:srgbClr val="2C3E8C"/>
            </a:solidFill>
            <a:prstDash val="solid"/>
          </a:ln>
        </p:spPr>
      </p:sp>
      <p:sp>
        <p:nvSpPr>
          <p:cNvPr id="14" name="Text 12"/>
          <p:cNvSpPr/>
          <p:nvPr/>
        </p:nvSpPr>
        <p:spPr>
          <a:xfrm>
            <a:off x="1554480" y="2066544"/>
            <a:ext cx="1371600" cy="512064"/>
          </a:xfrm>
          <a:prstGeom prst="rect">
            <a:avLst/>
          </a:prstGeom>
          <a:noFill/>
          <a:ln/>
        </p:spPr>
        <p:txBody>
          <a:bodyPr wrap="square" rtlCol="0" anchor="ctr"/>
          <a:lstStyle/>
          <a:p>
            <a:pPr algn="ct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BIM / CDE</a:t>
            </a:r>
            <a:endParaRPr lang="en-US" sz="750" dirty="0"/>
          </a:p>
        </p:txBody>
      </p:sp>
      <p:sp>
        <p:nvSpPr>
          <p:cNvPr id="15" name="Shape 13"/>
          <p:cNvSpPr/>
          <p:nvPr/>
        </p:nvSpPr>
        <p:spPr>
          <a:xfrm>
            <a:off x="3785616" y="1801368"/>
            <a:ext cx="18288" cy="256032"/>
          </a:xfrm>
          <a:prstGeom prst="line">
            <a:avLst/>
          </a:prstGeom>
          <a:noFill/>
          <a:ln w="15240">
            <a:solidFill>
              <a:srgbClr val="2C3E8C"/>
            </a:solidFill>
            <a:prstDash val="solid"/>
          </a:ln>
        </p:spPr>
      </p:sp>
      <p:sp>
        <p:nvSpPr>
          <p:cNvPr id="16" name="Shape 14"/>
          <p:cNvSpPr/>
          <p:nvPr/>
        </p:nvSpPr>
        <p:spPr>
          <a:xfrm>
            <a:off x="3108960" y="2066544"/>
            <a:ext cx="1371600" cy="512064"/>
          </a:xfrm>
          <a:prstGeom prst="roundRect">
            <a:avLst>
              <a:gd name="adj" fmla="val 8929"/>
            </a:avLst>
          </a:prstGeom>
          <a:solidFill>
            <a:srgbClr val="FFFFFF"/>
          </a:solidFill>
          <a:ln w="12700">
            <a:solidFill>
              <a:srgbClr val="2C3E8C"/>
            </a:solidFill>
            <a:prstDash val="solid"/>
          </a:ln>
        </p:spPr>
      </p:sp>
      <p:sp>
        <p:nvSpPr>
          <p:cNvPr id="17" name="Text 15"/>
          <p:cNvSpPr/>
          <p:nvPr/>
        </p:nvSpPr>
        <p:spPr>
          <a:xfrm>
            <a:off x="3108960" y="2066544"/>
            <a:ext cx="1371600" cy="512064"/>
          </a:xfrm>
          <a:prstGeom prst="rect">
            <a:avLst/>
          </a:prstGeom>
          <a:noFill/>
          <a:ln/>
        </p:spPr>
        <p:txBody>
          <a:bodyPr wrap="square" rtlCol="0" anchor="ctr"/>
          <a:lstStyle/>
          <a:p>
            <a:pPr algn="ct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Plataforma AWP</a:t>
            </a:r>
            <a:endParaRPr lang="en-US" sz="750" dirty="0"/>
          </a:p>
        </p:txBody>
      </p:sp>
      <p:sp>
        <p:nvSpPr>
          <p:cNvPr id="18" name="Shape 16"/>
          <p:cNvSpPr/>
          <p:nvPr/>
        </p:nvSpPr>
        <p:spPr>
          <a:xfrm>
            <a:off x="5340096" y="1801368"/>
            <a:ext cx="18288" cy="256032"/>
          </a:xfrm>
          <a:prstGeom prst="line">
            <a:avLst/>
          </a:prstGeom>
          <a:noFill/>
          <a:ln w="15240">
            <a:solidFill>
              <a:srgbClr val="2C3E8C"/>
            </a:solidFill>
            <a:prstDash val="solid"/>
          </a:ln>
        </p:spPr>
      </p:sp>
      <p:sp>
        <p:nvSpPr>
          <p:cNvPr id="19" name="Shape 17"/>
          <p:cNvSpPr/>
          <p:nvPr/>
        </p:nvSpPr>
        <p:spPr>
          <a:xfrm>
            <a:off x="4663440" y="2066544"/>
            <a:ext cx="1371600" cy="512064"/>
          </a:xfrm>
          <a:prstGeom prst="roundRect">
            <a:avLst>
              <a:gd name="adj" fmla="val 8929"/>
            </a:avLst>
          </a:prstGeom>
          <a:solidFill>
            <a:srgbClr val="FFFFFF"/>
          </a:solidFill>
          <a:ln w="12700">
            <a:solidFill>
              <a:srgbClr val="2C3E8C"/>
            </a:solidFill>
            <a:prstDash val="solid"/>
          </a:ln>
        </p:spPr>
      </p:sp>
      <p:sp>
        <p:nvSpPr>
          <p:cNvPr id="20" name="Text 18"/>
          <p:cNvSpPr/>
          <p:nvPr/>
        </p:nvSpPr>
        <p:spPr>
          <a:xfrm>
            <a:off x="4663440" y="2066544"/>
            <a:ext cx="1371600" cy="512064"/>
          </a:xfrm>
          <a:prstGeom prst="rect">
            <a:avLst/>
          </a:prstGeom>
          <a:noFill/>
          <a:ln/>
        </p:spPr>
        <p:txBody>
          <a:bodyPr wrap="square" rtlCol="0" anchor="ctr"/>
          <a:lstStyle/>
          <a:p>
            <a:pPr algn="ct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Field Apps</a:t>
            </a:r>
            <a:endParaRPr lang="en-US" sz="750" dirty="0"/>
          </a:p>
        </p:txBody>
      </p:sp>
      <p:sp>
        <p:nvSpPr>
          <p:cNvPr id="21" name="Shape 19"/>
          <p:cNvSpPr/>
          <p:nvPr/>
        </p:nvSpPr>
        <p:spPr>
          <a:xfrm>
            <a:off x="6894576" y="1801368"/>
            <a:ext cx="18288" cy="256032"/>
          </a:xfrm>
          <a:prstGeom prst="line">
            <a:avLst/>
          </a:prstGeom>
          <a:noFill/>
          <a:ln w="15240">
            <a:solidFill>
              <a:srgbClr val="2C3E8C"/>
            </a:solidFill>
            <a:prstDash val="solid"/>
          </a:ln>
        </p:spPr>
      </p:sp>
      <p:sp>
        <p:nvSpPr>
          <p:cNvPr id="22" name="Shape 20"/>
          <p:cNvSpPr/>
          <p:nvPr/>
        </p:nvSpPr>
        <p:spPr>
          <a:xfrm>
            <a:off x="6217920" y="2066544"/>
            <a:ext cx="1371600" cy="512064"/>
          </a:xfrm>
          <a:prstGeom prst="roundRect">
            <a:avLst>
              <a:gd name="adj" fmla="val 8929"/>
            </a:avLst>
          </a:prstGeom>
          <a:solidFill>
            <a:srgbClr val="FFFFFF"/>
          </a:solidFill>
          <a:ln w="12700">
            <a:solidFill>
              <a:srgbClr val="2C3E8C"/>
            </a:solidFill>
            <a:prstDash val="solid"/>
          </a:ln>
        </p:spPr>
      </p:sp>
      <p:sp>
        <p:nvSpPr>
          <p:cNvPr id="23" name="Text 21"/>
          <p:cNvSpPr/>
          <p:nvPr/>
        </p:nvSpPr>
        <p:spPr>
          <a:xfrm>
            <a:off x="6217920" y="2066544"/>
            <a:ext cx="1371600" cy="512064"/>
          </a:xfrm>
          <a:prstGeom prst="rect">
            <a:avLst/>
          </a:prstGeom>
          <a:noFill/>
          <a:ln/>
        </p:spPr>
        <p:txBody>
          <a:bodyPr wrap="square" rtlCol="0" anchor="ctr"/>
          <a:lstStyle/>
          <a:p>
            <a:pPr algn="ct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Analytics</a:t>
            </a:r>
            <a:endParaRPr lang="en-US" sz="750" dirty="0"/>
          </a:p>
        </p:txBody>
      </p:sp>
      <p:sp>
        <p:nvSpPr>
          <p:cNvPr id="24" name="Shape 22"/>
          <p:cNvSpPr/>
          <p:nvPr/>
        </p:nvSpPr>
        <p:spPr>
          <a:xfrm>
            <a:off x="320040" y="3246120"/>
            <a:ext cx="8503920" cy="1664208"/>
          </a:xfrm>
          <a:prstGeom prst="rect">
            <a:avLst>
              <a:gd name="adj" fmla="val 3297"/>
            </a:avLst>
          </a:prstGeom>
          <a:solidFill>
            <a:srgbClr val="F5F5FF"/>
          </a:solidFill>
          <a:ln w="10160">
            <a:solidFill>
              <a:srgbClr val="2C3E8C"/>
            </a:solidFill>
            <a:prstDash val="solid"/>
          </a:ln>
        </p:spPr>
      </p:sp>
      <p:sp>
        <p:nvSpPr>
          <p:cNvPr id="25" name="Text 23"/>
          <p:cNvSpPr/>
          <p:nvPr/>
        </p:nvSpPr>
        <p:spPr>
          <a:xfrm>
            <a:off x="457200" y="3310128"/>
            <a:ext cx="8229600" cy="256032"/>
          </a:xfrm>
          <a:prstGeom prst="rect">
            <a:avLst/>
          </a:prstGeom>
          <a:noFill/>
          <a:ln/>
        </p:spPr>
        <p:txBody>
          <a:bodyPr wrap="square" rtlCol="0" anchor="ctr"/>
          <a:lstStyle/>
          <a:p>
            <a:pPr indent="0" marL="0">
              <a:buNone/>
            </a:pPr>
            <a:r>
              <a:rPr lang="en-US" sz="950" b="1" dirty="0">
                <a:solidFill>
                  <a:srgbClr val="2C3E8C"/>
                </a:solidFill>
                <a:latin typeface="Atkinson Hyperlegible" pitchFamily="34" charset="0"/>
                <a:ea typeface="Atkinson Hyperlegible" pitchFamily="34" charset="-122"/>
                <a:cs typeface="Atkinson Hyperlegible" pitchFamily="34" charset="-120"/>
              </a:rPr>
              <a:t>Consideraciones de Implementación</a:t>
            </a:r>
            <a:endParaRPr lang="en-US" sz="950" dirty="0"/>
          </a:p>
        </p:txBody>
      </p:sp>
      <p:sp>
        <p:nvSpPr>
          <p:cNvPr id="26" name="Text 24"/>
          <p:cNvSpPr/>
          <p:nvPr/>
        </p:nvSpPr>
        <p:spPr>
          <a:xfrm>
            <a:off x="457200" y="3621024"/>
            <a:ext cx="8229600" cy="274320"/>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 Inicio con BIM + CDE: fundamento de datos para todas las capas superiores</a:t>
            </a:r>
            <a:endParaRPr lang="en-US" sz="800" dirty="0"/>
          </a:p>
        </p:txBody>
      </p:sp>
      <p:sp>
        <p:nvSpPr>
          <p:cNvPr id="27" name="Text 25"/>
          <p:cNvSpPr/>
          <p:nvPr/>
        </p:nvSpPr>
        <p:spPr>
          <a:xfrm>
            <a:off x="457200" y="3931920"/>
            <a:ext cx="8229600" cy="274320"/>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 Plataforma AWP en fase de EDS: definición temprana de CWPs y rutas de carga</a:t>
            </a:r>
            <a:endParaRPr lang="en-US" sz="800" dirty="0"/>
          </a:p>
        </p:txBody>
      </p:sp>
      <p:sp>
        <p:nvSpPr>
          <p:cNvPr id="28" name="Text 26"/>
          <p:cNvSpPr/>
          <p:nvPr/>
        </p:nvSpPr>
        <p:spPr>
          <a:xfrm>
            <a:off x="457200" y="4242816"/>
            <a:ext cx="8229600" cy="274320"/>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 Field apps en fase de construcción: trazabilidad IWP y captura de avance real</a:t>
            </a:r>
            <a:endParaRPr lang="en-US" sz="800" dirty="0"/>
          </a:p>
        </p:txBody>
      </p:sp>
      <p:sp>
        <p:nvSpPr>
          <p:cNvPr id="29" name="Text 27"/>
          <p:cNvSpPr/>
          <p:nvPr/>
        </p:nvSpPr>
        <p:spPr>
          <a:xfrm>
            <a:off x="457200" y="4553712"/>
            <a:ext cx="8229600" cy="274320"/>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 Analytics como capa transversal: KPIs desde día 1 permiten tendencias significativas</a:t>
            </a:r>
            <a:endParaRPr lang="en-US" sz="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7AE60"/>
          </a:solidFill>
          <a:ln w="12700">
            <a:solidFill>
              <a:srgbClr val="27AE60"/>
            </a:solidFill>
            <a:prstDash val="solid"/>
          </a:ln>
        </p:spPr>
      </p:sp>
      <p:sp>
        <p:nvSpPr>
          <p:cNvPr id="3" name="Shape 1"/>
          <p:cNvSpPr/>
          <p:nvPr/>
        </p:nvSpPr>
        <p:spPr>
          <a:xfrm>
            <a:off x="0" y="0"/>
            <a:ext cx="3200400" cy="5143500"/>
          </a:xfrm>
          <a:prstGeom prst="rect">
            <a:avLst/>
          </a:prstGeom>
          <a:solidFill>
            <a:srgbClr val="000000"/>
          </a:solidFill>
          <a:ln w="12700">
            <a:solidFill>
              <a:srgbClr val="000000"/>
            </a:solidFill>
            <a:prstDash val="solid"/>
          </a:ln>
        </p:spPr>
      </p:sp>
      <p:sp>
        <p:nvSpPr>
          <p:cNvPr id="4" name="Text 2"/>
          <p:cNvSpPr/>
          <p:nvPr/>
        </p:nvSpPr>
        <p:spPr>
          <a:xfrm>
            <a:off x="365760" y="365760"/>
            <a:ext cx="2743200" cy="1828800"/>
          </a:xfrm>
          <a:prstGeom prst="rect">
            <a:avLst/>
          </a:prstGeom>
          <a:noFill/>
          <a:ln/>
        </p:spPr>
        <p:txBody>
          <a:bodyPr wrap="square" rtlCol="0" anchor="ctr"/>
          <a:lstStyle/>
          <a:p>
            <a:pPr indent="0" marL="0">
              <a:buNone/>
            </a:pPr>
            <a:r>
              <a:rPr lang="en-US" sz="9600" b="1" dirty="0">
                <a:solidFill>
                  <a:srgbClr val="FFFFFF">
                    <a:alpha val="40000"/>
                  </a:srgbClr>
                </a:solidFill>
                <a:latin typeface="Atkinson Hyperlegible" pitchFamily="34" charset="0"/>
                <a:ea typeface="Atkinson Hyperlegible" pitchFamily="34" charset="-122"/>
                <a:cs typeface="Atkinson Hyperlegible" pitchFamily="34" charset="-120"/>
              </a:rPr>
              <a:t>08</a:t>
            </a:r>
            <a:endParaRPr lang="en-US" sz="9600" dirty="0"/>
          </a:p>
        </p:txBody>
      </p:sp>
      <p:sp>
        <p:nvSpPr>
          <p:cNvPr id="5" name="Text 3"/>
          <p:cNvSpPr/>
          <p:nvPr/>
        </p:nvSpPr>
        <p:spPr>
          <a:xfrm>
            <a:off x="3474720" y="1645920"/>
            <a:ext cx="5303520" cy="1097280"/>
          </a:xfrm>
          <a:prstGeom prst="rect">
            <a:avLst/>
          </a:prstGeom>
          <a:noFill/>
          <a:ln/>
        </p:spPr>
        <p:txBody>
          <a:bodyPr wrap="square" rtlCol="0" anchor="ctr"/>
          <a:lstStyle/>
          <a:p>
            <a:pPr indent="0" marL="0">
              <a:buNone/>
            </a:pPr>
            <a:r>
              <a:rPr lang="en-US" sz="3200" b="1" dirty="0">
                <a:solidFill>
                  <a:srgbClr val="FFFFFF"/>
                </a:solidFill>
                <a:latin typeface="Atkinson Hyperlegible" pitchFamily="34" charset="0"/>
                <a:ea typeface="Atkinson Hyperlegible" pitchFamily="34" charset="-122"/>
                <a:cs typeface="Atkinson Hyperlegible" pitchFamily="34" charset="-120"/>
              </a:rPr>
              <a:t>Constructabilidad</a:t>
            </a:r>
            <a:endParaRPr lang="en-US" sz="3200" dirty="0"/>
          </a:p>
          <a:p>
            <a:pPr indent="0" marL="0">
              <a:buNone/>
            </a:pPr>
            <a:r>
              <a:rPr lang="en-US" sz="3200" b="1" dirty="0">
                <a:solidFill>
                  <a:srgbClr val="FFFFFF"/>
                </a:solidFill>
                <a:latin typeface="Atkinson Hyperlegible" pitchFamily="34" charset="0"/>
                <a:ea typeface="Atkinson Hyperlegible" pitchFamily="34" charset="-122"/>
                <a:cs typeface="Atkinson Hyperlegible" pitchFamily="34" charset="-120"/>
              </a:rPr>
              <a:t>y Sostenibilidad</a:t>
            </a:r>
            <a:endParaRPr lang="en-US" sz="3200" dirty="0"/>
          </a:p>
        </p:txBody>
      </p:sp>
      <p:sp>
        <p:nvSpPr>
          <p:cNvPr id="6" name="Text 4"/>
          <p:cNvSpPr/>
          <p:nvPr/>
        </p:nvSpPr>
        <p:spPr>
          <a:xfrm>
            <a:off x="3474720" y="2834640"/>
            <a:ext cx="5303520" cy="822960"/>
          </a:xfrm>
          <a:prstGeom prst="rect">
            <a:avLst/>
          </a:prstGeom>
          <a:noFill/>
          <a:ln/>
        </p:spPr>
        <p:txBody>
          <a:bodyPr wrap="square" rtlCol="0" anchor="ctr"/>
          <a:lstStyle/>
          <a:p>
            <a:pPr indent="0" marL="0">
              <a:buNone/>
            </a:pPr>
            <a:r>
              <a:rPr lang="en-US" sz="1400" i="1" dirty="0">
                <a:solidFill>
                  <a:srgbClr val="FFFFFF">
                    <a:alpha val="75000"/>
                  </a:srgbClr>
                </a:solidFill>
                <a:latin typeface="Atkinson Hyperlegible" pitchFamily="34" charset="0"/>
                <a:ea typeface="Atkinson Hyperlegible" pitchFamily="34" charset="-122"/>
                <a:cs typeface="Atkinson Hyperlegible" pitchFamily="34" charset="-120"/>
              </a:rPr>
              <a:t>Verde desde el diseño: eficiencia ambiental integrada</a:t>
            </a:r>
            <a:endParaRPr lang="en-US" sz="1400" dirty="0"/>
          </a:p>
        </p:txBody>
      </p:sp>
      <p:sp>
        <p:nvSpPr>
          <p:cNvPr id="7" name="Text 5"/>
          <p:cNvSpPr/>
          <p:nvPr/>
        </p:nvSpPr>
        <p:spPr>
          <a:xfrm>
            <a:off x="7772400" y="4846320"/>
            <a:ext cx="1188720" cy="182880"/>
          </a:xfrm>
          <a:prstGeom prst="rect">
            <a:avLst/>
          </a:prstGeom>
          <a:noFill/>
          <a:ln/>
        </p:spPr>
        <p:txBody>
          <a:bodyPr wrap="square" rtlCol="0" anchor="ctr"/>
          <a:lstStyle/>
          <a:p>
            <a:pPr algn="r" indent="0" marL="0">
              <a:buNone/>
            </a:pPr>
            <a:r>
              <a:rPr lang="en-US" sz="800" dirty="0">
                <a:solidFill>
                  <a:srgbClr val="FFFFFF"/>
                </a:solidFill>
                <a:latin typeface="Atkinson Hyperlegible" pitchFamily="34" charset="0"/>
                <a:ea typeface="Atkinson Hyperlegible" pitchFamily="34" charset="-122"/>
                <a:cs typeface="Atkinson Hyperlegible" pitchFamily="34" charset="-120"/>
              </a:rPr>
              <a:t>74 / 126</a:t>
            </a:r>
            <a:endParaRPr lang="en-US" sz="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7AE60"/>
          </a:solidFill>
          <a:ln w="12700">
            <a:solidFill>
              <a:srgbClr val="27AE60"/>
            </a:solidFill>
            <a:prstDash val="solid"/>
          </a:ln>
        </p:spPr>
      </p:sp>
      <p:sp>
        <p:nvSpPr>
          <p:cNvPr id="3" name="Shape 1"/>
          <p:cNvSpPr/>
          <p:nvPr/>
        </p:nvSpPr>
        <p:spPr>
          <a:xfrm>
            <a:off x="164592" y="4956048"/>
            <a:ext cx="8979408" cy="182880"/>
          </a:xfrm>
          <a:prstGeom prst="rect">
            <a:avLst/>
          </a:prstGeom>
          <a:solidFill>
            <a:srgbClr val="27AE60"/>
          </a:solidFill>
          <a:ln w="12700">
            <a:solidFill>
              <a:srgbClr val="27AE60"/>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75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Constructabilidad, Lean y Green Building</a:t>
            </a:r>
            <a:endParaRPr lang="en-US" sz="1800" dirty="0"/>
          </a:p>
        </p:txBody>
      </p:sp>
      <p:sp>
        <p:nvSpPr>
          <p:cNvPr id="6" name="Shape 4"/>
          <p:cNvSpPr/>
          <p:nvPr/>
        </p:nvSpPr>
        <p:spPr>
          <a:xfrm>
            <a:off x="320040" y="621792"/>
            <a:ext cx="8503920" cy="41148"/>
          </a:xfrm>
          <a:prstGeom prst="rect">
            <a:avLst/>
          </a:prstGeom>
          <a:solidFill>
            <a:srgbClr val="27AE60"/>
          </a:solidFill>
          <a:ln w="12700">
            <a:solidFill>
              <a:srgbClr val="27AE60"/>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27AE60"/>
                </a:solidFill>
                <a:latin typeface="Atkinson Hyperlegible" pitchFamily="34" charset="0"/>
                <a:ea typeface="Atkinson Hyperlegible" pitchFamily="34" charset="-122"/>
                <a:cs typeface="Atkinson Hyperlegible" pitchFamily="34" charset="-120"/>
              </a:rPr>
              <a:t>Sinergia de metodologías para proyectos sostenibles de alta eficiencia</a:t>
            </a:r>
            <a:endParaRPr lang="en-US" sz="900" dirty="0"/>
          </a:p>
        </p:txBody>
      </p:sp>
      <p:sp>
        <p:nvSpPr>
          <p:cNvPr id="8" name="Shape 6"/>
          <p:cNvSpPr/>
          <p:nvPr/>
        </p:nvSpPr>
        <p:spPr>
          <a:xfrm>
            <a:off x="3108960" y="1554480"/>
            <a:ext cx="2560320" cy="1920240"/>
          </a:xfrm>
          <a:prstGeom prst="ellipse">
            <a:avLst/>
          </a:prstGeom>
          <a:solidFill>
            <a:srgbClr val="27AE60"/>
          </a:solidFill>
          <a:ln w="12700">
            <a:solidFill>
              <a:srgbClr val="27AE60"/>
            </a:solidFill>
            <a:prstDash val="solid"/>
          </a:ln>
        </p:spPr>
      </p:sp>
      <p:sp>
        <p:nvSpPr>
          <p:cNvPr id="9" name="Text 7"/>
          <p:cNvSpPr/>
          <p:nvPr/>
        </p:nvSpPr>
        <p:spPr>
          <a:xfrm>
            <a:off x="3108960" y="1554480"/>
            <a:ext cx="2560320" cy="329184"/>
          </a:xfrm>
          <a:prstGeom prst="rect">
            <a:avLst/>
          </a:prstGeom>
          <a:noFill/>
          <a:ln/>
        </p:spPr>
        <p:txBody>
          <a:bodyPr wrap="square" rtlCol="0" anchor="ctr"/>
          <a:lstStyle/>
          <a:p>
            <a:pPr algn="ctr" indent="0" marL="0">
              <a:buNone/>
            </a:pPr>
            <a:r>
              <a:rPr lang="en-US" sz="850" b="1" dirty="0">
                <a:solidFill>
                  <a:srgbClr val="27AE60"/>
                </a:solidFill>
                <a:latin typeface="Atkinson Hyperlegible" pitchFamily="34" charset="0"/>
                <a:ea typeface="Atkinson Hyperlegible" pitchFamily="34" charset="-122"/>
                <a:cs typeface="Atkinson Hyperlegible" pitchFamily="34" charset="-120"/>
              </a:rPr>
              <a:t>Constructabilidad</a:t>
            </a:r>
            <a:endParaRPr lang="en-US" sz="850" dirty="0"/>
          </a:p>
        </p:txBody>
      </p:sp>
      <p:sp>
        <p:nvSpPr>
          <p:cNvPr id="10" name="Shape 8"/>
          <p:cNvSpPr/>
          <p:nvPr/>
        </p:nvSpPr>
        <p:spPr>
          <a:xfrm>
            <a:off x="5303520" y="1554480"/>
            <a:ext cx="2560320" cy="1920240"/>
          </a:xfrm>
          <a:prstGeom prst="ellipse">
            <a:avLst/>
          </a:prstGeom>
          <a:solidFill>
            <a:srgbClr val="0A74E3"/>
          </a:solidFill>
          <a:ln w="12700">
            <a:solidFill>
              <a:srgbClr val="0A74E3"/>
            </a:solidFill>
            <a:prstDash val="solid"/>
          </a:ln>
        </p:spPr>
      </p:sp>
      <p:sp>
        <p:nvSpPr>
          <p:cNvPr id="11" name="Text 9"/>
          <p:cNvSpPr/>
          <p:nvPr/>
        </p:nvSpPr>
        <p:spPr>
          <a:xfrm>
            <a:off x="5303520" y="1554480"/>
            <a:ext cx="2560320" cy="329184"/>
          </a:xfrm>
          <a:prstGeom prst="rect">
            <a:avLst/>
          </a:prstGeom>
          <a:noFill/>
          <a:ln/>
        </p:spPr>
        <p:txBody>
          <a:bodyPr wrap="square" rtlCol="0" anchor="ctr"/>
          <a:lstStyle/>
          <a:p>
            <a:pPr algn="ctr" indent="0" marL="0">
              <a:buNone/>
            </a:pPr>
            <a:r>
              <a:rPr lang="en-US" sz="850" b="1" dirty="0">
                <a:solidFill>
                  <a:srgbClr val="0A74E3"/>
                </a:solidFill>
                <a:latin typeface="Atkinson Hyperlegible" pitchFamily="34" charset="0"/>
                <a:ea typeface="Atkinson Hyperlegible" pitchFamily="34" charset="-122"/>
                <a:cs typeface="Atkinson Hyperlegible" pitchFamily="34" charset="-120"/>
              </a:rPr>
              <a:t>Lean Construction</a:t>
            </a:r>
            <a:endParaRPr lang="en-US" sz="850" dirty="0"/>
          </a:p>
        </p:txBody>
      </p:sp>
      <p:sp>
        <p:nvSpPr>
          <p:cNvPr id="12" name="Shape 10"/>
          <p:cNvSpPr/>
          <p:nvPr/>
        </p:nvSpPr>
        <p:spPr>
          <a:xfrm>
            <a:off x="4206240" y="3063240"/>
            <a:ext cx="2560320" cy="1920240"/>
          </a:xfrm>
          <a:prstGeom prst="ellipse">
            <a:avLst/>
          </a:prstGeom>
          <a:solidFill>
            <a:srgbClr val="0E9E9E"/>
          </a:solidFill>
          <a:ln w="12700">
            <a:solidFill>
              <a:srgbClr val="0E9E9E"/>
            </a:solidFill>
            <a:prstDash val="solid"/>
          </a:ln>
        </p:spPr>
      </p:sp>
      <p:sp>
        <p:nvSpPr>
          <p:cNvPr id="13" name="Text 11"/>
          <p:cNvSpPr/>
          <p:nvPr/>
        </p:nvSpPr>
        <p:spPr>
          <a:xfrm>
            <a:off x="4206240" y="3063240"/>
            <a:ext cx="2560320" cy="329184"/>
          </a:xfrm>
          <a:prstGeom prst="rect">
            <a:avLst/>
          </a:prstGeom>
          <a:noFill/>
          <a:ln/>
        </p:spPr>
        <p:txBody>
          <a:bodyPr wrap="square" rtlCol="0" anchor="ctr"/>
          <a:lstStyle/>
          <a:p>
            <a:pPr algn="ctr" indent="0" marL="0">
              <a:buNone/>
            </a:pPr>
            <a:r>
              <a:rPr lang="en-US" sz="850" b="1" dirty="0">
                <a:solidFill>
                  <a:srgbClr val="0E9E9E"/>
                </a:solidFill>
                <a:latin typeface="Atkinson Hyperlegible" pitchFamily="34" charset="0"/>
                <a:ea typeface="Atkinson Hyperlegible" pitchFamily="34" charset="-122"/>
                <a:cs typeface="Atkinson Hyperlegible" pitchFamily="34" charset="-120"/>
              </a:rPr>
              <a:t>Green Building</a:t>
            </a:r>
            <a:endParaRPr lang="en-US" sz="850" dirty="0"/>
          </a:p>
        </p:txBody>
      </p:sp>
      <p:sp>
        <p:nvSpPr>
          <p:cNvPr id="14" name="Text 12"/>
          <p:cNvSpPr/>
          <p:nvPr/>
        </p:nvSpPr>
        <p:spPr>
          <a:xfrm>
            <a:off x="3931920" y="2377440"/>
            <a:ext cx="1280160" cy="512064"/>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Reducción de</a:t>
            </a:r>
            <a:endParaRPr lang="en-US" sz="750" dirty="0"/>
          </a:p>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desperdicios 30-50%</a:t>
            </a:r>
            <a:endParaRPr lang="en-US" sz="750" dirty="0"/>
          </a:p>
        </p:txBody>
      </p:sp>
      <p:sp>
        <p:nvSpPr>
          <p:cNvPr id="15" name="Text 13"/>
          <p:cNvSpPr/>
          <p:nvPr/>
        </p:nvSpPr>
        <p:spPr>
          <a:xfrm>
            <a:off x="3931920" y="2944368"/>
            <a:ext cx="1280160" cy="512064"/>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Huella de carbono</a:t>
            </a:r>
            <a:endParaRPr lang="en-US" sz="750" dirty="0"/>
          </a:p>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 25-40%</a:t>
            </a:r>
            <a:endParaRPr lang="en-US" sz="750" dirty="0"/>
          </a:p>
        </p:txBody>
      </p:sp>
      <p:sp>
        <p:nvSpPr>
          <p:cNvPr id="16" name="Text 14"/>
          <p:cNvSpPr/>
          <p:nvPr/>
        </p:nvSpPr>
        <p:spPr>
          <a:xfrm>
            <a:off x="3931920" y="3511296"/>
            <a:ext cx="1280160" cy="512064"/>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CPI &gt; 1.10</a:t>
            </a:r>
            <a:endParaRPr lang="en-US" sz="750" dirty="0"/>
          </a:p>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SPI &gt; 1.05</a:t>
            </a:r>
            <a:endParaRPr lang="en-US" sz="750" dirty="0"/>
          </a:p>
        </p:txBody>
      </p:sp>
      <p:sp>
        <p:nvSpPr>
          <p:cNvPr id="17" name="Shape 15"/>
          <p:cNvSpPr/>
          <p:nvPr/>
        </p:nvSpPr>
        <p:spPr>
          <a:xfrm>
            <a:off x="320040" y="1078992"/>
            <a:ext cx="2926080" cy="1234440"/>
          </a:xfrm>
          <a:prstGeom prst="rect">
            <a:avLst>
              <a:gd name="adj" fmla="val 4444"/>
            </a:avLst>
          </a:prstGeom>
          <a:solidFill>
            <a:srgbClr val="FFFFFF"/>
          </a:solidFill>
          <a:ln w="6350">
            <a:solidFill>
              <a:srgbClr val="E5E5EA"/>
            </a:solidFill>
            <a:prstDash val="solid"/>
          </a:ln>
        </p:spPr>
      </p:sp>
      <p:pic>
        <p:nvPicPr>
          <p:cNvPr id="1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38912" y="1170432"/>
            <a:ext cx="329184" cy="329184"/>
          </a:xfrm>
          <a:prstGeom prst="rect">
            <a:avLst/>
          </a:prstGeom>
        </p:spPr>
      </p:pic>
      <p:sp>
        <p:nvSpPr>
          <p:cNvPr id="19" name="Text 16"/>
          <p:cNvSpPr/>
          <p:nvPr/>
        </p:nvSpPr>
        <p:spPr>
          <a:xfrm>
            <a:off x="795528" y="1143000"/>
            <a:ext cx="233172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Reducción de Residuos</a:t>
            </a:r>
            <a:endParaRPr lang="en-US" sz="900" dirty="0"/>
          </a:p>
        </p:txBody>
      </p:sp>
      <p:sp>
        <p:nvSpPr>
          <p:cNvPr id="20" name="Text 17"/>
          <p:cNvSpPr/>
          <p:nvPr/>
        </p:nvSpPr>
        <p:spPr>
          <a:xfrm>
            <a:off x="795528" y="1371600"/>
            <a:ext cx="2331720" cy="868680"/>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AWP coordina entregas JIT; Lean elimina overproduction; Green diseña para residuo mínimo</a:t>
            </a:r>
            <a:endParaRPr lang="en-US" sz="750" dirty="0"/>
          </a:p>
        </p:txBody>
      </p:sp>
      <p:sp>
        <p:nvSpPr>
          <p:cNvPr id="21" name="Shape 18"/>
          <p:cNvSpPr/>
          <p:nvPr/>
        </p:nvSpPr>
        <p:spPr>
          <a:xfrm>
            <a:off x="320040" y="2432304"/>
            <a:ext cx="2926080" cy="1234440"/>
          </a:xfrm>
          <a:prstGeom prst="rect">
            <a:avLst>
              <a:gd name="adj" fmla="val 4444"/>
            </a:avLst>
          </a:prstGeom>
          <a:solidFill>
            <a:srgbClr val="FFFFFF"/>
          </a:solidFill>
          <a:ln w="6350">
            <a:solidFill>
              <a:srgbClr val="E5E5EA"/>
            </a:solidFill>
            <a:prstDash val="solid"/>
          </a:ln>
        </p:spPr>
      </p:sp>
      <p:pic>
        <p:nvPicPr>
          <p:cNvPr id="2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8912" y="2523744"/>
            <a:ext cx="329184" cy="329184"/>
          </a:xfrm>
          <a:prstGeom prst="rect">
            <a:avLst/>
          </a:prstGeom>
        </p:spPr>
      </p:pic>
      <p:sp>
        <p:nvSpPr>
          <p:cNvPr id="23" name="Text 19"/>
          <p:cNvSpPr/>
          <p:nvPr/>
        </p:nvSpPr>
        <p:spPr>
          <a:xfrm>
            <a:off x="795528" y="2496312"/>
            <a:ext cx="233172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Eficiencia de Recursos</a:t>
            </a:r>
            <a:endParaRPr lang="en-US" sz="900" dirty="0"/>
          </a:p>
        </p:txBody>
      </p:sp>
      <p:sp>
        <p:nvSpPr>
          <p:cNvPr id="24" name="Text 20"/>
          <p:cNvSpPr/>
          <p:nvPr/>
        </p:nvSpPr>
        <p:spPr>
          <a:xfrm>
            <a:off x="795528" y="2724912"/>
            <a:ext cx="2331720" cy="868680"/>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IWPs optimizados reducen consumo de materiales 8-15%; BIM elimina pedidos duplicados</a:t>
            </a:r>
            <a:endParaRPr lang="en-US" sz="750" dirty="0"/>
          </a:p>
        </p:txBody>
      </p:sp>
      <p:sp>
        <p:nvSpPr>
          <p:cNvPr id="25" name="Shape 21"/>
          <p:cNvSpPr/>
          <p:nvPr/>
        </p:nvSpPr>
        <p:spPr>
          <a:xfrm>
            <a:off x="320040" y="3785616"/>
            <a:ext cx="2926080" cy="1234440"/>
          </a:xfrm>
          <a:prstGeom prst="rect">
            <a:avLst>
              <a:gd name="adj" fmla="val 4444"/>
            </a:avLst>
          </a:prstGeom>
          <a:solidFill>
            <a:srgbClr val="FFFFFF"/>
          </a:solidFill>
          <a:ln w="6350">
            <a:solidFill>
              <a:srgbClr val="E5E5EA"/>
            </a:solidFill>
            <a:prstDash val="solid"/>
          </a:ln>
        </p:spPr>
      </p:sp>
      <p:pic>
        <p:nvPicPr>
          <p:cNvPr id="2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8912" y="3877056"/>
            <a:ext cx="329184" cy="329184"/>
          </a:xfrm>
          <a:prstGeom prst="rect">
            <a:avLst/>
          </a:prstGeom>
        </p:spPr>
      </p:pic>
      <p:sp>
        <p:nvSpPr>
          <p:cNvPr id="27" name="Text 22"/>
          <p:cNvSpPr/>
          <p:nvPr/>
        </p:nvSpPr>
        <p:spPr>
          <a:xfrm>
            <a:off x="795528" y="3849624"/>
            <a:ext cx="233172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Carbono Embebido</a:t>
            </a:r>
            <a:endParaRPr lang="en-US" sz="900" dirty="0"/>
          </a:p>
        </p:txBody>
      </p:sp>
      <p:sp>
        <p:nvSpPr>
          <p:cNvPr id="28" name="Text 23"/>
          <p:cNvSpPr/>
          <p:nvPr/>
        </p:nvSpPr>
        <p:spPr>
          <a:xfrm>
            <a:off x="795528" y="4078224"/>
            <a:ext cx="2331720" cy="868680"/>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Secuencias constructivas optimizadas minimizan movimiento de equipos y transporte</a:t>
            </a:r>
            <a:endParaRPr lang="en-US" sz="7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7AE60"/>
          </a:solidFill>
          <a:ln w="12700">
            <a:solidFill>
              <a:srgbClr val="27AE60"/>
            </a:solidFill>
            <a:prstDash val="solid"/>
          </a:ln>
        </p:spPr>
      </p:sp>
      <p:sp>
        <p:nvSpPr>
          <p:cNvPr id="3" name="Shape 1"/>
          <p:cNvSpPr/>
          <p:nvPr/>
        </p:nvSpPr>
        <p:spPr>
          <a:xfrm>
            <a:off x="164592" y="4956048"/>
            <a:ext cx="8979408" cy="182880"/>
          </a:xfrm>
          <a:prstGeom prst="rect">
            <a:avLst/>
          </a:prstGeom>
          <a:solidFill>
            <a:srgbClr val="27AE60"/>
          </a:solidFill>
          <a:ln w="12700">
            <a:solidFill>
              <a:srgbClr val="27AE60"/>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76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Métricas de Sostenibilidad en Proyectos AWP</a:t>
            </a:r>
            <a:endParaRPr lang="en-US" sz="1800" dirty="0"/>
          </a:p>
        </p:txBody>
      </p:sp>
      <p:sp>
        <p:nvSpPr>
          <p:cNvPr id="6" name="Shape 4"/>
          <p:cNvSpPr/>
          <p:nvPr/>
        </p:nvSpPr>
        <p:spPr>
          <a:xfrm>
            <a:off x="320040" y="621792"/>
            <a:ext cx="8503920" cy="41148"/>
          </a:xfrm>
          <a:prstGeom prst="rect">
            <a:avLst/>
          </a:prstGeom>
          <a:solidFill>
            <a:srgbClr val="27AE60"/>
          </a:solidFill>
          <a:ln w="12700">
            <a:solidFill>
              <a:srgbClr val="27AE60"/>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27AE60"/>
                </a:solidFill>
                <a:latin typeface="Atkinson Hyperlegible" pitchFamily="34" charset="0"/>
                <a:ea typeface="Atkinson Hyperlegible" pitchFamily="34" charset="-122"/>
                <a:cs typeface="Atkinson Hyperlegible" pitchFamily="34" charset="-120"/>
              </a:rPr>
              <a:t>Indicadores ambientales y sociales integrados al sistema de control</a:t>
            </a:r>
            <a:endParaRPr lang="en-US" sz="900" dirty="0"/>
          </a:p>
        </p:txBody>
      </p:sp>
      <p:sp>
        <p:nvSpPr>
          <p:cNvPr id="8" name="Shape 6"/>
          <p:cNvSpPr/>
          <p:nvPr/>
        </p:nvSpPr>
        <p:spPr>
          <a:xfrm>
            <a:off x="320040" y="987552"/>
            <a:ext cx="2712720" cy="1627632"/>
          </a:xfrm>
          <a:prstGeom prst="rect">
            <a:avLst>
              <a:gd name="adj" fmla="val 3933"/>
            </a:avLst>
          </a:prstGeom>
          <a:solidFill>
            <a:srgbClr val="FFFFFF"/>
          </a:solidFill>
          <a:ln w="15240">
            <a:solidFill>
              <a:srgbClr val="27AE60"/>
            </a:solidFill>
            <a:prstDash val="solid"/>
          </a:ln>
        </p:spPr>
      </p:sp>
      <p:sp>
        <p:nvSpPr>
          <p:cNvPr id="9" name="Shape 7"/>
          <p:cNvSpPr/>
          <p:nvPr/>
        </p:nvSpPr>
        <p:spPr>
          <a:xfrm>
            <a:off x="320040" y="987552"/>
            <a:ext cx="2712720" cy="54864"/>
          </a:xfrm>
          <a:prstGeom prst="rect">
            <a:avLst>
              <a:gd name="adj" fmla="val 116667"/>
            </a:avLst>
          </a:prstGeom>
          <a:solidFill>
            <a:srgbClr val="27AE60"/>
          </a:solidFill>
          <a:ln w="12700">
            <a:solidFill>
              <a:srgbClr val="27AE60"/>
            </a:solidFill>
            <a:prstDash val="solid"/>
          </a:ln>
        </p:spPr>
      </p:sp>
      <p:sp>
        <p:nvSpPr>
          <p:cNvPr id="10" name="Text 8"/>
          <p:cNvSpPr/>
          <p:nvPr/>
        </p:nvSpPr>
        <p:spPr>
          <a:xfrm>
            <a:off x="320040" y="1078992"/>
            <a:ext cx="2712720" cy="749808"/>
          </a:xfrm>
          <a:prstGeom prst="rect">
            <a:avLst/>
          </a:prstGeom>
          <a:noFill/>
          <a:ln/>
        </p:spPr>
        <p:txBody>
          <a:bodyPr wrap="square" rtlCol="0" anchor="ctr"/>
          <a:lstStyle/>
          <a:p>
            <a:pPr algn="ctr" indent="0" marL="0">
              <a:buNone/>
            </a:pPr>
            <a:r>
              <a:rPr lang="en-US" sz="3600" b="1" dirty="0">
                <a:solidFill>
                  <a:srgbClr val="27AE60"/>
                </a:solidFill>
                <a:latin typeface="Atkinson Hyperlegible" pitchFamily="34" charset="0"/>
                <a:ea typeface="Atkinson Hyperlegible" pitchFamily="34" charset="-122"/>
                <a:cs typeface="Atkinson Hyperlegible" pitchFamily="34" charset="-120"/>
              </a:rPr>
              <a:t>↓ 22%</a:t>
            </a:r>
            <a:endParaRPr lang="en-US" sz="3600" dirty="0"/>
          </a:p>
        </p:txBody>
      </p:sp>
      <p:sp>
        <p:nvSpPr>
          <p:cNvPr id="11" name="Text 9"/>
          <p:cNvSpPr/>
          <p:nvPr/>
        </p:nvSpPr>
        <p:spPr>
          <a:xfrm>
            <a:off x="411480" y="1847088"/>
            <a:ext cx="2529840" cy="274320"/>
          </a:xfrm>
          <a:prstGeom prst="rect">
            <a:avLst/>
          </a:prstGeom>
          <a:noFill/>
          <a:ln/>
        </p:spPr>
        <p:txBody>
          <a:bodyPr wrap="square" rtlCol="0" anchor="ctr"/>
          <a:lstStyle/>
          <a:p>
            <a:pPr algn="ct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Emisiones CO₂</a:t>
            </a:r>
            <a:endParaRPr lang="en-US" sz="900" dirty="0"/>
          </a:p>
        </p:txBody>
      </p:sp>
      <p:sp>
        <p:nvSpPr>
          <p:cNvPr id="12" name="Text 10"/>
          <p:cNvSpPr/>
          <p:nvPr/>
        </p:nvSpPr>
        <p:spPr>
          <a:xfrm>
            <a:off x="411480" y="2121408"/>
            <a:ext cx="2529840" cy="420624"/>
          </a:xfrm>
          <a:prstGeom prst="rect">
            <a:avLst/>
          </a:prstGeom>
          <a:noFill/>
          <a:ln/>
        </p:spPr>
        <p:txBody>
          <a:bodyPr wrap="square" rtlCol="0" anchor="ctr"/>
          <a:lstStyle/>
          <a:p>
            <a:pPr algn="ctr" indent="0" marL="0">
              <a:buNone/>
            </a:pPr>
            <a:r>
              <a:rPr lang="en-US" sz="750" dirty="0">
                <a:solidFill>
                  <a:srgbClr val="555555"/>
                </a:solidFill>
                <a:latin typeface="Atkinson Hyperlegible" pitchFamily="34" charset="0"/>
                <a:ea typeface="Atkinson Hyperlegible" pitchFamily="34" charset="-122"/>
                <a:cs typeface="Atkinson Hyperlegible" pitchFamily="34" charset="-120"/>
              </a:rPr>
              <a:t>en transporte de materiales con planificación JIT</a:t>
            </a:r>
            <a:endParaRPr lang="en-US" sz="750" dirty="0"/>
          </a:p>
        </p:txBody>
      </p:sp>
      <p:sp>
        <p:nvSpPr>
          <p:cNvPr id="13" name="Shape 11"/>
          <p:cNvSpPr/>
          <p:nvPr/>
        </p:nvSpPr>
        <p:spPr>
          <a:xfrm>
            <a:off x="3215640" y="987552"/>
            <a:ext cx="2712720" cy="1627632"/>
          </a:xfrm>
          <a:prstGeom prst="rect">
            <a:avLst>
              <a:gd name="adj" fmla="val 3933"/>
            </a:avLst>
          </a:prstGeom>
          <a:solidFill>
            <a:srgbClr val="FFFFFF"/>
          </a:solidFill>
          <a:ln w="15240">
            <a:solidFill>
              <a:srgbClr val="0E9E9E"/>
            </a:solidFill>
            <a:prstDash val="solid"/>
          </a:ln>
        </p:spPr>
      </p:sp>
      <p:sp>
        <p:nvSpPr>
          <p:cNvPr id="14" name="Shape 12"/>
          <p:cNvSpPr/>
          <p:nvPr/>
        </p:nvSpPr>
        <p:spPr>
          <a:xfrm>
            <a:off x="3215640" y="987552"/>
            <a:ext cx="2712720" cy="54864"/>
          </a:xfrm>
          <a:prstGeom prst="rect">
            <a:avLst>
              <a:gd name="adj" fmla="val 116667"/>
            </a:avLst>
          </a:prstGeom>
          <a:solidFill>
            <a:srgbClr val="0E9E9E"/>
          </a:solidFill>
          <a:ln w="12700">
            <a:solidFill>
              <a:srgbClr val="0E9E9E"/>
            </a:solidFill>
            <a:prstDash val="solid"/>
          </a:ln>
        </p:spPr>
      </p:sp>
      <p:sp>
        <p:nvSpPr>
          <p:cNvPr id="15" name="Text 13"/>
          <p:cNvSpPr/>
          <p:nvPr/>
        </p:nvSpPr>
        <p:spPr>
          <a:xfrm>
            <a:off x="3215640" y="1078992"/>
            <a:ext cx="2712720" cy="749808"/>
          </a:xfrm>
          <a:prstGeom prst="rect">
            <a:avLst/>
          </a:prstGeom>
          <a:noFill/>
          <a:ln/>
        </p:spPr>
        <p:txBody>
          <a:bodyPr wrap="square" rtlCol="0" anchor="ctr"/>
          <a:lstStyle/>
          <a:p>
            <a:pPr algn="ctr" indent="0" marL="0">
              <a:buNone/>
            </a:pPr>
            <a:r>
              <a:rPr lang="en-US" sz="3600" b="1" dirty="0">
                <a:solidFill>
                  <a:srgbClr val="0E9E9E"/>
                </a:solidFill>
                <a:latin typeface="Atkinson Hyperlegible" pitchFamily="34" charset="0"/>
                <a:ea typeface="Atkinson Hyperlegible" pitchFamily="34" charset="-122"/>
                <a:cs typeface="Atkinson Hyperlegible" pitchFamily="34" charset="-120"/>
              </a:rPr>
              <a:t>↓ 18%</a:t>
            </a:r>
            <a:endParaRPr lang="en-US" sz="3600" dirty="0"/>
          </a:p>
        </p:txBody>
      </p:sp>
      <p:sp>
        <p:nvSpPr>
          <p:cNvPr id="16" name="Text 14"/>
          <p:cNvSpPr/>
          <p:nvPr/>
        </p:nvSpPr>
        <p:spPr>
          <a:xfrm>
            <a:off x="3307080" y="1847088"/>
            <a:ext cx="2529840" cy="274320"/>
          </a:xfrm>
          <a:prstGeom prst="rect">
            <a:avLst/>
          </a:prstGeom>
          <a:noFill/>
          <a:ln/>
        </p:spPr>
        <p:txBody>
          <a:bodyPr wrap="square" rtlCol="0" anchor="ctr"/>
          <a:lstStyle/>
          <a:p>
            <a:pPr algn="ct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Residuos de Obra</a:t>
            </a:r>
            <a:endParaRPr lang="en-US" sz="900" dirty="0"/>
          </a:p>
        </p:txBody>
      </p:sp>
      <p:sp>
        <p:nvSpPr>
          <p:cNvPr id="17" name="Text 15"/>
          <p:cNvSpPr/>
          <p:nvPr/>
        </p:nvSpPr>
        <p:spPr>
          <a:xfrm>
            <a:off x="3307080" y="2121408"/>
            <a:ext cx="2529840" cy="420624"/>
          </a:xfrm>
          <a:prstGeom prst="rect">
            <a:avLst/>
          </a:prstGeom>
          <a:noFill/>
          <a:ln/>
        </p:spPr>
        <p:txBody>
          <a:bodyPr wrap="square" rtlCol="0" anchor="ctr"/>
          <a:lstStyle/>
          <a:p>
            <a:pPr algn="ctr" indent="0" marL="0">
              <a:buNone/>
            </a:pPr>
            <a:r>
              <a:rPr lang="en-US" sz="750" dirty="0">
                <a:solidFill>
                  <a:srgbClr val="555555"/>
                </a:solidFill>
                <a:latin typeface="Atkinson Hyperlegible" pitchFamily="34" charset="0"/>
                <a:ea typeface="Atkinson Hyperlegible" pitchFamily="34" charset="-122"/>
                <a:cs typeface="Atkinson Hyperlegible" pitchFamily="34" charset="-120"/>
              </a:rPr>
              <a:t>reducción por prefabricación y entregas coordinadas</a:t>
            </a:r>
            <a:endParaRPr lang="en-US" sz="750" dirty="0"/>
          </a:p>
        </p:txBody>
      </p:sp>
      <p:sp>
        <p:nvSpPr>
          <p:cNvPr id="18" name="Shape 16"/>
          <p:cNvSpPr/>
          <p:nvPr/>
        </p:nvSpPr>
        <p:spPr>
          <a:xfrm>
            <a:off x="6111240" y="987552"/>
            <a:ext cx="2712720" cy="1627632"/>
          </a:xfrm>
          <a:prstGeom prst="rect">
            <a:avLst>
              <a:gd name="adj" fmla="val 3933"/>
            </a:avLst>
          </a:prstGeom>
          <a:solidFill>
            <a:srgbClr val="FFFFFF"/>
          </a:solidFill>
          <a:ln w="15240">
            <a:solidFill>
              <a:srgbClr val="0A74E3"/>
            </a:solidFill>
            <a:prstDash val="solid"/>
          </a:ln>
        </p:spPr>
      </p:sp>
      <p:sp>
        <p:nvSpPr>
          <p:cNvPr id="19" name="Shape 17"/>
          <p:cNvSpPr/>
          <p:nvPr/>
        </p:nvSpPr>
        <p:spPr>
          <a:xfrm>
            <a:off x="6111240" y="987552"/>
            <a:ext cx="2712720" cy="54864"/>
          </a:xfrm>
          <a:prstGeom prst="rect">
            <a:avLst>
              <a:gd name="adj" fmla="val 116667"/>
            </a:avLst>
          </a:prstGeom>
          <a:solidFill>
            <a:srgbClr val="0A74E3"/>
          </a:solidFill>
          <a:ln w="12700">
            <a:solidFill>
              <a:srgbClr val="0A74E3"/>
            </a:solidFill>
            <a:prstDash val="solid"/>
          </a:ln>
        </p:spPr>
      </p:sp>
      <p:sp>
        <p:nvSpPr>
          <p:cNvPr id="20" name="Text 18"/>
          <p:cNvSpPr/>
          <p:nvPr/>
        </p:nvSpPr>
        <p:spPr>
          <a:xfrm>
            <a:off x="6111240" y="1078992"/>
            <a:ext cx="2712720" cy="749808"/>
          </a:xfrm>
          <a:prstGeom prst="rect">
            <a:avLst/>
          </a:prstGeom>
          <a:noFill/>
          <a:ln/>
        </p:spPr>
        <p:txBody>
          <a:bodyPr wrap="square" rtlCol="0" anchor="ctr"/>
          <a:lstStyle/>
          <a:p>
            <a:pPr algn="ctr" indent="0" marL="0">
              <a:buNone/>
            </a:pPr>
            <a:r>
              <a:rPr lang="en-US" sz="3600" b="1" dirty="0">
                <a:solidFill>
                  <a:srgbClr val="0A74E3"/>
                </a:solidFill>
                <a:latin typeface="Atkinson Hyperlegible" pitchFamily="34" charset="0"/>
                <a:ea typeface="Atkinson Hyperlegible" pitchFamily="34" charset="-122"/>
                <a:cs typeface="Atkinson Hyperlegible" pitchFamily="34" charset="-120"/>
              </a:rPr>
              <a:t>↓ 31%</a:t>
            </a:r>
            <a:endParaRPr lang="en-US" sz="3600" dirty="0"/>
          </a:p>
        </p:txBody>
      </p:sp>
      <p:sp>
        <p:nvSpPr>
          <p:cNvPr id="21" name="Text 19"/>
          <p:cNvSpPr/>
          <p:nvPr/>
        </p:nvSpPr>
        <p:spPr>
          <a:xfrm>
            <a:off x="6202680" y="1847088"/>
            <a:ext cx="2529840" cy="274320"/>
          </a:xfrm>
          <a:prstGeom prst="rect">
            <a:avLst/>
          </a:prstGeom>
          <a:noFill/>
          <a:ln/>
        </p:spPr>
        <p:txBody>
          <a:bodyPr wrap="square" rtlCol="0" anchor="ctr"/>
          <a:lstStyle/>
          <a:p>
            <a:pPr algn="ct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Consumo de Agua</a:t>
            </a:r>
            <a:endParaRPr lang="en-US" sz="900" dirty="0"/>
          </a:p>
        </p:txBody>
      </p:sp>
      <p:sp>
        <p:nvSpPr>
          <p:cNvPr id="22" name="Text 20"/>
          <p:cNvSpPr/>
          <p:nvPr/>
        </p:nvSpPr>
        <p:spPr>
          <a:xfrm>
            <a:off x="6202680" y="2121408"/>
            <a:ext cx="2529840" cy="420624"/>
          </a:xfrm>
          <a:prstGeom prst="rect">
            <a:avLst/>
          </a:prstGeom>
          <a:noFill/>
          <a:ln/>
        </p:spPr>
        <p:txBody>
          <a:bodyPr wrap="square" rtlCol="0" anchor="ctr"/>
          <a:lstStyle/>
          <a:p>
            <a:pPr algn="ctr" indent="0" marL="0">
              <a:buNone/>
            </a:pPr>
            <a:r>
              <a:rPr lang="en-US" sz="750" dirty="0">
                <a:solidFill>
                  <a:srgbClr val="555555"/>
                </a:solidFill>
                <a:latin typeface="Atkinson Hyperlegible" pitchFamily="34" charset="0"/>
                <a:ea typeface="Atkinson Hyperlegible" pitchFamily="34" charset="-122"/>
                <a:cs typeface="Atkinson Hyperlegible" pitchFamily="34" charset="-120"/>
              </a:rPr>
              <a:t>en obras con IWPs de cimentación optimizados</a:t>
            </a:r>
            <a:endParaRPr lang="en-US" sz="750" dirty="0"/>
          </a:p>
        </p:txBody>
      </p:sp>
      <p:sp>
        <p:nvSpPr>
          <p:cNvPr id="23" name="Shape 21"/>
          <p:cNvSpPr/>
          <p:nvPr/>
        </p:nvSpPr>
        <p:spPr>
          <a:xfrm>
            <a:off x="320040" y="2752344"/>
            <a:ext cx="2712720" cy="1627632"/>
          </a:xfrm>
          <a:prstGeom prst="rect">
            <a:avLst>
              <a:gd name="adj" fmla="val 3933"/>
            </a:avLst>
          </a:prstGeom>
          <a:solidFill>
            <a:srgbClr val="FFFFFF"/>
          </a:solidFill>
          <a:ln w="15240">
            <a:solidFill>
              <a:srgbClr val="D4620A"/>
            </a:solidFill>
            <a:prstDash val="solid"/>
          </a:ln>
        </p:spPr>
      </p:sp>
      <p:sp>
        <p:nvSpPr>
          <p:cNvPr id="24" name="Shape 22"/>
          <p:cNvSpPr/>
          <p:nvPr/>
        </p:nvSpPr>
        <p:spPr>
          <a:xfrm>
            <a:off x="320040" y="2752344"/>
            <a:ext cx="2712720" cy="54864"/>
          </a:xfrm>
          <a:prstGeom prst="rect">
            <a:avLst>
              <a:gd name="adj" fmla="val 116667"/>
            </a:avLst>
          </a:prstGeom>
          <a:solidFill>
            <a:srgbClr val="D4620A"/>
          </a:solidFill>
          <a:ln w="12700">
            <a:solidFill>
              <a:srgbClr val="D4620A"/>
            </a:solidFill>
            <a:prstDash val="solid"/>
          </a:ln>
        </p:spPr>
      </p:sp>
      <p:sp>
        <p:nvSpPr>
          <p:cNvPr id="25" name="Text 23"/>
          <p:cNvSpPr/>
          <p:nvPr/>
        </p:nvSpPr>
        <p:spPr>
          <a:xfrm>
            <a:off x="320040" y="2843784"/>
            <a:ext cx="2712720" cy="749808"/>
          </a:xfrm>
          <a:prstGeom prst="rect">
            <a:avLst/>
          </a:prstGeom>
          <a:noFill/>
          <a:ln/>
        </p:spPr>
        <p:txBody>
          <a:bodyPr wrap="square" rtlCol="0" anchor="ctr"/>
          <a:lstStyle/>
          <a:p>
            <a:pPr algn="ctr" indent="0" marL="0">
              <a:buNone/>
            </a:pPr>
            <a:r>
              <a:rPr lang="en-US" sz="3600" b="1" dirty="0">
                <a:solidFill>
                  <a:srgbClr val="D4620A"/>
                </a:solidFill>
                <a:latin typeface="Atkinson Hyperlegible" pitchFamily="34" charset="0"/>
                <a:ea typeface="Atkinson Hyperlegible" pitchFamily="34" charset="-122"/>
                <a:cs typeface="Atkinson Hyperlegible" pitchFamily="34" charset="-120"/>
              </a:rPr>
              <a:t>↑ 28%</a:t>
            </a:r>
            <a:endParaRPr lang="en-US" sz="3600" dirty="0"/>
          </a:p>
        </p:txBody>
      </p:sp>
      <p:sp>
        <p:nvSpPr>
          <p:cNvPr id="26" name="Text 24"/>
          <p:cNvSpPr/>
          <p:nvPr/>
        </p:nvSpPr>
        <p:spPr>
          <a:xfrm>
            <a:off x="411480" y="3611880"/>
            <a:ext cx="2529840" cy="274320"/>
          </a:xfrm>
          <a:prstGeom prst="rect">
            <a:avLst/>
          </a:prstGeom>
          <a:noFill/>
          <a:ln/>
        </p:spPr>
        <p:txBody>
          <a:bodyPr wrap="square" rtlCol="0" anchor="ctr"/>
          <a:lstStyle/>
          <a:p>
            <a:pPr algn="ct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Prefabricación</a:t>
            </a:r>
            <a:endParaRPr lang="en-US" sz="900" dirty="0"/>
          </a:p>
        </p:txBody>
      </p:sp>
      <p:sp>
        <p:nvSpPr>
          <p:cNvPr id="27" name="Text 25"/>
          <p:cNvSpPr/>
          <p:nvPr/>
        </p:nvSpPr>
        <p:spPr>
          <a:xfrm>
            <a:off x="411480" y="3886200"/>
            <a:ext cx="2529840" cy="420624"/>
          </a:xfrm>
          <a:prstGeom prst="rect">
            <a:avLst/>
          </a:prstGeom>
          <a:noFill/>
          <a:ln/>
        </p:spPr>
        <p:txBody>
          <a:bodyPr wrap="square" rtlCol="0" anchor="ctr"/>
          <a:lstStyle/>
          <a:p>
            <a:pPr algn="ctr" indent="0" marL="0">
              <a:buNone/>
            </a:pPr>
            <a:r>
              <a:rPr lang="en-US" sz="750" dirty="0">
                <a:solidFill>
                  <a:srgbClr val="555555"/>
                </a:solidFill>
                <a:latin typeface="Atkinson Hyperlegible" pitchFamily="34" charset="0"/>
                <a:ea typeface="Atkinson Hyperlegible" pitchFamily="34" charset="-122"/>
                <a:cs typeface="Atkinson Hyperlegible" pitchFamily="34" charset="-120"/>
              </a:rPr>
              <a:t>aumento de componentes off-site reduce impacto in-situ</a:t>
            </a:r>
            <a:endParaRPr lang="en-US" sz="750" dirty="0"/>
          </a:p>
        </p:txBody>
      </p:sp>
      <p:sp>
        <p:nvSpPr>
          <p:cNvPr id="28" name="Shape 26"/>
          <p:cNvSpPr/>
          <p:nvPr/>
        </p:nvSpPr>
        <p:spPr>
          <a:xfrm>
            <a:off x="3215640" y="2752344"/>
            <a:ext cx="2712720" cy="1627632"/>
          </a:xfrm>
          <a:prstGeom prst="rect">
            <a:avLst>
              <a:gd name="adj" fmla="val 3933"/>
            </a:avLst>
          </a:prstGeom>
          <a:solidFill>
            <a:srgbClr val="FFFFFF"/>
          </a:solidFill>
          <a:ln w="15240">
            <a:solidFill>
              <a:srgbClr val="C0392B"/>
            </a:solidFill>
            <a:prstDash val="solid"/>
          </a:ln>
        </p:spPr>
      </p:sp>
      <p:sp>
        <p:nvSpPr>
          <p:cNvPr id="29" name="Shape 27"/>
          <p:cNvSpPr/>
          <p:nvPr/>
        </p:nvSpPr>
        <p:spPr>
          <a:xfrm>
            <a:off x="3215640" y="2752344"/>
            <a:ext cx="2712720" cy="54864"/>
          </a:xfrm>
          <a:prstGeom prst="rect">
            <a:avLst>
              <a:gd name="adj" fmla="val 116667"/>
            </a:avLst>
          </a:prstGeom>
          <a:solidFill>
            <a:srgbClr val="C0392B"/>
          </a:solidFill>
          <a:ln w="12700">
            <a:solidFill>
              <a:srgbClr val="C0392B"/>
            </a:solidFill>
            <a:prstDash val="solid"/>
          </a:ln>
        </p:spPr>
      </p:sp>
      <p:sp>
        <p:nvSpPr>
          <p:cNvPr id="30" name="Text 28"/>
          <p:cNvSpPr/>
          <p:nvPr/>
        </p:nvSpPr>
        <p:spPr>
          <a:xfrm>
            <a:off x="3215640" y="2843784"/>
            <a:ext cx="2712720" cy="749808"/>
          </a:xfrm>
          <a:prstGeom prst="rect">
            <a:avLst/>
          </a:prstGeom>
          <a:noFill/>
          <a:ln/>
        </p:spPr>
        <p:txBody>
          <a:bodyPr wrap="square" rtlCol="0" anchor="ctr"/>
          <a:lstStyle/>
          <a:p>
            <a:pPr algn="ctr" indent="0" marL="0">
              <a:buNone/>
            </a:pPr>
            <a:r>
              <a:rPr lang="en-US" sz="3600" b="1" dirty="0">
                <a:solidFill>
                  <a:srgbClr val="C0392B"/>
                </a:solidFill>
                <a:latin typeface="Atkinson Hyperlegible" pitchFamily="34" charset="0"/>
                <a:ea typeface="Atkinson Hyperlegible" pitchFamily="34" charset="-122"/>
                <a:cs typeface="Atkinson Hyperlegible" pitchFamily="34" charset="-120"/>
              </a:rPr>
              <a:t>0</a:t>
            </a:r>
            <a:endParaRPr lang="en-US" sz="3600" dirty="0"/>
          </a:p>
        </p:txBody>
      </p:sp>
      <p:sp>
        <p:nvSpPr>
          <p:cNvPr id="31" name="Text 29"/>
          <p:cNvSpPr/>
          <p:nvPr/>
        </p:nvSpPr>
        <p:spPr>
          <a:xfrm>
            <a:off x="3307080" y="3611880"/>
            <a:ext cx="2529840" cy="274320"/>
          </a:xfrm>
          <a:prstGeom prst="rect">
            <a:avLst/>
          </a:prstGeom>
          <a:noFill/>
          <a:ln/>
        </p:spPr>
        <p:txBody>
          <a:bodyPr wrap="square" rtlCol="0" anchor="ctr"/>
          <a:lstStyle/>
          <a:p>
            <a:pPr algn="ct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Accidentes Graves</a:t>
            </a:r>
            <a:endParaRPr lang="en-US" sz="900" dirty="0"/>
          </a:p>
        </p:txBody>
      </p:sp>
      <p:sp>
        <p:nvSpPr>
          <p:cNvPr id="32" name="Text 30"/>
          <p:cNvSpPr/>
          <p:nvPr/>
        </p:nvSpPr>
        <p:spPr>
          <a:xfrm>
            <a:off x="3307080" y="3886200"/>
            <a:ext cx="2529840" cy="420624"/>
          </a:xfrm>
          <a:prstGeom prst="rect">
            <a:avLst/>
          </a:prstGeom>
          <a:noFill/>
          <a:ln/>
        </p:spPr>
        <p:txBody>
          <a:bodyPr wrap="square" rtlCol="0" anchor="ctr"/>
          <a:lstStyle/>
          <a:p>
            <a:pPr algn="ctr" indent="0" marL="0">
              <a:buNone/>
            </a:pPr>
            <a:r>
              <a:rPr lang="en-US" sz="750" dirty="0">
                <a:solidFill>
                  <a:srgbClr val="555555"/>
                </a:solidFill>
                <a:latin typeface="Atkinson Hyperlegible" pitchFamily="34" charset="0"/>
                <a:ea typeface="Atkinson Hyperlegible" pitchFamily="34" charset="-122"/>
                <a:cs typeface="Atkinson Hyperlegible" pitchFamily="34" charset="-120"/>
              </a:rPr>
              <a:t>en proyectos con Safety by Design integrado a CWPs</a:t>
            </a:r>
            <a:endParaRPr lang="en-US" sz="750" dirty="0"/>
          </a:p>
        </p:txBody>
      </p:sp>
      <p:sp>
        <p:nvSpPr>
          <p:cNvPr id="33" name="Shape 31"/>
          <p:cNvSpPr/>
          <p:nvPr/>
        </p:nvSpPr>
        <p:spPr>
          <a:xfrm>
            <a:off x="6111240" y="2752344"/>
            <a:ext cx="2712720" cy="1627632"/>
          </a:xfrm>
          <a:prstGeom prst="rect">
            <a:avLst>
              <a:gd name="adj" fmla="val 3933"/>
            </a:avLst>
          </a:prstGeom>
          <a:solidFill>
            <a:srgbClr val="FFFFFF"/>
          </a:solidFill>
          <a:ln w="15240">
            <a:solidFill>
              <a:srgbClr val="2C3E8C"/>
            </a:solidFill>
            <a:prstDash val="solid"/>
          </a:ln>
        </p:spPr>
      </p:sp>
      <p:sp>
        <p:nvSpPr>
          <p:cNvPr id="34" name="Shape 32"/>
          <p:cNvSpPr/>
          <p:nvPr/>
        </p:nvSpPr>
        <p:spPr>
          <a:xfrm>
            <a:off x="6111240" y="2752344"/>
            <a:ext cx="2712720" cy="54864"/>
          </a:xfrm>
          <a:prstGeom prst="rect">
            <a:avLst>
              <a:gd name="adj" fmla="val 116667"/>
            </a:avLst>
          </a:prstGeom>
          <a:solidFill>
            <a:srgbClr val="2C3E8C"/>
          </a:solidFill>
          <a:ln w="12700">
            <a:solidFill>
              <a:srgbClr val="2C3E8C"/>
            </a:solidFill>
            <a:prstDash val="solid"/>
          </a:ln>
        </p:spPr>
      </p:sp>
      <p:sp>
        <p:nvSpPr>
          <p:cNvPr id="35" name="Text 33"/>
          <p:cNvSpPr/>
          <p:nvPr/>
        </p:nvSpPr>
        <p:spPr>
          <a:xfrm>
            <a:off x="6111240" y="2843784"/>
            <a:ext cx="2712720" cy="749808"/>
          </a:xfrm>
          <a:prstGeom prst="rect">
            <a:avLst/>
          </a:prstGeom>
          <a:noFill/>
          <a:ln/>
        </p:spPr>
        <p:txBody>
          <a:bodyPr wrap="square" rtlCol="0" anchor="ctr"/>
          <a:lstStyle/>
          <a:p>
            <a:pPr algn="ctr" indent="0" marL="0">
              <a:buNone/>
            </a:pPr>
            <a:r>
              <a:rPr lang="en-US" sz="3600" b="1" dirty="0">
                <a:solidFill>
                  <a:srgbClr val="2C3E8C"/>
                </a:solidFill>
                <a:latin typeface="Atkinson Hyperlegible" pitchFamily="34" charset="0"/>
                <a:ea typeface="Atkinson Hyperlegible" pitchFamily="34" charset="-122"/>
                <a:cs typeface="Atkinson Hyperlegible" pitchFamily="34" charset="-120"/>
              </a:rPr>
              <a:t>↑ 15%</a:t>
            </a:r>
            <a:endParaRPr lang="en-US" sz="3600" dirty="0"/>
          </a:p>
        </p:txBody>
      </p:sp>
      <p:sp>
        <p:nvSpPr>
          <p:cNvPr id="36" name="Text 34"/>
          <p:cNvSpPr/>
          <p:nvPr/>
        </p:nvSpPr>
        <p:spPr>
          <a:xfrm>
            <a:off x="6202680" y="3611880"/>
            <a:ext cx="2529840" cy="274320"/>
          </a:xfrm>
          <a:prstGeom prst="rect">
            <a:avLst/>
          </a:prstGeom>
          <a:noFill/>
          <a:ln/>
        </p:spPr>
        <p:txBody>
          <a:bodyPr wrap="square" rtlCol="0" anchor="ctr"/>
          <a:lstStyle/>
          <a:p>
            <a:pPr algn="ct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Empleo Local</a:t>
            </a:r>
            <a:endParaRPr lang="en-US" sz="900" dirty="0"/>
          </a:p>
        </p:txBody>
      </p:sp>
      <p:sp>
        <p:nvSpPr>
          <p:cNvPr id="37" name="Text 35"/>
          <p:cNvSpPr/>
          <p:nvPr/>
        </p:nvSpPr>
        <p:spPr>
          <a:xfrm>
            <a:off x="6202680" y="3886200"/>
            <a:ext cx="2529840" cy="420624"/>
          </a:xfrm>
          <a:prstGeom prst="rect">
            <a:avLst/>
          </a:prstGeom>
          <a:noFill/>
          <a:ln/>
        </p:spPr>
        <p:txBody>
          <a:bodyPr wrap="square" rtlCol="0" anchor="ctr"/>
          <a:lstStyle/>
          <a:p>
            <a:pPr algn="ctr" indent="0" marL="0">
              <a:buNone/>
            </a:pPr>
            <a:r>
              <a:rPr lang="en-US" sz="750" dirty="0">
                <a:solidFill>
                  <a:srgbClr val="555555"/>
                </a:solidFill>
                <a:latin typeface="Atkinson Hyperlegible" pitchFamily="34" charset="0"/>
                <a:ea typeface="Atkinson Hyperlegible" pitchFamily="34" charset="-122"/>
                <a:cs typeface="Atkinson Hyperlegible" pitchFamily="34" charset="-120"/>
              </a:rPr>
              <a:t>optimización de habilidades locales mediante plan de MO</a:t>
            </a:r>
            <a:endParaRPr lang="en-US" sz="7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7AE60"/>
          </a:solidFill>
          <a:ln w="12700">
            <a:solidFill>
              <a:srgbClr val="27AE60"/>
            </a:solidFill>
            <a:prstDash val="solid"/>
          </a:ln>
        </p:spPr>
      </p:sp>
      <p:sp>
        <p:nvSpPr>
          <p:cNvPr id="3" name="Shape 1"/>
          <p:cNvSpPr/>
          <p:nvPr/>
        </p:nvSpPr>
        <p:spPr>
          <a:xfrm>
            <a:off x="164592" y="4956048"/>
            <a:ext cx="8979408" cy="182880"/>
          </a:xfrm>
          <a:prstGeom prst="rect">
            <a:avLst/>
          </a:prstGeom>
          <a:solidFill>
            <a:srgbClr val="27AE60"/>
          </a:solidFill>
          <a:ln w="12700">
            <a:solidFill>
              <a:srgbClr val="27AE60"/>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77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Constructabilidad en Proyectos LEED/EDGE</a:t>
            </a:r>
            <a:endParaRPr lang="en-US" sz="1800" dirty="0"/>
          </a:p>
        </p:txBody>
      </p:sp>
      <p:sp>
        <p:nvSpPr>
          <p:cNvPr id="6" name="Shape 4"/>
          <p:cNvSpPr/>
          <p:nvPr/>
        </p:nvSpPr>
        <p:spPr>
          <a:xfrm>
            <a:off x="320040" y="621792"/>
            <a:ext cx="8503920" cy="41148"/>
          </a:xfrm>
          <a:prstGeom prst="rect">
            <a:avLst/>
          </a:prstGeom>
          <a:solidFill>
            <a:srgbClr val="27AE60"/>
          </a:solidFill>
          <a:ln w="12700">
            <a:solidFill>
              <a:srgbClr val="27AE60"/>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27AE60"/>
                </a:solidFill>
                <a:latin typeface="Atkinson Hyperlegible" pitchFamily="34" charset="0"/>
                <a:ea typeface="Atkinson Hyperlegible" pitchFamily="34" charset="-122"/>
                <a:cs typeface="Atkinson Hyperlegible" pitchFamily="34" charset="-120"/>
              </a:rPr>
              <a:t>Integración de requerimientos de certificación verde en el proceso AWP</a:t>
            </a:r>
            <a:endParaRPr lang="en-US" sz="900" dirty="0"/>
          </a:p>
        </p:txBody>
      </p:sp>
      <p:sp>
        <p:nvSpPr>
          <p:cNvPr id="8" name="Shape 6"/>
          <p:cNvSpPr/>
          <p:nvPr/>
        </p:nvSpPr>
        <p:spPr>
          <a:xfrm>
            <a:off x="320040" y="960120"/>
            <a:ext cx="8503920" cy="914400"/>
          </a:xfrm>
          <a:prstGeom prst="rect">
            <a:avLst>
              <a:gd name="adj" fmla="val 6000"/>
            </a:avLst>
          </a:prstGeom>
          <a:solidFill>
            <a:srgbClr val="F0FAF0"/>
          </a:solidFill>
          <a:ln w="10160">
            <a:solidFill>
              <a:srgbClr val="27AE60"/>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11480" y="1088136"/>
            <a:ext cx="347472" cy="347472"/>
          </a:xfrm>
          <a:prstGeom prst="rect">
            <a:avLst/>
          </a:prstGeom>
        </p:spPr>
      </p:pic>
      <p:sp>
        <p:nvSpPr>
          <p:cNvPr id="10" name="Text 7"/>
          <p:cNvSpPr/>
          <p:nvPr/>
        </p:nvSpPr>
        <p:spPr>
          <a:xfrm>
            <a:off x="850392" y="1051560"/>
            <a:ext cx="1554480" cy="329184"/>
          </a:xfrm>
          <a:prstGeom prst="rect">
            <a:avLst/>
          </a:prstGeom>
          <a:noFill/>
          <a:ln/>
        </p:spPr>
        <p:txBody>
          <a:bodyPr wrap="square" rtlCol="0" anchor="ctr"/>
          <a:lstStyle/>
          <a:p>
            <a:pPr indent="0" marL="0">
              <a:buNone/>
            </a:pPr>
            <a:r>
              <a:rPr lang="en-US" sz="900" b="1" dirty="0">
                <a:solidFill>
                  <a:srgbClr val="27AE60"/>
                </a:solidFill>
                <a:latin typeface="Atkinson Hyperlegible" pitchFamily="34" charset="0"/>
                <a:ea typeface="Atkinson Hyperlegible" pitchFamily="34" charset="-122"/>
                <a:cs typeface="Atkinson Hyperlegible" pitchFamily="34" charset="-120"/>
              </a:rPr>
              <a:t>Fase: Conceptual</a:t>
            </a:r>
            <a:endParaRPr lang="en-US" sz="900" dirty="0"/>
          </a:p>
        </p:txBody>
      </p:sp>
      <p:sp>
        <p:nvSpPr>
          <p:cNvPr id="11" name="Shape 8"/>
          <p:cNvSpPr/>
          <p:nvPr/>
        </p:nvSpPr>
        <p:spPr>
          <a:xfrm>
            <a:off x="2606040" y="1069848"/>
            <a:ext cx="1993392" cy="694944"/>
          </a:xfrm>
          <a:prstGeom prst="roundRect">
            <a:avLst>
              <a:gd name="adj" fmla="val 5263"/>
            </a:avLst>
          </a:prstGeom>
          <a:solidFill>
            <a:srgbClr val="FFFFFF"/>
          </a:solidFill>
          <a:ln w="10160">
            <a:solidFill>
              <a:srgbClr val="27AE60"/>
            </a:solidFill>
            <a:prstDash val="solid"/>
          </a:ln>
        </p:spPr>
      </p:sp>
      <p:sp>
        <p:nvSpPr>
          <p:cNvPr id="12" name="Text 9"/>
          <p:cNvSpPr/>
          <p:nvPr/>
        </p:nvSpPr>
        <p:spPr>
          <a:xfrm>
            <a:off x="2679192" y="1106424"/>
            <a:ext cx="1847088" cy="62179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Selección de sitio sostenible</a:t>
            </a:r>
            <a:endParaRPr lang="en-US" sz="750" dirty="0"/>
          </a:p>
        </p:txBody>
      </p:sp>
      <p:sp>
        <p:nvSpPr>
          <p:cNvPr id="13" name="Shape 10"/>
          <p:cNvSpPr/>
          <p:nvPr/>
        </p:nvSpPr>
        <p:spPr>
          <a:xfrm>
            <a:off x="4709160" y="1069848"/>
            <a:ext cx="1993392" cy="694944"/>
          </a:xfrm>
          <a:prstGeom prst="roundRect">
            <a:avLst>
              <a:gd name="adj" fmla="val 5263"/>
            </a:avLst>
          </a:prstGeom>
          <a:solidFill>
            <a:srgbClr val="FFFFFF"/>
          </a:solidFill>
          <a:ln w="10160">
            <a:solidFill>
              <a:srgbClr val="27AE60"/>
            </a:solidFill>
            <a:prstDash val="solid"/>
          </a:ln>
        </p:spPr>
      </p:sp>
      <p:sp>
        <p:nvSpPr>
          <p:cNvPr id="14" name="Text 11"/>
          <p:cNvSpPr/>
          <p:nvPr/>
        </p:nvSpPr>
        <p:spPr>
          <a:xfrm>
            <a:off x="4782312" y="1106424"/>
            <a:ext cx="1847088" cy="62179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Orientación solar óptima</a:t>
            </a:r>
            <a:endParaRPr lang="en-US" sz="750" dirty="0"/>
          </a:p>
        </p:txBody>
      </p:sp>
      <p:sp>
        <p:nvSpPr>
          <p:cNvPr id="15" name="Shape 12"/>
          <p:cNvSpPr/>
          <p:nvPr/>
        </p:nvSpPr>
        <p:spPr>
          <a:xfrm>
            <a:off x="6812280" y="1069848"/>
            <a:ext cx="1993392" cy="694944"/>
          </a:xfrm>
          <a:prstGeom prst="roundRect">
            <a:avLst>
              <a:gd name="adj" fmla="val 5263"/>
            </a:avLst>
          </a:prstGeom>
          <a:solidFill>
            <a:srgbClr val="FFFFFF"/>
          </a:solidFill>
          <a:ln w="10160">
            <a:solidFill>
              <a:srgbClr val="27AE60"/>
            </a:solidFill>
            <a:prstDash val="solid"/>
          </a:ln>
        </p:spPr>
      </p:sp>
      <p:sp>
        <p:nvSpPr>
          <p:cNvPr id="16" name="Text 13"/>
          <p:cNvSpPr/>
          <p:nvPr/>
        </p:nvSpPr>
        <p:spPr>
          <a:xfrm>
            <a:off x="6885432" y="1106424"/>
            <a:ext cx="1847088" cy="62179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Estrategia de agua</a:t>
            </a:r>
            <a:endParaRPr lang="en-US" sz="750" dirty="0"/>
          </a:p>
        </p:txBody>
      </p:sp>
      <p:sp>
        <p:nvSpPr>
          <p:cNvPr id="17" name="Shape 14"/>
          <p:cNvSpPr/>
          <p:nvPr/>
        </p:nvSpPr>
        <p:spPr>
          <a:xfrm>
            <a:off x="320040" y="1993392"/>
            <a:ext cx="8503920" cy="914400"/>
          </a:xfrm>
          <a:prstGeom prst="rect">
            <a:avLst>
              <a:gd name="adj" fmla="val 6000"/>
            </a:avLst>
          </a:prstGeom>
          <a:solidFill>
            <a:srgbClr val="FFFFFF"/>
          </a:solidFill>
          <a:ln w="10160">
            <a:solidFill>
              <a:srgbClr val="27AE60"/>
            </a:solidFill>
            <a:prstDash val="solid"/>
          </a:ln>
        </p:spPr>
      </p:sp>
      <p:pic>
        <p:nvPicPr>
          <p:cNvPr id="1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1480" y="2121408"/>
            <a:ext cx="347472" cy="347472"/>
          </a:xfrm>
          <a:prstGeom prst="rect">
            <a:avLst/>
          </a:prstGeom>
        </p:spPr>
      </p:pic>
      <p:sp>
        <p:nvSpPr>
          <p:cNvPr id="19" name="Text 15"/>
          <p:cNvSpPr/>
          <p:nvPr/>
        </p:nvSpPr>
        <p:spPr>
          <a:xfrm>
            <a:off x="850392" y="2084832"/>
            <a:ext cx="1554480" cy="329184"/>
          </a:xfrm>
          <a:prstGeom prst="rect">
            <a:avLst/>
          </a:prstGeom>
          <a:noFill/>
          <a:ln/>
        </p:spPr>
        <p:txBody>
          <a:bodyPr wrap="square" rtlCol="0" anchor="ctr"/>
          <a:lstStyle/>
          <a:p>
            <a:pPr indent="0" marL="0">
              <a:buNone/>
            </a:pPr>
            <a:r>
              <a:rPr lang="en-US" sz="900" b="1" dirty="0">
                <a:solidFill>
                  <a:srgbClr val="27AE60"/>
                </a:solidFill>
                <a:latin typeface="Atkinson Hyperlegible" pitchFamily="34" charset="0"/>
                <a:ea typeface="Atkinson Hyperlegible" pitchFamily="34" charset="-122"/>
                <a:cs typeface="Atkinson Hyperlegible" pitchFamily="34" charset="-120"/>
              </a:rPr>
              <a:t>Fase: EDS</a:t>
            </a:r>
            <a:endParaRPr lang="en-US" sz="900" dirty="0"/>
          </a:p>
        </p:txBody>
      </p:sp>
      <p:sp>
        <p:nvSpPr>
          <p:cNvPr id="20" name="Shape 16"/>
          <p:cNvSpPr/>
          <p:nvPr/>
        </p:nvSpPr>
        <p:spPr>
          <a:xfrm>
            <a:off x="2606040" y="2103120"/>
            <a:ext cx="1993392" cy="694944"/>
          </a:xfrm>
          <a:prstGeom prst="roundRect">
            <a:avLst>
              <a:gd name="adj" fmla="val 5263"/>
            </a:avLst>
          </a:prstGeom>
          <a:solidFill>
            <a:srgbClr val="FFFFFF"/>
          </a:solidFill>
          <a:ln w="10160">
            <a:solidFill>
              <a:srgbClr val="27AE60"/>
            </a:solidFill>
            <a:prstDash val="solid"/>
          </a:ln>
        </p:spPr>
      </p:sp>
      <p:sp>
        <p:nvSpPr>
          <p:cNvPr id="21" name="Text 17"/>
          <p:cNvSpPr/>
          <p:nvPr/>
        </p:nvSpPr>
        <p:spPr>
          <a:xfrm>
            <a:off x="2679192" y="2139696"/>
            <a:ext cx="1847088" cy="62179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Materiales de bajo CO₂ en CWPs</a:t>
            </a:r>
            <a:endParaRPr lang="en-US" sz="750" dirty="0"/>
          </a:p>
        </p:txBody>
      </p:sp>
      <p:sp>
        <p:nvSpPr>
          <p:cNvPr id="22" name="Shape 18"/>
          <p:cNvSpPr/>
          <p:nvPr/>
        </p:nvSpPr>
        <p:spPr>
          <a:xfrm>
            <a:off x="4709160" y="2103120"/>
            <a:ext cx="1993392" cy="694944"/>
          </a:xfrm>
          <a:prstGeom prst="roundRect">
            <a:avLst>
              <a:gd name="adj" fmla="val 5263"/>
            </a:avLst>
          </a:prstGeom>
          <a:solidFill>
            <a:srgbClr val="FFFFFF"/>
          </a:solidFill>
          <a:ln w="10160">
            <a:solidFill>
              <a:srgbClr val="27AE60"/>
            </a:solidFill>
            <a:prstDash val="solid"/>
          </a:ln>
        </p:spPr>
      </p:sp>
      <p:sp>
        <p:nvSpPr>
          <p:cNvPr id="23" name="Text 19"/>
          <p:cNvSpPr/>
          <p:nvPr/>
        </p:nvSpPr>
        <p:spPr>
          <a:xfrm>
            <a:off x="4782312" y="2139696"/>
            <a:ext cx="1847088" cy="62179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Prefabricación off-site</a:t>
            </a:r>
            <a:endParaRPr lang="en-US" sz="750" dirty="0"/>
          </a:p>
        </p:txBody>
      </p:sp>
      <p:sp>
        <p:nvSpPr>
          <p:cNvPr id="24" name="Shape 20"/>
          <p:cNvSpPr/>
          <p:nvPr/>
        </p:nvSpPr>
        <p:spPr>
          <a:xfrm>
            <a:off x="6812280" y="2103120"/>
            <a:ext cx="1993392" cy="694944"/>
          </a:xfrm>
          <a:prstGeom prst="roundRect">
            <a:avLst>
              <a:gd name="adj" fmla="val 5263"/>
            </a:avLst>
          </a:prstGeom>
          <a:solidFill>
            <a:srgbClr val="FFFFFF"/>
          </a:solidFill>
          <a:ln w="10160">
            <a:solidFill>
              <a:srgbClr val="27AE60"/>
            </a:solidFill>
            <a:prstDash val="solid"/>
          </a:ln>
        </p:spPr>
      </p:sp>
      <p:sp>
        <p:nvSpPr>
          <p:cNvPr id="25" name="Text 21"/>
          <p:cNvSpPr/>
          <p:nvPr/>
        </p:nvSpPr>
        <p:spPr>
          <a:xfrm>
            <a:off x="6885432" y="2139696"/>
            <a:ext cx="1847088" cy="62179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Gestión de residuos en IWPs</a:t>
            </a:r>
            <a:endParaRPr lang="en-US" sz="750" dirty="0"/>
          </a:p>
        </p:txBody>
      </p:sp>
      <p:sp>
        <p:nvSpPr>
          <p:cNvPr id="26" name="Shape 22"/>
          <p:cNvSpPr/>
          <p:nvPr/>
        </p:nvSpPr>
        <p:spPr>
          <a:xfrm>
            <a:off x="320040" y="3026664"/>
            <a:ext cx="8503920" cy="914400"/>
          </a:xfrm>
          <a:prstGeom prst="rect">
            <a:avLst>
              <a:gd name="adj" fmla="val 6000"/>
            </a:avLst>
          </a:prstGeom>
          <a:solidFill>
            <a:srgbClr val="F0FAF0"/>
          </a:solidFill>
          <a:ln w="10160">
            <a:solidFill>
              <a:srgbClr val="27AE60"/>
            </a:solidFill>
            <a:prstDash val="solid"/>
          </a:ln>
        </p:spPr>
      </p:sp>
      <p:pic>
        <p:nvPicPr>
          <p:cNvPr id="2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1480" y="3154680"/>
            <a:ext cx="347472" cy="347472"/>
          </a:xfrm>
          <a:prstGeom prst="rect">
            <a:avLst/>
          </a:prstGeom>
        </p:spPr>
      </p:pic>
      <p:sp>
        <p:nvSpPr>
          <p:cNvPr id="28" name="Text 23"/>
          <p:cNvSpPr/>
          <p:nvPr/>
        </p:nvSpPr>
        <p:spPr>
          <a:xfrm>
            <a:off x="850392" y="3118104"/>
            <a:ext cx="1554480" cy="329184"/>
          </a:xfrm>
          <a:prstGeom prst="rect">
            <a:avLst/>
          </a:prstGeom>
          <a:noFill/>
          <a:ln/>
        </p:spPr>
        <p:txBody>
          <a:bodyPr wrap="square" rtlCol="0" anchor="ctr"/>
          <a:lstStyle/>
          <a:p>
            <a:pPr indent="0" marL="0">
              <a:buNone/>
            </a:pPr>
            <a:r>
              <a:rPr lang="en-US" sz="900" b="1" dirty="0">
                <a:solidFill>
                  <a:srgbClr val="27AE60"/>
                </a:solidFill>
                <a:latin typeface="Atkinson Hyperlegible" pitchFamily="34" charset="0"/>
                <a:ea typeface="Atkinson Hyperlegible" pitchFamily="34" charset="-122"/>
                <a:cs typeface="Atkinson Hyperlegible" pitchFamily="34" charset="-120"/>
              </a:rPr>
              <a:t>Fase: Detalle</a:t>
            </a:r>
            <a:endParaRPr lang="en-US" sz="900" dirty="0"/>
          </a:p>
        </p:txBody>
      </p:sp>
      <p:sp>
        <p:nvSpPr>
          <p:cNvPr id="29" name="Shape 24"/>
          <p:cNvSpPr/>
          <p:nvPr/>
        </p:nvSpPr>
        <p:spPr>
          <a:xfrm>
            <a:off x="2606040" y="3136392"/>
            <a:ext cx="1993392" cy="694944"/>
          </a:xfrm>
          <a:prstGeom prst="roundRect">
            <a:avLst>
              <a:gd name="adj" fmla="val 5263"/>
            </a:avLst>
          </a:prstGeom>
          <a:solidFill>
            <a:srgbClr val="FFFFFF"/>
          </a:solidFill>
          <a:ln w="10160">
            <a:solidFill>
              <a:srgbClr val="27AE60"/>
            </a:solidFill>
            <a:prstDash val="solid"/>
          </a:ln>
        </p:spPr>
      </p:sp>
      <p:sp>
        <p:nvSpPr>
          <p:cNvPr id="30" name="Text 25"/>
          <p:cNvSpPr/>
          <p:nvPr/>
        </p:nvSpPr>
        <p:spPr>
          <a:xfrm>
            <a:off x="2679192" y="3172968"/>
            <a:ext cx="1847088" cy="62179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Especificaciones EPD</a:t>
            </a:r>
            <a:endParaRPr lang="en-US" sz="750" dirty="0"/>
          </a:p>
        </p:txBody>
      </p:sp>
      <p:sp>
        <p:nvSpPr>
          <p:cNvPr id="31" name="Shape 26"/>
          <p:cNvSpPr/>
          <p:nvPr/>
        </p:nvSpPr>
        <p:spPr>
          <a:xfrm>
            <a:off x="4709160" y="3136392"/>
            <a:ext cx="1993392" cy="694944"/>
          </a:xfrm>
          <a:prstGeom prst="roundRect">
            <a:avLst>
              <a:gd name="adj" fmla="val 5263"/>
            </a:avLst>
          </a:prstGeom>
          <a:solidFill>
            <a:srgbClr val="FFFFFF"/>
          </a:solidFill>
          <a:ln w="10160">
            <a:solidFill>
              <a:srgbClr val="27AE60"/>
            </a:solidFill>
            <a:prstDash val="solid"/>
          </a:ln>
        </p:spPr>
      </p:sp>
      <p:sp>
        <p:nvSpPr>
          <p:cNvPr id="32" name="Text 27"/>
          <p:cNvSpPr/>
          <p:nvPr/>
        </p:nvSpPr>
        <p:spPr>
          <a:xfrm>
            <a:off x="4782312" y="3172968"/>
            <a:ext cx="1847088" cy="62179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Contenido reciclado &gt;20%</a:t>
            </a:r>
            <a:endParaRPr lang="en-US" sz="750" dirty="0"/>
          </a:p>
        </p:txBody>
      </p:sp>
      <p:sp>
        <p:nvSpPr>
          <p:cNvPr id="33" name="Shape 28"/>
          <p:cNvSpPr/>
          <p:nvPr/>
        </p:nvSpPr>
        <p:spPr>
          <a:xfrm>
            <a:off x="6812280" y="3136392"/>
            <a:ext cx="1993392" cy="694944"/>
          </a:xfrm>
          <a:prstGeom prst="roundRect">
            <a:avLst>
              <a:gd name="adj" fmla="val 5263"/>
            </a:avLst>
          </a:prstGeom>
          <a:solidFill>
            <a:srgbClr val="FFFFFF"/>
          </a:solidFill>
          <a:ln w="10160">
            <a:solidFill>
              <a:srgbClr val="27AE60"/>
            </a:solidFill>
            <a:prstDash val="solid"/>
          </a:ln>
        </p:spPr>
      </p:sp>
      <p:sp>
        <p:nvSpPr>
          <p:cNvPr id="34" name="Text 29"/>
          <p:cNvSpPr/>
          <p:nvPr/>
        </p:nvSpPr>
        <p:spPr>
          <a:xfrm>
            <a:off x="6885432" y="3172968"/>
            <a:ext cx="1847088" cy="62179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Madera certificada FSC</a:t>
            </a:r>
            <a:endParaRPr lang="en-US" sz="750" dirty="0"/>
          </a:p>
        </p:txBody>
      </p:sp>
      <p:sp>
        <p:nvSpPr>
          <p:cNvPr id="35" name="Shape 30"/>
          <p:cNvSpPr/>
          <p:nvPr/>
        </p:nvSpPr>
        <p:spPr>
          <a:xfrm>
            <a:off x="320040" y="4059936"/>
            <a:ext cx="8503920" cy="914400"/>
          </a:xfrm>
          <a:prstGeom prst="rect">
            <a:avLst>
              <a:gd name="adj" fmla="val 6000"/>
            </a:avLst>
          </a:prstGeom>
          <a:solidFill>
            <a:srgbClr val="FFFFFF"/>
          </a:solidFill>
          <a:ln w="10160">
            <a:solidFill>
              <a:srgbClr val="27AE60"/>
            </a:solidFill>
            <a:prstDash val="solid"/>
          </a:ln>
        </p:spPr>
      </p:sp>
      <p:pic>
        <p:nvPicPr>
          <p:cNvPr id="3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11480" y="4187952"/>
            <a:ext cx="347472" cy="347472"/>
          </a:xfrm>
          <a:prstGeom prst="rect">
            <a:avLst/>
          </a:prstGeom>
        </p:spPr>
      </p:pic>
      <p:sp>
        <p:nvSpPr>
          <p:cNvPr id="37" name="Text 31"/>
          <p:cNvSpPr/>
          <p:nvPr/>
        </p:nvSpPr>
        <p:spPr>
          <a:xfrm>
            <a:off x="850392" y="4151376"/>
            <a:ext cx="1554480" cy="329184"/>
          </a:xfrm>
          <a:prstGeom prst="rect">
            <a:avLst/>
          </a:prstGeom>
          <a:noFill/>
          <a:ln/>
        </p:spPr>
        <p:txBody>
          <a:bodyPr wrap="square" rtlCol="0" anchor="ctr"/>
          <a:lstStyle/>
          <a:p>
            <a:pPr indent="0" marL="0">
              <a:buNone/>
            </a:pPr>
            <a:r>
              <a:rPr lang="en-US" sz="900" b="1" dirty="0">
                <a:solidFill>
                  <a:srgbClr val="27AE60"/>
                </a:solidFill>
                <a:latin typeface="Atkinson Hyperlegible" pitchFamily="34" charset="0"/>
                <a:ea typeface="Atkinson Hyperlegible" pitchFamily="34" charset="-122"/>
                <a:cs typeface="Atkinson Hyperlegible" pitchFamily="34" charset="-120"/>
              </a:rPr>
              <a:t>Fase: Construcción</a:t>
            </a:r>
            <a:endParaRPr lang="en-US" sz="900" dirty="0"/>
          </a:p>
        </p:txBody>
      </p:sp>
      <p:sp>
        <p:nvSpPr>
          <p:cNvPr id="38" name="Shape 32"/>
          <p:cNvSpPr/>
          <p:nvPr/>
        </p:nvSpPr>
        <p:spPr>
          <a:xfrm>
            <a:off x="2606040" y="4169664"/>
            <a:ext cx="1993392" cy="694944"/>
          </a:xfrm>
          <a:prstGeom prst="roundRect">
            <a:avLst>
              <a:gd name="adj" fmla="val 5263"/>
            </a:avLst>
          </a:prstGeom>
          <a:solidFill>
            <a:srgbClr val="FFFFFF"/>
          </a:solidFill>
          <a:ln w="10160">
            <a:solidFill>
              <a:srgbClr val="27AE60"/>
            </a:solidFill>
            <a:prstDash val="solid"/>
          </a:ln>
        </p:spPr>
      </p:sp>
      <p:sp>
        <p:nvSpPr>
          <p:cNvPr id="39" name="Text 33"/>
          <p:cNvSpPr/>
          <p:nvPr/>
        </p:nvSpPr>
        <p:spPr>
          <a:xfrm>
            <a:off x="2679192" y="4206240"/>
            <a:ext cx="1847088" cy="62179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LEED v4 Construction Activity</a:t>
            </a:r>
            <a:endParaRPr lang="en-US" sz="750" dirty="0"/>
          </a:p>
        </p:txBody>
      </p:sp>
      <p:sp>
        <p:nvSpPr>
          <p:cNvPr id="40" name="Shape 34"/>
          <p:cNvSpPr/>
          <p:nvPr/>
        </p:nvSpPr>
        <p:spPr>
          <a:xfrm>
            <a:off x="4709160" y="4169664"/>
            <a:ext cx="1993392" cy="694944"/>
          </a:xfrm>
          <a:prstGeom prst="roundRect">
            <a:avLst>
              <a:gd name="adj" fmla="val 5263"/>
            </a:avLst>
          </a:prstGeom>
          <a:solidFill>
            <a:srgbClr val="FFFFFF"/>
          </a:solidFill>
          <a:ln w="10160">
            <a:solidFill>
              <a:srgbClr val="27AE60"/>
            </a:solidFill>
            <a:prstDash val="solid"/>
          </a:ln>
        </p:spPr>
      </p:sp>
      <p:sp>
        <p:nvSpPr>
          <p:cNvPr id="41" name="Text 35"/>
          <p:cNvSpPr/>
          <p:nvPr/>
        </p:nvSpPr>
        <p:spPr>
          <a:xfrm>
            <a:off x="4782312" y="4206240"/>
            <a:ext cx="1847088" cy="62179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Calidad de aire en IWPs</a:t>
            </a:r>
            <a:endParaRPr lang="en-US" sz="750" dirty="0"/>
          </a:p>
        </p:txBody>
      </p:sp>
      <p:sp>
        <p:nvSpPr>
          <p:cNvPr id="42" name="Shape 36"/>
          <p:cNvSpPr/>
          <p:nvPr/>
        </p:nvSpPr>
        <p:spPr>
          <a:xfrm>
            <a:off x="6812280" y="4169664"/>
            <a:ext cx="1993392" cy="694944"/>
          </a:xfrm>
          <a:prstGeom prst="roundRect">
            <a:avLst>
              <a:gd name="adj" fmla="val 5263"/>
            </a:avLst>
          </a:prstGeom>
          <a:solidFill>
            <a:srgbClr val="FFFFFF"/>
          </a:solidFill>
          <a:ln w="10160">
            <a:solidFill>
              <a:srgbClr val="27AE60"/>
            </a:solidFill>
            <a:prstDash val="solid"/>
          </a:ln>
        </p:spPr>
      </p:sp>
      <p:sp>
        <p:nvSpPr>
          <p:cNvPr id="43" name="Text 37"/>
          <p:cNvSpPr/>
          <p:nvPr/>
        </p:nvSpPr>
        <p:spPr>
          <a:xfrm>
            <a:off x="6885432" y="4206240"/>
            <a:ext cx="1847088" cy="62179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Commissioning temprano</a:t>
            </a:r>
            <a:endParaRPr lang="en-US" sz="750" dirty="0"/>
          </a:p>
        </p:txBody>
      </p:sp>
      <p:sp>
        <p:nvSpPr>
          <p:cNvPr id="44" name="Shape 38"/>
          <p:cNvSpPr/>
          <p:nvPr/>
        </p:nvSpPr>
        <p:spPr>
          <a:xfrm>
            <a:off x="320040" y="5102352"/>
            <a:ext cx="0" cy="0"/>
          </a:xfrm>
          <a:prstGeom prst="rect">
            <a:avLst/>
          </a:prstGeom>
          <a:solidFill>
            <a:srgbClr val="FFFFFF"/>
          </a:solidFill>
          <a:ln w="12700">
            <a:solidFill>
              <a:srgbClr val="FFFFFF"/>
            </a:solidFill>
            <a:prstDash val="solid"/>
          </a:ln>
        </p:spPr>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7AE60"/>
          </a:solidFill>
          <a:ln w="12700">
            <a:solidFill>
              <a:srgbClr val="27AE60"/>
            </a:solidFill>
            <a:prstDash val="solid"/>
          </a:ln>
        </p:spPr>
      </p:sp>
      <p:sp>
        <p:nvSpPr>
          <p:cNvPr id="3" name="Shape 1"/>
          <p:cNvSpPr/>
          <p:nvPr/>
        </p:nvSpPr>
        <p:spPr>
          <a:xfrm>
            <a:off x="164592" y="4956048"/>
            <a:ext cx="8979408" cy="182880"/>
          </a:xfrm>
          <a:prstGeom prst="rect">
            <a:avLst/>
          </a:prstGeom>
          <a:solidFill>
            <a:srgbClr val="27AE60"/>
          </a:solidFill>
          <a:ln w="12700">
            <a:solidFill>
              <a:srgbClr val="27AE60"/>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78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Prefabricación y Modularización en AWP</a:t>
            </a:r>
            <a:endParaRPr lang="en-US" sz="1800" dirty="0"/>
          </a:p>
        </p:txBody>
      </p:sp>
      <p:sp>
        <p:nvSpPr>
          <p:cNvPr id="6" name="Shape 4"/>
          <p:cNvSpPr/>
          <p:nvPr/>
        </p:nvSpPr>
        <p:spPr>
          <a:xfrm>
            <a:off x="320040" y="621792"/>
            <a:ext cx="8503920" cy="41148"/>
          </a:xfrm>
          <a:prstGeom prst="rect">
            <a:avLst/>
          </a:prstGeom>
          <a:solidFill>
            <a:srgbClr val="27AE60"/>
          </a:solidFill>
          <a:ln w="12700">
            <a:solidFill>
              <a:srgbClr val="27AE60"/>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27AE60"/>
                </a:solidFill>
                <a:latin typeface="Atkinson Hyperlegible" pitchFamily="34" charset="0"/>
                <a:ea typeface="Atkinson Hyperlegible" pitchFamily="34" charset="-122"/>
                <a:cs typeface="Atkinson Hyperlegible" pitchFamily="34" charset="-120"/>
              </a:rPr>
              <a:t>Optimización off-site para reducir impacto ambiental y mejorar calidad</a:t>
            </a:r>
            <a:endParaRPr lang="en-US" sz="900" dirty="0"/>
          </a:p>
        </p:txBody>
      </p:sp>
      <p:sp>
        <p:nvSpPr>
          <p:cNvPr id="8" name="Shape 6"/>
          <p:cNvSpPr/>
          <p:nvPr/>
        </p:nvSpPr>
        <p:spPr>
          <a:xfrm>
            <a:off x="320040" y="960120"/>
            <a:ext cx="4023360" cy="329184"/>
          </a:xfrm>
          <a:prstGeom prst="rect">
            <a:avLst>
              <a:gd name="adj" fmla="val 16667"/>
            </a:avLst>
          </a:prstGeom>
          <a:solidFill>
            <a:srgbClr val="27AE60"/>
          </a:solidFill>
          <a:ln w="12700">
            <a:solidFill>
              <a:srgbClr val="27AE60"/>
            </a:solidFill>
            <a:prstDash val="solid"/>
          </a:ln>
        </p:spPr>
      </p:sp>
      <p:sp>
        <p:nvSpPr>
          <p:cNvPr id="9" name="Text 7"/>
          <p:cNvSpPr/>
          <p:nvPr/>
        </p:nvSpPr>
        <p:spPr>
          <a:xfrm>
            <a:off x="411480" y="996696"/>
            <a:ext cx="3840480" cy="256032"/>
          </a:xfrm>
          <a:prstGeom prst="rect">
            <a:avLst/>
          </a:prstGeom>
          <a:noFill/>
          <a:ln/>
        </p:spPr>
        <p:txBody>
          <a:bodyPr wrap="square" rtlCol="0" anchor="ctr"/>
          <a:lstStyle/>
          <a:p>
            <a:pP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Estrategias de Prefabricación</a:t>
            </a:r>
            <a:endParaRPr lang="en-US" sz="900" dirty="0"/>
          </a:p>
        </p:txBody>
      </p:sp>
      <p:sp>
        <p:nvSpPr>
          <p:cNvPr id="10" name="Shape 8"/>
          <p:cNvSpPr/>
          <p:nvPr/>
        </p:nvSpPr>
        <p:spPr>
          <a:xfrm>
            <a:off x="320040" y="1362456"/>
            <a:ext cx="4023360" cy="877824"/>
          </a:xfrm>
          <a:prstGeom prst="rect">
            <a:avLst>
              <a:gd name="adj" fmla="val 4167"/>
            </a:avLst>
          </a:prstGeom>
          <a:solidFill>
            <a:srgbClr val="FFFFFF"/>
          </a:solidFill>
          <a:ln w="6350">
            <a:solidFill>
              <a:srgbClr val="E5E5EA"/>
            </a:solidFill>
            <a:prstDash val="solid"/>
          </a:ln>
        </p:spPr>
      </p:sp>
      <p:sp>
        <p:nvSpPr>
          <p:cNvPr id="11" name="Text 9"/>
          <p:cNvSpPr/>
          <p:nvPr/>
        </p:nvSpPr>
        <p:spPr>
          <a:xfrm>
            <a:off x="411480" y="1408176"/>
            <a:ext cx="3840480" cy="25603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Piperack Modular</a:t>
            </a:r>
            <a:endParaRPr lang="en-US" sz="850" dirty="0"/>
          </a:p>
        </p:txBody>
      </p:sp>
      <p:sp>
        <p:nvSpPr>
          <p:cNvPr id="12" name="Text 10"/>
          <p:cNvSpPr/>
          <p:nvPr/>
        </p:nvSpPr>
        <p:spPr>
          <a:xfrm>
            <a:off x="411480" y="1673352"/>
            <a:ext cx="3840480" cy="51206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Módulos de piperack prefabricados en taller: calidad controlada, cero contingencia de campo</a:t>
            </a:r>
            <a:endParaRPr lang="en-US" sz="750" dirty="0"/>
          </a:p>
        </p:txBody>
      </p:sp>
      <p:sp>
        <p:nvSpPr>
          <p:cNvPr id="13" name="Shape 11"/>
          <p:cNvSpPr/>
          <p:nvPr/>
        </p:nvSpPr>
        <p:spPr>
          <a:xfrm>
            <a:off x="320040" y="2295144"/>
            <a:ext cx="4023360" cy="877824"/>
          </a:xfrm>
          <a:prstGeom prst="rect">
            <a:avLst>
              <a:gd name="adj" fmla="val 4167"/>
            </a:avLst>
          </a:prstGeom>
          <a:solidFill>
            <a:srgbClr val="F9F9F9"/>
          </a:solidFill>
          <a:ln w="6350">
            <a:solidFill>
              <a:srgbClr val="E5E5EA"/>
            </a:solidFill>
            <a:prstDash val="solid"/>
          </a:ln>
        </p:spPr>
      </p:sp>
      <p:sp>
        <p:nvSpPr>
          <p:cNvPr id="14" name="Text 12"/>
          <p:cNvSpPr/>
          <p:nvPr/>
        </p:nvSpPr>
        <p:spPr>
          <a:xfrm>
            <a:off x="411480" y="2340864"/>
            <a:ext cx="3840480" cy="25603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Skids de Proceso</a:t>
            </a:r>
            <a:endParaRPr lang="en-US" sz="850" dirty="0"/>
          </a:p>
        </p:txBody>
      </p:sp>
      <p:sp>
        <p:nvSpPr>
          <p:cNvPr id="15" name="Text 13"/>
          <p:cNvSpPr/>
          <p:nvPr/>
        </p:nvSpPr>
        <p:spPr>
          <a:xfrm>
            <a:off x="411480" y="2606040"/>
            <a:ext cx="3840480" cy="51206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Unidades de proceso completas ensambladas off-site, test FAT, entrega plug &amp; play</a:t>
            </a:r>
            <a:endParaRPr lang="en-US" sz="750" dirty="0"/>
          </a:p>
        </p:txBody>
      </p:sp>
      <p:sp>
        <p:nvSpPr>
          <p:cNvPr id="16" name="Shape 14"/>
          <p:cNvSpPr/>
          <p:nvPr/>
        </p:nvSpPr>
        <p:spPr>
          <a:xfrm>
            <a:off x="320040" y="3227832"/>
            <a:ext cx="4023360" cy="877824"/>
          </a:xfrm>
          <a:prstGeom prst="rect">
            <a:avLst>
              <a:gd name="adj" fmla="val 4167"/>
            </a:avLst>
          </a:prstGeom>
          <a:solidFill>
            <a:srgbClr val="FFFFFF"/>
          </a:solidFill>
          <a:ln w="6350">
            <a:solidFill>
              <a:srgbClr val="E5E5EA"/>
            </a:solidFill>
            <a:prstDash val="solid"/>
          </a:ln>
        </p:spPr>
      </p:sp>
      <p:sp>
        <p:nvSpPr>
          <p:cNvPr id="17" name="Text 15"/>
          <p:cNvSpPr/>
          <p:nvPr/>
        </p:nvSpPr>
        <p:spPr>
          <a:xfrm>
            <a:off x="411480" y="3273552"/>
            <a:ext cx="3840480" cy="25603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Prefabricado Estructural</a:t>
            </a:r>
            <a:endParaRPr lang="en-US" sz="850" dirty="0"/>
          </a:p>
        </p:txBody>
      </p:sp>
      <p:sp>
        <p:nvSpPr>
          <p:cNvPr id="18" name="Text 16"/>
          <p:cNvSpPr/>
          <p:nvPr/>
        </p:nvSpPr>
        <p:spPr>
          <a:xfrm>
            <a:off x="411480" y="3538728"/>
            <a:ext cx="3840480" cy="51206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Columnas, vigas y escaleras: reducción 60% en scaffolding temporal</a:t>
            </a:r>
            <a:endParaRPr lang="en-US" sz="750" dirty="0"/>
          </a:p>
        </p:txBody>
      </p:sp>
      <p:sp>
        <p:nvSpPr>
          <p:cNvPr id="19" name="Shape 17"/>
          <p:cNvSpPr/>
          <p:nvPr/>
        </p:nvSpPr>
        <p:spPr>
          <a:xfrm>
            <a:off x="320040" y="4160520"/>
            <a:ext cx="4023360" cy="877824"/>
          </a:xfrm>
          <a:prstGeom prst="rect">
            <a:avLst>
              <a:gd name="adj" fmla="val 4167"/>
            </a:avLst>
          </a:prstGeom>
          <a:solidFill>
            <a:srgbClr val="F9F9F9"/>
          </a:solidFill>
          <a:ln w="6350">
            <a:solidFill>
              <a:srgbClr val="E5E5EA"/>
            </a:solidFill>
            <a:prstDash val="solid"/>
          </a:ln>
        </p:spPr>
      </p:sp>
      <p:sp>
        <p:nvSpPr>
          <p:cNvPr id="20" name="Text 18"/>
          <p:cNvSpPr/>
          <p:nvPr/>
        </p:nvSpPr>
        <p:spPr>
          <a:xfrm>
            <a:off x="411480" y="4206240"/>
            <a:ext cx="3840480" cy="25603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Prefab Eléctrico/Instrumentación</a:t>
            </a:r>
            <a:endParaRPr lang="en-US" sz="850" dirty="0"/>
          </a:p>
        </p:txBody>
      </p:sp>
      <p:sp>
        <p:nvSpPr>
          <p:cNvPr id="21" name="Text 19"/>
          <p:cNvSpPr/>
          <p:nvPr/>
        </p:nvSpPr>
        <p:spPr>
          <a:xfrm>
            <a:off x="411480" y="4471416"/>
            <a:ext cx="3840480" cy="51206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MCC, tableros y racks montados en taller con calidad de fábrica</a:t>
            </a:r>
            <a:endParaRPr lang="en-US" sz="750" dirty="0"/>
          </a:p>
        </p:txBody>
      </p:sp>
      <p:sp>
        <p:nvSpPr>
          <p:cNvPr id="22" name="Shape 20"/>
          <p:cNvSpPr/>
          <p:nvPr/>
        </p:nvSpPr>
        <p:spPr>
          <a:xfrm>
            <a:off x="4663440" y="960120"/>
            <a:ext cx="4023360" cy="329184"/>
          </a:xfrm>
          <a:prstGeom prst="rect">
            <a:avLst>
              <a:gd name="adj" fmla="val 16667"/>
            </a:avLst>
          </a:prstGeom>
          <a:solidFill>
            <a:srgbClr val="0E9E9E"/>
          </a:solidFill>
          <a:ln w="12700">
            <a:solidFill>
              <a:srgbClr val="0E9E9E"/>
            </a:solidFill>
            <a:prstDash val="solid"/>
          </a:ln>
        </p:spPr>
      </p:sp>
      <p:sp>
        <p:nvSpPr>
          <p:cNvPr id="23" name="Text 21"/>
          <p:cNvSpPr/>
          <p:nvPr/>
        </p:nvSpPr>
        <p:spPr>
          <a:xfrm>
            <a:off x="4754880" y="996696"/>
            <a:ext cx="3840480" cy="256032"/>
          </a:xfrm>
          <a:prstGeom prst="rect">
            <a:avLst/>
          </a:prstGeom>
          <a:noFill/>
          <a:ln/>
        </p:spPr>
        <p:txBody>
          <a:bodyPr wrap="square" rtlCol="0" anchor="ctr"/>
          <a:lstStyle/>
          <a:p>
            <a:pP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Beneficios Medibles</a:t>
            </a:r>
            <a:endParaRPr lang="en-US" sz="900" dirty="0"/>
          </a:p>
        </p:txBody>
      </p:sp>
      <p:sp>
        <p:nvSpPr>
          <p:cNvPr id="24" name="Shape 22"/>
          <p:cNvSpPr/>
          <p:nvPr/>
        </p:nvSpPr>
        <p:spPr>
          <a:xfrm>
            <a:off x="4663440" y="1362456"/>
            <a:ext cx="4023360" cy="877824"/>
          </a:xfrm>
          <a:prstGeom prst="rect">
            <a:avLst>
              <a:gd name="adj" fmla="val 4167"/>
            </a:avLst>
          </a:prstGeom>
          <a:solidFill>
            <a:srgbClr val="FFFFFF"/>
          </a:solidFill>
          <a:ln w="6350">
            <a:solidFill>
              <a:srgbClr val="E5E5EA"/>
            </a:solidFill>
            <a:prstDash val="solid"/>
          </a:ln>
        </p:spPr>
      </p:sp>
      <p:sp>
        <p:nvSpPr>
          <p:cNvPr id="25" name="Text 23"/>
          <p:cNvSpPr/>
          <p:nvPr/>
        </p:nvSpPr>
        <p:spPr>
          <a:xfrm>
            <a:off x="4754880" y="1408176"/>
            <a:ext cx="3840480" cy="25603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Productividad</a:t>
            </a:r>
            <a:endParaRPr lang="en-US" sz="850" dirty="0"/>
          </a:p>
        </p:txBody>
      </p:sp>
      <p:sp>
        <p:nvSpPr>
          <p:cNvPr id="26" name="Text 24"/>
          <p:cNvSpPr/>
          <p:nvPr/>
        </p:nvSpPr>
        <p:spPr>
          <a:xfrm>
            <a:off x="4754880" y="1673352"/>
            <a:ext cx="3840480" cy="51206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+35 a 50% vs construcción tradicional in-situ</a:t>
            </a:r>
            <a:endParaRPr lang="en-US" sz="750" dirty="0"/>
          </a:p>
        </p:txBody>
      </p:sp>
      <p:sp>
        <p:nvSpPr>
          <p:cNvPr id="27" name="Shape 25"/>
          <p:cNvSpPr/>
          <p:nvPr/>
        </p:nvSpPr>
        <p:spPr>
          <a:xfrm>
            <a:off x="4663440" y="2295144"/>
            <a:ext cx="4023360" cy="877824"/>
          </a:xfrm>
          <a:prstGeom prst="rect">
            <a:avLst>
              <a:gd name="adj" fmla="val 4167"/>
            </a:avLst>
          </a:prstGeom>
          <a:solidFill>
            <a:srgbClr val="F9F9F9"/>
          </a:solidFill>
          <a:ln w="6350">
            <a:solidFill>
              <a:srgbClr val="E5E5EA"/>
            </a:solidFill>
            <a:prstDash val="solid"/>
          </a:ln>
        </p:spPr>
      </p:sp>
      <p:sp>
        <p:nvSpPr>
          <p:cNvPr id="28" name="Text 26"/>
          <p:cNvSpPr/>
          <p:nvPr/>
        </p:nvSpPr>
        <p:spPr>
          <a:xfrm>
            <a:off x="4754880" y="2340864"/>
            <a:ext cx="3840480" cy="25603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Seguridad</a:t>
            </a:r>
            <a:endParaRPr lang="en-US" sz="850" dirty="0"/>
          </a:p>
        </p:txBody>
      </p:sp>
      <p:sp>
        <p:nvSpPr>
          <p:cNvPr id="29" name="Text 27"/>
          <p:cNvSpPr/>
          <p:nvPr/>
        </p:nvSpPr>
        <p:spPr>
          <a:xfrm>
            <a:off x="4754880" y="2606040"/>
            <a:ext cx="3840480" cy="51206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70% reducción de accidentes: ambiente de taller vs campo abierto</a:t>
            </a:r>
            <a:endParaRPr lang="en-US" sz="750" dirty="0"/>
          </a:p>
        </p:txBody>
      </p:sp>
      <p:sp>
        <p:nvSpPr>
          <p:cNvPr id="30" name="Shape 28"/>
          <p:cNvSpPr/>
          <p:nvPr/>
        </p:nvSpPr>
        <p:spPr>
          <a:xfrm>
            <a:off x="4663440" y="3227832"/>
            <a:ext cx="4023360" cy="877824"/>
          </a:xfrm>
          <a:prstGeom prst="rect">
            <a:avLst>
              <a:gd name="adj" fmla="val 4167"/>
            </a:avLst>
          </a:prstGeom>
          <a:solidFill>
            <a:srgbClr val="FFFFFF"/>
          </a:solidFill>
          <a:ln w="6350">
            <a:solidFill>
              <a:srgbClr val="E5E5EA"/>
            </a:solidFill>
            <a:prstDash val="solid"/>
          </a:ln>
        </p:spPr>
      </p:sp>
      <p:sp>
        <p:nvSpPr>
          <p:cNvPr id="31" name="Text 29"/>
          <p:cNvSpPr/>
          <p:nvPr/>
        </p:nvSpPr>
        <p:spPr>
          <a:xfrm>
            <a:off x="4754880" y="3273552"/>
            <a:ext cx="3840480" cy="25603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Calidad</a:t>
            </a:r>
            <a:endParaRPr lang="en-US" sz="850" dirty="0"/>
          </a:p>
        </p:txBody>
      </p:sp>
      <p:sp>
        <p:nvSpPr>
          <p:cNvPr id="32" name="Text 30"/>
          <p:cNvSpPr/>
          <p:nvPr/>
        </p:nvSpPr>
        <p:spPr>
          <a:xfrm>
            <a:off x="4754880" y="3538728"/>
            <a:ext cx="3840480" cy="51206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Defectos ↓ 65%: condiciones controladas de temperatura y humedad</a:t>
            </a:r>
            <a:endParaRPr lang="en-US" sz="750" dirty="0"/>
          </a:p>
        </p:txBody>
      </p:sp>
      <p:sp>
        <p:nvSpPr>
          <p:cNvPr id="33" name="Shape 31"/>
          <p:cNvSpPr/>
          <p:nvPr/>
        </p:nvSpPr>
        <p:spPr>
          <a:xfrm>
            <a:off x="4663440" y="4160520"/>
            <a:ext cx="4023360" cy="877824"/>
          </a:xfrm>
          <a:prstGeom prst="rect">
            <a:avLst>
              <a:gd name="adj" fmla="val 4167"/>
            </a:avLst>
          </a:prstGeom>
          <a:solidFill>
            <a:srgbClr val="F9F9F9"/>
          </a:solidFill>
          <a:ln w="6350">
            <a:solidFill>
              <a:srgbClr val="E5E5EA"/>
            </a:solidFill>
            <a:prstDash val="solid"/>
          </a:ln>
        </p:spPr>
      </p:sp>
      <p:sp>
        <p:nvSpPr>
          <p:cNvPr id="34" name="Text 32"/>
          <p:cNvSpPr/>
          <p:nvPr/>
        </p:nvSpPr>
        <p:spPr>
          <a:xfrm>
            <a:off x="4754880" y="4206240"/>
            <a:ext cx="3840480" cy="25603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Cronograma</a:t>
            </a:r>
            <a:endParaRPr lang="en-US" sz="850" dirty="0"/>
          </a:p>
        </p:txBody>
      </p:sp>
      <p:sp>
        <p:nvSpPr>
          <p:cNvPr id="35" name="Text 33"/>
          <p:cNvSpPr/>
          <p:nvPr/>
        </p:nvSpPr>
        <p:spPr>
          <a:xfrm>
            <a:off x="4754880" y="4471416"/>
            <a:ext cx="3840480" cy="51206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Compresión de programa hasta 30% con paralelismo de taller/campo</a:t>
            </a:r>
            <a:endParaRPr lang="en-US" sz="7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7AE60"/>
          </a:solidFill>
          <a:ln w="12700">
            <a:solidFill>
              <a:srgbClr val="27AE60"/>
            </a:solidFill>
            <a:prstDash val="solid"/>
          </a:ln>
        </p:spPr>
      </p:sp>
      <p:sp>
        <p:nvSpPr>
          <p:cNvPr id="3" name="Shape 1"/>
          <p:cNvSpPr/>
          <p:nvPr/>
        </p:nvSpPr>
        <p:spPr>
          <a:xfrm>
            <a:off x="164592" y="4956048"/>
            <a:ext cx="8979408" cy="182880"/>
          </a:xfrm>
          <a:prstGeom prst="rect">
            <a:avLst/>
          </a:prstGeom>
          <a:solidFill>
            <a:srgbClr val="27AE60"/>
          </a:solidFill>
          <a:ln w="12700">
            <a:solidFill>
              <a:srgbClr val="27AE60"/>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79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Constructabilidad en Proyectos Resilientes al Clima</a:t>
            </a:r>
            <a:endParaRPr lang="en-US" sz="1800" dirty="0"/>
          </a:p>
        </p:txBody>
      </p:sp>
      <p:sp>
        <p:nvSpPr>
          <p:cNvPr id="6" name="Shape 4"/>
          <p:cNvSpPr/>
          <p:nvPr/>
        </p:nvSpPr>
        <p:spPr>
          <a:xfrm>
            <a:off x="320040" y="621792"/>
            <a:ext cx="8503920" cy="41148"/>
          </a:xfrm>
          <a:prstGeom prst="rect">
            <a:avLst/>
          </a:prstGeom>
          <a:solidFill>
            <a:srgbClr val="27AE60"/>
          </a:solidFill>
          <a:ln w="12700">
            <a:solidFill>
              <a:srgbClr val="27AE60"/>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27AE60"/>
                </a:solidFill>
                <a:latin typeface="Atkinson Hyperlegible" pitchFamily="34" charset="0"/>
                <a:ea typeface="Atkinson Hyperlegible" pitchFamily="34" charset="-122"/>
                <a:cs typeface="Atkinson Hyperlegible" pitchFamily="34" charset="-120"/>
              </a:rPr>
              <a:t>Diseñar y construir considerando impactos climáticos presentes y futuros</a:t>
            </a:r>
            <a:endParaRPr lang="en-US" sz="900" dirty="0"/>
          </a:p>
        </p:txBody>
      </p:sp>
      <p:sp>
        <p:nvSpPr>
          <p:cNvPr id="8" name="Shape 6"/>
          <p:cNvSpPr/>
          <p:nvPr/>
        </p:nvSpPr>
        <p:spPr>
          <a:xfrm>
            <a:off x="3913632" y="2468880"/>
            <a:ext cx="1316736" cy="731520"/>
          </a:xfrm>
          <a:prstGeom prst="ellipse">
            <a:avLst/>
          </a:prstGeom>
          <a:solidFill>
            <a:srgbClr val="27AE60"/>
          </a:solidFill>
          <a:ln w="12700">
            <a:solidFill>
              <a:srgbClr val="27AE60"/>
            </a:solidFill>
            <a:prstDash val="solid"/>
          </a:ln>
        </p:spPr>
      </p:sp>
      <p:sp>
        <p:nvSpPr>
          <p:cNvPr id="9" name="Text 7"/>
          <p:cNvSpPr/>
          <p:nvPr/>
        </p:nvSpPr>
        <p:spPr>
          <a:xfrm>
            <a:off x="3913632" y="2468880"/>
            <a:ext cx="1316736" cy="731520"/>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Resiliencia</a:t>
            </a:r>
            <a:endParaRPr lang="en-US" sz="850" dirty="0"/>
          </a:p>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Climática</a:t>
            </a:r>
            <a:endParaRPr lang="en-US" sz="850" dirty="0"/>
          </a:p>
        </p:txBody>
      </p:sp>
      <p:sp>
        <p:nvSpPr>
          <p:cNvPr id="10" name="Shape 8"/>
          <p:cNvSpPr/>
          <p:nvPr/>
        </p:nvSpPr>
        <p:spPr>
          <a:xfrm flipV="1">
            <a:off x="4572000" y="1703527"/>
            <a:ext cx="18288" cy="747065"/>
          </a:xfrm>
          <a:prstGeom prst="line">
            <a:avLst/>
          </a:prstGeom>
          <a:noFill/>
          <a:ln w="12700">
            <a:solidFill>
              <a:srgbClr val="27AE60"/>
            </a:solidFill>
            <a:prstDash val="solid"/>
          </a:ln>
        </p:spPr>
      </p:sp>
      <p:sp>
        <p:nvSpPr>
          <p:cNvPr id="11" name="Shape 9"/>
          <p:cNvSpPr/>
          <p:nvPr/>
        </p:nvSpPr>
        <p:spPr>
          <a:xfrm>
            <a:off x="3913632" y="1191463"/>
            <a:ext cx="1316736" cy="566928"/>
          </a:xfrm>
          <a:prstGeom prst="roundRect">
            <a:avLst>
              <a:gd name="adj" fmla="val 9677"/>
            </a:avLst>
          </a:prstGeom>
          <a:solidFill>
            <a:srgbClr val="FFFFFF"/>
          </a:solidFill>
          <a:ln w="15240">
            <a:solidFill>
              <a:srgbClr val="27AE60"/>
            </a:solidFill>
            <a:prstDash val="solid"/>
          </a:ln>
        </p:spPr>
      </p:sp>
      <p:sp>
        <p:nvSpPr>
          <p:cNvPr id="12" name="Text 10"/>
          <p:cNvSpPr/>
          <p:nvPr/>
        </p:nvSpPr>
        <p:spPr>
          <a:xfrm>
            <a:off x="3931920" y="1200607"/>
            <a:ext cx="1280160" cy="274320"/>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Análisis de</a:t>
            </a:r>
            <a:endParaRPr lang="en-US" sz="750" dirty="0"/>
          </a:p>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Riesgo Climático</a:t>
            </a:r>
            <a:endParaRPr lang="en-US" sz="750" dirty="0"/>
          </a:p>
        </p:txBody>
      </p:sp>
      <p:sp>
        <p:nvSpPr>
          <p:cNvPr id="13" name="Text 11"/>
          <p:cNvSpPr/>
          <p:nvPr/>
        </p:nvSpPr>
        <p:spPr>
          <a:xfrm>
            <a:off x="3931920" y="1502359"/>
            <a:ext cx="1280160" cy="219456"/>
          </a:xfrm>
          <a:prstGeom prst="rect">
            <a:avLst/>
          </a:prstGeom>
          <a:noFill/>
          <a:ln/>
        </p:spPr>
        <p:txBody>
          <a:bodyPr wrap="square" rtlCol="0" anchor="ctr"/>
          <a:lstStyle/>
          <a:p>
            <a:pPr algn="ctr" indent="0" marL="0">
              <a:buNone/>
            </a:pPr>
            <a:r>
              <a:rPr lang="en-US" sz="650" dirty="0">
                <a:solidFill>
                  <a:srgbClr val="444444"/>
                </a:solidFill>
                <a:latin typeface="Atkinson Hyperlegible" pitchFamily="34" charset="0"/>
                <a:ea typeface="Atkinson Hyperlegible" pitchFamily="34" charset="-122"/>
                <a:cs typeface="Atkinson Hyperlegible" pitchFamily="34" charset="-120"/>
              </a:rPr>
              <a:t>TCFD framework</a:t>
            </a:r>
            <a:endParaRPr lang="en-US" sz="650" dirty="0"/>
          </a:p>
        </p:txBody>
      </p:sp>
      <p:sp>
        <p:nvSpPr>
          <p:cNvPr id="14" name="Shape 12"/>
          <p:cNvSpPr/>
          <p:nvPr/>
        </p:nvSpPr>
        <p:spPr>
          <a:xfrm flipV="1">
            <a:off x="5165920" y="2269084"/>
            <a:ext cx="332595" cy="373532"/>
          </a:xfrm>
          <a:prstGeom prst="line">
            <a:avLst/>
          </a:prstGeom>
          <a:noFill/>
          <a:ln w="12700">
            <a:solidFill>
              <a:srgbClr val="27AE60"/>
            </a:solidFill>
            <a:prstDash val="solid"/>
          </a:ln>
        </p:spPr>
      </p:sp>
      <p:sp>
        <p:nvSpPr>
          <p:cNvPr id="15" name="Shape 13"/>
          <p:cNvSpPr/>
          <p:nvPr/>
        </p:nvSpPr>
        <p:spPr>
          <a:xfrm>
            <a:off x="5378635" y="1885036"/>
            <a:ext cx="1316736" cy="566928"/>
          </a:xfrm>
          <a:prstGeom prst="roundRect">
            <a:avLst>
              <a:gd name="adj" fmla="val 9677"/>
            </a:avLst>
          </a:prstGeom>
          <a:solidFill>
            <a:srgbClr val="FFFFFF"/>
          </a:solidFill>
          <a:ln w="15240">
            <a:solidFill>
              <a:srgbClr val="27AE60"/>
            </a:solidFill>
            <a:prstDash val="solid"/>
          </a:ln>
        </p:spPr>
      </p:sp>
      <p:sp>
        <p:nvSpPr>
          <p:cNvPr id="16" name="Text 14"/>
          <p:cNvSpPr/>
          <p:nvPr/>
        </p:nvSpPr>
        <p:spPr>
          <a:xfrm>
            <a:off x="5396923" y="1894180"/>
            <a:ext cx="1280160" cy="274320"/>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Materiales</a:t>
            </a:r>
            <a:endParaRPr lang="en-US" sz="750" dirty="0"/>
          </a:p>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Adaptativos</a:t>
            </a:r>
            <a:endParaRPr lang="en-US" sz="750" dirty="0"/>
          </a:p>
        </p:txBody>
      </p:sp>
      <p:sp>
        <p:nvSpPr>
          <p:cNvPr id="17" name="Text 15"/>
          <p:cNvSpPr/>
          <p:nvPr/>
        </p:nvSpPr>
        <p:spPr>
          <a:xfrm>
            <a:off x="5396923" y="2195932"/>
            <a:ext cx="1280160" cy="219456"/>
          </a:xfrm>
          <a:prstGeom prst="rect">
            <a:avLst/>
          </a:prstGeom>
          <a:noFill/>
          <a:ln/>
        </p:spPr>
        <p:txBody>
          <a:bodyPr wrap="square" rtlCol="0" anchor="ctr"/>
          <a:lstStyle/>
          <a:p>
            <a:pPr algn="ctr" indent="0" marL="0">
              <a:buNone/>
            </a:pPr>
            <a:r>
              <a:rPr lang="en-US" sz="650" dirty="0">
                <a:solidFill>
                  <a:srgbClr val="444444"/>
                </a:solidFill>
                <a:latin typeface="Atkinson Hyperlegible" pitchFamily="34" charset="0"/>
                <a:ea typeface="Atkinson Hyperlegible" pitchFamily="34" charset="-122"/>
                <a:cs typeface="Atkinson Hyperlegible" pitchFamily="34" charset="-120"/>
              </a:rPr>
              <a:t>Alta durabilidad</a:t>
            </a:r>
            <a:endParaRPr lang="en-US" sz="650" dirty="0"/>
          </a:p>
        </p:txBody>
      </p:sp>
      <p:sp>
        <p:nvSpPr>
          <p:cNvPr id="18" name="Shape 16"/>
          <p:cNvSpPr/>
          <p:nvPr/>
        </p:nvSpPr>
        <p:spPr>
          <a:xfrm>
            <a:off x="5165920" y="3026664"/>
            <a:ext cx="332595" cy="373532"/>
          </a:xfrm>
          <a:prstGeom prst="line">
            <a:avLst/>
          </a:prstGeom>
          <a:noFill/>
          <a:ln w="12700">
            <a:solidFill>
              <a:srgbClr val="27AE60"/>
            </a:solidFill>
            <a:prstDash val="solid"/>
          </a:ln>
        </p:spPr>
      </p:sp>
      <p:sp>
        <p:nvSpPr>
          <p:cNvPr id="19" name="Shape 17"/>
          <p:cNvSpPr/>
          <p:nvPr/>
        </p:nvSpPr>
        <p:spPr>
          <a:xfrm>
            <a:off x="5378635" y="3272180"/>
            <a:ext cx="1316736" cy="566928"/>
          </a:xfrm>
          <a:prstGeom prst="roundRect">
            <a:avLst>
              <a:gd name="adj" fmla="val 9677"/>
            </a:avLst>
          </a:prstGeom>
          <a:solidFill>
            <a:srgbClr val="FFFFFF"/>
          </a:solidFill>
          <a:ln w="15240">
            <a:solidFill>
              <a:srgbClr val="27AE60"/>
            </a:solidFill>
            <a:prstDash val="solid"/>
          </a:ln>
        </p:spPr>
      </p:sp>
      <p:sp>
        <p:nvSpPr>
          <p:cNvPr id="20" name="Text 18"/>
          <p:cNvSpPr/>
          <p:nvPr/>
        </p:nvSpPr>
        <p:spPr>
          <a:xfrm>
            <a:off x="5396923" y="3281324"/>
            <a:ext cx="1280160" cy="274320"/>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Secuencia</a:t>
            </a:r>
            <a:endParaRPr lang="en-US" sz="750" dirty="0"/>
          </a:p>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Climática</a:t>
            </a:r>
            <a:endParaRPr lang="en-US" sz="750" dirty="0"/>
          </a:p>
        </p:txBody>
      </p:sp>
      <p:sp>
        <p:nvSpPr>
          <p:cNvPr id="21" name="Text 19"/>
          <p:cNvSpPr/>
          <p:nvPr/>
        </p:nvSpPr>
        <p:spPr>
          <a:xfrm>
            <a:off x="5396923" y="3583076"/>
            <a:ext cx="1280160" cy="219456"/>
          </a:xfrm>
          <a:prstGeom prst="rect">
            <a:avLst/>
          </a:prstGeom>
          <a:noFill/>
          <a:ln/>
        </p:spPr>
        <p:txBody>
          <a:bodyPr wrap="square" rtlCol="0" anchor="ctr"/>
          <a:lstStyle/>
          <a:p>
            <a:pPr algn="ctr" indent="0" marL="0">
              <a:buNone/>
            </a:pPr>
            <a:r>
              <a:rPr lang="en-US" sz="650" dirty="0">
                <a:solidFill>
                  <a:srgbClr val="444444"/>
                </a:solidFill>
                <a:latin typeface="Atkinson Hyperlegible" pitchFamily="34" charset="0"/>
                <a:ea typeface="Atkinson Hyperlegible" pitchFamily="34" charset="-122"/>
                <a:cs typeface="Atkinson Hyperlegible" pitchFamily="34" charset="-120"/>
              </a:rPr>
              <a:t>Trabajo en época seca</a:t>
            </a:r>
            <a:endParaRPr lang="en-US" sz="650" dirty="0"/>
          </a:p>
        </p:txBody>
      </p:sp>
      <p:sp>
        <p:nvSpPr>
          <p:cNvPr id="22" name="Shape 20"/>
          <p:cNvSpPr/>
          <p:nvPr/>
        </p:nvSpPr>
        <p:spPr>
          <a:xfrm>
            <a:off x="4572000" y="3218688"/>
            <a:ext cx="18288" cy="747065"/>
          </a:xfrm>
          <a:prstGeom prst="line">
            <a:avLst/>
          </a:prstGeom>
          <a:noFill/>
          <a:ln w="12700">
            <a:solidFill>
              <a:srgbClr val="27AE60"/>
            </a:solidFill>
            <a:prstDash val="solid"/>
          </a:ln>
        </p:spPr>
      </p:sp>
      <p:sp>
        <p:nvSpPr>
          <p:cNvPr id="23" name="Shape 21"/>
          <p:cNvSpPr/>
          <p:nvPr/>
        </p:nvSpPr>
        <p:spPr>
          <a:xfrm>
            <a:off x="3913632" y="3965753"/>
            <a:ext cx="1316736" cy="566928"/>
          </a:xfrm>
          <a:prstGeom prst="roundRect">
            <a:avLst>
              <a:gd name="adj" fmla="val 9677"/>
            </a:avLst>
          </a:prstGeom>
          <a:solidFill>
            <a:srgbClr val="FFFFFF"/>
          </a:solidFill>
          <a:ln w="15240">
            <a:solidFill>
              <a:srgbClr val="27AE60"/>
            </a:solidFill>
            <a:prstDash val="solid"/>
          </a:ln>
        </p:spPr>
      </p:sp>
      <p:sp>
        <p:nvSpPr>
          <p:cNvPr id="24" name="Text 22"/>
          <p:cNvSpPr/>
          <p:nvPr/>
        </p:nvSpPr>
        <p:spPr>
          <a:xfrm>
            <a:off x="3931920" y="3974897"/>
            <a:ext cx="1280160" cy="274320"/>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Infraestructura</a:t>
            </a:r>
            <a:endParaRPr lang="en-US" sz="750" dirty="0"/>
          </a:p>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Flexible</a:t>
            </a:r>
            <a:endParaRPr lang="en-US" sz="750" dirty="0"/>
          </a:p>
        </p:txBody>
      </p:sp>
      <p:sp>
        <p:nvSpPr>
          <p:cNvPr id="25" name="Text 23"/>
          <p:cNvSpPr/>
          <p:nvPr/>
        </p:nvSpPr>
        <p:spPr>
          <a:xfrm>
            <a:off x="3931920" y="4276649"/>
            <a:ext cx="1280160" cy="219456"/>
          </a:xfrm>
          <a:prstGeom prst="rect">
            <a:avLst/>
          </a:prstGeom>
          <a:noFill/>
          <a:ln/>
        </p:spPr>
        <p:txBody>
          <a:bodyPr wrap="square" rtlCol="0" anchor="ctr"/>
          <a:lstStyle/>
          <a:p>
            <a:pPr algn="ctr" indent="0" marL="0">
              <a:buNone/>
            </a:pPr>
            <a:r>
              <a:rPr lang="en-US" sz="650" dirty="0">
                <a:solidFill>
                  <a:srgbClr val="444444"/>
                </a:solidFill>
                <a:latin typeface="Atkinson Hyperlegible" pitchFamily="34" charset="0"/>
                <a:ea typeface="Atkinson Hyperlegible" pitchFamily="34" charset="-122"/>
                <a:cs typeface="Atkinson Hyperlegible" pitchFamily="34" charset="-120"/>
              </a:rPr>
              <a:t>Capacidad adicional</a:t>
            </a:r>
            <a:endParaRPr lang="en-US" sz="650" dirty="0"/>
          </a:p>
        </p:txBody>
      </p:sp>
      <p:sp>
        <p:nvSpPr>
          <p:cNvPr id="26" name="Shape 24"/>
          <p:cNvSpPr/>
          <p:nvPr/>
        </p:nvSpPr>
        <p:spPr>
          <a:xfrm flipH="1">
            <a:off x="3645484" y="3026664"/>
            <a:ext cx="332595" cy="373532"/>
          </a:xfrm>
          <a:prstGeom prst="line">
            <a:avLst/>
          </a:prstGeom>
          <a:noFill/>
          <a:ln w="12700">
            <a:solidFill>
              <a:srgbClr val="27AE60"/>
            </a:solidFill>
            <a:prstDash val="solid"/>
          </a:ln>
        </p:spPr>
      </p:sp>
      <p:sp>
        <p:nvSpPr>
          <p:cNvPr id="27" name="Shape 25"/>
          <p:cNvSpPr/>
          <p:nvPr/>
        </p:nvSpPr>
        <p:spPr>
          <a:xfrm>
            <a:off x="2448629" y="3272180"/>
            <a:ext cx="1316736" cy="566928"/>
          </a:xfrm>
          <a:prstGeom prst="roundRect">
            <a:avLst>
              <a:gd name="adj" fmla="val 9677"/>
            </a:avLst>
          </a:prstGeom>
          <a:solidFill>
            <a:srgbClr val="FFFFFF"/>
          </a:solidFill>
          <a:ln w="15240">
            <a:solidFill>
              <a:srgbClr val="27AE60"/>
            </a:solidFill>
            <a:prstDash val="solid"/>
          </a:ln>
        </p:spPr>
      </p:sp>
      <p:sp>
        <p:nvSpPr>
          <p:cNvPr id="28" name="Text 26"/>
          <p:cNvSpPr/>
          <p:nvPr/>
        </p:nvSpPr>
        <p:spPr>
          <a:xfrm>
            <a:off x="2466917" y="3281324"/>
            <a:ext cx="1280160" cy="274320"/>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Energía</a:t>
            </a:r>
            <a:endParaRPr lang="en-US" sz="750" dirty="0"/>
          </a:p>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Renovable</a:t>
            </a:r>
            <a:endParaRPr lang="en-US" sz="750" dirty="0"/>
          </a:p>
        </p:txBody>
      </p:sp>
      <p:sp>
        <p:nvSpPr>
          <p:cNvPr id="29" name="Text 27"/>
          <p:cNvSpPr/>
          <p:nvPr/>
        </p:nvSpPr>
        <p:spPr>
          <a:xfrm>
            <a:off x="2466917" y="3583076"/>
            <a:ext cx="1280160" cy="219456"/>
          </a:xfrm>
          <a:prstGeom prst="rect">
            <a:avLst/>
          </a:prstGeom>
          <a:noFill/>
          <a:ln/>
        </p:spPr>
        <p:txBody>
          <a:bodyPr wrap="square" rtlCol="0" anchor="ctr"/>
          <a:lstStyle/>
          <a:p>
            <a:pPr algn="ctr" indent="0" marL="0">
              <a:buNone/>
            </a:pPr>
            <a:r>
              <a:rPr lang="en-US" sz="650" dirty="0">
                <a:solidFill>
                  <a:srgbClr val="444444"/>
                </a:solidFill>
                <a:latin typeface="Atkinson Hyperlegible" pitchFamily="34" charset="0"/>
                <a:ea typeface="Atkinson Hyperlegible" pitchFamily="34" charset="-122"/>
                <a:cs typeface="Atkinson Hyperlegible" pitchFamily="34" charset="-120"/>
              </a:rPr>
              <a:t>Solar/eólico en obra</a:t>
            </a:r>
            <a:endParaRPr lang="en-US" sz="650" dirty="0"/>
          </a:p>
        </p:txBody>
      </p:sp>
      <p:sp>
        <p:nvSpPr>
          <p:cNvPr id="30" name="Shape 28"/>
          <p:cNvSpPr/>
          <p:nvPr/>
        </p:nvSpPr>
        <p:spPr>
          <a:xfrm flipH="1" flipV="1">
            <a:off x="3645484" y="2269084"/>
            <a:ext cx="332595" cy="373532"/>
          </a:xfrm>
          <a:prstGeom prst="line">
            <a:avLst/>
          </a:prstGeom>
          <a:noFill/>
          <a:ln w="12700">
            <a:solidFill>
              <a:srgbClr val="27AE60"/>
            </a:solidFill>
            <a:prstDash val="solid"/>
          </a:ln>
        </p:spPr>
      </p:sp>
      <p:sp>
        <p:nvSpPr>
          <p:cNvPr id="31" name="Shape 29"/>
          <p:cNvSpPr/>
          <p:nvPr/>
        </p:nvSpPr>
        <p:spPr>
          <a:xfrm>
            <a:off x="2448629" y="1885036"/>
            <a:ext cx="1316736" cy="566928"/>
          </a:xfrm>
          <a:prstGeom prst="roundRect">
            <a:avLst>
              <a:gd name="adj" fmla="val 9677"/>
            </a:avLst>
          </a:prstGeom>
          <a:solidFill>
            <a:srgbClr val="FFFFFF"/>
          </a:solidFill>
          <a:ln w="15240">
            <a:solidFill>
              <a:srgbClr val="27AE60"/>
            </a:solidFill>
            <a:prstDash val="solid"/>
          </a:ln>
        </p:spPr>
      </p:sp>
      <p:sp>
        <p:nvSpPr>
          <p:cNvPr id="32" name="Text 30"/>
          <p:cNvSpPr/>
          <p:nvPr/>
        </p:nvSpPr>
        <p:spPr>
          <a:xfrm>
            <a:off x="2466917" y="1894180"/>
            <a:ext cx="1280160" cy="274320"/>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Agua</a:t>
            </a:r>
            <a:endParaRPr lang="en-US" sz="750" dirty="0"/>
          </a:p>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Circular</a:t>
            </a:r>
            <a:endParaRPr lang="en-US" sz="750" dirty="0"/>
          </a:p>
        </p:txBody>
      </p:sp>
      <p:sp>
        <p:nvSpPr>
          <p:cNvPr id="33" name="Text 31"/>
          <p:cNvSpPr/>
          <p:nvPr/>
        </p:nvSpPr>
        <p:spPr>
          <a:xfrm>
            <a:off x="2466917" y="2195932"/>
            <a:ext cx="1280160" cy="219456"/>
          </a:xfrm>
          <a:prstGeom prst="rect">
            <a:avLst/>
          </a:prstGeom>
          <a:noFill/>
          <a:ln/>
        </p:spPr>
        <p:txBody>
          <a:bodyPr wrap="square" rtlCol="0" anchor="ctr"/>
          <a:lstStyle/>
          <a:p>
            <a:pPr algn="ctr" indent="0" marL="0">
              <a:buNone/>
            </a:pPr>
            <a:r>
              <a:rPr lang="en-US" sz="650" dirty="0">
                <a:solidFill>
                  <a:srgbClr val="444444"/>
                </a:solidFill>
                <a:latin typeface="Atkinson Hyperlegible" pitchFamily="34" charset="0"/>
                <a:ea typeface="Atkinson Hyperlegible" pitchFamily="34" charset="-122"/>
                <a:cs typeface="Atkinson Hyperlegible" pitchFamily="34" charset="-120"/>
              </a:rPr>
              <a:t>Captación y reúso</a:t>
            </a:r>
            <a:endParaRPr lang="en-US" sz="6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4620A"/>
          </a:solidFill>
          <a:ln w="12700">
            <a:solidFill>
              <a:srgbClr val="D4620A"/>
            </a:solidFill>
            <a:prstDash val="solid"/>
          </a:ln>
        </p:spPr>
      </p:sp>
      <p:sp>
        <p:nvSpPr>
          <p:cNvPr id="3" name="Shape 1"/>
          <p:cNvSpPr/>
          <p:nvPr/>
        </p:nvSpPr>
        <p:spPr>
          <a:xfrm>
            <a:off x="0" y="0"/>
            <a:ext cx="3200400" cy="5143500"/>
          </a:xfrm>
          <a:prstGeom prst="rect">
            <a:avLst/>
          </a:prstGeom>
          <a:solidFill>
            <a:srgbClr val="000000"/>
          </a:solidFill>
          <a:ln w="12700">
            <a:solidFill>
              <a:srgbClr val="000000"/>
            </a:solidFill>
            <a:prstDash val="solid"/>
          </a:ln>
        </p:spPr>
      </p:sp>
      <p:sp>
        <p:nvSpPr>
          <p:cNvPr id="4" name="Text 2"/>
          <p:cNvSpPr/>
          <p:nvPr/>
        </p:nvSpPr>
        <p:spPr>
          <a:xfrm>
            <a:off x="365760" y="365760"/>
            <a:ext cx="2743200" cy="1828800"/>
          </a:xfrm>
          <a:prstGeom prst="rect">
            <a:avLst/>
          </a:prstGeom>
          <a:noFill/>
          <a:ln/>
        </p:spPr>
        <p:txBody>
          <a:bodyPr wrap="square" rtlCol="0" anchor="ctr"/>
          <a:lstStyle/>
          <a:p>
            <a:pPr indent="0" marL="0">
              <a:buNone/>
            </a:pPr>
            <a:r>
              <a:rPr lang="en-US" sz="9600" b="1" dirty="0">
                <a:solidFill>
                  <a:srgbClr val="FFFFFF">
                    <a:alpha val="40000"/>
                  </a:srgbClr>
                </a:solidFill>
                <a:latin typeface="Atkinson Hyperlegible" pitchFamily="34" charset="0"/>
                <a:ea typeface="Atkinson Hyperlegible" pitchFamily="34" charset="-122"/>
                <a:cs typeface="Atkinson Hyperlegible" pitchFamily="34" charset="-120"/>
              </a:rPr>
              <a:t>09</a:t>
            </a:r>
            <a:endParaRPr lang="en-US" sz="9600" dirty="0"/>
          </a:p>
        </p:txBody>
      </p:sp>
      <p:sp>
        <p:nvSpPr>
          <p:cNvPr id="5" name="Text 3"/>
          <p:cNvSpPr/>
          <p:nvPr/>
        </p:nvSpPr>
        <p:spPr>
          <a:xfrm>
            <a:off x="3474720" y="1645920"/>
            <a:ext cx="5303520" cy="1097280"/>
          </a:xfrm>
          <a:prstGeom prst="rect">
            <a:avLst/>
          </a:prstGeom>
          <a:noFill/>
          <a:ln/>
        </p:spPr>
        <p:txBody>
          <a:bodyPr wrap="square" rtlCol="0" anchor="ctr"/>
          <a:lstStyle/>
          <a:p>
            <a:pPr indent="0" marL="0">
              <a:buNone/>
            </a:pPr>
            <a:r>
              <a:rPr lang="en-US" sz="3200" b="1" dirty="0">
                <a:solidFill>
                  <a:srgbClr val="FFFFFF"/>
                </a:solidFill>
                <a:latin typeface="Atkinson Hyperlegible" pitchFamily="34" charset="0"/>
                <a:ea typeface="Atkinson Hyperlegible" pitchFamily="34" charset="-122"/>
                <a:cs typeface="Atkinson Hyperlegible" pitchFamily="34" charset="-120"/>
              </a:rPr>
              <a:t>Tendencias y</a:t>
            </a:r>
            <a:endParaRPr lang="en-US" sz="3200" dirty="0"/>
          </a:p>
          <a:p>
            <a:pPr indent="0" marL="0">
              <a:buNone/>
            </a:pPr>
            <a:r>
              <a:rPr lang="en-US" sz="3200" b="1" dirty="0">
                <a:solidFill>
                  <a:srgbClr val="FFFFFF"/>
                </a:solidFill>
                <a:latin typeface="Atkinson Hyperlegible" pitchFamily="34" charset="0"/>
                <a:ea typeface="Atkinson Hyperlegible" pitchFamily="34" charset="-122"/>
                <a:cs typeface="Atkinson Hyperlegible" pitchFamily="34" charset="-120"/>
              </a:rPr>
              <a:t>Futuro</a:t>
            </a:r>
            <a:endParaRPr lang="en-US" sz="3200" dirty="0"/>
          </a:p>
        </p:txBody>
      </p:sp>
      <p:sp>
        <p:nvSpPr>
          <p:cNvPr id="6" name="Text 4"/>
          <p:cNvSpPr/>
          <p:nvPr/>
        </p:nvSpPr>
        <p:spPr>
          <a:xfrm>
            <a:off x="3474720" y="2834640"/>
            <a:ext cx="5303520" cy="822960"/>
          </a:xfrm>
          <a:prstGeom prst="rect">
            <a:avLst/>
          </a:prstGeom>
          <a:noFill/>
          <a:ln/>
        </p:spPr>
        <p:txBody>
          <a:bodyPr wrap="square" rtlCol="0" anchor="ctr"/>
          <a:lstStyle/>
          <a:p>
            <a:pPr indent="0" marL="0">
              <a:buNone/>
            </a:pPr>
            <a:r>
              <a:rPr lang="en-US" sz="1400" i="1" dirty="0">
                <a:solidFill>
                  <a:srgbClr val="FFFFFF">
                    <a:alpha val="75000"/>
                  </a:srgbClr>
                </a:solidFill>
                <a:latin typeface="Atkinson Hyperlegible" pitchFamily="34" charset="0"/>
                <a:ea typeface="Atkinson Hyperlegible" pitchFamily="34" charset="-122"/>
                <a:cs typeface="Atkinson Hyperlegible" pitchFamily="34" charset="-120"/>
              </a:rPr>
              <a:t>La constructabilidad en la era de la construcción 4.0</a:t>
            </a:r>
            <a:endParaRPr lang="en-US" sz="1400" dirty="0"/>
          </a:p>
        </p:txBody>
      </p:sp>
      <p:sp>
        <p:nvSpPr>
          <p:cNvPr id="7" name="Text 5"/>
          <p:cNvSpPr/>
          <p:nvPr/>
        </p:nvSpPr>
        <p:spPr>
          <a:xfrm>
            <a:off x="7772400" y="4846320"/>
            <a:ext cx="1188720" cy="182880"/>
          </a:xfrm>
          <a:prstGeom prst="rect">
            <a:avLst/>
          </a:prstGeom>
          <a:noFill/>
          <a:ln/>
        </p:spPr>
        <p:txBody>
          <a:bodyPr wrap="square" rtlCol="0" anchor="ctr"/>
          <a:lstStyle/>
          <a:p>
            <a:pPr algn="r" indent="0" marL="0">
              <a:buNone/>
            </a:pPr>
            <a:r>
              <a:rPr lang="en-US" sz="800" dirty="0">
                <a:solidFill>
                  <a:srgbClr val="FFFFFF"/>
                </a:solidFill>
                <a:latin typeface="Atkinson Hyperlegible" pitchFamily="34" charset="0"/>
                <a:ea typeface="Atkinson Hyperlegible" pitchFamily="34" charset="-122"/>
                <a:cs typeface="Atkinson Hyperlegible" pitchFamily="34" charset="-120"/>
              </a:rPr>
              <a:t>80 / 126</a:t>
            </a:r>
            <a:endParaRPr lang="en-US" sz="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4620A"/>
          </a:solidFill>
          <a:ln w="12700">
            <a:solidFill>
              <a:srgbClr val="D4620A"/>
            </a:solidFill>
            <a:prstDash val="solid"/>
          </a:ln>
        </p:spPr>
      </p:sp>
      <p:sp>
        <p:nvSpPr>
          <p:cNvPr id="3" name="Shape 1"/>
          <p:cNvSpPr/>
          <p:nvPr/>
        </p:nvSpPr>
        <p:spPr>
          <a:xfrm>
            <a:off x="164592" y="4956048"/>
            <a:ext cx="8979408" cy="182880"/>
          </a:xfrm>
          <a:prstGeom prst="rect">
            <a:avLst/>
          </a:prstGeom>
          <a:solidFill>
            <a:srgbClr val="D4620A"/>
          </a:solidFill>
          <a:ln w="12700">
            <a:solidFill>
              <a:srgbClr val="D4620A"/>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81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Construcción 4.0 y Constructabilidad</a:t>
            </a:r>
            <a:endParaRPr lang="en-US" sz="1800" dirty="0"/>
          </a:p>
        </p:txBody>
      </p:sp>
      <p:sp>
        <p:nvSpPr>
          <p:cNvPr id="6" name="Shape 4"/>
          <p:cNvSpPr/>
          <p:nvPr/>
        </p:nvSpPr>
        <p:spPr>
          <a:xfrm>
            <a:off x="320040" y="621792"/>
            <a:ext cx="8503920" cy="41148"/>
          </a:xfrm>
          <a:prstGeom prst="rect">
            <a:avLst/>
          </a:prstGeom>
          <a:solidFill>
            <a:srgbClr val="D4620A"/>
          </a:solidFill>
          <a:ln w="12700">
            <a:solidFill>
              <a:srgbClr val="D4620A"/>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D4620A"/>
                </a:solidFill>
                <a:latin typeface="Atkinson Hyperlegible" pitchFamily="34" charset="0"/>
                <a:ea typeface="Atkinson Hyperlegible" pitchFamily="34" charset="-122"/>
                <a:cs typeface="Atkinson Hyperlegible" pitchFamily="34" charset="-120"/>
              </a:rPr>
              <a:t>Convergencia de tecnologías disruptivas en proyectos de capital</a:t>
            </a:r>
            <a:endParaRPr lang="en-US" sz="900" dirty="0"/>
          </a:p>
        </p:txBody>
      </p:sp>
      <p:sp>
        <p:nvSpPr>
          <p:cNvPr id="8" name="Shape 6"/>
          <p:cNvSpPr/>
          <p:nvPr/>
        </p:nvSpPr>
        <p:spPr>
          <a:xfrm>
            <a:off x="320040" y="987552"/>
            <a:ext cx="2724912" cy="1682496"/>
          </a:xfrm>
          <a:prstGeom prst="rect">
            <a:avLst>
              <a:gd name="adj" fmla="val 3261"/>
            </a:avLst>
          </a:prstGeom>
          <a:solidFill>
            <a:srgbClr val="FFFFFF"/>
          </a:solidFill>
          <a:ln w="6350">
            <a:solidFill>
              <a:srgbClr val="E5E5EA"/>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38912" y="1078992"/>
            <a:ext cx="329184" cy="329184"/>
          </a:xfrm>
          <a:prstGeom prst="rect">
            <a:avLst/>
          </a:prstGeom>
        </p:spPr>
      </p:pic>
      <p:sp>
        <p:nvSpPr>
          <p:cNvPr id="10" name="Text 7"/>
          <p:cNvSpPr/>
          <p:nvPr/>
        </p:nvSpPr>
        <p:spPr>
          <a:xfrm>
            <a:off x="795528" y="1051560"/>
            <a:ext cx="2130552"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Inteligencia Artificial</a:t>
            </a:r>
            <a:endParaRPr lang="en-US" sz="900" dirty="0"/>
          </a:p>
        </p:txBody>
      </p:sp>
      <p:sp>
        <p:nvSpPr>
          <p:cNvPr id="11" name="Text 8"/>
          <p:cNvSpPr/>
          <p:nvPr/>
        </p:nvSpPr>
        <p:spPr>
          <a:xfrm>
            <a:off x="795528" y="1280160"/>
            <a:ext cx="2130552" cy="1316736"/>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Optimización automática de secuencias, predicción de conflictos, generación asistida de IWPs</a:t>
            </a:r>
            <a:endParaRPr lang="en-US" sz="750" dirty="0"/>
          </a:p>
        </p:txBody>
      </p:sp>
      <p:sp>
        <p:nvSpPr>
          <p:cNvPr id="12" name="Shape 9"/>
          <p:cNvSpPr/>
          <p:nvPr/>
        </p:nvSpPr>
        <p:spPr>
          <a:xfrm>
            <a:off x="3209544" y="987552"/>
            <a:ext cx="2724912" cy="1682496"/>
          </a:xfrm>
          <a:prstGeom prst="rect">
            <a:avLst>
              <a:gd name="adj" fmla="val 3261"/>
            </a:avLst>
          </a:prstGeom>
          <a:solidFill>
            <a:srgbClr val="FFFFFF"/>
          </a:solidFill>
          <a:ln w="6350">
            <a:solidFill>
              <a:srgbClr val="E5E5EA"/>
            </a:solidFill>
            <a:prstDash val="solid"/>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28416" y="1078992"/>
            <a:ext cx="329184" cy="329184"/>
          </a:xfrm>
          <a:prstGeom prst="rect">
            <a:avLst/>
          </a:prstGeom>
        </p:spPr>
      </p:pic>
      <p:sp>
        <p:nvSpPr>
          <p:cNvPr id="14" name="Text 10"/>
          <p:cNvSpPr/>
          <p:nvPr/>
        </p:nvSpPr>
        <p:spPr>
          <a:xfrm>
            <a:off x="3685032" y="1051560"/>
            <a:ext cx="2130552"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Gemelo Digital</a:t>
            </a:r>
            <a:endParaRPr lang="en-US" sz="900" dirty="0"/>
          </a:p>
        </p:txBody>
      </p:sp>
      <p:sp>
        <p:nvSpPr>
          <p:cNvPr id="15" name="Text 11"/>
          <p:cNvSpPr/>
          <p:nvPr/>
        </p:nvSpPr>
        <p:spPr>
          <a:xfrm>
            <a:off x="3685032" y="1280160"/>
            <a:ext cx="2130552" cy="1316736"/>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Sincronización bidireccional entre modelo virtual y realidad de campo en tiempo real</a:t>
            </a:r>
            <a:endParaRPr lang="en-US" sz="750" dirty="0"/>
          </a:p>
        </p:txBody>
      </p:sp>
      <p:sp>
        <p:nvSpPr>
          <p:cNvPr id="16" name="Shape 12"/>
          <p:cNvSpPr/>
          <p:nvPr/>
        </p:nvSpPr>
        <p:spPr>
          <a:xfrm>
            <a:off x="6099048" y="987552"/>
            <a:ext cx="2724912" cy="1682496"/>
          </a:xfrm>
          <a:prstGeom prst="rect">
            <a:avLst>
              <a:gd name="adj" fmla="val 3261"/>
            </a:avLst>
          </a:prstGeom>
          <a:solidFill>
            <a:srgbClr val="FFFFFF"/>
          </a:solidFill>
          <a:ln w="6350">
            <a:solidFill>
              <a:srgbClr val="E5E5EA"/>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17920" y="1078992"/>
            <a:ext cx="329184" cy="329184"/>
          </a:xfrm>
          <a:prstGeom prst="rect">
            <a:avLst/>
          </a:prstGeom>
        </p:spPr>
      </p:pic>
      <p:sp>
        <p:nvSpPr>
          <p:cNvPr id="18" name="Text 13"/>
          <p:cNvSpPr/>
          <p:nvPr/>
        </p:nvSpPr>
        <p:spPr>
          <a:xfrm>
            <a:off x="6574536" y="1051560"/>
            <a:ext cx="2130552"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IoT en Obra</a:t>
            </a:r>
            <a:endParaRPr lang="en-US" sz="900" dirty="0"/>
          </a:p>
        </p:txBody>
      </p:sp>
      <p:sp>
        <p:nvSpPr>
          <p:cNvPr id="19" name="Text 14"/>
          <p:cNvSpPr/>
          <p:nvPr/>
        </p:nvSpPr>
        <p:spPr>
          <a:xfrm>
            <a:off x="6574536" y="1280160"/>
            <a:ext cx="2130552" cy="1316736"/>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Sensores en materiales, equipos y andamios: visibilidad real-time de recursos y progreso</a:t>
            </a:r>
            <a:endParaRPr lang="en-US" sz="750" dirty="0"/>
          </a:p>
        </p:txBody>
      </p:sp>
      <p:sp>
        <p:nvSpPr>
          <p:cNvPr id="20" name="Shape 15"/>
          <p:cNvSpPr/>
          <p:nvPr/>
        </p:nvSpPr>
        <p:spPr>
          <a:xfrm>
            <a:off x="320040" y="2779776"/>
            <a:ext cx="2724912" cy="1682496"/>
          </a:xfrm>
          <a:prstGeom prst="rect">
            <a:avLst>
              <a:gd name="adj" fmla="val 3261"/>
            </a:avLst>
          </a:prstGeom>
          <a:solidFill>
            <a:srgbClr val="FFFFFF"/>
          </a:solidFill>
          <a:ln w="6350">
            <a:solidFill>
              <a:srgbClr val="E5E5EA"/>
            </a:solidFill>
            <a:prstDash val="solid"/>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8912" y="2871216"/>
            <a:ext cx="329184" cy="329184"/>
          </a:xfrm>
          <a:prstGeom prst="rect">
            <a:avLst/>
          </a:prstGeom>
        </p:spPr>
      </p:pic>
      <p:sp>
        <p:nvSpPr>
          <p:cNvPr id="22" name="Text 16"/>
          <p:cNvSpPr/>
          <p:nvPr/>
        </p:nvSpPr>
        <p:spPr>
          <a:xfrm>
            <a:off x="795528" y="2843784"/>
            <a:ext cx="2130552"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Robótica y Drones</a:t>
            </a:r>
            <a:endParaRPr lang="en-US" sz="900" dirty="0"/>
          </a:p>
        </p:txBody>
      </p:sp>
      <p:sp>
        <p:nvSpPr>
          <p:cNvPr id="23" name="Text 17"/>
          <p:cNvSpPr/>
          <p:nvPr/>
        </p:nvSpPr>
        <p:spPr>
          <a:xfrm>
            <a:off x="795528" y="3072384"/>
            <a:ext cx="2130552" cy="1316736"/>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Automatización de tareas repetitivas, inspección visual con AI, levantamiento as-built</a:t>
            </a:r>
            <a:endParaRPr lang="en-US" sz="750" dirty="0"/>
          </a:p>
        </p:txBody>
      </p:sp>
      <p:sp>
        <p:nvSpPr>
          <p:cNvPr id="24" name="Shape 18"/>
          <p:cNvSpPr/>
          <p:nvPr/>
        </p:nvSpPr>
        <p:spPr>
          <a:xfrm>
            <a:off x="3209544" y="2779776"/>
            <a:ext cx="2724912" cy="1682496"/>
          </a:xfrm>
          <a:prstGeom prst="rect">
            <a:avLst>
              <a:gd name="adj" fmla="val 3261"/>
            </a:avLst>
          </a:prstGeom>
          <a:solidFill>
            <a:srgbClr val="FFFFFF"/>
          </a:solidFill>
          <a:ln w="6350">
            <a:solidFill>
              <a:srgbClr val="E5E5EA"/>
            </a:solidFill>
            <a:prstDash val="solid"/>
          </a:ln>
        </p:spPr>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28416" y="2871216"/>
            <a:ext cx="329184" cy="329184"/>
          </a:xfrm>
          <a:prstGeom prst="rect">
            <a:avLst/>
          </a:prstGeom>
        </p:spPr>
      </p:pic>
      <p:sp>
        <p:nvSpPr>
          <p:cNvPr id="26" name="Text 19"/>
          <p:cNvSpPr/>
          <p:nvPr/>
        </p:nvSpPr>
        <p:spPr>
          <a:xfrm>
            <a:off x="3685032" y="2843784"/>
            <a:ext cx="2130552"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Prefab / DfMA</a:t>
            </a:r>
            <a:endParaRPr lang="en-US" sz="900" dirty="0"/>
          </a:p>
        </p:txBody>
      </p:sp>
      <p:sp>
        <p:nvSpPr>
          <p:cNvPr id="27" name="Text 20"/>
          <p:cNvSpPr/>
          <p:nvPr/>
        </p:nvSpPr>
        <p:spPr>
          <a:xfrm>
            <a:off x="3685032" y="3072384"/>
            <a:ext cx="2130552" cy="1316736"/>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Design for Manufacture and Assembly: integrado desde ingeniería conceptual con AWP</a:t>
            </a:r>
            <a:endParaRPr lang="en-US" sz="750" dirty="0"/>
          </a:p>
        </p:txBody>
      </p:sp>
      <p:sp>
        <p:nvSpPr>
          <p:cNvPr id="28" name="Shape 21"/>
          <p:cNvSpPr/>
          <p:nvPr/>
        </p:nvSpPr>
        <p:spPr>
          <a:xfrm>
            <a:off x="6099048" y="2779776"/>
            <a:ext cx="2724912" cy="1682496"/>
          </a:xfrm>
          <a:prstGeom prst="rect">
            <a:avLst>
              <a:gd name="adj" fmla="val 3261"/>
            </a:avLst>
          </a:prstGeom>
          <a:solidFill>
            <a:srgbClr val="FFFFFF"/>
          </a:solidFill>
          <a:ln w="6350">
            <a:solidFill>
              <a:srgbClr val="E5E5EA"/>
            </a:solidFill>
            <a:prstDash val="solid"/>
          </a:ln>
        </p:spPr>
      </p:sp>
      <p:pic>
        <p:nvPicPr>
          <p:cNvPr id="2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17920" y="2871216"/>
            <a:ext cx="329184" cy="329184"/>
          </a:xfrm>
          <a:prstGeom prst="rect">
            <a:avLst/>
          </a:prstGeom>
        </p:spPr>
      </p:pic>
      <p:sp>
        <p:nvSpPr>
          <p:cNvPr id="30" name="Text 22"/>
          <p:cNvSpPr/>
          <p:nvPr/>
        </p:nvSpPr>
        <p:spPr>
          <a:xfrm>
            <a:off x="6574536" y="2843784"/>
            <a:ext cx="2130552"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Blockchain</a:t>
            </a:r>
            <a:endParaRPr lang="en-US" sz="900" dirty="0"/>
          </a:p>
        </p:txBody>
      </p:sp>
      <p:sp>
        <p:nvSpPr>
          <p:cNvPr id="31" name="Text 23"/>
          <p:cNvSpPr/>
          <p:nvPr/>
        </p:nvSpPr>
        <p:spPr>
          <a:xfrm>
            <a:off x="6574536" y="3072384"/>
            <a:ext cx="2130552" cy="1316736"/>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Trazabilidad de materiales, contratos inteligentes para pago por IWP completado</a:t>
            </a:r>
            <a:endParaRPr lang="en-US" sz="7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4620A"/>
          </a:solidFill>
          <a:ln w="12700">
            <a:solidFill>
              <a:srgbClr val="D4620A"/>
            </a:solidFill>
            <a:prstDash val="solid"/>
          </a:ln>
        </p:spPr>
      </p:sp>
      <p:sp>
        <p:nvSpPr>
          <p:cNvPr id="3" name="Shape 1"/>
          <p:cNvSpPr/>
          <p:nvPr/>
        </p:nvSpPr>
        <p:spPr>
          <a:xfrm>
            <a:off x="164592" y="4956048"/>
            <a:ext cx="8979408" cy="182880"/>
          </a:xfrm>
          <a:prstGeom prst="rect">
            <a:avLst/>
          </a:prstGeom>
          <a:solidFill>
            <a:srgbClr val="D4620A"/>
          </a:solidFill>
          <a:ln w="12700">
            <a:solidFill>
              <a:srgbClr val="D4620A"/>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82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Agenda CII 2025-2030: Constructabilidad del Futuro</a:t>
            </a:r>
            <a:endParaRPr lang="en-US" sz="1800" dirty="0"/>
          </a:p>
        </p:txBody>
      </p:sp>
      <p:sp>
        <p:nvSpPr>
          <p:cNvPr id="6" name="Shape 4"/>
          <p:cNvSpPr/>
          <p:nvPr/>
        </p:nvSpPr>
        <p:spPr>
          <a:xfrm>
            <a:off x="320040" y="621792"/>
            <a:ext cx="8503920" cy="41148"/>
          </a:xfrm>
          <a:prstGeom prst="rect">
            <a:avLst/>
          </a:prstGeom>
          <a:solidFill>
            <a:srgbClr val="D4620A"/>
          </a:solidFill>
          <a:ln w="12700">
            <a:solidFill>
              <a:srgbClr val="D4620A"/>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D4620A"/>
                </a:solidFill>
                <a:latin typeface="Atkinson Hyperlegible" pitchFamily="34" charset="0"/>
                <a:ea typeface="Atkinson Hyperlegible" pitchFamily="34" charset="-122"/>
                <a:cs typeface="Atkinson Hyperlegible" pitchFamily="34" charset="-120"/>
              </a:rPr>
              <a:t>Prioridades de investigación y práctica según CII Research Program</a:t>
            </a:r>
            <a:endParaRPr lang="en-US" sz="900" dirty="0"/>
          </a:p>
        </p:txBody>
      </p:sp>
      <p:sp>
        <p:nvSpPr>
          <p:cNvPr id="8" name="Shape 6"/>
          <p:cNvSpPr/>
          <p:nvPr/>
        </p:nvSpPr>
        <p:spPr>
          <a:xfrm>
            <a:off x="320040" y="987552"/>
            <a:ext cx="8503920" cy="621792"/>
          </a:xfrm>
          <a:prstGeom prst="rect">
            <a:avLst>
              <a:gd name="adj" fmla="val 7353"/>
            </a:avLst>
          </a:prstGeom>
          <a:solidFill>
            <a:srgbClr val="FFF8F0"/>
          </a:solidFill>
          <a:ln w="10160">
            <a:solidFill>
              <a:srgbClr val="D4620A"/>
            </a:solidFill>
            <a:prstDash val="solid"/>
          </a:ln>
        </p:spPr>
      </p:sp>
      <p:sp>
        <p:nvSpPr>
          <p:cNvPr id="9" name="Shape 7"/>
          <p:cNvSpPr/>
          <p:nvPr/>
        </p:nvSpPr>
        <p:spPr>
          <a:xfrm>
            <a:off x="320040" y="987552"/>
            <a:ext cx="822960" cy="621792"/>
          </a:xfrm>
          <a:prstGeom prst="rect">
            <a:avLst>
              <a:gd name="adj" fmla="val 7353"/>
            </a:avLst>
          </a:prstGeom>
          <a:solidFill>
            <a:srgbClr val="D4620A"/>
          </a:solidFill>
          <a:ln w="12700">
            <a:solidFill>
              <a:srgbClr val="D4620A"/>
            </a:solidFill>
            <a:prstDash val="solid"/>
          </a:ln>
        </p:spPr>
      </p:sp>
      <p:sp>
        <p:nvSpPr>
          <p:cNvPr id="10" name="Text 8"/>
          <p:cNvSpPr/>
          <p:nvPr/>
        </p:nvSpPr>
        <p:spPr>
          <a:xfrm>
            <a:off x="320040" y="987552"/>
            <a:ext cx="822960" cy="621792"/>
          </a:xfrm>
          <a:prstGeom prst="rect">
            <a:avLst/>
          </a:prstGeom>
          <a:noFill/>
          <a:ln/>
        </p:spPr>
        <p:txBody>
          <a:bodyPr wrap="square"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2025</a:t>
            </a:r>
            <a:endParaRPr lang="en-US" sz="1000" dirty="0"/>
          </a:p>
        </p:txBody>
      </p:sp>
      <p:sp>
        <p:nvSpPr>
          <p:cNvPr id="11" name="Text 9"/>
          <p:cNvSpPr/>
          <p:nvPr/>
        </p:nvSpPr>
        <p:spPr>
          <a:xfrm>
            <a:off x="1234440" y="1033272"/>
            <a:ext cx="201168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AWP 2.0</a:t>
            </a:r>
            <a:endParaRPr lang="en-US" sz="900" dirty="0"/>
          </a:p>
        </p:txBody>
      </p:sp>
      <p:sp>
        <p:nvSpPr>
          <p:cNvPr id="12" name="Text 10"/>
          <p:cNvSpPr/>
          <p:nvPr/>
        </p:nvSpPr>
        <p:spPr>
          <a:xfrm>
            <a:off x="1234440" y="1307592"/>
            <a:ext cx="7406640" cy="256032"/>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Integración nativa de BIM, IA y field apps en plataforma unificada; métricas en tiempo real</a:t>
            </a:r>
            <a:endParaRPr lang="en-US" sz="800" dirty="0"/>
          </a:p>
        </p:txBody>
      </p:sp>
      <p:sp>
        <p:nvSpPr>
          <p:cNvPr id="13" name="Shape 11"/>
          <p:cNvSpPr/>
          <p:nvPr/>
        </p:nvSpPr>
        <p:spPr>
          <a:xfrm>
            <a:off x="320040" y="1673352"/>
            <a:ext cx="8503920" cy="621792"/>
          </a:xfrm>
          <a:prstGeom prst="rect">
            <a:avLst>
              <a:gd name="adj" fmla="val 7353"/>
            </a:avLst>
          </a:prstGeom>
          <a:solidFill>
            <a:srgbClr val="FFFFFF"/>
          </a:solidFill>
          <a:ln w="10160">
            <a:solidFill>
              <a:srgbClr val="D4620A"/>
            </a:solidFill>
            <a:prstDash val="solid"/>
          </a:ln>
        </p:spPr>
      </p:sp>
      <p:sp>
        <p:nvSpPr>
          <p:cNvPr id="14" name="Shape 12"/>
          <p:cNvSpPr/>
          <p:nvPr/>
        </p:nvSpPr>
        <p:spPr>
          <a:xfrm>
            <a:off x="320040" y="1673352"/>
            <a:ext cx="822960" cy="621792"/>
          </a:xfrm>
          <a:prstGeom prst="rect">
            <a:avLst>
              <a:gd name="adj" fmla="val 7353"/>
            </a:avLst>
          </a:prstGeom>
          <a:solidFill>
            <a:srgbClr val="D4620A"/>
          </a:solidFill>
          <a:ln w="12700">
            <a:solidFill>
              <a:srgbClr val="D4620A"/>
            </a:solidFill>
            <a:prstDash val="solid"/>
          </a:ln>
        </p:spPr>
      </p:sp>
      <p:sp>
        <p:nvSpPr>
          <p:cNvPr id="15" name="Text 13"/>
          <p:cNvSpPr/>
          <p:nvPr/>
        </p:nvSpPr>
        <p:spPr>
          <a:xfrm>
            <a:off x="320040" y="1673352"/>
            <a:ext cx="822960" cy="621792"/>
          </a:xfrm>
          <a:prstGeom prst="rect">
            <a:avLst/>
          </a:prstGeom>
          <a:noFill/>
          <a:ln/>
        </p:spPr>
        <p:txBody>
          <a:bodyPr wrap="square"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2026</a:t>
            </a:r>
            <a:endParaRPr lang="en-US" sz="1000" dirty="0"/>
          </a:p>
        </p:txBody>
      </p:sp>
      <p:sp>
        <p:nvSpPr>
          <p:cNvPr id="16" name="Text 14"/>
          <p:cNvSpPr/>
          <p:nvPr/>
        </p:nvSpPr>
        <p:spPr>
          <a:xfrm>
            <a:off x="1234440" y="1719072"/>
            <a:ext cx="201168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Gemelo Digital Estándar</a:t>
            </a:r>
            <a:endParaRPr lang="en-US" sz="900" dirty="0"/>
          </a:p>
        </p:txBody>
      </p:sp>
      <p:sp>
        <p:nvSpPr>
          <p:cNvPr id="17" name="Text 15"/>
          <p:cNvSpPr/>
          <p:nvPr/>
        </p:nvSpPr>
        <p:spPr>
          <a:xfrm>
            <a:off x="1234440" y="1993392"/>
            <a:ext cx="7406640" cy="256032"/>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CII definirá estándar de Digital Twin para proyectos de capital: datos mínimos requeridos</a:t>
            </a:r>
            <a:endParaRPr lang="en-US" sz="800" dirty="0"/>
          </a:p>
        </p:txBody>
      </p:sp>
      <p:sp>
        <p:nvSpPr>
          <p:cNvPr id="18" name="Shape 16"/>
          <p:cNvSpPr/>
          <p:nvPr/>
        </p:nvSpPr>
        <p:spPr>
          <a:xfrm>
            <a:off x="320040" y="2359152"/>
            <a:ext cx="8503920" cy="621792"/>
          </a:xfrm>
          <a:prstGeom prst="rect">
            <a:avLst>
              <a:gd name="adj" fmla="val 7353"/>
            </a:avLst>
          </a:prstGeom>
          <a:solidFill>
            <a:srgbClr val="FFF8F0"/>
          </a:solidFill>
          <a:ln w="10160">
            <a:solidFill>
              <a:srgbClr val="D4620A"/>
            </a:solidFill>
            <a:prstDash val="solid"/>
          </a:ln>
        </p:spPr>
      </p:sp>
      <p:sp>
        <p:nvSpPr>
          <p:cNvPr id="19" name="Shape 17"/>
          <p:cNvSpPr/>
          <p:nvPr/>
        </p:nvSpPr>
        <p:spPr>
          <a:xfrm>
            <a:off x="320040" y="2359152"/>
            <a:ext cx="822960" cy="621792"/>
          </a:xfrm>
          <a:prstGeom prst="rect">
            <a:avLst>
              <a:gd name="adj" fmla="val 7353"/>
            </a:avLst>
          </a:prstGeom>
          <a:solidFill>
            <a:srgbClr val="D4620A"/>
          </a:solidFill>
          <a:ln w="12700">
            <a:solidFill>
              <a:srgbClr val="D4620A"/>
            </a:solidFill>
            <a:prstDash val="solid"/>
          </a:ln>
        </p:spPr>
      </p:sp>
      <p:sp>
        <p:nvSpPr>
          <p:cNvPr id="20" name="Text 18"/>
          <p:cNvSpPr/>
          <p:nvPr/>
        </p:nvSpPr>
        <p:spPr>
          <a:xfrm>
            <a:off x="320040" y="2359152"/>
            <a:ext cx="822960" cy="621792"/>
          </a:xfrm>
          <a:prstGeom prst="rect">
            <a:avLst/>
          </a:prstGeom>
          <a:noFill/>
          <a:ln/>
        </p:spPr>
        <p:txBody>
          <a:bodyPr wrap="square"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2027</a:t>
            </a:r>
            <a:endParaRPr lang="en-US" sz="1000" dirty="0"/>
          </a:p>
        </p:txBody>
      </p:sp>
      <p:sp>
        <p:nvSpPr>
          <p:cNvPr id="21" name="Text 19"/>
          <p:cNvSpPr/>
          <p:nvPr/>
        </p:nvSpPr>
        <p:spPr>
          <a:xfrm>
            <a:off x="1234440" y="2404872"/>
            <a:ext cx="201168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AWP para Owner Operators</a:t>
            </a:r>
            <a:endParaRPr lang="en-US" sz="900" dirty="0"/>
          </a:p>
        </p:txBody>
      </p:sp>
      <p:sp>
        <p:nvSpPr>
          <p:cNvPr id="22" name="Text 20"/>
          <p:cNvSpPr/>
          <p:nvPr/>
        </p:nvSpPr>
        <p:spPr>
          <a:xfrm>
            <a:off x="1234440" y="2679192"/>
            <a:ext cx="7406640" cy="256032"/>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Extensión de metodología AWP a fase de operaciones: Work Packaging en O&amp;M</a:t>
            </a:r>
            <a:endParaRPr lang="en-US" sz="800" dirty="0"/>
          </a:p>
        </p:txBody>
      </p:sp>
      <p:sp>
        <p:nvSpPr>
          <p:cNvPr id="23" name="Shape 21"/>
          <p:cNvSpPr/>
          <p:nvPr/>
        </p:nvSpPr>
        <p:spPr>
          <a:xfrm>
            <a:off x="320040" y="3044952"/>
            <a:ext cx="8503920" cy="621792"/>
          </a:xfrm>
          <a:prstGeom prst="rect">
            <a:avLst>
              <a:gd name="adj" fmla="val 7353"/>
            </a:avLst>
          </a:prstGeom>
          <a:solidFill>
            <a:srgbClr val="FFFFFF"/>
          </a:solidFill>
          <a:ln w="10160">
            <a:solidFill>
              <a:srgbClr val="D4620A"/>
            </a:solidFill>
            <a:prstDash val="solid"/>
          </a:ln>
        </p:spPr>
      </p:sp>
      <p:sp>
        <p:nvSpPr>
          <p:cNvPr id="24" name="Shape 22"/>
          <p:cNvSpPr/>
          <p:nvPr/>
        </p:nvSpPr>
        <p:spPr>
          <a:xfrm>
            <a:off x="320040" y="3044952"/>
            <a:ext cx="822960" cy="621792"/>
          </a:xfrm>
          <a:prstGeom prst="rect">
            <a:avLst>
              <a:gd name="adj" fmla="val 7353"/>
            </a:avLst>
          </a:prstGeom>
          <a:solidFill>
            <a:srgbClr val="D4620A"/>
          </a:solidFill>
          <a:ln w="12700">
            <a:solidFill>
              <a:srgbClr val="D4620A"/>
            </a:solidFill>
            <a:prstDash val="solid"/>
          </a:ln>
        </p:spPr>
      </p:sp>
      <p:sp>
        <p:nvSpPr>
          <p:cNvPr id="25" name="Text 23"/>
          <p:cNvSpPr/>
          <p:nvPr/>
        </p:nvSpPr>
        <p:spPr>
          <a:xfrm>
            <a:off x="320040" y="3044952"/>
            <a:ext cx="822960" cy="621792"/>
          </a:xfrm>
          <a:prstGeom prst="rect">
            <a:avLst/>
          </a:prstGeom>
          <a:noFill/>
          <a:ln/>
        </p:spPr>
        <p:txBody>
          <a:bodyPr wrap="square"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2028</a:t>
            </a:r>
            <a:endParaRPr lang="en-US" sz="1000" dirty="0"/>
          </a:p>
        </p:txBody>
      </p:sp>
      <p:sp>
        <p:nvSpPr>
          <p:cNvPr id="26" name="Text 24"/>
          <p:cNvSpPr/>
          <p:nvPr/>
        </p:nvSpPr>
        <p:spPr>
          <a:xfrm>
            <a:off x="1234440" y="3090672"/>
            <a:ext cx="201168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Constructabilidad Carbono</a:t>
            </a:r>
            <a:endParaRPr lang="en-US" sz="900" dirty="0"/>
          </a:p>
        </p:txBody>
      </p:sp>
      <p:sp>
        <p:nvSpPr>
          <p:cNvPr id="27" name="Text 25"/>
          <p:cNvSpPr/>
          <p:nvPr/>
        </p:nvSpPr>
        <p:spPr>
          <a:xfrm>
            <a:off x="1234440" y="3364992"/>
            <a:ext cx="7406640" cy="256032"/>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CWPs con huella de carbono calculada: selección de secuencias de menor impacto</a:t>
            </a:r>
            <a:endParaRPr lang="en-US" sz="800" dirty="0"/>
          </a:p>
        </p:txBody>
      </p:sp>
      <p:sp>
        <p:nvSpPr>
          <p:cNvPr id="28" name="Shape 26"/>
          <p:cNvSpPr/>
          <p:nvPr/>
        </p:nvSpPr>
        <p:spPr>
          <a:xfrm>
            <a:off x="320040" y="3730752"/>
            <a:ext cx="8503920" cy="621792"/>
          </a:xfrm>
          <a:prstGeom prst="rect">
            <a:avLst>
              <a:gd name="adj" fmla="val 7353"/>
            </a:avLst>
          </a:prstGeom>
          <a:solidFill>
            <a:srgbClr val="FFF8F0"/>
          </a:solidFill>
          <a:ln w="10160">
            <a:solidFill>
              <a:srgbClr val="D4620A"/>
            </a:solidFill>
            <a:prstDash val="solid"/>
          </a:ln>
        </p:spPr>
      </p:sp>
      <p:sp>
        <p:nvSpPr>
          <p:cNvPr id="29" name="Shape 27"/>
          <p:cNvSpPr/>
          <p:nvPr/>
        </p:nvSpPr>
        <p:spPr>
          <a:xfrm>
            <a:off x="320040" y="3730752"/>
            <a:ext cx="822960" cy="621792"/>
          </a:xfrm>
          <a:prstGeom prst="rect">
            <a:avLst>
              <a:gd name="adj" fmla="val 7353"/>
            </a:avLst>
          </a:prstGeom>
          <a:solidFill>
            <a:srgbClr val="D4620A"/>
          </a:solidFill>
          <a:ln w="12700">
            <a:solidFill>
              <a:srgbClr val="D4620A"/>
            </a:solidFill>
            <a:prstDash val="solid"/>
          </a:ln>
        </p:spPr>
      </p:sp>
      <p:sp>
        <p:nvSpPr>
          <p:cNvPr id="30" name="Text 28"/>
          <p:cNvSpPr/>
          <p:nvPr/>
        </p:nvSpPr>
        <p:spPr>
          <a:xfrm>
            <a:off x="320040" y="3730752"/>
            <a:ext cx="822960" cy="621792"/>
          </a:xfrm>
          <a:prstGeom prst="rect">
            <a:avLst/>
          </a:prstGeom>
          <a:noFill/>
          <a:ln/>
        </p:spPr>
        <p:txBody>
          <a:bodyPr wrap="square"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2029</a:t>
            </a:r>
            <a:endParaRPr lang="en-US" sz="1000" dirty="0"/>
          </a:p>
        </p:txBody>
      </p:sp>
      <p:sp>
        <p:nvSpPr>
          <p:cNvPr id="31" name="Text 29"/>
          <p:cNvSpPr/>
          <p:nvPr/>
        </p:nvSpPr>
        <p:spPr>
          <a:xfrm>
            <a:off x="1234440" y="3776472"/>
            <a:ext cx="201168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AI-Driven IWP Generation</a:t>
            </a:r>
            <a:endParaRPr lang="en-US" sz="900" dirty="0"/>
          </a:p>
        </p:txBody>
      </p:sp>
      <p:sp>
        <p:nvSpPr>
          <p:cNvPr id="32" name="Text 30"/>
          <p:cNvSpPr/>
          <p:nvPr/>
        </p:nvSpPr>
        <p:spPr>
          <a:xfrm>
            <a:off x="1234440" y="4050792"/>
            <a:ext cx="7406640" cy="256032"/>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LLMs generan IWPs validados automáticamente a partir de modelo BIM y P6</a:t>
            </a:r>
            <a:endParaRPr lang="en-US" sz="800" dirty="0"/>
          </a:p>
        </p:txBody>
      </p:sp>
      <p:sp>
        <p:nvSpPr>
          <p:cNvPr id="33" name="Shape 31"/>
          <p:cNvSpPr/>
          <p:nvPr/>
        </p:nvSpPr>
        <p:spPr>
          <a:xfrm>
            <a:off x="320040" y="4416552"/>
            <a:ext cx="8503920" cy="621792"/>
          </a:xfrm>
          <a:prstGeom prst="rect">
            <a:avLst>
              <a:gd name="adj" fmla="val 7353"/>
            </a:avLst>
          </a:prstGeom>
          <a:solidFill>
            <a:srgbClr val="FFFFFF"/>
          </a:solidFill>
          <a:ln w="10160">
            <a:solidFill>
              <a:srgbClr val="D4620A"/>
            </a:solidFill>
            <a:prstDash val="solid"/>
          </a:ln>
        </p:spPr>
      </p:sp>
      <p:sp>
        <p:nvSpPr>
          <p:cNvPr id="34" name="Shape 32"/>
          <p:cNvSpPr/>
          <p:nvPr/>
        </p:nvSpPr>
        <p:spPr>
          <a:xfrm>
            <a:off x="320040" y="4416552"/>
            <a:ext cx="822960" cy="621792"/>
          </a:xfrm>
          <a:prstGeom prst="rect">
            <a:avLst>
              <a:gd name="adj" fmla="val 7353"/>
            </a:avLst>
          </a:prstGeom>
          <a:solidFill>
            <a:srgbClr val="D4620A"/>
          </a:solidFill>
          <a:ln w="12700">
            <a:solidFill>
              <a:srgbClr val="D4620A"/>
            </a:solidFill>
            <a:prstDash val="solid"/>
          </a:ln>
        </p:spPr>
      </p:sp>
      <p:sp>
        <p:nvSpPr>
          <p:cNvPr id="35" name="Text 33"/>
          <p:cNvSpPr/>
          <p:nvPr/>
        </p:nvSpPr>
        <p:spPr>
          <a:xfrm>
            <a:off x="320040" y="4416552"/>
            <a:ext cx="822960" cy="621792"/>
          </a:xfrm>
          <a:prstGeom prst="rect">
            <a:avLst/>
          </a:prstGeom>
          <a:noFill/>
          <a:ln/>
        </p:spPr>
        <p:txBody>
          <a:bodyPr wrap="square"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2030</a:t>
            </a:r>
            <a:endParaRPr lang="en-US" sz="1000" dirty="0"/>
          </a:p>
        </p:txBody>
      </p:sp>
      <p:sp>
        <p:nvSpPr>
          <p:cNvPr id="36" name="Text 34"/>
          <p:cNvSpPr/>
          <p:nvPr/>
        </p:nvSpPr>
        <p:spPr>
          <a:xfrm>
            <a:off x="1234440" y="4462272"/>
            <a:ext cx="201168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Autonomous Construction</a:t>
            </a:r>
            <a:endParaRPr lang="en-US" sz="900" dirty="0"/>
          </a:p>
        </p:txBody>
      </p:sp>
      <p:sp>
        <p:nvSpPr>
          <p:cNvPr id="37" name="Text 35"/>
          <p:cNvSpPr/>
          <p:nvPr/>
        </p:nvSpPr>
        <p:spPr>
          <a:xfrm>
            <a:off x="1234440" y="4736592"/>
            <a:ext cx="7406640" cy="256032"/>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Combinación de robótica, IA y AWP: primeros proyectos semi-autónomos en industria</a:t>
            </a:r>
            <a:endParaRPr lang="en-US" sz="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4620A"/>
          </a:solidFill>
          <a:ln w="12700">
            <a:solidFill>
              <a:srgbClr val="D4620A"/>
            </a:solidFill>
            <a:prstDash val="solid"/>
          </a:ln>
        </p:spPr>
      </p:sp>
      <p:sp>
        <p:nvSpPr>
          <p:cNvPr id="3" name="Shape 1"/>
          <p:cNvSpPr/>
          <p:nvPr/>
        </p:nvSpPr>
        <p:spPr>
          <a:xfrm>
            <a:off x="164592" y="4956048"/>
            <a:ext cx="8979408" cy="182880"/>
          </a:xfrm>
          <a:prstGeom prst="rect">
            <a:avLst/>
          </a:prstGeom>
          <a:solidFill>
            <a:srgbClr val="D4620A"/>
          </a:solidFill>
          <a:ln w="12700">
            <a:solidFill>
              <a:srgbClr val="D4620A"/>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83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DfMA: Design for Manufacture and Assembly</a:t>
            </a:r>
            <a:endParaRPr lang="en-US" sz="1800" dirty="0"/>
          </a:p>
        </p:txBody>
      </p:sp>
      <p:sp>
        <p:nvSpPr>
          <p:cNvPr id="6" name="Shape 4"/>
          <p:cNvSpPr/>
          <p:nvPr/>
        </p:nvSpPr>
        <p:spPr>
          <a:xfrm>
            <a:off x="320040" y="621792"/>
            <a:ext cx="8503920" cy="41148"/>
          </a:xfrm>
          <a:prstGeom prst="rect">
            <a:avLst/>
          </a:prstGeom>
          <a:solidFill>
            <a:srgbClr val="D4620A"/>
          </a:solidFill>
          <a:ln w="12700">
            <a:solidFill>
              <a:srgbClr val="D4620A"/>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D4620A"/>
                </a:solidFill>
                <a:latin typeface="Atkinson Hyperlegible" pitchFamily="34" charset="0"/>
                <a:ea typeface="Atkinson Hyperlegible" pitchFamily="34" charset="-122"/>
                <a:cs typeface="Atkinson Hyperlegible" pitchFamily="34" charset="-120"/>
              </a:rPr>
              <a:t>El siguiente nivel de constructabilidad: diseñar pensando en fabricación</a:t>
            </a:r>
            <a:endParaRPr lang="en-US" sz="900" dirty="0"/>
          </a:p>
        </p:txBody>
      </p:sp>
      <p:sp>
        <p:nvSpPr>
          <p:cNvPr id="8" name="Shape 6"/>
          <p:cNvSpPr/>
          <p:nvPr/>
        </p:nvSpPr>
        <p:spPr>
          <a:xfrm>
            <a:off x="320040" y="1097280"/>
            <a:ext cx="1539850" cy="1143000"/>
          </a:xfrm>
          <a:prstGeom prst="rect">
            <a:avLst>
              <a:gd name="adj" fmla="val 4800"/>
            </a:avLst>
          </a:prstGeom>
          <a:solidFill>
            <a:srgbClr val="D4620A"/>
          </a:solidFill>
          <a:ln w="12700">
            <a:solidFill>
              <a:srgbClr val="D4620A"/>
            </a:solidFill>
            <a:prstDash val="solid"/>
          </a:ln>
        </p:spPr>
      </p:sp>
      <p:sp>
        <p:nvSpPr>
          <p:cNvPr id="9" name="Shape 7"/>
          <p:cNvSpPr/>
          <p:nvPr/>
        </p:nvSpPr>
        <p:spPr>
          <a:xfrm>
            <a:off x="888797" y="896112"/>
            <a:ext cx="402336" cy="402336"/>
          </a:xfrm>
          <a:prstGeom prst="ellipse">
            <a:avLst/>
          </a:prstGeom>
          <a:solidFill>
            <a:srgbClr val="FFFFFF"/>
          </a:solidFill>
          <a:ln w="12700">
            <a:solidFill>
              <a:srgbClr val="D4620A"/>
            </a:solidFill>
            <a:prstDash val="solid"/>
          </a:ln>
        </p:spPr>
      </p:sp>
      <p:sp>
        <p:nvSpPr>
          <p:cNvPr id="10" name="Text 8"/>
          <p:cNvSpPr/>
          <p:nvPr/>
        </p:nvSpPr>
        <p:spPr>
          <a:xfrm>
            <a:off x="888797" y="896112"/>
            <a:ext cx="402336" cy="402336"/>
          </a:xfrm>
          <a:prstGeom prst="rect">
            <a:avLst/>
          </a:prstGeom>
          <a:noFill/>
          <a:ln/>
        </p:spPr>
        <p:txBody>
          <a:bodyPr wrap="square" rtlCol="0" anchor="ctr"/>
          <a:lstStyle/>
          <a:p>
            <a:pPr algn="ctr" indent="0" marL="0">
              <a:buNone/>
            </a:pPr>
            <a:r>
              <a:rPr lang="en-US" sz="900" b="1" dirty="0">
                <a:solidFill>
                  <a:srgbClr val="D4620A"/>
                </a:solidFill>
                <a:latin typeface="Atkinson Hyperlegible" pitchFamily="34" charset="0"/>
                <a:ea typeface="Atkinson Hyperlegible" pitchFamily="34" charset="-122"/>
                <a:cs typeface="Atkinson Hyperlegible" pitchFamily="34" charset="-120"/>
              </a:rPr>
              <a:t>1</a:t>
            </a:r>
            <a:endParaRPr lang="en-US" sz="900" dirty="0"/>
          </a:p>
        </p:txBody>
      </p:sp>
      <p:sp>
        <p:nvSpPr>
          <p:cNvPr id="11" name="Text 9"/>
          <p:cNvSpPr/>
          <p:nvPr/>
        </p:nvSpPr>
        <p:spPr>
          <a:xfrm>
            <a:off x="374904" y="1133856"/>
            <a:ext cx="1430122" cy="329184"/>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Concepto DfMA</a:t>
            </a:r>
            <a:endParaRPr lang="en-US" sz="800" dirty="0"/>
          </a:p>
        </p:txBody>
      </p:sp>
      <p:sp>
        <p:nvSpPr>
          <p:cNvPr id="12" name="Text 10"/>
          <p:cNvSpPr/>
          <p:nvPr/>
        </p:nvSpPr>
        <p:spPr>
          <a:xfrm>
            <a:off x="374904" y="1481328"/>
            <a:ext cx="1430122" cy="685800"/>
          </a:xfrm>
          <a:prstGeom prst="rect">
            <a:avLst/>
          </a:prstGeom>
          <a:noFill/>
          <a:ln/>
        </p:spPr>
        <p:txBody>
          <a:bodyPr wrap="square" rtlCol="0" anchor="ctr"/>
          <a:lstStyle/>
          <a:p>
            <a:pPr algn="ct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Definir módulos y componentes prefabricables en ingeniería conceptual</a:t>
            </a:r>
            <a:endParaRPr lang="en-US" sz="700" dirty="0"/>
          </a:p>
        </p:txBody>
      </p:sp>
      <p:sp>
        <p:nvSpPr>
          <p:cNvPr id="13" name="Shape 11"/>
          <p:cNvSpPr/>
          <p:nvPr/>
        </p:nvSpPr>
        <p:spPr>
          <a:xfrm>
            <a:off x="1869034" y="1540764"/>
            <a:ext cx="201168" cy="256032"/>
          </a:xfrm>
          <a:prstGeom prst="chevron">
            <a:avLst/>
          </a:prstGeom>
          <a:solidFill>
            <a:srgbClr val="D4620A"/>
          </a:solidFill>
          <a:ln w="12700">
            <a:solidFill>
              <a:srgbClr val="D4620A"/>
            </a:solidFill>
            <a:prstDash val="solid"/>
          </a:ln>
        </p:spPr>
      </p:sp>
      <p:sp>
        <p:nvSpPr>
          <p:cNvPr id="14" name="Shape 12"/>
          <p:cNvSpPr/>
          <p:nvPr/>
        </p:nvSpPr>
        <p:spPr>
          <a:xfrm>
            <a:off x="2061058" y="1097280"/>
            <a:ext cx="1539850" cy="1143000"/>
          </a:xfrm>
          <a:prstGeom prst="rect">
            <a:avLst>
              <a:gd name="adj" fmla="val 4800"/>
            </a:avLst>
          </a:prstGeom>
          <a:solidFill>
            <a:srgbClr val="FFFFFF"/>
          </a:solidFill>
          <a:ln w="12700">
            <a:solidFill>
              <a:srgbClr val="D4620A"/>
            </a:solidFill>
            <a:prstDash val="solid"/>
          </a:ln>
        </p:spPr>
      </p:sp>
      <p:sp>
        <p:nvSpPr>
          <p:cNvPr id="15" name="Shape 13"/>
          <p:cNvSpPr/>
          <p:nvPr/>
        </p:nvSpPr>
        <p:spPr>
          <a:xfrm>
            <a:off x="2629814" y="896112"/>
            <a:ext cx="402336" cy="402336"/>
          </a:xfrm>
          <a:prstGeom prst="ellipse">
            <a:avLst/>
          </a:prstGeom>
          <a:solidFill>
            <a:srgbClr val="D4620A"/>
          </a:solidFill>
          <a:ln w="12700">
            <a:solidFill>
              <a:srgbClr val="D4620A"/>
            </a:solidFill>
            <a:prstDash val="solid"/>
          </a:ln>
        </p:spPr>
      </p:sp>
      <p:sp>
        <p:nvSpPr>
          <p:cNvPr id="16" name="Text 14"/>
          <p:cNvSpPr/>
          <p:nvPr/>
        </p:nvSpPr>
        <p:spPr>
          <a:xfrm>
            <a:off x="2629814" y="896112"/>
            <a:ext cx="402336" cy="402336"/>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2</a:t>
            </a:r>
            <a:endParaRPr lang="en-US" sz="900" dirty="0"/>
          </a:p>
        </p:txBody>
      </p:sp>
      <p:sp>
        <p:nvSpPr>
          <p:cNvPr id="17" name="Text 15"/>
          <p:cNvSpPr/>
          <p:nvPr/>
        </p:nvSpPr>
        <p:spPr>
          <a:xfrm>
            <a:off x="2115922" y="1133856"/>
            <a:ext cx="1430122" cy="329184"/>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Diseño Modular</a:t>
            </a:r>
            <a:endParaRPr lang="en-US" sz="800" dirty="0"/>
          </a:p>
        </p:txBody>
      </p:sp>
      <p:sp>
        <p:nvSpPr>
          <p:cNvPr id="18" name="Text 16"/>
          <p:cNvSpPr/>
          <p:nvPr/>
        </p:nvSpPr>
        <p:spPr>
          <a:xfrm>
            <a:off x="2115922" y="1481328"/>
            <a:ext cx="1430122" cy="685800"/>
          </a:xfrm>
          <a:prstGeom prst="rect">
            <a:avLst/>
          </a:prstGeom>
          <a:noFill/>
          <a:ln/>
        </p:spPr>
        <p:txBody>
          <a:bodyPr wrap="square" rtlCol="0" anchor="ctr"/>
          <a:lstStyle/>
          <a:p>
            <a:pPr algn="ctr" indent="0" marL="0">
              <a:buNone/>
            </a:pPr>
            <a:r>
              <a:rPr lang="en-US" sz="700" dirty="0">
                <a:solidFill>
                  <a:srgbClr val="444444"/>
                </a:solidFill>
                <a:latin typeface="Atkinson Hyperlegible" pitchFamily="34" charset="0"/>
                <a:ea typeface="Atkinson Hyperlegible" pitchFamily="34" charset="-122"/>
                <a:cs typeface="Atkinson Hyperlegible" pitchFamily="34" charset="-120"/>
              </a:rPr>
              <a:t>Estandarizar dimensiones: fit-for-purpose para transporte y montaje</a:t>
            </a:r>
            <a:endParaRPr lang="en-US" sz="700" dirty="0"/>
          </a:p>
        </p:txBody>
      </p:sp>
      <p:sp>
        <p:nvSpPr>
          <p:cNvPr id="19" name="Shape 17"/>
          <p:cNvSpPr/>
          <p:nvPr/>
        </p:nvSpPr>
        <p:spPr>
          <a:xfrm>
            <a:off x="3610051" y="1540764"/>
            <a:ext cx="201168" cy="256032"/>
          </a:xfrm>
          <a:prstGeom prst="chevron">
            <a:avLst/>
          </a:prstGeom>
          <a:solidFill>
            <a:srgbClr val="D4620A"/>
          </a:solidFill>
          <a:ln w="12700">
            <a:solidFill>
              <a:srgbClr val="D4620A"/>
            </a:solidFill>
            <a:prstDash val="solid"/>
          </a:ln>
        </p:spPr>
      </p:sp>
      <p:sp>
        <p:nvSpPr>
          <p:cNvPr id="20" name="Shape 18"/>
          <p:cNvSpPr/>
          <p:nvPr/>
        </p:nvSpPr>
        <p:spPr>
          <a:xfrm>
            <a:off x="3802075" y="1097280"/>
            <a:ext cx="1539850" cy="1143000"/>
          </a:xfrm>
          <a:prstGeom prst="rect">
            <a:avLst>
              <a:gd name="adj" fmla="val 4800"/>
            </a:avLst>
          </a:prstGeom>
          <a:solidFill>
            <a:srgbClr val="D4620A"/>
          </a:solidFill>
          <a:ln w="12700">
            <a:solidFill>
              <a:srgbClr val="D4620A"/>
            </a:solidFill>
            <a:prstDash val="solid"/>
          </a:ln>
        </p:spPr>
      </p:sp>
      <p:sp>
        <p:nvSpPr>
          <p:cNvPr id="21" name="Shape 19"/>
          <p:cNvSpPr/>
          <p:nvPr/>
        </p:nvSpPr>
        <p:spPr>
          <a:xfrm>
            <a:off x="4370832" y="896112"/>
            <a:ext cx="402336" cy="402336"/>
          </a:xfrm>
          <a:prstGeom prst="ellipse">
            <a:avLst/>
          </a:prstGeom>
          <a:solidFill>
            <a:srgbClr val="FFFFFF"/>
          </a:solidFill>
          <a:ln w="12700">
            <a:solidFill>
              <a:srgbClr val="D4620A"/>
            </a:solidFill>
            <a:prstDash val="solid"/>
          </a:ln>
        </p:spPr>
      </p:sp>
      <p:sp>
        <p:nvSpPr>
          <p:cNvPr id="22" name="Text 20"/>
          <p:cNvSpPr/>
          <p:nvPr/>
        </p:nvSpPr>
        <p:spPr>
          <a:xfrm>
            <a:off x="4370832" y="896112"/>
            <a:ext cx="402336" cy="402336"/>
          </a:xfrm>
          <a:prstGeom prst="rect">
            <a:avLst/>
          </a:prstGeom>
          <a:noFill/>
          <a:ln/>
        </p:spPr>
        <p:txBody>
          <a:bodyPr wrap="square" rtlCol="0" anchor="ctr"/>
          <a:lstStyle/>
          <a:p>
            <a:pPr algn="ctr" indent="0" marL="0">
              <a:buNone/>
            </a:pPr>
            <a:r>
              <a:rPr lang="en-US" sz="900" b="1" dirty="0">
                <a:solidFill>
                  <a:srgbClr val="D4620A"/>
                </a:solidFill>
                <a:latin typeface="Atkinson Hyperlegible" pitchFamily="34" charset="0"/>
                <a:ea typeface="Atkinson Hyperlegible" pitchFamily="34" charset="-122"/>
                <a:cs typeface="Atkinson Hyperlegible" pitchFamily="34" charset="-120"/>
              </a:rPr>
              <a:t>3</a:t>
            </a:r>
            <a:endParaRPr lang="en-US" sz="900" dirty="0"/>
          </a:p>
        </p:txBody>
      </p:sp>
      <p:sp>
        <p:nvSpPr>
          <p:cNvPr id="23" name="Text 21"/>
          <p:cNvSpPr/>
          <p:nvPr/>
        </p:nvSpPr>
        <p:spPr>
          <a:xfrm>
            <a:off x="3856939" y="1133856"/>
            <a:ext cx="1430122" cy="329184"/>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CWP Taller/Campo</a:t>
            </a:r>
            <a:endParaRPr lang="en-US" sz="800" dirty="0"/>
          </a:p>
        </p:txBody>
      </p:sp>
      <p:sp>
        <p:nvSpPr>
          <p:cNvPr id="24" name="Text 22"/>
          <p:cNvSpPr/>
          <p:nvPr/>
        </p:nvSpPr>
        <p:spPr>
          <a:xfrm>
            <a:off x="3856939" y="1481328"/>
            <a:ext cx="1430122" cy="685800"/>
          </a:xfrm>
          <a:prstGeom prst="rect">
            <a:avLst/>
          </a:prstGeom>
          <a:noFill/>
          <a:ln/>
        </p:spPr>
        <p:txBody>
          <a:bodyPr wrap="square" rtlCol="0" anchor="ctr"/>
          <a:lstStyle/>
          <a:p>
            <a:pPr algn="ct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Work packages separados: fabricación off-site y montaje in-situ</a:t>
            </a:r>
            <a:endParaRPr lang="en-US" sz="700" dirty="0"/>
          </a:p>
        </p:txBody>
      </p:sp>
      <p:sp>
        <p:nvSpPr>
          <p:cNvPr id="25" name="Shape 23"/>
          <p:cNvSpPr/>
          <p:nvPr/>
        </p:nvSpPr>
        <p:spPr>
          <a:xfrm>
            <a:off x="5351069" y="1540764"/>
            <a:ext cx="201168" cy="256032"/>
          </a:xfrm>
          <a:prstGeom prst="chevron">
            <a:avLst/>
          </a:prstGeom>
          <a:solidFill>
            <a:srgbClr val="D4620A"/>
          </a:solidFill>
          <a:ln w="12700">
            <a:solidFill>
              <a:srgbClr val="D4620A"/>
            </a:solidFill>
            <a:prstDash val="solid"/>
          </a:ln>
        </p:spPr>
      </p:sp>
      <p:sp>
        <p:nvSpPr>
          <p:cNvPr id="26" name="Shape 24"/>
          <p:cNvSpPr/>
          <p:nvPr/>
        </p:nvSpPr>
        <p:spPr>
          <a:xfrm>
            <a:off x="5543093" y="1097280"/>
            <a:ext cx="1539850" cy="1143000"/>
          </a:xfrm>
          <a:prstGeom prst="rect">
            <a:avLst>
              <a:gd name="adj" fmla="val 4800"/>
            </a:avLst>
          </a:prstGeom>
          <a:solidFill>
            <a:srgbClr val="FFFFFF"/>
          </a:solidFill>
          <a:ln w="12700">
            <a:solidFill>
              <a:srgbClr val="D4620A"/>
            </a:solidFill>
            <a:prstDash val="solid"/>
          </a:ln>
        </p:spPr>
      </p:sp>
      <p:sp>
        <p:nvSpPr>
          <p:cNvPr id="27" name="Shape 25"/>
          <p:cNvSpPr/>
          <p:nvPr/>
        </p:nvSpPr>
        <p:spPr>
          <a:xfrm>
            <a:off x="6111850" y="896112"/>
            <a:ext cx="402336" cy="402336"/>
          </a:xfrm>
          <a:prstGeom prst="ellipse">
            <a:avLst/>
          </a:prstGeom>
          <a:solidFill>
            <a:srgbClr val="D4620A"/>
          </a:solidFill>
          <a:ln w="12700">
            <a:solidFill>
              <a:srgbClr val="D4620A"/>
            </a:solidFill>
            <a:prstDash val="solid"/>
          </a:ln>
        </p:spPr>
      </p:sp>
      <p:sp>
        <p:nvSpPr>
          <p:cNvPr id="28" name="Text 26"/>
          <p:cNvSpPr/>
          <p:nvPr/>
        </p:nvSpPr>
        <p:spPr>
          <a:xfrm>
            <a:off x="6111850" y="896112"/>
            <a:ext cx="402336" cy="402336"/>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4</a:t>
            </a:r>
            <a:endParaRPr lang="en-US" sz="900" dirty="0"/>
          </a:p>
        </p:txBody>
      </p:sp>
      <p:sp>
        <p:nvSpPr>
          <p:cNvPr id="29" name="Text 27"/>
          <p:cNvSpPr/>
          <p:nvPr/>
        </p:nvSpPr>
        <p:spPr>
          <a:xfrm>
            <a:off x="5597957" y="1133856"/>
            <a:ext cx="1430122" cy="329184"/>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QC Integrado</a:t>
            </a:r>
            <a:endParaRPr lang="en-US" sz="800" dirty="0"/>
          </a:p>
        </p:txBody>
      </p:sp>
      <p:sp>
        <p:nvSpPr>
          <p:cNvPr id="30" name="Text 28"/>
          <p:cNvSpPr/>
          <p:nvPr/>
        </p:nvSpPr>
        <p:spPr>
          <a:xfrm>
            <a:off x="5597957" y="1481328"/>
            <a:ext cx="1430122" cy="685800"/>
          </a:xfrm>
          <a:prstGeom prst="rect">
            <a:avLst/>
          </a:prstGeom>
          <a:noFill/>
          <a:ln/>
        </p:spPr>
        <p:txBody>
          <a:bodyPr wrap="square" rtlCol="0" anchor="ctr"/>
          <a:lstStyle/>
          <a:p>
            <a:pPr algn="ctr" indent="0" marL="0">
              <a:buNone/>
            </a:pPr>
            <a:r>
              <a:rPr lang="en-US" sz="700" dirty="0">
                <a:solidFill>
                  <a:srgbClr val="444444"/>
                </a:solidFill>
                <a:latin typeface="Atkinson Hyperlegible" pitchFamily="34" charset="0"/>
                <a:ea typeface="Atkinson Hyperlegible" pitchFamily="34" charset="-122"/>
                <a:cs typeface="Atkinson Hyperlegible" pitchFamily="34" charset="-120"/>
              </a:rPr>
              <a:t>Inspección y FAT en taller, no en campo</a:t>
            </a:r>
            <a:endParaRPr lang="en-US" sz="700" dirty="0"/>
          </a:p>
        </p:txBody>
      </p:sp>
      <p:sp>
        <p:nvSpPr>
          <p:cNvPr id="31" name="Shape 29"/>
          <p:cNvSpPr/>
          <p:nvPr/>
        </p:nvSpPr>
        <p:spPr>
          <a:xfrm>
            <a:off x="7092086" y="1540764"/>
            <a:ext cx="201168" cy="256032"/>
          </a:xfrm>
          <a:prstGeom prst="chevron">
            <a:avLst/>
          </a:prstGeom>
          <a:solidFill>
            <a:srgbClr val="D4620A"/>
          </a:solidFill>
          <a:ln w="12700">
            <a:solidFill>
              <a:srgbClr val="D4620A"/>
            </a:solidFill>
            <a:prstDash val="solid"/>
          </a:ln>
        </p:spPr>
      </p:sp>
      <p:sp>
        <p:nvSpPr>
          <p:cNvPr id="32" name="Shape 30"/>
          <p:cNvSpPr/>
          <p:nvPr/>
        </p:nvSpPr>
        <p:spPr>
          <a:xfrm>
            <a:off x="7284110" y="1097280"/>
            <a:ext cx="1539850" cy="1143000"/>
          </a:xfrm>
          <a:prstGeom prst="rect">
            <a:avLst>
              <a:gd name="adj" fmla="val 4800"/>
            </a:avLst>
          </a:prstGeom>
          <a:solidFill>
            <a:srgbClr val="D4620A"/>
          </a:solidFill>
          <a:ln w="12700">
            <a:solidFill>
              <a:srgbClr val="D4620A"/>
            </a:solidFill>
            <a:prstDash val="solid"/>
          </a:ln>
        </p:spPr>
      </p:sp>
      <p:sp>
        <p:nvSpPr>
          <p:cNvPr id="33" name="Shape 31"/>
          <p:cNvSpPr/>
          <p:nvPr/>
        </p:nvSpPr>
        <p:spPr>
          <a:xfrm>
            <a:off x="7852867" y="896112"/>
            <a:ext cx="402336" cy="402336"/>
          </a:xfrm>
          <a:prstGeom prst="ellipse">
            <a:avLst/>
          </a:prstGeom>
          <a:solidFill>
            <a:srgbClr val="FFFFFF"/>
          </a:solidFill>
          <a:ln w="12700">
            <a:solidFill>
              <a:srgbClr val="D4620A"/>
            </a:solidFill>
            <a:prstDash val="solid"/>
          </a:ln>
        </p:spPr>
      </p:sp>
      <p:sp>
        <p:nvSpPr>
          <p:cNvPr id="34" name="Text 32"/>
          <p:cNvSpPr/>
          <p:nvPr/>
        </p:nvSpPr>
        <p:spPr>
          <a:xfrm>
            <a:off x="7852867" y="896112"/>
            <a:ext cx="402336" cy="402336"/>
          </a:xfrm>
          <a:prstGeom prst="rect">
            <a:avLst/>
          </a:prstGeom>
          <a:noFill/>
          <a:ln/>
        </p:spPr>
        <p:txBody>
          <a:bodyPr wrap="square" rtlCol="0" anchor="ctr"/>
          <a:lstStyle/>
          <a:p>
            <a:pPr algn="ctr" indent="0" marL="0">
              <a:buNone/>
            </a:pPr>
            <a:r>
              <a:rPr lang="en-US" sz="900" b="1" dirty="0">
                <a:solidFill>
                  <a:srgbClr val="D4620A"/>
                </a:solidFill>
                <a:latin typeface="Atkinson Hyperlegible" pitchFamily="34" charset="0"/>
                <a:ea typeface="Atkinson Hyperlegible" pitchFamily="34" charset="-122"/>
                <a:cs typeface="Atkinson Hyperlegible" pitchFamily="34" charset="-120"/>
              </a:rPr>
              <a:t>5</a:t>
            </a:r>
            <a:endParaRPr lang="en-US" sz="900" dirty="0"/>
          </a:p>
        </p:txBody>
      </p:sp>
      <p:sp>
        <p:nvSpPr>
          <p:cNvPr id="35" name="Text 33"/>
          <p:cNvSpPr/>
          <p:nvPr/>
        </p:nvSpPr>
        <p:spPr>
          <a:xfrm>
            <a:off x="7338974" y="1133856"/>
            <a:ext cx="1430122" cy="329184"/>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Comisionado</a:t>
            </a:r>
            <a:endParaRPr lang="en-US" sz="800" dirty="0"/>
          </a:p>
        </p:txBody>
      </p:sp>
      <p:sp>
        <p:nvSpPr>
          <p:cNvPr id="36" name="Text 34"/>
          <p:cNvSpPr/>
          <p:nvPr/>
        </p:nvSpPr>
        <p:spPr>
          <a:xfrm>
            <a:off x="7338974" y="1481328"/>
            <a:ext cx="1430122" cy="685800"/>
          </a:xfrm>
          <a:prstGeom prst="rect">
            <a:avLst/>
          </a:prstGeom>
          <a:noFill/>
          <a:ln/>
        </p:spPr>
        <p:txBody>
          <a:bodyPr wrap="square" rtlCol="0" anchor="ctr"/>
          <a:lstStyle/>
          <a:p>
            <a:pPr algn="ct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Pre-comisionado por módulo antes de integración final</a:t>
            </a:r>
            <a:endParaRPr lang="en-US" sz="700" dirty="0"/>
          </a:p>
        </p:txBody>
      </p:sp>
      <p:sp>
        <p:nvSpPr>
          <p:cNvPr id="37" name="Shape 35"/>
          <p:cNvSpPr/>
          <p:nvPr/>
        </p:nvSpPr>
        <p:spPr>
          <a:xfrm>
            <a:off x="320040" y="2487168"/>
            <a:ext cx="4023360" cy="1051560"/>
          </a:xfrm>
          <a:prstGeom prst="rect">
            <a:avLst>
              <a:gd name="adj" fmla="val 5217"/>
            </a:avLst>
          </a:prstGeom>
          <a:solidFill>
            <a:srgbClr val="FFFFFF"/>
          </a:solidFill>
          <a:ln w="6350">
            <a:solidFill>
              <a:srgbClr val="E5E5EA"/>
            </a:solidFill>
            <a:prstDash val="solid"/>
          </a:ln>
        </p:spPr>
      </p:sp>
      <p:pic>
        <p:nvPicPr>
          <p:cNvPr id="3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38912" y="2578608"/>
            <a:ext cx="329184" cy="329184"/>
          </a:xfrm>
          <a:prstGeom prst="rect">
            <a:avLst/>
          </a:prstGeom>
        </p:spPr>
      </p:pic>
      <p:sp>
        <p:nvSpPr>
          <p:cNvPr id="39" name="Text 36"/>
          <p:cNvSpPr/>
          <p:nvPr/>
        </p:nvSpPr>
        <p:spPr>
          <a:xfrm>
            <a:off x="795528" y="255117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Calidad +65%</a:t>
            </a:r>
            <a:endParaRPr lang="en-US" sz="900" dirty="0"/>
          </a:p>
        </p:txBody>
      </p:sp>
      <p:sp>
        <p:nvSpPr>
          <p:cNvPr id="40" name="Text 37"/>
          <p:cNvSpPr/>
          <p:nvPr/>
        </p:nvSpPr>
        <p:spPr>
          <a:xfrm>
            <a:off x="795528" y="2779776"/>
            <a:ext cx="3429000" cy="685800"/>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Ambiente controlado elimina defectos de campo</a:t>
            </a:r>
            <a:endParaRPr lang="en-US" sz="750" dirty="0"/>
          </a:p>
        </p:txBody>
      </p:sp>
      <p:sp>
        <p:nvSpPr>
          <p:cNvPr id="41" name="Shape 38"/>
          <p:cNvSpPr/>
          <p:nvPr/>
        </p:nvSpPr>
        <p:spPr>
          <a:xfrm>
            <a:off x="4663440" y="2487168"/>
            <a:ext cx="4023360" cy="1051560"/>
          </a:xfrm>
          <a:prstGeom prst="rect">
            <a:avLst>
              <a:gd name="adj" fmla="val 5217"/>
            </a:avLst>
          </a:prstGeom>
          <a:solidFill>
            <a:srgbClr val="FFFFFF"/>
          </a:solidFill>
          <a:ln w="6350">
            <a:solidFill>
              <a:srgbClr val="E5E5EA"/>
            </a:solidFill>
            <a:prstDash val="solid"/>
          </a:ln>
        </p:spPr>
      </p:sp>
      <p:pic>
        <p:nvPicPr>
          <p:cNvPr id="4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82312" y="2578608"/>
            <a:ext cx="329184" cy="329184"/>
          </a:xfrm>
          <a:prstGeom prst="rect">
            <a:avLst/>
          </a:prstGeom>
        </p:spPr>
      </p:pic>
      <p:sp>
        <p:nvSpPr>
          <p:cNvPr id="43" name="Text 39"/>
          <p:cNvSpPr/>
          <p:nvPr/>
        </p:nvSpPr>
        <p:spPr>
          <a:xfrm>
            <a:off x="5138928" y="255117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Cronograma -30%</a:t>
            </a:r>
            <a:endParaRPr lang="en-US" sz="900" dirty="0"/>
          </a:p>
        </p:txBody>
      </p:sp>
      <p:sp>
        <p:nvSpPr>
          <p:cNvPr id="44" name="Text 40"/>
          <p:cNvSpPr/>
          <p:nvPr/>
        </p:nvSpPr>
        <p:spPr>
          <a:xfrm>
            <a:off x="5138928" y="2779776"/>
            <a:ext cx="3429000" cy="685800"/>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Paralelismo total: taller y civil al mismo tiempo</a:t>
            </a:r>
            <a:endParaRPr lang="en-US" sz="750" dirty="0"/>
          </a:p>
        </p:txBody>
      </p:sp>
      <p:sp>
        <p:nvSpPr>
          <p:cNvPr id="45" name="Shape 41"/>
          <p:cNvSpPr/>
          <p:nvPr/>
        </p:nvSpPr>
        <p:spPr>
          <a:xfrm>
            <a:off x="320040" y="3657600"/>
            <a:ext cx="4023360" cy="1051560"/>
          </a:xfrm>
          <a:prstGeom prst="rect">
            <a:avLst>
              <a:gd name="adj" fmla="val 5217"/>
            </a:avLst>
          </a:prstGeom>
          <a:solidFill>
            <a:srgbClr val="FFFFFF"/>
          </a:solidFill>
          <a:ln w="6350">
            <a:solidFill>
              <a:srgbClr val="E5E5EA"/>
            </a:solidFill>
            <a:prstDash val="solid"/>
          </a:ln>
        </p:spPr>
      </p:sp>
      <p:pic>
        <p:nvPicPr>
          <p:cNvPr id="4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8912" y="3749040"/>
            <a:ext cx="329184" cy="329184"/>
          </a:xfrm>
          <a:prstGeom prst="rect">
            <a:avLst/>
          </a:prstGeom>
        </p:spPr>
      </p:pic>
      <p:sp>
        <p:nvSpPr>
          <p:cNvPr id="47" name="Text 42"/>
          <p:cNvSpPr/>
          <p:nvPr/>
        </p:nvSpPr>
        <p:spPr>
          <a:xfrm>
            <a:off x="795528" y="3721608"/>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Costo -20%</a:t>
            </a:r>
            <a:endParaRPr lang="en-US" sz="900" dirty="0"/>
          </a:p>
        </p:txBody>
      </p:sp>
      <p:sp>
        <p:nvSpPr>
          <p:cNvPr id="48" name="Text 43"/>
          <p:cNvSpPr/>
          <p:nvPr/>
        </p:nvSpPr>
        <p:spPr>
          <a:xfrm>
            <a:off x="795528" y="3950208"/>
            <a:ext cx="3429000" cy="685800"/>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Economía de escala en taller vs artesanal en campo</a:t>
            </a:r>
            <a:endParaRPr lang="en-US" sz="750" dirty="0"/>
          </a:p>
        </p:txBody>
      </p:sp>
      <p:sp>
        <p:nvSpPr>
          <p:cNvPr id="49" name="Shape 44"/>
          <p:cNvSpPr/>
          <p:nvPr/>
        </p:nvSpPr>
        <p:spPr>
          <a:xfrm>
            <a:off x="4663440" y="3657600"/>
            <a:ext cx="4023360" cy="1051560"/>
          </a:xfrm>
          <a:prstGeom prst="rect">
            <a:avLst>
              <a:gd name="adj" fmla="val 5217"/>
            </a:avLst>
          </a:prstGeom>
          <a:solidFill>
            <a:srgbClr val="FFFFFF"/>
          </a:solidFill>
          <a:ln w="6350">
            <a:solidFill>
              <a:srgbClr val="E5E5EA"/>
            </a:solidFill>
            <a:prstDash val="solid"/>
          </a:ln>
        </p:spPr>
      </p:sp>
      <p:pic>
        <p:nvPicPr>
          <p:cNvPr id="5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82312" y="3749040"/>
            <a:ext cx="329184" cy="329184"/>
          </a:xfrm>
          <a:prstGeom prst="rect">
            <a:avLst/>
          </a:prstGeom>
        </p:spPr>
      </p:pic>
      <p:sp>
        <p:nvSpPr>
          <p:cNvPr id="51" name="Text 45"/>
          <p:cNvSpPr/>
          <p:nvPr/>
        </p:nvSpPr>
        <p:spPr>
          <a:xfrm>
            <a:off x="5138928" y="3721608"/>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Seguridad +70%</a:t>
            </a:r>
            <a:endParaRPr lang="en-US" sz="900" dirty="0"/>
          </a:p>
        </p:txBody>
      </p:sp>
      <p:sp>
        <p:nvSpPr>
          <p:cNvPr id="52" name="Text 46"/>
          <p:cNvSpPr/>
          <p:nvPr/>
        </p:nvSpPr>
        <p:spPr>
          <a:xfrm>
            <a:off x="5138928" y="3950208"/>
            <a:ext cx="3429000" cy="685800"/>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Reducción de horas en altura y espacios confinados</a:t>
            </a:r>
            <a:endParaRPr lang="en-US" sz="7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4620A"/>
          </a:solidFill>
          <a:ln w="12700">
            <a:solidFill>
              <a:srgbClr val="D4620A"/>
            </a:solidFill>
            <a:prstDash val="solid"/>
          </a:ln>
        </p:spPr>
      </p:sp>
      <p:sp>
        <p:nvSpPr>
          <p:cNvPr id="3" name="Shape 1"/>
          <p:cNvSpPr/>
          <p:nvPr/>
        </p:nvSpPr>
        <p:spPr>
          <a:xfrm>
            <a:off x="164592" y="4956048"/>
            <a:ext cx="8979408" cy="182880"/>
          </a:xfrm>
          <a:prstGeom prst="rect">
            <a:avLst/>
          </a:prstGeom>
          <a:solidFill>
            <a:srgbClr val="D4620A"/>
          </a:solidFill>
          <a:ln w="12700">
            <a:solidFill>
              <a:srgbClr val="D4620A"/>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84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Constructabilidad en el Contexto Global</a:t>
            </a:r>
            <a:endParaRPr lang="en-US" sz="1800" dirty="0"/>
          </a:p>
        </p:txBody>
      </p:sp>
      <p:sp>
        <p:nvSpPr>
          <p:cNvPr id="6" name="Shape 4"/>
          <p:cNvSpPr/>
          <p:nvPr/>
        </p:nvSpPr>
        <p:spPr>
          <a:xfrm>
            <a:off x="320040" y="621792"/>
            <a:ext cx="8503920" cy="41148"/>
          </a:xfrm>
          <a:prstGeom prst="rect">
            <a:avLst/>
          </a:prstGeom>
          <a:solidFill>
            <a:srgbClr val="D4620A"/>
          </a:solidFill>
          <a:ln w="12700">
            <a:solidFill>
              <a:srgbClr val="D4620A"/>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D4620A"/>
                </a:solidFill>
                <a:latin typeface="Atkinson Hyperlegible" pitchFamily="34" charset="0"/>
                <a:ea typeface="Atkinson Hyperlegible" pitchFamily="34" charset="-122"/>
                <a:cs typeface="Atkinson Hyperlegible" pitchFamily="34" charset="-120"/>
              </a:rPr>
              <a:t>Adopción regional, tendencias de mercado y proyecciones de la industria</a:t>
            </a:r>
            <a:endParaRPr lang="en-US" sz="900" dirty="0"/>
          </a:p>
        </p:txBody>
      </p:sp>
      <p:sp>
        <p:nvSpPr>
          <p:cNvPr id="8" name="Shape 6"/>
          <p:cNvSpPr/>
          <p:nvPr/>
        </p:nvSpPr>
        <p:spPr>
          <a:xfrm>
            <a:off x="320040" y="960120"/>
            <a:ext cx="8503920" cy="475488"/>
          </a:xfrm>
          <a:prstGeom prst="rect">
            <a:avLst>
              <a:gd name="adj" fmla="val 11538"/>
            </a:avLst>
          </a:prstGeom>
          <a:solidFill>
            <a:srgbClr val="D4620A"/>
          </a:solidFill>
          <a:ln w="12700">
            <a:solidFill>
              <a:srgbClr val="D4620A"/>
            </a:solidFill>
            <a:prstDash val="solid"/>
          </a:ln>
        </p:spPr>
      </p:sp>
      <p:sp>
        <p:nvSpPr>
          <p:cNvPr id="9" name="Text 7"/>
          <p:cNvSpPr/>
          <p:nvPr/>
        </p:nvSpPr>
        <p:spPr>
          <a:xfrm>
            <a:off x="457200" y="987552"/>
            <a:ext cx="8229600" cy="420624"/>
          </a:xfrm>
          <a:prstGeom prst="rect">
            <a:avLst/>
          </a:prstGeom>
          <a:noFill/>
          <a:ln/>
        </p:spPr>
        <p:txBody>
          <a:bodyPr wrap="square"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Adopción AWP por Región (2024)</a:t>
            </a:r>
            <a:endParaRPr lang="en-US" sz="1100" dirty="0"/>
          </a:p>
        </p:txBody>
      </p:sp>
      <p:sp>
        <p:nvSpPr>
          <p:cNvPr id="10" name="Text 8"/>
          <p:cNvSpPr/>
          <p:nvPr/>
        </p:nvSpPr>
        <p:spPr>
          <a:xfrm>
            <a:off x="320040" y="1609344"/>
            <a:ext cx="1828800" cy="34747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Norteamérica</a:t>
            </a:r>
            <a:endParaRPr lang="en-US" sz="850" dirty="0"/>
          </a:p>
        </p:txBody>
      </p:sp>
      <p:sp>
        <p:nvSpPr>
          <p:cNvPr id="11" name="Shape 9"/>
          <p:cNvSpPr/>
          <p:nvPr/>
        </p:nvSpPr>
        <p:spPr>
          <a:xfrm>
            <a:off x="2286000" y="1682496"/>
            <a:ext cx="5943600" cy="237744"/>
          </a:xfrm>
          <a:prstGeom prst="rect">
            <a:avLst>
              <a:gd name="adj" fmla="val 15385"/>
            </a:avLst>
          </a:prstGeom>
          <a:solidFill>
            <a:srgbClr val="E5E5EA"/>
          </a:solidFill>
          <a:ln w="12700">
            <a:solidFill>
              <a:srgbClr val="E5E5EA"/>
            </a:solidFill>
            <a:prstDash val="solid"/>
          </a:ln>
        </p:spPr>
      </p:sp>
      <p:sp>
        <p:nvSpPr>
          <p:cNvPr id="12" name="Shape 10"/>
          <p:cNvSpPr/>
          <p:nvPr/>
        </p:nvSpPr>
        <p:spPr>
          <a:xfrm>
            <a:off x="2286000" y="1682496"/>
            <a:ext cx="4636008" cy="237744"/>
          </a:xfrm>
          <a:prstGeom prst="rect">
            <a:avLst>
              <a:gd name="adj" fmla="val 15385"/>
            </a:avLst>
          </a:prstGeom>
          <a:solidFill>
            <a:srgbClr val="0A74E3"/>
          </a:solidFill>
          <a:ln w="12700">
            <a:solidFill>
              <a:srgbClr val="0A74E3"/>
            </a:solidFill>
            <a:prstDash val="solid"/>
          </a:ln>
        </p:spPr>
      </p:sp>
      <p:sp>
        <p:nvSpPr>
          <p:cNvPr id="13" name="Text 11"/>
          <p:cNvSpPr/>
          <p:nvPr/>
        </p:nvSpPr>
        <p:spPr>
          <a:xfrm>
            <a:off x="8366760" y="1664208"/>
            <a:ext cx="411480" cy="274320"/>
          </a:xfrm>
          <a:prstGeom prst="rect">
            <a:avLst/>
          </a:prstGeom>
          <a:noFill/>
          <a:ln/>
        </p:spPr>
        <p:txBody>
          <a:bodyPr wrap="square" rtlCol="0" anchor="ctr"/>
          <a:lstStyle/>
          <a:p>
            <a:pPr algn="r" indent="0" marL="0">
              <a:buNone/>
            </a:pPr>
            <a:r>
              <a:rPr lang="en-US" sz="800" b="1" dirty="0">
                <a:solidFill>
                  <a:srgbClr val="0A74E3"/>
                </a:solidFill>
                <a:latin typeface="Atkinson Hyperlegible" pitchFamily="34" charset="0"/>
                <a:ea typeface="Atkinson Hyperlegible" pitchFamily="34" charset="-122"/>
                <a:cs typeface="Atkinson Hyperlegible" pitchFamily="34" charset="-120"/>
              </a:rPr>
              <a:t>78%</a:t>
            </a:r>
            <a:endParaRPr lang="en-US" sz="800" dirty="0"/>
          </a:p>
        </p:txBody>
      </p:sp>
      <p:sp>
        <p:nvSpPr>
          <p:cNvPr id="14" name="Text 12"/>
          <p:cNvSpPr/>
          <p:nvPr/>
        </p:nvSpPr>
        <p:spPr>
          <a:xfrm>
            <a:off x="320040" y="2075688"/>
            <a:ext cx="1828800" cy="34747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Australia/NZ</a:t>
            </a:r>
            <a:endParaRPr lang="en-US" sz="850" dirty="0"/>
          </a:p>
        </p:txBody>
      </p:sp>
      <p:sp>
        <p:nvSpPr>
          <p:cNvPr id="15" name="Shape 13"/>
          <p:cNvSpPr/>
          <p:nvPr/>
        </p:nvSpPr>
        <p:spPr>
          <a:xfrm>
            <a:off x="2286000" y="2148840"/>
            <a:ext cx="5943600" cy="237744"/>
          </a:xfrm>
          <a:prstGeom prst="rect">
            <a:avLst>
              <a:gd name="adj" fmla="val 15385"/>
            </a:avLst>
          </a:prstGeom>
          <a:solidFill>
            <a:srgbClr val="E5E5EA"/>
          </a:solidFill>
          <a:ln w="12700">
            <a:solidFill>
              <a:srgbClr val="E5E5EA"/>
            </a:solidFill>
            <a:prstDash val="solid"/>
          </a:ln>
        </p:spPr>
      </p:sp>
      <p:sp>
        <p:nvSpPr>
          <p:cNvPr id="16" name="Shape 14"/>
          <p:cNvSpPr/>
          <p:nvPr/>
        </p:nvSpPr>
        <p:spPr>
          <a:xfrm>
            <a:off x="2286000" y="2148840"/>
            <a:ext cx="3863340" cy="237744"/>
          </a:xfrm>
          <a:prstGeom prst="rect">
            <a:avLst>
              <a:gd name="adj" fmla="val 15385"/>
            </a:avLst>
          </a:prstGeom>
          <a:solidFill>
            <a:srgbClr val="0E9E9E"/>
          </a:solidFill>
          <a:ln w="12700">
            <a:solidFill>
              <a:srgbClr val="0E9E9E"/>
            </a:solidFill>
            <a:prstDash val="solid"/>
          </a:ln>
        </p:spPr>
      </p:sp>
      <p:sp>
        <p:nvSpPr>
          <p:cNvPr id="17" name="Text 15"/>
          <p:cNvSpPr/>
          <p:nvPr/>
        </p:nvSpPr>
        <p:spPr>
          <a:xfrm>
            <a:off x="8366760" y="2130552"/>
            <a:ext cx="411480" cy="274320"/>
          </a:xfrm>
          <a:prstGeom prst="rect">
            <a:avLst/>
          </a:prstGeom>
          <a:noFill/>
          <a:ln/>
        </p:spPr>
        <p:txBody>
          <a:bodyPr wrap="square" rtlCol="0" anchor="ctr"/>
          <a:lstStyle/>
          <a:p>
            <a:pPr algn="r" indent="0" marL="0">
              <a:buNone/>
            </a:pPr>
            <a:r>
              <a:rPr lang="en-US" sz="800" b="1" dirty="0">
                <a:solidFill>
                  <a:srgbClr val="0E9E9E"/>
                </a:solidFill>
                <a:latin typeface="Atkinson Hyperlegible" pitchFamily="34" charset="0"/>
                <a:ea typeface="Atkinson Hyperlegible" pitchFamily="34" charset="-122"/>
                <a:cs typeface="Atkinson Hyperlegible" pitchFamily="34" charset="-120"/>
              </a:rPr>
              <a:t>65%</a:t>
            </a:r>
            <a:endParaRPr lang="en-US" sz="800" dirty="0"/>
          </a:p>
        </p:txBody>
      </p:sp>
      <p:sp>
        <p:nvSpPr>
          <p:cNvPr id="18" name="Text 16"/>
          <p:cNvSpPr/>
          <p:nvPr/>
        </p:nvSpPr>
        <p:spPr>
          <a:xfrm>
            <a:off x="320040" y="2542032"/>
            <a:ext cx="1828800" cy="34747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Europa</a:t>
            </a:r>
            <a:endParaRPr lang="en-US" sz="850" dirty="0"/>
          </a:p>
        </p:txBody>
      </p:sp>
      <p:sp>
        <p:nvSpPr>
          <p:cNvPr id="19" name="Shape 17"/>
          <p:cNvSpPr/>
          <p:nvPr/>
        </p:nvSpPr>
        <p:spPr>
          <a:xfrm>
            <a:off x="2286000" y="2615184"/>
            <a:ext cx="5943600" cy="237744"/>
          </a:xfrm>
          <a:prstGeom prst="rect">
            <a:avLst>
              <a:gd name="adj" fmla="val 15385"/>
            </a:avLst>
          </a:prstGeom>
          <a:solidFill>
            <a:srgbClr val="E5E5EA"/>
          </a:solidFill>
          <a:ln w="12700">
            <a:solidFill>
              <a:srgbClr val="E5E5EA"/>
            </a:solidFill>
            <a:prstDash val="solid"/>
          </a:ln>
        </p:spPr>
      </p:sp>
      <p:sp>
        <p:nvSpPr>
          <p:cNvPr id="20" name="Shape 18"/>
          <p:cNvSpPr/>
          <p:nvPr/>
        </p:nvSpPr>
        <p:spPr>
          <a:xfrm>
            <a:off x="2286000" y="2615184"/>
            <a:ext cx="3090672" cy="237744"/>
          </a:xfrm>
          <a:prstGeom prst="rect">
            <a:avLst>
              <a:gd name="adj" fmla="val 15385"/>
            </a:avLst>
          </a:prstGeom>
          <a:solidFill>
            <a:srgbClr val="27AE60"/>
          </a:solidFill>
          <a:ln w="12700">
            <a:solidFill>
              <a:srgbClr val="27AE60"/>
            </a:solidFill>
            <a:prstDash val="solid"/>
          </a:ln>
        </p:spPr>
      </p:sp>
      <p:sp>
        <p:nvSpPr>
          <p:cNvPr id="21" name="Text 19"/>
          <p:cNvSpPr/>
          <p:nvPr/>
        </p:nvSpPr>
        <p:spPr>
          <a:xfrm>
            <a:off x="8366760" y="2596896"/>
            <a:ext cx="411480" cy="274320"/>
          </a:xfrm>
          <a:prstGeom prst="rect">
            <a:avLst/>
          </a:prstGeom>
          <a:noFill/>
          <a:ln/>
        </p:spPr>
        <p:txBody>
          <a:bodyPr wrap="square" rtlCol="0" anchor="ctr"/>
          <a:lstStyle/>
          <a:p>
            <a:pPr algn="r" indent="0" marL="0">
              <a:buNone/>
            </a:pPr>
            <a:r>
              <a:rPr lang="en-US" sz="800" b="1" dirty="0">
                <a:solidFill>
                  <a:srgbClr val="27AE60"/>
                </a:solidFill>
                <a:latin typeface="Atkinson Hyperlegible" pitchFamily="34" charset="0"/>
                <a:ea typeface="Atkinson Hyperlegible" pitchFamily="34" charset="-122"/>
                <a:cs typeface="Atkinson Hyperlegible" pitchFamily="34" charset="-120"/>
              </a:rPr>
              <a:t>52%</a:t>
            </a:r>
            <a:endParaRPr lang="en-US" sz="800" dirty="0"/>
          </a:p>
        </p:txBody>
      </p:sp>
      <p:sp>
        <p:nvSpPr>
          <p:cNvPr id="22" name="Text 20"/>
          <p:cNvSpPr/>
          <p:nvPr/>
        </p:nvSpPr>
        <p:spPr>
          <a:xfrm>
            <a:off x="320040" y="3008376"/>
            <a:ext cx="1828800" cy="34747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Medio Oriente</a:t>
            </a:r>
            <a:endParaRPr lang="en-US" sz="850" dirty="0"/>
          </a:p>
        </p:txBody>
      </p:sp>
      <p:sp>
        <p:nvSpPr>
          <p:cNvPr id="23" name="Shape 21"/>
          <p:cNvSpPr/>
          <p:nvPr/>
        </p:nvSpPr>
        <p:spPr>
          <a:xfrm>
            <a:off x="2286000" y="3081528"/>
            <a:ext cx="5943600" cy="237744"/>
          </a:xfrm>
          <a:prstGeom prst="rect">
            <a:avLst>
              <a:gd name="adj" fmla="val 15385"/>
            </a:avLst>
          </a:prstGeom>
          <a:solidFill>
            <a:srgbClr val="E5E5EA"/>
          </a:solidFill>
          <a:ln w="12700">
            <a:solidFill>
              <a:srgbClr val="E5E5EA"/>
            </a:solidFill>
            <a:prstDash val="solid"/>
          </a:ln>
        </p:spPr>
      </p:sp>
      <p:sp>
        <p:nvSpPr>
          <p:cNvPr id="24" name="Shape 22"/>
          <p:cNvSpPr/>
          <p:nvPr/>
        </p:nvSpPr>
        <p:spPr>
          <a:xfrm>
            <a:off x="2286000" y="3081528"/>
            <a:ext cx="2852928" cy="237744"/>
          </a:xfrm>
          <a:prstGeom prst="rect">
            <a:avLst>
              <a:gd name="adj" fmla="val 15385"/>
            </a:avLst>
          </a:prstGeom>
          <a:solidFill>
            <a:srgbClr val="D4620A"/>
          </a:solidFill>
          <a:ln w="12700">
            <a:solidFill>
              <a:srgbClr val="D4620A"/>
            </a:solidFill>
            <a:prstDash val="solid"/>
          </a:ln>
        </p:spPr>
      </p:sp>
      <p:sp>
        <p:nvSpPr>
          <p:cNvPr id="25" name="Text 23"/>
          <p:cNvSpPr/>
          <p:nvPr/>
        </p:nvSpPr>
        <p:spPr>
          <a:xfrm>
            <a:off x="8366760" y="3063240"/>
            <a:ext cx="411480" cy="274320"/>
          </a:xfrm>
          <a:prstGeom prst="rect">
            <a:avLst/>
          </a:prstGeom>
          <a:noFill/>
          <a:ln/>
        </p:spPr>
        <p:txBody>
          <a:bodyPr wrap="square" rtlCol="0" anchor="ctr"/>
          <a:lstStyle/>
          <a:p>
            <a:pPr algn="r" indent="0" marL="0">
              <a:buNone/>
            </a:pPr>
            <a:r>
              <a:rPr lang="en-US" sz="800" b="1" dirty="0">
                <a:solidFill>
                  <a:srgbClr val="D4620A"/>
                </a:solidFill>
                <a:latin typeface="Atkinson Hyperlegible" pitchFamily="34" charset="0"/>
                <a:ea typeface="Atkinson Hyperlegible" pitchFamily="34" charset="-122"/>
                <a:cs typeface="Atkinson Hyperlegible" pitchFamily="34" charset="-120"/>
              </a:rPr>
              <a:t>48%</a:t>
            </a:r>
            <a:endParaRPr lang="en-US" sz="800" dirty="0"/>
          </a:p>
        </p:txBody>
      </p:sp>
      <p:sp>
        <p:nvSpPr>
          <p:cNvPr id="26" name="Text 24"/>
          <p:cNvSpPr/>
          <p:nvPr/>
        </p:nvSpPr>
        <p:spPr>
          <a:xfrm>
            <a:off x="320040" y="3474720"/>
            <a:ext cx="1828800" cy="34747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Asia-Pacífico</a:t>
            </a:r>
            <a:endParaRPr lang="en-US" sz="850" dirty="0"/>
          </a:p>
        </p:txBody>
      </p:sp>
      <p:sp>
        <p:nvSpPr>
          <p:cNvPr id="27" name="Shape 25"/>
          <p:cNvSpPr/>
          <p:nvPr/>
        </p:nvSpPr>
        <p:spPr>
          <a:xfrm>
            <a:off x="2286000" y="3547872"/>
            <a:ext cx="5943600" cy="237744"/>
          </a:xfrm>
          <a:prstGeom prst="rect">
            <a:avLst>
              <a:gd name="adj" fmla="val 15385"/>
            </a:avLst>
          </a:prstGeom>
          <a:solidFill>
            <a:srgbClr val="E5E5EA"/>
          </a:solidFill>
          <a:ln w="12700">
            <a:solidFill>
              <a:srgbClr val="E5E5EA"/>
            </a:solidFill>
            <a:prstDash val="solid"/>
          </a:ln>
        </p:spPr>
      </p:sp>
      <p:sp>
        <p:nvSpPr>
          <p:cNvPr id="28" name="Shape 26"/>
          <p:cNvSpPr/>
          <p:nvPr/>
        </p:nvSpPr>
        <p:spPr>
          <a:xfrm>
            <a:off x="2286000" y="3547872"/>
            <a:ext cx="2258568" cy="237744"/>
          </a:xfrm>
          <a:prstGeom prst="rect">
            <a:avLst>
              <a:gd name="adj" fmla="val 15385"/>
            </a:avLst>
          </a:prstGeom>
          <a:solidFill>
            <a:srgbClr val="8E44AD"/>
          </a:solidFill>
          <a:ln w="12700">
            <a:solidFill>
              <a:srgbClr val="8E44AD"/>
            </a:solidFill>
            <a:prstDash val="solid"/>
          </a:ln>
        </p:spPr>
      </p:sp>
      <p:sp>
        <p:nvSpPr>
          <p:cNvPr id="29" name="Text 27"/>
          <p:cNvSpPr/>
          <p:nvPr/>
        </p:nvSpPr>
        <p:spPr>
          <a:xfrm>
            <a:off x="8366760" y="3529584"/>
            <a:ext cx="411480" cy="274320"/>
          </a:xfrm>
          <a:prstGeom prst="rect">
            <a:avLst/>
          </a:prstGeom>
          <a:noFill/>
          <a:ln/>
        </p:spPr>
        <p:txBody>
          <a:bodyPr wrap="square" rtlCol="0" anchor="ctr"/>
          <a:lstStyle/>
          <a:p>
            <a:pPr algn="r" indent="0" marL="0">
              <a:buNone/>
            </a:pPr>
            <a:r>
              <a:rPr lang="en-US" sz="800" b="1" dirty="0">
                <a:solidFill>
                  <a:srgbClr val="8E44AD"/>
                </a:solidFill>
                <a:latin typeface="Atkinson Hyperlegible" pitchFamily="34" charset="0"/>
                <a:ea typeface="Atkinson Hyperlegible" pitchFamily="34" charset="-122"/>
                <a:cs typeface="Atkinson Hyperlegible" pitchFamily="34" charset="-120"/>
              </a:rPr>
              <a:t>38%</a:t>
            </a:r>
            <a:endParaRPr lang="en-US" sz="800" dirty="0"/>
          </a:p>
        </p:txBody>
      </p:sp>
      <p:sp>
        <p:nvSpPr>
          <p:cNvPr id="30" name="Text 28"/>
          <p:cNvSpPr/>
          <p:nvPr/>
        </p:nvSpPr>
        <p:spPr>
          <a:xfrm>
            <a:off x="320040" y="3941064"/>
            <a:ext cx="1828800" cy="34747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Latinoamérica</a:t>
            </a:r>
            <a:endParaRPr lang="en-US" sz="850" dirty="0"/>
          </a:p>
        </p:txBody>
      </p:sp>
      <p:sp>
        <p:nvSpPr>
          <p:cNvPr id="31" name="Shape 29"/>
          <p:cNvSpPr/>
          <p:nvPr/>
        </p:nvSpPr>
        <p:spPr>
          <a:xfrm>
            <a:off x="2286000" y="4014216"/>
            <a:ext cx="5943600" cy="237744"/>
          </a:xfrm>
          <a:prstGeom prst="rect">
            <a:avLst>
              <a:gd name="adj" fmla="val 15385"/>
            </a:avLst>
          </a:prstGeom>
          <a:solidFill>
            <a:srgbClr val="E5E5EA"/>
          </a:solidFill>
          <a:ln w="12700">
            <a:solidFill>
              <a:srgbClr val="E5E5EA"/>
            </a:solidFill>
            <a:prstDash val="solid"/>
          </a:ln>
        </p:spPr>
      </p:sp>
      <p:sp>
        <p:nvSpPr>
          <p:cNvPr id="32" name="Shape 30"/>
          <p:cNvSpPr/>
          <p:nvPr/>
        </p:nvSpPr>
        <p:spPr>
          <a:xfrm>
            <a:off x="2286000" y="4014216"/>
            <a:ext cx="1426464" cy="237744"/>
          </a:xfrm>
          <a:prstGeom prst="rect">
            <a:avLst>
              <a:gd name="adj" fmla="val 15385"/>
            </a:avLst>
          </a:prstGeom>
          <a:solidFill>
            <a:srgbClr val="C0392B"/>
          </a:solidFill>
          <a:ln w="12700">
            <a:solidFill>
              <a:srgbClr val="C0392B"/>
            </a:solidFill>
            <a:prstDash val="solid"/>
          </a:ln>
        </p:spPr>
      </p:sp>
      <p:sp>
        <p:nvSpPr>
          <p:cNvPr id="33" name="Text 31"/>
          <p:cNvSpPr/>
          <p:nvPr/>
        </p:nvSpPr>
        <p:spPr>
          <a:xfrm>
            <a:off x="8366760" y="3995928"/>
            <a:ext cx="411480" cy="274320"/>
          </a:xfrm>
          <a:prstGeom prst="rect">
            <a:avLst/>
          </a:prstGeom>
          <a:noFill/>
          <a:ln/>
        </p:spPr>
        <p:txBody>
          <a:bodyPr wrap="square" rtlCol="0" anchor="ctr"/>
          <a:lstStyle/>
          <a:p>
            <a:pPr algn="r" indent="0" marL="0">
              <a:buNone/>
            </a:pPr>
            <a:r>
              <a:rPr lang="en-US" sz="800" b="1" dirty="0">
                <a:solidFill>
                  <a:srgbClr val="C0392B"/>
                </a:solidFill>
                <a:latin typeface="Atkinson Hyperlegible" pitchFamily="34" charset="0"/>
                <a:ea typeface="Atkinson Hyperlegible" pitchFamily="34" charset="-122"/>
                <a:cs typeface="Atkinson Hyperlegible" pitchFamily="34" charset="-120"/>
              </a:rPr>
              <a:t>24%</a:t>
            </a:r>
            <a:endParaRPr lang="en-US" sz="800" dirty="0"/>
          </a:p>
        </p:txBody>
      </p:sp>
      <p:sp>
        <p:nvSpPr>
          <p:cNvPr id="34" name="Text 32"/>
          <p:cNvSpPr/>
          <p:nvPr/>
        </p:nvSpPr>
        <p:spPr>
          <a:xfrm>
            <a:off x="320040" y="4407408"/>
            <a:ext cx="1828800" cy="34747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África</a:t>
            </a:r>
            <a:endParaRPr lang="en-US" sz="850" dirty="0"/>
          </a:p>
        </p:txBody>
      </p:sp>
      <p:sp>
        <p:nvSpPr>
          <p:cNvPr id="35" name="Shape 33"/>
          <p:cNvSpPr/>
          <p:nvPr/>
        </p:nvSpPr>
        <p:spPr>
          <a:xfrm>
            <a:off x="2286000" y="4480560"/>
            <a:ext cx="5943600" cy="237744"/>
          </a:xfrm>
          <a:prstGeom prst="rect">
            <a:avLst>
              <a:gd name="adj" fmla="val 15385"/>
            </a:avLst>
          </a:prstGeom>
          <a:solidFill>
            <a:srgbClr val="E5E5EA"/>
          </a:solidFill>
          <a:ln w="12700">
            <a:solidFill>
              <a:srgbClr val="E5E5EA"/>
            </a:solidFill>
            <a:prstDash val="solid"/>
          </a:ln>
        </p:spPr>
      </p:sp>
      <p:sp>
        <p:nvSpPr>
          <p:cNvPr id="36" name="Shape 34"/>
          <p:cNvSpPr/>
          <p:nvPr/>
        </p:nvSpPr>
        <p:spPr>
          <a:xfrm>
            <a:off x="2286000" y="4480560"/>
            <a:ext cx="832104" cy="237744"/>
          </a:xfrm>
          <a:prstGeom prst="rect">
            <a:avLst>
              <a:gd name="adj" fmla="val 15385"/>
            </a:avLst>
          </a:prstGeom>
          <a:solidFill>
            <a:srgbClr val="2C3E8C"/>
          </a:solidFill>
          <a:ln w="12700">
            <a:solidFill>
              <a:srgbClr val="2C3E8C"/>
            </a:solidFill>
            <a:prstDash val="solid"/>
          </a:ln>
        </p:spPr>
      </p:sp>
      <p:sp>
        <p:nvSpPr>
          <p:cNvPr id="37" name="Text 35"/>
          <p:cNvSpPr/>
          <p:nvPr/>
        </p:nvSpPr>
        <p:spPr>
          <a:xfrm>
            <a:off x="8366760" y="4462272"/>
            <a:ext cx="411480" cy="274320"/>
          </a:xfrm>
          <a:prstGeom prst="rect">
            <a:avLst/>
          </a:prstGeom>
          <a:noFill/>
          <a:ln/>
        </p:spPr>
        <p:txBody>
          <a:bodyPr wrap="square" rtlCol="0" anchor="ctr"/>
          <a:lstStyle/>
          <a:p>
            <a:pPr algn="r" indent="0" marL="0">
              <a:buNone/>
            </a:pPr>
            <a:r>
              <a:rPr lang="en-US" sz="800" b="1" dirty="0">
                <a:solidFill>
                  <a:srgbClr val="2C3E8C"/>
                </a:solidFill>
                <a:latin typeface="Atkinson Hyperlegible" pitchFamily="34" charset="0"/>
                <a:ea typeface="Atkinson Hyperlegible" pitchFamily="34" charset="-122"/>
                <a:cs typeface="Atkinson Hyperlegible" pitchFamily="34" charset="-120"/>
              </a:rPr>
              <a:t>14%</a:t>
            </a:r>
            <a:endParaRPr lang="en-US" sz="800" dirty="0"/>
          </a:p>
        </p:txBody>
      </p:sp>
      <p:sp>
        <p:nvSpPr>
          <p:cNvPr id="38" name="Shape 36"/>
          <p:cNvSpPr/>
          <p:nvPr/>
        </p:nvSpPr>
        <p:spPr>
          <a:xfrm>
            <a:off x="320040" y="4818888"/>
            <a:ext cx="8503920" cy="164592"/>
          </a:xfrm>
          <a:prstGeom prst="rect">
            <a:avLst>
              <a:gd name="adj" fmla="val 22222"/>
            </a:avLst>
          </a:prstGeom>
          <a:solidFill>
            <a:srgbClr val="FFF3E0"/>
          </a:solidFill>
          <a:ln w="10160">
            <a:solidFill>
              <a:srgbClr val="D4620A"/>
            </a:solidFill>
            <a:prstDash val="solid"/>
          </a:ln>
        </p:spPr>
      </p:sp>
      <p:sp>
        <p:nvSpPr>
          <p:cNvPr id="39" name="Text 37"/>
          <p:cNvSpPr/>
          <p:nvPr/>
        </p:nvSpPr>
        <p:spPr>
          <a:xfrm>
            <a:off x="411480" y="4818888"/>
            <a:ext cx="8321040" cy="164592"/>
          </a:xfrm>
          <a:prstGeom prst="rect">
            <a:avLst/>
          </a:prstGeom>
          <a:noFill/>
          <a:ln/>
        </p:spPr>
        <p:txBody>
          <a:bodyPr wrap="square" rtlCol="0" anchor="ctr"/>
          <a:lstStyle/>
          <a:p>
            <a:pPr indent="0" marL="0">
              <a:buNone/>
            </a:pPr>
            <a:r>
              <a:rPr lang="en-US" sz="800" b="1" dirty="0">
                <a:solidFill>
                  <a:srgbClr val="D4620A"/>
                </a:solidFill>
                <a:latin typeface="Atkinson Hyperlegible" pitchFamily="34" charset="0"/>
                <a:ea typeface="Atkinson Hyperlegible" pitchFamily="34" charset="-122"/>
                <a:cs typeface="Atkinson Hyperlegible" pitchFamily="34" charset="-120"/>
              </a:rPr>
              <a:t>⚡ Latinoamérica tiene la mayor oportunidad de crecimiento: +200% proyectado 2025-2030 (CII LAC Chapter)</a:t>
            </a:r>
            <a:endParaRPr lang="en-US" sz="8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9E9E"/>
          </a:solidFill>
          <a:ln w="12700">
            <a:solidFill>
              <a:srgbClr val="0E9E9E"/>
            </a:solidFill>
            <a:prstDash val="solid"/>
          </a:ln>
        </p:spPr>
      </p:sp>
      <p:sp>
        <p:nvSpPr>
          <p:cNvPr id="3" name="Shape 1"/>
          <p:cNvSpPr/>
          <p:nvPr/>
        </p:nvSpPr>
        <p:spPr>
          <a:xfrm>
            <a:off x="0" y="0"/>
            <a:ext cx="3200400" cy="5143500"/>
          </a:xfrm>
          <a:prstGeom prst="rect">
            <a:avLst/>
          </a:prstGeom>
          <a:solidFill>
            <a:srgbClr val="000000"/>
          </a:solidFill>
          <a:ln w="12700">
            <a:solidFill>
              <a:srgbClr val="000000"/>
            </a:solidFill>
            <a:prstDash val="solid"/>
          </a:ln>
        </p:spPr>
      </p:sp>
      <p:sp>
        <p:nvSpPr>
          <p:cNvPr id="4" name="Text 2"/>
          <p:cNvSpPr/>
          <p:nvPr/>
        </p:nvSpPr>
        <p:spPr>
          <a:xfrm>
            <a:off x="365760" y="365760"/>
            <a:ext cx="2743200" cy="1828800"/>
          </a:xfrm>
          <a:prstGeom prst="rect">
            <a:avLst/>
          </a:prstGeom>
          <a:noFill/>
          <a:ln/>
        </p:spPr>
        <p:txBody>
          <a:bodyPr wrap="square" rtlCol="0" anchor="ctr"/>
          <a:lstStyle/>
          <a:p>
            <a:pPr indent="0" marL="0">
              <a:buNone/>
            </a:pPr>
            <a:r>
              <a:rPr lang="en-US" sz="9600" b="1" dirty="0">
                <a:solidFill>
                  <a:srgbClr val="FFFFFF">
                    <a:alpha val="40000"/>
                  </a:srgbClr>
                </a:solidFill>
                <a:latin typeface="Atkinson Hyperlegible" pitchFamily="34" charset="0"/>
                <a:ea typeface="Atkinson Hyperlegible" pitchFamily="34" charset="-122"/>
                <a:cs typeface="Atkinson Hyperlegible" pitchFamily="34" charset="-120"/>
              </a:rPr>
              <a:t>010</a:t>
            </a:r>
            <a:endParaRPr lang="en-US" sz="9600" dirty="0"/>
          </a:p>
        </p:txBody>
      </p:sp>
      <p:sp>
        <p:nvSpPr>
          <p:cNvPr id="5" name="Text 3"/>
          <p:cNvSpPr/>
          <p:nvPr/>
        </p:nvSpPr>
        <p:spPr>
          <a:xfrm>
            <a:off x="3474720" y="1645920"/>
            <a:ext cx="5303520" cy="1097280"/>
          </a:xfrm>
          <a:prstGeom prst="rect">
            <a:avLst/>
          </a:prstGeom>
          <a:noFill/>
          <a:ln/>
        </p:spPr>
        <p:txBody>
          <a:bodyPr wrap="square" rtlCol="0" anchor="ctr"/>
          <a:lstStyle/>
          <a:p>
            <a:pPr indent="0" marL="0">
              <a:buNone/>
            </a:pPr>
            <a:r>
              <a:rPr lang="en-US" sz="3200" b="1" dirty="0">
                <a:solidFill>
                  <a:srgbClr val="FFFFFF"/>
                </a:solidFill>
                <a:latin typeface="Atkinson Hyperlegible" pitchFamily="34" charset="0"/>
                <a:ea typeface="Atkinson Hyperlegible" pitchFamily="34" charset="-122"/>
                <a:cs typeface="Atkinson Hyperlegible" pitchFamily="34" charset="-120"/>
              </a:rPr>
              <a:t>Glosario y</a:t>
            </a:r>
            <a:endParaRPr lang="en-US" sz="3200" dirty="0"/>
          </a:p>
          <a:p>
            <a:pPr indent="0" marL="0">
              <a:buNone/>
            </a:pPr>
            <a:r>
              <a:rPr lang="en-US" sz="3200" b="1" dirty="0">
                <a:solidFill>
                  <a:srgbClr val="FFFFFF"/>
                </a:solidFill>
                <a:latin typeface="Atkinson Hyperlegible" pitchFamily="34" charset="0"/>
                <a:ea typeface="Atkinson Hyperlegible" pitchFamily="34" charset="-122"/>
                <a:cs typeface="Atkinson Hyperlegible" pitchFamily="34" charset="-120"/>
              </a:rPr>
              <a:t>Referencias</a:t>
            </a:r>
            <a:endParaRPr lang="en-US" sz="3200" dirty="0"/>
          </a:p>
        </p:txBody>
      </p:sp>
      <p:sp>
        <p:nvSpPr>
          <p:cNvPr id="6" name="Text 4"/>
          <p:cNvSpPr/>
          <p:nvPr/>
        </p:nvSpPr>
        <p:spPr>
          <a:xfrm>
            <a:off x="3474720" y="2834640"/>
            <a:ext cx="5303520" cy="822960"/>
          </a:xfrm>
          <a:prstGeom prst="rect">
            <a:avLst/>
          </a:prstGeom>
          <a:noFill/>
          <a:ln/>
        </p:spPr>
        <p:txBody>
          <a:bodyPr wrap="square" rtlCol="0" anchor="ctr"/>
          <a:lstStyle/>
          <a:p>
            <a:pPr indent="0" marL="0">
              <a:buNone/>
            </a:pPr>
            <a:r>
              <a:rPr lang="en-US" sz="1400" i="1" dirty="0">
                <a:solidFill>
                  <a:srgbClr val="FFFFFF">
                    <a:alpha val="75000"/>
                  </a:srgbClr>
                </a:solidFill>
                <a:latin typeface="Atkinson Hyperlegible" pitchFamily="34" charset="0"/>
                <a:ea typeface="Atkinson Hyperlegible" pitchFamily="34" charset="-122"/>
                <a:cs typeface="Atkinson Hyperlegible" pitchFamily="34" charset="-120"/>
              </a:rPr>
              <a:t>Términos clave y fuentes bibliográficas del marco AWP-CII</a:t>
            </a:r>
            <a:endParaRPr lang="en-US" sz="1400" dirty="0"/>
          </a:p>
        </p:txBody>
      </p:sp>
      <p:sp>
        <p:nvSpPr>
          <p:cNvPr id="7" name="Text 5"/>
          <p:cNvSpPr/>
          <p:nvPr/>
        </p:nvSpPr>
        <p:spPr>
          <a:xfrm>
            <a:off x="7772400" y="4846320"/>
            <a:ext cx="1188720" cy="182880"/>
          </a:xfrm>
          <a:prstGeom prst="rect">
            <a:avLst/>
          </a:prstGeom>
          <a:noFill/>
          <a:ln/>
        </p:spPr>
        <p:txBody>
          <a:bodyPr wrap="square" rtlCol="0" anchor="ctr"/>
          <a:lstStyle/>
          <a:p>
            <a:pPr algn="r" indent="0" marL="0">
              <a:buNone/>
            </a:pPr>
            <a:r>
              <a:rPr lang="en-US" sz="800" dirty="0">
                <a:solidFill>
                  <a:srgbClr val="FFFFFF"/>
                </a:solidFill>
                <a:latin typeface="Atkinson Hyperlegible" pitchFamily="34" charset="0"/>
                <a:ea typeface="Atkinson Hyperlegible" pitchFamily="34" charset="-122"/>
                <a:cs typeface="Atkinson Hyperlegible" pitchFamily="34" charset="-120"/>
              </a:rPr>
              <a:t>85 / 126</a:t>
            </a:r>
            <a:endParaRPr lang="en-US" sz="8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E9E"/>
          </a:solidFill>
          <a:ln w="12700">
            <a:solidFill>
              <a:srgbClr val="0E9E9E"/>
            </a:solidFill>
            <a:prstDash val="solid"/>
          </a:ln>
        </p:spPr>
      </p:sp>
      <p:sp>
        <p:nvSpPr>
          <p:cNvPr id="3" name="Shape 1"/>
          <p:cNvSpPr/>
          <p:nvPr/>
        </p:nvSpPr>
        <p:spPr>
          <a:xfrm>
            <a:off x="164592" y="4956048"/>
            <a:ext cx="8979408" cy="182880"/>
          </a:xfrm>
          <a:prstGeom prst="rect">
            <a:avLst/>
          </a:prstGeom>
          <a:solidFill>
            <a:srgbClr val="0E9E9E"/>
          </a:solidFill>
          <a:ln w="12700">
            <a:solidFill>
              <a:srgbClr val="0E9E9E"/>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86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Glosario de Términos AWP/CII (A–L)</a:t>
            </a:r>
            <a:endParaRPr lang="en-US" sz="1800" dirty="0"/>
          </a:p>
        </p:txBody>
      </p:sp>
      <p:sp>
        <p:nvSpPr>
          <p:cNvPr id="6" name="Shape 4"/>
          <p:cNvSpPr/>
          <p:nvPr/>
        </p:nvSpPr>
        <p:spPr>
          <a:xfrm>
            <a:off x="320040" y="621792"/>
            <a:ext cx="8503920" cy="41148"/>
          </a:xfrm>
          <a:prstGeom prst="rect">
            <a:avLst/>
          </a:prstGeom>
          <a:solidFill>
            <a:srgbClr val="0E9E9E"/>
          </a:solidFill>
          <a:ln w="12700">
            <a:solidFill>
              <a:srgbClr val="0E9E9E"/>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E9E9E"/>
                </a:solidFill>
                <a:latin typeface="Atkinson Hyperlegible" pitchFamily="34" charset="0"/>
                <a:ea typeface="Atkinson Hyperlegible" pitchFamily="34" charset="-122"/>
                <a:cs typeface="Atkinson Hyperlegible" pitchFamily="34" charset="-120"/>
              </a:rPr>
              <a:t>Definiciones estándar según CII Implementation Resources</a:t>
            </a:r>
            <a:endParaRPr lang="en-US" sz="900" dirty="0"/>
          </a:p>
        </p:txBody>
      </p:sp>
      <p:sp>
        <p:nvSpPr>
          <p:cNvPr id="8" name="Shape 6"/>
          <p:cNvSpPr/>
          <p:nvPr/>
        </p:nvSpPr>
        <p:spPr>
          <a:xfrm>
            <a:off x="320040" y="960120"/>
            <a:ext cx="1371600" cy="347472"/>
          </a:xfrm>
          <a:prstGeom prst="rect">
            <a:avLst>
              <a:gd name="adj" fmla="val 10526"/>
            </a:avLst>
          </a:prstGeom>
          <a:solidFill>
            <a:srgbClr val="0E9E9E"/>
          </a:solidFill>
          <a:ln w="12700">
            <a:solidFill>
              <a:srgbClr val="0E9E9E"/>
            </a:solidFill>
            <a:prstDash val="solid"/>
          </a:ln>
        </p:spPr>
      </p:sp>
      <p:sp>
        <p:nvSpPr>
          <p:cNvPr id="9" name="Shape 7"/>
          <p:cNvSpPr/>
          <p:nvPr/>
        </p:nvSpPr>
        <p:spPr>
          <a:xfrm>
            <a:off x="1691640" y="960120"/>
            <a:ext cx="6949440" cy="347472"/>
          </a:xfrm>
          <a:prstGeom prst="rect">
            <a:avLst>
              <a:gd name="adj" fmla="val 10526"/>
            </a:avLst>
          </a:prstGeom>
          <a:solidFill>
            <a:srgbClr val="F0FAFA"/>
          </a:solidFill>
          <a:ln w="6350">
            <a:solidFill>
              <a:srgbClr val="E5E5EA"/>
            </a:solidFill>
            <a:prstDash val="solid"/>
          </a:ln>
        </p:spPr>
      </p:sp>
      <p:sp>
        <p:nvSpPr>
          <p:cNvPr id="10" name="Text 8"/>
          <p:cNvSpPr/>
          <p:nvPr/>
        </p:nvSpPr>
        <p:spPr>
          <a:xfrm>
            <a:off x="320040" y="960120"/>
            <a:ext cx="1371600" cy="347472"/>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AWP</a:t>
            </a:r>
            <a:endParaRPr lang="en-US" sz="900" dirty="0"/>
          </a:p>
        </p:txBody>
      </p:sp>
      <p:sp>
        <p:nvSpPr>
          <p:cNvPr id="11" name="Text 9"/>
          <p:cNvSpPr/>
          <p:nvPr/>
        </p:nvSpPr>
        <p:spPr>
          <a:xfrm>
            <a:off x="1764792" y="978408"/>
            <a:ext cx="6803136"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Advanced Work Packaging: metodología estructurada de planificación y ejecución de trabajo que define el Path of Construction y organiza el trabajo en paquetes ejecutables</a:t>
            </a:r>
            <a:endParaRPr lang="en-US" sz="750" dirty="0"/>
          </a:p>
        </p:txBody>
      </p:sp>
      <p:sp>
        <p:nvSpPr>
          <p:cNvPr id="12" name="Shape 10"/>
          <p:cNvSpPr/>
          <p:nvPr/>
        </p:nvSpPr>
        <p:spPr>
          <a:xfrm>
            <a:off x="320040" y="1344168"/>
            <a:ext cx="1371600" cy="347472"/>
          </a:xfrm>
          <a:prstGeom prst="rect">
            <a:avLst>
              <a:gd name="adj" fmla="val 10526"/>
            </a:avLst>
          </a:prstGeom>
          <a:solidFill>
            <a:srgbClr val="2C3E8C"/>
          </a:solidFill>
          <a:ln w="12700">
            <a:solidFill>
              <a:srgbClr val="0E9E9E"/>
            </a:solidFill>
            <a:prstDash val="solid"/>
          </a:ln>
        </p:spPr>
      </p:sp>
      <p:sp>
        <p:nvSpPr>
          <p:cNvPr id="13" name="Shape 11"/>
          <p:cNvSpPr/>
          <p:nvPr/>
        </p:nvSpPr>
        <p:spPr>
          <a:xfrm>
            <a:off x="1691640" y="1344168"/>
            <a:ext cx="6949440" cy="347472"/>
          </a:xfrm>
          <a:prstGeom prst="rect">
            <a:avLst>
              <a:gd name="adj" fmla="val 10526"/>
            </a:avLst>
          </a:prstGeom>
          <a:solidFill>
            <a:srgbClr val="FFFFFF"/>
          </a:solidFill>
          <a:ln w="6350">
            <a:solidFill>
              <a:srgbClr val="E5E5EA"/>
            </a:solidFill>
            <a:prstDash val="solid"/>
          </a:ln>
        </p:spPr>
      </p:sp>
      <p:sp>
        <p:nvSpPr>
          <p:cNvPr id="14" name="Text 12"/>
          <p:cNvSpPr/>
          <p:nvPr/>
        </p:nvSpPr>
        <p:spPr>
          <a:xfrm>
            <a:off x="320040" y="1344168"/>
            <a:ext cx="1371600" cy="347472"/>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CII</a:t>
            </a:r>
            <a:endParaRPr lang="en-US" sz="900" dirty="0"/>
          </a:p>
        </p:txBody>
      </p:sp>
      <p:sp>
        <p:nvSpPr>
          <p:cNvPr id="15" name="Text 13"/>
          <p:cNvSpPr/>
          <p:nvPr/>
        </p:nvSpPr>
        <p:spPr>
          <a:xfrm>
            <a:off x="1764792" y="1362456"/>
            <a:ext cx="6803136"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Construction Industry Institute: organización de investigación independiente; referencia global en mejores prácticas de proyectos de capital</a:t>
            </a:r>
            <a:endParaRPr lang="en-US" sz="750" dirty="0"/>
          </a:p>
        </p:txBody>
      </p:sp>
      <p:sp>
        <p:nvSpPr>
          <p:cNvPr id="16" name="Shape 14"/>
          <p:cNvSpPr/>
          <p:nvPr/>
        </p:nvSpPr>
        <p:spPr>
          <a:xfrm>
            <a:off x="320040" y="1728216"/>
            <a:ext cx="1371600" cy="347472"/>
          </a:xfrm>
          <a:prstGeom prst="rect">
            <a:avLst>
              <a:gd name="adj" fmla="val 10526"/>
            </a:avLst>
          </a:prstGeom>
          <a:solidFill>
            <a:srgbClr val="0E9E9E"/>
          </a:solidFill>
          <a:ln w="12700">
            <a:solidFill>
              <a:srgbClr val="0E9E9E"/>
            </a:solidFill>
            <a:prstDash val="solid"/>
          </a:ln>
        </p:spPr>
      </p:sp>
      <p:sp>
        <p:nvSpPr>
          <p:cNvPr id="17" name="Shape 15"/>
          <p:cNvSpPr/>
          <p:nvPr/>
        </p:nvSpPr>
        <p:spPr>
          <a:xfrm>
            <a:off x="1691640" y="1728216"/>
            <a:ext cx="6949440" cy="347472"/>
          </a:xfrm>
          <a:prstGeom prst="rect">
            <a:avLst>
              <a:gd name="adj" fmla="val 10526"/>
            </a:avLst>
          </a:prstGeom>
          <a:solidFill>
            <a:srgbClr val="F0FAFA"/>
          </a:solidFill>
          <a:ln w="6350">
            <a:solidFill>
              <a:srgbClr val="E5E5EA"/>
            </a:solidFill>
            <a:prstDash val="solid"/>
          </a:ln>
        </p:spPr>
      </p:sp>
      <p:sp>
        <p:nvSpPr>
          <p:cNvPr id="18" name="Text 16"/>
          <p:cNvSpPr/>
          <p:nvPr/>
        </p:nvSpPr>
        <p:spPr>
          <a:xfrm>
            <a:off x="320040" y="1728216"/>
            <a:ext cx="1371600" cy="347472"/>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CWP</a:t>
            </a:r>
            <a:endParaRPr lang="en-US" sz="900" dirty="0"/>
          </a:p>
        </p:txBody>
      </p:sp>
      <p:sp>
        <p:nvSpPr>
          <p:cNvPr id="19" name="Text 17"/>
          <p:cNvSpPr/>
          <p:nvPr/>
        </p:nvSpPr>
        <p:spPr>
          <a:xfrm>
            <a:off x="1764792" y="1746504"/>
            <a:ext cx="6803136"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Construction Work Package: conjunto de IWPs y documentación de ingeniería para una zona y disciplina definidas</a:t>
            </a:r>
            <a:endParaRPr lang="en-US" sz="750" dirty="0"/>
          </a:p>
        </p:txBody>
      </p:sp>
      <p:sp>
        <p:nvSpPr>
          <p:cNvPr id="20" name="Shape 18"/>
          <p:cNvSpPr/>
          <p:nvPr/>
        </p:nvSpPr>
        <p:spPr>
          <a:xfrm>
            <a:off x="320040" y="2112264"/>
            <a:ext cx="1371600" cy="347472"/>
          </a:xfrm>
          <a:prstGeom prst="rect">
            <a:avLst>
              <a:gd name="adj" fmla="val 10526"/>
            </a:avLst>
          </a:prstGeom>
          <a:solidFill>
            <a:srgbClr val="2C3E8C"/>
          </a:solidFill>
          <a:ln w="12700">
            <a:solidFill>
              <a:srgbClr val="0E9E9E"/>
            </a:solidFill>
            <a:prstDash val="solid"/>
          </a:ln>
        </p:spPr>
      </p:sp>
      <p:sp>
        <p:nvSpPr>
          <p:cNvPr id="21" name="Shape 19"/>
          <p:cNvSpPr/>
          <p:nvPr/>
        </p:nvSpPr>
        <p:spPr>
          <a:xfrm>
            <a:off x="1691640" y="2112264"/>
            <a:ext cx="6949440" cy="347472"/>
          </a:xfrm>
          <a:prstGeom prst="rect">
            <a:avLst>
              <a:gd name="adj" fmla="val 10526"/>
            </a:avLst>
          </a:prstGeom>
          <a:solidFill>
            <a:srgbClr val="FFFFFF"/>
          </a:solidFill>
          <a:ln w="6350">
            <a:solidFill>
              <a:srgbClr val="E5E5EA"/>
            </a:solidFill>
            <a:prstDash val="solid"/>
          </a:ln>
        </p:spPr>
      </p:sp>
      <p:sp>
        <p:nvSpPr>
          <p:cNvPr id="22" name="Text 20"/>
          <p:cNvSpPr/>
          <p:nvPr/>
        </p:nvSpPr>
        <p:spPr>
          <a:xfrm>
            <a:off x="320040" y="2112264"/>
            <a:ext cx="1371600" cy="347472"/>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EDS</a:t>
            </a:r>
            <a:endParaRPr lang="en-US" sz="900" dirty="0"/>
          </a:p>
        </p:txBody>
      </p:sp>
      <p:sp>
        <p:nvSpPr>
          <p:cNvPr id="23" name="Text 21"/>
          <p:cNvSpPr/>
          <p:nvPr/>
        </p:nvSpPr>
        <p:spPr>
          <a:xfrm>
            <a:off x="1764792" y="2130552"/>
            <a:ext cx="6803136"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Engineering Deliverable Schedule: programa de liberación de documentos de ingeniería coordinado con las necesidades del CWP</a:t>
            </a:r>
            <a:endParaRPr lang="en-US" sz="750" dirty="0"/>
          </a:p>
        </p:txBody>
      </p:sp>
      <p:sp>
        <p:nvSpPr>
          <p:cNvPr id="24" name="Shape 22"/>
          <p:cNvSpPr/>
          <p:nvPr/>
        </p:nvSpPr>
        <p:spPr>
          <a:xfrm>
            <a:off x="320040" y="2496312"/>
            <a:ext cx="1371600" cy="347472"/>
          </a:xfrm>
          <a:prstGeom prst="rect">
            <a:avLst>
              <a:gd name="adj" fmla="val 10526"/>
            </a:avLst>
          </a:prstGeom>
          <a:solidFill>
            <a:srgbClr val="0E9E9E"/>
          </a:solidFill>
          <a:ln w="12700">
            <a:solidFill>
              <a:srgbClr val="0E9E9E"/>
            </a:solidFill>
            <a:prstDash val="solid"/>
          </a:ln>
        </p:spPr>
      </p:sp>
      <p:sp>
        <p:nvSpPr>
          <p:cNvPr id="25" name="Shape 23"/>
          <p:cNvSpPr/>
          <p:nvPr/>
        </p:nvSpPr>
        <p:spPr>
          <a:xfrm>
            <a:off x="1691640" y="2496312"/>
            <a:ext cx="6949440" cy="347472"/>
          </a:xfrm>
          <a:prstGeom prst="rect">
            <a:avLst>
              <a:gd name="adj" fmla="val 10526"/>
            </a:avLst>
          </a:prstGeom>
          <a:solidFill>
            <a:srgbClr val="F0FAFA"/>
          </a:solidFill>
          <a:ln w="6350">
            <a:solidFill>
              <a:srgbClr val="E5E5EA"/>
            </a:solidFill>
            <a:prstDash val="solid"/>
          </a:ln>
        </p:spPr>
      </p:sp>
      <p:sp>
        <p:nvSpPr>
          <p:cNvPr id="26" name="Text 24"/>
          <p:cNvSpPr/>
          <p:nvPr/>
        </p:nvSpPr>
        <p:spPr>
          <a:xfrm>
            <a:off x="320040" y="2496312"/>
            <a:ext cx="1371600" cy="347472"/>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EWP</a:t>
            </a:r>
            <a:endParaRPr lang="en-US" sz="900" dirty="0"/>
          </a:p>
        </p:txBody>
      </p:sp>
      <p:sp>
        <p:nvSpPr>
          <p:cNvPr id="27" name="Text 25"/>
          <p:cNvSpPr/>
          <p:nvPr/>
        </p:nvSpPr>
        <p:spPr>
          <a:xfrm>
            <a:off x="1764792" y="2514600"/>
            <a:ext cx="6803136"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Engineering Work Package: conjunto de entregables de ingeniería alineados a un CWP; insumo primario del proceso AWP</a:t>
            </a:r>
            <a:endParaRPr lang="en-US" sz="750" dirty="0"/>
          </a:p>
        </p:txBody>
      </p:sp>
      <p:sp>
        <p:nvSpPr>
          <p:cNvPr id="28" name="Shape 26"/>
          <p:cNvSpPr/>
          <p:nvPr/>
        </p:nvSpPr>
        <p:spPr>
          <a:xfrm>
            <a:off x="320040" y="2880360"/>
            <a:ext cx="1371600" cy="347472"/>
          </a:xfrm>
          <a:prstGeom prst="rect">
            <a:avLst>
              <a:gd name="adj" fmla="val 10526"/>
            </a:avLst>
          </a:prstGeom>
          <a:solidFill>
            <a:srgbClr val="2C3E8C"/>
          </a:solidFill>
          <a:ln w="12700">
            <a:solidFill>
              <a:srgbClr val="0E9E9E"/>
            </a:solidFill>
            <a:prstDash val="solid"/>
          </a:ln>
        </p:spPr>
      </p:sp>
      <p:sp>
        <p:nvSpPr>
          <p:cNvPr id="29" name="Shape 27"/>
          <p:cNvSpPr/>
          <p:nvPr/>
        </p:nvSpPr>
        <p:spPr>
          <a:xfrm>
            <a:off x="1691640" y="2880360"/>
            <a:ext cx="6949440" cy="347472"/>
          </a:xfrm>
          <a:prstGeom prst="rect">
            <a:avLst>
              <a:gd name="adj" fmla="val 10526"/>
            </a:avLst>
          </a:prstGeom>
          <a:solidFill>
            <a:srgbClr val="FFFFFF"/>
          </a:solidFill>
          <a:ln w="6350">
            <a:solidFill>
              <a:srgbClr val="E5E5EA"/>
            </a:solidFill>
            <a:prstDash val="solid"/>
          </a:ln>
        </p:spPr>
      </p:sp>
      <p:sp>
        <p:nvSpPr>
          <p:cNvPr id="30" name="Text 28"/>
          <p:cNvSpPr/>
          <p:nvPr/>
        </p:nvSpPr>
        <p:spPr>
          <a:xfrm>
            <a:off x="320040" y="2880360"/>
            <a:ext cx="1371600" cy="347472"/>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IWP</a:t>
            </a:r>
            <a:endParaRPr lang="en-US" sz="900" dirty="0"/>
          </a:p>
        </p:txBody>
      </p:sp>
      <p:sp>
        <p:nvSpPr>
          <p:cNvPr id="31" name="Text 29"/>
          <p:cNvSpPr/>
          <p:nvPr/>
        </p:nvSpPr>
        <p:spPr>
          <a:xfrm>
            <a:off x="1764792" y="2898648"/>
            <a:ext cx="6803136"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Installation Work Package: paquete de trabajo ejecutable de ≤1,000 HH; incluye planos, procedimientos, materiales y herramientas</a:t>
            </a:r>
            <a:endParaRPr lang="en-US" sz="750" dirty="0"/>
          </a:p>
        </p:txBody>
      </p:sp>
      <p:sp>
        <p:nvSpPr>
          <p:cNvPr id="32" name="Shape 30"/>
          <p:cNvSpPr/>
          <p:nvPr/>
        </p:nvSpPr>
        <p:spPr>
          <a:xfrm>
            <a:off x="320040" y="3264408"/>
            <a:ext cx="1371600" cy="347472"/>
          </a:xfrm>
          <a:prstGeom prst="rect">
            <a:avLst>
              <a:gd name="adj" fmla="val 10526"/>
            </a:avLst>
          </a:prstGeom>
          <a:solidFill>
            <a:srgbClr val="0E9E9E"/>
          </a:solidFill>
          <a:ln w="12700">
            <a:solidFill>
              <a:srgbClr val="0E9E9E"/>
            </a:solidFill>
            <a:prstDash val="solid"/>
          </a:ln>
        </p:spPr>
      </p:sp>
      <p:sp>
        <p:nvSpPr>
          <p:cNvPr id="33" name="Shape 31"/>
          <p:cNvSpPr/>
          <p:nvPr/>
        </p:nvSpPr>
        <p:spPr>
          <a:xfrm>
            <a:off x="1691640" y="3264408"/>
            <a:ext cx="6949440" cy="347472"/>
          </a:xfrm>
          <a:prstGeom prst="rect">
            <a:avLst>
              <a:gd name="adj" fmla="val 10526"/>
            </a:avLst>
          </a:prstGeom>
          <a:solidFill>
            <a:srgbClr val="F0FAFA"/>
          </a:solidFill>
          <a:ln w="6350">
            <a:solidFill>
              <a:srgbClr val="E5E5EA"/>
            </a:solidFill>
            <a:prstDash val="solid"/>
          </a:ln>
        </p:spPr>
      </p:sp>
      <p:sp>
        <p:nvSpPr>
          <p:cNvPr id="34" name="Text 32"/>
          <p:cNvSpPr/>
          <p:nvPr/>
        </p:nvSpPr>
        <p:spPr>
          <a:xfrm>
            <a:off x="320040" y="3264408"/>
            <a:ext cx="1371600" cy="347472"/>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POC</a:t>
            </a:r>
            <a:endParaRPr lang="en-US" sz="900" dirty="0"/>
          </a:p>
        </p:txBody>
      </p:sp>
      <p:sp>
        <p:nvSpPr>
          <p:cNvPr id="35" name="Text 33"/>
          <p:cNvSpPr/>
          <p:nvPr/>
        </p:nvSpPr>
        <p:spPr>
          <a:xfrm>
            <a:off x="1764792" y="3282696"/>
            <a:ext cx="6803136"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Path of Construction: secuencia lógica de áreas de trabajo que optimiza la constructabilidad de principio a fin</a:t>
            </a:r>
            <a:endParaRPr lang="en-US" sz="750" dirty="0"/>
          </a:p>
        </p:txBody>
      </p:sp>
      <p:sp>
        <p:nvSpPr>
          <p:cNvPr id="36" name="Shape 34"/>
          <p:cNvSpPr/>
          <p:nvPr/>
        </p:nvSpPr>
        <p:spPr>
          <a:xfrm>
            <a:off x="320040" y="3648456"/>
            <a:ext cx="1371600" cy="347472"/>
          </a:xfrm>
          <a:prstGeom prst="rect">
            <a:avLst>
              <a:gd name="adj" fmla="val 10526"/>
            </a:avLst>
          </a:prstGeom>
          <a:solidFill>
            <a:srgbClr val="2C3E8C"/>
          </a:solidFill>
          <a:ln w="12700">
            <a:solidFill>
              <a:srgbClr val="0E9E9E"/>
            </a:solidFill>
            <a:prstDash val="solid"/>
          </a:ln>
        </p:spPr>
      </p:sp>
      <p:sp>
        <p:nvSpPr>
          <p:cNvPr id="37" name="Shape 35"/>
          <p:cNvSpPr/>
          <p:nvPr/>
        </p:nvSpPr>
        <p:spPr>
          <a:xfrm>
            <a:off x="1691640" y="3648456"/>
            <a:ext cx="6949440" cy="347472"/>
          </a:xfrm>
          <a:prstGeom prst="rect">
            <a:avLst>
              <a:gd name="adj" fmla="val 10526"/>
            </a:avLst>
          </a:prstGeom>
          <a:solidFill>
            <a:srgbClr val="FFFFFF"/>
          </a:solidFill>
          <a:ln w="6350">
            <a:solidFill>
              <a:srgbClr val="E5E5EA"/>
            </a:solidFill>
            <a:prstDash val="solid"/>
          </a:ln>
        </p:spPr>
      </p:sp>
      <p:sp>
        <p:nvSpPr>
          <p:cNvPr id="38" name="Text 36"/>
          <p:cNvSpPr/>
          <p:nvPr/>
        </p:nvSpPr>
        <p:spPr>
          <a:xfrm>
            <a:off x="320040" y="3648456"/>
            <a:ext cx="1371600" cy="347472"/>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CWA</a:t>
            </a:r>
            <a:endParaRPr lang="en-US" sz="900" dirty="0"/>
          </a:p>
        </p:txBody>
      </p:sp>
      <p:sp>
        <p:nvSpPr>
          <p:cNvPr id="39" name="Text 37"/>
          <p:cNvSpPr/>
          <p:nvPr/>
        </p:nvSpPr>
        <p:spPr>
          <a:xfrm>
            <a:off x="1764792" y="3666744"/>
            <a:ext cx="6803136"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Construction Work Area: subdivisión geográfica del proyecto para organizar CWPs y asignar responsables de área</a:t>
            </a:r>
            <a:endParaRPr lang="en-US" sz="750" dirty="0"/>
          </a:p>
        </p:txBody>
      </p:sp>
      <p:sp>
        <p:nvSpPr>
          <p:cNvPr id="40" name="Shape 38"/>
          <p:cNvSpPr/>
          <p:nvPr/>
        </p:nvSpPr>
        <p:spPr>
          <a:xfrm>
            <a:off x="320040" y="4032504"/>
            <a:ext cx="1371600" cy="347472"/>
          </a:xfrm>
          <a:prstGeom prst="rect">
            <a:avLst>
              <a:gd name="adj" fmla="val 10526"/>
            </a:avLst>
          </a:prstGeom>
          <a:solidFill>
            <a:srgbClr val="0E9E9E"/>
          </a:solidFill>
          <a:ln w="12700">
            <a:solidFill>
              <a:srgbClr val="0E9E9E"/>
            </a:solidFill>
            <a:prstDash val="solid"/>
          </a:ln>
        </p:spPr>
      </p:sp>
      <p:sp>
        <p:nvSpPr>
          <p:cNvPr id="41" name="Shape 39"/>
          <p:cNvSpPr/>
          <p:nvPr/>
        </p:nvSpPr>
        <p:spPr>
          <a:xfrm>
            <a:off x="1691640" y="4032504"/>
            <a:ext cx="6949440" cy="347472"/>
          </a:xfrm>
          <a:prstGeom prst="rect">
            <a:avLst>
              <a:gd name="adj" fmla="val 10526"/>
            </a:avLst>
          </a:prstGeom>
          <a:solidFill>
            <a:srgbClr val="F0FAFA"/>
          </a:solidFill>
          <a:ln w="6350">
            <a:solidFill>
              <a:srgbClr val="E5E5EA"/>
            </a:solidFill>
            <a:prstDash val="solid"/>
          </a:ln>
        </p:spPr>
      </p:sp>
      <p:sp>
        <p:nvSpPr>
          <p:cNvPr id="42" name="Text 40"/>
          <p:cNvSpPr/>
          <p:nvPr/>
        </p:nvSpPr>
        <p:spPr>
          <a:xfrm>
            <a:off x="320040" y="4032504"/>
            <a:ext cx="1371600" cy="347472"/>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FAT</a:t>
            </a:r>
            <a:endParaRPr lang="en-US" sz="900" dirty="0"/>
          </a:p>
        </p:txBody>
      </p:sp>
      <p:sp>
        <p:nvSpPr>
          <p:cNvPr id="43" name="Text 41"/>
          <p:cNvSpPr/>
          <p:nvPr/>
        </p:nvSpPr>
        <p:spPr>
          <a:xfrm>
            <a:off x="1764792" y="4050792"/>
            <a:ext cx="6803136"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Factory Acceptance Test: prueba de aceptación de equipos en fábrica antes del despacho; parte del IWP de procura</a:t>
            </a:r>
            <a:endParaRPr lang="en-US" sz="750" dirty="0"/>
          </a:p>
        </p:txBody>
      </p:sp>
      <p:sp>
        <p:nvSpPr>
          <p:cNvPr id="44" name="Shape 42"/>
          <p:cNvSpPr/>
          <p:nvPr/>
        </p:nvSpPr>
        <p:spPr>
          <a:xfrm>
            <a:off x="320040" y="4416552"/>
            <a:ext cx="1371600" cy="347472"/>
          </a:xfrm>
          <a:prstGeom prst="rect">
            <a:avLst>
              <a:gd name="adj" fmla="val 10526"/>
            </a:avLst>
          </a:prstGeom>
          <a:solidFill>
            <a:srgbClr val="2C3E8C"/>
          </a:solidFill>
          <a:ln w="12700">
            <a:solidFill>
              <a:srgbClr val="0E9E9E"/>
            </a:solidFill>
            <a:prstDash val="solid"/>
          </a:ln>
        </p:spPr>
      </p:sp>
      <p:sp>
        <p:nvSpPr>
          <p:cNvPr id="45" name="Shape 43"/>
          <p:cNvSpPr/>
          <p:nvPr/>
        </p:nvSpPr>
        <p:spPr>
          <a:xfrm>
            <a:off x="1691640" y="4416552"/>
            <a:ext cx="6949440" cy="347472"/>
          </a:xfrm>
          <a:prstGeom prst="rect">
            <a:avLst>
              <a:gd name="adj" fmla="val 10526"/>
            </a:avLst>
          </a:prstGeom>
          <a:solidFill>
            <a:srgbClr val="FFFFFF"/>
          </a:solidFill>
          <a:ln w="6350">
            <a:solidFill>
              <a:srgbClr val="E5E5EA"/>
            </a:solidFill>
            <a:prstDash val="solid"/>
          </a:ln>
        </p:spPr>
      </p:sp>
      <p:sp>
        <p:nvSpPr>
          <p:cNvPr id="46" name="Text 44"/>
          <p:cNvSpPr/>
          <p:nvPr/>
        </p:nvSpPr>
        <p:spPr>
          <a:xfrm>
            <a:off x="320040" y="4416552"/>
            <a:ext cx="1371600" cy="347472"/>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LLDB</a:t>
            </a:r>
            <a:endParaRPr lang="en-US" sz="900" dirty="0"/>
          </a:p>
        </p:txBody>
      </p:sp>
      <p:sp>
        <p:nvSpPr>
          <p:cNvPr id="47" name="Text 45"/>
          <p:cNvSpPr/>
          <p:nvPr/>
        </p:nvSpPr>
        <p:spPr>
          <a:xfrm>
            <a:off x="1764792" y="4434840"/>
            <a:ext cx="6803136"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Level of Detail / Breakdown: niveles de descomposición del proyecto; vincula WBS, OBS y CBS en AWP</a:t>
            </a:r>
            <a:endParaRPr lang="en-US" sz="7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E9E"/>
          </a:solidFill>
          <a:ln w="12700">
            <a:solidFill>
              <a:srgbClr val="0E9E9E"/>
            </a:solidFill>
            <a:prstDash val="solid"/>
          </a:ln>
        </p:spPr>
      </p:sp>
      <p:sp>
        <p:nvSpPr>
          <p:cNvPr id="3" name="Shape 1"/>
          <p:cNvSpPr/>
          <p:nvPr/>
        </p:nvSpPr>
        <p:spPr>
          <a:xfrm>
            <a:off x="164592" y="4956048"/>
            <a:ext cx="8979408" cy="182880"/>
          </a:xfrm>
          <a:prstGeom prst="rect">
            <a:avLst/>
          </a:prstGeom>
          <a:solidFill>
            <a:srgbClr val="0E9E9E"/>
          </a:solidFill>
          <a:ln w="12700">
            <a:solidFill>
              <a:srgbClr val="0E9E9E"/>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87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Glosario de Términos AWP/CII (M–Z)</a:t>
            </a:r>
            <a:endParaRPr lang="en-US" sz="1800" dirty="0"/>
          </a:p>
        </p:txBody>
      </p:sp>
      <p:sp>
        <p:nvSpPr>
          <p:cNvPr id="6" name="Shape 4"/>
          <p:cNvSpPr/>
          <p:nvPr/>
        </p:nvSpPr>
        <p:spPr>
          <a:xfrm>
            <a:off x="320040" y="621792"/>
            <a:ext cx="8503920" cy="41148"/>
          </a:xfrm>
          <a:prstGeom prst="rect">
            <a:avLst/>
          </a:prstGeom>
          <a:solidFill>
            <a:srgbClr val="0E9E9E"/>
          </a:solidFill>
          <a:ln w="12700">
            <a:solidFill>
              <a:srgbClr val="0E9E9E"/>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E9E9E"/>
                </a:solidFill>
                <a:latin typeface="Atkinson Hyperlegible" pitchFamily="34" charset="0"/>
                <a:ea typeface="Atkinson Hyperlegible" pitchFamily="34" charset="-122"/>
                <a:cs typeface="Atkinson Hyperlegible" pitchFamily="34" charset="-120"/>
              </a:rPr>
              <a:t>Continuación de definiciones estándar</a:t>
            </a:r>
            <a:endParaRPr lang="en-US" sz="900" dirty="0"/>
          </a:p>
        </p:txBody>
      </p:sp>
      <p:sp>
        <p:nvSpPr>
          <p:cNvPr id="8" name="Shape 6"/>
          <p:cNvSpPr/>
          <p:nvPr/>
        </p:nvSpPr>
        <p:spPr>
          <a:xfrm>
            <a:off x="320040" y="960120"/>
            <a:ext cx="1371600" cy="347472"/>
          </a:xfrm>
          <a:prstGeom prst="rect">
            <a:avLst>
              <a:gd name="adj" fmla="val 10526"/>
            </a:avLst>
          </a:prstGeom>
          <a:solidFill>
            <a:srgbClr val="0E9E9E"/>
          </a:solidFill>
          <a:ln w="12700">
            <a:solidFill>
              <a:srgbClr val="0E9E9E"/>
            </a:solidFill>
            <a:prstDash val="solid"/>
          </a:ln>
        </p:spPr>
      </p:sp>
      <p:sp>
        <p:nvSpPr>
          <p:cNvPr id="9" name="Shape 7"/>
          <p:cNvSpPr/>
          <p:nvPr/>
        </p:nvSpPr>
        <p:spPr>
          <a:xfrm>
            <a:off x="1691640" y="960120"/>
            <a:ext cx="6949440" cy="347472"/>
          </a:xfrm>
          <a:prstGeom prst="rect">
            <a:avLst>
              <a:gd name="adj" fmla="val 10526"/>
            </a:avLst>
          </a:prstGeom>
          <a:solidFill>
            <a:srgbClr val="F0FAFA"/>
          </a:solidFill>
          <a:ln w="6350">
            <a:solidFill>
              <a:srgbClr val="E5E5EA"/>
            </a:solidFill>
            <a:prstDash val="solid"/>
          </a:ln>
        </p:spPr>
      </p:sp>
      <p:sp>
        <p:nvSpPr>
          <p:cNvPr id="10" name="Text 8"/>
          <p:cNvSpPr/>
          <p:nvPr/>
        </p:nvSpPr>
        <p:spPr>
          <a:xfrm>
            <a:off x="320040" y="960120"/>
            <a:ext cx="1371600" cy="347472"/>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MWP</a:t>
            </a:r>
            <a:endParaRPr lang="en-US" sz="900" dirty="0"/>
          </a:p>
        </p:txBody>
      </p:sp>
      <p:sp>
        <p:nvSpPr>
          <p:cNvPr id="11" name="Text 9"/>
          <p:cNvSpPr/>
          <p:nvPr/>
        </p:nvSpPr>
        <p:spPr>
          <a:xfrm>
            <a:off x="1764792" y="978408"/>
            <a:ext cx="6803136"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Material Work Package: paquete de materiales, equipos y servicios requeridos por un IWP específico</a:t>
            </a:r>
            <a:endParaRPr lang="en-US" sz="750" dirty="0"/>
          </a:p>
        </p:txBody>
      </p:sp>
      <p:sp>
        <p:nvSpPr>
          <p:cNvPr id="12" name="Shape 10"/>
          <p:cNvSpPr/>
          <p:nvPr/>
        </p:nvSpPr>
        <p:spPr>
          <a:xfrm>
            <a:off x="320040" y="1344168"/>
            <a:ext cx="1371600" cy="347472"/>
          </a:xfrm>
          <a:prstGeom prst="rect">
            <a:avLst>
              <a:gd name="adj" fmla="val 10526"/>
            </a:avLst>
          </a:prstGeom>
          <a:solidFill>
            <a:srgbClr val="2C3E8C"/>
          </a:solidFill>
          <a:ln w="12700">
            <a:solidFill>
              <a:srgbClr val="0E9E9E"/>
            </a:solidFill>
            <a:prstDash val="solid"/>
          </a:ln>
        </p:spPr>
      </p:sp>
      <p:sp>
        <p:nvSpPr>
          <p:cNvPr id="13" name="Shape 11"/>
          <p:cNvSpPr/>
          <p:nvPr/>
        </p:nvSpPr>
        <p:spPr>
          <a:xfrm>
            <a:off x="1691640" y="1344168"/>
            <a:ext cx="6949440" cy="347472"/>
          </a:xfrm>
          <a:prstGeom prst="rect">
            <a:avLst>
              <a:gd name="adj" fmla="val 10526"/>
            </a:avLst>
          </a:prstGeom>
          <a:solidFill>
            <a:srgbClr val="FFFFFF"/>
          </a:solidFill>
          <a:ln w="6350">
            <a:solidFill>
              <a:srgbClr val="E5E5EA"/>
            </a:solidFill>
            <a:prstDash val="solid"/>
          </a:ln>
        </p:spPr>
      </p:sp>
      <p:sp>
        <p:nvSpPr>
          <p:cNvPr id="14" name="Text 12"/>
          <p:cNvSpPr/>
          <p:nvPr/>
        </p:nvSpPr>
        <p:spPr>
          <a:xfrm>
            <a:off x="320040" y="1344168"/>
            <a:ext cx="1371600" cy="347472"/>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OBS</a:t>
            </a:r>
            <a:endParaRPr lang="en-US" sz="900" dirty="0"/>
          </a:p>
        </p:txBody>
      </p:sp>
      <p:sp>
        <p:nvSpPr>
          <p:cNvPr id="15" name="Text 13"/>
          <p:cNvSpPr/>
          <p:nvPr/>
        </p:nvSpPr>
        <p:spPr>
          <a:xfrm>
            <a:off x="1764792" y="1362456"/>
            <a:ext cx="6803136"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Organizational Breakdown Structure: desglose de la organización del proyecto; vinculado a WBS en AWP</a:t>
            </a:r>
            <a:endParaRPr lang="en-US" sz="750" dirty="0"/>
          </a:p>
        </p:txBody>
      </p:sp>
      <p:sp>
        <p:nvSpPr>
          <p:cNvPr id="16" name="Shape 14"/>
          <p:cNvSpPr/>
          <p:nvPr/>
        </p:nvSpPr>
        <p:spPr>
          <a:xfrm>
            <a:off x="320040" y="1728216"/>
            <a:ext cx="1371600" cy="347472"/>
          </a:xfrm>
          <a:prstGeom prst="rect">
            <a:avLst>
              <a:gd name="adj" fmla="val 10526"/>
            </a:avLst>
          </a:prstGeom>
          <a:solidFill>
            <a:srgbClr val="0E9E9E"/>
          </a:solidFill>
          <a:ln w="12700">
            <a:solidFill>
              <a:srgbClr val="0E9E9E"/>
            </a:solidFill>
            <a:prstDash val="solid"/>
          </a:ln>
        </p:spPr>
      </p:sp>
      <p:sp>
        <p:nvSpPr>
          <p:cNvPr id="17" name="Shape 15"/>
          <p:cNvSpPr/>
          <p:nvPr/>
        </p:nvSpPr>
        <p:spPr>
          <a:xfrm>
            <a:off x="1691640" y="1728216"/>
            <a:ext cx="6949440" cy="347472"/>
          </a:xfrm>
          <a:prstGeom prst="rect">
            <a:avLst>
              <a:gd name="adj" fmla="val 10526"/>
            </a:avLst>
          </a:prstGeom>
          <a:solidFill>
            <a:srgbClr val="F0FAFA"/>
          </a:solidFill>
          <a:ln w="6350">
            <a:solidFill>
              <a:srgbClr val="E5E5EA"/>
            </a:solidFill>
            <a:prstDash val="solid"/>
          </a:ln>
        </p:spPr>
      </p:sp>
      <p:sp>
        <p:nvSpPr>
          <p:cNvPr id="18" name="Text 16"/>
          <p:cNvSpPr/>
          <p:nvPr/>
        </p:nvSpPr>
        <p:spPr>
          <a:xfrm>
            <a:off x="320040" y="1728216"/>
            <a:ext cx="1371600" cy="347472"/>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POC</a:t>
            </a:r>
            <a:endParaRPr lang="en-US" sz="900" dirty="0"/>
          </a:p>
        </p:txBody>
      </p:sp>
      <p:sp>
        <p:nvSpPr>
          <p:cNvPr id="19" name="Text 17"/>
          <p:cNvSpPr/>
          <p:nvPr/>
        </p:nvSpPr>
        <p:spPr>
          <a:xfrm>
            <a:off x="1764792" y="1746504"/>
            <a:ext cx="6803136"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Path of Construction: secuencia lógica de áreas de trabajo que optimiza la constructabilidad</a:t>
            </a:r>
            <a:endParaRPr lang="en-US" sz="750" dirty="0"/>
          </a:p>
        </p:txBody>
      </p:sp>
      <p:sp>
        <p:nvSpPr>
          <p:cNvPr id="20" name="Shape 18"/>
          <p:cNvSpPr/>
          <p:nvPr/>
        </p:nvSpPr>
        <p:spPr>
          <a:xfrm>
            <a:off x="320040" y="2112264"/>
            <a:ext cx="1371600" cy="347472"/>
          </a:xfrm>
          <a:prstGeom prst="rect">
            <a:avLst>
              <a:gd name="adj" fmla="val 10526"/>
            </a:avLst>
          </a:prstGeom>
          <a:solidFill>
            <a:srgbClr val="2C3E8C"/>
          </a:solidFill>
          <a:ln w="12700">
            <a:solidFill>
              <a:srgbClr val="0E9E9E"/>
            </a:solidFill>
            <a:prstDash val="solid"/>
          </a:ln>
        </p:spPr>
      </p:sp>
      <p:sp>
        <p:nvSpPr>
          <p:cNvPr id="21" name="Shape 19"/>
          <p:cNvSpPr/>
          <p:nvPr/>
        </p:nvSpPr>
        <p:spPr>
          <a:xfrm>
            <a:off x="1691640" y="2112264"/>
            <a:ext cx="6949440" cy="347472"/>
          </a:xfrm>
          <a:prstGeom prst="rect">
            <a:avLst>
              <a:gd name="adj" fmla="val 10526"/>
            </a:avLst>
          </a:prstGeom>
          <a:solidFill>
            <a:srgbClr val="FFFFFF"/>
          </a:solidFill>
          <a:ln w="6350">
            <a:solidFill>
              <a:srgbClr val="E5E5EA"/>
            </a:solidFill>
            <a:prstDash val="solid"/>
          </a:ln>
        </p:spPr>
      </p:sp>
      <p:sp>
        <p:nvSpPr>
          <p:cNvPr id="22" name="Text 20"/>
          <p:cNvSpPr/>
          <p:nvPr/>
        </p:nvSpPr>
        <p:spPr>
          <a:xfrm>
            <a:off x="320040" y="2112264"/>
            <a:ext cx="1371600" cy="347472"/>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PWP</a:t>
            </a:r>
            <a:endParaRPr lang="en-US" sz="900" dirty="0"/>
          </a:p>
        </p:txBody>
      </p:sp>
      <p:sp>
        <p:nvSpPr>
          <p:cNvPr id="23" name="Text 21"/>
          <p:cNvSpPr/>
          <p:nvPr/>
        </p:nvSpPr>
        <p:spPr>
          <a:xfrm>
            <a:off x="1764792" y="2130552"/>
            <a:ext cx="6803136"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Procurement Work Package: conjunto de ítems de procura asociados a un CWP con fechas de necesidad críticas</a:t>
            </a:r>
            <a:endParaRPr lang="en-US" sz="750" dirty="0"/>
          </a:p>
        </p:txBody>
      </p:sp>
      <p:sp>
        <p:nvSpPr>
          <p:cNvPr id="24" name="Shape 22"/>
          <p:cNvSpPr/>
          <p:nvPr/>
        </p:nvSpPr>
        <p:spPr>
          <a:xfrm>
            <a:off x="320040" y="2496312"/>
            <a:ext cx="1371600" cy="347472"/>
          </a:xfrm>
          <a:prstGeom prst="rect">
            <a:avLst>
              <a:gd name="adj" fmla="val 10526"/>
            </a:avLst>
          </a:prstGeom>
          <a:solidFill>
            <a:srgbClr val="0E9E9E"/>
          </a:solidFill>
          <a:ln w="12700">
            <a:solidFill>
              <a:srgbClr val="0E9E9E"/>
            </a:solidFill>
            <a:prstDash val="solid"/>
          </a:ln>
        </p:spPr>
      </p:sp>
      <p:sp>
        <p:nvSpPr>
          <p:cNvPr id="25" name="Shape 23"/>
          <p:cNvSpPr/>
          <p:nvPr/>
        </p:nvSpPr>
        <p:spPr>
          <a:xfrm>
            <a:off x="1691640" y="2496312"/>
            <a:ext cx="6949440" cy="347472"/>
          </a:xfrm>
          <a:prstGeom prst="rect">
            <a:avLst>
              <a:gd name="adj" fmla="val 10526"/>
            </a:avLst>
          </a:prstGeom>
          <a:solidFill>
            <a:srgbClr val="F0FAFA"/>
          </a:solidFill>
          <a:ln w="6350">
            <a:solidFill>
              <a:srgbClr val="E5E5EA"/>
            </a:solidFill>
            <a:prstDash val="solid"/>
          </a:ln>
        </p:spPr>
      </p:sp>
      <p:sp>
        <p:nvSpPr>
          <p:cNvPr id="26" name="Text 24"/>
          <p:cNvSpPr/>
          <p:nvPr/>
        </p:nvSpPr>
        <p:spPr>
          <a:xfrm>
            <a:off x="320040" y="2496312"/>
            <a:ext cx="1371600" cy="347472"/>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RFI</a:t>
            </a:r>
            <a:endParaRPr lang="en-US" sz="900" dirty="0"/>
          </a:p>
        </p:txBody>
      </p:sp>
      <p:sp>
        <p:nvSpPr>
          <p:cNvPr id="27" name="Text 25"/>
          <p:cNvSpPr/>
          <p:nvPr/>
        </p:nvSpPr>
        <p:spPr>
          <a:xfrm>
            <a:off x="1764792" y="2514600"/>
            <a:ext cx="6803136"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Request for Information: solicitud formal de aclaración de diseño emitida por el constructor al diseñador</a:t>
            </a:r>
            <a:endParaRPr lang="en-US" sz="750" dirty="0"/>
          </a:p>
        </p:txBody>
      </p:sp>
      <p:sp>
        <p:nvSpPr>
          <p:cNvPr id="28" name="Shape 26"/>
          <p:cNvSpPr/>
          <p:nvPr/>
        </p:nvSpPr>
        <p:spPr>
          <a:xfrm>
            <a:off x="320040" y="2880360"/>
            <a:ext cx="1371600" cy="347472"/>
          </a:xfrm>
          <a:prstGeom prst="rect">
            <a:avLst>
              <a:gd name="adj" fmla="val 10526"/>
            </a:avLst>
          </a:prstGeom>
          <a:solidFill>
            <a:srgbClr val="2C3E8C"/>
          </a:solidFill>
          <a:ln w="12700">
            <a:solidFill>
              <a:srgbClr val="0E9E9E"/>
            </a:solidFill>
            <a:prstDash val="solid"/>
          </a:ln>
        </p:spPr>
      </p:sp>
      <p:sp>
        <p:nvSpPr>
          <p:cNvPr id="29" name="Shape 27"/>
          <p:cNvSpPr/>
          <p:nvPr/>
        </p:nvSpPr>
        <p:spPr>
          <a:xfrm>
            <a:off x="1691640" y="2880360"/>
            <a:ext cx="6949440" cy="347472"/>
          </a:xfrm>
          <a:prstGeom prst="rect">
            <a:avLst>
              <a:gd name="adj" fmla="val 10526"/>
            </a:avLst>
          </a:prstGeom>
          <a:solidFill>
            <a:srgbClr val="FFFFFF"/>
          </a:solidFill>
          <a:ln w="6350">
            <a:solidFill>
              <a:srgbClr val="E5E5EA"/>
            </a:solidFill>
            <a:prstDash val="solid"/>
          </a:ln>
        </p:spPr>
      </p:sp>
      <p:sp>
        <p:nvSpPr>
          <p:cNvPr id="30" name="Text 28"/>
          <p:cNvSpPr/>
          <p:nvPr/>
        </p:nvSpPr>
        <p:spPr>
          <a:xfrm>
            <a:off x="320040" y="2880360"/>
            <a:ext cx="1371600" cy="347472"/>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SP 34-1</a:t>
            </a:r>
            <a:endParaRPr lang="en-US" sz="900" dirty="0"/>
          </a:p>
        </p:txBody>
      </p:sp>
      <p:sp>
        <p:nvSpPr>
          <p:cNvPr id="31" name="Text 29"/>
          <p:cNvSpPr/>
          <p:nvPr/>
        </p:nvSpPr>
        <p:spPr>
          <a:xfrm>
            <a:off x="1764792" y="2898648"/>
            <a:ext cx="6803136"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CII Implementation Resource sobre AWP: el estándar de referencia principal para la metodología</a:t>
            </a:r>
            <a:endParaRPr lang="en-US" sz="750" dirty="0"/>
          </a:p>
        </p:txBody>
      </p:sp>
      <p:sp>
        <p:nvSpPr>
          <p:cNvPr id="32" name="Shape 30"/>
          <p:cNvSpPr/>
          <p:nvPr/>
        </p:nvSpPr>
        <p:spPr>
          <a:xfrm>
            <a:off x="320040" y="3264408"/>
            <a:ext cx="1371600" cy="347472"/>
          </a:xfrm>
          <a:prstGeom prst="rect">
            <a:avLst>
              <a:gd name="adj" fmla="val 10526"/>
            </a:avLst>
          </a:prstGeom>
          <a:solidFill>
            <a:srgbClr val="0E9E9E"/>
          </a:solidFill>
          <a:ln w="12700">
            <a:solidFill>
              <a:srgbClr val="0E9E9E"/>
            </a:solidFill>
            <a:prstDash val="solid"/>
          </a:ln>
        </p:spPr>
      </p:sp>
      <p:sp>
        <p:nvSpPr>
          <p:cNvPr id="33" name="Shape 31"/>
          <p:cNvSpPr/>
          <p:nvPr/>
        </p:nvSpPr>
        <p:spPr>
          <a:xfrm>
            <a:off x="1691640" y="3264408"/>
            <a:ext cx="6949440" cy="347472"/>
          </a:xfrm>
          <a:prstGeom prst="rect">
            <a:avLst>
              <a:gd name="adj" fmla="val 10526"/>
            </a:avLst>
          </a:prstGeom>
          <a:solidFill>
            <a:srgbClr val="F0FAFA"/>
          </a:solidFill>
          <a:ln w="6350">
            <a:solidFill>
              <a:srgbClr val="E5E5EA"/>
            </a:solidFill>
            <a:prstDash val="solid"/>
          </a:ln>
        </p:spPr>
      </p:sp>
      <p:sp>
        <p:nvSpPr>
          <p:cNvPr id="34" name="Text 32"/>
          <p:cNvSpPr/>
          <p:nvPr/>
        </p:nvSpPr>
        <p:spPr>
          <a:xfrm>
            <a:off x="320040" y="3264408"/>
            <a:ext cx="1371600" cy="347472"/>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TR 272</a:t>
            </a:r>
            <a:endParaRPr lang="en-US" sz="900" dirty="0"/>
          </a:p>
        </p:txBody>
      </p:sp>
      <p:sp>
        <p:nvSpPr>
          <p:cNvPr id="35" name="Text 33"/>
          <p:cNvSpPr/>
          <p:nvPr/>
        </p:nvSpPr>
        <p:spPr>
          <a:xfrm>
            <a:off x="1764792" y="3282696"/>
            <a:ext cx="6803136"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CII Technical Report 272: constructabilidad en proyectos de petróleo y gas: métricas y prácticas</a:t>
            </a:r>
            <a:endParaRPr lang="en-US" sz="750" dirty="0"/>
          </a:p>
        </p:txBody>
      </p:sp>
      <p:sp>
        <p:nvSpPr>
          <p:cNvPr id="36" name="Shape 34"/>
          <p:cNvSpPr/>
          <p:nvPr/>
        </p:nvSpPr>
        <p:spPr>
          <a:xfrm>
            <a:off x="320040" y="3648456"/>
            <a:ext cx="1371600" cy="347472"/>
          </a:xfrm>
          <a:prstGeom prst="rect">
            <a:avLst>
              <a:gd name="adj" fmla="val 10526"/>
            </a:avLst>
          </a:prstGeom>
          <a:solidFill>
            <a:srgbClr val="2C3E8C"/>
          </a:solidFill>
          <a:ln w="12700">
            <a:solidFill>
              <a:srgbClr val="0E9E9E"/>
            </a:solidFill>
            <a:prstDash val="solid"/>
          </a:ln>
        </p:spPr>
      </p:sp>
      <p:sp>
        <p:nvSpPr>
          <p:cNvPr id="37" name="Shape 35"/>
          <p:cNvSpPr/>
          <p:nvPr/>
        </p:nvSpPr>
        <p:spPr>
          <a:xfrm>
            <a:off x="1691640" y="3648456"/>
            <a:ext cx="6949440" cy="347472"/>
          </a:xfrm>
          <a:prstGeom prst="rect">
            <a:avLst>
              <a:gd name="adj" fmla="val 10526"/>
            </a:avLst>
          </a:prstGeom>
          <a:solidFill>
            <a:srgbClr val="FFFFFF"/>
          </a:solidFill>
          <a:ln w="6350">
            <a:solidFill>
              <a:srgbClr val="E5E5EA"/>
            </a:solidFill>
            <a:prstDash val="solid"/>
          </a:ln>
        </p:spPr>
      </p:sp>
      <p:sp>
        <p:nvSpPr>
          <p:cNvPr id="38" name="Text 36"/>
          <p:cNvSpPr/>
          <p:nvPr/>
        </p:nvSpPr>
        <p:spPr>
          <a:xfrm>
            <a:off x="320040" y="3648456"/>
            <a:ext cx="1371600" cy="347472"/>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TWP</a:t>
            </a:r>
            <a:endParaRPr lang="en-US" sz="900" dirty="0"/>
          </a:p>
        </p:txBody>
      </p:sp>
      <p:sp>
        <p:nvSpPr>
          <p:cNvPr id="39" name="Text 37"/>
          <p:cNvSpPr/>
          <p:nvPr/>
        </p:nvSpPr>
        <p:spPr>
          <a:xfrm>
            <a:off x="1764792" y="3666744"/>
            <a:ext cx="6803136"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Turnover Work Package: paquete de documentación de comisionado entregado a operaciones por sistema</a:t>
            </a:r>
            <a:endParaRPr lang="en-US" sz="750" dirty="0"/>
          </a:p>
        </p:txBody>
      </p:sp>
      <p:sp>
        <p:nvSpPr>
          <p:cNvPr id="40" name="Shape 38"/>
          <p:cNvSpPr/>
          <p:nvPr/>
        </p:nvSpPr>
        <p:spPr>
          <a:xfrm>
            <a:off x="320040" y="4032504"/>
            <a:ext cx="1371600" cy="347472"/>
          </a:xfrm>
          <a:prstGeom prst="rect">
            <a:avLst>
              <a:gd name="adj" fmla="val 10526"/>
            </a:avLst>
          </a:prstGeom>
          <a:solidFill>
            <a:srgbClr val="0E9E9E"/>
          </a:solidFill>
          <a:ln w="12700">
            <a:solidFill>
              <a:srgbClr val="0E9E9E"/>
            </a:solidFill>
            <a:prstDash val="solid"/>
          </a:ln>
        </p:spPr>
      </p:sp>
      <p:sp>
        <p:nvSpPr>
          <p:cNvPr id="41" name="Shape 39"/>
          <p:cNvSpPr/>
          <p:nvPr/>
        </p:nvSpPr>
        <p:spPr>
          <a:xfrm>
            <a:off x="1691640" y="4032504"/>
            <a:ext cx="6949440" cy="347472"/>
          </a:xfrm>
          <a:prstGeom prst="rect">
            <a:avLst>
              <a:gd name="adj" fmla="val 10526"/>
            </a:avLst>
          </a:prstGeom>
          <a:solidFill>
            <a:srgbClr val="F0FAFA"/>
          </a:solidFill>
          <a:ln w="6350">
            <a:solidFill>
              <a:srgbClr val="E5E5EA"/>
            </a:solidFill>
            <a:prstDash val="solid"/>
          </a:ln>
        </p:spPr>
      </p:sp>
      <p:sp>
        <p:nvSpPr>
          <p:cNvPr id="42" name="Text 40"/>
          <p:cNvSpPr/>
          <p:nvPr/>
        </p:nvSpPr>
        <p:spPr>
          <a:xfrm>
            <a:off x="320040" y="4032504"/>
            <a:ext cx="1371600" cy="347472"/>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WBS</a:t>
            </a:r>
            <a:endParaRPr lang="en-US" sz="900" dirty="0"/>
          </a:p>
        </p:txBody>
      </p:sp>
      <p:sp>
        <p:nvSpPr>
          <p:cNvPr id="43" name="Text 41"/>
          <p:cNvSpPr/>
          <p:nvPr/>
        </p:nvSpPr>
        <p:spPr>
          <a:xfrm>
            <a:off x="1764792" y="4050792"/>
            <a:ext cx="6803136"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Work Breakdown Structure: descomposición jerárquica del alcance total del proyecto en entregables</a:t>
            </a:r>
            <a:endParaRPr lang="en-US" sz="750" dirty="0"/>
          </a:p>
        </p:txBody>
      </p:sp>
      <p:sp>
        <p:nvSpPr>
          <p:cNvPr id="44" name="Shape 42"/>
          <p:cNvSpPr/>
          <p:nvPr/>
        </p:nvSpPr>
        <p:spPr>
          <a:xfrm>
            <a:off x="320040" y="4416552"/>
            <a:ext cx="1371600" cy="347472"/>
          </a:xfrm>
          <a:prstGeom prst="rect">
            <a:avLst>
              <a:gd name="adj" fmla="val 10526"/>
            </a:avLst>
          </a:prstGeom>
          <a:solidFill>
            <a:srgbClr val="2C3E8C"/>
          </a:solidFill>
          <a:ln w="12700">
            <a:solidFill>
              <a:srgbClr val="0E9E9E"/>
            </a:solidFill>
            <a:prstDash val="solid"/>
          </a:ln>
        </p:spPr>
      </p:sp>
      <p:sp>
        <p:nvSpPr>
          <p:cNvPr id="45" name="Shape 43"/>
          <p:cNvSpPr/>
          <p:nvPr/>
        </p:nvSpPr>
        <p:spPr>
          <a:xfrm>
            <a:off x="1691640" y="4416552"/>
            <a:ext cx="6949440" cy="347472"/>
          </a:xfrm>
          <a:prstGeom prst="rect">
            <a:avLst>
              <a:gd name="adj" fmla="val 10526"/>
            </a:avLst>
          </a:prstGeom>
          <a:solidFill>
            <a:srgbClr val="FFFFFF"/>
          </a:solidFill>
          <a:ln w="6350">
            <a:solidFill>
              <a:srgbClr val="E5E5EA"/>
            </a:solidFill>
            <a:prstDash val="solid"/>
          </a:ln>
        </p:spPr>
      </p:sp>
      <p:sp>
        <p:nvSpPr>
          <p:cNvPr id="46" name="Text 44"/>
          <p:cNvSpPr/>
          <p:nvPr/>
        </p:nvSpPr>
        <p:spPr>
          <a:xfrm>
            <a:off x="320040" y="4416552"/>
            <a:ext cx="1371600" cy="347472"/>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WFP</a:t>
            </a:r>
            <a:endParaRPr lang="en-US" sz="900" dirty="0"/>
          </a:p>
        </p:txBody>
      </p:sp>
      <p:sp>
        <p:nvSpPr>
          <p:cNvPr id="47" name="Text 45"/>
          <p:cNvSpPr/>
          <p:nvPr/>
        </p:nvSpPr>
        <p:spPr>
          <a:xfrm>
            <a:off x="1764792" y="4434840"/>
            <a:ext cx="6803136"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Workforce Planning: planificación de mano de obra coordinada con el plan de IWPs y CWPs</a:t>
            </a:r>
            <a:endParaRPr lang="en-US" sz="7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E9E"/>
          </a:solidFill>
          <a:ln w="12700">
            <a:solidFill>
              <a:srgbClr val="0E9E9E"/>
            </a:solidFill>
            <a:prstDash val="solid"/>
          </a:ln>
        </p:spPr>
      </p:sp>
      <p:sp>
        <p:nvSpPr>
          <p:cNvPr id="3" name="Shape 1"/>
          <p:cNvSpPr/>
          <p:nvPr/>
        </p:nvSpPr>
        <p:spPr>
          <a:xfrm>
            <a:off x="164592" y="4956048"/>
            <a:ext cx="8979408" cy="182880"/>
          </a:xfrm>
          <a:prstGeom prst="rect">
            <a:avLst/>
          </a:prstGeom>
          <a:solidFill>
            <a:srgbClr val="0E9E9E"/>
          </a:solidFill>
          <a:ln w="12700">
            <a:solidFill>
              <a:srgbClr val="0E9E9E"/>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88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Referencias Bibliográficas</a:t>
            </a:r>
            <a:endParaRPr lang="en-US" sz="1800" dirty="0"/>
          </a:p>
        </p:txBody>
      </p:sp>
      <p:sp>
        <p:nvSpPr>
          <p:cNvPr id="6" name="Shape 4"/>
          <p:cNvSpPr/>
          <p:nvPr/>
        </p:nvSpPr>
        <p:spPr>
          <a:xfrm>
            <a:off x="320040" y="621792"/>
            <a:ext cx="8503920" cy="41148"/>
          </a:xfrm>
          <a:prstGeom prst="rect">
            <a:avLst/>
          </a:prstGeom>
          <a:solidFill>
            <a:srgbClr val="0E9E9E"/>
          </a:solidFill>
          <a:ln w="12700">
            <a:solidFill>
              <a:srgbClr val="0E9E9E"/>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E9E9E"/>
                </a:solidFill>
                <a:latin typeface="Atkinson Hyperlegible" pitchFamily="34" charset="0"/>
                <a:ea typeface="Atkinson Hyperlegible" pitchFamily="34" charset="-122"/>
                <a:cs typeface="Atkinson Hyperlegible" pitchFamily="34" charset="-120"/>
              </a:rPr>
              <a:t>Fuentes primarias de investigación y práctica en constructabilidad</a:t>
            </a:r>
            <a:endParaRPr lang="en-US" sz="900" dirty="0"/>
          </a:p>
        </p:txBody>
      </p:sp>
      <p:sp>
        <p:nvSpPr>
          <p:cNvPr id="8" name="Shape 6"/>
          <p:cNvSpPr/>
          <p:nvPr/>
        </p:nvSpPr>
        <p:spPr>
          <a:xfrm>
            <a:off x="320040" y="960120"/>
            <a:ext cx="8503920" cy="457200"/>
          </a:xfrm>
          <a:prstGeom prst="rect">
            <a:avLst>
              <a:gd name="adj" fmla="val 8000"/>
            </a:avLst>
          </a:prstGeom>
          <a:solidFill>
            <a:srgbClr val="FFFFFF"/>
          </a:solidFill>
          <a:ln w="6350">
            <a:solidFill>
              <a:srgbClr val="E5E5EA"/>
            </a:solidFill>
            <a:prstDash val="solid"/>
          </a:ln>
        </p:spPr>
      </p:sp>
      <p:sp>
        <p:nvSpPr>
          <p:cNvPr id="9" name="Text 7"/>
          <p:cNvSpPr/>
          <p:nvPr/>
        </p:nvSpPr>
        <p:spPr>
          <a:xfrm>
            <a:off x="411480" y="996696"/>
            <a:ext cx="640080" cy="384048"/>
          </a:xfrm>
          <a:prstGeom prst="rect">
            <a:avLst/>
          </a:prstGeom>
          <a:noFill/>
          <a:ln/>
        </p:spPr>
        <p:txBody>
          <a:bodyPr wrap="square" rtlCol="0" anchor="ctr"/>
          <a:lstStyle/>
          <a:p>
            <a:pPr indent="0" marL="0">
              <a:buNone/>
            </a:pPr>
            <a:r>
              <a:rPr lang="en-US" sz="750" b="1" dirty="0">
                <a:solidFill>
                  <a:srgbClr val="0E9E9E"/>
                </a:solidFill>
                <a:latin typeface="Atkinson Hyperlegible" pitchFamily="34" charset="0"/>
                <a:ea typeface="Atkinson Hyperlegible" pitchFamily="34" charset="-122"/>
                <a:cs typeface="Atkinson Hyperlegible" pitchFamily="34" charset="-120"/>
              </a:rPr>
              <a:t>[CII]</a:t>
            </a:r>
            <a:endParaRPr lang="en-US" sz="750" dirty="0"/>
          </a:p>
        </p:txBody>
      </p:sp>
      <p:sp>
        <p:nvSpPr>
          <p:cNvPr id="10" name="Text 8"/>
          <p:cNvSpPr/>
          <p:nvPr/>
        </p:nvSpPr>
        <p:spPr>
          <a:xfrm>
            <a:off x="1097280" y="996696"/>
            <a:ext cx="5669280"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Construction Industry Institute. (2020). Advanced Work Packaging: Concepts, Research, and Implementation. SP 34-1.</a:t>
            </a:r>
            <a:endParaRPr lang="en-US" sz="750" dirty="0"/>
          </a:p>
        </p:txBody>
      </p:sp>
      <p:sp>
        <p:nvSpPr>
          <p:cNvPr id="11" name="Text 9"/>
          <p:cNvSpPr/>
          <p:nvPr/>
        </p:nvSpPr>
        <p:spPr>
          <a:xfrm>
            <a:off x="6812280" y="996696"/>
            <a:ext cx="1920240" cy="384048"/>
          </a:xfrm>
          <a:prstGeom prst="rect">
            <a:avLst/>
          </a:prstGeom>
          <a:noFill/>
          <a:ln/>
        </p:spPr>
        <p:txBody>
          <a:bodyPr wrap="square" rtlCol="0" anchor="ctr"/>
          <a:lstStyle/>
          <a:p>
            <a:pPr indent="0" marL="0">
              <a:buNone/>
            </a:pPr>
            <a:r>
              <a:rPr lang="en-US" sz="700" i="1" dirty="0">
                <a:solidFill>
                  <a:srgbClr val="666666"/>
                </a:solidFill>
                <a:latin typeface="Atkinson Hyperlegible" pitchFamily="34" charset="0"/>
                <a:ea typeface="Atkinson Hyperlegible" pitchFamily="34" charset="-122"/>
                <a:cs typeface="Atkinson Hyperlegible" pitchFamily="34" charset="-120"/>
              </a:rPr>
              <a:t>Austin, TX: CII</a:t>
            </a:r>
            <a:endParaRPr lang="en-US" sz="700" dirty="0"/>
          </a:p>
        </p:txBody>
      </p:sp>
      <p:sp>
        <p:nvSpPr>
          <p:cNvPr id="12" name="Shape 10"/>
          <p:cNvSpPr/>
          <p:nvPr/>
        </p:nvSpPr>
        <p:spPr>
          <a:xfrm>
            <a:off x="320040" y="1463040"/>
            <a:ext cx="8503920" cy="457200"/>
          </a:xfrm>
          <a:prstGeom prst="rect">
            <a:avLst>
              <a:gd name="adj" fmla="val 8000"/>
            </a:avLst>
          </a:prstGeom>
          <a:solidFill>
            <a:srgbClr val="F5FAFF"/>
          </a:solidFill>
          <a:ln w="6350">
            <a:solidFill>
              <a:srgbClr val="E5E5EA"/>
            </a:solidFill>
            <a:prstDash val="solid"/>
          </a:ln>
        </p:spPr>
      </p:sp>
      <p:sp>
        <p:nvSpPr>
          <p:cNvPr id="13" name="Text 11"/>
          <p:cNvSpPr/>
          <p:nvPr/>
        </p:nvSpPr>
        <p:spPr>
          <a:xfrm>
            <a:off x="411480" y="1499616"/>
            <a:ext cx="640080" cy="384048"/>
          </a:xfrm>
          <a:prstGeom prst="rect">
            <a:avLst/>
          </a:prstGeom>
          <a:noFill/>
          <a:ln/>
        </p:spPr>
        <p:txBody>
          <a:bodyPr wrap="square" rtlCol="0" anchor="ctr"/>
          <a:lstStyle/>
          <a:p>
            <a:pPr indent="0" marL="0">
              <a:buNone/>
            </a:pPr>
            <a:r>
              <a:rPr lang="en-US" sz="750" b="1" dirty="0">
                <a:solidFill>
                  <a:srgbClr val="0E9E9E"/>
                </a:solidFill>
                <a:latin typeface="Atkinson Hyperlegible" pitchFamily="34" charset="0"/>
                <a:ea typeface="Atkinson Hyperlegible" pitchFamily="34" charset="-122"/>
                <a:cs typeface="Atkinson Hyperlegible" pitchFamily="34" charset="-120"/>
              </a:rPr>
              <a:t>[CII]</a:t>
            </a:r>
            <a:endParaRPr lang="en-US" sz="750" dirty="0"/>
          </a:p>
        </p:txBody>
      </p:sp>
      <p:sp>
        <p:nvSpPr>
          <p:cNvPr id="14" name="Text 12"/>
          <p:cNvSpPr/>
          <p:nvPr/>
        </p:nvSpPr>
        <p:spPr>
          <a:xfrm>
            <a:off x="1097280" y="1499616"/>
            <a:ext cx="5669280"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CII Technical Report TR-272. (2012). Constructability Implementation Guide.</a:t>
            </a:r>
            <a:endParaRPr lang="en-US" sz="750" dirty="0"/>
          </a:p>
        </p:txBody>
      </p:sp>
      <p:sp>
        <p:nvSpPr>
          <p:cNvPr id="15" name="Text 13"/>
          <p:cNvSpPr/>
          <p:nvPr/>
        </p:nvSpPr>
        <p:spPr>
          <a:xfrm>
            <a:off x="6812280" y="1499616"/>
            <a:ext cx="1920240" cy="384048"/>
          </a:xfrm>
          <a:prstGeom prst="rect">
            <a:avLst/>
          </a:prstGeom>
          <a:noFill/>
          <a:ln/>
        </p:spPr>
        <p:txBody>
          <a:bodyPr wrap="square" rtlCol="0" anchor="ctr"/>
          <a:lstStyle/>
          <a:p>
            <a:pPr indent="0" marL="0">
              <a:buNone/>
            </a:pPr>
            <a:r>
              <a:rPr lang="en-US" sz="700" i="1" dirty="0">
                <a:solidFill>
                  <a:srgbClr val="666666"/>
                </a:solidFill>
                <a:latin typeface="Atkinson Hyperlegible" pitchFamily="34" charset="0"/>
                <a:ea typeface="Atkinson Hyperlegible" pitchFamily="34" charset="-122"/>
                <a:cs typeface="Atkinson Hyperlegible" pitchFamily="34" charset="-120"/>
              </a:rPr>
              <a:t>Construction Industry Institute</a:t>
            </a:r>
            <a:endParaRPr lang="en-US" sz="700" dirty="0"/>
          </a:p>
        </p:txBody>
      </p:sp>
      <p:sp>
        <p:nvSpPr>
          <p:cNvPr id="16" name="Shape 14"/>
          <p:cNvSpPr/>
          <p:nvPr/>
        </p:nvSpPr>
        <p:spPr>
          <a:xfrm>
            <a:off x="320040" y="1965960"/>
            <a:ext cx="8503920" cy="457200"/>
          </a:xfrm>
          <a:prstGeom prst="rect">
            <a:avLst>
              <a:gd name="adj" fmla="val 8000"/>
            </a:avLst>
          </a:prstGeom>
          <a:solidFill>
            <a:srgbClr val="FFFFFF"/>
          </a:solidFill>
          <a:ln w="6350">
            <a:solidFill>
              <a:srgbClr val="E5E5EA"/>
            </a:solidFill>
            <a:prstDash val="solid"/>
          </a:ln>
        </p:spPr>
      </p:sp>
      <p:sp>
        <p:nvSpPr>
          <p:cNvPr id="17" name="Text 15"/>
          <p:cNvSpPr/>
          <p:nvPr/>
        </p:nvSpPr>
        <p:spPr>
          <a:xfrm>
            <a:off x="411480" y="2002536"/>
            <a:ext cx="640080" cy="384048"/>
          </a:xfrm>
          <a:prstGeom prst="rect">
            <a:avLst/>
          </a:prstGeom>
          <a:noFill/>
          <a:ln/>
        </p:spPr>
        <p:txBody>
          <a:bodyPr wrap="square" rtlCol="0" anchor="ctr"/>
          <a:lstStyle/>
          <a:p>
            <a:pPr indent="0" marL="0">
              <a:buNone/>
            </a:pPr>
            <a:r>
              <a:rPr lang="en-US" sz="750" b="1" dirty="0">
                <a:solidFill>
                  <a:srgbClr val="0E9E9E"/>
                </a:solidFill>
                <a:latin typeface="Atkinson Hyperlegible" pitchFamily="34" charset="0"/>
                <a:ea typeface="Atkinson Hyperlegible" pitchFamily="34" charset="-122"/>
                <a:cs typeface="Atkinson Hyperlegible" pitchFamily="34" charset="-120"/>
              </a:rPr>
              <a:t>[Nicks]</a:t>
            </a:r>
            <a:endParaRPr lang="en-US" sz="750" dirty="0"/>
          </a:p>
        </p:txBody>
      </p:sp>
      <p:sp>
        <p:nvSpPr>
          <p:cNvPr id="18" name="Text 16"/>
          <p:cNvSpPr/>
          <p:nvPr/>
        </p:nvSpPr>
        <p:spPr>
          <a:xfrm>
            <a:off x="1097280" y="2002536"/>
            <a:ext cx="5669280"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Nicks, J. (2017). AWP: A Practical Guide to Advanced Work Packaging, Planning, and Scheduling.</a:t>
            </a:r>
            <a:endParaRPr lang="en-US" sz="750" dirty="0"/>
          </a:p>
        </p:txBody>
      </p:sp>
      <p:sp>
        <p:nvSpPr>
          <p:cNvPr id="19" name="Text 17"/>
          <p:cNvSpPr/>
          <p:nvPr/>
        </p:nvSpPr>
        <p:spPr>
          <a:xfrm>
            <a:off x="6812280" y="2002536"/>
            <a:ext cx="1920240" cy="384048"/>
          </a:xfrm>
          <a:prstGeom prst="rect">
            <a:avLst/>
          </a:prstGeom>
          <a:noFill/>
          <a:ln/>
        </p:spPr>
        <p:txBody>
          <a:bodyPr wrap="square" rtlCol="0" anchor="ctr"/>
          <a:lstStyle/>
          <a:p>
            <a:pPr indent="0" marL="0">
              <a:buNone/>
            </a:pPr>
            <a:r>
              <a:rPr lang="en-US" sz="700" i="1" dirty="0">
                <a:solidFill>
                  <a:srgbClr val="666666"/>
                </a:solidFill>
                <a:latin typeface="Atkinson Hyperlegible" pitchFamily="34" charset="0"/>
                <a:ea typeface="Atkinson Hyperlegible" pitchFamily="34" charset="-122"/>
                <a:cs typeface="Atkinson Hyperlegible" pitchFamily="34" charset="-120"/>
              </a:rPr>
              <a:t>CRC Press</a:t>
            </a:r>
            <a:endParaRPr lang="en-US" sz="700" dirty="0"/>
          </a:p>
        </p:txBody>
      </p:sp>
      <p:sp>
        <p:nvSpPr>
          <p:cNvPr id="20" name="Shape 18"/>
          <p:cNvSpPr/>
          <p:nvPr/>
        </p:nvSpPr>
        <p:spPr>
          <a:xfrm>
            <a:off x="320040" y="2468880"/>
            <a:ext cx="8503920" cy="457200"/>
          </a:xfrm>
          <a:prstGeom prst="rect">
            <a:avLst>
              <a:gd name="adj" fmla="val 8000"/>
            </a:avLst>
          </a:prstGeom>
          <a:solidFill>
            <a:srgbClr val="F5FAFF"/>
          </a:solidFill>
          <a:ln w="6350">
            <a:solidFill>
              <a:srgbClr val="E5E5EA"/>
            </a:solidFill>
            <a:prstDash val="solid"/>
          </a:ln>
        </p:spPr>
      </p:sp>
      <p:sp>
        <p:nvSpPr>
          <p:cNvPr id="21" name="Text 19"/>
          <p:cNvSpPr/>
          <p:nvPr/>
        </p:nvSpPr>
        <p:spPr>
          <a:xfrm>
            <a:off x="411480" y="2505456"/>
            <a:ext cx="640080" cy="384048"/>
          </a:xfrm>
          <a:prstGeom prst="rect">
            <a:avLst/>
          </a:prstGeom>
          <a:noFill/>
          <a:ln/>
        </p:spPr>
        <p:txBody>
          <a:bodyPr wrap="square" rtlCol="0" anchor="ctr"/>
          <a:lstStyle/>
          <a:p>
            <a:pPr indent="0" marL="0">
              <a:buNone/>
            </a:pPr>
            <a:r>
              <a:rPr lang="en-US" sz="750" b="1" dirty="0">
                <a:solidFill>
                  <a:srgbClr val="0E9E9E"/>
                </a:solidFill>
                <a:latin typeface="Atkinson Hyperlegible" pitchFamily="34" charset="0"/>
                <a:ea typeface="Atkinson Hyperlegible" pitchFamily="34" charset="-122"/>
                <a:cs typeface="Atkinson Hyperlegible" pitchFamily="34" charset="-120"/>
              </a:rPr>
              <a:t>[O'Brien]</a:t>
            </a:r>
            <a:endParaRPr lang="en-US" sz="750" dirty="0"/>
          </a:p>
        </p:txBody>
      </p:sp>
      <p:sp>
        <p:nvSpPr>
          <p:cNvPr id="22" name="Text 20"/>
          <p:cNvSpPr/>
          <p:nvPr/>
        </p:nvSpPr>
        <p:spPr>
          <a:xfrm>
            <a:off x="1097280" y="2505456"/>
            <a:ext cx="5669280"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O'Brien, J. &amp; Plotnick, F. (2010). CPM in Construction Management. 7th ed.</a:t>
            </a:r>
            <a:endParaRPr lang="en-US" sz="750" dirty="0"/>
          </a:p>
        </p:txBody>
      </p:sp>
      <p:sp>
        <p:nvSpPr>
          <p:cNvPr id="23" name="Text 21"/>
          <p:cNvSpPr/>
          <p:nvPr/>
        </p:nvSpPr>
        <p:spPr>
          <a:xfrm>
            <a:off x="6812280" y="2505456"/>
            <a:ext cx="1920240" cy="384048"/>
          </a:xfrm>
          <a:prstGeom prst="rect">
            <a:avLst/>
          </a:prstGeom>
          <a:noFill/>
          <a:ln/>
        </p:spPr>
        <p:txBody>
          <a:bodyPr wrap="square" rtlCol="0" anchor="ctr"/>
          <a:lstStyle/>
          <a:p>
            <a:pPr indent="0" marL="0">
              <a:buNone/>
            </a:pPr>
            <a:r>
              <a:rPr lang="en-US" sz="700" i="1" dirty="0">
                <a:solidFill>
                  <a:srgbClr val="666666"/>
                </a:solidFill>
                <a:latin typeface="Atkinson Hyperlegible" pitchFamily="34" charset="0"/>
                <a:ea typeface="Atkinson Hyperlegible" pitchFamily="34" charset="-122"/>
                <a:cs typeface="Atkinson Hyperlegible" pitchFamily="34" charset="-120"/>
              </a:rPr>
              <a:t>McGraw-Hill Education</a:t>
            </a:r>
            <a:endParaRPr lang="en-US" sz="700" dirty="0"/>
          </a:p>
        </p:txBody>
      </p:sp>
      <p:sp>
        <p:nvSpPr>
          <p:cNvPr id="24" name="Shape 22"/>
          <p:cNvSpPr/>
          <p:nvPr/>
        </p:nvSpPr>
        <p:spPr>
          <a:xfrm>
            <a:off x="320040" y="2971800"/>
            <a:ext cx="8503920" cy="457200"/>
          </a:xfrm>
          <a:prstGeom prst="rect">
            <a:avLst>
              <a:gd name="adj" fmla="val 8000"/>
            </a:avLst>
          </a:prstGeom>
          <a:solidFill>
            <a:srgbClr val="FFFFFF"/>
          </a:solidFill>
          <a:ln w="6350">
            <a:solidFill>
              <a:srgbClr val="E5E5EA"/>
            </a:solidFill>
            <a:prstDash val="solid"/>
          </a:ln>
        </p:spPr>
      </p:sp>
      <p:sp>
        <p:nvSpPr>
          <p:cNvPr id="25" name="Text 23"/>
          <p:cNvSpPr/>
          <p:nvPr/>
        </p:nvSpPr>
        <p:spPr>
          <a:xfrm>
            <a:off x="411480" y="3008376"/>
            <a:ext cx="640080" cy="384048"/>
          </a:xfrm>
          <a:prstGeom prst="rect">
            <a:avLst/>
          </a:prstGeom>
          <a:noFill/>
          <a:ln/>
        </p:spPr>
        <p:txBody>
          <a:bodyPr wrap="square" rtlCol="0" anchor="ctr"/>
          <a:lstStyle/>
          <a:p>
            <a:pPr indent="0" marL="0">
              <a:buNone/>
            </a:pPr>
            <a:r>
              <a:rPr lang="en-US" sz="750" b="1" dirty="0">
                <a:solidFill>
                  <a:srgbClr val="0E9E9E"/>
                </a:solidFill>
                <a:latin typeface="Atkinson Hyperlegible" pitchFamily="34" charset="0"/>
                <a:ea typeface="Atkinson Hyperlegible" pitchFamily="34" charset="-122"/>
                <a:cs typeface="Atkinson Hyperlegible" pitchFamily="34" charset="-120"/>
              </a:rPr>
              <a:t>[Koskela]</a:t>
            </a:r>
            <a:endParaRPr lang="en-US" sz="750" dirty="0"/>
          </a:p>
        </p:txBody>
      </p:sp>
      <p:sp>
        <p:nvSpPr>
          <p:cNvPr id="26" name="Text 24"/>
          <p:cNvSpPr/>
          <p:nvPr/>
        </p:nvSpPr>
        <p:spPr>
          <a:xfrm>
            <a:off x="1097280" y="3008376"/>
            <a:ext cx="5669280"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Koskela, L. (1992). Application of the New Production Philosophy to Construction.</a:t>
            </a:r>
            <a:endParaRPr lang="en-US" sz="750" dirty="0"/>
          </a:p>
        </p:txBody>
      </p:sp>
      <p:sp>
        <p:nvSpPr>
          <p:cNvPr id="27" name="Text 25"/>
          <p:cNvSpPr/>
          <p:nvPr/>
        </p:nvSpPr>
        <p:spPr>
          <a:xfrm>
            <a:off x="6812280" y="3008376"/>
            <a:ext cx="1920240" cy="384048"/>
          </a:xfrm>
          <a:prstGeom prst="rect">
            <a:avLst/>
          </a:prstGeom>
          <a:noFill/>
          <a:ln/>
        </p:spPr>
        <p:txBody>
          <a:bodyPr wrap="square" rtlCol="0" anchor="ctr"/>
          <a:lstStyle/>
          <a:p>
            <a:pPr indent="0" marL="0">
              <a:buNone/>
            </a:pPr>
            <a:r>
              <a:rPr lang="en-US" sz="700" i="1" dirty="0">
                <a:solidFill>
                  <a:srgbClr val="666666"/>
                </a:solidFill>
                <a:latin typeface="Atkinson Hyperlegible" pitchFamily="34" charset="0"/>
                <a:ea typeface="Atkinson Hyperlegible" pitchFamily="34" charset="-122"/>
                <a:cs typeface="Atkinson Hyperlegible" pitchFamily="34" charset="-120"/>
              </a:rPr>
              <a:t>CIFE Technical Report #72</a:t>
            </a:r>
            <a:endParaRPr lang="en-US" sz="700" dirty="0"/>
          </a:p>
        </p:txBody>
      </p:sp>
      <p:sp>
        <p:nvSpPr>
          <p:cNvPr id="28" name="Shape 26"/>
          <p:cNvSpPr/>
          <p:nvPr/>
        </p:nvSpPr>
        <p:spPr>
          <a:xfrm>
            <a:off x="320040" y="3474720"/>
            <a:ext cx="8503920" cy="457200"/>
          </a:xfrm>
          <a:prstGeom prst="rect">
            <a:avLst>
              <a:gd name="adj" fmla="val 8000"/>
            </a:avLst>
          </a:prstGeom>
          <a:solidFill>
            <a:srgbClr val="F5FAFF"/>
          </a:solidFill>
          <a:ln w="6350">
            <a:solidFill>
              <a:srgbClr val="E5E5EA"/>
            </a:solidFill>
            <a:prstDash val="solid"/>
          </a:ln>
        </p:spPr>
      </p:sp>
      <p:sp>
        <p:nvSpPr>
          <p:cNvPr id="29" name="Text 27"/>
          <p:cNvSpPr/>
          <p:nvPr/>
        </p:nvSpPr>
        <p:spPr>
          <a:xfrm>
            <a:off x="411480" y="3511296"/>
            <a:ext cx="640080" cy="384048"/>
          </a:xfrm>
          <a:prstGeom prst="rect">
            <a:avLst/>
          </a:prstGeom>
          <a:noFill/>
          <a:ln/>
        </p:spPr>
        <p:txBody>
          <a:bodyPr wrap="square" rtlCol="0" anchor="ctr"/>
          <a:lstStyle/>
          <a:p>
            <a:pPr indent="0" marL="0">
              <a:buNone/>
            </a:pPr>
            <a:r>
              <a:rPr lang="en-US" sz="750" b="1" dirty="0">
                <a:solidFill>
                  <a:srgbClr val="0E9E9E"/>
                </a:solidFill>
                <a:latin typeface="Atkinson Hyperlegible" pitchFamily="34" charset="0"/>
                <a:ea typeface="Atkinson Hyperlegible" pitchFamily="34" charset="-122"/>
                <a:cs typeface="Atkinson Hyperlegible" pitchFamily="34" charset="-120"/>
              </a:rPr>
              <a:t>[Azhar]</a:t>
            </a:r>
            <a:endParaRPr lang="en-US" sz="750" dirty="0"/>
          </a:p>
        </p:txBody>
      </p:sp>
      <p:sp>
        <p:nvSpPr>
          <p:cNvPr id="30" name="Text 28"/>
          <p:cNvSpPr/>
          <p:nvPr/>
        </p:nvSpPr>
        <p:spPr>
          <a:xfrm>
            <a:off x="1097280" y="3511296"/>
            <a:ext cx="5669280"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Azhar, S. (2011). Building Information Modeling: Trends, Benefits, Risks, and Challenges.</a:t>
            </a:r>
            <a:endParaRPr lang="en-US" sz="750" dirty="0"/>
          </a:p>
        </p:txBody>
      </p:sp>
      <p:sp>
        <p:nvSpPr>
          <p:cNvPr id="31" name="Text 29"/>
          <p:cNvSpPr/>
          <p:nvPr/>
        </p:nvSpPr>
        <p:spPr>
          <a:xfrm>
            <a:off x="6812280" y="3511296"/>
            <a:ext cx="1920240" cy="384048"/>
          </a:xfrm>
          <a:prstGeom prst="rect">
            <a:avLst/>
          </a:prstGeom>
          <a:noFill/>
          <a:ln/>
        </p:spPr>
        <p:txBody>
          <a:bodyPr wrap="square" rtlCol="0" anchor="ctr"/>
          <a:lstStyle/>
          <a:p>
            <a:pPr indent="0" marL="0">
              <a:buNone/>
            </a:pPr>
            <a:r>
              <a:rPr lang="en-US" sz="700" i="1" dirty="0">
                <a:solidFill>
                  <a:srgbClr val="666666"/>
                </a:solidFill>
                <a:latin typeface="Atkinson Hyperlegible" pitchFamily="34" charset="0"/>
                <a:ea typeface="Atkinson Hyperlegible" pitchFamily="34" charset="-122"/>
                <a:cs typeface="Atkinson Hyperlegible" pitchFamily="34" charset="-120"/>
              </a:rPr>
              <a:t>Leadership and Management in Engineering, 11(3)</a:t>
            </a:r>
            <a:endParaRPr lang="en-US" sz="700" dirty="0"/>
          </a:p>
        </p:txBody>
      </p:sp>
      <p:sp>
        <p:nvSpPr>
          <p:cNvPr id="32" name="Shape 30"/>
          <p:cNvSpPr/>
          <p:nvPr/>
        </p:nvSpPr>
        <p:spPr>
          <a:xfrm>
            <a:off x="320040" y="3977640"/>
            <a:ext cx="8503920" cy="457200"/>
          </a:xfrm>
          <a:prstGeom prst="rect">
            <a:avLst>
              <a:gd name="adj" fmla="val 8000"/>
            </a:avLst>
          </a:prstGeom>
          <a:solidFill>
            <a:srgbClr val="FFFFFF"/>
          </a:solidFill>
          <a:ln w="6350">
            <a:solidFill>
              <a:srgbClr val="E5E5EA"/>
            </a:solidFill>
            <a:prstDash val="solid"/>
          </a:ln>
        </p:spPr>
      </p:sp>
      <p:sp>
        <p:nvSpPr>
          <p:cNvPr id="33" name="Text 31"/>
          <p:cNvSpPr/>
          <p:nvPr/>
        </p:nvSpPr>
        <p:spPr>
          <a:xfrm>
            <a:off x="411480" y="4014216"/>
            <a:ext cx="640080" cy="384048"/>
          </a:xfrm>
          <a:prstGeom prst="rect">
            <a:avLst/>
          </a:prstGeom>
          <a:noFill/>
          <a:ln/>
        </p:spPr>
        <p:txBody>
          <a:bodyPr wrap="square" rtlCol="0" anchor="ctr"/>
          <a:lstStyle/>
          <a:p>
            <a:pPr indent="0" marL="0">
              <a:buNone/>
            </a:pPr>
            <a:r>
              <a:rPr lang="en-US" sz="750" b="1" dirty="0">
                <a:solidFill>
                  <a:srgbClr val="0E9E9E"/>
                </a:solidFill>
                <a:latin typeface="Atkinson Hyperlegible" pitchFamily="34" charset="0"/>
                <a:ea typeface="Atkinson Hyperlegible" pitchFamily="34" charset="-122"/>
                <a:cs typeface="Atkinson Hyperlegible" pitchFamily="34" charset="-120"/>
              </a:rPr>
              <a:t>[Egan]</a:t>
            </a:r>
            <a:endParaRPr lang="en-US" sz="750" dirty="0"/>
          </a:p>
        </p:txBody>
      </p:sp>
      <p:sp>
        <p:nvSpPr>
          <p:cNvPr id="34" name="Text 32"/>
          <p:cNvSpPr/>
          <p:nvPr/>
        </p:nvSpPr>
        <p:spPr>
          <a:xfrm>
            <a:off x="1097280" y="4014216"/>
            <a:ext cx="5669280"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Egan, J. (1998). Rethinking Construction.</a:t>
            </a:r>
            <a:endParaRPr lang="en-US" sz="750" dirty="0"/>
          </a:p>
        </p:txBody>
      </p:sp>
      <p:sp>
        <p:nvSpPr>
          <p:cNvPr id="35" name="Text 33"/>
          <p:cNvSpPr/>
          <p:nvPr/>
        </p:nvSpPr>
        <p:spPr>
          <a:xfrm>
            <a:off x="6812280" y="4014216"/>
            <a:ext cx="1920240" cy="384048"/>
          </a:xfrm>
          <a:prstGeom prst="rect">
            <a:avLst/>
          </a:prstGeom>
          <a:noFill/>
          <a:ln/>
        </p:spPr>
        <p:txBody>
          <a:bodyPr wrap="square" rtlCol="0" anchor="ctr"/>
          <a:lstStyle/>
          <a:p>
            <a:pPr indent="0" marL="0">
              <a:buNone/>
            </a:pPr>
            <a:r>
              <a:rPr lang="en-US" sz="700" i="1" dirty="0">
                <a:solidFill>
                  <a:srgbClr val="666666"/>
                </a:solidFill>
                <a:latin typeface="Atkinson Hyperlegible" pitchFamily="34" charset="0"/>
                <a:ea typeface="Atkinson Hyperlegible" pitchFamily="34" charset="-122"/>
                <a:cs typeface="Atkinson Hyperlegible" pitchFamily="34" charset="-120"/>
              </a:rPr>
              <a:t>Department of Environment, Transport and Regions, UK</a:t>
            </a:r>
            <a:endParaRPr lang="en-US" sz="700" dirty="0"/>
          </a:p>
        </p:txBody>
      </p:sp>
      <p:sp>
        <p:nvSpPr>
          <p:cNvPr id="36" name="Shape 34"/>
          <p:cNvSpPr/>
          <p:nvPr/>
        </p:nvSpPr>
        <p:spPr>
          <a:xfrm>
            <a:off x="320040" y="4480560"/>
            <a:ext cx="8503920" cy="457200"/>
          </a:xfrm>
          <a:prstGeom prst="rect">
            <a:avLst>
              <a:gd name="adj" fmla="val 8000"/>
            </a:avLst>
          </a:prstGeom>
          <a:solidFill>
            <a:srgbClr val="F5FAFF"/>
          </a:solidFill>
          <a:ln w="6350">
            <a:solidFill>
              <a:srgbClr val="E5E5EA"/>
            </a:solidFill>
            <a:prstDash val="solid"/>
          </a:ln>
        </p:spPr>
      </p:sp>
      <p:sp>
        <p:nvSpPr>
          <p:cNvPr id="37" name="Text 35"/>
          <p:cNvSpPr/>
          <p:nvPr/>
        </p:nvSpPr>
        <p:spPr>
          <a:xfrm>
            <a:off x="411480" y="4517136"/>
            <a:ext cx="640080" cy="384048"/>
          </a:xfrm>
          <a:prstGeom prst="rect">
            <a:avLst/>
          </a:prstGeom>
          <a:noFill/>
          <a:ln/>
        </p:spPr>
        <p:txBody>
          <a:bodyPr wrap="square" rtlCol="0" anchor="ctr"/>
          <a:lstStyle/>
          <a:p>
            <a:pPr indent="0" marL="0">
              <a:buNone/>
            </a:pPr>
            <a:r>
              <a:rPr lang="en-US" sz="750" b="1" dirty="0">
                <a:solidFill>
                  <a:srgbClr val="0E9E9E"/>
                </a:solidFill>
                <a:latin typeface="Atkinson Hyperlegible" pitchFamily="34" charset="0"/>
                <a:ea typeface="Atkinson Hyperlegible" pitchFamily="34" charset="-122"/>
                <a:cs typeface="Atkinson Hyperlegible" pitchFamily="34" charset="-120"/>
              </a:rPr>
              <a:t>[Ballard]</a:t>
            </a:r>
            <a:endParaRPr lang="en-US" sz="750" dirty="0"/>
          </a:p>
        </p:txBody>
      </p:sp>
      <p:sp>
        <p:nvSpPr>
          <p:cNvPr id="38" name="Text 36"/>
          <p:cNvSpPr/>
          <p:nvPr/>
        </p:nvSpPr>
        <p:spPr>
          <a:xfrm>
            <a:off x="1097280" y="4517136"/>
            <a:ext cx="5669280" cy="384048"/>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Ballard, G. (2000). The Last Planner System of Production Control.</a:t>
            </a:r>
            <a:endParaRPr lang="en-US" sz="750" dirty="0"/>
          </a:p>
        </p:txBody>
      </p:sp>
      <p:sp>
        <p:nvSpPr>
          <p:cNvPr id="39" name="Text 37"/>
          <p:cNvSpPr/>
          <p:nvPr/>
        </p:nvSpPr>
        <p:spPr>
          <a:xfrm>
            <a:off x="6812280" y="4517136"/>
            <a:ext cx="1920240" cy="384048"/>
          </a:xfrm>
          <a:prstGeom prst="rect">
            <a:avLst/>
          </a:prstGeom>
          <a:noFill/>
          <a:ln/>
        </p:spPr>
        <p:txBody>
          <a:bodyPr wrap="square" rtlCol="0" anchor="ctr"/>
          <a:lstStyle/>
          <a:p>
            <a:pPr indent="0" marL="0">
              <a:buNone/>
            </a:pPr>
            <a:r>
              <a:rPr lang="en-US" sz="700" i="1" dirty="0">
                <a:solidFill>
                  <a:srgbClr val="666666"/>
                </a:solidFill>
                <a:latin typeface="Atkinson Hyperlegible" pitchFamily="34" charset="0"/>
                <a:ea typeface="Atkinson Hyperlegible" pitchFamily="34" charset="-122"/>
                <a:cs typeface="Atkinson Hyperlegible" pitchFamily="34" charset="-120"/>
              </a:rPr>
              <a:t>PhD Dissertation, University of Birmingham</a:t>
            </a:r>
            <a:endParaRPr lang="en-US" sz="7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74E3"/>
          </a:solidFill>
          <a:ln w="12700">
            <a:solidFill>
              <a:srgbClr val="0A74E3"/>
            </a:solidFill>
            <a:prstDash val="solid"/>
          </a:ln>
        </p:spPr>
      </p:sp>
      <p:sp>
        <p:nvSpPr>
          <p:cNvPr id="3" name="Shape 1"/>
          <p:cNvSpPr/>
          <p:nvPr/>
        </p:nvSpPr>
        <p:spPr>
          <a:xfrm>
            <a:off x="0" y="0"/>
            <a:ext cx="3200400" cy="5143500"/>
          </a:xfrm>
          <a:prstGeom prst="rect">
            <a:avLst/>
          </a:prstGeom>
          <a:solidFill>
            <a:srgbClr val="000000"/>
          </a:solidFill>
          <a:ln w="12700">
            <a:solidFill>
              <a:srgbClr val="000000"/>
            </a:solidFill>
            <a:prstDash val="solid"/>
          </a:ln>
        </p:spPr>
      </p:sp>
      <p:sp>
        <p:nvSpPr>
          <p:cNvPr id="4" name="Text 2"/>
          <p:cNvSpPr/>
          <p:nvPr/>
        </p:nvSpPr>
        <p:spPr>
          <a:xfrm>
            <a:off x="365760" y="365760"/>
            <a:ext cx="2743200" cy="1828800"/>
          </a:xfrm>
          <a:prstGeom prst="rect">
            <a:avLst/>
          </a:prstGeom>
          <a:noFill/>
          <a:ln/>
        </p:spPr>
        <p:txBody>
          <a:bodyPr wrap="square" rtlCol="0" anchor="ctr"/>
          <a:lstStyle/>
          <a:p>
            <a:pPr indent="0" marL="0">
              <a:buNone/>
            </a:pPr>
            <a:r>
              <a:rPr lang="en-US" sz="9600" b="1" dirty="0">
                <a:solidFill>
                  <a:srgbClr val="FFFFFF">
                    <a:alpha val="40000"/>
                  </a:srgbClr>
                </a:solidFill>
                <a:latin typeface="Atkinson Hyperlegible" pitchFamily="34" charset="0"/>
                <a:ea typeface="Atkinson Hyperlegible" pitchFamily="34" charset="-122"/>
                <a:cs typeface="Atkinson Hyperlegible" pitchFamily="34" charset="-120"/>
              </a:rPr>
              <a:t>011</a:t>
            </a:r>
            <a:endParaRPr lang="en-US" sz="9600" dirty="0"/>
          </a:p>
        </p:txBody>
      </p:sp>
      <p:sp>
        <p:nvSpPr>
          <p:cNvPr id="5" name="Text 3"/>
          <p:cNvSpPr/>
          <p:nvPr/>
        </p:nvSpPr>
        <p:spPr>
          <a:xfrm>
            <a:off x="3474720" y="1645920"/>
            <a:ext cx="5303520" cy="1097280"/>
          </a:xfrm>
          <a:prstGeom prst="rect">
            <a:avLst/>
          </a:prstGeom>
          <a:noFill/>
          <a:ln/>
        </p:spPr>
        <p:txBody>
          <a:bodyPr wrap="square" rtlCol="0" anchor="ctr"/>
          <a:lstStyle/>
          <a:p>
            <a:pPr indent="0" marL="0">
              <a:buNone/>
            </a:pPr>
            <a:r>
              <a:rPr lang="en-US" sz="3200" b="1" dirty="0">
                <a:solidFill>
                  <a:srgbClr val="FFFFFF"/>
                </a:solidFill>
                <a:latin typeface="Atkinson Hyperlegible" pitchFamily="34" charset="0"/>
                <a:ea typeface="Atkinson Hyperlegible" pitchFamily="34" charset="-122"/>
                <a:cs typeface="Atkinson Hyperlegible" pitchFamily="34" charset="-120"/>
              </a:rPr>
              <a:t>Plan de Acción</a:t>
            </a:r>
            <a:endParaRPr lang="en-US" sz="3200" dirty="0"/>
          </a:p>
        </p:txBody>
      </p:sp>
      <p:sp>
        <p:nvSpPr>
          <p:cNvPr id="6" name="Text 4"/>
          <p:cNvSpPr/>
          <p:nvPr/>
        </p:nvSpPr>
        <p:spPr>
          <a:xfrm>
            <a:off x="3474720" y="2834640"/>
            <a:ext cx="5303520" cy="822960"/>
          </a:xfrm>
          <a:prstGeom prst="rect">
            <a:avLst/>
          </a:prstGeom>
          <a:noFill/>
          <a:ln/>
        </p:spPr>
        <p:txBody>
          <a:bodyPr wrap="square" rtlCol="0" anchor="ctr"/>
          <a:lstStyle/>
          <a:p>
            <a:pPr indent="0" marL="0">
              <a:buNone/>
            </a:pPr>
            <a:r>
              <a:rPr lang="en-US" sz="1400" i="1" dirty="0">
                <a:solidFill>
                  <a:srgbClr val="FFFFFF">
                    <a:alpha val="75000"/>
                  </a:srgbClr>
                </a:solidFill>
                <a:latin typeface="Atkinson Hyperlegible" pitchFamily="34" charset="0"/>
                <a:ea typeface="Atkinson Hyperlegible" pitchFamily="34" charset="-122"/>
                <a:cs typeface="Atkinson Hyperlegible" pitchFamily="34" charset="-120"/>
              </a:rPr>
              <a:t>De la teoría a la práctica: implementación en su organización</a:t>
            </a:r>
            <a:endParaRPr lang="en-US" sz="1400" dirty="0"/>
          </a:p>
        </p:txBody>
      </p:sp>
      <p:sp>
        <p:nvSpPr>
          <p:cNvPr id="7" name="Text 5"/>
          <p:cNvSpPr/>
          <p:nvPr/>
        </p:nvSpPr>
        <p:spPr>
          <a:xfrm>
            <a:off x="7772400" y="4846320"/>
            <a:ext cx="1188720" cy="182880"/>
          </a:xfrm>
          <a:prstGeom prst="rect">
            <a:avLst/>
          </a:prstGeom>
          <a:noFill/>
          <a:ln/>
        </p:spPr>
        <p:txBody>
          <a:bodyPr wrap="square" rtlCol="0" anchor="ctr"/>
          <a:lstStyle/>
          <a:p>
            <a:pPr algn="r" indent="0" marL="0">
              <a:buNone/>
            </a:pPr>
            <a:r>
              <a:rPr lang="en-US" sz="800" dirty="0">
                <a:solidFill>
                  <a:srgbClr val="FFFFFF"/>
                </a:solidFill>
                <a:latin typeface="Atkinson Hyperlegible" pitchFamily="34" charset="0"/>
                <a:ea typeface="Atkinson Hyperlegible" pitchFamily="34" charset="-122"/>
                <a:cs typeface="Atkinson Hyperlegible" pitchFamily="34" charset="-120"/>
              </a:rPr>
              <a:t>89 / 126</a:t>
            </a:r>
            <a:endParaRPr lang="en-US" sz="8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4E3"/>
          </a:solidFill>
          <a:ln w="12700">
            <a:solidFill>
              <a:srgbClr val="0A74E3"/>
            </a:solidFill>
            <a:prstDash val="solid"/>
          </a:ln>
        </p:spPr>
      </p:sp>
      <p:sp>
        <p:nvSpPr>
          <p:cNvPr id="3" name="Shape 1"/>
          <p:cNvSpPr/>
          <p:nvPr/>
        </p:nvSpPr>
        <p:spPr>
          <a:xfrm>
            <a:off x="164592" y="4956048"/>
            <a:ext cx="8979408" cy="182880"/>
          </a:xfrm>
          <a:prstGeom prst="rect">
            <a:avLst/>
          </a:prstGeom>
          <a:solidFill>
            <a:srgbClr val="0A74E3"/>
          </a:solidFill>
          <a:ln w="12700">
            <a:solidFill>
              <a:srgbClr val="0A74E3"/>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90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Diagnóstico de Madurez en Constructabilidad</a:t>
            </a:r>
            <a:endParaRPr lang="en-US" sz="1800" dirty="0"/>
          </a:p>
        </p:txBody>
      </p:sp>
      <p:sp>
        <p:nvSpPr>
          <p:cNvPr id="6" name="Shape 4"/>
          <p:cNvSpPr/>
          <p:nvPr/>
        </p:nvSpPr>
        <p:spPr>
          <a:xfrm>
            <a:off x="320040" y="621792"/>
            <a:ext cx="8503920" cy="41148"/>
          </a:xfrm>
          <a:prstGeom prst="rect">
            <a:avLst/>
          </a:prstGeom>
          <a:solidFill>
            <a:srgbClr val="0A74E3"/>
          </a:solidFill>
          <a:ln w="12700">
            <a:solidFill>
              <a:srgbClr val="0A74E3"/>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A74E3"/>
                </a:solidFill>
                <a:latin typeface="Atkinson Hyperlegible" pitchFamily="34" charset="0"/>
                <a:ea typeface="Atkinson Hyperlegible" pitchFamily="34" charset="-122"/>
                <a:cs typeface="Atkinson Hyperlegible" pitchFamily="34" charset="-120"/>
              </a:rPr>
              <a:t>Autoevaluación de capacidades organizacionales — ¿Dónde estamos hoy?</a:t>
            </a:r>
            <a:endParaRPr lang="en-US" sz="900" dirty="0"/>
          </a:p>
        </p:txBody>
      </p:sp>
      <p:sp>
        <p:nvSpPr>
          <p:cNvPr id="8" name="Shape 6"/>
          <p:cNvSpPr/>
          <p:nvPr/>
        </p:nvSpPr>
        <p:spPr>
          <a:xfrm>
            <a:off x="320040" y="960120"/>
            <a:ext cx="8503920" cy="292608"/>
          </a:xfrm>
          <a:prstGeom prst="rect">
            <a:avLst>
              <a:gd name="adj" fmla="val 12500"/>
            </a:avLst>
          </a:prstGeom>
          <a:solidFill>
            <a:srgbClr val="0A74E3"/>
          </a:solidFill>
          <a:ln w="12700">
            <a:solidFill>
              <a:srgbClr val="0A74E3"/>
            </a:solidFill>
            <a:prstDash val="solid"/>
          </a:ln>
        </p:spPr>
      </p:sp>
      <p:sp>
        <p:nvSpPr>
          <p:cNvPr id="9" name="Text 7"/>
          <p:cNvSpPr/>
          <p:nvPr/>
        </p:nvSpPr>
        <p:spPr>
          <a:xfrm>
            <a:off x="411480" y="960120"/>
            <a:ext cx="2286000" cy="292608"/>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Dimensión</a:t>
            </a:r>
            <a:endParaRPr lang="en-US" sz="800" dirty="0"/>
          </a:p>
        </p:txBody>
      </p:sp>
      <p:sp>
        <p:nvSpPr>
          <p:cNvPr id="10" name="Text 8"/>
          <p:cNvSpPr/>
          <p:nvPr/>
        </p:nvSpPr>
        <p:spPr>
          <a:xfrm>
            <a:off x="2834640" y="960120"/>
            <a:ext cx="1371600" cy="292608"/>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Inicial (1)</a:t>
            </a:r>
            <a:endParaRPr lang="en-US" sz="750" dirty="0"/>
          </a:p>
        </p:txBody>
      </p:sp>
      <p:sp>
        <p:nvSpPr>
          <p:cNvPr id="11" name="Text 9"/>
          <p:cNvSpPr/>
          <p:nvPr/>
        </p:nvSpPr>
        <p:spPr>
          <a:xfrm>
            <a:off x="4251960" y="960120"/>
            <a:ext cx="1371600" cy="292608"/>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Gestionado (2)</a:t>
            </a:r>
            <a:endParaRPr lang="en-US" sz="750" dirty="0"/>
          </a:p>
        </p:txBody>
      </p:sp>
      <p:sp>
        <p:nvSpPr>
          <p:cNvPr id="12" name="Text 10"/>
          <p:cNvSpPr/>
          <p:nvPr/>
        </p:nvSpPr>
        <p:spPr>
          <a:xfrm>
            <a:off x="5669280" y="960120"/>
            <a:ext cx="1371600" cy="292608"/>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Definido (3)</a:t>
            </a:r>
            <a:endParaRPr lang="en-US" sz="750" dirty="0"/>
          </a:p>
        </p:txBody>
      </p:sp>
      <p:sp>
        <p:nvSpPr>
          <p:cNvPr id="13" name="Text 11"/>
          <p:cNvSpPr/>
          <p:nvPr/>
        </p:nvSpPr>
        <p:spPr>
          <a:xfrm>
            <a:off x="7086600" y="960120"/>
            <a:ext cx="1371600" cy="292608"/>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Optimizado (4)</a:t>
            </a:r>
            <a:endParaRPr lang="en-US" sz="750" dirty="0"/>
          </a:p>
        </p:txBody>
      </p:sp>
      <p:sp>
        <p:nvSpPr>
          <p:cNvPr id="14" name="Shape 12"/>
          <p:cNvSpPr/>
          <p:nvPr/>
        </p:nvSpPr>
        <p:spPr>
          <a:xfrm>
            <a:off x="320040" y="1298448"/>
            <a:ext cx="8503920" cy="694944"/>
          </a:xfrm>
          <a:prstGeom prst="rect">
            <a:avLst/>
          </a:prstGeom>
          <a:solidFill>
            <a:srgbClr val="FFFFFF"/>
          </a:solidFill>
          <a:ln w="6350">
            <a:solidFill>
              <a:srgbClr val="E5E5EA"/>
            </a:solidFill>
            <a:prstDash val="solid"/>
          </a:ln>
        </p:spPr>
      </p:sp>
      <p:sp>
        <p:nvSpPr>
          <p:cNvPr id="15" name="Text 13"/>
          <p:cNvSpPr/>
          <p:nvPr/>
        </p:nvSpPr>
        <p:spPr>
          <a:xfrm>
            <a:off x="411480" y="1316736"/>
            <a:ext cx="2286000" cy="329184"/>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Liderazgo y Compromiso</a:t>
            </a:r>
            <a:endParaRPr lang="en-US" sz="850" dirty="0"/>
          </a:p>
        </p:txBody>
      </p:sp>
      <p:sp>
        <p:nvSpPr>
          <p:cNvPr id="16" name="Text 14"/>
          <p:cNvSpPr/>
          <p:nvPr/>
        </p:nvSpPr>
        <p:spPr>
          <a:xfrm>
            <a:off x="411480" y="1664208"/>
            <a:ext cx="2286000" cy="256032"/>
          </a:xfrm>
          <a:prstGeom prst="rect">
            <a:avLst/>
          </a:prstGeom>
          <a:noFill/>
          <a:ln/>
        </p:spPr>
        <p:txBody>
          <a:bodyPr wrap="square" rtlCol="0" anchor="ctr"/>
          <a:lstStyle/>
          <a:p>
            <a:pPr indent="0" marL="0">
              <a:buNone/>
            </a:pPr>
            <a:r>
              <a:rPr lang="en-US" sz="650" dirty="0">
                <a:solidFill>
                  <a:srgbClr val="666666"/>
                </a:solidFill>
                <a:latin typeface="Atkinson Hyperlegible" pitchFamily="34" charset="0"/>
                <a:ea typeface="Atkinson Hyperlegible" pitchFamily="34" charset="-122"/>
                <a:cs typeface="Atkinson Hyperlegible" pitchFamily="34" charset="-120"/>
              </a:rPr>
              <a:t>•Patrocinador ejecutivo asignado</a:t>
            </a:r>
            <a:endParaRPr lang="en-US" sz="650" dirty="0"/>
          </a:p>
        </p:txBody>
      </p:sp>
      <p:sp>
        <p:nvSpPr>
          <p:cNvPr id="17" name="Text 15"/>
          <p:cNvSpPr/>
          <p:nvPr/>
        </p:nvSpPr>
        <p:spPr>
          <a:xfrm>
            <a:off x="411480" y="1664208"/>
            <a:ext cx="2286000" cy="256032"/>
          </a:xfrm>
          <a:prstGeom prst="rect">
            <a:avLst/>
          </a:prstGeom>
          <a:noFill/>
          <a:ln/>
        </p:spPr>
        <p:txBody>
          <a:bodyPr wrap="square" rtlCol="0" anchor="ctr"/>
          <a:lstStyle/>
          <a:p>
            <a:pPr indent="0" marL="0">
              <a:buNone/>
            </a:pPr>
            <a:r>
              <a:rPr lang="en-US" sz="650" dirty="0">
                <a:solidFill>
                  <a:srgbClr val="666666"/>
                </a:solidFill>
                <a:latin typeface="Atkinson Hyperlegible" pitchFamily="34" charset="0"/>
                <a:ea typeface="Atkinson Hyperlegible" pitchFamily="34" charset="-122"/>
                <a:cs typeface="Atkinson Hyperlegible" pitchFamily="34" charset="-120"/>
              </a:rPr>
              <a:t>•Política de constructabilidad escrita</a:t>
            </a:r>
            <a:endParaRPr lang="en-US" sz="650" dirty="0"/>
          </a:p>
        </p:txBody>
      </p:sp>
      <p:sp>
        <p:nvSpPr>
          <p:cNvPr id="18" name="Text 16"/>
          <p:cNvSpPr/>
          <p:nvPr/>
        </p:nvSpPr>
        <p:spPr>
          <a:xfrm>
            <a:off x="411480" y="1664208"/>
            <a:ext cx="2286000" cy="256032"/>
          </a:xfrm>
          <a:prstGeom prst="rect">
            <a:avLst/>
          </a:prstGeom>
          <a:noFill/>
          <a:ln/>
        </p:spPr>
        <p:txBody>
          <a:bodyPr wrap="square" rtlCol="0" anchor="ctr"/>
          <a:lstStyle/>
          <a:p>
            <a:pPr indent="0" marL="0">
              <a:buNone/>
            </a:pPr>
            <a:r>
              <a:rPr lang="en-US" sz="650" dirty="0">
                <a:solidFill>
                  <a:srgbClr val="666666"/>
                </a:solidFill>
                <a:latin typeface="Atkinson Hyperlegible" pitchFamily="34" charset="0"/>
                <a:ea typeface="Atkinson Hyperlegible" pitchFamily="34" charset="-122"/>
                <a:cs typeface="Atkinson Hyperlegible" pitchFamily="34" charset="-120"/>
              </a:rPr>
              <a:t>•Recursos dedicados (FTE)</a:t>
            </a:r>
            <a:endParaRPr lang="en-US" sz="650" dirty="0"/>
          </a:p>
        </p:txBody>
      </p:sp>
      <p:sp>
        <p:nvSpPr>
          <p:cNvPr id="19" name="Shape 17"/>
          <p:cNvSpPr/>
          <p:nvPr/>
        </p:nvSpPr>
        <p:spPr>
          <a:xfrm>
            <a:off x="3108960" y="1335024"/>
            <a:ext cx="365760" cy="329184"/>
          </a:xfrm>
          <a:prstGeom prst="ellipse">
            <a:avLst/>
          </a:prstGeom>
          <a:solidFill>
            <a:srgbClr val="E5E5EA"/>
          </a:solidFill>
          <a:ln w="10160">
            <a:solidFill>
              <a:srgbClr val="AAAAAA"/>
            </a:solidFill>
            <a:prstDash val="solid"/>
          </a:ln>
        </p:spPr>
      </p:sp>
      <p:sp>
        <p:nvSpPr>
          <p:cNvPr id="20" name="Shape 18"/>
          <p:cNvSpPr/>
          <p:nvPr/>
        </p:nvSpPr>
        <p:spPr>
          <a:xfrm>
            <a:off x="4526280" y="1335024"/>
            <a:ext cx="365760" cy="329184"/>
          </a:xfrm>
          <a:prstGeom prst="ellipse">
            <a:avLst/>
          </a:prstGeom>
          <a:solidFill>
            <a:srgbClr val="E5E5EA"/>
          </a:solidFill>
          <a:ln w="10160">
            <a:solidFill>
              <a:srgbClr val="AAAAAA"/>
            </a:solidFill>
            <a:prstDash val="solid"/>
          </a:ln>
        </p:spPr>
      </p:sp>
      <p:sp>
        <p:nvSpPr>
          <p:cNvPr id="21" name="Shape 19"/>
          <p:cNvSpPr/>
          <p:nvPr/>
        </p:nvSpPr>
        <p:spPr>
          <a:xfrm>
            <a:off x="5943600" y="1335024"/>
            <a:ext cx="365760" cy="329184"/>
          </a:xfrm>
          <a:prstGeom prst="ellipse">
            <a:avLst/>
          </a:prstGeom>
          <a:solidFill>
            <a:srgbClr val="E5E5EA"/>
          </a:solidFill>
          <a:ln w="10160">
            <a:solidFill>
              <a:srgbClr val="AAAAAA"/>
            </a:solidFill>
            <a:prstDash val="solid"/>
          </a:ln>
        </p:spPr>
      </p:sp>
      <p:sp>
        <p:nvSpPr>
          <p:cNvPr id="22" name="Shape 20"/>
          <p:cNvSpPr/>
          <p:nvPr/>
        </p:nvSpPr>
        <p:spPr>
          <a:xfrm>
            <a:off x="7360920" y="1335024"/>
            <a:ext cx="365760" cy="329184"/>
          </a:xfrm>
          <a:prstGeom prst="ellipse">
            <a:avLst/>
          </a:prstGeom>
          <a:solidFill>
            <a:srgbClr val="E5E5EA"/>
          </a:solidFill>
          <a:ln w="10160">
            <a:solidFill>
              <a:srgbClr val="AAAAAA"/>
            </a:solidFill>
            <a:prstDash val="solid"/>
          </a:ln>
        </p:spPr>
      </p:sp>
      <p:sp>
        <p:nvSpPr>
          <p:cNvPr id="23" name="Shape 21"/>
          <p:cNvSpPr/>
          <p:nvPr/>
        </p:nvSpPr>
        <p:spPr>
          <a:xfrm>
            <a:off x="320040" y="2048256"/>
            <a:ext cx="8503920" cy="694944"/>
          </a:xfrm>
          <a:prstGeom prst="rect">
            <a:avLst/>
          </a:prstGeom>
          <a:solidFill>
            <a:srgbClr val="F8F8FA"/>
          </a:solidFill>
          <a:ln w="6350">
            <a:solidFill>
              <a:srgbClr val="E5E5EA"/>
            </a:solidFill>
            <a:prstDash val="solid"/>
          </a:ln>
        </p:spPr>
      </p:sp>
      <p:sp>
        <p:nvSpPr>
          <p:cNvPr id="24" name="Text 22"/>
          <p:cNvSpPr/>
          <p:nvPr/>
        </p:nvSpPr>
        <p:spPr>
          <a:xfrm>
            <a:off x="411480" y="2066544"/>
            <a:ext cx="2286000" cy="329184"/>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Proceso y Metodología</a:t>
            </a:r>
            <a:endParaRPr lang="en-US" sz="850" dirty="0"/>
          </a:p>
        </p:txBody>
      </p:sp>
      <p:sp>
        <p:nvSpPr>
          <p:cNvPr id="25" name="Text 23"/>
          <p:cNvSpPr/>
          <p:nvPr/>
        </p:nvSpPr>
        <p:spPr>
          <a:xfrm>
            <a:off x="411480" y="2414016"/>
            <a:ext cx="2286000" cy="256032"/>
          </a:xfrm>
          <a:prstGeom prst="rect">
            <a:avLst/>
          </a:prstGeom>
          <a:noFill/>
          <a:ln/>
        </p:spPr>
        <p:txBody>
          <a:bodyPr wrap="square" rtlCol="0" anchor="ctr"/>
          <a:lstStyle/>
          <a:p>
            <a:pPr indent="0" marL="0">
              <a:buNone/>
            </a:pPr>
            <a:r>
              <a:rPr lang="en-US" sz="650" dirty="0">
                <a:solidFill>
                  <a:srgbClr val="666666"/>
                </a:solidFill>
                <a:latin typeface="Atkinson Hyperlegible" pitchFamily="34" charset="0"/>
                <a:ea typeface="Atkinson Hyperlegible" pitchFamily="34" charset="-122"/>
                <a:cs typeface="Atkinson Hyperlegible" pitchFamily="34" charset="-120"/>
              </a:rPr>
              <a:t>•AWP implementado o en plan</a:t>
            </a:r>
            <a:endParaRPr lang="en-US" sz="650" dirty="0"/>
          </a:p>
        </p:txBody>
      </p:sp>
      <p:sp>
        <p:nvSpPr>
          <p:cNvPr id="26" name="Text 24"/>
          <p:cNvSpPr/>
          <p:nvPr/>
        </p:nvSpPr>
        <p:spPr>
          <a:xfrm>
            <a:off x="411480" y="2414016"/>
            <a:ext cx="2286000" cy="256032"/>
          </a:xfrm>
          <a:prstGeom prst="rect">
            <a:avLst/>
          </a:prstGeom>
          <a:noFill/>
          <a:ln/>
        </p:spPr>
        <p:txBody>
          <a:bodyPr wrap="square" rtlCol="0" anchor="ctr"/>
          <a:lstStyle/>
          <a:p>
            <a:pPr indent="0" marL="0">
              <a:buNone/>
            </a:pPr>
            <a:r>
              <a:rPr lang="en-US" sz="650" dirty="0">
                <a:solidFill>
                  <a:srgbClr val="666666"/>
                </a:solidFill>
                <a:latin typeface="Atkinson Hyperlegible" pitchFamily="34" charset="0"/>
                <a:ea typeface="Atkinson Hyperlegible" pitchFamily="34" charset="-122"/>
                <a:cs typeface="Atkinson Hyperlegible" pitchFamily="34" charset="-120"/>
              </a:rPr>
              <a:t>•CWPs definidos en todos los proyectos</a:t>
            </a:r>
            <a:endParaRPr lang="en-US" sz="650" dirty="0"/>
          </a:p>
        </p:txBody>
      </p:sp>
      <p:sp>
        <p:nvSpPr>
          <p:cNvPr id="27" name="Text 25"/>
          <p:cNvSpPr/>
          <p:nvPr/>
        </p:nvSpPr>
        <p:spPr>
          <a:xfrm>
            <a:off x="411480" y="2414016"/>
            <a:ext cx="2286000" cy="256032"/>
          </a:xfrm>
          <a:prstGeom prst="rect">
            <a:avLst/>
          </a:prstGeom>
          <a:noFill/>
          <a:ln/>
        </p:spPr>
        <p:txBody>
          <a:bodyPr wrap="square" rtlCol="0" anchor="ctr"/>
          <a:lstStyle/>
          <a:p>
            <a:pPr indent="0" marL="0">
              <a:buNone/>
            </a:pPr>
            <a:r>
              <a:rPr lang="en-US" sz="650" dirty="0">
                <a:solidFill>
                  <a:srgbClr val="666666"/>
                </a:solidFill>
                <a:latin typeface="Atkinson Hyperlegible" pitchFamily="34" charset="0"/>
                <a:ea typeface="Atkinson Hyperlegible" pitchFamily="34" charset="-122"/>
                <a:cs typeface="Atkinson Hyperlegible" pitchFamily="34" charset="-120"/>
              </a:rPr>
              <a:t>•EDS coordinado con POC</a:t>
            </a:r>
            <a:endParaRPr lang="en-US" sz="650" dirty="0"/>
          </a:p>
        </p:txBody>
      </p:sp>
      <p:sp>
        <p:nvSpPr>
          <p:cNvPr id="28" name="Shape 26"/>
          <p:cNvSpPr/>
          <p:nvPr/>
        </p:nvSpPr>
        <p:spPr>
          <a:xfrm>
            <a:off x="3108960" y="2084832"/>
            <a:ext cx="365760" cy="329184"/>
          </a:xfrm>
          <a:prstGeom prst="ellipse">
            <a:avLst/>
          </a:prstGeom>
          <a:solidFill>
            <a:srgbClr val="E5E5EA"/>
          </a:solidFill>
          <a:ln w="10160">
            <a:solidFill>
              <a:srgbClr val="AAAAAA"/>
            </a:solidFill>
            <a:prstDash val="solid"/>
          </a:ln>
        </p:spPr>
      </p:sp>
      <p:sp>
        <p:nvSpPr>
          <p:cNvPr id="29" name="Shape 27"/>
          <p:cNvSpPr/>
          <p:nvPr/>
        </p:nvSpPr>
        <p:spPr>
          <a:xfrm>
            <a:off x="4526280" y="2084832"/>
            <a:ext cx="365760" cy="329184"/>
          </a:xfrm>
          <a:prstGeom prst="ellipse">
            <a:avLst/>
          </a:prstGeom>
          <a:solidFill>
            <a:srgbClr val="E5E5EA"/>
          </a:solidFill>
          <a:ln w="10160">
            <a:solidFill>
              <a:srgbClr val="AAAAAA"/>
            </a:solidFill>
            <a:prstDash val="solid"/>
          </a:ln>
        </p:spPr>
      </p:sp>
      <p:sp>
        <p:nvSpPr>
          <p:cNvPr id="30" name="Shape 28"/>
          <p:cNvSpPr/>
          <p:nvPr/>
        </p:nvSpPr>
        <p:spPr>
          <a:xfrm>
            <a:off x="5943600" y="2084832"/>
            <a:ext cx="365760" cy="329184"/>
          </a:xfrm>
          <a:prstGeom prst="ellipse">
            <a:avLst/>
          </a:prstGeom>
          <a:solidFill>
            <a:srgbClr val="E5E5EA"/>
          </a:solidFill>
          <a:ln w="10160">
            <a:solidFill>
              <a:srgbClr val="AAAAAA"/>
            </a:solidFill>
            <a:prstDash val="solid"/>
          </a:ln>
        </p:spPr>
      </p:sp>
      <p:sp>
        <p:nvSpPr>
          <p:cNvPr id="31" name="Shape 29"/>
          <p:cNvSpPr/>
          <p:nvPr/>
        </p:nvSpPr>
        <p:spPr>
          <a:xfrm>
            <a:off x="7360920" y="2084832"/>
            <a:ext cx="365760" cy="329184"/>
          </a:xfrm>
          <a:prstGeom prst="ellipse">
            <a:avLst/>
          </a:prstGeom>
          <a:solidFill>
            <a:srgbClr val="E5E5EA"/>
          </a:solidFill>
          <a:ln w="10160">
            <a:solidFill>
              <a:srgbClr val="AAAAAA"/>
            </a:solidFill>
            <a:prstDash val="solid"/>
          </a:ln>
        </p:spPr>
      </p:sp>
      <p:sp>
        <p:nvSpPr>
          <p:cNvPr id="32" name="Shape 30"/>
          <p:cNvSpPr/>
          <p:nvPr/>
        </p:nvSpPr>
        <p:spPr>
          <a:xfrm>
            <a:off x="320040" y="2798064"/>
            <a:ext cx="8503920" cy="694944"/>
          </a:xfrm>
          <a:prstGeom prst="rect">
            <a:avLst/>
          </a:prstGeom>
          <a:solidFill>
            <a:srgbClr val="FFFFFF"/>
          </a:solidFill>
          <a:ln w="6350">
            <a:solidFill>
              <a:srgbClr val="E5E5EA"/>
            </a:solidFill>
            <a:prstDash val="solid"/>
          </a:ln>
        </p:spPr>
      </p:sp>
      <p:sp>
        <p:nvSpPr>
          <p:cNvPr id="33" name="Text 31"/>
          <p:cNvSpPr/>
          <p:nvPr/>
        </p:nvSpPr>
        <p:spPr>
          <a:xfrm>
            <a:off x="411480" y="2816352"/>
            <a:ext cx="2286000" cy="329184"/>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Competencias</a:t>
            </a:r>
            <a:endParaRPr lang="en-US" sz="850" dirty="0"/>
          </a:p>
        </p:txBody>
      </p:sp>
      <p:sp>
        <p:nvSpPr>
          <p:cNvPr id="34" name="Text 32"/>
          <p:cNvSpPr/>
          <p:nvPr/>
        </p:nvSpPr>
        <p:spPr>
          <a:xfrm>
            <a:off x="411480" y="3163824"/>
            <a:ext cx="2286000" cy="256032"/>
          </a:xfrm>
          <a:prstGeom prst="rect">
            <a:avLst/>
          </a:prstGeom>
          <a:noFill/>
          <a:ln/>
        </p:spPr>
        <p:txBody>
          <a:bodyPr wrap="square" rtlCol="0" anchor="ctr"/>
          <a:lstStyle/>
          <a:p>
            <a:pPr indent="0" marL="0">
              <a:buNone/>
            </a:pPr>
            <a:r>
              <a:rPr lang="en-US" sz="650" dirty="0">
                <a:solidFill>
                  <a:srgbClr val="666666"/>
                </a:solidFill>
                <a:latin typeface="Atkinson Hyperlegible" pitchFamily="34" charset="0"/>
                <a:ea typeface="Atkinson Hyperlegible" pitchFamily="34" charset="-122"/>
                <a:cs typeface="Atkinson Hyperlegible" pitchFamily="34" charset="-120"/>
              </a:rPr>
              <a:t>•Personal certificado AWP/CII</a:t>
            </a:r>
            <a:endParaRPr lang="en-US" sz="650" dirty="0"/>
          </a:p>
        </p:txBody>
      </p:sp>
      <p:sp>
        <p:nvSpPr>
          <p:cNvPr id="35" name="Text 33"/>
          <p:cNvSpPr/>
          <p:nvPr/>
        </p:nvSpPr>
        <p:spPr>
          <a:xfrm>
            <a:off x="411480" y="3163824"/>
            <a:ext cx="2286000" cy="256032"/>
          </a:xfrm>
          <a:prstGeom prst="rect">
            <a:avLst/>
          </a:prstGeom>
          <a:noFill/>
          <a:ln/>
        </p:spPr>
        <p:txBody>
          <a:bodyPr wrap="square" rtlCol="0" anchor="ctr"/>
          <a:lstStyle/>
          <a:p>
            <a:pPr indent="0" marL="0">
              <a:buNone/>
            </a:pPr>
            <a:r>
              <a:rPr lang="en-US" sz="650" dirty="0">
                <a:solidFill>
                  <a:srgbClr val="666666"/>
                </a:solidFill>
                <a:latin typeface="Atkinson Hyperlegible" pitchFamily="34" charset="0"/>
                <a:ea typeface="Atkinson Hyperlegible" pitchFamily="34" charset="-122"/>
                <a:cs typeface="Atkinson Hyperlegible" pitchFamily="34" charset="-120"/>
              </a:rPr>
              <a:t>•Programa de capacitación activo</a:t>
            </a:r>
            <a:endParaRPr lang="en-US" sz="650" dirty="0"/>
          </a:p>
        </p:txBody>
      </p:sp>
      <p:sp>
        <p:nvSpPr>
          <p:cNvPr id="36" name="Text 34"/>
          <p:cNvSpPr/>
          <p:nvPr/>
        </p:nvSpPr>
        <p:spPr>
          <a:xfrm>
            <a:off x="411480" y="3163824"/>
            <a:ext cx="2286000" cy="256032"/>
          </a:xfrm>
          <a:prstGeom prst="rect">
            <a:avLst/>
          </a:prstGeom>
          <a:noFill/>
          <a:ln/>
        </p:spPr>
        <p:txBody>
          <a:bodyPr wrap="square" rtlCol="0" anchor="ctr"/>
          <a:lstStyle/>
          <a:p>
            <a:pPr indent="0" marL="0">
              <a:buNone/>
            </a:pPr>
            <a:r>
              <a:rPr lang="en-US" sz="650" dirty="0">
                <a:solidFill>
                  <a:srgbClr val="666666"/>
                </a:solidFill>
                <a:latin typeface="Atkinson Hyperlegible" pitchFamily="34" charset="0"/>
                <a:ea typeface="Atkinson Hyperlegible" pitchFamily="34" charset="-122"/>
                <a:cs typeface="Atkinson Hyperlegible" pitchFamily="34" charset="-120"/>
              </a:rPr>
              <a:t>•Comunidad de práctica interna</a:t>
            </a:r>
            <a:endParaRPr lang="en-US" sz="650" dirty="0"/>
          </a:p>
        </p:txBody>
      </p:sp>
      <p:sp>
        <p:nvSpPr>
          <p:cNvPr id="37" name="Shape 35"/>
          <p:cNvSpPr/>
          <p:nvPr/>
        </p:nvSpPr>
        <p:spPr>
          <a:xfrm>
            <a:off x="3108960" y="2834640"/>
            <a:ext cx="365760" cy="329184"/>
          </a:xfrm>
          <a:prstGeom prst="ellipse">
            <a:avLst/>
          </a:prstGeom>
          <a:solidFill>
            <a:srgbClr val="E5E5EA"/>
          </a:solidFill>
          <a:ln w="10160">
            <a:solidFill>
              <a:srgbClr val="AAAAAA"/>
            </a:solidFill>
            <a:prstDash val="solid"/>
          </a:ln>
        </p:spPr>
      </p:sp>
      <p:sp>
        <p:nvSpPr>
          <p:cNvPr id="38" name="Shape 36"/>
          <p:cNvSpPr/>
          <p:nvPr/>
        </p:nvSpPr>
        <p:spPr>
          <a:xfrm>
            <a:off x="4526280" y="2834640"/>
            <a:ext cx="365760" cy="329184"/>
          </a:xfrm>
          <a:prstGeom prst="ellipse">
            <a:avLst/>
          </a:prstGeom>
          <a:solidFill>
            <a:srgbClr val="E5E5EA"/>
          </a:solidFill>
          <a:ln w="10160">
            <a:solidFill>
              <a:srgbClr val="AAAAAA"/>
            </a:solidFill>
            <a:prstDash val="solid"/>
          </a:ln>
        </p:spPr>
      </p:sp>
      <p:sp>
        <p:nvSpPr>
          <p:cNvPr id="39" name="Shape 37"/>
          <p:cNvSpPr/>
          <p:nvPr/>
        </p:nvSpPr>
        <p:spPr>
          <a:xfrm>
            <a:off x="5943600" y="2834640"/>
            <a:ext cx="365760" cy="329184"/>
          </a:xfrm>
          <a:prstGeom prst="ellipse">
            <a:avLst/>
          </a:prstGeom>
          <a:solidFill>
            <a:srgbClr val="E5E5EA"/>
          </a:solidFill>
          <a:ln w="10160">
            <a:solidFill>
              <a:srgbClr val="AAAAAA"/>
            </a:solidFill>
            <a:prstDash val="solid"/>
          </a:ln>
        </p:spPr>
      </p:sp>
      <p:sp>
        <p:nvSpPr>
          <p:cNvPr id="40" name="Shape 38"/>
          <p:cNvSpPr/>
          <p:nvPr/>
        </p:nvSpPr>
        <p:spPr>
          <a:xfrm>
            <a:off x="7360920" y="2834640"/>
            <a:ext cx="365760" cy="329184"/>
          </a:xfrm>
          <a:prstGeom prst="ellipse">
            <a:avLst/>
          </a:prstGeom>
          <a:solidFill>
            <a:srgbClr val="E5E5EA"/>
          </a:solidFill>
          <a:ln w="10160">
            <a:solidFill>
              <a:srgbClr val="AAAAAA"/>
            </a:solidFill>
            <a:prstDash val="solid"/>
          </a:ln>
        </p:spPr>
      </p:sp>
      <p:sp>
        <p:nvSpPr>
          <p:cNvPr id="41" name="Shape 39"/>
          <p:cNvSpPr/>
          <p:nvPr/>
        </p:nvSpPr>
        <p:spPr>
          <a:xfrm>
            <a:off x="320040" y="3547872"/>
            <a:ext cx="8503920" cy="694944"/>
          </a:xfrm>
          <a:prstGeom prst="rect">
            <a:avLst/>
          </a:prstGeom>
          <a:solidFill>
            <a:srgbClr val="F8F8FA"/>
          </a:solidFill>
          <a:ln w="6350">
            <a:solidFill>
              <a:srgbClr val="E5E5EA"/>
            </a:solidFill>
            <a:prstDash val="solid"/>
          </a:ln>
        </p:spPr>
      </p:sp>
      <p:sp>
        <p:nvSpPr>
          <p:cNvPr id="42" name="Text 40"/>
          <p:cNvSpPr/>
          <p:nvPr/>
        </p:nvSpPr>
        <p:spPr>
          <a:xfrm>
            <a:off x="411480" y="3566160"/>
            <a:ext cx="2286000" cy="329184"/>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Herramientas y Tecnología</a:t>
            </a:r>
            <a:endParaRPr lang="en-US" sz="850" dirty="0"/>
          </a:p>
        </p:txBody>
      </p:sp>
      <p:sp>
        <p:nvSpPr>
          <p:cNvPr id="43" name="Text 41"/>
          <p:cNvSpPr/>
          <p:nvPr/>
        </p:nvSpPr>
        <p:spPr>
          <a:xfrm>
            <a:off x="411480" y="3913632"/>
            <a:ext cx="2286000" cy="256032"/>
          </a:xfrm>
          <a:prstGeom prst="rect">
            <a:avLst/>
          </a:prstGeom>
          <a:noFill/>
          <a:ln/>
        </p:spPr>
        <p:txBody>
          <a:bodyPr wrap="square" rtlCol="0" anchor="ctr"/>
          <a:lstStyle/>
          <a:p>
            <a:pPr indent="0" marL="0">
              <a:buNone/>
            </a:pPr>
            <a:r>
              <a:rPr lang="en-US" sz="650" dirty="0">
                <a:solidFill>
                  <a:srgbClr val="666666"/>
                </a:solidFill>
                <a:latin typeface="Atkinson Hyperlegible" pitchFamily="34" charset="0"/>
                <a:ea typeface="Atkinson Hyperlegible" pitchFamily="34" charset="-122"/>
                <a:cs typeface="Atkinson Hyperlegible" pitchFamily="34" charset="-120"/>
              </a:rPr>
              <a:t>•BIM implementado &gt;60% proyectos</a:t>
            </a:r>
            <a:endParaRPr lang="en-US" sz="650" dirty="0"/>
          </a:p>
        </p:txBody>
      </p:sp>
      <p:sp>
        <p:nvSpPr>
          <p:cNvPr id="44" name="Text 42"/>
          <p:cNvSpPr/>
          <p:nvPr/>
        </p:nvSpPr>
        <p:spPr>
          <a:xfrm>
            <a:off x="411480" y="3913632"/>
            <a:ext cx="2286000" cy="256032"/>
          </a:xfrm>
          <a:prstGeom prst="rect">
            <a:avLst/>
          </a:prstGeom>
          <a:noFill/>
          <a:ln/>
        </p:spPr>
        <p:txBody>
          <a:bodyPr wrap="square" rtlCol="0" anchor="ctr"/>
          <a:lstStyle/>
          <a:p>
            <a:pPr indent="0" marL="0">
              <a:buNone/>
            </a:pPr>
            <a:r>
              <a:rPr lang="en-US" sz="650" dirty="0">
                <a:solidFill>
                  <a:srgbClr val="666666"/>
                </a:solidFill>
                <a:latin typeface="Atkinson Hyperlegible" pitchFamily="34" charset="0"/>
                <a:ea typeface="Atkinson Hyperlegible" pitchFamily="34" charset="-122"/>
                <a:cs typeface="Atkinson Hyperlegible" pitchFamily="34" charset="-120"/>
              </a:rPr>
              <a:t>•Plataforma AWP dedicada</a:t>
            </a:r>
            <a:endParaRPr lang="en-US" sz="650" dirty="0"/>
          </a:p>
        </p:txBody>
      </p:sp>
      <p:sp>
        <p:nvSpPr>
          <p:cNvPr id="45" name="Text 43"/>
          <p:cNvSpPr/>
          <p:nvPr/>
        </p:nvSpPr>
        <p:spPr>
          <a:xfrm>
            <a:off x="411480" y="3913632"/>
            <a:ext cx="2286000" cy="256032"/>
          </a:xfrm>
          <a:prstGeom prst="rect">
            <a:avLst/>
          </a:prstGeom>
          <a:noFill/>
          <a:ln/>
        </p:spPr>
        <p:txBody>
          <a:bodyPr wrap="square" rtlCol="0" anchor="ctr"/>
          <a:lstStyle/>
          <a:p>
            <a:pPr indent="0" marL="0">
              <a:buNone/>
            </a:pPr>
            <a:r>
              <a:rPr lang="en-US" sz="650" dirty="0">
                <a:solidFill>
                  <a:srgbClr val="666666"/>
                </a:solidFill>
                <a:latin typeface="Atkinson Hyperlegible" pitchFamily="34" charset="0"/>
                <a:ea typeface="Atkinson Hyperlegible" pitchFamily="34" charset="-122"/>
                <a:cs typeface="Atkinson Hyperlegible" pitchFamily="34" charset="-120"/>
              </a:rPr>
              <a:t>•Dashboards de KPIs en tiempo real</a:t>
            </a:r>
            <a:endParaRPr lang="en-US" sz="650" dirty="0"/>
          </a:p>
        </p:txBody>
      </p:sp>
      <p:sp>
        <p:nvSpPr>
          <p:cNvPr id="46" name="Shape 44"/>
          <p:cNvSpPr/>
          <p:nvPr/>
        </p:nvSpPr>
        <p:spPr>
          <a:xfrm>
            <a:off x="3108960" y="3584448"/>
            <a:ext cx="365760" cy="329184"/>
          </a:xfrm>
          <a:prstGeom prst="ellipse">
            <a:avLst/>
          </a:prstGeom>
          <a:solidFill>
            <a:srgbClr val="E5E5EA"/>
          </a:solidFill>
          <a:ln w="10160">
            <a:solidFill>
              <a:srgbClr val="AAAAAA"/>
            </a:solidFill>
            <a:prstDash val="solid"/>
          </a:ln>
        </p:spPr>
      </p:sp>
      <p:sp>
        <p:nvSpPr>
          <p:cNvPr id="47" name="Shape 45"/>
          <p:cNvSpPr/>
          <p:nvPr/>
        </p:nvSpPr>
        <p:spPr>
          <a:xfrm>
            <a:off x="4526280" y="3584448"/>
            <a:ext cx="365760" cy="329184"/>
          </a:xfrm>
          <a:prstGeom prst="ellipse">
            <a:avLst/>
          </a:prstGeom>
          <a:solidFill>
            <a:srgbClr val="E5E5EA"/>
          </a:solidFill>
          <a:ln w="10160">
            <a:solidFill>
              <a:srgbClr val="AAAAAA"/>
            </a:solidFill>
            <a:prstDash val="solid"/>
          </a:ln>
        </p:spPr>
      </p:sp>
      <p:sp>
        <p:nvSpPr>
          <p:cNvPr id="48" name="Shape 46"/>
          <p:cNvSpPr/>
          <p:nvPr/>
        </p:nvSpPr>
        <p:spPr>
          <a:xfrm>
            <a:off x="5943600" y="3584448"/>
            <a:ext cx="365760" cy="329184"/>
          </a:xfrm>
          <a:prstGeom prst="ellipse">
            <a:avLst/>
          </a:prstGeom>
          <a:solidFill>
            <a:srgbClr val="E5E5EA"/>
          </a:solidFill>
          <a:ln w="10160">
            <a:solidFill>
              <a:srgbClr val="AAAAAA"/>
            </a:solidFill>
            <a:prstDash val="solid"/>
          </a:ln>
        </p:spPr>
      </p:sp>
      <p:sp>
        <p:nvSpPr>
          <p:cNvPr id="49" name="Shape 47"/>
          <p:cNvSpPr/>
          <p:nvPr/>
        </p:nvSpPr>
        <p:spPr>
          <a:xfrm>
            <a:off x="7360920" y="3584448"/>
            <a:ext cx="365760" cy="329184"/>
          </a:xfrm>
          <a:prstGeom prst="ellipse">
            <a:avLst/>
          </a:prstGeom>
          <a:solidFill>
            <a:srgbClr val="E5E5EA"/>
          </a:solidFill>
          <a:ln w="10160">
            <a:solidFill>
              <a:srgbClr val="AAAAAA"/>
            </a:solidFill>
            <a:prstDash val="solid"/>
          </a:ln>
        </p:spPr>
      </p:sp>
      <p:sp>
        <p:nvSpPr>
          <p:cNvPr id="50" name="Shape 48"/>
          <p:cNvSpPr/>
          <p:nvPr/>
        </p:nvSpPr>
        <p:spPr>
          <a:xfrm>
            <a:off x="320040" y="4297680"/>
            <a:ext cx="8503920" cy="694944"/>
          </a:xfrm>
          <a:prstGeom prst="rect">
            <a:avLst/>
          </a:prstGeom>
          <a:solidFill>
            <a:srgbClr val="FFFFFF"/>
          </a:solidFill>
          <a:ln w="6350">
            <a:solidFill>
              <a:srgbClr val="E5E5EA"/>
            </a:solidFill>
            <a:prstDash val="solid"/>
          </a:ln>
        </p:spPr>
      </p:sp>
      <p:sp>
        <p:nvSpPr>
          <p:cNvPr id="51" name="Text 49"/>
          <p:cNvSpPr/>
          <p:nvPr/>
        </p:nvSpPr>
        <p:spPr>
          <a:xfrm>
            <a:off x="411480" y="4315968"/>
            <a:ext cx="2286000" cy="329184"/>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Métricas y Mejora</a:t>
            </a:r>
            <a:endParaRPr lang="en-US" sz="850" dirty="0"/>
          </a:p>
        </p:txBody>
      </p:sp>
      <p:sp>
        <p:nvSpPr>
          <p:cNvPr id="52" name="Text 50"/>
          <p:cNvSpPr/>
          <p:nvPr/>
        </p:nvSpPr>
        <p:spPr>
          <a:xfrm>
            <a:off x="411480" y="4663440"/>
            <a:ext cx="2286000" cy="256032"/>
          </a:xfrm>
          <a:prstGeom prst="rect">
            <a:avLst/>
          </a:prstGeom>
          <a:noFill/>
          <a:ln/>
        </p:spPr>
        <p:txBody>
          <a:bodyPr wrap="square" rtlCol="0" anchor="ctr"/>
          <a:lstStyle/>
          <a:p>
            <a:pPr indent="0" marL="0">
              <a:buNone/>
            </a:pPr>
            <a:r>
              <a:rPr lang="en-US" sz="650" dirty="0">
                <a:solidFill>
                  <a:srgbClr val="666666"/>
                </a:solidFill>
                <a:latin typeface="Atkinson Hyperlegible" pitchFamily="34" charset="0"/>
                <a:ea typeface="Atkinson Hyperlegible" pitchFamily="34" charset="-122"/>
                <a:cs typeface="Atkinson Hyperlegible" pitchFamily="34" charset="-120"/>
              </a:rPr>
              <a:t>•KPIs de constructabilidad medidos</a:t>
            </a:r>
            <a:endParaRPr lang="en-US" sz="650" dirty="0"/>
          </a:p>
        </p:txBody>
      </p:sp>
      <p:sp>
        <p:nvSpPr>
          <p:cNvPr id="53" name="Text 51"/>
          <p:cNvSpPr/>
          <p:nvPr/>
        </p:nvSpPr>
        <p:spPr>
          <a:xfrm>
            <a:off x="411480" y="4663440"/>
            <a:ext cx="2286000" cy="256032"/>
          </a:xfrm>
          <a:prstGeom prst="rect">
            <a:avLst/>
          </a:prstGeom>
          <a:noFill/>
          <a:ln/>
        </p:spPr>
        <p:txBody>
          <a:bodyPr wrap="square" rtlCol="0" anchor="ctr"/>
          <a:lstStyle/>
          <a:p>
            <a:pPr indent="0" marL="0">
              <a:buNone/>
            </a:pPr>
            <a:r>
              <a:rPr lang="en-US" sz="650" dirty="0">
                <a:solidFill>
                  <a:srgbClr val="666666"/>
                </a:solidFill>
                <a:latin typeface="Atkinson Hyperlegible" pitchFamily="34" charset="0"/>
                <a:ea typeface="Atkinson Hyperlegible" pitchFamily="34" charset="-122"/>
                <a:cs typeface="Atkinson Hyperlegible" pitchFamily="34" charset="-120"/>
              </a:rPr>
              <a:t>•Lecciones aprendidas documentadas</a:t>
            </a:r>
            <a:endParaRPr lang="en-US" sz="650" dirty="0"/>
          </a:p>
        </p:txBody>
      </p:sp>
      <p:sp>
        <p:nvSpPr>
          <p:cNvPr id="54" name="Text 52"/>
          <p:cNvSpPr/>
          <p:nvPr/>
        </p:nvSpPr>
        <p:spPr>
          <a:xfrm>
            <a:off x="411480" y="4663440"/>
            <a:ext cx="2286000" cy="256032"/>
          </a:xfrm>
          <a:prstGeom prst="rect">
            <a:avLst/>
          </a:prstGeom>
          <a:noFill/>
          <a:ln/>
        </p:spPr>
        <p:txBody>
          <a:bodyPr wrap="square" rtlCol="0" anchor="ctr"/>
          <a:lstStyle/>
          <a:p>
            <a:pPr indent="0" marL="0">
              <a:buNone/>
            </a:pPr>
            <a:r>
              <a:rPr lang="en-US" sz="650" dirty="0">
                <a:solidFill>
                  <a:srgbClr val="666666"/>
                </a:solidFill>
                <a:latin typeface="Atkinson Hyperlegible" pitchFamily="34" charset="0"/>
                <a:ea typeface="Atkinson Hyperlegible" pitchFamily="34" charset="-122"/>
                <a:cs typeface="Atkinson Hyperlegible" pitchFamily="34" charset="-120"/>
              </a:rPr>
              <a:t>•Benchmarking externo anual</a:t>
            </a:r>
            <a:endParaRPr lang="en-US" sz="650" dirty="0"/>
          </a:p>
        </p:txBody>
      </p:sp>
      <p:sp>
        <p:nvSpPr>
          <p:cNvPr id="55" name="Shape 53"/>
          <p:cNvSpPr/>
          <p:nvPr/>
        </p:nvSpPr>
        <p:spPr>
          <a:xfrm>
            <a:off x="3108960" y="4334256"/>
            <a:ext cx="365760" cy="329184"/>
          </a:xfrm>
          <a:prstGeom prst="ellipse">
            <a:avLst/>
          </a:prstGeom>
          <a:solidFill>
            <a:srgbClr val="E5E5EA"/>
          </a:solidFill>
          <a:ln w="10160">
            <a:solidFill>
              <a:srgbClr val="AAAAAA"/>
            </a:solidFill>
            <a:prstDash val="solid"/>
          </a:ln>
        </p:spPr>
      </p:sp>
      <p:sp>
        <p:nvSpPr>
          <p:cNvPr id="56" name="Shape 54"/>
          <p:cNvSpPr/>
          <p:nvPr/>
        </p:nvSpPr>
        <p:spPr>
          <a:xfrm>
            <a:off x="4526280" y="4334256"/>
            <a:ext cx="365760" cy="329184"/>
          </a:xfrm>
          <a:prstGeom prst="ellipse">
            <a:avLst/>
          </a:prstGeom>
          <a:solidFill>
            <a:srgbClr val="E5E5EA"/>
          </a:solidFill>
          <a:ln w="10160">
            <a:solidFill>
              <a:srgbClr val="AAAAAA"/>
            </a:solidFill>
            <a:prstDash val="solid"/>
          </a:ln>
        </p:spPr>
      </p:sp>
      <p:sp>
        <p:nvSpPr>
          <p:cNvPr id="57" name="Shape 55"/>
          <p:cNvSpPr/>
          <p:nvPr/>
        </p:nvSpPr>
        <p:spPr>
          <a:xfrm>
            <a:off x="5943600" y="4334256"/>
            <a:ext cx="365760" cy="329184"/>
          </a:xfrm>
          <a:prstGeom prst="ellipse">
            <a:avLst/>
          </a:prstGeom>
          <a:solidFill>
            <a:srgbClr val="E5E5EA"/>
          </a:solidFill>
          <a:ln w="10160">
            <a:solidFill>
              <a:srgbClr val="AAAAAA"/>
            </a:solidFill>
            <a:prstDash val="solid"/>
          </a:ln>
        </p:spPr>
      </p:sp>
      <p:sp>
        <p:nvSpPr>
          <p:cNvPr id="58" name="Shape 56"/>
          <p:cNvSpPr/>
          <p:nvPr/>
        </p:nvSpPr>
        <p:spPr>
          <a:xfrm>
            <a:off x="7360920" y="4334256"/>
            <a:ext cx="365760" cy="329184"/>
          </a:xfrm>
          <a:prstGeom prst="ellipse">
            <a:avLst/>
          </a:prstGeom>
          <a:solidFill>
            <a:srgbClr val="E5E5EA"/>
          </a:solidFill>
          <a:ln w="10160">
            <a:solidFill>
              <a:srgbClr val="AAAAAA"/>
            </a:solidFill>
            <a:prstDash val="solid"/>
          </a:ln>
        </p:spPr>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4E3"/>
          </a:solidFill>
          <a:ln w="12700">
            <a:solidFill>
              <a:srgbClr val="0A74E3"/>
            </a:solidFill>
            <a:prstDash val="solid"/>
          </a:ln>
        </p:spPr>
      </p:sp>
      <p:sp>
        <p:nvSpPr>
          <p:cNvPr id="3" name="Shape 1"/>
          <p:cNvSpPr/>
          <p:nvPr/>
        </p:nvSpPr>
        <p:spPr>
          <a:xfrm>
            <a:off x="164592" y="4956048"/>
            <a:ext cx="8979408" cy="182880"/>
          </a:xfrm>
          <a:prstGeom prst="rect">
            <a:avLst/>
          </a:prstGeom>
          <a:solidFill>
            <a:srgbClr val="0A74E3"/>
          </a:solidFill>
          <a:ln w="12700">
            <a:solidFill>
              <a:srgbClr val="0A74E3"/>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91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Plan de Acción: Primeros 90 Días</a:t>
            </a:r>
            <a:endParaRPr lang="en-US" sz="1800" dirty="0"/>
          </a:p>
        </p:txBody>
      </p:sp>
      <p:sp>
        <p:nvSpPr>
          <p:cNvPr id="6" name="Shape 4"/>
          <p:cNvSpPr/>
          <p:nvPr/>
        </p:nvSpPr>
        <p:spPr>
          <a:xfrm>
            <a:off x="320040" y="621792"/>
            <a:ext cx="8503920" cy="41148"/>
          </a:xfrm>
          <a:prstGeom prst="rect">
            <a:avLst/>
          </a:prstGeom>
          <a:solidFill>
            <a:srgbClr val="0A74E3"/>
          </a:solidFill>
          <a:ln w="12700">
            <a:solidFill>
              <a:srgbClr val="0A74E3"/>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A74E3"/>
                </a:solidFill>
                <a:latin typeface="Atkinson Hyperlegible" pitchFamily="34" charset="0"/>
                <a:ea typeface="Atkinson Hyperlegible" pitchFamily="34" charset="-122"/>
                <a:cs typeface="Atkinson Hyperlegible" pitchFamily="34" charset="-120"/>
              </a:rPr>
              <a:t>Acciones concretas para iniciar la adopción de constructabilidad avanzada</a:t>
            </a:r>
            <a:endParaRPr lang="en-US" sz="900" dirty="0"/>
          </a:p>
        </p:txBody>
      </p:sp>
      <p:sp>
        <p:nvSpPr>
          <p:cNvPr id="8" name="Shape 6"/>
          <p:cNvSpPr/>
          <p:nvPr/>
        </p:nvSpPr>
        <p:spPr>
          <a:xfrm>
            <a:off x="320040" y="960120"/>
            <a:ext cx="2724912" cy="3931920"/>
          </a:xfrm>
          <a:prstGeom prst="rect">
            <a:avLst>
              <a:gd name="adj" fmla="val 2349"/>
            </a:avLst>
          </a:prstGeom>
          <a:solidFill>
            <a:srgbClr val="FFFFFF"/>
          </a:solidFill>
          <a:ln w="15240">
            <a:solidFill>
              <a:srgbClr val="0A74E3"/>
            </a:solidFill>
            <a:prstDash val="solid"/>
          </a:ln>
        </p:spPr>
      </p:sp>
      <p:sp>
        <p:nvSpPr>
          <p:cNvPr id="9" name="Shape 7"/>
          <p:cNvSpPr/>
          <p:nvPr/>
        </p:nvSpPr>
        <p:spPr>
          <a:xfrm>
            <a:off x="320040" y="960120"/>
            <a:ext cx="2724912" cy="402336"/>
          </a:xfrm>
          <a:prstGeom prst="rect">
            <a:avLst>
              <a:gd name="adj" fmla="val 15909"/>
            </a:avLst>
          </a:prstGeom>
          <a:solidFill>
            <a:srgbClr val="0A74E3"/>
          </a:solidFill>
          <a:ln w="12700">
            <a:solidFill>
              <a:srgbClr val="0A74E3"/>
            </a:solidFill>
            <a:prstDash val="solid"/>
          </a:ln>
        </p:spPr>
      </p:sp>
      <p:sp>
        <p:nvSpPr>
          <p:cNvPr id="10" name="Text 8"/>
          <p:cNvSpPr/>
          <p:nvPr/>
        </p:nvSpPr>
        <p:spPr>
          <a:xfrm>
            <a:off x="320040" y="960120"/>
            <a:ext cx="2724912" cy="402336"/>
          </a:xfrm>
          <a:prstGeom prst="rect">
            <a:avLst/>
          </a:prstGeom>
          <a:noFill/>
          <a:ln/>
        </p:spPr>
        <p:txBody>
          <a:bodyPr wrap="square" rtlCol="0" anchor="ctr"/>
          <a:lstStyle/>
          <a:p>
            <a:pPr algn="ct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Días 1-30</a:t>
            </a:r>
            <a:endParaRPr lang="en-US" sz="1100" dirty="0"/>
          </a:p>
        </p:txBody>
      </p:sp>
      <p:sp>
        <p:nvSpPr>
          <p:cNvPr id="11" name="Shape 9"/>
          <p:cNvSpPr/>
          <p:nvPr/>
        </p:nvSpPr>
        <p:spPr>
          <a:xfrm>
            <a:off x="411480" y="1453896"/>
            <a:ext cx="256032" cy="256032"/>
          </a:xfrm>
          <a:prstGeom prst="ellipse">
            <a:avLst/>
          </a:prstGeom>
          <a:solidFill>
            <a:srgbClr val="0A74E3"/>
          </a:solidFill>
          <a:ln w="12700">
            <a:solidFill>
              <a:srgbClr val="0A74E3"/>
            </a:solidFill>
            <a:prstDash val="solid"/>
          </a:ln>
        </p:spPr>
      </p:sp>
      <p:sp>
        <p:nvSpPr>
          <p:cNvPr id="12" name="Text 10"/>
          <p:cNvSpPr/>
          <p:nvPr/>
        </p:nvSpPr>
        <p:spPr>
          <a:xfrm>
            <a:off x="411480" y="1453896"/>
            <a:ext cx="256032"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1</a:t>
            </a:r>
            <a:endParaRPr lang="en-US" sz="750" dirty="0"/>
          </a:p>
        </p:txBody>
      </p:sp>
      <p:sp>
        <p:nvSpPr>
          <p:cNvPr id="13" name="Text 11"/>
          <p:cNvSpPr/>
          <p:nvPr/>
        </p:nvSpPr>
        <p:spPr>
          <a:xfrm>
            <a:off x="722376" y="1435608"/>
            <a:ext cx="2212848" cy="80467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Conformar equipo de implementación (Champion + Sponsor)</a:t>
            </a:r>
            <a:endParaRPr lang="en-US" sz="750" dirty="0"/>
          </a:p>
        </p:txBody>
      </p:sp>
      <p:sp>
        <p:nvSpPr>
          <p:cNvPr id="14" name="Shape 12"/>
          <p:cNvSpPr/>
          <p:nvPr/>
        </p:nvSpPr>
        <p:spPr>
          <a:xfrm>
            <a:off x="411480" y="2295144"/>
            <a:ext cx="256032" cy="256032"/>
          </a:xfrm>
          <a:prstGeom prst="ellipse">
            <a:avLst/>
          </a:prstGeom>
          <a:solidFill>
            <a:srgbClr val="0A74E3"/>
          </a:solidFill>
          <a:ln w="12700">
            <a:solidFill>
              <a:srgbClr val="0A74E3"/>
            </a:solidFill>
            <a:prstDash val="solid"/>
          </a:ln>
        </p:spPr>
      </p:sp>
      <p:sp>
        <p:nvSpPr>
          <p:cNvPr id="15" name="Text 13"/>
          <p:cNvSpPr/>
          <p:nvPr/>
        </p:nvSpPr>
        <p:spPr>
          <a:xfrm>
            <a:off x="411480" y="2295144"/>
            <a:ext cx="256032"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2</a:t>
            </a:r>
            <a:endParaRPr lang="en-US" sz="750" dirty="0"/>
          </a:p>
        </p:txBody>
      </p:sp>
      <p:sp>
        <p:nvSpPr>
          <p:cNvPr id="16" name="Text 14"/>
          <p:cNvSpPr/>
          <p:nvPr/>
        </p:nvSpPr>
        <p:spPr>
          <a:xfrm>
            <a:off x="722376" y="2276856"/>
            <a:ext cx="2212848" cy="80467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Aplicar diagnóstico de madurez (herramienta CII)</a:t>
            </a:r>
            <a:endParaRPr lang="en-US" sz="750" dirty="0"/>
          </a:p>
        </p:txBody>
      </p:sp>
      <p:sp>
        <p:nvSpPr>
          <p:cNvPr id="17" name="Shape 15"/>
          <p:cNvSpPr/>
          <p:nvPr/>
        </p:nvSpPr>
        <p:spPr>
          <a:xfrm>
            <a:off x="411480" y="3136392"/>
            <a:ext cx="256032" cy="256032"/>
          </a:xfrm>
          <a:prstGeom prst="ellipse">
            <a:avLst/>
          </a:prstGeom>
          <a:solidFill>
            <a:srgbClr val="0A74E3"/>
          </a:solidFill>
          <a:ln w="12700">
            <a:solidFill>
              <a:srgbClr val="0A74E3"/>
            </a:solidFill>
            <a:prstDash val="solid"/>
          </a:ln>
        </p:spPr>
      </p:sp>
      <p:sp>
        <p:nvSpPr>
          <p:cNvPr id="18" name="Text 16"/>
          <p:cNvSpPr/>
          <p:nvPr/>
        </p:nvSpPr>
        <p:spPr>
          <a:xfrm>
            <a:off x="411480" y="3136392"/>
            <a:ext cx="256032"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3</a:t>
            </a:r>
            <a:endParaRPr lang="en-US" sz="750" dirty="0"/>
          </a:p>
        </p:txBody>
      </p:sp>
      <p:sp>
        <p:nvSpPr>
          <p:cNvPr id="19" name="Text 17"/>
          <p:cNvSpPr/>
          <p:nvPr/>
        </p:nvSpPr>
        <p:spPr>
          <a:xfrm>
            <a:off x="722376" y="3118104"/>
            <a:ext cx="2212848" cy="80467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Identificar proyecto piloto (presupuesto ≥$50M, duración &gt;18 meses)</a:t>
            </a:r>
            <a:endParaRPr lang="en-US" sz="750" dirty="0"/>
          </a:p>
        </p:txBody>
      </p:sp>
      <p:sp>
        <p:nvSpPr>
          <p:cNvPr id="20" name="Shape 18"/>
          <p:cNvSpPr/>
          <p:nvPr/>
        </p:nvSpPr>
        <p:spPr>
          <a:xfrm>
            <a:off x="411480" y="3977640"/>
            <a:ext cx="256032" cy="256032"/>
          </a:xfrm>
          <a:prstGeom prst="ellipse">
            <a:avLst/>
          </a:prstGeom>
          <a:solidFill>
            <a:srgbClr val="0A74E3"/>
          </a:solidFill>
          <a:ln w="12700">
            <a:solidFill>
              <a:srgbClr val="0A74E3"/>
            </a:solidFill>
            <a:prstDash val="solid"/>
          </a:ln>
        </p:spPr>
      </p:sp>
      <p:sp>
        <p:nvSpPr>
          <p:cNvPr id="21" name="Text 19"/>
          <p:cNvSpPr/>
          <p:nvPr/>
        </p:nvSpPr>
        <p:spPr>
          <a:xfrm>
            <a:off x="411480" y="3977640"/>
            <a:ext cx="256032"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4</a:t>
            </a:r>
            <a:endParaRPr lang="en-US" sz="750" dirty="0"/>
          </a:p>
        </p:txBody>
      </p:sp>
      <p:sp>
        <p:nvSpPr>
          <p:cNvPr id="22" name="Text 20"/>
          <p:cNvSpPr/>
          <p:nvPr/>
        </p:nvSpPr>
        <p:spPr>
          <a:xfrm>
            <a:off x="722376" y="3959352"/>
            <a:ext cx="2212848" cy="80467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Revisar recursos CII: SP 34-1, RT-272, benchmarking data</a:t>
            </a:r>
            <a:endParaRPr lang="en-US" sz="750" dirty="0"/>
          </a:p>
        </p:txBody>
      </p:sp>
      <p:sp>
        <p:nvSpPr>
          <p:cNvPr id="23" name="Shape 21"/>
          <p:cNvSpPr/>
          <p:nvPr/>
        </p:nvSpPr>
        <p:spPr>
          <a:xfrm>
            <a:off x="3227832" y="960120"/>
            <a:ext cx="2724912" cy="3931920"/>
          </a:xfrm>
          <a:prstGeom prst="rect">
            <a:avLst>
              <a:gd name="adj" fmla="val 2349"/>
            </a:avLst>
          </a:prstGeom>
          <a:solidFill>
            <a:srgbClr val="FFFFFF"/>
          </a:solidFill>
          <a:ln w="15240">
            <a:solidFill>
              <a:srgbClr val="0E9E9E"/>
            </a:solidFill>
            <a:prstDash val="solid"/>
          </a:ln>
        </p:spPr>
      </p:sp>
      <p:sp>
        <p:nvSpPr>
          <p:cNvPr id="24" name="Shape 22"/>
          <p:cNvSpPr/>
          <p:nvPr/>
        </p:nvSpPr>
        <p:spPr>
          <a:xfrm>
            <a:off x="3227832" y="960120"/>
            <a:ext cx="2724912" cy="402336"/>
          </a:xfrm>
          <a:prstGeom prst="rect">
            <a:avLst>
              <a:gd name="adj" fmla="val 15909"/>
            </a:avLst>
          </a:prstGeom>
          <a:solidFill>
            <a:srgbClr val="0E9E9E"/>
          </a:solidFill>
          <a:ln w="12700">
            <a:solidFill>
              <a:srgbClr val="0E9E9E"/>
            </a:solidFill>
            <a:prstDash val="solid"/>
          </a:ln>
        </p:spPr>
      </p:sp>
      <p:sp>
        <p:nvSpPr>
          <p:cNvPr id="25" name="Text 23"/>
          <p:cNvSpPr/>
          <p:nvPr/>
        </p:nvSpPr>
        <p:spPr>
          <a:xfrm>
            <a:off x="3227832" y="960120"/>
            <a:ext cx="2724912" cy="402336"/>
          </a:xfrm>
          <a:prstGeom prst="rect">
            <a:avLst/>
          </a:prstGeom>
          <a:noFill/>
          <a:ln/>
        </p:spPr>
        <p:txBody>
          <a:bodyPr wrap="square" rtlCol="0" anchor="ctr"/>
          <a:lstStyle/>
          <a:p>
            <a:pPr algn="ct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Días 31-60</a:t>
            </a:r>
            <a:endParaRPr lang="en-US" sz="1100" dirty="0"/>
          </a:p>
        </p:txBody>
      </p:sp>
      <p:sp>
        <p:nvSpPr>
          <p:cNvPr id="26" name="Shape 24"/>
          <p:cNvSpPr/>
          <p:nvPr/>
        </p:nvSpPr>
        <p:spPr>
          <a:xfrm>
            <a:off x="3319272" y="1453896"/>
            <a:ext cx="256032" cy="256032"/>
          </a:xfrm>
          <a:prstGeom prst="ellipse">
            <a:avLst/>
          </a:prstGeom>
          <a:solidFill>
            <a:srgbClr val="0E9E9E"/>
          </a:solidFill>
          <a:ln w="12700">
            <a:solidFill>
              <a:srgbClr val="0E9E9E"/>
            </a:solidFill>
            <a:prstDash val="solid"/>
          </a:ln>
        </p:spPr>
      </p:sp>
      <p:sp>
        <p:nvSpPr>
          <p:cNvPr id="27" name="Text 25"/>
          <p:cNvSpPr/>
          <p:nvPr/>
        </p:nvSpPr>
        <p:spPr>
          <a:xfrm>
            <a:off x="3319272" y="1453896"/>
            <a:ext cx="256032"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1</a:t>
            </a:r>
            <a:endParaRPr lang="en-US" sz="750" dirty="0"/>
          </a:p>
        </p:txBody>
      </p:sp>
      <p:sp>
        <p:nvSpPr>
          <p:cNvPr id="28" name="Text 26"/>
          <p:cNvSpPr/>
          <p:nvPr/>
        </p:nvSpPr>
        <p:spPr>
          <a:xfrm>
            <a:off x="3630168" y="1435608"/>
            <a:ext cx="2212848" cy="80467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Definir POC y primeros CWPs del proyecto piloto</a:t>
            </a:r>
            <a:endParaRPr lang="en-US" sz="750" dirty="0"/>
          </a:p>
        </p:txBody>
      </p:sp>
      <p:sp>
        <p:nvSpPr>
          <p:cNvPr id="29" name="Shape 27"/>
          <p:cNvSpPr/>
          <p:nvPr/>
        </p:nvSpPr>
        <p:spPr>
          <a:xfrm>
            <a:off x="3319272" y="2295144"/>
            <a:ext cx="256032" cy="256032"/>
          </a:xfrm>
          <a:prstGeom prst="ellipse">
            <a:avLst/>
          </a:prstGeom>
          <a:solidFill>
            <a:srgbClr val="0E9E9E"/>
          </a:solidFill>
          <a:ln w="12700">
            <a:solidFill>
              <a:srgbClr val="0E9E9E"/>
            </a:solidFill>
            <a:prstDash val="solid"/>
          </a:ln>
        </p:spPr>
      </p:sp>
      <p:sp>
        <p:nvSpPr>
          <p:cNvPr id="30" name="Text 28"/>
          <p:cNvSpPr/>
          <p:nvPr/>
        </p:nvSpPr>
        <p:spPr>
          <a:xfrm>
            <a:off x="3319272" y="2295144"/>
            <a:ext cx="256032"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2</a:t>
            </a:r>
            <a:endParaRPr lang="en-US" sz="750" dirty="0"/>
          </a:p>
        </p:txBody>
      </p:sp>
      <p:sp>
        <p:nvSpPr>
          <p:cNvPr id="31" name="Text 29"/>
          <p:cNvSpPr/>
          <p:nvPr/>
        </p:nvSpPr>
        <p:spPr>
          <a:xfrm>
            <a:off x="3630168" y="2276856"/>
            <a:ext cx="2212848" cy="80467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Capacitar equipo núcleo en AWP (24 horas programa CII)</a:t>
            </a:r>
            <a:endParaRPr lang="en-US" sz="750" dirty="0"/>
          </a:p>
        </p:txBody>
      </p:sp>
      <p:sp>
        <p:nvSpPr>
          <p:cNvPr id="32" name="Shape 30"/>
          <p:cNvSpPr/>
          <p:nvPr/>
        </p:nvSpPr>
        <p:spPr>
          <a:xfrm>
            <a:off x="3319272" y="3136392"/>
            <a:ext cx="256032" cy="256032"/>
          </a:xfrm>
          <a:prstGeom prst="ellipse">
            <a:avLst/>
          </a:prstGeom>
          <a:solidFill>
            <a:srgbClr val="0E9E9E"/>
          </a:solidFill>
          <a:ln w="12700">
            <a:solidFill>
              <a:srgbClr val="0E9E9E"/>
            </a:solidFill>
            <a:prstDash val="solid"/>
          </a:ln>
        </p:spPr>
      </p:sp>
      <p:sp>
        <p:nvSpPr>
          <p:cNvPr id="33" name="Text 31"/>
          <p:cNvSpPr/>
          <p:nvPr/>
        </p:nvSpPr>
        <p:spPr>
          <a:xfrm>
            <a:off x="3319272" y="3136392"/>
            <a:ext cx="256032"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3</a:t>
            </a:r>
            <a:endParaRPr lang="en-US" sz="750" dirty="0"/>
          </a:p>
        </p:txBody>
      </p:sp>
      <p:sp>
        <p:nvSpPr>
          <p:cNvPr id="34" name="Text 32"/>
          <p:cNvSpPr/>
          <p:nvPr/>
        </p:nvSpPr>
        <p:spPr>
          <a:xfrm>
            <a:off x="3630168" y="3118104"/>
            <a:ext cx="2212848" cy="80467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Seleccionar plataforma digital (EcoSys, AVEVA u otra)</a:t>
            </a:r>
            <a:endParaRPr lang="en-US" sz="750" dirty="0"/>
          </a:p>
        </p:txBody>
      </p:sp>
      <p:sp>
        <p:nvSpPr>
          <p:cNvPr id="35" name="Shape 33"/>
          <p:cNvSpPr/>
          <p:nvPr/>
        </p:nvSpPr>
        <p:spPr>
          <a:xfrm>
            <a:off x="3319272" y="3977640"/>
            <a:ext cx="256032" cy="256032"/>
          </a:xfrm>
          <a:prstGeom prst="ellipse">
            <a:avLst/>
          </a:prstGeom>
          <a:solidFill>
            <a:srgbClr val="0E9E9E"/>
          </a:solidFill>
          <a:ln w="12700">
            <a:solidFill>
              <a:srgbClr val="0E9E9E"/>
            </a:solidFill>
            <a:prstDash val="solid"/>
          </a:ln>
        </p:spPr>
      </p:sp>
      <p:sp>
        <p:nvSpPr>
          <p:cNvPr id="36" name="Text 34"/>
          <p:cNvSpPr/>
          <p:nvPr/>
        </p:nvSpPr>
        <p:spPr>
          <a:xfrm>
            <a:off x="3319272" y="3977640"/>
            <a:ext cx="256032"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4</a:t>
            </a:r>
            <a:endParaRPr lang="en-US" sz="750" dirty="0"/>
          </a:p>
        </p:txBody>
      </p:sp>
      <p:sp>
        <p:nvSpPr>
          <p:cNvPr id="37" name="Text 35"/>
          <p:cNvSpPr/>
          <p:nvPr/>
        </p:nvSpPr>
        <p:spPr>
          <a:xfrm>
            <a:off x="3630168" y="3959352"/>
            <a:ext cx="2212848" cy="80467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Coordinar con diseño el primer EDS alineado a POC</a:t>
            </a:r>
            <a:endParaRPr lang="en-US" sz="750" dirty="0"/>
          </a:p>
        </p:txBody>
      </p:sp>
      <p:sp>
        <p:nvSpPr>
          <p:cNvPr id="38" name="Shape 36"/>
          <p:cNvSpPr/>
          <p:nvPr/>
        </p:nvSpPr>
        <p:spPr>
          <a:xfrm>
            <a:off x="6135624" y="960120"/>
            <a:ext cx="2724912" cy="3931920"/>
          </a:xfrm>
          <a:prstGeom prst="rect">
            <a:avLst>
              <a:gd name="adj" fmla="val 2349"/>
            </a:avLst>
          </a:prstGeom>
          <a:solidFill>
            <a:srgbClr val="FFFFFF"/>
          </a:solidFill>
          <a:ln w="15240">
            <a:solidFill>
              <a:srgbClr val="27AE60"/>
            </a:solidFill>
            <a:prstDash val="solid"/>
          </a:ln>
        </p:spPr>
      </p:sp>
      <p:sp>
        <p:nvSpPr>
          <p:cNvPr id="39" name="Shape 37"/>
          <p:cNvSpPr/>
          <p:nvPr/>
        </p:nvSpPr>
        <p:spPr>
          <a:xfrm>
            <a:off x="6135624" y="960120"/>
            <a:ext cx="2724912" cy="402336"/>
          </a:xfrm>
          <a:prstGeom prst="rect">
            <a:avLst>
              <a:gd name="adj" fmla="val 15909"/>
            </a:avLst>
          </a:prstGeom>
          <a:solidFill>
            <a:srgbClr val="27AE60"/>
          </a:solidFill>
          <a:ln w="12700">
            <a:solidFill>
              <a:srgbClr val="27AE60"/>
            </a:solidFill>
            <a:prstDash val="solid"/>
          </a:ln>
        </p:spPr>
      </p:sp>
      <p:sp>
        <p:nvSpPr>
          <p:cNvPr id="40" name="Text 38"/>
          <p:cNvSpPr/>
          <p:nvPr/>
        </p:nvSpPr>
        <p:spPr>
          <a:xfrm>
            <a:off x="6135624" y="960120"/>
            <a:ext cx="2724912" cy="402336"/>
          </a:xfrm>
          <a:prstGeom prst="rect">
            <a:avLst/>
          </a:prstGeom>
          <a:noFill/>
          <a:ln/>
        </p:spPr>
        <p:txBody>
          <a:bodyPr wrap="square" rtlCol="0" anchor="ctr"/>
          <a:lstStyle/>
          <a:p>
            <a:pPr algn="ct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Días 61-90</a:t>
            </a:r>
            <a:endParaRPr lang="en-US" sz="1100" dirty="0"/>
          </a:p>
        </p:txBody>
      </p:sp>
      <p:sp>
        <p:nvSpPr>
          <p:cNvPr id="41" name="Shape 39"/>
          <p:cNvSpPr/>
          <p:nvPr/>
        </p:nvSpPr>
        <p:spPr>
          <a:xfrm>
            <a:off x="6227064" y="1453896"/>
            <a:ext cx="256032" cy="256032"/>
          </a:xfrm>
          <a:prstGeom prst="ellipse">
            <a:avLst/>
          </a:prstGeom>
          <a:solidFill>
            <a:srgbClr val="27AE60"/>
          </a:solidFill>
          <a:ln w="12700">
            <a:solidFill>
              <a:srgbClr val="27AE60"/>
            </a:solidFill>
            <a:prstDash val="solid"/>
          </a:ln>
        </p:spPr>
      </p:sp>
      <p:sp>
        <p:nvSpPr>
          <p:cNvPr id="42" name="Text 40"/>
          <p:cNvSpPr/>
          <p:nvPr/>
        </p:nvSpPr>
        <p:spPr>
          <a:xfrm>
            <a:off x="6227064" y="1453896"/>
            <a:ext cx="256032"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1</a:t>
            </a:r>
            <a:endParaRPr lang="en-US" sz="750" dirty="0"/>
          </a:p>
        </p:txBody>
      </p:sp>
      <p:sp>
        <p:nvSpPr>
          <p:cNvPr id="43" name="Text 41"/>
          <p:cNvSpPr/>
          <p:nvPr/>
        </p:nvSpPr>
        <p:spPr>
          <a:xfrm>
            <a:off x="6537960" y="1435608"/>
            <a:ext cx="2212848" cy="80467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Lanzar primeros 10 IWPs con criterio de Ready-to-Install</a:t>
            </a:r>
            <a:endParaRPr lang="en-US" sz="750" dirty="0"/>
          </a:p>
        </p:txBody>
      </p:sp>
      <p:sp>
        <p:nvSpPr>
          <p:cNvPr id="44" name="Shape 42"/>
          <p:cNvSpPr/>
          <p:nvPr/>
        </p:nvSpPr>
        <p:spPr>
          <a:xfrm>
            <a:off x="6227064" y="2295144"/>
            <a:ext cx="256032" cy="256032"/>
          </a:xfrm>
          <a:prstGeom prst="ellipse">
            <a:avLst/>
          </a:prstGeom>
          <a:solidFill>
            <a:srgbClr val="27AE60"/>
          </a:solidFill>
          <a:ln w="12700">
            <a:solidFill>
              <a:srgbClr val="27AE60"/>
            </a:solidFill>
            <a:prstDash val="solid"/>
          </a:ln>
        </p:spPr>
      </p:sp>
      <p:sp>
        <p:nvSpPr>
          <p:cNvPr id="45" name="Text 43"/>
          <p:cNvSpPr/>
          <p:nvPr/>
        </p:nvSpPr>
        <p:spPr>
          <a:xfrm>
            <a:off x="6227064" y="2295144"/>
            <a:ext cx="256032"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2</a:t>
            </a:r>
            <a:endParaRPr lang="en-US" sz="750" dirty="0"/>
          </a:p>
        </p:txBody>
      </p:sp>
      <p:sp>
        <p:nvSpPr>
          <p:cNvPr id="46" name="Text 44"/>
          <p:cNvSpPr/>
          <p:nvPr/>
        </p:nvSpPr>
        <p:spPr>
          <a:xfrm>
            <a:off x="6537960" y="2276856"/>
            <a:ext cx="2212848" cy="80467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Establecer KPIs de referencia (CPI, SPI, IWP-RTI rate)</a:t>
            </a:r>
            <a:endParaRPr lang="en-US" sz="750" dirty="0"/>
          </a:p>
        </p:txBody>
      </p:sp>
      <p:sp>
        <p:nvSpPr>
          <p:cNvPr id="47" name="Shape 45"/>
          <p:cNvSpPr/>
          <p:nvPr/>
        </p:nvSpPr>
        <p:spPr>
          <a:xfrm>
            <a:off x="6227064" y="3136392"/>
            <a:ext cx="256032" cy="256032"/>
          </a:xfrm>
          <a:prstGeom prst="ellipse">
            <a:avLst/>
          </a:prstGeom>
          <a:solidFill>
            <a:srgbClr val="27AE60"/>
          </a:solidFill>
          <a:ln w="12700">
            <a:solidFill>
              <a:srgbClr val="27AE60"/>
            </a:solidFill>
            <a:prstDash val="solid"/>
          </a:ln>
        </p:spPr>
      </p:sp>
      <p:sp>
        <p:nvSpPr>
          <p:cNvPr id="48" name="Text 46"/>
          <p:cNvSpPr/>
          <p:nvPr/>
        </p:nvSpPr>
        <p:spPr>
          <a:xfrm>
            <a:off x="6227064" y="3136392"/>
            <a:ext cx="256032"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3</a:t>
            </a:r>
            <a:endParaRPr lang="en-US" sz="750" dirty="0"/>
          </a:p>
        </p:txBody>
      </p:sp>
      <p:sp>
        <p:nvSpPr>
          <p:cNvPr id="49" name="Text 47"/>
          <p:cNvSpPr/>
          <p:nvPr/>
        </p:nvSpPr>
        <p:spPr>
          <a:xfrm>
            <a:off x="6537960" y="3118104"/>
            <a:ext cx="2212848" cy="80467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Primera revisión de constructabilidad formal con cliente</a:t>
            </a:r>
            <a:endParaRPr lang="en-US" sz="750" dirty="0"/>
          </a:p>
        </p:txBody>
      </p:sp>
      <p:sp>
        <p:nvSpPr>
          <p:cNvPr id="50" name="Shape 48"/>
          <p:cNvSpPr/>
          <p:nvPr/>
        </p:nvSpPr>
        <p:spPr>
          <a:xfrm>
            <a:off x="6227064" y="3977640"/>
            <a:ext cx="256032" cy="256032"/>
          </a:xfrm>
          <a:prstGeom prst="ellipse">
            <a:avLst/>
          </a:prstGeom>
          <a:solidFill>
            <a:srgbClr val="27AE60"/>
          </a:solidFill>
          <a:ln w="12700">
            <a:solidFill>
              <a:srgbClr val="27AE60"/>
            </a:solidFill>
            <a:prstDash val="solid"/>
          </a:ln>
        </p:spPr>
      </p:sp>
      <p:sp>
        <p:nvSpPr>
          <p:cNvPr id="51" name="Text 49"/>
          <p:cNvSpPr/>
          <p:nvPr/>
        </p:nvSpPr>
        <p:spPr>
          <a:xfrm>
            <a:off x="6227064" y="3977640"/>
            <a:ext cx="256032" cy="256032"/>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4</a:t>
            </a:r>
            <a:endParaRPr lang="en-US" sz="750" dirty="0"/>
          </a:p>
        </p:txBody>
      </p:sp>
      <p:sp>
        <p:nvSpPr>
          <p:cNvPr id="52" name="Text 50"/>
          <p:cNvSpPr/>
          <p:nvPr/>
        </p:nvSpPr>
        <p:spPr>
          <a:xfrm>
            <a:off x="6537960" y="3959352"/>
            <a:ext cx="2212848" cy="80467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Documentar lecciones del piloto, planificar siguiente proyecto</a:t>
            </a:r>
            <a:endParaRPr lang="en-US" sz="7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4E3"/>
          </a:solidFill>
          <a:ln w="12700">
            <a:solidFill>
              <a:srgbClr val="0A74E3"/>
            </a:solidFill>
            <a:prstDash val="solid"/>
          </a:ln>
        </p:spPr>
      </p:sp>
      <p:sp>
        <p:nvSpPr>
          <p:cNvPr id="3" name="Shape 1"/>
          <p:cNvSpPr/>
          <p:nvPr/>
        </p:nvSpPr>
        <p:spPr>
          <a:xfrm>
            <a:off x="164592" y="4956048"/>
            <a:ext cx="8979408" cy="182880"/>
          </a:xfrm>
          <a:prstGeom prst="rect">
            <a:avLst/>
          </a:prstGeom>
          <a:solidFill>
            <a:srgbClr val="0A74E3"/>
          </a:solidFill>
          <a:ln w="12700">
            <a:solidFill>
              <a:srgbClr val="0A74E3"/>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92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KPIs de Seguimiento de la Implementación</a:t>
            </a:r>
            <a:endParaRPr lang="en-US" sz="1800" dirty="0"/>
          </a:p>
        </p:txBody>
      </p:sp>
      <p:sp>
        <p:nvSpPr>
          <p:cNvPr id="6" name="Shape 4"/>
          <p:cNvSpPr/>
          <p:nvPr/>
        </p:nvSpPr>
        <p:spPr>
          <a:xfrm>
            <a:off x="320040" y="621792"/>
            <a:ext cx="8503920" cy="41148"/>
          </a:xfrm>
          <a:prstGeom prst="rect">
            <a:avLst/>
          </a:prstGeom>
          <a:solidFill>
            <a:srgbClr val="0A74E3"/>
          </a:solidFill>
          <a:ln w="12700">
            <a:solidFill>
              <a:srgbClr val="0A74E3"/>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A74E3"/>
                </a:solidFill>
                <a:latin typeface="Atkinson Hyperlegible" pitchFamily="34" charset="0"/>
                <a:ea typeface="Atkinson Hyperlegible" pitchFamily="34" charset="-122"/>
                <a:cs typeface="Atkinson Hyperlegible" pitchFamily="34" charset="-120"/>
              </a:rPr>
              <a:t>Indicadores clave para medir el progreso de adopción de constructabilidad</a:t>
            </a:r>
            <a:endParaRPr lang="en-US" sz="900" dirty="0"/>
          </a:p>
        </p:txBody>
      </p:sp>
      <p:sp>
        <p:nvSpPr>
          <p:cNvPr id="8" name="Shape 6"/>
          <p:cNvSpPr/>
          <p:nvPr/>
        </p:nvSpPr>
        <p:spPr>
          <a:xfrm>
            <a:off x="320040" y="987552"/>
            <a:ext cx="1965960" cy="347472"/>
          </a:xfrm>
          <a:prstGeom prst="rect">
            <a:avLst>
              <a:gd name="adj" fmla="val 15789"/>
            </a:avLst>
          </a:prstGeom>
          <a:solidFill>
            <a:srgbClr val="0A74E3"/>
          </a:solidFill>
          <a:ln w="12700">
            <a:solidFill>
              <a:srgbClr val="0A74E3"/>
            </a:solidFill>
            <a:prstDash val="solid"/>
          </a:ln>
        </p:spPr>
      </p:sp>
      <p:sp>
        <p:nvSpPr>
          <p:cNvPr id="9" name="Text 7"/>
          <p:cNvSpPr/>
          <p:nvPr/>
        </p:nvSpPr>
        <p:spPr>
          <a:xfrm>
            <a:off x="320040" y="987552"/>
            <a:ext cx="1965960" cy="347472"/>
          </a:xfrm>
          <a:prstGeom prst="rect">
            <a:avLst/>
          </a:prstGeom>
          <a:noFill/>
          <a:ln/>
        </p:spPr>
        <p:txBody>
          <a:bodyPr wrap="square" rtlCol="0" anchor="ctr"/>
          <a:lstStyle/>
          <a:p>
            <a:pPr algn="ctr" indent="0" marL="0">
              <a:buNone/>
            </a:pPr>
            <a:r>
              <a:rPr lang="en-US" sz="950" b="1" dirty="0">
                <a:solidFill>
                  <a:srgbClr val="FFFFFF"/>
                </a:solidFill>
                <a:latin typeface="Atkinson Hyperlegible" pitchFamily="34" charset="0"/>
                <a:ea typeface="Atkinson Hyperlegible" pitchFamily="34" charset="-122"/>
                <a:cs typeface="Atkinson Hyperlegible" pitchFamily="34" charset="-120"/>
              </a:rPr>
              <a:t>Proceso</a:t>
            </a:r>
            <a:endParaRPr lang="en-US" sz="950" dirty="0"/>
          </a:p>
        </p:txBody>
      </p:sp>
      <p:sp>
        <p:nvSpPr>
          <p:cNvPr id="10" name="Shape 8"/>
          <p:cNvSpPr/>
          <p:nvPr/>
        </p:nvSpPr>
        <p:spPr>
          <a:xfrm>
            <a:off x="320040" y="1389888"/>
            <a:ext cx="1965960" cy="1152144"/>
          </a:xfrm>
          <a:prstGeom prst="rect">
            <a:avLst>
              <a:gd name="adj" fmla="val 3968"/>
            </a:avLst>
          </a:prstGeom>
          <a:solidFill>
            <a:srgbClr val="FFFFFF"/>
          </a:solidFill>
          <a:ln w="10160">
            <a:solidFill>
              <a:srgbClr val="0A74E3"/>
            </a:solidFill>
            <a:prstDash val="solid"/>
          </a:ln>
        </p:spPr>
      </p:sp>
      <p:sp>
        <p:nvSpPr>
          <p:cNvPr id="11" name="Text 9"/>
          <p:cNvSpPr/>
          <p:nvPr/>
        </p:nvSpPr>
        <p:spPr>
          <a:xfrm>
            <a:off x="411480" y="1444752"/>
            <a:ext cx="178308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IWP RTI Rate</a:t>
            </a:r>
            <a:endParaRPr lang="en-US" sz="900" dirty="0"/>
          </a:p>
        </p:txBody>
      </p:sp>
      <p:sp>
        <p:nvSpPr>
          <p:cNvPr id="12" name="Text 10"/>
          <p:cNvSpPr/>
          <p:nvPr/>
        </p:nvSpPr>
        <p:spPr>
          <a:xfrm>
            <a:off x="411480" y="1700784"/>
            <a:ext cx="1783080" cy="34747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 IWPs Ready-to-Install al inicio</a:t>
            </a:r>
            <a:endParaRPr lang="en-US" sz="750" dirty="0"/>
          </a:p>
        </p:txBody>
      </p:sp>
      <p:sp>
        <p:nvSpPr>
          <p:cNvPr id="13" name="Shape 11"/>
          <p:cNvSpPr/>
          <p:nvPr/>
        </p:nvSpPr>
        <p:spPr>
          <a:xfrm>
            <a:off x="411480" y="2066544"/>
            <a:ext cx="1783080" cy="329184"/>
          </a:xfrm>
          <a:prstGeom prst="rect">
            <a:avLst>
              <a:gd name="adj" fmla="val 11111"/>
            </a:avLst>
          </a:prstGeom>
          <a:solidFill>
            <a:srgbClr val="0A74E3"/>
          </a:solidFill>
          <a:ln w="12700">
            <a:solidFill>
              <a:srgbClr val="0A74E3"/>
            </a:solidFill>
            <a:prstDash val="solid"/>
          </a:ln>
        </p:spPr>
      </p:sp>
      <p:sp>
        <p:nvSpPr>
          <p:cNvPr id="14" name="Text 12"/>
          <p:cNvSpPr/>
          <p:nvPr/>
        </p:nvSpPr>
        <p:spPr>
          <a:xfrm>
            <a:off x="411480" y="2066544"/>
            <a:ext cx="1783080" cy="329184"/>
          </a:xfrm>
          <a:prstGeom prst="rect">
            <a:avLst/>
          </a:prstGeom>
          <a:noFill/>
          <a:ln/>
        </p:spPr>
        <p:txBody>
          <a:bodyPr wrap="square" rtlCol="0" anchor="ctr"/>
          <a:lstStyle/>
          <a:p>
            <a:pPr algn="ctr" indent="0" marL="0">
              <a:buNone/>
            </a:pPr>
            <a:r>
              <a:rPr lang="en-US" sz="800" b="1" dirty="0">
                <a:solidFill>
                  <a:srgbClr val="0A74E3"/>
                </a:solidFill>
                <a:latin typeface="Atkinson Hyperlegible" pitchFamily="34" charset="0"/>
                <a:ea typeface="Atkinson Hyperlegible" pitchFamily="34" charset="-122"/>
                <a:cs typeface="Atkinson Hyperlegible" pitchFamily="34" charset="-120"/>
              </a:rPr>
              <a:t>Meta: ≥85%</a:t>
            </a:r>
            <a:endParaRPr lang="en-US" sz="800" dirty="0"/>
          </a:p>
        </p:txBody>
      </p:sp>
      <p:sp>
        <p:nvSpPr>
          <p:cNvPr id="15" name="Shape 13"/>
          <p:cNvSpPr/>
          <p:nvPr/>
        </p:nvSpPr>
        <p:spPr>
          <a:xfrm>
            <a:off x="320040" y="2615184"/>
            <a:ext cx="1965960" cy="1152144"/>
          </a:xfrm>
          <a:prstGeom prst="rect">
            <a:avLst>
              <a:gd name="adj" fmla="val 3968"/>
            </a:avLst>
          </a:prstGeom>
          <a:solidFill>
            <a:srgbClr val="F9F9F9"/>
          </a:solidFill>
          <a:ln w="10160">
            <a:solidFill>
              <a:srgbClr val="0A74E3"/>
            </a:solidFill>
            <a:prstDash val="solid"/>
          </a:ln>
        </p:spPr>
      </p:sp>
      <p:sp>
        <p:nvSpPr>
          <p:cNvPr id="16" name="Text 14"/>
          <p:cNvSpPr/>
          <p:nvPr/>
        </p:nvSpPr>
        <p:spPr>
          <a:xfrm>
            <a:off x="411480" y="2670048"/>
            <a:ext cx="178308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EDS Compliance</a:t>
            </a:r>
            <a:endParaRPr lang="en-US" sz="900" dirty="0"/>
          </a:p>
        </p:txBody>
      </p:sp>
      <p:sp>
        <p:nvSpPr>
          <p:cNvPr id="17" name="Text 15"/>
          <p:cNvSpPr/>
          <p:nvPr/>
        </p:nvSpPr>
        <p:spPr>
          <a:xfrm>
            <a:off x="411480" y="2926080"/>
            <a:ext cx="1783080" cy="34747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 entregables de ing. a tiempo</a:t>
            </a:r>
            <a:endParaRPr lang="en-US" sz="750" dirty="0"/>
          </a:p>
        </p:txBody>
      </p:sp>
      <p:sp>
        <p:nvSpPr>
          <p:cNvPr id="18" name="Shape 16"/>
          <p:cNvSpPr/>
          <p:nvPr/>
        </p:nvSpPr>
        <p:spPr>
          <a:xfrm>
            <a:off x="411480" y="3291840"/>
            <a:ext cx="1783080" cy="329184"/>
          </a:xfrm>
          <a:prstGeom prst="rect">
            <a:avLst>
              <a:gd name="adj" fmla="val 11111"/>
            </a:avLst>
          </a:prstGeom>
          <a:solidFill>
            <a:srgbClr val="0A74E3"/>
          </a:solidFill>
          <a:ln w="12700">
            <a:solidFill>
              <a:srgbClr val="0A74E3"/>
            </a:solidFill>
            <a:prstDash val="solid"/>
          </a:ln>
        </p:spPr>
      </p:sp>
      <p:sp>
        <p:nvSpPr>
          <p:cNvPr id="19" name="Text 17"/>
          <p:cNvSpPr/>
          <p:nvPr/>
        </p:nvSpPr>
        <p:spPr>
          <a:xfrm>
            <a:off x="411480" y="3291840"/>
            <a:ext cx="1783080" cy="329184"/>
          </a:xfrm>
          <a:prstGeom prst="rect">
            <a:avLst/>
          </a:prstGeom>
          <a:noFill/>
          <a:ln/>
        </p:spPr>
        <p:txBody>
          <a:bodyPr wrap="square" rtlCol="0" anchor="ctr"/>
          <a:lstStyle/>
          <a:p>
            <a:pPr algn="ctr" indent="0" marL="0">
              <a:buNone/>
            </a:pPr>
            <a:r>
              <a:rPr lang="en-US" sz="800" b="1" dirty="0">
                <a:solidFill>
                  <a:srgbClr val="0A74E3"/>
                </a:solidFill>
                <a:latin typeface="Atkinson Hyperlegible" pitchFamily="34" charset="0"/>
                <a:ea typeface="Atkinson Hyperlegible" pitchFamily="34" charset="-122"/>
                <a:cs typeface="Atkinson Hyperlegible" pitchFamily="34" charset="-120"/>
              </a:rPr>
              <a:t>Meta: ≥90%</a:t>
            </a:r>
            <a:endParaRPr lang="en-US" sz="800" dirty="0"/>
          </a:p>
        </p:txBody>
      </p:sp>
      <p:sp>
        <p:nvSpPr>
          <p:cNvPr id="20" name="Shape 18"/>
          <p:cNvSpPr/>
          <p:nvPr/>
        </p:nvSpPr>
        <p:spPr>
          <a:xfrm>
            <a:off x="320040" y="3840480"/>
            <a:ext cx="1965960" cy="1152144"/>
          </a:xfrm>
          <a:prstGeom prst="rect">
            <a:avLst>
              <a:gd name="adj" fmla="val 3968"/>
            </a:avLst>
          </a:prstGeom>
          <a:solidFill>
            <a:srgbClr val="FFFFFF"/>
          </a:solidFill>
          <a:ln w="10160">
            <a:solidFill>
              <a:srgbClr val="0A74E3"/>
            </a:solidFill>
            <a:prstDash val="solid"/>
          </a:ln>
        </p:spPr>
      </p:sp>
      <p:sp>
        <p:nvSpPr>
          <p:cNvPr id="21" name="Text 19"/>
          <p:cNvSpPr/>
          <p:nvPr/>
        </p:nvSpPr>
        <p:spPr>
          <a:xfrm>
            <a:off x="411480" y="3895344"/>
            <a:ext cx="178308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CWP Completion</a:t>
            </a:r>
            <a:endParaRPr lang="en-US" sz="900" dirty="0"/>
          </a:p>
        </p:txBody>
      </p:sp>
      <p:sp>
        <p:nvSpPr>
          <p:cNvPr id="22" name="Text 20"/>
          <p:cNvSpPr/>
          <p:nvPr/>
        </p:nvSpPr>
        <p:spPr>
          <a:xfrm>
            <a:off x="411480" y="4151376"/>
            <a:ext cx="1783080" cy="34747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 CWPs cerrados sin retrabajo</a:t>
            </a:r>
            <a:endParaRPr lang="en-US" sz="750" dirty="0"/>
          </a:p>
        </p:txBody>
      </p:sp>
      <p:sp>
        <p:nvSpPr>
          <p:cNvPr id="23" name="Shape 21"/>
          <p:cNvSpPr/>
          <p:nvPr/>
        </p:nvSpPr>
        <p:spPr>
          <a:xfrm>
            <a:off x="411480" y="4517136"/>
            <a:ext cx="1783080" cy="329184"/>
          </a:xfrm>
          <a:prstGeom prst="rect">
            <a:avLst>
              <a:gd name="adj" fmla="val 11111"/>
            </a:avLst>
          </a:prstGeom>
          <a:solidFill>
            <a:srgbClr val="0A74E3"/>
          </a:solidFill>
          <a:ln w="12700">
            <a:solidFill>
              <a:srgbClr val="0A74E3"/>
            </a:solidFill>
            <a:prstDash val="solid"/>
          </a:ln>
        </p:spPr>
      </p:sp>
      <p:sp>
        <p:nvSpPr>
          <p:cNvPr id="24" name="Text 22"/>
          <p:cNvSpPr/>
          <p:nvPr/>
        </p:nvSpPr>
        <p:spPr>
          <a:xfrm>
            <a:off x="411480" y="4517136"/>
            <a:ext cx="1783080" cy="329184"/>
          </a:xfrm>
          <a:prstGeom prst="rect">
            <a:avLst/>
          </a:prstGeom>
          <a:noFill/>
          <a:ln/>
        </p:spPr>
        <p:txBody>
          <a:bodyPr wrap="square" rtlCol="0" anchor="ctr"/>
          <a:lstStyle/>
          <a:p>
            <a:pPr algn="ctr" indent="0" marL="0">
              <a:buNone/>
            </a:pPr>
            <a:r>
              <a:rPr lang="en-US" sz="800" b="1" dirty="0">
                <a:solidFill>
                  <a:srgbClr val="0A74E3"/>
                </a:solidFill>
                <a:latin typeface="Atkinson Hyperlegible" pitchFamily="34" charset="0"/>
                <a:ea typeface="Atkinson Hyperlegible" pitchFamily="34" charset="-122"/>
                <a:cs typeface="Atkinson Hyperlegible" pitchFamily="34" charset="-120"/>
              </a:rPr>
              <a:t>Meta: ≥95%</a:t>
            </a:r>
            <a:endParaRPr lang="en-US" sz="800" dirty="0"/>
          </a:p>
        </p:txBody>
      </p:sp>
      <p:sp>
        <p:nvSpPr>
          <p:cNvPr id="25" name="Shape 23"/>
          <p:cNvSpPr/>
          <p:nvPr/>
        </p:nvSpPr>
        <p:spPr>
          <a:xfrm>
            <a:off x="2487168" y="987552"/>
            <a:ext cx="1965960" cy="347472"/>
          </a:xfrm>
          <a:prstGeom prst="rect">
            <a:avLst>
              <a:gd name="adj" fmla="val 15789"/>
            </a:avLst>
          </a:prstGeom>
          <a:solidFill>
            <a:srgbClr val="0E9E9E"/>
          </a:solidFill>
          <a:ln w="12700">
            <a:solidFill>
              <a:srgbClr val="0E9E9E"/>
            </a:solidFill>
            <a:prstDash val="solid"/>
          </a:ln>
        </p:spPr>
      </p:sp>
      <p:sp>
        <p:nvSpPr>
          <p:cNvPr id="26" name="Text 24"/>
          <p:cNvSpPr/>
          <p:nvPr/>
        </p:nvSpPr>
        <p:spPr>
          <a:xfrm>
            <a:off x="2487168" y="987552"/>
            <a:ext cx="1965960" cy="347472"/>
          </a:xfrm>
          <a:prstGeom prst="rect">
            <a:avLst/>
          </a:prstGeom>
          <a:noFill/>
          <a:ln/>
        </p:spPr>
        <p:txBody>
          <a:bodyPr wrap="square" rtlCol="0" anchor="ctr"/>
          <a:lstStyle/>
          <a:p>
            <a:pPr algn="ctr" indent="0" marL="0">
              <a:buNone/>
            </a:pPr>
            <a:r>
              <a:rPr lang="en-US" sz="950" b="1" dirty="0">
                <a:solidFill>
                  <a:srgbClr val="FFFFFF"/>
                </a:solidFill>
                <a:latin typeface="Atkinson Hyperlegible" pitchFamily="34" charset="0"/>
                <a:ea typeface="Atkinson Hyperlegible" pitchFamily="34" charset="-122"/>
                <a:cs typeface="Atkinson Hyperlegible" pitchFamily="34" charset="-120"/>
              </a:rPr>
              <a:t>Eficiencia</a:t>
            </a:r>
            <a:endParaRPr lang="en-US" sz="950" dirty="0"/>
          </a:p>
        </p:txBody>
      </p:sp>
      <p:sp>
        <p:nvSpPr>
          <p:cNvPr id="27" name="Shape 25"/>
          <p:cNvSpPr/>
          <p:nvPr/>
        </p:nvSpPr>
        <p:spPr>
          <a:xfrm>
            <a:off x="2487168" y="1389888"/>
            <a:ext cx="1965960" cy="1152144"/>
          </a:xfrm>
          <a:prstGeom prst="rect">
            <a:avLst>
              <a:gd name="adj" fmla="val 3968"/>
            </a:avLst>
          </a:prstGeom>
          <a:solidFill>
            <a:srgbClr val="FFFFFF"/>
          </a:solidFill>
          <a:ln w="10160">
            <a:solidFill>
              <a:srgbClr val="0E9E9E"/>
            </a:solidFill>
            <a:prstDash val="solid"/>
          </a:ln>
        </p:spPr>
      </p:sp>
      <p:sp>
        <p:nvSpPr>
          <p:cNvPr id="28" name="Text 26"/>
          <p:cNvSpPr/>
          <p:nvPr/>
        </p:nvSpPr>
        <p:spPr>
          <a:xfrm>
            <a:off x="2578608" y="1444752"/>
            <a:ext cx="178308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CPI (Cost PI)</a:t>
            </a:r>
            <a:endParaRPr lang="en-US" sz="900" dirty="0"/>
          </a:p>
        </p:txBody>
      </p:sp>
      <p:sp>
        <p:nvSpPr>
          <p:cNvPr id="29" name="Text 27"/>
          <p:cNvSpPr/>
          <p:nvPr/>
        </p:nvSpPr>
        <p:spPr>
          <a:xfrm>
            <a:off x="2578608" y="1700784"/>
            <a:ext cx="1783080" cy="34747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Costo ganado / costo real</a:t>
            </a:r>
            <a:endParaRPr lang="en-US" sz="750" dirty="0"/>
          </a:p>
        </p:txBody>
      </p:sp>
      <p:sp>
        <p:nvSpPr>
          <p:cNvPr id="30" name="Shape 28"/>
          <p:cNvSpPr/>
          <p:nvPr/>
        </p:nvSpPr>
        <p:spPr>
          <a:xfrm>
            <a:off x="2578608" y="2066544"/>
            <a:ext cx="1783080" cy="329184"/>
          </a:xfrm>
          <a:prstGeom prst="rect">
            <a:avLst>
              <a:gd name="adj" fmla="val 11111"/>
            </a:avLst>
          </a:prstGeom>
          <a:solidFill>
            <a:srgbClr val="0E9E9E"/>
          </a:solidFill>
          <a:ln w="12700">
            <a:solidFill>
              <a:srgbClr val="0E9E9E"/>
            </a:solidFill>
            <a:prstDash val="solid"/>
          </a:ln>
        </p:spPr>
      </p:sp>
      <p:sp>
        <p:nvSpPr>
          <p:cNvPr id="31" name="Text 29"/>
          <p:cNvSpPr/>
          <p:nvPr/>
        </p:nvSpPr>
        <p:spPr>
          <a:xfrm>
            <a:off x="2578608" y="2066544"/>
            <a:ext cx="1783080" cy="329184"/>
          </a:xfrm>
          <a:prstGeom prst="rect">
            <a:avLst/>
          </a:prstGeom>
          <a:noFill/>
          <a:ln/>
        </p:spPr>
        <p:txBody>
          <a:bodyPr wrap="square" rtlCol="0" anchor="ctr"/>
          <a:lstStyle/>
          <a:p>
            <a:pPr algn="ctr" indent="0" marL="0">
              <a:buNone/>
            </a:pPr>
            <a:r>
              <a:rPr lang="en-US" sz="800" b="1" dirty="0">
                <a:solidFill>
                  <a:srgbClr val="0E9E9E"/>
                </a:solidFill>
                <a:latin typeface="Atkinson Hyperlegible" pitchFamily="34" charset="0"/>
                <a:ea typeface="Atkinson Hyperlegible" pitchFamily="34" charset="-122"/>
                <a:cs typeface="Atkinson Hyperlegible" pitchFamily="34" charset="-120"/>
              </a:rPr>
              <a:t>Meta: ≥1.00</a:t>
            </a:r>
            <a:endParaRPr lang="en-US" sz="800" dirty="0"/>
          </a:p>
        </p:txBody>
      </p:sp>
      <p:sp>
        <p:nvSpPr>
          <p:cNvPr id="32" name="Shape 30"/>
          <p:cNvSpPr/>
          <p:nvPr/>
        </p:nvSpPr>
        <p:spPr>
          <a:xfrm>
            <a:off x="2487168" y="2615184"/>
            <a:ext cx="1965960" cy="1152144"/>
          </a:xfrm>
          <a:prstGeom prst="rect">
            <a:avLst>
              <a:gd name="adj" fmla="val 3968"/>
            </a:avLst>
          </a:prstGeom>
          <a:solidFill>
            <a:srgbClr val="F9F9F9"/>
          </a:solidFill>
          <a:ln w="10160">
            <a:solidFill>
              <a:srgbClr val="0E9E9E"/>
            </a:solidFill>
            <a:prstDash val="solid"/>
          </a:ln>
        </p:spPr>
      </p:sp>
      <p:sp>
        <p:nvSpPr>
          <p:cNvPr id="33" name="Text 31"/>
          <p:cNvSpPr/>
          <p:nvPr/>
        </p:nvSpPr>
        <p:spPr>
          <a:xfrm>
            <a:off x="2578608" y="2670048"/>
            <a:ext cx="178308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SPI (Schedule PI)</a:t>
            </a:r>
            <a:endParaRPr lang="en-US" sz="900" dirty="0"/>
          </a:p>
        </p:txBody>
      </p:sp>
      <p:sp>
        <p:nvSpPr>
          <p:cNvPr id="34" name="Text 32"/>
          <p:cNvSpPr/>
          <p:nvPr/>
        </p:nvSpPr>
        <p:spPr>
          <a:xfrm>
            <a:off x="2578608" y="2926080"/>
            <a:ext cx="1783080" cy="34747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Avance ganado / avance plan</a:t>
            </a:r>
            <a:endParaRPr lang="en-US" sz="750" dirty="0"/>
          </a:p>
        </p:txBody>
      </p:sp>
      <p:sp>
        <p:nvSpPr>
          <p:cNvPr id="35" name="Shape 33"/>
          <p:cNvSpPr/>
          <p:nvPr/>
        </p:nvSpPr>
        <p:spPr>
          <a:xfrm>
            <a:off x="2578608" y="3291840"/>
            <a:ext cx="1783080" cy="329184"/>
          </a:xfrm>
          <a:prstGeom prst="rect">
            <a:avLst>
              <a:gd name="adj" fmla="val 11111"/>
            </a:avLst>
          </a:prstGeom>
          <a:solidFill>
            <a:srgbClr val="0E9E9E"/>
          </a:solidFill>
          <a:ln w="12700">
            <a:solidFill>
              <a:srgbClr val="0E9E9E"/>
            </a:solidFill>
            <a:prstDash val="solid"/>
          </a:ln>
        </p:spPr>
      </p:sp>
      <p:sp>
        <p:nvSpPr>
          <p:cNvPr id="36" name="Text 34"/>
          <p:cNvSpPr/>
          <p:nvPr/>
        </p:nvSpPr>
        <p:spPr>
          <a:xfrm>
            <a:off x="2578608" y="3291840"/>
            <a:ext cx="1783080" cy="329184"/>
          </a:xfrm>
          <a:prstGeom prst="rect">
            <a:avLst/>
          </a:prstGeom>
          <a:noFill/>
          <a:ln/>
        </p:spPr>
        <p:txBody>
          <a:bodyPr wrap="square" rtlCol="0" anchor="ctr"/>
          <a:lstStyle/>
          <a:p>
            <a:pPr algn="ctr" indent="0" marL="0">
              <a:buNone/>
            </a:pPr>
            <a:r>
              <a:rPr lang="en-US" sz="800" b="1" dirty="0">
                <a:solidFill>
                  <a:srgbClr val="0E9E9E"/>
                </a:solidFill>
                <a:latin typeface="Atkinson Hyperlegible" pitchFamily="34" charset="0"/>
                <a:ea typeface="Atkinson Hyperlegible" pitchFamily="34" charset="-122"/>
                <a:cs typeface="Atkinson Hyperlegible" pitchFamily="34" charset="-120"/>
              </a:rPr>
              <a:t>Meta: ≥1.00</a:t>
            </a:r>
            <a:endParaRPr lang="en-US" sz="800" dirty="0"/>
          </a:p>
        </p:txBody>
      </p:sp>
      <p:sp>
        <p:nvSpPr>
          <p:cNvPr id="37" name="Shape 35"/>
          <p:cNvSpPr/>
          <p:nvPr/>
        </p:nvSpPr>
        <p:spPr>
          <a:xfrm>
            <a:off x="2487168" y="3840480"/>
            <a:ext cx="1965960" cy="1152144"/>
          </a:xfrm>
          <a:prstGeom prst="rect">
            <a:avLst>
              <a:gd name="adj" fmla="val 3968"/>
            </a:avLst>
          </a:prstGeom>
          <a:solidFill>
            <a:srgbClr val="FFFFFF"/>
          </a:solidFill>
          <a:ln w="10160">
            <a:solidFill>
              <a:srgbClr val="0E9E9E"/>
            </a:solidFill>
            <a:prstDash val="solid"/>
          </a:ln>
        </p:spPr>
      </p:sp>
      <p:sp>
        <p:nvSpPr>
          <p:cNvPr id="38" name="Text 36"/>
          <p:cNvSpPr/>
          <p:nvPr/>
        </p:nvSpPr>
        <p:spPr>
          <a:xfrm>
            <a:off x="2578608" y="3895344"/>
            <a:ext cx="178308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WH/TH Ratio</a:t>
            </a:r>
            <a:endParaRPr lang="en-US" sz="900" dirty="0"/>
          </a:p>
        </p:txBody>
      </p:sp>
      <p:sp>
        <p:nvSpPr>
          <p:cNvPr id="39" name="Text 37"/>
          <p:cNvSpPr/>
          <p:nvPr/>
        </p:nvSpPr>
        <p:spPr>
          <a:xfrm>
            <a:off x="2578608" y="4151376"/>
            <a:ext cx="1783080" cy="34747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Horas de trabajo / horas totales</a:t>
            </a:r>
            <a:endParaRPr lang="en-US" sz="750" dirty="0"/>
          </a:p>
        </p:txBody>
      </p:sp>
      <p:sp>
        <p:nvSpPr>
          <p:cNvPr id="40" name="Shape 38"/>
          <p:cNvSpPr/>
          <p:nvPr/>
        </p:nvSpPr>
        <p:spPr>
          <a:xfrm>
            <a:off x="2578608" y="4517136"/>
            <a:ext cx="1783080" cy="329184"/>
          </a:xfrm>
          <a:prstGeom prst="rect">
            <a:avLst>
              <a:gd name="adj" fmla="val 11111"/>
            </a:avLst>
          </a:prstGeom>
          <a:solidFill>
            <a:srgbClr val="0E9E9E"/>
          </a:solidFill>
          <a:ln w="12700">
            <a:solidFill>
              <a:srgbClr val="0E9E9E"/>
            </a:solidFill>
            <a:prstDash val="solid"/>
          </a:ln>
        </p:spPr>
      </p:sp>
      <p:sp>
        <p:nvSpPr>
          <p:cNvPr id="41" name="Text 39"/>
          <p:cNvSpPr/>
          <p:nvPr/>
        </p:nvSpPr>
        <p:spPr>
          <a:xfrm>
            <a:off x="2578608" y="4517136"/>
            <a:ext cx="1783080" cy="329184"/>
          </a:xfrm>
          <a:prstGeom prst="rect">
            <a:avLst/>
          </a:prstGeom>
          <a:noFill/>
          <a:ln/>
        </p:spPr>
        <p:txBody>
          <a:bodyPr wrap="square" rtlCol="0" anchor="ctr"/>
          <a:lstStyle/>
          <a:p>
            <a:pPr algn="ctr" indent="0" marL="0">
              <a:buNone/>
            </a:pPr>
            <a:r>
              <a:rPr lang="en-US" sz="800" b="1" dirty="0">
                <a:solidFill>
                  <a:srgbClr val="0E9E9E"/>
                </a:solidFill>
                <a:latin typeface="Atkinson Hyperlegible" pitchFamily="34" charset="0"/>
                <a:ea typeface="Atkinson Hyperlegible" pitchFamily="34" charset="-122"/>
                <a:cs typeface="Atkinson Hyperlegible" pitchFamily="34" charset="-120"/>
              </a:rPr>
              <a:t>Meta: ≥0.60</a:t>
            </a:r>
            <a:endParaRPr lang="en-US" sz="800" dirty="0"/>
          </a:p>
        </p:txBody>
      </p:sp>
      <p:sp>
        <p:nvSpPr>
          <p:cNvPr id="42" name="Shape 40"/>
          <p:cNvSpPr/>
          <p:nvPr/>
        </p:nvSpPr>
        <p:spPr>
          <a:xfrm>
            <a:off x="4654296" y="987552"/>
            <a:ext cx="1965960" cy="347472"/>
          </a:xfrm>
          <a:prstGeom prst="rect">
            <a:avLst>
              <a:gd name="adj" fmla="val 15789"/>
            </a:avLst>
          </a:prstGeom>
          <a:solidFill>
            <a:srgbClr val="27AE60"/>
          </a:solidFill>
          <a:ln w="12700">
            <a:solidFill>
              <a:srgbClr val="27AE60"/>
            </a:solidFill>
            <a:prstDash val="solid"/>
          </a:ln>
        </p:spPr>
      </p:sp>
      <p:sp>
        <p:nvSpPr>
          <p:cNvPr id="43" name="Text 41"/>
          <p:cNvSpPr/>
          <p:nvPr/>
        </p:nvSpPr>
        <p:spPr>
          <a:xfrm>
            <a:off x="4654296" y="987552"/>
            <a:ext cx="1965960" cy="347472"/>
          </a:xfrm>
          <a:prstGeom prst="rect">
            <a:avLst/>
          </a:prstGeom>
          <a:noFill/>
          <a:ln/>
        </p:spPr>
        <p:txBody>
          <a:bodyPr wrap="square" rtlCol="0" anchor="ctr"/>
          <a:lstStyle/>
          <a:p>
            <a:pPr algn="ctr" indent="0" marL="0">
              <a:buNone/>
            </a:pPr>
            <a:r>
              <a:rPr lang="en-US" sz="950" b="1" dirty="0">
                <a:solidFill>
                  <a:srgbClr val="FFFFFF"/>
                </a:solidFill>
                <a:latin typeface="Atkinson Hyperlegible" pitchFamily="34" charset="0"/>
                <a:ea typeface="Atkinson Hyperlegible" pitchFamily="34" charset="-122"/>
                <a:cs typeface="Atkinson Hyperlegible" pitchFamily="34" charset="-120"/>
              </a:rPr>
              <a:t>Calidad</a:t>
            </a:r>
            <a:endParaRPr lang="en-US" sz="950" dirty="0"/>
          </a:p>
        </p:txBody>
      </p:sp>
      <p:sp>
        <p:nvSpPr>
          <p:cNvPr id="44" name="Shape 42"/>
          <p:cNvSpPr/>
          <p:nvPr/>
        </p:nvSpPr>
        <p:spPr>
          <a:xfrm>
            <a:off x="4654296" y="1389888"/>
            <a:ext cx="1965960" cy="1152144"/>
          </a:xfrm>
          <a:prstGeom prst="rect">
            <a:avLst>
              <a:gd name="adj" fmla="val 3968"/>
            </a:avLst>
          </a:prstGeom>
          <a:solidFill>
            <a:srgbClr val="FFFFFF"/>
          </a:solidFill>
          <a:ln w="10160">
            <a:solidFill>
              <a:srgbClr val="27AE60"/>
            </a:solidFill>
            <a:prstDash val="solid"/>
          </a:ln>
        </p:spPr>
      </p:sp>
      <p:sp>
        <p:nvSpPr>
          <p:cNvPr id="45" name="Text 43"/>
          <p:cNvSpPr/>
          <p:nvPr/>
        </p:nvSpPr>
        <p:spPr>
          <a:xfrm>
            <a:off x="4745736" y="1444752"/>
            <a:ext cx="178308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RFI Rate</a:t>
            </a:r>
            <a:endParaRPr lang="en-US" sz="900" dirty="0"/>
          </a:p>
        </p:txBody>
      </p:sp>
      <p:sp>
        <p:nvSpPr>
          <p:cNvPr id="46" name="Text 44"/>
          <p:cNvSpPr/>
          <p:nvPr/>
        </p:nvSpPr>
        <p:spPr>
          <a:xfrm>
            <a:off x="4745736" y="1700784"/>
            <a:ext cx="1783080" cy="34747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RFIs/mes por disciplina</a:t>
            </a:r>
            <a:endParaRPr lang="en-US" sz="750" dirty="0"/>
          </a:p>
        </p:txBody>
      </p:sp>
      <p:sp>
        <p:nvSpPr>
          <p:cNvPr id="47" name="Shape 45"/>
          <p:cNvSpPr/>
          <p:nvPr/>
        </p:nvSpPr>
        <p:spPr>
          <a:xfrm>
            <a:off x="4745736" y="2066544"/>
            <a:ext cx="1783080" cy="329184"/>
          </a:xfrm>
          <a:prstGeom prst="rect">
            <a:avLst>
              <a:gd name="adj" fmla="val 11111"/>
            </a:avLst>
          </a:prstGeom>
          <a:solidFill>
            <a:srgbClr val="27AE60"/>
          </a:solidFill>
          <a:ln w="12700">
            <a:solidFill>
              <a:srgbClr val="27AE60"/>
            </a:solidFill>
            <a:prstDash val="solid"/>
          </a:ln>
        </p:spPr>
      </p:sp>
      <p:sp>
        <p:nvSpPr>
          <p:cNvPr id="48" name="Text 46"/>
          <p:cNvSpPr/>
          <p:nvPr/>
        </p:nvSpPr>
        <p:spPr>
          <a:xfrm>
            <a:off x="4745736" y="2066544"/>
            <a:ext cx="1783080" cy="329184"/>
          </a:xfrm>
          <a:prstGeom prst="rect">
            <a:avLst/>
          </a:prstGeom>
          <a:noFill/>
          <a:ln/>
        </p:spPr>
        <p:txBody>
          <a:bodyPr wrap="square" rtlCol="0" anchor="ctr"/>
          <a:lstStyle/>
          <a:p>
            <a:pPr algn="ctr" indent="0" marL="0">
              <a:buNone/>
            </a:pPr>
            <a:r>
              <a:rPr lang="en-US" sz="800" b="1" dirty="0">
                <a:solidFill>
                  <a:srgbClr val="27AE60"/>
                </a:solidFill>
                <a:latin typeface="Atkinson Hyperlegible" pitchFamily="34" charset="0"/>
                <a:ea typeface="Atkinson Hyperlegible" pitchFamily="34" charset="-122"/>
                <a:cs typeface="Atkinson Hyperlegible" pitchFamily="34" charset="-120"/>
              </a:rPr>
              <a:t>Meta: -30% vs base</a:t>
            </a:r>
            <a:endParaRPr lang="en-US" sz="800" dirty="0"/>
          </a:p>
        </p:txBody>
      </p:sp>
      <p:sp>
        <p:nvSpPr>
          <p:cNvPr id="49" name="Shape 47"/>
          <p:cNvSpPr/>
          <p:nvPr/>
        </p:nvSpPr>
        <p:spPr>
          <a:xfrm>
            <a:off x="4654296" y="2615184"/>
            <a:ext cx="1965960" cy="1152144"/>
          </a:xfrm>
          <a:prstGeom prst="rect">
            <a:avLst>
              <a:gd name="adj" fmla="val 3968"/>
            </a:avLst>
          </a:prstGeom>
          <a:solidFill>
            <a:srgbClr val="F9F9F9"/>
          </a:solidFill>
          <a:ln w="10160">
            <a:solidFill>
              <a:srgbClr val="27AE60"/>
            </a:solidFill>
            <a:prstDash val="solid"/>
          </a:ln>
        </p:spPr>
      </p:sp>
      <p:sp>
        <p:nvSpPr>
          <p:cNvPr id="50" name="Text 48"/>
          <p:cNvSpPr/>
          <p:nvPr/>
        </p:nvSpPr>
        <p:spPr>
          <a:xfrm>
            <a:off x="4745736" y="2670048"/>
            <a:ext cx="178308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Punch Items</a:t>
            </a:r>
            <a:endParaRPr lang="en-US" sz="900" dirty="0"/>
          </a:p>
        </p:txBody>
      </p:sp>
      <p:sp>
        <p:nvSpPr>
          <p:cNvPr id="51" name="Text 49"/>
          <p:cNvSpPr/>
          <p:nvPr/>
        </p:nvSpPr>
        <p:spPr>
          <a:xfrm>
            <a:off x="4745736" y="2926080"/>
            <a:ext cx="1783080" cy="34747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Ítems de punch al completar</a:t>
            </a:r>
            <a:endParaRPr lang="en-US" sz="750" dirty="0"/>
          </a:p>
        </p:txBody>
      </p:sp>
      <p:sp>
        <p:nvSpPr>
          <p:cNvPr id="52" name="Shape 50"/>
          <p:cNvSpPr/>
          <p:nvPr/>
        </p:nvSpPr>
        <p:spPr>
          <a:xfrm>
            <a:off x="4745736" y="3291840"/>
            <a:ext cx="1783080" cy="329184"/>
          </a:xfrm>
          <a:prstGeom prst="rect">
            <a:avLst>
              <a:gd name="adj" fmla="val 11111"/>
            </a:avLst>
          </a:prstGeom>
          <a:solidFill>
            <a:srgbClr val="27AE60"/>
          </a:solidFill>
          <a:ln w="12700">
            <a:solidFill>
              <a:srgbClr val="27AE60"/>
            </a:solidFill>
            <a:prstDash val="solid"/>
          </a:ln>
        </p:spPr>
      </p:sp>
      <p:sp>
        <p:nvSpPr>
          <p:cNvPr id="53" name="Text 51"/>
          <p:cNvSpPr/>
          <p:nvPr/>
        </p:nvSpPr>
        <p:spPr>
          <a:xfrm>
            <a:off x="4745736" y="3291840"/>
            <a:ext cx="1783080" cy="329184"/>
          </a:xfrm>
          <a:prstGeom prst="rect">
            <a:avLst/>
          </a:prstGeom>
          <a:noFill/>
          <a:ln/>
        </p:spPr>
        <p:txBody>
          <a:bodyPr wrap="square" rtlCol="0" anchor="ctr"/>
          <a:lstStyle/>
          <a:p>
            <a:pPr algn="ctr" indent="0" marL="0">
              <a:buNone/>
            </a:pPr>
            <a:r>
              <a:rPr lang="en-US" sz="800" b="1" dirty="0">
                <a:solidFill>
                  <a:srgbClr val="27AE60"/>
                </a:solidFill>
                <a:latin typeface="Atkinson Hyperlegible" pitchFamily="34" charset="0"/>
                <a:ea typeface="Atkinson Hyperlegible" pitchFamily="34" charset="-122"/>
                <a:cs typeface="Atkinson Hyperlegible" pitchFamily="34" charset="-120"/>
              </a:rPr>
              <a:t>Meta: &lt;5 por IWP</a:t>
            </a:r>
            <a:endParaRPr lang="en-US" sz="800" dirty="0"/>
          </a:p>
        </p:txBody>
      </p:sp>
      <p:sp>
        <p:nvSpPr>
          <p:cNvPr id="54" name="Shape 52"/>
          <p:cNvSpPr/>
          <p:nvPr/>
        </p:nvSpPr>
        <p:spPr>
          <a:xfrm>
            <a:off x="4654296" y="3840480"/>
            <a:ext cx="1965960" cy="1152144"/>
          </a:xfrm>
          <a:prstGeom prst="rect">
            <a:avLst>
              <a:gd name="adj" fmla="val 3968"/>
            </a:avLst>
          </a:prstGeom>
          <a:solidFill>
            <a:srgbClr val="FFFFFF"/>
          </a:solidFill>
          <a:ln w="10160">
            <a:solidFill>
              <a:srgbClr val="27AE60"/>
            </a:solidFill>
            <a:prstDash val="solid"/>
          </a:ln>
        </p:spPr>
      </p:sp>
      <p:sp>
        <p:nvSpPr>
          <p:cNvPr id="55" name="Text 53"/>
          <p:cNvSpPr/>
          <p:nvPr/>
        </p:nvSpPr>
        <p:spPr>
          <a:xfrm>
            <a:off x="4745736" y="3895344"/>
            <a:ext cx="178308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Retrabajo</a:t>
            </a:r>
            <a:endParaRPr lang="en-US" sz="900" dirty="0"/>
          </a:p>
        </p:txBody>
      </p:sp>
      <p:sp>
        <p:nvSpPr>
          <p:cNvPr id="56" name="Text 54"/>
          <p:cNvSpPr/>
          <p:nvPr/>
        </p:nvSpPr>
        <p:spPr>
          <a:xfrm>
            <a:off x="4745736" y="4151376"/>
            <a:ext cx="1783080" cy="34747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 horas de retrabajo vs total</a:t>
            </a:r>
            <a:endParaRPr lang="en-US" sz="750" dirty="0"/>
          </a:p>
        </p:txBody>
      </p:sp>
      <p:sp>
        <p:nvSpPr>
          <p:cNvPr id="57" name="Shape 55"/>
          <p:cNvSpPr/>
          <p:nvPr/>
        </p:nvSpPr>
        <p:spPr>
          <a:xfrm>
            <a:off x="4745736" y="4517136"/>
            <a:ext cx="1783080" cy="329184"/>
          </a:xfrm>
          <a:prstGeom prst="rect">
            <a:avLst>
              <a:gd name="adj" fmla="val 11111"/>
            </a:avLst>
          </a:prstGeom>
          <a:solidFill>
            <a:srgbClr val="27AE60"/>
          </a:solidFill>
          <a:ln w="12700">
            <a:solidFill>
              <a:srgbClr val="27AE60"/>
            </a:solidFill>
            <a:prstDash val="solid"/>
          </a:ln>
        </p:spPr>
      </p:sp>
      <p:sp>
        <p:nvSpPr>
          <p:cNvPr id="58" name="Text 56"/>
          <p:cNvSpPr/>
          <p:nvPr/>
        </p:nvSpPr>
        <p:spPr>
          <a:xfrm>
            <a:off x="4745736" y="4517136"/>
            <a:ext cx="1783080" cy="329184"/>
          </a:xfrm>
          <a:prstGeom prst="rect">
            <a:avLst/>
          </a:prstGeom>
          <a:noFill/>
          <a:ln/>
        </p:spPr>
        <p:txBody>
          <a:bodyPr wrap="square" rtlCol="0" anchor="ctr"/>
          <a:lstStyle/>
          <a:p>
            <a:pPr algn="ctr" indent="0" marL="0">
              <a:buNone/>
            </a:pPr>
            <a:r>
              <a:rPr lang="en-US" sz="800" b="1" dirty="0">
                <a:solidFill>
                  <a:srgbClr val="27AE60"/>
                </a:solidFill>
                <a:latin typeface="Atkinson Hyperlegible" pitchFamily="34" charset="0"/>
                <a:ea typeface="Atkinson Hyperlegible" pitchFamily="34" charset="-122"/>
                <a:cs typeface="Atkinson Hyperlegible" pitchFamily="34" charset="-120"/>
              </a:rPr>
              <a:t>Meta: &lt;2%</a:t>
            </a:r>
            <a:endParaRPr lang="en-US" sz="800" dirty="0"/>
          </a:p>
        </p:txBody>
      </p:sp>
      <p:sp>
        <p:nvSpPr>
          <p:cNvPr id="59" name="Shape 57"/>
          <p:cNvSpPr/>
          <p:nvPr/>
        </p:nvSpPr>
        <p:spPr>
          <a:xfrm>
            <a:off x="6821424" y="987552"/>
            <a:ext cx="1965960" cy="347472"/>
          </a:xfrm>
          <a:prstGeom prst="rect">
            <a:avLst>
              <a:gd name="adj" fmla="val 15789"/>
            </a:avLst>
          </a:prstGeom>
          <a:solidFill>
            <a:srgbClr val="D4620A"/>
          </a:solidFill>
          <a:ln w="12700">
            <a:solidFill>
              <a:srgbClr val="D4620A"/>
            </a:solidFill>
            <a:prstDash val="solid"/>
          </a:ln>
        </p:spPr>
      </p:sp>
      <p:sp>
        <p:nvSpPr>
          <p:cNvPr id="60" name="Text 58"/>
          <p:cNvSpPr/>
          <p:nvPr/>
        </p:nvSpPr>
        <p:spPr>
          <a:xfrm>
            <a:off x="6821424" y="987552"/>
            <a:ext cx="1965960" cy="347472"/>
          </a:xfrm>
          <a:prstGeom prst="rect">
            <a:avLst/>
          </a:prstGeom>
          <a:noFill/>
          <a:ln/>
        </p:spPr>
        <p:txBody>
          <a:bodyPr wrap="square" rtlCol="0" anchor="ctr"/>
          <a:lstStyle/>
          <a:p>
            <a:pPr algn="ctr" indent="0" marL="0">
              <a:buNone/>
            </a:pPr>
            <a:r>
              <a:rPr lang="en-US" sz="950" b="1" dirty="0">
                <a:solidFill>
                  <a:srgbClr val="FFFFFF"/>
                </a:solidFill>
                <a:latin typeface="Atkinson Hyperlegible" pitchFamily="34" charset="0"/>
                <a:ea typeface="Atkinson Hyperlegible" pitchFamily="34" charset="-122"/>
                <a:cs typeface="Atkinson Hyperlegible" pitchFamily="34" charset="-120"/>
              </a:rPr>
              <a:t>Adopción</a:t>
            </a:r>
            <a:endParaRPr lang="en-US" sz="950" dirty="0"/>
          </a:p>
        </p:txBody>
      </p:sp>
      <p:sp>
        <p:nvSpPr>
          <p:cNvPr id="61" name="Shape 59"/>
          <p:cNvSpPr/>
          <p:nvPr/>
        </p:nvSpPr>
        <p:spPr>
          <a:xfrm>
            <a:off x="6821424" y="1389888"/>
            <a:ext cx="1965960" cy="1152144"/>
          </a:xfrm>
          <a:prstGeom prst="rect">
            <a:avLst>
              <a:gd name="adj" fmla="val 3968"/>
            </a:avLst>
          </a:prstGeom>
          <a:solidFill>
            <a:srgbClr val="FFFFFF"/>
          </a:solidFill>
          <a:ln w="10160">
            <a:solidFill>
              <a:srgbClr val="D4620A"/>
            </a:solidFill>
            <a:prstDash val="solid"/>
          </a:ln>
        </p:spPr>
      </p:sp>
      <p:sp>
        <p:nvSpPr>
          <p:cNvPr id="62" name="Text 60"/>
          <p:cNvSpPr/>
          <p:nvPr/>
        </p:nvSpPr>
        <p:spPr>
          <a:xfrm>
            <a:off x="6912864" y="1444752"/>
            <a:ext cx="178308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IWP Coverage</a:t>
            </a:r>
            <a:endParaRPr lang="en-US" sz="900" dirty="0"/>
          </a:p>
        </p:txBody>
      </p:sp>
      <p:sp>
        <p:nvSpPr>
          <p:cNvPr id="63" name="Text 61"/>
          <p:cNvSpPr/>
          <p:nvPr/>
        </p:nvSpPr>
        <p:spPr>
          <a:xfrm>
            <a:off x="6912864" y="1700784"/>
            <a:ext cx="1783080" cy="34747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 trabajo bajo IWPs formales</a:t>
            </a:r>
            <a:endParaRPr lang="en-US" sz="750" dirty="0"/>
          </a:p>
        </p:txBody>
      </p:sp>
      <p:sp>
        <p:nvSpPr>
          <p:cNvPr id="64" name="Shape 62"/>
          <p:cNvSpPr/>
          <p:nvPr/>
        </p:nvSpPr>
        <p:spPr>
          <a:xfrm>
            <a:off x="6912864" y="2066544"/>
            <a:ext cx="1783080" cy="329184"/>
          </a:xfrm>
          <a:prstGeom prst="rect">
            <a:avLst>
              <a:gd name="adj" fmla="val 11111"/>
            </a:avLst>
          </a:prstGeom>
          <a:solidFill>
            <a:srgbClr val="D4620A"/>
          </a:solidFill>
          <a:ln w="12700">
            <a:solidFill>
              <a:srgbClr val="D4620A"/>
            </a:solidFill>
            <a:prstDash val="solid"/>
          </a:ln>
        </p:spPr>
      </p:sp>
      <p:sp>
        <p:nvSpPr>
          <p:cNvPr id="65" name="Text 63"/>
          <p:cNvSpPr/>
          <p:nvPr/>
        </p:nvSpPr>
        <p:spPr>
          <a:xfrm>
            <a:off x="6912864" y="2066544"/>
            <a:ext cx="1783080" cy="329184"/>
          </a:xfrm>
          <a:prstGeom prst="rect">
            <a:avLst/>
          </a:prstGeom>
          <a:noFill/>
          <a:ln/>
        </p:spPr>
        <p:txBody>
          <a:bodyPr wrap="square" rtlCol="0" anchor="ctr"/>
          <a:lstStyle/>
          <a:p>
            <a:pPr algn="ctr" indent="0" marL="0">
              <a:buNone/>
            </a:pPr>
            <a:r>
              <a:rPr lang="en-US" sz="800" b="1" dirty="0">
                <a:solidFill>
                  <a:srgbClr val="D4620A"/>
                </a:solidFill>
                <a:latin typeface="Atkinson Hyperlegible" pitchFamily="34" charset="0"/>
                <a:ea typeface="Atkinson Hyperlegible" pitchFamily="34" charset="-122"/>
                <a:cs typeface="Atkinson Hyperlegible" pitchFamily="34" charset="-120"/>
              </a:rPr>
              <a:t>Meta: ≥80%</a:t>
            </a:r>
            <a:endParaRPr lang="en-US" sz="800" dirty="0"/>
          </a:p>
        </p:txBody>
      </p:sp>
      <p:sp>
        <p:nvSpPr>
          <p:cNvPr id="66" name="Shape 64"/>
          <p:cNvSpPr/>
          <p:nvPr/>
        </p:nvSpPr>
        <p:spPr>
          <a:xfrm>
            <a:off x="6821424" y="2615184"/>
            <a:ext cx="1965960" cy="1152144"/>
          </a:xfrm>
          <a:prstGeom prst="rect">
            <a:avLst>
              <a:gd name="adj" fmla="val 3968"/>
            </a:avLst>
          </a:prstGeom>
          <a:solidFill>
            <a:srgbClr val="F9F9F9"/>
          </a:solidFill>
          <a:ln w="10160">
            <a:solidFill>
              <a:srgbClr val="D4620A"/>
            </a:solidFill>
            <a:prstDash val="solid"/>
          </a:ln>
        </p:spPr>
      </p:sp>
      <p:sp>
        <p:nvSpPr>
          <p:cNvPr id="67" name="Text 65"/>
          <p:cNvSpPr/>
          <p:nvPr/>
        </p:nvSpPr>
        <p:spPr>
          <a:xfrm>
            <a:off x="6912864" y="2670048"/>
            <a:ext cx="178308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Tool Adoption</a:t>
            </a:r>
            <a:endParaRPr lang="en-US" sz="900" dirty="0"/>
          </a:p>
        </p:txBody>
      </p:sp>
      <p:sp>
        <p:nvSpPr>
          <p:cNvPr id="68" name="Text 66"/>
          <p:cNvSpPr/>
          <p:nvPr/>
        </p:nvSpPr>
        <p:spPr>
          <a:xfrm>
            <a:off x="6912864" y="2926080"/>
            <a:ext cx="1783080" cy="34747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Usuarios activos en plataforma AWP</a:t>
            </a:r>
            <a:endParaRPr lang="en-US" sz="750" dirty="0"/>
          </a:p>
        </p:txBody>
      </p:sp>
      <p:sp>
        <p:nvSpPr>
          <p:cNvPr id="69" name="Shape 67"/>
          <p:cNvSpPr/>
          <p:nvPr/>
        </p:nvSpPr>
        <p:spPr>
          <a:xfrm>
            <a:off x="6912864" y="3291840"/>
            <a:ext cx="1783080" cy="329184"/>
          </a:xfrm>
          <a:prstGeom prst="rect">
            <a:avLst>
              <a:gd name="adj" fmla="val 11111"/>
            </a:avLst>
          </a:prstGeom>
          <a:solidFill>
            <a:srgbClr val="D4620A"/>
          </a:solidFill>
          <a:ln w="12700">
            <a:solidFill>
              <a:srgbClr val="D4620A"/>
            </a:solidFill>
            <a:prstDash val="solid"/>
          </a:ln>
        </p:spPr>
      </p:sp>
      <p:sp>
        <p:nvSpPr>
          <p:cNvPr id="70" name="Text 68"/>
          <p:cNvSpPr/>
          <p:nvPr/>
        </p:nvSpPr>
        <p:spPr>
          <a:xfrm>
            <a:off x="6912864" y="3291840"/>
            <a:ext cx="1783080" cy="329184"/>
          </a:xfrm>
          <a:prstGeom prst="rect">
            <a:avLst/>
          </a:prstGeom>
          <a:noFill/>
          <a:ln/>
        </p:spPr>
        <p:txBody>
          <a:bodyPr wrap="square" rtlCol="0" anchor="ctr"/>
          <a:lstStyle/>
          <a:p>
            <a:pPr algn="ctr" indent="0" marL="0">
              <a:buNone/>
            </a:pPr>
            <a:r>
              <a:rPr lang="en-US" sz="800" b="1" dirty="0">
                <a:solidFill>
                  <a:srgbClr val="D4620A"/>
                </a:solidFill>
                <a:latin typeface="Atkinson Hyperlegible" pitchFamily="34" charset="0"/>
                <a:ea typeface="Atkinson Hyperlegible" pitchFamily="34" charset="-122"/>
                <a:cs typeface="Atkinson Hyperlegible" pitchFamily="34" charset="-120"/>
              </a:rPr>
              <a:t>Meta: ≥90%</a:t>
            </a:r>
            <a:endParaRPr lang="en-US" sz="800" dirty="0"/>
          </a:p>
        </p:txBody>
      </p:sp>
      <p:sp>
        <p:nvSpPr>
          <p:cNvPr id="71" name="Shape 69"/>
          <p:cNvSpPr/>
          <p:nvPr/>
        </p:nvSpPr>
        <p:spPr>
          <a:xfrm>
            <a:off x="6821424" y="3840480"/>
            <a:ext cx="1965960" cy="1152144"/>
          </a:xfrm>
          <a:prstGeom prst="rect">
            <a:avLst>
              <a:gd name="adj" fmla="val 3968"/>
            </a:avLst>
          </a:prstGeom>
          <a:solidFill>
            <a:srgbClr val="FFFFFF"/>
          </a:solidFill>
          <a:ln w="10160">
            <a:solidFill>
              <a:srgbClr val="D4620A"/>
            </a:solidFill>
            <a:prstDash val="solid"/>
          </a:ln>
        </p:spPr>
      </p:sp>
      <p:sp>
        <p:nvSpPr>
          <p:cNvPr id="72" name="Text 70"/>
          <p:cNvSpPr/>
          <p:nvPr/>
        </p:nvSpPr>
        <p:spPr>
          <a:xfrm>
            <a:off x="6912864" y="3895344"/>
            <a:ext cx="178308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Training Hrs</a:t>
            </a:r>
            <a:endParaRPr lang="en-US" sz="900" dirty="0"/>
          </a:p>
        </p:txBody>
      </p:sp>
      <p:sp>
        <p:nvSpPr>
          <p:cNvPr id="73" name="Text 71"/>
          <p:cNvSpPr/>
          <p:nvPr/>
        </p:nvSpPr>
        <p:spPr>
          <a:xfrm>
            <a:off x="6912864" y="4151376"/>
            <a:ext cx="1783080" cy="34747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Horas capacitación AWP/persona</a:t>
            </a:r>
            <a:endParaRPr lang="en-US" sz="750" dirty="0"/>
          </a:p>
        </p:txBody>
      </p:sp>
      <p:sp>
        <p:nvSpPr>
          <p:cNvPr id="74" name="Shape 72"/>
          <p:cNvSpPr/>
          <p:nvPr/>
        </p:nvSpPr>
        <p:spPr>
          <a:xfrm>
            <a:off x="6912864" y="4517136"/>
            <a:ext cx="1783080" cy="329184"/>
          </a:xfrm>
          <a:prstGeom prst="rect">
            <a:avLst>
              <a:gd name="adj" fmla="val 11111"/>
            </a:avLst>
          </a:prstGeom>
          <a:solidFill>
            <a:srgbClr val="D4620A"/>
          </a:solidFill>
          <a:ln w="12700">
            <a:solidFill>
              <a:srgbClr val="D4620A"/>
            </a:solidFill>
            <a:prstDash val="solid"/>
          </a:ln>
        </p:spPr>
      </p:sp>
      <p:sp>
        <p:nvSpPr>
          <p:cNvPr id="75" name="Text 73"/>
          <p:cNvSpPr/>
          <p:nvPr/>
        </p:nvSpPr>
        <p:spPr>
          <a:xfrm>
            <a:off x="6912864" y="4517136"/>
            <a:ext cx="1783080" cy="329184"/>
          </a:xfrm>
          <a:prstGeom prst="rect">
            <a:avLst/>
          </a:prstGeom>
          <a:noFill/>
          <a:ln/>
        </p:spPr>
        <p:txBody>
          <a:bodyPr wrap="square" rtlCol="0" anchor="ctr"/>
          <a:lstStyle/>
          <a:p>
            <a:pPr algn="ctr" indent="0" marL="0">
              <a:buNone/>
            </a:pPr>
            <a:r>
              <a:rPr lang="en-US" sz="800" b="1" dirty="0">
                <a:solidFill>
                  <a:srgbClr val="D4620A"/>
                </a:solidFill>
                <a:latin typeface="Atkinson Hyperlegible" pitchFamily="34" charset="0"/>
                <a:ea typeface="Atkinson Hyperlegible" pitchFamily="34" charset="-122"/>
                <a:cs typeface="Atkinson Hyperlegible" pitchFamily="34" charset="-120"/>
              </a:rPr>
              <a:t>Meta: ≥24 hrs</a:t>
            </a:r>
            <a:endParaRPr lang="en-US" sz="8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4E3"/>
          </a:solidFill>
          <a:ln w="12700">
            <a:solidFill>
              <a:srgbClr val="0A74E3"/>
            </a:solidFill>
            <a:prstDash val="solid"/>
          </a:ln>
        </p:spPr>
      </p:sp>
      <p:sp>
        <p:nvSpPr>
          <p:cNvPr id="3" name="Shape 1"/>
          <p:cNvSpPr/>
          <p:nvPr/>
        </p:nvSpPr>
        <p:spPr>
          <a:xfrm>
            <a:off x="164592" y="4956048"/>
            <a:ext cx="8979408" cy="182880"/>
          </a:xfrm>
          <a:prstGeom prst="rect">
            <a:avLst/>
          </a:prstGeom>
          <a:solidFill>
            <a:srgbClr val="0A74E3"/>
          </a:solidFill>
          <a:ln w="12700">
            <a:solidFill>
              <a:srgbClr val="0A74E3"/>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93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Estructura de Gobernanza para AWP</a:t>
            </a:r>
            <a:endParaRPr lang="en-US" sz="1800" dirty="0"/>
          </a:p>
        </p:txBody>
      </p:sp>
      <p:sp>
        <p:nvSpPr>
          <p:cNvPr id="6" name="Shape 4"/>
          <p:cNvSpPr/>
          <p:nvPr/>
        </p:nvSpPr>
        <p:spPr>
          <a:xfrm>
            <a:off x="320040" y="621792"/>
            <a:ext cx="8503920" cy="41148"/>
          </a:xfrm>
          <a:prstGeom prst="rect">
            <a:avLst/>
          </a:prstGeom>
          <a:solidFill>
            <a:srgbClr val="0A74E3"/>
          </a:solidFill>
          <a:ln w="12700">
            <a:solidFill>
              <a:srgbClr val="0A74E3"/>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A74E3"/>
                </a:solidFill>
                <a:latin typeface="Atkinson Hyperlegible" pitchFamily="34" charset="0"/>
                <a:ea typeface="Atkinson Hyperlegible" pitchFamily="34" charset="-122"/>
                <a:cs typeface="Atkinson Hyperlegible" pitchFamily="34" charset="-120"/>
              </a:rPr>
              <a:t>Roles, responsabilidades y flujo de decisiones en la organización AWP</a:t>
            </a:r>
            <a:endParaRPr lang="en-US" sz="900" dirty="0"/>
          </a:p>
        </p:txBody>
      </p:sp>
      <p:sp>
        <p:nvSpPr>
          <p:cNvPr id="8" name="Shape 6"/>
          <p:cNvSpPr/>
          <p:nvPr/>
        </p:nvSpPr>
        <p:spPr>
          <a:xfrm>
            <a:off x="3566160" y="960120"/>
            <a:ext cx="2011680" cy="530352"/>
          </a:xfrm>
          <a:prstGeom prst="rect">
            <a:avLst>
              <a:gd name="adj" fmla="val 10345"/>
            </a:avLst>
          </a:prstGeom>
          <a:solidFill>
            <a:srgbClr val="0A74E3"/>
          </a:solidFill>
          <a:ln w="12700">
            <a:solidFill>
              <a:srgbClr val="0A74E3"/>
            </a:solidFill>
            <a:prstDash val="solid"/>
          </a:ln>
        </p:spPr>
      </p:sp>
      <p:sp>
        <p:nvSpPr>
          <p:cNvPr id="9" name="Text 7"/>
          <p:cNvSpPr/>
          <p:nvPr/>
        </p:nvSpPr>
        <p:spPr>
          <a:xfrm>
            <a:off x="3566160" y="960120"/>
            <a:ext cx="2011680" cy="530352"/>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Comité Directivo AWP</a:t>
            </a:r>
            <a:endParaRPr lang="en-US" sz="900" dirty="0"/>
          </a:p>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(Sponsor + PMO)</a:t>
            </a:r>
            <a:endParaRPr lang="en-US" sz="900" dirty="0"/>
          </a:p>
        </p:txBody>
      </p:sp>
      <p:sp>
        <p:nvSpPr>
          <p:cNvPr id="10" name="Shape 8"/>
          <p:cNvSpPr/>
          <p:nvPr/>
        </p:nvSpPr>
        <p:spPr>
          <a:xfrm>
            <a:off x="4562856" y="1490472"/>
            <a:ext cx="18288" cy="320040"/>
          </a:xfrm>
          <a:prstGeom prst="line">
            <a:avLst/>
          </a:prstGeom>
          <a:noFill/>
          <a:ln w="19050">
            <a:solidFill>
              <a:srgbClr val="0A74E3"/>
            </a:solidFill>
            <a:prstDash val="solid"/>
          </a:ln>
        </p:spPr>
      </p:sp>
      <p:sp>
        <p:nvSpPr>
          <p:cNvPr id="11" name="Shape 9"/>
          <p:cNvSpPr/>
          <p:nvPr/>
        </p:nvSpPr>
        <p:spPr>
          <a:xfrm>
            <a:off x="1463040" y="1801368"/>
            <a:ext cx="6217920" cy="18288"/>
          </a:xfrm>
          <a:prstGeom prst="line">
            <a:avLst/>
          </a:prstGeom>
          <a:noFill/>
          <a:ln w="15240">
            <a:solidFill>
              <a:srgbClr val="0A74E3"/>
            </a:solidFill>
            <a:prstDash val="solid"/>
          </a:ln>
        </p:spPr>
      </p:sp>
      <p:sp>
        <p:nvSpPr>
          <p:cNvPr id="12" name="Shape 10"/>
          <p:cNvSpPr/>
          <p:nvPr/>
        </p:nvSpPr>
        <p:spPr>
          <a:xfrm>
            <a:off x="1453896" y="1801368"/>
            <a:ext cx="18288" cy="256032"/>
          </a:xfrm>
          <a:prstGeom prst="line">
            <a:avLst/>
          </a:prstGeom>
          <a:noFill/>
          <a:ln w="15240">
            <a:solidFill>
              <a:srgbClr val="0A74E3"/>
            </a:solidFill>
            <a:prstDash val="solid"/>
          </a:ln>
        </p:spPr>
      </p:sp>
      <p:sp>
        <p:nvSpPr>
          <p:cNvPr id="13" name="Shape 11"/>
          <p:cNvSpPr/>
          <p:nvPr/>
        </p:nvSpPr>
        <p:spPr>
          <a:xfrm>
            <a:off x="777240" y="2066544"/>
            <a:ext cx="1371600" cy="512064"/>
          </a:xfrm>
          <a:prstGeom prst="roundRect">
            <a:avLst>
              <a:gd name="adj" fmla="val 8929"/>
            </a:avLst>
          </a:prstGeom>
          <a:solidFill>
            <a:srgbClr val="FFFFFF"/>
          </a:solidFill>
          <a:ln w="12700">
            <a:solidFill>
              <a:srgbClr val="0A74E3"/>
            </a:solidFill>
            <a:prstDash val="solid"/>
          </a:ln>
        </p:spPr>
      </p:sp>
      <p:sp>
        <p:nvSpPr>
          <p:cNvPr id="14" name="Text 12"/>
          <p:cNvSpPr/>
          <p:nvPr/>
        </p:nvSpPr>
        <p:spPr>
          <a:xfrm>
            <a:off x="777240" y="2066544"/>
            <a:ext cx="1371600" cy="512064"/>
          </a:xfrm>
          <a:prstGeom prst="rect">
            <a:avLst/>
          </a:prstGeom>
          <a:noFill/>
          <a:ln/>
        </p:spPr>
        <p:txBody>
          <a:bodyPr wrap="square" rtlCol="0" anchor="ctr"/>
          <a:lstStyle/>
          <a:p>
            <a:pPr algn="ct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AWP Manager</a:t>
            </a:r>
            <a:endParaRPr lang="en-US" sz="750" dirty="0"/>
          </a:p>
        </p:txBody>
      </p:sp>
      <p:sp>
        <p:nvSpPr>
          <p:cNvPr id="15" name="Shape 13"/>
          <p:cNvSpPr/>
          <p:nvPr/>
        </p:nvSpPr>
        <p:spPr>
          <a:xfrm>
            <a:off x="3008376" y="1801368"/>
            <a:ext cx="18288" cy="256032"/>
          </a:xfrm>
          <a:prstGeom prst="line">
            <a:avLst/>
          </a:prstGeom>
          <a:noFill/>
          <a:ln w="15240">
            <a:solidFill>
              <a:srgbClr val="0A74E3"/>
            </a:solidFill>
            <a:prstDash val="solid"/>
          </a:ln>
        </p:spPr>
      </p:sp>
      <p:sp>
        <p:nvSpPr>
          <p:cNvPr id="16" name="Shape 14"/>
          <p:cNvSpPr/>
          <p:nvPr/>
        </p:nvSpPr>
        <p:spPr>
          <a:xfrm>
            <a:off x="2331720" y="2066544"/>
            <a:ext cx="1371600" cy="512064"/>
          </a:xfrm>
          <a:prstGeom prst="roundRect">
            <a:avLst>
              <a:gd name="adj" fmla="val 8929"/>
            </a:avLst>
          </a:prstGeom>
          <a:solidFill>
            <a:srgbClr val="FFFFFF"/>
          </a:solidFill>
          <a:ln w="12700">
            <a:solidFill>
              <a:srgbClr val="0A74E3"/>
            </a:solidFill>
            <a:prstDash val="solid"/>
          </a:ln>
        </p:spPr>
      </p:sp>
      <p:sp>
        <p:nvSpPr>
          <p:cNvPr id="17" name="Text 15"/>
          <p:cNvSpPr/>
          <p:nvPr/>
        </p:nvSpPr>
        <p:spPr>
          <a:xfrm>
            <a:off x="2331720" y="2066544"/>
            <a:ext cx="1371600" cy="512064"/>
          </a:xfrm>
          <a:prstGeom prst="rect">
            <a:avLst/>
          </a:prstGeom>
          <a:noFill/>
          <a:ln/>
        </p:spPr>
        <p:txBody>
          <a:bodyPr wrap="square" rtlCol="0" anchor="ctr"/>
          <a:lstStyle/>
          <a:p>
            <a:pPr algn="ct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Líder de Ingeniería</a:t>
            </a:r>
            <a:endParaRPr lang="en-US" sz="750" dirty="0"/>
          </a:p>
        </p:txBody>
      </p:sp>
      <p:sp>
        <p:nvSpPr>
          <p:cNvPr id="18" name="Shape 16"/>
          <p:cNvSpPr/>
          <p:nvPr/>
        </p:nvSpPr>
        <p:spPr>
          <a:xfrm>
            <a:off x="4562856" y="1801368"/>
            <a:ext cx="18288" cy="256032"/>
          </a:xfrm>
          <a:prstGeom prst="line">
            <a:avLst/>
          </a:prstGeom>
          <a:noFill/>
          <a:ln w="15240">
            <a:solidFill>
              <a:srgbClr val="0A74E3"/>
            </a:solidFill>
            <a:prstDash val="solid"/>
          </a:ln>
        </p:spPr>
      </p:sp>
      <p:sp>
        <p:nvSpPr>
          <p:cNvPr id="19" name="Shape 17"/>
          <p:cNvSpPr/>
          <p:nvPr/>
        </p:nvSpPr>
        <p:spPr>
          <a:xfrm>
            <a:off x="3886200" y="2066544"/>
            <a:ext cx="1371600" cy="512064"/>
          </a:xfrm>
          <a:prstGeom prst="roundRect">
            <a:avLst>
              <a:gd name="adj" fmla="val 8929"/>
            </a:avLst>
          </a:prstGeom>
          <a:solidFill>
            <a:srgbClr val="FFFFFF"/>
          </a:solidFill>
          <a:ln w="12700">
            <a:solidFill>
              <a:srgbClr val="0A74E3"/>
            </a:solidFill>
            <a:prstDash val="solid"/>
          </a:ln>
        </p:spPr>
      </p:sp>
      <p:sp>
        <p:nvSpPr>
          <p:cNvPr id="20" name="Text 18"/>
          <p:cNvSpPr/>
          <p:nvPr/>
        </p:nvSpPr>
        <p:spPr>
          <a:xfrm>
            <a:off x="3886200" y="2066544"/>
            <a:ext cx="1371600" cy="512064"/>
          </a:xfrm>
          <a:prstGeom prst="rect">
            <a:avLst/>
          </a:prstGeom>
          <a:noFill/>
          <a:ln/>
        </p:spPr>
        <p:txBody>
          <a:bodyPr wrap="square" rtlCol="0" anchor="ctr"/>
          <a:lstStyle/>
          <a:p>
            <a:pPr algn="ct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Líder de Construcción</a:t>
            </a:r>
            <a:endParaRPr lang="en-US" sz="750" dirty="0"/>
          </a:p>
        </p:txBody>
      </p:sp>
      <p:sp>
        <p:nvSpPr>
          <p:cNvPr id="21" name="Shape 19"/>
          <p:cNvSpPr/>
          <p:nvPr/>
        </p:nvSpPr>
        <p:spPr>
          <a:xfrm>
            <a:off x="6117336" y="1801368"/>
            <a:ext cx="18288" cy="256032"/>
          </a:xfrm>
          <a:prstGeom prst="line">
            <a:avLst/>
          </a:prstGeom>
          <a:noFill/>
          <a:ln w="15240">
            <a:solidFill>
              <a:srgbClr val="0A74E3"/>
            </a:solidFill>
            <a:prstDash val="solid"/>
          </a:ln>
        </p:spPr>
      </p:sp>
      <p:sp>
        <p:nvSpPr>
          <p:cNvPr id="22" name="Shape 20"/>
          <p:cNvSpPr/>
          <p:nvPr/>
        </p:nvSpPr>
        <p:spPr>
          <a:xfrm>
            <a:off x="5440680" y="2066544"/>
            <a:ext cx="1371600" cy="512064"/>
          </a:xfrm>
          <a:prstGeom prst="roundRect">
            <a:avLst>
              <a:gd name="adj" fmla="val 8929"/>
            </a:avLst>
          </a:prstGeom>
          <a:solidFill>
            <a:srgbClr val="FFFFFF"/>
          </a:solidFill>
          <a:ln w="12700">
            <a:solidFill>
              <a:srgbClr val="0A74E3"/>
            </a:solidFill>
            <a:prstDash val="solid"/>
          </a:ln>
        </p:spPr>
      </p:sp>
      <p:sp>
        <p:nvSpPr>
          <p:cNvPr id="23" name="Text 21"/>
          <p:cNvSpPr/>
          <p:nvPr/>
        </p:nvSpPr>
        <p:spPr>
          <a:xfrm>
            <a:off x="5440680" y="2066544"/>
            <a:ext cx="1371600" cy="512064"/>
          </a:xfrm>
          <a:prstGeom prst="rect">
            <a:avLst/>
          </a:prstGeom>
          <a:noFill/>
          <a:ln/>
        </p:spPr>
        <p:txBody>
          <a:bodyPr wrap="square" rtlCol="0" anchor="ctr"/>
          <a:lstStyle/>
          <a:p>
            <a:pPr algn="ct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Líder Digital/BIM</a:t>
            </a:r>
            <a:endParaRPr lang="en-US" sz="750" dirty="0"/>
          </a:p>
        </p:txBody>
      </p:sp>
      <p:sp>
        <p:nvSpPr>
          <p:cNvPr id="24" name="Shape 22"/>
          <p:cNvSpPr/>
          <p:nvPr/>
        </p:nvSpPr>
        <p:spPr>
          <a:xfrm>
            <a:off x="7671816" y="1801368"/>
            <a:ext cx="18288" cy="256032"/>
          </a:xfrm>
          <a:prstGeom prst="line">
            <a:avLst/>
          </a:prstGeom>
          <a:noFill/>
          <a:ln w="15240">
            <a:solidFill>
              <a:srgbClr val="0A74E3"/>
            </a:solidFill>
            <a:prstDash val="solid"/>
          </a:ln>
        </p:spPr>
      </p:sp>
      <p:sp>
        <p:nvSpPr>
          <p:cNvPr id="25" name="Shape 23"/>
          <p:cNvSpPr/>
          <p:nvPr/>
        </p:nvSpPr>
        <p:spPr>
          <a:xfrm>
            <a:off x="6995160" y="2066544"/>
            <a:ext cx="1371600" cy="512064"/>
          </a:xfrm>
          <a:prstGeom prst="roundRect">
            <a:avLst>
              <a:gd name="adj" fmla="val 8929"/>
            </a:avLst>
          </a:prstGeom>
          <a:solidFill>
            <a:srgbClr val="FFFFFF"/>
          </a:solidFill>
          <a:ln w="12700">
            <a:solidFill>
              <a:srgbClr val="0A74E3"/>
            </a:solidFill>
            <a:prstDash val="solid"/>
          </a:ln>
        </p:spPr>
      </p:sp>
      <p:sp>
        <p:nvSpPr>
          <p:cNvPr id="26" name="Text 24"/>
          <p:cNvSpPr/>
          <p:nvPr/>
        </p:nvSpPr>
        <p:spPr>
          <a:xfrm>
            <a:off x="6995160" y="2066544"/>
            <a:ext cx="1371600" cy="512064"/>
          </a:xfrm>
          <a:prstGeom prst="rect">
            <a:avLst/>
          </a:prstGeom>
          <a:noFill/>
          <a:ln/>
        </p:spPr>
        <p:txBody>
          <a:bodyPr wrap="square" rtlCol="0" anchor="ctr"/>
          <a:lstStyle/>
          <a:p>
            <a:pPr algn="ct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Controller / EVM</a:t>
            </a:r>
            <a:endParaRPr lang="en-US" sz="750" dirty="0"/>
          </a:p>
        </p:txBody>
      </p:sp>
      <p:sp>
        <p:nvSpPr>
          <p:cNvPr id="27" name="Shape 25"/>
          <p:cNvSpPr/>
          <p:nvPr/>
        </p:nvSpPr>
        <p:spPr>
          <a:xfrm>
            <a:off x="320040" y="3474720"/>
            <a:ext cx="2516429" cy="658368"/>
          </a:xfrm>
          <a:prstGeom prst="rect">
            <a:avLst>
              <a:gd name="adj" fmla="val 6944"/>
            </a:avLst>
          </a:prstGeom>
          <a:solidFill>
            <a:srgbClr val="FFFFFF"/>
          </a:solidFill>
          <a:ln w="12700">
            <a:solidFill>
              <a:srgbClr val="0A74E3"/>
            </a:solidFill>
            <a:prstDash val="solid"/>
          </a:ln>
        </p:spPr>
      </p:sp>
      <p:sp>
        <p:nvSpPr>
          <p:cNvPr id="28" name="Text 26"/>
          <p:cNvSpPr/>
          <p:nvPr/>
        </p:nvSpPr>
        <p:spPr>
          <a:xfrm>
            <a:off x="393192" y="3511296"/>
            <a:ext cx="2370125" cy="237744"/>
          </a:xfrm>
          <a:prstGeom prst="rect">
            <a:avLst/>
          </a:prstGeom>
          <a:noFill/>
          <a:ln/>
        </p:spPr>
        <p:txBody>
          <a:bodyPr wrap="square" rtlCol="0" anchor="ctr"/>
          <a:lstStyle/>
          <a:p>
            <a:pPr indent="0" marL="0">
              <a:buNone/>
            </a:pPr>
            <a:r>
              <a:rPr lang="en-US" sz="800" b="1" dirty="0">
                <a:solidFill>
                  <a:srgbClr val="0A74E3"/>
                </a:solidFill>
                <a:latin typeface="Atkinson Hyperlegible" pitchFamily="34" charset="0"/>
                <a:ea typeface="Atkinson Hyperlegible" pitchFamily="34" charset="-122"/>
                <a:cs typeface="Atkinson Hyperlegible" pitchFamily="34" charset="-120"/>
              </a:rPr>
              <a:t>AWP Manager</a:t>
            </a:r>
            <a:endParaRPr lang="en-US" sz="800" dirty="0"/>
          </a:p>
        </p:txBody>
      </p:sp>
      <p:sp>
        <p:nvSpPr>
          <p:cNvPr id="29" name="Text 27"/>
          <p:cNvSpPr/>
          <p:nvPr/>
        </p:nvSpPr>
        <p:spPr>
          <a:xfrm>
            <a:off x="393192" y="3749040"/>
            <a:ext cx="2370125" cy="329184"/>
          </a:xfrm>
          <a:prstGeom prst="rect">
            <a:avLst/>
          </a:prstGeom>
          <a:noFill/>
          <a:ln/>
        </p:spPr>
        <p:txBody>
          <a:bodyPr wrap="square" rtlCol="0" anchor="ctr"/>
          <a:lstStyle/>
          <a:p>
            <a:pPr indent="0" marL="0">
              <a:buNone/>
            </a:pPr>
            <a:r>
              <a:rPr lang="en-US" sz="700" dirty="0">
                <a:solidFill>
                  <a:srgbClr val="444444"/>
                </a:solidFill>
                <a:latin typeface="Atkinson Hyperlegible" pitchFamily="34" charset="0"/>
                <a:ea typeface="Atkinson Hyperlegible" pitchFamily="34" charset="-122"/>
                <a:cs typeface="Atkinson Hyperlegible" pitchFamily="34" charset="-120"/>
              </a:rPr>
              <a:t>Dueño del proceso; coordina EDS-POC-IWPs; reporta a Comité</a:t>
            </a:r>
            <a:endParaRPr lang="en-US" sz="700" dirty="0"/>
          </a:p>
        </p:txBody>
      </p:sp>
      <p:sp>
        <p:nvSpPr>
          <p:cNvPr id="30" name="Shape 28"/>
          <p:cNvSpPr/>
          <p:nvPr/>
        </p:nvSpPr>
        <p:spPr>
          <a:xfrm>
            <a:off x="3172968" y="3474720"/>
            <a:ext cx="2516429" cy="658368"/>
          </a:xfrm>
          <a:prstGeom prst="rect">
            <a:avLst>
              <a:gd name="adj" fmla="val 6944"/>
            </a:avLst>
          </a:prstGeom>
          <a:solidFill>
            <a:srgbClr val="FFFFFF"/>
          </a:solidFill>
          <a:ln w="12700">
            <a:solidFill>
              <a:srgbClr val="0E9E9E"/>
            </a:solidFill>
            <a:prstDash val="solid"/>
          </a:ln>
        </p:spPr>
      </p:sp>
      <p:sp>
        <p:nvSpPr>
          <p:cNvPr id="31" name="Text 29"/>
          <p:cNvSpPr/>
          <p:nvPr/>
        </p:nvSpPr>
        <p:spPr>
          <a:xfrm>
            <a:off x="3246120" y="3511296"/>
            <a:ext cx="2370125" cy="237744"/>
          </a:xfrm>
          <a:prstGeom prst="rect">
            <a:avLst/>
          </a:prstGeom>
          <a:noFill/>
          <a:ln/>
        </p:spPr>
        <p:txBody>
          <a:bodyPr wrap="square" rtlCol="0" anchor="ctr"/>
          <a:lstStyle/>
          <a:p>
            <a:pPr indent="0" marL="0">
              <a:buNone/>
            </a:pPr>
            <a:r>
              <a:rPr lang="en-US" sz="800" b="1" dirty="0">
                <a:solidFill>
                  <a:srgbClr val="0E9E9E"/>
                </a:solidFill>
                <a:latin typeface="Atkinson Hyperlegible" pitchFamily="34" charset="0"/>
                <a:ea typeface="Atkinson Hyperlegible" pitchFamily="34" charset="-122"/>
                <a:cs typeface="Atkinson Hyperlegible" pitchFamily="34" charset="-120"/>
              </a:rPr>
              <a:t>Líder Ingeniería</a:t>
            </a:r>
            <a:endParaRPr lang="en-US" sz="800" dirty="0"/>
          </a:p>
        </p:txBody>
      </p:sp>
      <p:sp>
        <p:nvSpPr>
          <p:cNvPr id="32" name="Text 30"/>
          <p:cNvSpPr/>
          <p:nvPr/>
        </p:nvSpPr>
        <p:spPr>
          <a:xfrm>
            <a:off x="3246120" y="3749040"/>
            <a:ext cx="2370125" cy="329184"/>
          </a:xfrm>
          <a:prstGeom prst="rect">
            <a:avLst/>
          </a:prstGeom>
          <a:noFill/>
          <a:ln/>
        </p:spPr>
        <p:txBody>
          <a:bodyPr wrap="square" rtlCol="0" anchor="ctr"/>
          <a:lstStyle/>
          <a:p>
            <a:pPr indent="0" marL="0">
              <a:buNone/>
            </a:pPr>
            <a:r>
              <a:rPr lang="en-US" sz="700" dirty="0">
                <a:solidFill>
                  <a:srgbClr val="444444"/>
                </a:solidFill>
                <a:latin typeface="Atkinson Hyperlegible" pitchFamily="34" charset="0"/>
                <a:ea typeface="Atkinson Hyperlegible" pitchFamily="34" charset="-122"/>
                <a:cs typeface="Atkinson Hyperlegible" pitchFamily="34" charset="-120"/>
              </a:rPr>
              <a:t>Asegura EDS alineado a POC; calidad y completitud de EWPs</a:t>
            </a:r>
            <a:endParaRPr lang="en-US" sz="700" dirty="0"/>
          </a:p>
        </p:txBody>
      </p:sp>
      <p:sp>
        <p:nvSpPr>
          <p:cNvPr id="33" name="Shape 31"/>
          <p:cNvSpPr/>
          <p:nvPr/>
        </p:nvSpPr>
        <p:spPr>
          <a:xfrm>
            <a:off x="6025896" y="3474720"/>
            <a:ext cx="2516429" cy="658368"/>
          </a:xfrm>
          <a:prstGeom prst="rect">
            <a:avLst>
              <a:gd name="adj" fmla="val 6944"/>
            </a:avLst>
          </a:prstGeom>
          <a:solidFill>
            <a:srgbClr val="FFFFFF"/>
          </a:solidFill>
          <a:ln w="12700">
            <a:solidFill>
              <a:srgbClr val="27AE60"/>
            </a:solidFill>
            <a:prstDash val="solid"/>
          </a:ln>
        </p:spPr>
      </p:sp>
      <p:sp>
        <p:nvSpPr>
          <p:cNvPr id="34" name="Text 32"/>
          <p:cNvSpPr/>
          <p:nvPr/>
        </p:nvSpPr>
        <p:spPr>
          <a:xfrm>
            <a:off x="6099048" y="3511296"/>
            <a:ext cx="2370125" cy="237744"/>
          </a:xfrm>
          <a:prstGeom prst="rect">
            <a:avLst/>
          </a:prstGeom>
          <a:noFill/>
          <a:ln/>
        </p:spPr>
        <p:txBody>
          <a:bodyPr wrap="square" rtlCol="0" anchor="ctr"/>
          <a:lstStyle/>
          <a:p>
            <a:pPr indent="0" marL="0">
              <a:buNone/>
            </a:pPr>
            <a:r>
              <a:rPr lang="en-US" sz="800" b="1" dirty="0">
                <a:solidFill>
                  <a:srgbClr val="27AE60"/>
                </a:solidFill>
                <a:latin typeface="Atkinson Hyperlegible" pitchFamily="34" charset="0"/>
                <a:ea typeface="Atkinson Hyperlegible" pitchFamily="34" charset="-122"/>
                <a:cs typeface="Atkinson Hyperlegible" pitchFamily="34" charset="-120"/>
              </a:rPr>
              <a:t>Líder Construcción</a:t>
            </a:r>
            <a:endParaRPr lang="en-US" sz="800" dirty="0"/>
          </a:p>
        </p:txBody>
      </p:sp>
      <p:sp>
        <p:nvSpPr>
          <p:cNvPr id="35" name="Text 33"/>
          <p:cNvSpPr/>
          <p:nvPr/>
        </p:nvSpPr>
        <p:spPr>
          <a:xfrm>
            <a:off x="6099048" y="3749040"/>
            <a:ext cx="2370125" cy="329184"/>
          </a:xfrm>
          <a:prstGeom prst="rect">
            <a:avLst/>
          </a:prstGeom>
          <a:noFill/>
          <a:ln/>
        </p:spPr>
        <p:txBody>
          <a:bodyPr wrap="square" rtlCol="0" anchor="ctr"/>
          <a:lstStyle/>
          <a:p>
            <a:pPr indent="0" marL="0">
              <a:buNone/>
            </a:pPr>
            <a:r>
              <a:rPr lang="en-US" sz="700" dirty="0">
                <a:solidFill>
                  <a:srgbClr val="444444"/>
                </a:solidFill>
                <a:latin typeface="Atkinson Hyperlegible" pitchFamily="34" charset="0"/>
                <a:ea typeface="Atkinson Hyperlegible" pitchFamily="34" charset="-122"/>
                <a:cs typeface="Atkinson Hyperlegible" pitchFamily="34" charset="-120"/>
              </a:rPr>
              <a:t>Define CWAs y CWPs; valida constructabilidad de secuencias</a:t>
            </a:r>
            <a:endParaRPr lang="en-US" sz="700" dirty="0"/>
          </a:p>
        </p:txBody>
      </p:sp>
      <p:sp>
        <p:nvSpPr>
          <p:cNvPr id="36" name="Shape 34"/>
          <p:cNvSpPr/>
          <p:nvPr/>
        </p:nvSpPr>
        <p:spPr>
          <a:xfrm>
            <a:off x="320040" y="4224528"/>
            <a:ext cx="2516429" cy="658368"/>
          </a:xfrm>
          <a:prstGeom prst="rect">
            <a:avLst>
              <a:gd name="adj" fmla="val 6944"/>
            </a:avLst>
          </a:prstGeom>
          <a:solidFill>
            <a:srgbClr val="FFFFFF"/>
          </a:solidFill>
          <a:ln w="12700">
            <a:solidFill>
              <a:srgbClr val="2C3E8C"/>
            </a:solidFill>
            <a:prstDash val="solid"/>
          </a:ln>
        </p:spPr>
      </p:sp>
      <p:sp>
        <p:nvSpPr>
          <p:cNvPr id="37" name="Text 35"/>
          <p:cNvSpPr/>
          <p:nvPr/>
        </p:nvSpPr>
        <p:spPr>
          <a:xfrm>
            <a:off x="393192" y="4261104"/>
            <a:ext cx="2370125" cy="237744"/>
          </a:xfrm>
          <a:prstGeom prst="rect">
            <a:avLst/>
          </a:prstGeom>
          <a:noFill/>
          <a:ln/>
        </p:spPr>
        <p:txBody>
          <a:bodyPr wrap="square" rtlCol="0" anchor="ctr"/>
          <a:lstStyle/>
          <a:p>
            <a:pPr indent="0" marL="0">
              <a:buNone/>
            </a:pPr>
            <a:r>
              <a:rPr lang="en-US" sz="800" b="1" dirty="0">
                <a:solidFill>
                  <a:srgbClr val="2C3E8C"/>
                </a:solidFill>
                <a:latin typeface="Atkinson Hyperlegible" pitchFamily="34" charset="0"/>
                <a:ea typeface="Atkinson Hyperlegible" pitchFamily="34" charset="-122"/>
                <a:cs typeface="Atkinson Hyperlegible" pitchFamily="34" charset="-120"/>
              </a:rPr>
              <a:t>Líder Digital</a:t>
            </a:r>
            <a:endParaRPr lang="en-US" sz="800" dirty="0"/>
          </a:p>
        </p:txBody>
      </p:sp>
      <p:sp>
        <p:nvSpPr>
          <p:cNvPr id="38" name="Text 36"/>
          <p:cNvSpPr/>
          <p:nvPr/>
        </p:nvSpPr>
        <p:spPr>
          <a:xfrm>
            <a:off x="393192" y="4498848"/>
            <a:ext cx="2370125" cy="329184"/>
          </a:xfrm>
          <a:prstGeom prst="rect">
            <a:avLst/>
          </a:prstGeom>
          <a:noFill/>
          <a:ln/>
        </p:spPr>
        <p:txBody>
          <a:bodyPr wrap="square" rtlCol="0" anchor="ctr"/>
          <a:lstStyle/>
          <a:p>
            <a:pPr indent="0" marL="0">
              <a:buNone/>
            </a:pPr>
            <a:r>
              <a:rPr lang="en-US" sz="700" dirty="0">
                <a:solidFill>
                  <a:srgbClr val="444444"/>
                </a:solidFill>
                <a:latin typeface="Atkinson Hyperlegible" pitchFamily="34" charset="0"/>
                <a:ea typeface="Atkinson Hyperlegible" pitchFamily="34" charset="-122"/>
                <a:cs typeface="Atkinson Hyperlegible" pitchFamily="34" charset="-120"/>
              </a:rPr>
              <a:t>BIM, plataforma AWP, dashboards; datos en tiempo real</a:t>
            </a:r>
            <a:endParaRPr lang="en-US" sz="700" dirty="0"/>
          </a:p>
        </p:txBody>
      </p:sp>
      <p:sp>
        <p:nvSpPr>
          <p:cNvPr id="39" name="Shape 37"/>
          <p:cNvSpPr/>
          <p:nvPr/>
        </p:nvSpPr>
        <p:spPr>
          <a:xfrm>
            <a:off x="3172968" y="4224528"/>
            <a:ext cx="2516429" cy="658368"/>
          </a:xfrm>
          <a:prstGeom prst="rect">
            <a:avLst>
              <a:gd name="adj" fmla="val 6944"/>
            </a:avLst>
          </a:prstGeom>
          <a:solidFill>
            <a:srgbClr val="FFFFFF"/>
          </a:solidFill>
          <a:ln w="12700">
            <a:solidFill>
              <a:srgbClr val="D4620A"/>
            </a:solidFill>
            <a:prstDash val="solid"/>
          </a:ln>
        </p:spPr>
      </p:sp>
      <p:sp>
        <p:nvSpPr>
          <p:cNvPr id="40" name="Text 38"/>
          <p:cNvSpPr/>
          <p:nvPr/>
        </p:nvSpPr>
        <p:spPr>
          <a:xfrm>
            <a:off x="3246120" y="4261104"/>
            <a:ext cx="2370125" cy="237744"/>
          </a:xfrm>
          <a:prstGeom prst="rect">
            <a:avLst/>
          </a:prstGeom>
          <a:noFill/>
          <a:ln/>
        </p:spPr>
        <p:txBody>
          <a:bodyPr wrap="square" rtlCol="0" anchor="ctr"/>
          <a:lstStyle/>
          <a:p>
            <a:pPr indent="0" marL="0">
              <a:buNone/>
            </a:pPr>
            <a:r>
              <a:rPr lang="en-US" sz="800" b="1" dirty="0">
                <a:solidFill>
                  <a:srgbClr val="D4620A"/>
                </a:solidFill>
                <a:latin typeface="Atkinson Hyperlegible" pitchFamily="34" charset="0"/>
                <a:ea typeface="Atkinson Hyperlegible" pitchFamily="34" charset="-122"/>
                <a:cs typeface="Atkinson Hyperlegible" pitchFamily="34" charset="-120"/>
              </a:rPr>
              <a:t>Controller EVM</a:t>
            </a:r>
            <a:endParaRPr lang="en-US" sz="800" dirty="0"/>
          </a:p>
        </p:txBody>
      </p:sp>
      <p:sp>
        <p:nvSpPr>
          <p:cNvPr id="41" name="Text 39"/>
          <p:cNvSpPr/>
          <p:nvPr/>
        </p:nvSpPr>
        <p:spPr>
          <a:xfrm>
            <a:off x="3246120" y="4498848"/>
            <a:ext cx="2370125" cy="329184"/>
          </a:xfrm>
          <a:prstGeom prst="rect">
            <a:avLst/>
          </a:prstGeom>
          <a:noFill/>
          <a:ln/>
        </p:spPr>
        <p:txBody>
          <a:bodyPr wrap="square" rtlCol="0" anchor="ctr"/>
          <a:lstStyle/>
          <a:p>
            <a:pPr indent="0" marL="0">
              <a:buNone/>
            </a:pPr>
            <a:r>
              <a:rPr lang="en-US" sz="700" dirty="0">
                <a:solidFill>
                  <a:srgbClr val="444444"/>
                </a:solidFill>
                <a:latin typeface="Atkinson Hyperlegible" pitchFamily="34" charset="0"/>
                <a:ea typeface="Atkinson Hyperlegible" pitchFamily="34" charset="-122"/>
                <a:cs typeface="Atkinson Hyperlegible" pitchFamily="34" charset="-120"/>
              </a:rPr>
              <a:t>CPI/SPI por IWP; forecasting; informe a Sponsor semanal</a:t>
            </a:r>
            <a:endParaRPr lang="en-US" sz="7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4E3"/>
          </a:solidFill>
          <a:ln w="12700">
            <a:solidFill>
              <a:srgbClr val="0A74E3"/>
            </a:solidFill>
            <a:prstDash val="solid"/>
          </a:ln>
        </p:spPr>
      </p:sp>
      <p:sp>
        <p:nvSpPr>
          <p:cNvPr id="3" name="Shape 1"/>
          <p:cNvSpPr/>
          <p:nvPr/>
        </p:nvSpPr>
        <p:spPr>
          <a:xfrm>
            <a:off x="164592" y="4956048"/>
            <a:ext cx="8979408" cy="182880"/>
          </a:xfrm>
          <a:prstGeom prst="rect">
            <a:avLst/>
          </a:prstGeom>
          <a:solidFill>
            <a:srgbClr val="0A74E3"/>
          </a:solidFill>
          <a:ln w="12700">
            <a:solidFill>
              <a:srgbClr val="0A74E3"/>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94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Certificación y Capacitación en AWP</a:t>
            </a:r>
            <a:endParaRPr lang="en-US" sz="1800" dirty="0"/>
          </a:p>
        </p:txBody>
      </p:sp>
      <p:sp>
        <p:nvSpPr>
          <p:cNvPr id="6" name="Shape 4"/>
          <p:cNvSpPr/>
          <p:nvPr/>
        </p:nvSpPr>
        <p:spPr>
          <a:xfrm>
            <a:off x="320040" y="621792"/>
            <a:ext cx="8503920" cy="41148"/>
          </a:xfrm>
          <a:prstGeom prst="rect">
            <a:avLst/>
          </a:prstGeom>
          <a:solidFill>
            <a:srgbClr val="0A74E3"/>
          </a:solidFill>
          <a:ln w="12700">
            <a:solidFill>
              <a:srgbClr val="0A74E3"/>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A74E3"/>
                </a:solidFill>
                <a:latin typeface="Atkinson Hyperlegible" pitchFamily="34" charset="0"/>
                <a:ea typeface="Atkinson Hyperlegible" pitchFamily="34" charset="-122"/>
                <a:cs typeface="Atkinson Hyperlegible" pitchFamily="34" charset="-120"/>
              </a:rPr>
              <a:t>Programas formales para desarrollar competencias en constructabilidad avanzada</a:t>
            </a:r>
            <a:endParaRPr lang="en-US" sz="900" dirty="0"/>
          </a:p>
        </p:txBody>
      </p:sp>
      <p:sp>
        <p:nvSpPr>
          <p:cNvPr id="8" name="Shape 6"/>
          <p:cNvSpPr/>
          <p:nvPr/>
        </p:nvSpPr>
        <p:spPr>
          <a:xfrm>
            <a:off x="320040" y="987552"/>
            <a:ext cx="8503920" cy="914400"/>
          </a:xfrm>
          <a:prstGeom prst="rect">
            <a:avLst>
              <a:gd name="adj" fmla="val 6000"/>
            </a:avLst>
          </a:prstGeom>
          <a:solidFill>
            <a:srgbClr val="FFFFFF"/>
          </a:solidFill>
          <a:ln w="15240">
            <a:solidFill>
              <a:srgbClr val="0A74E3"/>
            </a:solidFill>
            <a:prstDash val="solid"/>
          </a:ln>
        </p:spPr>
      </p:sp>
      <p:sp>
        <p:nvSpPr>
          <p:cNvPr id="9" name="Shape 7"/>
          <p:cNvSpPr/>
          <p:nvPr/>
        </p:nvSpPr>
        <p:spPr>
          <a:xfrm>
            <a:off x="320040" y="987552"/>
            <a:ext cx="73152" cy="914400"/>
          </a:xfrm>
          <a:prstGeom prst="rect">
            <a:avLst>
              <a:gd name="adj" fmla="val 75000"/>
            </a:avLst>
          </a:prstGeom>
          <a:solidFill>
            <a:srgbClr val="0A74E3"/>
          </a:solidFill>
          <a:ln w="12700">
            <a:solidFill>
              <a:srgbClr val="0A74E3"/>
            </a:solidFill>
            <a:prstDash val="solid"/>
          </a:ln>
        </p:spPr>
      </p:sp>
      <p:sp>
        <p:nvSpPr>
          <p:cNvPr id="10" name="Text 8"/>
          <p:cNvSpPr/>
          <p:nvPr/>
        </p:nvSpPr>
        <p:spPr>
          <a:xfrm>
            <a:off x="502920" y="1024128"/>
            <a:ext cx="3200400" cy="274320"/>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CII (Construction Industry Institute)</a:t>
            </a:r>
            <a:endParaRPr lang="en-US" sz="900" dirty="0"/>
          </a:p>
        </p:txBody>
      </p:sp>
      <p:sp>
        <p:nvSpPr>
          <p:cNvPr id="11" name="Text 9"/>
          <p:cNvSpPr/>
          <p:nvPr/>
        </p:nvSpPr>
        <p:spPr>
          <a:xfrm>
            <a:off x="502920" y="1316736"/>
            <a:ext cx="3200400" cy="237744"/>
          </a:xfrm>
          <a:prstGeom prst="rect">
            <a:avLst/>
          </a:prstGeom>
          <a:noFill/>
          <a:ln/>
        </p:spPr>
        <p:txBody>
          <a:bodyPr wrap="square" rtlCol="0" anchor="ctr"/>
          <a:lstStyle/>
          <a:p>
            <a:pPr indent="0" marL="0">
              <a:buNone/>
            </a:pPr>
            <a:r>
              <a:rPr lang="en-US" sz="800" i="1" dirty="0">
                <a:solidFill>
                  <a:srgbClr val="0A74E3"/>
                </a:solidFill>
                <a:latin typeface="Atkinson Hyperlegible" pitchFamily="34" charset="0"/>
                <a:ea typeface="Atkinson Hyperlegible" pitchFamily="34" charset="-122"/>
                <a:cs typeface="Atkinson Hyperlegible" pitchFamily="34" charset="-120"/>
              </a:rPr>
              <a:t>AWP Practitioner Certificate</a:t>
            </a:r>
            <a:endParaRPr lang="en-US" sz="800" dirty="0"/>
          </a:p>
        </p:txBody>
      </p:sp>
      <p:sp>
        <p:nvSpPr>
          <p:cNvPr id="12" name="Text 10"/>
          <p:cNvSpPr/>
          <p:nvPr/>
        </p:nvSpPr>
        <p:spPr>
          <a:xfrm>
            <a:off x="502920" y="1572768"/>
            <a:ext cx="3200400" cy="256032"/>
          </a:xfrm>
          <a:prstGeom prst="rect">
            <a:avLst/>
          </a:prstGeom>
          <a:noFill/>
          <a:ln/>
        </p:spPr>
        <p:txBody>
          <a:bodyPr wrap="square" rtlCol="0" anchor="ctr"/>
          <a:lstStyle/>
          <a:p>
            <a:pPr indent="0" marL="0">
              <a:buNone/>
            </a:pPr>
            <a:r>
              <a:rPr lang="en-US" sz="750" dirty="0">
                <a:solidFill>
                  <a:srgbClr val="555555"/>
                </a:solidFill>
                <a:latin typeface="Atkinson Hyperlegible" pitchFamily="34" charset="0"/>
                <a:ea typeface="Atkinson Hyperlegible" pitchFamily="34" charset="-122"/>
                <a:cs typeface="Atkinson Hyperlegible" pitchFamily="34" charset="-120"/>
              </a:rPr>
              <a:t>Ingeniero/Arquitecto + 5 años experiencia en proyectos de capital</a:t>
            </a:r>
            <a:endParaRPr lang="en-US" sz="750" dirty="0"/>
          </a:p>
        </p:txBody>
      </p:sp>
      <p:sp>
        <p:nvSpPr>
          <p:cNvPr id="13" name="Shape 11"/>
          <p:cNvSpPr/>
          <p:nvPr/>
        </p:nvSpPr>
        <p:spPr>
          <a:xfrm>
            <a:off x="3840480" y="1097280"/>
            <a:ext cx="1280160" cy="493776"/>
          </a:xfrm>
          <a:prstGeom prst="rect">
            <a:avLst>
              <a:gd name="adj" fmla="val 11111"/>
            </a:avLst>
          </a:prstGeom>
          <a:solidFill>
            <a:srgbClr val="0A74E3"/>
          </a:solidFill>
          <a:ln w="12700">
            <a:solidFill>
              <a:srgbClr val="0A74E3"/>
            </a:solidFill>
            <a:prstDash val="solid"/>
          </a:ln>
        </p:spPr>
      </p:sp>
      <p:sp>
        <p:nvSpPr>
          <p:cNvPr id="14" name="Text 12"/>
          <p:cNvSpPr/>
          <p:nvPr/>
        </p:nvSpPr>
        <p:spPr>
          <a:xfrm>
            <a:off x="3840480" y="1097280"/>
            <a:ext cx="1280160" cy="493776"/>
          </a:xfrm>
          <a:prstGeom prst="rect">
            <a:avLst/>
          </a:prstGeom>
          <a:noFill/>
          <a:ln/>
        </p:spPr>
        <p:txBody>
          <a:bodyPr wrap="square" rtlCol="0" anchor="ctr"/>
          <a:lstStyle/>
          <a:p>
            <a:pPr algn="ctr" indent="0" marL="0">
              <a:buNone/>
            </a:pPr>
            <a:r>
              <a:rPr lang="en-US" sz="1600" b="1" dirty="0">
                <a:solidFill>
                  <a:srgbClr val="0A74E3"/>
                </a:solidFill>
                <a:latin typeface="Atkinson Hyperlegible" pitchFamily="34" charset="0"/>
                <a:ea typeface="Atkinson Hyperlegible" pitchFamily="34" charset="-122"/>
                <a:cs typeface="Atkinson Hyperlegible" pitchFamily="34" charset="-120"/>
              </a:rPr>
              <a:t>24 hrs</a:t>
            </a:r>
            <a:endParaRPr lang="en-US" sz="1600" dirty="0"/>
          </a:p>
        </p:txBody>
      </p:sp>
      <p:sp>
        <p:nvSpPr>
          <p:cNvPr id="15" name="Text 13"/>
          <p:cNvSpPr/>
          <p:nvPr/>
        </p:nvSpPr>
        <p:spPr>
          <a:xfrm>
            <a:off x="5212080" y="1243584"/>
            <a:ext cx="1371600" cy="329184"/>
          </a:xfrm>
          <a:prstGeom prst="rect">
            <a:avLst/>
          </a:prstGeom>
          <a:noFill/>
          <a:ln/>
        </p:spPr>
        <p:txBody>
          <a:bodyPr wrap="square" rtlCol="0" anchor="ctr"/>
          <a:lstStyle/>
          <a:p>
            <a:pPr indent="0" marL="0">
              <a:buNone/>
            </a:pPr>
            <a:r>
              <a:rPr lang="en-US" sz="850" b="1" dirty="0">
                <a:solidFill>
                  <a:srgbClr val="0A74E3"/>
                </a:solidFill>
                <a:latin typeface="Atkinson Hyperlegible" pitchFamily="34" charset="0"/>
                <a:ea typeface="Atkinson Hyperlegible" pitchFamily="34" charset="-122"/>
                <a:cs typeface="Atkinson Hyperlegible" pitchFamily="34" charset="-120"/>
              </a:rPr>
              <a:t>Profesional</a:t>
            </a:r>
            <a:endParaRPr lang="en-US" sz="850" dirty="0"/>
          </a:p>
        </p:txBody>
      </p:sp>
      <p:sp>
        <p:nvSpPr>
          <p:cNvPr id="16" name="Shape 14"/>
          <p:cNvSpPr/>
          <p:nvPr/>
        </p:nvSpPr>
        <p:spPr>
          <a:xfrm>
            <a:off x="6675120" y="1152144"/>
            <a:ext cx="2057400" cy="475488"/>
          </a:xfrm>
          <a:prstGeom prst="rect">
            <a:avLst>
              <a:gd name="adj" fmla="val 9615"/>
            </a:avLst>
          </a:prstGeom>
          <a:solidFill>
            <a:srgbClr val="F5FFF5"/>
          </a:solidFill>
          <a:ln w="10160">
            <a:solidFill>
              <a:srgbClr val="27AE60"/>
            </a:solidFill>
            <a:prstDash val="solid"/>
          </a:ln>
        </p:spPr>
      </p:sp>
      <p:sp>
        <p:nvSpPr>
          <p:cNvPr id="17" name="Text 15"/>
          <p:cNvSpPr/>
          <p:nvPr/>
        </p:nvSpPr>
        <p:spPr>
          <a:xfrm>
            <a:off x="6675120" y="1152144"/>
            <a:ext cx="2057400" cy="237744"/>
          </a:xfrm>
          <a:prstGeom prst="rect">
            <a:avLst/>
          </a:prstGeom>
          <a:noFill/>
          <a:ln/>
        </p:spPr>
        <p:txBody>
          <a:bodyPr wrap="square" rtlCol="0" anchor="ctr"/>
          <a:lstStyle/>
          <a:p>
            <a:pPr algn="ctr" indent="0" marL="0">
              <a:buNone/>
            </a:pPr>
            <a:r>
              <a:rPr lang="en-US" sz="750" b="1" dirty="0">
                <a:solidFill>
                  <a:srgbClr val="27AE60"/>
                </a:solidFill>
                <a:latin typeface="Atkinson Hyperlegible" pitchFamily="34" charset="0"/>
                <a:ea typeface="Atkinson Hyperlegible" pitchFamily="34" charset="-122"/>
                <a:cs typeface="Atkinson Hyperlegible" pitchFamily="34" charset="-120"/>
              </a:rPr>
              <a:t>Disponible</a:t>
            </a:r>
            <a:endParaRPr lang="en-US" sz="750" dirty="0"/>
          </a:p>
        </p:txBody>
      </p:sp>
      <p:sp>
        <p:nvSpPr>
          <p:cNvPr id="18" name="Text 16"/>
          <p:cNvSpPr/>
          <p:nvPr/>
        </p:nvSpPr>
        <p:spPr>
          <a:xfrm>
            <a:off x="6675120" y="1371600"/>
            <a:ext cx="2057400" cy="237744"/>
          </a:xfrm>
          <a:prstGeom prst="rect">
            <a:avLst/>
          </a:prstGeom>
          <a:noFill/>
          <a:ln/>
        </p:spPr>
        <p:txBody>
          <a:bodyPr wrap="square" rtlCol="0" anchor="ctr"/>
          <a:lstStyle/>
          <a:p>
            <a:pPr algn="ct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Internacional</a:t>
            </a:r>
            <a:endParaRPr lang="en-US" sz="750" dirty="0"/>
          </a:p>
        </p:txBody>
      </p:sp>
      <p:sp>
        <p:nvSpPr>
          <p:cNvPr id="19" name="Shape 17"/>
          <p:cNvSpPr/>
          <p:nvPr/>
        </p:nvSpPr>
        <p:spPr>
          <a:xfrm>
            <a:off x="320040" y="1975104"/>
            <a:ext cx="8503920" cy="914400"/>
          </a:xfrm>
          <a:prstGeom prst="rect">
            <a:avLst>
              <a:gd name="adj" fmla="val 6000"/>
            </a:avLst>
          </a:prstGeom>
          <a:solidFill>
            <a:srgbClr val="FFFFFF"/>
          </a:solidFill>
          <a:ln w="15240">
            <a:solidFill>
              <a:srgbClr val="0E9E9E"/>
            </a:solidFill>
            <a:prstDash val="solid"/>
          </a:ln>
        </p:spPr>
      </p:sp>
      <p:sp>
        <p:nvSpPr>
          <p:cNvPr id="20" name="Shape 18"/>
          <p:cNvSpPr/>
          <p:nvPr/>
        </p:nvSpPr>
        <p:spPr>
          <a:xfrm>
            <a:off x="320040" y="1975104"/>
            <a:ext cx="73152" cy="914400"/>
          </a:xfrm>
          <a:prstGeom prst="rect">
            <a:avLst>
              <a:gd name="adj" fmla="val 75000"/>
            </a:avLst>
          </a:prstGeom>
          <a:solidFill>
            <a:srgbClr val="0E9E9E"/>
          </a:solidFill>
          <a:ln w="12700">
            <a:solidFill>
              <a:srgbClr val="0E9E9E"/>
            </a:solidFill>
            <a:prstDash val="solid"/>
          </a:ln>
        </p:spPr>
      </p:sp>
      <p:sp>
        <p:nvSpPr>
          <p:cNvPr id="21" name="Text 19"/>
          <p:cNvSpPr/>
          <p:nvPr/>
        </p:nvSpPr>
        <p:spPr>
          <a:xfrm>
            <a:off x="502920" y="2011680"/>
            <a:ext cx="3200400" cy="274320"/>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AACE International</a:t>
            </a:r>
            <a:endParaRPr lang="en-US" sz="900" dirty="0"/>
          </a:p>
        </p:txBody>
      </p:sp>
      <p:sp>
        <p:nvSpPr>
          <p:cNvPr id="22" name="Text 20"/>
          <p:cNvSpPr/>
          <p:nvPr/>
        </p:nvSpPr>
        <p:spPr>
          <a:xfrm>
            <a:off x="502920" y="2304288"/>
            <a:ext cx="3200400" cy="237744"/>
          </a:xfrm>
          <a:prstGeom prst="rect">
            <a:avLst/>
          </a:prstGeom>
          <a:noFill/>
          <a:ln/>
        </p:spPr>
        <p:txBody>
          <a:bodyPr wrap="square" rtlCol="0" anchor="ctr"/>
          <a:lstStyle/>
          <a:p>
            <a:pPr indent="0" marL="0">
              <a:buNone/>
            </a:pPr>
            <a:r>
              <a:rPr lang="en-US" sz="800" i="1" dirty="0">
                <a:solidFill>
                  <a:srgbClr val="0E9E9E"/>
                </a:solidFill>
                <a:latin typeface="Atkinson Hyperlegible" pitchFamily="34" charset="0"/>
                <a:ea typeface="Atkinson Hyperlegible" pitchFamily="34" charset="-122"/>
                <a:cs typeface="Atkinson Hyperlegible" pitchFamily="34" charset="-120"/>
              </a:rPr>
              <a:t>Certified Cost Engineer (CCE) + AWP Specialty</a:t>
            </a:r>
            <a:endParaRPr lang="en-US" sz="800" dirty="0"/>
          </a:p>
        </p:txBody>
      </p:sp>
      <p:sp>
        <p:nvSpPr>
          <p:cNvPr id="23" name="Text 21"/>
          <p:cNvSpPr/>
          <p:nvPr/>
        </p:nvSpPr>
        <p:spPr>
          <a:xfrm>
            <a:off x="502920" y="2560320"/>
            <a:ext cx="3200400" cy="256032"/>
          </a:xfrm>
          <a:prstGeom prst="rect">
            <a:avLst/>
          </a:prstGeom>
          <a:noFill/>
          <a:ln/>
        </p:spPr>
        <p:txBody>
          <a:bodyPr wrap="square" rtlCol="0" anchor="ctr"/>
          <a:lstStyle/>
          <a:p>
            <a:pPr indent="0" marL="0">
              <a:buNone/>
            </a:pPr>
            <a:r>
              <a:rPr lang="en-US" sz="750" dirty="0">
                <a:solidFill>
                  <a:srgbClr val="555555"/>
                </a:solidFill>
                <a:latin typeface="Atkinson Hyperlegible" pitchFamily="34" charset="0"/>
                <a:ea typeface="Atkinson Hyperlegible" pitchFamily="34" charset="-122"/>
                <a:cs typeface="Atkinson Hyperlegible" pitchFamily="34" charset="-120"/>
              </a:rPr>
              <a:t>Licenciatura en ingeniería + 8 años experiencia relevante</a:t>
            </a:r>
            <a:endParaRPr lang="en-US" sz="750" dirty="0"/>
          </a:p>
        </p:txBody>
      </p:sp>
      <p:sp>
        <p:nvSpPr>
          <p:cNvPr id="24" name="Shape 22"/>
          <p:cNvSpPr/>
          <p:nvPr/>
        </p:nvSpPr>
        <p:spPr>
          <a:xfrm>
            <a:off x="3840480" y="2084832"/>
            <a:ext cx="1280160" cy="493776"/>
          </a:xfrm>
          <a:prstGeom prst="rect">
            <a:avLst>
              <a:gd name="adj" fmla="val 11111"/>
            </a:avLst>
          </a:prstGeom>
          <a:solidFill>
            <a:srgbClr val="0E9E9E"/>
          </a:solidFill>
          <a:ln w="12700">
            <a:solidFill>
              <a:srgbClr val="0E9E9E"/>
            </a:solidFill>
            <a:prstDash val="solid"/>
          </a:ln>
        </p:spPr>
      </p:sp>
      <p:sp>
        <p:nvSpPr>
          <p:cNvPr id="25" name="Text 23"/>
          <p:cNvSpPr/>
          <p:nvPr/>
        </p:nvSpPr>
        <p:spPr>
          <a:xfrm>
            <a:off x="3840480" y="2084832"/>
            <a:ext cx="1280160" cy="493776"/>
          </a:xfrm>
          <a:prstGeom prst="rect">
            <a:avLst/>
          </a:prstGeom>
          <a:noFill/>
          <a:ln/>
        </p:spPr>
        <p:txBody>
          <a:bodyPr wrap="square" rtlCol="0" anchor="ctr"/>
          <a:lstStyle/>
          <a:p>
            <a:pPr algn="ctr" indent="0" marL="0">
              <a:buNone/>
            </a:pPr>
            <a:r>
              <a:rPr lang="en-US" sz="1600" b="1" dirty="0">
                <a:solidFill>
                  <a:srgbClr val="0E9E9E"/>
                </a:solidFill>
                <a:latin typeface="Atkinson Hyperlegible" pitchFamily="34" charset="0"/>
                <a:ea typeface="Atkinson Hyperlegible" pitchFamily="34" charset="-122"/>
                <a:cs typeface="Atkinson Hyperlegible" pitchFamily="34" charset="-120"/>
              </a:rPr>
              <a:t>40 hrs</a:t>
            </a:r>
            <a:endParaRPr lang="en-US" sz="1600" dirty="0"/>
          </a:p>
        </p:txBody>
      </p:sp>
      <p:sp>
        <p:nvSpPr>
          <p:cNvPr id="26" name="Text 24"/>
          <p:cNvSpPr/>
          <p:nvPr/>
        </p:nvSpPr>
        <p:spPr>
          <a:xfrm>
            <a:off x="5212080" y="2231136"/>
            <a:ext cx="1371600" cy="329184"/>
          </a:xfrm>
          <a:prstGeom prst="rect">
            <a:avLst/>
          </a:prstGeom>
          <a:noFill/>
          <a:ln/>
        </p:spPr>
        <p:txBody>
          <a:bodyPr wrap="square" rtlCol="0" anchor="ctr"/>
          <a:lstStyle/>
          <a:p>
            <a:pPr indent="0" marL="0">
              <a:buNone/>
            </a:pPr>
            <a:r>
              <a:rPr lang="en-US" sz="850" b="1" dirty="0">
                <a:solidFill>
                  <a:srgbClr val="0E9E9E"/>
                </a:solidFill>
                <a:latin typeface="Atkinson Hyperlegible" pitchFamily="34" charset="0"/>
                <a:ea typeface="Atkinson Hyperlegible" pitchFamily="34" charset="-122"/>
                <a:cs typeface="Atkinson Hyperlegible" pitchFamily="34" charset="-120"/>
              </a:rPr>
              <a:t>Profesional</a:t>
            </a:r>
            <a:endParaRPr lang="en-US" sz="850" dirty="0"/>
          </a:p>
        </p:txBody>
      </p:sp>
      <p:sp>
        <p:nvSpPr>
          <p:cNvPr id="27" name="Shape 25"/>
          <p:cNvSpPr/>
          <p:nvPr/>
        </p:nvSpPr>
        <p:spPr>
          <a:xfrm>
            <a:off x="6675120" y="2139696"/>
            <a:ext cx="2057400" cy="475488"/>
          </a:xfrm>
          <a:prstGeom prst="rect">
            <a:avLst>
              <a:gd name="adj" fmla="val 9615"/>
            </a:avLst>
          </a:prstGeom>
          <a:solidFill>
            <a:srgbClr val="F5FFF5"/>
          </a:solidFill>
          <a:ln w="10160">
            <a:solidFill>
              <a:srgbClr val="27AE60"/>
            </a:solidFill>
            <a:prstDash val="solid"/>
          </a:ln>
        </p:spPr>
      </p:sp>
      <p:sp>
        <p:nvSpPr>
          <p:cNvPr id="28" name="Text 26"/>
          <p:cNvSpPr/>
          <p:nvPr/>
        </p:nvSpPr>
        <p:spPr>
          <a:xfrm>
            <a:off x="6675120" y="2139696"/>
            <a:ext cx="2057400" cy="237744"/>
          </a:xfrm>
          <a:prstGeom prst="rect">
            <a:avLst/>
          </a:prstGeom>
          <a:noFill/>
          <a:ln/>
        </p:spPr>
        <p:txBody>
          <a:bodyPr wrap="square" rtlCol="0" anchor="ctr"/>
          <a:lstStyle/>
          <a:p>
            <a:pPr algn="ctr" indent="0" marL="0">
              <a:buNone/>
            </a:pPr>
            <a:r>
              <a:rPr lang="en-US" sz="750" b="1" dirty="0">
                <a:solidFill>
                  <a:srgbClr val="27AE60"/>
                </a:solidFill>
                <a:latin typeface="Atkinson Hyperlegible" pitchFamily="34" charset="0"/>
                <a:ea typeface="Atkinson Hyperlegible" pitchFamily="34" charset="-122"/>
                <a:cs typeface="Atkinson Hyperlegible" pitchFamily="34" charset="-120"/>
              </a:rPr>
              <a:t>Disponible</a:t>
            </a:r>
            <a:endParaRPr lang="en-US" sz="750" dirty="0"/>
          </a:p>
        </p:txBody>
      </p:sp>
      <p:sp>
        <p:nvSpPr>
          <p:cNvPr id="29" name="Text 27"/>
          <p:cNvSpPr/>
          <p:nvPr/>
        </p:nvSpPr>
        <p:spPr>
          <a:xfrm>
            <a:off x="6675120" y="2359152"/>
            <a:ext cx="2057400" cy="237744"/>
          </a:xfrm>
          <a:prstGeom prst="rect">
            <a:avLst/>
          </a:prstGeom>
          <a:noFill/>
          <a:ln/>
        </p:spPr>
        <p:txBody>
          <a:bodyPr wrap="square" rtlCol="0" anchor="ctr"/>
          <a:lstStyle/>
          <a:p>
            <a:pPr algn="ct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Internacional</a:t>
            </a:r>
            <a:endParaRPr lang="en-US" sz="750" dirty="0"/>
          </a:p>
        </p:txBody>
      </p:sp>
      <p:sp>
        <p:nvSpPr>
          <p:cNvPr id="30" name="Shape 28"/>
          <p:cNvSpPr/>
          <p:nvPr/>
        </p:nvSpPr>
        <p:spPr>
          <a:xfrm>
            <a:off x="320040" y="2962656"/>
            <a:ext cx="8503920" cy="914400"/>
          </a:xfrm>
          <a:prstGeom prst="rect">
            <a:avLst>
              <a:gd name="adj" fmla="val 6000"/>
            </a:avLst>
          </a:prstGeom>
          <a:solidFill>
            <a:srgbClr val="FFFFFF"/>
          </a:solidFill>
          <a:ln w="15240">
            <a:solidFill>
              <a:srgbClr val="27AE60"/>
            </a:solidFill>
            <a:prstDash val="solid"/>
          </a:ln>
        </p:spPr>
      </p:sp>
      <p:sp>
        <p:nvSpPr>
          <p:cNvPr id="31" name="Shape 29"/>
          <p:cNvSpPr/>
          <p:nvPr/>
        </p:nvSpPr>
        <p:spPr>
          <a:xfrm>
            <a:off x="320040" y="2962656"/>
            <a:ext cx="73152" cy="914400"/>
          </a:xfrm>
          <a:prstGeom prst="rect">
            <a:avLst>
              <a:gd name="adj" fmla="val 75000"/>
            </a:avLst>
          </a:prstGeom>
          <a:solidFill>
            <a:srgbClr val="27AE60"/>
          </a:solidFill>
          <a:ln w="12700">
            <a:solidFill>
              <a:srgbClr val="27AE60"/>
            </a:solidFill>
            <a:prstDash val="solid"/>
          </a:ln>
        </p:spPr>
      </p:sp>
      <p:sp>
        <p:nvSpPr>
          <p:cNvPr id="32" name="Text 30"/>
          <p:cNvSpPr/>
          <p:nvPr/>
        </p:nvSpPr>
        <p:spPr>
          <a:xfrm>
            <a:off x="502920" y="2999232"/>
            <a:ext cx="3200400" cy="274320"/>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PMI (Project Management Institute)</a:t>
            </a:r>
            <a:endParaRPr lang="en-US" sz="900" dirty="0"/>
          </a:p>
        </p:txBody>
      </p:sp>
      <p:sp>
        <p:nvSpPr>
          <p:cNvPr id="33" name="Text 31"/>
          <p:cNvSpPr/>
          <p:nvPr/>
        </p:nvSpPr>
        <p:spPr>
          <a:xfrm>
            <a:off x="502920" y="3291840"/>
            <a:ext cx="3200400" cy="237744"/>
          </a:xfrm>
          <a:prstGeom prst="rect">
            <a:avLst/>
          </a:prstGeom>
          <a:noFill/>
          <a:ln/>
        </p:spPr>
        <p:txBody>
          <a:bodyPr wrap="square" rtlCol="0" anchor="ctr"/>
          <a:lstStyle/>
          <a:p>
            <a:pPr indent="0" marL="0">
              <a:buNone/>
            </a:pPr>
            <a:r>
              <a:rPr lang="en-US" sz="800" i="1" dirty="0">
                <a:solidFill>
                  <a:srgbClr val="27AE60"/>
                </a:solidFill>
                <a:latin typeface="Atkinson Hyperlegible" pitchFamily="34" charset="0"/>
                <a:ea typeface="Atkinson Hyperlegible" pitchFamily="34" charset="-122"/>
                <a:cs typeface="Atkinson Hyperlegible" pitchFamily="34" charset="-120"/>
              </a:rPr>
              <a:t>PMP + PMI-CP (Construction Professional)</a:t>
            </a:r>
            <a:endParaRPr lang="en-US" sz="800" dirty="0"/>
          </a:p>
        </p:txBody>
      </p:sp>
      <p:sp>
        <p:nvSpPr>
          <p:cNvPr id="34" name="Text 32"/>
          <p:cNvSpPr/>
          <p:nvPr/>
        </p:nvSpPr>
        <p:spPr>
          <a:xfrm>
            <a:off x="502920" y="3547872"/>
            <a:ext cx="3200400" cy="256032"/>
          </a:xfrm>
          <a:prstGeom prst="rect">
            <a:avLst/>
          </a:prstGeom>
          <a:noFill/>
          <a:ln/>
        </p:spPr>
        <p:txBody>
          <a:bodyPr wrap="square" rtlCol="0" anchor="ctr"/>
          <a:lstStyle/>
          <a:p>
            <a:pPr indent="0" marL="0">
              <a:buNone/>
            </a:pPr>
            <a:r>
              <a:rPr lang="en-US" sz="750" dirty="0">
                <a:solidFill>
                  <a:srgbClr val="555555"/>
                </a:solidFill>
                <a:latin typeface="Atkinson Hyperlegible" pitchFamily="34" charset="0"/>
                <a:ea typeface="Atkinson Hyperlegible" pitchFamily="34" charset="-122"/>
                <a:cs typeface="Atkinson Hyperlegible" pitchFamily="34" charset="-120"/>
              </a:rPr>
              <a:t>PMP vigente + 36 meses en construcción con responsabilidad de dirección</a:t>
            </a:r>
            <a:endParaRPr lang="en-US" sz="750" dirty="0"/>
          </a:p>
        </p:txBody>
      </p:sp>
      <p:sp>
        <p:nvSpPr>
          <p:cNvPr id="35" name="Shape 33"/>
          <p:cNvSpPr/>
          <p:nvPr/>
        </p:nvSpPr>
        <p:spPr>
          <a:xfrm>
            <a:off x="3840480" y="3072384"/>
            <a:ext cx="1280160" cy="493776"/>
          </a:xfrm>
          <a:prstGeom prst="rect">
            <a:avLst>
              <a:gd name="adj" fmla="val 11111"/>
            </a:avLst>
          </a:prstGeom>
          <a:solidFill>
            <a:srgbClr val="27AE60"/>
          </a:solidFill>
          <a:ln w="12700">
            <a:solidFill>
              <a:srgbClr val="27AE60"/>
            </a:solidFill>
            <a:prstDash val="solid"/>
          </a:ln>
        </p:spPr>
      </p:sp>
      <p:sp>
        <p:nvSpPr>
          <p:cNvPr id="36" name="Text 34"/>
          <p:cNvSpPr/>
          <p:nvPr/>
        </p:nvSpPr>
        <p:spPr>
          <a:xfrm>
            <a:off x="3840480" y="3072384"/>
            <a:ext cx="1280160" cy="493776"/>
          </a:xfrm>
          <a:prstGeom prst="rect">
            <a:avLst/>
          </a:prstGeom>
          <a:noFill/>
          <a:ln/>
        </p:spPr>
        <p:txBody>
          <a:bodyPr wrap="square" rtlCol="0" anchor="ctr"/>
          <a:lstStyle/>
          <a:p>
            <a:pPr algn="ctr" indent="0" marL="0">
              <a:buNone/>
            </a:pPr>
            <a:r>
              <a:rPr lang="en-US" sz="1600" b="1" dirty="0">
                <a:solidFill>
                  <a:srgbClr val="27AE60"/>
                </a:solidFill>
                <a:latin typeface="Atkinson Hyperlegible" pitchFamily="34" charset="0"/>
                <a:ea typeface="Atkinson Hyperlegible" pitchFamily="34" charset="-122"/>
                <a:cs typeface="Atkinson Hyperlegible" pitchFamily="34" charset="-120"/>
              </a:rPr>
              <a:t>35 hrs</a:t>
            </a:r>
            <a:endParaRPr lang="en-US" sz="1600" dirty="0"/>
          </a:p>
        </p:txBody>
      </p:sp>
      <p:sp>
        <p:nvSpPr>
          <p:cNvPr id="37" name="Text 35"/>
          <p:cNvSpPr/>
          <p:nvPr/>
        </p:nvSpPr>
        <p:spPr>
          <a:xfrm>
            <a:off x="5212080" y="3218688"/>
            <a:ext cx="1371600" cy="329184"/>
          </a:xfrm>
          <a:prstGeom prst="rect">
            <a:avLst/>
          </a:prstGeom>
          <a:noFill/>
          <a:ln/>
        </p:spPr>
        <p:txBody>
          <a:bodyPr wrap="square" rtlCol="0" anchor="ctr"/>
          <a:lstStyle/>
          <a:p>
            <a:pPr indent="0" marL="0">
              <a:buNone/>
            </a:pPr>
            <a:r>
              <a:rPr lang="en-US" sz="850" b="1" dirty="0">
                <a:solidFill>
                  <a:srgbClr val="27AE60"/>
                </a:solidFill>
                <a:latin typeface="Atkinson Hyperlegible" pitchFamily="34" charset="0"/>
                <a:ea typeface="Atkinson Hyperlegible" pitchFamily="34" charset="-122"/>
                <a:cs typeface="Atkinson Hyperlegible" pitchFamily="34" charset="-120"/>
              </a:rPr>
              <a:t>Profesional</a:t>
            </a:r>
            <a:endParaRPr lang="en-US" sz="850" dirty="0"/>
          </a:p>
        </p:txBody>
      </p:sp>
      <p:sp>
        <p:nvSpPr>
          <p:cNvPr id="38" name="Shape 36"/>
          <p:cNvSpPr/>
          <p:nvPr/>
        </p:nvSpPr>
        <p:spPr>
          <a:xfrm>
            <a:off x="6675120" y="3127248"/>
            <a:ext cx="2057400" cy="475488"/>
          </a:xfrm>
          <a:prstGeom prst="rect">
            <a:avLst>
              <a:gd name="adj" fmla="val 9615"/>
            </a:avLst>
          </a:prstGeom>
          <a:solidFill>
            <a:srgbClr val="F5FFF5"/>
          </a:solidFill>
          <a:ln w="10160">
            <a:solidFill>
              <a:srgbClr val="27AE60"/>
            </a:solidFill>
            <a:prstDash val="solid"/>
          </a:ln>
        </p:spPr>
      </p:sp>
      <p:sp>
        <p:nvSpPr>
          <p:cNvPr id="39" name="Text 37"/>
          <p:cNvSpPr/>
          <p:nvPr/>
        </p:nvSpPr>
        <p:spPr>
          <a:xfrm>
            <a:off x="6675120" y="3127248"/>
            <a:ext cx="2057400" cy="237744"/>
          </a:xfrm>
          <a:prstGeom prst="rect">
            <a:avLst/>
          </a:prstGeom>
          <a:noFill/>
          <a:ln/>
        </p:spPr>
        <p:txBody>
          <a:bodyPr wrap="square" rtlCol="0" anchor="ctr"/>
          <a:lstStyle/>
          <a:p>
            <a:pPr algn="ctr" indent="0" marL="0">
              <a:buNone/>
            </a:pPr>
            <a:r>
              <a:rPr lang="en-US" sz="750" b="1" dirty="0">
                <a:solidFill>
                  <a:srgbClr val="27AE60"/>
                </a:solidFill>
                <a:latin typeface="Atkinson Hyperlegible" pitchFamily="34" charset="0"/>
                <a:ea typeface="Atkinson Hyperlegible" pitchFamily="34" charset="-122"/>
                <a:cs typeface="Atkinson Hyperlegible" pitchFamily="34" charset="-120"/>
              </a:rPr>
              <a:t>Disponible</a:t>
            </a:r>
            <a:endParaRPr lang="en-US" sz="750" dirty="0"/>
          </a:p>
        </p:txBody>
      </p:sp>
      <p:sp>
        <p:nvSpPr>
          <p:cNvPr id="40" name="Text 38"/>
          <p:cNvSpPr/>
          <p:nvPr/>
        </p:nvSpPr>
        <p:spPr>
          <a:xfrm>
            <a:off x="6675120" y="3346704"/>
            <a:ext cx="2057400" cy="237744"/>
          </a:xfrm>
          <a:prstGeom prst="rect">
            <a:avLst/>
          </a:prstGeom>
          <a:noFill/>
          <a:ln/>
        </p:spPr>
        <p:txBody>
          <a:bodyPr wrap="square" rtlCol="0" anchor="ctr"/>
          <a:lstStyle/>
          <a:p>
            <a:pPr algn="ct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Internacional</a:t>
            </a:r>
            <a:endParaRPr lang="en-US" sz="750" dirty="0"/>
          </a:p>
        </p:txBody>
      </p:sp>
      <p:sp>
        <p:nvSpPr>
          <p:cNvPr id="41" name="Shape 39"/>
          <p:cNvSpPr/>
          <p:nvPr/>
        </p:nvSpPr>
        <p:spPr>
          <a:xfrm>
            <a:off x="320040" y="3950208"/>
            <a:ext cx="8503920" cy="914400"/>
          </a:xfrm>
          <a:prstGeom prst="rect">
            <a:avLst>
              <a:gd name="adj" fmla="val 6000"/>
            </a:avLst>
          </a:prstGeom>
          <a:solidFill>
            <a:srgbClr val="FFFFFF"/>
          </a:solidFill>
          <a:ln w="15240">
            <a:solidFill>
              <a:srgbClr val="D4620A"/>
            </a:solidFill>
            <a:prstDash val="solid"/>
          </a:ln>
        </p:spPr>
      </p:sp>
      <p:sp>
        <p:nvSpPr>
          <p:cNvPr id="42" name="Shape 40"/>
          <p:cNvSpPr/>
          <p:nvPr/>
        </p:nvSpPr>
        <p:spPr>
          <a:xfrm>
            <a:off x="320040" y="3950208"/>
            <a:ext cx="73152" cy="914400"/>
          </a:xfrm>
          <a:prstGeom prst="rect">
            <a:avLst>
              <a:gd name="adj" fmla="val 75000"/>
            </a:avLst>
          </a:prstGeom>
          <a:solidFill>
            <a:srgbClr val="D4620A"/>
          </a:solidFill>
          <a:ln w="12700">
            <a:solidFill>
              <a:srgbClr val="D4620A"/>
            </a:solidFill>
            <a:prstDash val="solid"/>
          </a:ln>
        </p:spPr>
      </p:sp>
      <p:sp>
        <p:nvSpPr>
          <p:cNvPr id="43" name="Text 41"/>
          <p:cNvSpPr/>
          <p:nvPr/>
        </p:nvSpPr>
        <p:spPr>
          <a:xfrm>
            <a:off x="502920" y="3986784"/>
            <a:ext cx="3200400" cy="274320"/>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Cosapi / Empresa Interna</a:t>
            </a:r>
            <a:endParaRPr lang="en-US" sz="900" dirty="0"/>
          </a:p>
        </p:txBody>
      </p:sp>
      <p:sp>
        <p:nvSpPr>
          <p:cNvPr id="44" name="Text 42"/>
          <p:cNvSpPr/>
          <p:nvPr/>
        </p:nvSpPr>
        <p:spPr>
          <a:xfrm>
            <a:off x="502920" y="4279392"/>
            <a:ext cx="3200400" cy="237744"/>
          </a:xfrm>
          <a:prstGeom prst="rect">
            <a:avLst/>
          </a:prstGeom>
          <a:noFill/>
          <a:ln/>
        </p:spPr>
        <p:txBody>
          <a:bodyPr wrap="square" rtlCol="0" anchor="ctr"/>
          <a:lstStyle/>
          <a:p>
            <a:pPr indent="0" marL="0">
              <a:buNone/>
            </a:pPr>
            <a:r>
              <a:rPr lang="en-US" sz="800" i="1" dirty="0">
                <a:solidFill>
                  <a:srgbClr val="D4620A"/>
                </a:solidFill>
                <a:latin typeface="Atkinson Hyperlegible" pitchFamily="34" charset="0"/>
                <a:ea typeface="Atkinson Hyperlegible" pitchFamily="34" charset="-122"/>
                <a:cs typeface="Atkinson Hyperlegible" pitchFamily="34" charset="-120"/>
              </a:rPr>
              <a:t>Constructabilidad Nivel I-II-III (interno)</a:t>
            </a:r>
            <a:endParaRPr lang="en-US" sz="800" dirty="0"/>
          </a:p>
        </p:txBody>
      </p:sp>
      <p:sp>
        <p:nvSpPr>
          <p:cNvPr id="45" name="Text 43"/>
          <p:cNvSpPr/>
          <p:nvPr/>
        </p:nvSpPr>
        <p:spPr>
          <a:xfrm>
            <a:off x="502920" y="4535424"/>
            <a:ext cx="3200400" cy="256032"/>
          </a:xfrm>
          <a:prstGeom prst="rect">
            <a:avLst/>
          </a:prstGeom>
          <a:noFill/>
          <a:ln/>
        </p:spPr>
        <p:txBody>
          <a:bodyPr wrap="square" rtlCol="0" anchor="ctr"/>
          <a:lstStyle/>
          <a:p>
            <a:pPr indent="0" marL="0">
              <a:buNone/>
            </a:pPr>
            <a:r>
              <a:rPr lang="en-US" sz="750" dirty="0">
                <a:solidFill>
                  <a:srgbClr val="555555"/>
                </a:solidFill>
                <a:latin typeface="Atkinson Hyperlegible" pitchFamily="34" charset="0"/>
                <a:ea typeface="Atkinson Hyperlegible" pitchFamily="34" charset="-122"/>
                <a:cs typeface="Atkinson Hyperlegible" pitchFamily="34" charset="-120"/>
              </a:rPr>
              <a:t>Profesional Cosapi en gestión de proyectos de construcción</a:t>
            </a:r>
            <a:endParaRPr lang="en-US" sz="750" dirty="0"/>
          </a:p>
        </p:txBody>
      </p:sp>
      <p:sp>
        <p:nvSpPr>
          <p:cNvPr id="46" name="Shape 44"/>
          <p:cNvSpPr/>
          <p:nvPr/>
        </p:nvSpPr>
        <p:spPr>
          <a:xfrm>
            <a:off x="3840480" y="4059936"/>
            <a:ext cx="1280160" cy="493776"/>
          </a:xfrm>
          <a:prstGeom prst="rect">
            <a:avLst>
              <a:gd name="adj" fmla="val 11111"/>
            </a:avLst>
          </a:prstGeom>
          <a:solidFill>
            <a:srgbClr val="D4620A"/>
          </a:solidFill>
          <a:ln w="12700">
            <a:solidFill>
              <a:srgbClr val="D4620A"/>
            </a:solidFill>
            <a:prstDash val="solid"/>
          </a:ln>
        </p:spPr>
      </p:sp>
      <p:sp>
        <p:nvSpPr>
          <p:cNvPr id="47" name="Text 45"/>
          <p:cNvSpPr/>
          <p:nvPr/>
        </p:nvSpPr>
        <p:spPr>
          <a:xfrm>
            <a:off x="3840480" y="4059936"/>
            <a:ext cx="1280160" cy="493776"/>
          </a:xfrm>
          <a:prstGeom prst="rect">
            <a:avLst/>
          </a:prstGeom>
          <a:noFill/>
          <a:ln/>
        </p:spPr>
        <p:txBody>
          <a:bodyPr wrap="square" rtlCol="0" anchor="ctr"/>
          <a:lstStyle/>
          <a:p>
            <a:pPr algn="ctr" indent="0" marL="0">
              <a:buNone/>
            </a:pPr>
            <a:r>
              <a:rPr lang="en-US" sz="1600" b="1" dirty="0">
                <a:solidFill>
                  <a:srgbClr val="D4620A"/>
                </a:solidFill>
                <a:latin typeface="Atkinson Hyperlegible" pitchFamily="34" charset="0"/>
                <a:ea typeface="Atkinson Hyperlegible" pitchFamily="34" charset="-122"/>
                <a:cs typeface="Atkinson Hyperlegible" pitchFamily="34" charset="-120"/>
              </a:rPr>
              <a:t>16 hrs</a:t>
            </a:r>
            <a:endParaRPr lang="en-US" sz="1600" dirty="0"/>
          </a:p>
        </p:txBody>
      </p:sp>
      <p:sp>
        <p:nvSpPr>
          <p:cNvPr id="48" name="Text 46"/>
          <p:cNvSpPr/>
          <p:nvPr/>
        </p:nvSpPr>
        <p:spPr>
          <a:xfrm>
            <a:off x="5212080" y="4206240"/>
            <a:ext cx="1371600" cy="329184"/>
          </a:xfrm>
          <a:prstGeom prst="rect">
            <a:avLst/>
          </a:prstGeom>
          <a:noFill/>
          <a:ln/>
        </p:spPr>
        <p:txBody>
          <a:bodyPr wrap="square" rtlCol="0" anchor="ctr"/>
          <a:lstStyle/>
          <a:p>
            <a:pPr indent="0" marL="0">
              <a:buNone/>
            </a:pPr>
            <a:r>
              <a:rPr lang="en-US" sz="850" b="1" dirty="0">
                <a:solidFill>
                  <a:srgbClr val="D4620A"/>
                </a:solidFill>
                <a:latin typeface="Atkinson Hyperlegible" pitchFamily="34" charset="0"/>
                <a:ea typeface="Atkinson Hyperlegible" pitchFamily="34" charset="-122"/>
                <a:cs typeface="Atkinson Hyperlegible" pitchFamily="34" charset="-120"/>
              </a:rPr>
              <a:t>Corporativo</a:t>
            </a:r>
            <a:endParaRPr lang="en-US" sz="850" dirty="0"/>
          </a:p>
        </p:txBody>
      </p:sp>
      <p:sp>
        <p:nvSpPr>
          <p:cNvPr id="49" name="Shape 47"/>
          <p:cNvSpPr/>
          <p:nvPr/>
        </p:nvSpPr>
        <p:spPr>
          <a:xfrm>
            <a:off x="6675120" y="4114800"/>
            <a:ext cx="2057400" cy="475488"/>
          </a:xfrm>
          <a:prstGeom prst="rect">
            <a:avLst>
              <a:gd name="adj" fmla="val 9615"/>
            </a:avLst>
          </a:prstGeom>
          <a:solidFill>
            <a:srgbClr val="F5FFF5"/>
          </a:solidFill>
          <a:ln w="10160">
            <a:solidFill>
              <a:srgbClr val="27AE60"/>
            </a:solidFill>
            <a:prstDash val="solid"/>
          </a:ln>
        </p:spPr>
      </p:sp>
      <p:sp>
        <p:nvSpPr>
          <p:cNvPr id="50" name="Text 48"/>
          <p:cNvSpPr/>
          <p:nvPr/>
        </p:nvSpPr>
        <p:spPr>
          <a:xfrm>
            <a:off x="6675120" y="4114800"/>
            <a:ext cx="2057400" cy="237744"/>
          </a:xfrm>
          <a:prstGeom prst="rect">
            <a:avLst/>
          </a:prstGeom>
          <a:noFill/>
          <a:ln/>
        </p:spPr>
        <p:txBody>
          <a:bodyPr wrap="square" rtlCol="0" anchor="ctr"/>
          <a:lstStyle/>
          <a:p>
            <a:pPr algn="ctr" indent="0" marL="0">
              <a:buNone/>
            </a:pPr>
            <a:r>
              <a:rPr lang="en-US" sz="750" b="1" dirty="0">
                <a:solidFill>
                  <a:srgbClr val="27AE60"/>
                </a:solidFill>
                <a:latin typeface="Atkinson Hyperlegible" pitchFamily="34" charset="0"/>
                <a:ea typeface="Atkinson Hyperlegible" pitchFamily="34" charset="-122"/>
                <a:cs typeface="Atkinson Hyperlegible" pitchFamily="34" charset="-120"/>
              </a:rPr>
              <a:t>Disponible</a:t>
            </a:r>
            <a:endParaRPr lang="en-US" sz="750" dirty="0"/>
          </a:p>
        </p:txBody>
      </p:sp>
      <p:sp>
        <p:nvSpPr>
          <p:cNvPr id="51" name="Text 49"/>
          <p:cNvSpPr/>
          <p:nvPr/>
        </p:nvSpPr>
        <p:spPr>
          <a:xfrm>
            <a:off x="6675120" y="4334256"/>
            <a:ext cx="2057400" cy="237744"/>
          </a:xfrm>
          <a:prstGeom prst="rect">
            <a:avLst/>
          </a:prstGeom>
          <a:noFill/>
          <a:ln/>
        </p:spPr>
        <p:txBody>
          <a:bodyPr wrap="square" rtlCol="0" anchor="ctr"/>
          <a:lstStyle/>
          <a:p>
            <a:pPr algn="ct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In-company</a:t>
            </a:r>
            <a:endParaRPr lang="en-US" sz="750" dirty="0"/>
          </a:p>
        </p:txBody>
      </p:sp>
      <p:sp>
        <p:nvSpPr>
          <p:cNvPr id="52" name="Shape 50"/>
          <p:cNvSpPr/>
          <p:nvPr/>
        </p:nvSpPr>
        <p:spPr>
          <a:xfrm>
            <a:off x="320040" y="4956048"/>
            <a:ext cx="0" cy="0"/>
          </a:xfrm>
          <a:prstGeom prst="rect">
            <a:avLst/>
          </a:prstGeom>
          <a:solidFill>
            <a:srgbClr val="FFFFFF"/>
          </a:solidFill>
          <a:ln w="12700">
            <a:solidFill>
              <a:srgbClr val="FFFFFF"/>
            </a:solidFill>
            <a:prstDash val="solid"/>
          </a:ln>
        </p:spPr>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4E3"/>
          </a:solidFill>
          <a:ln w="12700">
            <a:solidFill>
              <a:srgbClr val="0A74E3"/>
            </a:solidFill>
            <a:prstDash val="solid"/>
          </a:ln>
        </p:spPr>
      </p:sp>
      <p:sp>
        <p:nvSpPr>
          <p:cNvPr id="3" name="Shape 1"/>
          <p:cNvSpPr/>
          <p:nvPr/>
        </p:nvSpPr>
        <p:spPr>
          <a:xfrm>
            <a:off x="164592" y="4956048"/>
            <a:ext cx="8979408" cy="182880"/>
          </a:xfrm>
          <a:prstGeom prst="rect">
            <a:avLst/>
          </a:prstGeom>
          <a:solidFill>
            <a:srgbClr val="0A74E3"/>
          </a:solidFill>
          <a:ln w="12700">
            <a:solidFill>
              <a:srgbClr val="0A74E3"/>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95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Retorno de Inversión en Constructabilidad</a:t>
            </a:r>
            <a:endParaRPr lang="en-US" sz="1800" dirty="0"/>
          </a:p>
        </p:txBody>
      </p:sp>
      <p:sp>
        <p:nvSpPr>
          <p:cNvPr id="6" name="Shape 4"/>
          <p:cNvSpPr/>
          <p:nvPr/>
        </p:nvSpPr>
        <p:spPr>
          <a:xfrm>
            <a:off x="320040" y="621792"/>
            <a:ext cx="8503920" cy="41148"/>
          </a:xfrm>
          <a:prstGeom prst="rect">
            <a:avLst/>
          </a:prstGeom>
          <a:solidFill>
            <a:srgbClr val="0A74E3"/>
          </a:solidFill>
          <a:ln w="12700">
            <a:solidFill>
              <a:srgbClr val="0A74E3"/>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A74E3"/>
                </a:solidFill>
                <a:latin typeface="Atkinson Hyperlegible" pitchFamily="34" charset="0"/>
                <a:ea typeface="Atkinson Hyperlegible" pitchFamily="34" charset="-122"/>
                <a:cs typeface="Atkinson Hyperlegible" pitchFamily="34" charset="-120"/>
              </a:rPr>
              <a:t>Cuantificación del valor generado por la adopción de AWP en proyectos de capital</a:t>
            </a:r>
            <a:endParaRPr lang="en-US" sz="900" dirty="0"/>
          </a:p>
        </p:txBody>
      </p:sp>
      <p:sp>
        <p:nvSpPr>
          <p:cNvPr id="8" name="Shape 6"/>
          <p:cNvSpPr/>
          <p:nvPr/>
        </p:nvSpPr>
        <p:spPr>
          <a:xfrm>
            <a:off x="320040" y="960120"/>
            <a:ext cx="4023360" cy="3840480"/>
          </a:xfrm>
          <a:prstGeom prst="rect">
            <a:avLst>
              <a:gd name="adj" fmla="val 1905"/>
            </a:avLst>
          </a:prstGeom>
          <a:solidFill>
            <a:srgbClr val="F0F8FF"/>
          </a:solidFill>
          <a:ln w="12700">
            <a:solidFill>
              <a:srgbClr val="0A74E3"/>
            </a:solidFill>
            <a:prstDash val="solid"/>
          </a:ln>
        </p:spPr>
      </p:sp>
      <p:sp>
        <p:nvSpPr>
          <p:cNvPr id="9" name="Text 7"/>
          <p:cNvSpPr/>
          <p:nvPr/>
        </p:nvSpPr>
        <p:spPr>
          <a:xfrm>
            <a:off x="411480" y="1024128"/>
            <a:ext cx="3840480" cy="274320"/>
          </a:xfrm>
          <a:prstGeom prst="rect">
            <a:avLst/>
          </a:prstGeom>
          <a:noFill/>
          <a:ln/>
        </p:spPr>
        <p:txBody>
          <a:bodyPr wrap="square" rtlCol="0" anchor="ctr"/>
          <a:lstStyle/>
          <a:p>
            <a:pPr indent="0" marL="0">
              <a:buNone/>
            </a:pPr>
            <a:r>
              <a:rPr lang="en-US" sz="950" b="1" dirty="0">
                <a:solidFill>
                  <a:srgbClr val="0A74E3"/>
                </a:solidFill>
                <a:latin typeface="Atkinson Hyperlegible" pitchFamily="34" charset="0"/>
                <a:ea typeface="Atkinson Hyperlegible" pitchFamily="34" charset="-122"/>
                <a:cs typeface="Atkinson Hyperlegible" pitchFamily="34" charset="-120"/>
              </a:rPr>
              <a:t>Caso Base — Proyecto Tipo</a:t>
            </a:r>
            <a:endParaRPr lang="en-US" sz="950" dirty="0"/>
          </a:p>
        </p:txBody>
      </p:sp>
      <p:sp>
        <p:nvSpPr>
          <p:cNvPr id="10" name="Shape 8"/>
          <p:cNvSpPr/>
          <p:nvPr/>
        </p:nvSpPr>
        <p:spPr>
          <a:xfrm>
            <a:off x="411480" y="1371600"/>
            <a:ext cx="3840480" cy="475488"/>
          </a:xfrm>
          <a:prstGeom prst="rect">
            <a:avLst>
              <a:gd name="adj" fmla="val 7692"/>
            </a:avLst>
          </a:prstGeom>
          <a:solidFill>
            <a:srgbClr val="FFFFFF"/>
          </a:solidFill>
          <a:ln w="6350">
            <a:solidFill>
              <a:srgbClr val="E5E5EA"/>
            </a:solidFill>
            <a:prstDash val="solid"/>
          </a:ln>
        </p:spPr>
      </p:sp>
      <p:sp>
        <p:nvSpPr>
          <p:cNvPr id="11" name="Text 9"/>
          <p:cNvSpPr/>
          <p:nvPr/>
        </p:nvSpPr>
        <p:spPr>
          <a:xfrm>
            <a:off x="502920" y="1408176"/>
            <a:ext cx="2103120" cy="402336"/>
          </a:xfrm>
          <a:prstGeom prst="rect">
            <a:avLst/>
          </a:prstGeom>
          <a:noFill/>
          <a:ln/>
        </p:spPr>
        <p:txBody>
          <a:bodyPr wrap="square" rtlCol="0" anchor="ctr"/>
          <a:lstStyle/>
          <a:p>
            <a:pPr indent="0" marL="0">
              <a:buNone/>
            </a:pPr>
            <a:r>
              <a:rPr lang="en-US" sz="800" b="1" dirty="0">
                <a:solidFill>
                  <a:srgbClr val="444444"/>
                </a:solidFill>
                <a:latin typeface="Atkinson Hyperlegible" pitchFamily="34" charset="0"/>
                <a:ea typeface="Atkinson Hyperlegible" pitchFamily="34" charset="-122"/>
                <a:cs typeface="Atkinson Hyperlegible" pitchFamily="34" charset="-120"/>
              </a:rPr>
              <a:t>Inversión del Proyecto</a:t>
            </a:r>
            <a:endParaRPr lang="en-US" sz="800" dirty="0"/>
          </a:p>
        </p:txBody>
      </p:sp>
      <p:sp>
        <p:nvSpPr>
          <p:cNvPr id="12" name="Text 10"/>
          <p:cNvSpPr/>
          <p:nvPr/>
        </p:nvSpPr>
        <p:spPr>
          <a:xfrm>
            <a:off x="2651760" y="1408176"/>
            <a:ext cx="1463040" cy="402336"/>
          </a:xfrm>
          <a:prstGeom prst="rect">
            <a:avLst/>
          </a:prstGeom>
          <a:noFill/>
          <a:ln/>
        </p:spPr>
        <p:txBody>
          <a:bodyPr wrap="square" rtlCol="0" anchor="ctr"/>
          <a:lstStyle/>
          <a:p>
            <a:pPr algn="r" indent="0" marL="0">
              <a:buNone/>
            </a:pPr>
            <a:r>
              <a:rPr lang="en-US" sz="800" b="1" dirty="0">
                <a:solidFill>
                  <a:srgbClr val="0A74E3"/>
                </a:solidFill>
                <a:latin typeface="Atkinson Hyperlegible" pitchFamily="34" charset="0"/>
                <a:ea typeface="Atkinson Hyperlegible" pitchFamily="34" charset="-122"/>
                <a:cs typeface="Atkinson Hyperlegible" pitchFamily="34" charset="-120"/>
              </a:rPr>
              <a:t>US$ 500M</a:t>
            </a:r>
            <a:endParaRPr lang="en-US" sz="800" dirty="0"/>
          </a:p>
        </p:txBody>
      </p:sp>
      <p:sp>
        <p:nvSpPr>
          <p:cNvPr id="13" name="Shape 11"/>
          <p:cNvSpPr/>
          <p:nvPr/>
        </p:nvSpPr>
        <p:spPr>
          <a:xfrm>
            <a:off x="411480" y="1901952"/>
            <a:ext cx="3840480" cy="475488"/>
          </a:xfrm>
          <a:prstGeom prst="rect">
            <a:avLst>
              <a:gd name="adj" fmla="val 7692"/>
            </a:avLst>
          </a:prstGeom>
          <a:solidFill>
            <a:srgbClr val="F8F8FA"/>
          </a:solidFill>
          <a:ln w="6350">
            <a:solidFill>
              <a:srgbClr val="E5E5EA"/>
            </a:solidFill>
            <a:prstDash val="solid"/>
          </a:ln>
        </p:spPr>
      </p:sp>
      <p:sp>
        <p:nvSpPr>
          <p:cNvPr id="14" name="Text 12"/>
          <p:cNvSpPr/>
          <p:nvPr/>
        </p:nvSpPr>
        <p:spPr>
          <a:xfrm>
            <a:off x="502920" y="1938528"/>
            <a:ext cx="2103120" cy="402336"/>
          </a:xfrm>
          <a:prstGeom prst="rect">
            <a:avLst/>
          </a:prstGeom>
          <a:noFill/>
          <a:ln/>
        </p:spPr>
        <p:txBody>
          <a:bodyPr wrap="square" rtlCol="0" anchor="ctr"/>
          <a:lstStyle/>
          <a:p>
            <a:pPr indent="0" marL="0">
              <a:buNone/>
            </a:pPr>
            <a:r>
              <a:rPr lang="en-US" sz="800" b="1" dirty="0">
                <a:solidFill>
                  <a:srgbClr val="444444"/>
                </a:solidFill>
                <a:latin typeface="Atkinson Hyperlegible" pitchFamily="34" charset="0"/>
                <a:ea typeface="Atkinson Hyperlegible" pitchFamily="34" charset="-122"/>
                <a:cs typeface="Atkinson Hyperlegible" pitchFamily="34" charset="-120"/>
              </a:rPr>
              <a:t>Costo de Constructabilidad</a:t>
            </a:r>
            <a:endParaRPr lang="en-US" sz="800" dirty="0"/>
          </a:p>
        </p:txBody>
      </p:sp>
      <p:sp>
        <p:nvSpPr>
          <p:cNvPr id="15" name="Text 13"/>
          <p:cNvSpPr/>
          <p:nvPr/>
        </p:nvSpPr>
        <p:spPr>
          <a:xfrm>
            <a:off x="2651760" y="1938528"/>
            <a:ext cx="1463040" cy="402336"/>
          </a:xfrm>
          <a:prstGeom prst="rect">
            <a:avLst/>
          </a:prstGeom>
          <a:noFill/>
          <a:ln/>
        </p:spPr>
        <p:txBody>
          <a:bodyPr wrap="square" rtlCol="0" anchor="ctr"/>
          <a:lstStyle/>
          <a:p>
            <a:pPr algn="r" indent="0" marL="0">
              <a:buNone/>
            </a:pPr>
            <a:r>
              <a:rPr lang="en-US" sz="800" b="1" dirty="0">
                <a:solidFill>
                  <a:srgbClr val="0A74E3"/>
                </a:solidFill>
                <a:latin typeface="Atkinson Hyperlegible" pitchFamily="34" charset="0"/>
                <a:ea typeface="Atkinson Hyperlegible" pitchFamily="34" charset="-122"/>
                <a:cs typeface="Atkinson Hyperlegible" pitchFamily="34" charset="-120"/>
              </a:rPr>
              <a:t>US$ 1.25M (0.25%)</a:t>
            </a:r>
            <a:endParaRPr lang="en-US" sz="800" dirty="0"/>
          </a:p>
        </p:txBody>
      </p:sp>
      <p:sp>
        <p:nvSpPr>
          <p:cNvPr id="16" name="Shape 14"/>
          <p:cNvSpPr/>
          <p:nvPr/>
        </p:nvSpPr>
        <p:spPr>
          <a:xfrm>
            <a:off x="411480" y="2432304"/>
            <a:ext cx="3840480" cy="475488"/>
          </a:xfrm>
          <a:prstGeom prst="rect">
            <a:avLst>
              <a:gd name="adj" fmla="val 7692"/>
            </a:avLst>
          </a:prstGeom>
          <a:solidFill>
            <a:srgbClr val="FFFFFF"/>
          </a:solidFill>
          <a:ln w="6350">
            <a:solidFill>
              <a:srgbClr val="E5E5EA"/>
            </a:solidFill>
            <a:prstDash val="solid"/>
          </a:ln>
        </p:spPr>
      </p:sp>
      <p:sp>
        <p:nvSpPr>
          <p:cNvPr id="17" name="Text 15"/>
          <p:cNvSpPr/>
          <p:nvPr/>
        </p:nvSpPr>
        <p:spPr>
          <a:xfrm>
            <a:off x="502920" y="2468880"/>
            <a:ext cx="2103120" cy="402336"/>
          </a:xfrm>
          <a:prstGeom prst="rect">
            <a:avLst/>
          </a:prstGeom>
          <a:noFill/>
          <a:ln/>
        </p:spPr>
        <p:txBody>
          <a:bodyPr wrap="square" rtlCol="0" anchor="ctr"/>
          <a:lstStyle/>
          <a:p>
            <a:pPr indent="0" marL="0">
              <a:buNone/>
            </a:pPr>
            <a:r>
              <a:rPr lang="en-US" sz="800" b="1" dirty="0">
                <a:solidFill>
                  <a:srgbClr val="444444"/>
                </a:solidFill>
                <a:latin typeface="Atkinson Hyperlegible" pitchFamily="34" charset="0"/>
                <a:ea typeface="Atkinson Hyperlegible" pitchFamily="34" charset="-122"/>
                <a:cs typeface="Atkinson Hyperlegible" pitchFamily="34" charset="-120"/>
              </a:rPr>
              <a:t>Duración de Proyecto</a:t>
            </a:r>
            <a:endParaRPr lang="en-US" sz="800" dirty="0"/>
          </a:p>
        </p:txBody>
      </p:sp>
      <p:sp>
        <p:nvSpPr>
          <p:cNvPr id="18" name="Text 16"/>
          <p:cNvSpPr/>
          <p:nvPr/>
        </p:nvSpPr>
        <p:spPr>
          <a:xfrm>
            <a:off x="2651760" y="2468880"/>
            <a:ext cx="1463040" cy="402336"/>
          </a:xfrm>
          <a:prstGeom prst="rect">
            <a:avLst/>
          </a:prstGeom>
          <a:noFill/>
          <a:ln/>
        </p:spPr>
        <p:txBody>
          <a:bodyPr wrap="square" rtlCol="0" anchor="ctr"/>
          <a:lstStyle/>
          <a:p>
            <a:pPr algn="r" indent="0" marL="0">
              <a:buNone/>
            </a:pPr>
            <a:r>
              <a:rPr lang="en-US" sz="800" b="1" dirty="0">
                <a:solidFill>
                  <a:srgbClr val="0A74E3"/>
                </a:solidFill>
                <a:latin typeface="Atkinson Hyperlegible" pitchFamily="34" charset="0"/>
                <a:ea typeface="Atkinson Hyperlegible" pitchFamily="34" charset="-122"/>
                <a:cs typeface="Atkinson Hyperlegible" pitchFamily="34" charset="-120"/>
              </a:rPr>
              <a:t>36 meses</a:t>
            </a:r>
            <a:endParaRPr lang="en-US" sz="800" dirty="0"/>
          </a:p>
        </p:txBody>
      </p:sp>
      <p:sp>
        <p:nvSpPr>
          <p:cNvPr id="19" name="Shape 17"/>
          <p:cNvSpPr/>
          <p:nvPr/>
        </p:nvSpPr>
        <p:spPr>
          <a:xfrm>
            <a:off x="411480" y="2962656"/>
            <a:ext cx="3840480" cy="475488"/>
          </a:xfrm>
          <a:prstGeom prst="rect">
            <a:avLst>
              <a:gd name="adj" fmla="val 7692"/>
            </a:avLst>
          </a:prstGeom>
          <a:solidFill>
            <a:srgbClr val="F8F8FA"/>
          </a:solidFill>
          <a:ln w="6350">
            <a:solidFill>
              <a:srgbClr val="E5E5EA"/>
            </a:solidFill>
            <a:prstDash val="solid"/>
          </a:ln>
        </p:spPr>
      </p:sp>
      <p:sp>
        <p:nvSpPr>
          <p:cNvPr id="20" name="Text 18"/>
          <p:cNvSpPr/>
          <p:nvPr/>
        </p:nvSpPr>
        <p:spPr>
          <a:xfrm>
            <a:off x="502920" y="2999232"/>
            <a:ext cx="2103120" cy="402336"/>
          </a:xfrm>
          <a:prstGeom prst="rect">
            <a:avLst/>
          </a:prstGeom>
          <a:noFill/>
          <a:ln/>
        </p:spPr>
        <p:txBody>
          <a:bodyPr wrap="square" rtlCol="0" anchor="ctr"/>
          <a:lstStyle/>
          <a:p>
            <a:pPr indent="0" marL="0">
              <a:buNone/>
            </a:pPr>
            <a:r>
              <a:rPr lang="en-US" sz="800" b="1" dirty="0">
                <a:solidFill>
                  <a:srgbClr val="444444"/>
                </a:solidFill>
                <a:latin typeface="Atkinson Hyperlegible" pitchFamily="34" charset="0"/>
                <a:ea typeface="Atkinson Hyperlegible" pitchFamily="34" charset="-122"/>
                <a:cs typeface="Atkinson Hyperlegible" pitchFamily="34" charset="-120"/>
              </a:rPr>
              <a:t>Costos de Overhead/mes</a:t>
            </a:r>
            <a:endParaRPr lang="en-US" sz="800" dirty="0"/>
          </a:p>
        </p:txBody>
      </p:sp>
      <p:sp>
        <p:nvSpPr>
          <p:cNvPr id="21" name="Text 19"/>
          <p:cNvSpPr/>
          <p:nvPr/>
        </p:nvSpPr>
        <p:spPr>
          <a:xfrm>
            <a:off x="2651760" y="2999232"/>
            <a:ext cx="1463040" cy="402336"/>
          </a:xfrm>
          <a:prstGeom prst="rect">
            <a:avLst/>
          </a:prstGeom>
          <a:noFill/>
          <a:ln/>
        </p:spPr>
        <p:txBody>
          <a:bodyPr wrap="square" rtlCol="0" anchor="ctr"/>
          <a:lstStyle/>
          <a:p>
            <a:pPr algn="r" indent="0" marL="0">
              <a:buNone/>
            </a:pPr>
            <a:r>
              <a:rPr lang="en-US" sz="800" b="1" dirty="0">
                <a:solidFill>
                  <a:srgbClr val="0A74E3"/>
                </a:solidFill>
                <a:latin typeface="Atkinson Hyperlegible" pitchFamily="34" charset="0"/>
                <a:ea typeface="Atkinson Hyperlegible" pitchFamily="34" charset="-122"/>
                <a:cs typeface="Atkinson Hyperlegible" pitchFamily="34" charset="-120"/>
              </a:rPr>
              <a:t>US$ 2.8M</a:t>
            </a:r>
            <a:endParaRPr lang="en-US" sz="800" dirty="0"/>
          </a:p>
        </p:txBody>
      </p:sp>
      <p:sp>
        <p:nvSpPr>
          <p:cNvPr id="22" name="Shape 20"/>
          <p:cNvSpPr/>
          <p:nvPr/>
        </p:nvSpPr>
        <p:spPr>
          <a:xfrm>
            <a:off x="411480" y="3493008"/>
            <a:ext cx="3840480" cy="475488"/>
          </a:xfrm>
          <a:prstGeom prst="rect">
            <a:avLst>
              <a:gd name="adj" fmla="val 7692"/>
            </a:avLst>
          </a:prstGeom>
          <a:solidFill>
            <a:srgbClr val="FFFFFF"/>
          </a:solidFill>
          <a:ln w="6350">
            <a:solidFill>
              <a:srgbClr val="E5E5EA"/>
            </a:solidFill>
            <a:prstDash val="solid"/>
          </a:ln>
        </p:spPr>
      </p:sp>
      <p:sp>
        <p:nvSpPr>
          <p:cNvPr id="23" name="Text 21"/>
          <p:cNvSpPr/>
          <p:nvPr/>
        </p:nvSpPr>
        <p:spPr>
          <a:xfrm>
            <a:off x="502920" y="3529584"/>
            <a:ext cx="2103120" cy="402336"/>
          </a:xfrm>
          <a:prstGeom prst="rect">
            <a:avLst/>
          </a:prstGeom>
          <a:noFill/>
          <a:ln/>
        </p:spPr>
        <p:txBody>
          <a:bodyPr wrap="square" rtlCol="0" anchor="ctr"/>
          <a:lstStyle/>
          <a:p>
            <a:pPr indent="0" marL="0">
              <a:buNone/>
            </a:pPr>
            <a:r>
              <a:rPr lang="en-US" sz="800" b="1" dirty="0">
                <a:solidFill>
                  <a:srgbClr val="444444"/>
                </a:solidFill>
                <a:latin typeface="Atkinson Hyperlegible" pitchFamily="34" charset="0"/>
                <a:ea typeface="Atkinson Hyperlegible" pitchFamily="34" charset="-122"/>
                <a:cs typeface="Atkinson Hyperlegible" pitchFamily="34" charset="-120"/>
              </a:rPr>
              <a:t>Baseline CPI</a:t>
            </a:r>
            <a:endParaRPr lang="en-US" sz="800" dirty="0"/>
          </a:p>
        </p:txBody>
      </p:sp>
      <p:sp>
        <p:nvSpPr>
          <p:cNvPr id="24" name="Text 22"/>
          <p:cNvSpPr/>
          <p:nvPr/>
        </p:nvSpPr>
        <p:spPr>
          <a:xfrm>
            <a:off x="2651760" y="3529584"/>
            <a:ext cx="1463040" cy="402336"/>
          </a:xfrm>
          <a:prstGeom prst="rect">
            <a:avLst/>
          </a:prstGeom>
          <a:noFill/>
          <a:ln/>
        </p:spPr>
        <p:txBody>
          <a:bodyPr wrap="square" rtlCol="0" anchor="ctr"/>
          <a:lstStyle/>
          <a:p>
            <a:pPr algn="r" indent="0" marL="0">
              <a:buNone/>
            </a:pPr>
            <a:r>
              <a:rPr lang="en-US" sz="800" b="1" dirty="0">
                <a:solidFill>
                  <a:srgbClr val="0A74E3"/>
                </a:solidFill>
                <a:latin typeface="Atkinson Hyperlegible" pitchFamily="34" charset="0"/>
                <a:ea typeface="Atkinson Hyperlegible" pitchFamily="34" charset="-122"/>
                <a:cs typeface="Atkinson Hyperlegible" pitchFamily="34" charset="-120"/>
              </a:rPr>
              <a:t>0.93 (típico sin AWP)</a:t>
            </a:r>
            <a:endParaRPr lang="en-US" sz="800" dirty="0"/>
          </a:p>
        </p:txBody>
      </p:sp>
      <p:sp>
        <p:nvSpPr>
          <p:cNvPr id="25" name="Shape 23"/>
          <p:cNvSpPr/>
          <p:nvPr/>
        </p:nvSpPr>
        <p:spPr>
          <a:xfrm>
            <a:off x="411480" y="4023360"/>
            <a:ext cx="3840480" cy="475488"/>
          </a:xfrm>
          <a:prstGeom prst="rect">
            <a:avLst>
              <a:gd name="adj" fmla="val 7692"/>
            </a:avLst>
          </a:prstGeom>
          <a:solidFill>
            <a:srgbClr val="F8F8FA"/>
          </a:solidFill>
          <a:ln w="6350">
            <a:solidFill>
              <a:srgbClr val="E5E5EA"/>
            </a:solidFill>
            <a:prstDash val="solid"/>
          </a:ln>
        </p:spPr>
      </p:sp>
      <p:sp>
        <p:nvSpPr>
          <p:cNvPr id="26" name="Text 24"/>
          <p:cNvSpPr/>
          <p:nvPr/>
        </p:nvSpPr>
        <p:spPr>
          <a:xfrm>
            <a:off x="502920" y="4059936"/>
            <a:ext cx="2103120" cy="402336"/>
          </a:xfrm>
          <a:prstGeom prst="rect">
            <a:avLst/>
          </a:prstGeom>
          <a:noFill/>
          <a:ln/>
        </p:spPr>
        <p:txBody>
          <a:bodyPr wrap="square" rtlCol="0" anchor="ctr"/>
          <a:lstStyle/>
          <a:p>
            <a:pPr indent="0" marL="0">
              <a:buNone/>
            </a:pPr>
            <a:r>
              <a:rPr lang="en-US" sz="800" b="1" dirty="0">
                <a:solidFill>
                  <a:srgbClr val="444444"/>
                </a:solidFill>
                <a:latin typeface="Atkinson Hyperlegible" pitchFamily="34" charset="0"/>
                <a:ea typeface="Atkinson Hyperlegible" pitchFamily="34" charset="-122"/>
                <a:cs typeface="Atkinson Hyperlegible" pitchFamily="34" charset="-120"/>
              </a:rPr>
              <a:t>Baseline SPI</a:t>
            </a:r>
            <a:endParaRPr lang="en-US" sz="800" dirty="0"/>
          </a:p>
        </p:txBody>
      </p:sp>
      <p:sp>
        <p:nvSpPr>
          <p:cNvPr id="27" name="Text 25"/>
          <p:cNvSpPr/>
          <p:nvPr/>
        </p:nvSpPr>
        <p:spPr>
          <a:xfrm>
            <a:off x="2651760" y="4059936"/>
            <a:ext cx="1463040" cy="402336"/>
          </a:xfrm>
          <a:prstGeom prst="rect">
            <a:avLst/>
          </a:prstGeom>
          <a:noFill/>
          <a:ln/>
        </p:spPr>
        <p:txBody>
          <a:bodyPr wrap="square" rtlCol="0" anchor="ctr"/>
          <a:lstStyle/>
          <a:p>
            <a:pPr algn="r" indent="0" marL="0">
              <a:buNone/>
            </a:pPr>
            <a:r>
              <a:rPr lang="en-US" sz="800" b="1" dirty="0">
                <a:solidFill>
                  <a:srgbClr val="0A74E3"/>
                </a:solidFill>
                <a:latin typeface="Atkinson Hyperlegible" pitchFamily="34" charset="0"/>
                <a:ea typeface="Atkinson Hyperlegible" pitchFamily="34" charset="-122"/>
                <a:cs typeface="Atkinson Hyperlegible" pitchFamily="34" charset="-120"/>
              </a:rPr>
              <a:t>0.91 (típico sin AWP)</a:t>
            </a:r>
            <a:endParaRPr lang="en-US" sz="800" dirty="0"/>
          </a:p>
        </p:txBody>
      </p:sp>
      <p:sp>
        <p:nvSpPr>
          <p:cNvPr id="28" name="Shape 26"/>
          <p:cNvSpPr/>
          <p:nvPr/>
        </p:nvSpPr>
        <p:spPr>
          <a:xfrm>
            <a:off x="4526280" y="960120"/>
            <a:ext cx="4297680" cy="3840480"/>
          </a:xfrm>
          <a:prstGeom prst="rect">
            <a:avLst>
              <a:gd name="adj" fmla="val 1905"/>
            </a:avLst>
          </a:prstGeom>
          <a:solidFill>
            <a:srgbClr val="FFFFFF"/>
          </a:solidFill>
          <a:ln w="15240">
            <a:solidFill>
              <a:srgbClr val="27AE60"/>
            </a:solidFill>
            <a:prstDash val="solid"/>
          </a:ln>
        </p:spPr>
      </p:sp>
      <p:sp>
        <p:nvSpPr>
          <p:cNvPr id="29" name="Text 27"/>
          <p:cNvSpPr/>
          <p:nvPr/>
        </p:nvSpPr>
        <p:spPr>
          <a:xfrm>
            <a:off x="4617720" y="1024128"/>
            <a:ext cx="4114800" cy="274320"/>
          </a:xfrm>
          <a:prstGeom prst="rect">
            <a:avLst/>
          </a:prstGeom>
          <a:noFill/>
          <a:ln/>
        </p:spPr>
        <p:txBody>
          <a:bodyPr wrap="square" rtlCol="0" anchor="ctr"/>
          <a:lstStyle/>
          <a:p>
            <a:pPr indent="0" marL="0">
              <a:buNone/>
            </a:pPr>
            <a:r>
              <a:rPr lang="en-US" sz="950" b="1" dirty="0">
                <a:solidFill>
                  <a:srgbClr val="27AE60"/>
                </a:solidFill>
                <a:latin typeface="Atkinson Hyperlegible" pitchFamily="34" charset="0"/>
                <a:ea typeface="Atkinson Hyperlegible" pitchFamily="34" charset="-122"/>
                <a:cs typeface="Atkinson Hyperlegible" pitchFamily="34" charset="-120"/>
              </a:rPr>
              <a:t>Beneficios Cuantificados</a:t>
            </a:r>
            <a:endParaRPr lang="en-US" sz="950" dirty="0"/>
          </a:p>
        </p:txBody>
      </p:sp>
      <p:sp>
        <p:nvSpPr>
          <p:cNvPr id="30" name="Shape 28"/>
          <p:cNvSpPr/>
          <p:nvPr/>
        </p:nvSpPr>
        <p:spPr>
          <a:xfrm>
            <a:off x="4617720" y="1389888"/>
            <a:ext cx="4114800" cy="621792"/>
          </a:xfrm>
          <a:prstGeom prst="rect">
            <a:avLst>
              <a:gd name="adj" fmla="val 5882"/>
            </a:avLst>
          </a:prstGeom>
          <a:solidFill>
            <a:srgbClr val="F5FFF5"/>
          </a:solidFill>
          <a:ln w="6350">
            <a:solidFill>
              <a:srgbClr val="E5E5EA"/>
            </a:solidFill>
            <a:prstDash val="solid"/>
          </a:ln>
        </p:spPr>
      </p:sp>
      <p:sp>
        <p:nvSpPr>
          <p:cNvPr id="31" name="Text 29"/>
          <p:cNvSpPr/>
          <p:nvPr/>
        </p:nvSpPr>
        <p:spPr>
          <a:xfrm>
            <a:off x="4709160" y="1426464"/>
            <a:ext cx="2011680" cy="256032"/>
          </a:xfrm>
          <a:prstGeom prst="rect">
            <a:avLst/>
          </a:prstGeom>
          <a:noFill/>
          <a:ln/>
        </p:spPr>
        <p:txBody>
          <a:bodyPr wrap="square" rtlCol="0" anchor="ctr"/>
          <a:lstStyle/>
          <a:p>
            <a:pP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Reducción de Costos</a:t>
            </a:r>
            <a:endParaRPr lang="en-US" sz="800" dirty="0"/>
          </a:p>
        </p:txBody>
      </p:sp>
      <p:sp>
        <p:nvSpPr>
          <p:cNvPr id="32" name="Text 30"/>
          <p:cNvSpPr/>
          <p:nvPr/>
        </p:nvSpPr>
        <p:spPr>
          <a:xfrm>
            <a:off x="6720840" y="1426464"/>
            <a:ext cx="1920240" cy="256032"/>
          </a:xfrm>
          <a:prstGeom prst="rect">
            <a:avLst/>
          </a:prstGeom>
          <a:noFill/>
          <a:ln/>
        </p:spPr>
        <p:txBody>
          <a:bodyPr wrap="square" rtlCol="0" anchor="ctr"/>
          <a:lstStyle/>
          <a:p>
            <a:pPr algn="r" indent="0" marL="0">
              <a:buNone/>
            </a:pPr>
            <a:r>
              <a:rPr lang="en-US" sz="1100" b="1" dirty="0">
                <a:solidFill>
                  <a:srgbClr val="27AE60"/>
                </a:solidFill>
                <a:latin typeface="Atkinson Hyperlegible" pitchFamily="34" charset="0"/>
                <a:ea typeface="Atkinson Hyperlegible" pitchFamily="34" charset="-122"/>
                <a:cs typeface="Atkinson Hyperlegible" pitchFamily="34" charset="-120"/>
              </a:rPr>
              <a:t>US$ 22.5M</a:t>
            </a:r>
            <a:endParaRPr lang="en-US" sz="1100" dirty="0"/>
          </a:p>
        </p:txBody>
      </p:sp>
      <p:sp>
        <p:nvSpPr>
          <p:cNvPr id="33" name="Text 31"/>
          <p:cNvSpPr/>
          <p:nvPr/>
        </p:nvSpPr>
        <p:spPr>
          <a:xfrm>
            <a:off x="4709160" y="1709928"/>
            <a:ext cx="3931920" cy="2560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Ahorro directo por CPI 1.04 vs 0.93 sobre US$ 500M</a:t>
            </a:r>
            <a:endParaRPr lang="en-US" sz="750" dirty="0"/>
          </a:p>
        </p:txBody>
      </p:sp>
      <p:sp>
        <p:nvSpPr>
          <p:cNvPr id="34" name="Shape 32"/>
          <p:cNvSpPr/>
          <p:nvPr/>
        </p:nvSpPr>
        <p:spPr>
          <a:xfrm>
            <a:off x="4617720" y="2066544"/>
            <a:ext cx="4114800" cy="621792"/>
          </a:xfrm>
          <a:prstGeom prst="rect">
            <a:avLst>
              <a:gd name="adj" fmla="val 5882"/>
            </a:avLst>
          </a:prstGeom>
          <a:solidFill>
            <a:srgbClr val="FFFFFF"/>
          </a:solidFill>
          <a:ln w="6350">
            <a:solidFill>
              <a:srgbClr val="E5E5EA"/>
            </a:solidFill>
            <a:prstDash val="solid"/>
          </a:ln>
        </p:spPr>
      </p:sp>
      <p:sp>
        <p:nvSpPr>
          <p:cNvPr id="35" name="Text 33"/>
          <p:cNvSpPr/>
          <p:nvPr/>
        </p:nvSpPr>
        <p:spPr>
          <a:xfrm>
            <a:off x="4709160" y="2103120"/>
            <a:ext cx="2011680" cy="256032"/>
          </a:xfrm>
          <a:prstGeom prst="rect">
            <a:avLst/>
          </a:prstGeom>
          <a:noFill/>
          <a:ln/>
        </p:spPr>
        <p:txBody>
          <a:bodyPr wrap="square" rtlCol="0" anchor="ctr"/>
          <a:lstStyle/>
          <a:p>
            <a:pP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Compresión Cronograma</a:t>
            </a:r>
            <a:endParaRPr lang="en-US" sz="800" dirty="0"/>
          </a:p>
        </p:txBody>
      </p:sp>
      <p:sp>
        <p:nvSpPr>
          <p:cNvPr id="36" name="Text 34"/>
          <p:cNvSpPr/>
          <p:nvPr/>
        </p:nvSpPr>
        <p:spPr>
          <a:xfrm>
            <a:off x="6720840" y="2103120"/>
            <a:ext cx="1920240" cy="256032"/>
          </a:xfrm>
          <a:prstGeom prst="rect">
            <a:avLst/>
          </a:prstGeom>
          <a:noFill/>
          <a:ln/>
        </p:spPr>
        <p:txBody>
          <a:bodyPr wrap="square" rtlCol="0" anchor="ctr"/>
          <a:lstStyle/>
          <a:p>
            <a:pPr algn="r" indent="0" marL="0">
              <a:buNone/>
            </a:pPr>
            <a:r>
              <a:rPr lang="en-US" sz="1100" b="1" dirty="0">
                <a:solidFill>
                  <a:srgbClr val="27AE60"/>
                </a:solidFill>
                <a:latin typeface="Atkinson Hyperlegible" pitchFamily="34" charset="0"/>
                <a:ea typeface="Atkinson Hyperlegible" pitchFamily="34" charset="-122"/>
                <a:cs typeface="Atkinson Hyperlegible" pitchFamily="34" charset="-120"/>
              </a:rPr>
              <a:t>2.5 meses</a:t>
            </a:r>
            <a:endParaRPr lang="en-US" sz="1100" dirty="0"/>
          </a:p>
        </p:txBody>
      </p:sp>
      <p:sp>
        <p:nvSpPr>
          <p:cNvPr id="37" name="Text 35"/>
          <p:cNvSpPr/>
          <p:nvPr/>
        </p:nvSpPr>
        <p:spPr>
          <a:xfrm>
            <a:off x="4709160" y="2386584"/>
            <a:ext cx="3931920" cy="2560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SPI 1.07 → finalización 2.5 meses antes del plazo</a:t>
            </a:r>
            <a:endParaRPr lang="en-US" sz="750" dirty="0"/>
          </a:p>
        </p:txBody>
      </p:sp>
      <p:sp>
        <p:nvSpPr>
          <p:cNvPr id="38" name="Shape 36"/>
          <p:cNvSpPr/>
          <p:nvPr/>
        </p:nvSpPr>
        <p:spPr>
          <a:xfrm>
            <a:off x="4617720" y="2743200"/>
            <a:ext cx="4114800" cy="621792"/>
          </a:xfrm>
          <a:prstGeom prst="rect">
            <a:avLst>
              <a:gd name="adj" fmla="val 5882"/>
            </a:avLst>
          </a:prstGeom>
          <a:solidFill>
            <a:srgbClr val="F5FFF5"/>
          </a:solidFill>
          <a:ln w="6350">
            <a:solidFill>
              <a:srgbClr val="E5E5EA"/>
            </a:solidFill>
            <a:prstDash val="solid"/>
          </a:ln>
        </p:spPr>
      </p:sp>
      <p:sp>
        <p:nvSpPr>
          <p:cNvPr id="39" name="Text 37"/>
          <p:cNvSpPr/>
          <p:nvPr/>
        </p:nvSpPr>
        <p:spPr>
          <a:xfrm>
            <a:off x="4709160" y="2779776"/>
            <a:ext cx="2011680" cy="256032"/>
          </a:xfrm>
          <a:prstGeom prst="rect">
            <a:avLst/>
          </a:prstGeom>
          <a:noFill/>
          <a:ln/>
        </p:spPr>
        <p:txBody>
          <a:bodyPr wrap="square" rtlCol="0" anchor="ctr"/>
          <a:lstStyle/>
          <a:p>
            <a:pP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Ahorro Overhead</a:t>
            </a:r>
            <a:endParaRPr lang="en-US" sz="800" dirty="0"/>
          </a:p>
        </p:txBody>
      </p:sp>
      <p:sp>
        <p:nvSpPr>
          <p:cNvPr id="40" name="Text 38"/>
          <p:cNvSpPr/>
          <p:nvPr/>
        </p:nvSpPr>
        <p:spPr>
          <a:xfrm>
            <a:off x="6720840" y="2779776"/>
            <a:ext cx="1920240" cy="256032"/>
          </a:xfrm>
          <a:prstGeom prst="rect">
            <a:avLst/>
          </a:prstGeom>
          <a:noFill/>
          <a:ln/>
        </p:spPr>
        <p:txBody>
          <a:bodyPr wrap="square" rtlCol="0" anchor="ctr"/>
          <a:lstStyle/>
          <a:p>
            <a:pPr algn="r" indent="0" marL="0">
              <a:buNone/>
            </a:pPr>
            <a:r>
              <a:rPr lang="en-US" sz="1100" b="1" dirty="0">
                <a:solidFill>
                  <a:srgbClr val="27AE60"/>
                </a:solidFill>
                <a:latin typeface="Atkinson Hyperlegible" pitchFamily="34" charset="0"/>
                <a:ea typeface="Atkinson Hyperlegible" pitchFamily="34" charset="-122"/>
                <a:cs typeface="Atkinson Hyperlegible" pitchFamily="34" charset="-120"/>
              </a:rPr>
              <a:t>US$ 7M</a:t>
            </a:r>
            <a:endParaRPr lang="en-US" sz="1100" dirty="0"/>
          </a:p>
        </p:txBody>
      </p:sp>
      <p:sp>
        <p:nvSpPr>
          <p:cNvPr id="41" name="Text 39"/>
          <p:cNvSpPr/>
          <p:nvPr/>
        </p:nvSpPr>
        <p:spPr>
          <a:xfrm>
            <a:off x="4709160" y="3063240"/>
            <a:ext cx="3931920" cy="2560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2.5 meses × US$ 2.8M overhead mensual</a:t>
            </a:r>
            <a:endParaRPr lang="en-US" sz="750" dirty="0"/>
          </a:p>
        </p:txBody>
      </p:sp>
      <p:sp>
        <p:nvSpPr>
          <p:cNvPr id="42" name="Shape 40"/>
          <p:cNvSpPr/>
          <p:nvPr/>
        </p:nvSpPr>
        <p:spPr>
          <a:xfrm>
            <a:off x="4617720" y="3419856"/>
            <a:ext cx="4114800" cy="621792"/>
          </a:xfrm>
          <a:prstGeom prst="rect">
            <a:avLst>
              <a:gd name="adj" fmla="val 5882"/>
            </a:avLst>
          </a:prstGeom>
          <a:solidFill>
            <a:srgbClr val="FFFFFF"/>
          </a:solidFill>
          <a:ln w="6350">
            <a:solidFill>
              <a:srgbClr val="E5E5EA"/>
            </a:solidFill>
            <a:prstDash val="solid"/>
          </a:ln>
        </p:spPr>
      </p:sp>
      <p:sp>
        <p:nvSpPr>
          <p:cNvPr id="43" name="Text 41"/>
          <p:cNvSpPr/>
          <p:nvPr/>
        </p:nvSpPr>
        <p:spPr>
          <a:xfrm>
            <a:off x="4709160" y="3456432"/>
            <a:ext cx="2011680" cy="256032"/>
          </a:xfrm>
          <a:prstGeom prst="rect">
            <a:avLst/>
          </a:prstGeom>
          <a:noFill/>
          <a:ln/>
        </p:spPr>
        <p:txBody>
          <a:bodyPr wrap="square" rtlCol="0" anchor="ctr"/>
          <a:lstStyle/>
          <a:p>
            <a:pP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Reducción Retrabajo</a:t>
            </a:r>
            <a:endParaRPr lang="en-US" sz="800" dirty="0"/>
          </a:p>
        </p:txBody>
      </p:sp>
      <p:sp>
        <p:nvSpPr>
          <p:cNvPr id="44" name="Text 42"/>
          <p:cNvSpPr/>
          <p:nvPr/>
        </p:nvSpPr>
        <p:spPr>
          <a:xfrm>
            <a:off x="6720840" y="3456432"/>
            <a:ext cx="1920240" cy="256032"/>
          </a:xfrm>
          <a:prstGeom prst="rect">
            <a:avLst/>
          </a:prstGeom>
          <a:noFill/>
          <a:ln/>
        </p:spPr>
        <p:txBody>
          <a:bodyPr wrap="square" rtlCol="0" anchor="ctr"/>
          <a:lstStyle/>
          <a:p>
            <a:pPr algn="r" indent="0" marL="0">
              <a:buNone/>
            </a:pPr>
            <a:r>
              <a:rPr lang="en-US" sz="1100" b="1" dirty="0">
                <a:solidFill>
                  <a:srgbClr val="27AE60"/>
                </a:solidFill>
                <a:latin typeface="Atkinson Hyperlegible" pitchFamily="34" charset="0"/>
                <a:ea typeface="Atkinson Hyperlegible" pitchFamily="34" charset="-122"/>
                <a:cs typeface="Atkinson Hyperlegible" pitchFamily="34" charset="-120"/>
              </a:rPr>
              <a:t>US$ 4.8M</a:t>
            </a:r>
            <a:endParaRPr lang="en-US" sz="1100" dirty="0"/>
          </a:p>
        </p:txBody>
      </p:sp>
      <p:sp>
        <p:nvSpPr>
          <p:cNvPr id="45" name="Text 43"/>
          <p:cNvSpPr/>
          <p:nvPr/>
        </p:nvSpPr>
        <p:spPr>
          <a:xfrm>
            <a:off x="4709160" y="3739896"/>
            <a:ext cx="3931920" cy="2560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Retrabajo de 3% a 0.8% sobre 240,000 HH</a:t>
            </a:r>
            <a:endParaRPr lang="en-US" sz="750" dirty="0"/>
          </a:p>
        </p:txBody>
      </p:sp>
      <p:sp>
        <p:nvSpPr>
          <p:cNvPr id="46" name="Shape 44"/>
          <p:cNvSpPr/>
          <p:nvPr/>
        </p:nvSpPr>
        <p:spPr>
          <a:xfrm>
            <a:off x="4617720" y="4096512"/>
            <a:ext cx="4114800" cy="621792"/>
          </a:xfrm>
          <a:prstGeom prst="rect">
            <a:avLst>
              <a:gd name="adj" fmla="val 5882"/>
            </a:avLst>
          </a:prstGeom>
          <a:solidFill>
            <a:srgbClr val="F5FFF5"/>
          </a:solidFill>
          <a:ln w="6350">
            <a:solidFill>
              <a:srgbClr val="E5E5EA"/>
            </a:solidFill>
            <a:prstDash val="solid"/>
          </a:ln>
        </p:spPr>
      </p:sp>
      <p:sp>
        <p:nvSpPr>
          <p:cNvPr id="47" name="Text 45"/>
          <p:cNvSpPr/>
          <p:nvPr/>
        </p:nvSpPr>
        <p:spPr>
          <a:xfrm>
            <a:off x="4709160" y="4133088"/>
            <a:ext cx="2011680" cy="256032"/>
          </a:xfrm>
          <a:prstGeom prst="rect">
            <a:avLst/>
          </a:prstGeom>
          <a:noFill/>
          <a:ln/>
        </p:spPr>
        <p:txBody>
          <a:bodyPr wrap="square" rtlCol="0" anchor="ctr"/>
          <a:lstStyle/>
          <a:p>
            <a:pP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Evitación de Reclamos</a:t>
            </a:r>
            <a:endParaRPr lang="en-US" sz="800" dirty="0"/>
          </a:p>
        </p:txBody>
      </p:sp>
      <p:sp>
        <p:nvSpPr>
          <p:cNvPr id="48" name="Text 46"/>
          <p:cNvSpPr/>
          <p:nvPr/>
        </p:nvSpPr>
        <p:spPr>
          <a:xfrm>
            <a:off x="6720840" y="4133088"/>
            <a:ext cx="1920240" cy="256032"/>
          </a:xfrm>
          <a:prstGeom prst="rect">
            <a:avLst/>
          </a:prstGeom>
          <a:noFill/>
          <a:ln/>
        </p:spPr>
        <p:txBody>
          <a:bodyPr wrap="square" rtlCol="0" anchor="ctr"/>
          <a:lstStyle/>
          <a:p>
            <a:pPr algn="r" indent="0" marL="0">
              <a:buNone/>
            </a:pPr>
            <a:r>
              <a:rPr lang="en-US" sz="1100" b="1" dirty="0">
                <a:solidFill>
                  <a:srgbClr val="27AE60"/>
                </a:solidFill>
                <a:latin typeface="Atkinson Hyperlegible" pitchFamily="34" charset="0"/>
                <a:ea typeface="Atkinson Hyperlegible" pitchFamily="34" charset="-122"/>
                <a:cs typeface="Atkinson Hyperlegible" pitchFamily="34" charset="-120"/>
              </a:rPr>
              <a:t>US$ 6.5M</a:t>
            </a:r>
            <a:endParaRPr lang="en-US" sz="1100" dirty="0"/>
          </a:p>
        </p:txBody>
      </p:sp>
      <p:sp>
        <p:nvSpPr>
          <p:cNvPr id="49" name="Text 47"/>
          <p:cNvSpPr/>
          <p:nvPr/>
        </p:nvSpPr>
        <p:spPr>
          <a:xfrm>
            <a:off x="4709160" y="4416552"/>
            <a:ext cx="3931920" cy="2560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RFIs reducidos 40% → menor costo de disputas</a:t>
            </a:r>
            <a:endParaRPr lang="en-US" sz="750" dirty="0"/>
          </a:p>
        </p:txBody>
      </p:sp>
      <p:sp>
        <p:nvSpPr>
          <p:cNvPr id="50" name="Shape 48"/>
          <p:cNvSpPr/>
          <p:nvPr/>
        </p:nvSpPr>
        <p:spPr>
          <a:xfrm>
            <a:off x="4526280" y="4297680"/>
            <a:ext cx="4297680" cy="438912"/>
          </a:xfrm>
          <a:prstGeom prst="rect">
            <a:avLst>
              <a:gd name="adj" fmla="val 12500"/>
            </a:avLst>
          </a:prstGeom>
          <a:solidFill>
            <a:srgbClr val="27AE60"/>
          </a:solidFill>
          <a:ln w="12700">
            <a:solidFill>
              <a:srgbClr val="27AE60"/>
            </a:solidFill>
            <a:prstDash val="solid"/>
          </a:ln>
        </p:spPr>
      </p:sp>
      <p:sp>
        <p:nvSpPr>
          <p:cNvPr id="51" name="Text 49"/>
          <p:cNvSpPr/>
          <p:nvPr/>
        </p:nvSpPr>
        <p:spPr>
          <a:xfrm>
            <a:off x="4526280" y="4297680"/>
            <a:ext cx="4297680" cy="438912"/>
          </a:xfrm>
          <a:prstGeom prst="rect">
            <a:avLst/>
          </a:prstGeom>
          <a:noFill/>
          <a:ln/>
        </p:spPr>
        <p:txBody>
          <a:bodyPr wrap="square"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ROI Total: US$ 40.8M  |  Ratio: 32.6:1</a:t>
            </a:r>
            <a:endParaRPr lang="en-US" sz="10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8FA"/>
          </a:solidFill>
          <a:ln w="12700">
            <a:solidFill>
              <a:srgbClr val="F8F8FA"/>
            </a:solidFill>
            <a:prstDash val="solid"/>
          </a:ln>
        </p:spPr>
      </p:sp>
      <p:sp>
        <p:nvSpPr>
          <p:cNvPr id="3" name="Shape 1"/>
          <p:cNvSpPr/>
          <p:nvPr/>
        </p:nvSpPr>
        <p:spPr>
          <a:xfrm>
            <a:off x="0" y="0"/>
            <a:ext cx="9144000" cy="1097280"/>
          </a:xfrm>
          <a:prstGeom prst="rect">
            <a:avLst/>
          </a:prstGeom>
          <a:solidFill>
            <a:srgbClr val="0A74E3"/>
          </a:solidFill>
          <a:ln w="12700">
            <a:solidFill>
              <a:srgbClr val="0A74E3"/>
            </a:solidFill>
            <a:prstDash val="solid"/>
          </a:ln>
        </p:spPr>
      </p:sp>
      <p:sp>
        <p:nvSpPr>
          <p:cNvPr id="4" name="Text 2"/>
          <p:cNvSpPr/>
          <p:nvPr/>
        </p:nvSpPr>
        <p:spPr>
          <a:xfrm>
            <a:off x="365760" y="137160"/>
            <a:ext cx="8412480" cy="822960"/>
          </a:xfrm>
          <a:prstGeom prst="rect">
            <a:avLst/>
          </a:prstGeom>
          <a:noFill/>
          <a:ln/>
        </p:spPr>
        <p:txBody>
          <a:bodyPr wrap="square" rtlCol="0" anchor="ctr"/>
          <a:lstStyle/>
          <a:p>
            <a:pPr indent="0" marL="0">
              <a:buNone/>
            </a:pPr>
            <a:r>
              <a:rPr lang="en-US" sz="2200" b="1" dirty="0">
                <a:solidFill>
                  <a:srgbClr val="FFFFFF"/>
                </a:solidFill>
                <a:latin typeface="Atkinson Hyperlegible" pitchFamily="34" charset="0"/>
                <a:ea typeface="Atkinson Hyperlegible" pitchFamily="34" charset="-122"/>
                <a:cs typeface="Atkinson Hyperlegible" pitchFamily="34" charset="-120"/>
              </a:rPr>
              <a:t>Constructabilidad es una Ventaja Competitiva</a:t>
            </a:r>
            <a:endParaRPr lang="en-US" sz="2200" dirty="0"/>
          </a:p>
        </p:txBody>
      </p:sp>
      <p:sp>
        <p:nvSpPr>
          <p:cNvPr id="5" name="Shape 3"/>
          <p:cNvSpPr/>
          <p:nvPr/>
        </p:nvSpPr>
        <p:spPr>
          <a:xfrm>
            <a:off x="320040" y="1280160"/>
            <a:ext cx="4023360" cy="1600200"/>
          </a:xfrm>
          <a:prstGeom prst="rect">
            <a:avLst>
              <a:gd name="adj" fmla="val 4571"/>
            </a:avLst>
          </a:prstGeom>
          <a:solidFill>
            <a:srgbClr val="FFFFFF"/>
          </a:solidFill>
          <a:ln w="19050">
            <a:solidFill>
              <a:srgbClr val="0A74E3"/>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7200" y="1417320"/>
            <a:ext cx="512064" cy="512064"/>
          </a:xfrm>
          <a:prstGeom prst="rect">
            <a:avLst/>
          </a:prstGeom>
        </p:spPr>
      </p:pic>
      <p:sp>
        <p:nvSpPr>
          <p:cNvPr id="7" name="Text 4"/>
          <p:cNvSpPr/>
          <p:nvPr/>
        </p:nvSpPr>
        <p:spPr>
          <a:xfrm>
            <a:off x="1033272" y="1389888"/>
            <a:ext cx="3200400" cy="347472"/>
          </a:xfrm>
          <a:prstGeom prst="rect">
            <a:avLst/>
          </a:prstGeom>
          <a:noFill/>
          <a:ln/>
        </p:spPr>
        <p:txBody>
          <a:bodyPr wrap="square" rtlCol="0" anchor="ctr"/>
          <a:lstStyle/>
          <a:p>
            <a:pPr indent="0" marL="0">
              <a:buNone/>
            </a:pPr>
            <a:r>
              <a:rPr lang="en-US" sz="1400" b="1" dirty="0">
                <a:solidFill>
                  <a:srgbClr val="0A74E3"/>
                </a:solidFill>
                <a:latin typeface="Atkinson Hyperlegible" pitchFamily="34" charset="0"/>
                <a:ea typeface="Atkinson Hyperlegible" pitchFamily="34" charset="-122"/>
                <a:cs typeface="Atkinson Hyperlegible" pitchFamily="34" charset="-120"/>
              </a:rPr>
              <a:t>Actúe Hoy</a:t>
            </a:r>
            <a:endParaRPr lang="en-US" sz="1400" dirty="0"/>
          </a:p>
        </p:txBody>
      </p:sp>
      <p:sp>
        <p:nvSpPr>
          <p:cNvPr id="8" name="Text 5"/>
          <p:cNvSpPr/>
          <p:nvPr/>
        </p:nvSpPr>
        <p:spPr>
          <a:xfrm>
            <a:off x="457200" y="2011680"/>
            <a:ext cx="3749040" cy="749808"/>
          </a:xfrm>
          <a:prstGeom prst="rect">
            <a:avLst/>
          </a:prstGeom>
          <a:noFill/>
          <a:ln/>
        </p:spPr>
        <p:txBody>
          <a:bodyPr wrap="square" rtlCol="0" anchor="ctr"/>
          <a:lstStyle/>
          <a:p>
            <a:pPr indent="0" marL="0">
              <a:buNone/>
            </a:pPr>
            <a:r>
              <a:rPr lang="en-US" sz="1000" dirty="0">
                <a:solidFill>
                  <a:srgbClr val="1D1D1F"/>
                </a:solidFill>
                <a:latin typeface="Atkinson Hyperlegible" pitchFamily="34" charset="0"/>
                <a:ea typeface="Atkinson Hyperlegible" pitchFamily="34" charset="-122"/>
                <a:cs typeface="Atkinson Hyperlegible" pitchFamily="34" charset="-120"/>
              </a:rPr>
              <a:t>Designe un Champion de Constructabilidad esta semana</a:t>
            </a:r>
            <a:endParaRPr lang="en-US" sz="1000" dirty="0"/>
          </a:p>
        </p:txBody>
      </p:sp>
      <p:sp>
        <p:nvSpPr>
          <p:cNvPr id="9" name="Shape 6"/>
          <p:cNvSpPr/>
          <p:nvPr/>
        </p:nvSpPr>
        <p:spPr>
          <a:xfrm>
            <a:off x="4663440" y="1280160"/>
            <a:ext cx="4023360" cy="1600200"/>
          </a:xfrm>
          <a:prstGeom prst="rect">
            <a:avLst>
              <a:gd name="adj" fmla="val 4571"/>
            </a:avLst>
          </a:prstGeom>
          <a:solidFill>
            <a:srgbClr val="FFFFFF"/>
          </a:solidFill>
          <a:ln w="19050">
            <a:solidFill>
              <a:srgbClr val="0E9E9E"/>
            </a:solidFill>
            <a:prstDash val="solid"/>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00600" y="1417320"/>
            <a:ext cx="512064" cy="512064"/>
          </a:xfrm>
          <a:prstGeom prst="rect">
            <a:avLst/>
          </a:prstGeom>
        </p:spPr>
      </p:pic>
      <p:sp>
        <p:nvSpPr>
          <p:cNvPr id="11" name="Text 7"/>
          <p:cNvSpPr/>
          <p:nvPr/>
        </p:nvSpPr>
        <p:spPr>
          <a:xfrm>
            <a:off x="5376672" y="1389888"/>
            <a:ext cx="3200400" cy="347472"/>
          </a:xfrm>
          <a:prstGeom prst="rect">
            <a:avLst/>
          </a:prstGeom>
          <a:noFill/>
          <a:ln/>
        </p:spPr>
        <p:txBody>
          <a:bodyPr wrap="square" rtlCol="0" anchor="ctr"/>
          <a:lstStyle/>
          <a:p>
            <a:pPr indent="0" marL="0">
              <a:buNone/>
            </a:pPr>
            <a:r>
              <a:rPr lang="en-US" sz="1400" b="1" dirty="0">
                <a:solidFill>
                  <a:srgbClr val="0E9E9E"/>
                </a:solidFill>
                <a:latin typeface="Atkinson Hyperlegible" pitchFamily="34" charset="0"/>
                <a:ea typeface="Atkinson Hyperlegible" pitchFamily="34" charset="-122"/>
                <a:cs typeface="Atkinson Hyperlegible" pitchFamily="34" charset="-120"/>
              </a:rPr>
              <a:t>Escale</a:t>
            </a:r>
            <a:endParaRPr lang="en-US" sz="1400" dirty="0"/>
          </a:p>
        </p:txBody>
      </p:sp>
      <p:sp>
        <p:nvSpPr>
          <p:cNvPr id="12" name="Text 8"/>
          <p:cNvSpPr/>
          <p:nvPr/>
        </p:nvSpPr>
        <p:spPr>
          <a:xfrm>
            <a:off x="4800600" y="2011680"/>
            <a:ext cx="3749040" cy="749808"/>
          </a:xfrm>
          <a:prstGeom prst="rect">
            <a:avLst/>
          </a:prstGeom>
          <a:noFill/>
          <a:ln/>
        </p:spPr>
        <p:txBody>
          <a:bodyPr wrap="square" rtlCol="0" anchor="ctr"/>
          <a:lstStyle/>
          <a:p>
            <a:pPr indent="0" marL="0">
              <a:buNone/>
            </a:pPr>
            <a:r>
              <a:rPr lang="en-US" sz="1000" dirty="0">
                <a:solidFill>
                  <a:srgbClr val="1D1D1F"/>
                </a:solidFill>
                <a:latin typeface="Atkinson Hyperlegible" pitchFamily="34" charset="0"/>
                <a:ea typeface="Atkinson Hyperlegible" pitchFamily="34" charset="-122"/>
                <a:cs typeface="Atkinson Hyperlegible" pitchFamily="34" charset="-120"/>
              </a:rPr>
              <a:t>Aplique AWP en el siguiente proyecto presupuestado</a:t>
            </a:r>
            <a:endParaRPr lang="en-US" sz="1000" dirty="0"/>
          </a:p>
        </p:txBody>
      </p:sp>
      <p:sp>
        <p:nvSpPr>
          <p:cNvPr id="13" name="Shape 9"/>
          <p:cNvSpPr/>
          <p:nvPr/>
        </p:nvSpPr>
        <p:spPr>
          <a:xfrm>
            <a:off x="320040" y="3063240"/>
            <a:ext cx="4023360" cy="1600200"/>
          </a:xfrm>
          <a:prstGeom prst="rect">
            <a:avLst>
              <a:gd name="adj" fmla="val 4571"/>
            </a:avLst>
          </a:prstGeom>
          <a:solidFill>
            <a:srgbClr val="FFFFFF"/>
          </a:solidFill>
          <a:ln w="19050">
            <a:solidFill>
              <a:srgbClr val="27AE60"/>
            </a:solidFill>
            <a:prstDash val="solid"/>
          </a:ln>
        </p:spPr>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7200" y="3200400"/>
            <a:ext cx="512064" cy="512064"/>
          </a:xfrm>
          <a:prstGeom prst="rect">
            <a:avLst/>
          </a:prstGeom>
        </p:spPr>
      </p:pic>
      <p:sp>
        <p:nvSpPr>
          <p:cNvPr id="15" name="Text 10"/>
          <p:cNvSpPr/>
          <p:nvPr/>
        </p:nvSpPr>
        <p:spPr>
          <a:xfrm>
            <a:off x="1033272" y="3172968"/>
            <a:ext cx="3200400" cy="347472"/>
          </a:xfrm>
          <a:prstGeom prst="rect">
            <a:avLst/>
          </a:prstGeom>
          <a:noFill/>
          <a:ln/>
        </p:spPr>
        <p:txBody>
          <a:bodyPr wrap="square" rtlCol="0" anchor="ctr"/>
          <a:lstStyle/>
          <a:p>
            <a:pPr indent="0" marL="0">
              <a:buNone/>
            </a:pPr>
            <a:r>
              <a:rPr lang="en-US" sz="1400" b="1" dirty="0">
                <a:solidFill>
                  <a:srgbClr val="27AE60"/>
                </a:solidFill>
                <a:latin typeface="Atkinson Hyperlegible" pitchFamily="34" charset="0"/>
                <a:ea typeface="Atkinson Hyperlegible" pitchFamily="34" charset="-122"/>
                <a:cs typeface="Atkinson Hyperlegible" pitchFamily="34" charset="-120"/>
              </a:rPr>
              <a:t>Mida</a:t>
            </a:r>
            <a:endParaRPr lang="en-US" sz="1400" dirty="0"/>
          </a:p>
        </p:txBody>
      </p:sp>
      <p:sp>
        <p:nvSpPr>
          <p:cNvPr id="16" name="Text 11"/>
          <p:cNvSpPr/>
          <p:nvPr/>
        </p:nvSpPr>
        <p:spPr>
          <a:xfrm>
            <a:off x="457200" y="3794760"/>
            <a:ext cx="3749040" cy="749808"/>
          </a:xfrm>
          <a:prstGeom prst="rect">
            <a:avLst/>
          </a:prstGeom>
          <a:noFill/>
          <a:ln/>
        </p:spPr>
        <p:txBody>
          <a:bodyPr wrap="square" rtlCol="0" anchor="ctr"/>
          <a:lstStyle/>
          <a:p>
            <a:pPr indent="0" marL="0">
              <a:buNone/>
            </a:pPr>
            <a:r>
              <a:rPr lang="en-US" sz="1000" dirty="0">
                <a:solidFill>
                  <a:srgbClr val="1D1D1F"/>
                </a:solidFill>
                <a:latin typeface="Atkinson Hyperlegible" pitchFamily="34" charset="0"/>
                <a:ea typeface="Atkinson Hyperlegible" pitchFamily="34" charset="-122"/>
                <a:cs typeface="Atkinson Hyperlegible" pitchFamily="34" charset="-120"/>
              </a:rPr>
              <a:t>Defina sus KPIs de referencia antes de empezar</a:t>
            </a:r>
            <a:endParaRPr lang="en-US" sz="1000" dirty="0"/>
          </a:p>
        </p:txBody>
      </p:sp>
      <p:sp>
        <p:nvSpPr>
          <p:cNvPr id="17" name="Shape 12"/>
          <p:cNvSpPr/>
          <p:nvPr/>
        </p:nvSpPr>
        <p:spPr>
          <a:xfrm>
            <a:off x="4663440" y="3063240"/>
            <a:ext cx="4023360" cy="1600200"/>
          </a:xfrm>
          <a:prstGeom prst="rect">
            <a:avLst>
              <a:gd name="adj" fmla="val 4571"/>
            </a:avLst>
          </a:prstGeom>
          <a:solidFill>
            <a:srgbClr val="FFFFFF"/>
          </a:solidFill>
          <a:ln w="19050">
            <a:solidFill>
              <a:srgbClr val="D4620A"/>
            </a:solidFill>
            <a:prstDash val="solid"/>
          </a:ln>
        </p:spPr>
      </p:sp>
      <p:pic>
        <p:nvPicPr>
          <p:cNvPr id="1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00600" y="3200400"/>
            <a:ext cx="512064" cy="512064"/>
          </a:xfrm>
          <a:prstGeom prst="rect">
            <a:avLst/>
          </a:prstGeom>
        </p:spPr>
      </p:pic>
      <p:sp>
        <p:nvSpPr>
          <p:cNvPr id="19" name="Text 13"/>
          <p:cNvSpPr/>
          <p:nvPr/>
        </p:nvSpPr>
        <p:spPr>
          <a:xfrm>
            <a:off x="5376672" y="3172968"/>
            <a:ext cx="3200400" cy="347472"/>
          </a:xfrm>
          <a:prstGeom prst="rect">
            <a:avLst/>
          </a:prstGeom>
          <a:noFill/>
          <a:ln/>
        </p:spPr>
        <p:txBody>
          <a:bodyPr wrap="square" rtlCol="0" anchor="ctr"/>
          <a:lstStyle/>
          <a:p>
            <a:pPr indent="0" marL="0">
              <a:buNone/>
            </a:pPr>
            <a:r>
              <a:rPr lang="en-US" sz="1400" b="1" dirty="0">
                <a:solidFill>
                  <a:srgbClr val="D4620A"/>
                </a:solidFill>
                <a:latin typeface="Atkinson Hyperlegible" pitchFamily="34" charset="0"/>
                <a:ea typeface="Atkinson Hyperlegible" pitchFamily="34" charset="-122"/>
                <a:cs typeface="Atkinson Hyperlegible" pitchFamily="34" charset="-120"/>
              </a:rPr>
              <a:t>Conecte</a:t>
            </a:r>
            <a:endParaRPr lang="en-US" sz="1400" dirty="0"/>
          </a:p>
        </p:txBody>
      </p:sp>
      <p:sp>
        <p:nvSpPr>
          <p:cNvPr id="20" name="Text 14"/>
          <p:cNvSpPr/>
          <p:nvPr/>
        </p:nvSpPr>
        <p:spPr>
          <a:xfrm>
            <a:off x="4800600" y="3794760"/>
            <a:ext cx="3749040" cy="749808"/>
          </a:xfrm>
          <a:prstGeom prst="rect">
            <a:avLst/>
          </a:prstGeom>
          <a:noFill/>
          <a:ln/>
        </p:spPr>
        <p:txBody>
          <a:bodyPr wrap="square" rtlCol="0" anchor="ctr"/>
          <a:lstStyle/>
          <a:p>
            <a:pPr indent="0" marL="0">
              <a:buNone/>
            </a:pPr>
            <a:r>
              <a:rPr lang="en-US" sz="1000" dirty="0">
                <a:solidFill>
                  <a:srgbClr val="1D1D1F"/>
                </a:solidFill>
                <a:latin typeface="Atkinson Hyperlegible" pitchFamily="34" charset="0"/>
                <a:ea typeface="Atkinson Hyperlegible" pitchFamily="34" charset="-122"/>
                <a:cs typeface="Atkinson Hyperlegible" pitchFamily="34" charset="-120"/>
              </a:rPr>
              <a:t>Únase a la red CII y comparta lecciones aprendidas</a:t>
            </a:r>
            <a:endParaRPr lang="en-US" sz="1000" dirty="0"/>
          </a:p>
        </p:txBody>
      </p:sp>
      <p:sp>
        <p:nvSpPr>
          <p:cNvPr id="21" name="Shape 15"/>
          <p:cNvSpPr/>
          <p:nvPr/>
        </p:nvSpPr>
        <p:spPr>
          <a:xfrm>
            <a:off x="0" y="4919472"/>
            <a:ext cx="9144000" cy="224028"/>
          </a:xfrm>
          <a:prstGeom prst="rect">
            <a:avLst/>
          </a:prstGeom>
          <a:solidFill>
            <a:srgbClr val="0A74E3"/>
          </a:solidFill>
          <a:ln w="12700">
            <a:solidFill>
              <a:srgbClr val="0A74E3"/>
            </a:solidFill>
            <a:prstDash val="solid"/>
          </a:ln>
        </p:spPr>
      </p:sp>
      <p:sp>
        <p:nvSpPr>
          <p:cNvPr id="22" name="Text 16"/>
          <p:cNvSpPr/>
          <p:nvPr/>
        </p:nvSpPr>
        <p:spPr>
          <a:xfrm>
            <a:off x="7772400" y="4919472"/>
            <a:ext cx="1188720" cy="224028"/>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96 / 126</a:t>
            </a:r>
            <a:endParaRPr lang="en-US" sz="7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E9E"/>
          </a:solidFill>
          <a:ln w="12700">
            <a:solidFill>
              <a:srgbClr val="0E9E9E"/>
            </a:solidFill>
            <a:prstDash val="solid"/>
          </a:ln>
        </p:spPr>
      </p:sp>
      <p:sp>
        <p:nvSpPr>
          <p:cNvPr id="3" name="Shape 1"/>
          <p:cNvSpPr/>
          <p:nvPr/>
        </p:nvSpPr>
        <p:spPr>
          <a:xfrm>
            <a:off x="164592" y="4956048"/>
            <a:ext cx="8979408" cy="182880"/>
          </a:xfrm>
          <a:prstGeom prst="rect">
            <a:avLst/>
          </a:prstGeom>
          <a:solidFill>
            <a:srgbClr val="0E9E9E"/>
          </a:solidFill>
          <a:ln w="12700">
            <a:solidFill>
              <a:srgbClr val="0E9E9E"/>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97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Recursos Adicionales y Lecturas Recomendadas</a:t>
            </a:r>
            <a:endParaRPr lang="en-US" sz="1800" dirty="0"/>
          </a:p>
        </p:txBody>
      </p:sp>
      <p:sp>
        <p:nvSpPr>
          <p:cNvPr id="6" name="Shape 4"/>
          <p:cNvSpPr/>
          <p:nvPr/>
        </p:nvSpPr>
        <p:spPr>
          <a:xfrm>
            <a:off x="320040" y="621792"/>
            <a:ext cx="8503920" cy="41148"/>
          </a:xfrm>
          <a:prstGeom prst="rect">
            <a:avLst/>
          </a:prstGeom>
          <a:solidFill>
            <a:srgbClr val="0E9E9E"/>
          </a:solidFill>
          <a:ln w="12700">
            <a:solidFill>
              <a:srgbClr val="0E9E9E"/>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E9E9E"/>
                </a:solidFill>
                <a:latin typeface="Atkinson Hyperlegible" pitchFamily="34" charset="0"/>
                <a:ea typeface="Atkinson Hyperlegible" pitchFamily="34" charset="-122"/>
                <a:cs typeface="Atkinson Hyperlegible" pitchFamily="34" charset="-120"/>
              </a:rPr>
              <a:t>Fuentes de profundización para el profesional de constructabilidad</a:t>
            </a:r>
            <a:endParaRPr lang="en-US" sz="900" dirty="0"/>
          </a:p>
        </p:txBody>
      </p:sp>
      <p:sp>
        <p:nvSpPr>
          <p:cNvPr id="8" name="Shape 6"/>
          <p:cNvSpPr/>
          <p:nvPr/>
        </p:nvSpPr>
        <p:spPr>
          <a:xfrm>
            <a:off x="320040" y="960120"/>
            <a:ext cx="2724912" cy="3858768"/>
          </a:xfrm>
          <a:prstGeom prst="rect">
            <a:avLst>
              <a:gd name="adj" fmla="val 2013"/>
            </a:avLst>
          </a:prstGeom>
          <a:solidFill>
            <a:srgbClr val="FFFFFF"/>
          </a:solidFill>
          <a:ln w="12700">
            <a:solidFill>
              <a:srgbClr val="0A74E3"/>
            </a:solidFill>
            <a:prstDash val="solid"/>
          </a:ln>
        </p:spPr>
      </p:sp>
      <p:sp>
        <p:nvSpPr>
          <p:cNvPr id="9" name="Shape 7"/>
          <p:cNvSpPr/>
          <p:nvPr/>
        </p:nvSpPr>
        <p:spPr>
          <a:xfrm>
            <a:off x="320040" y="960120"/>
            <a:ext cx="2724912" cy="347472"/>
          </a:xfrm>
          <a:prstGeom prst="rect">
            <a:avLst>
              <a:gd name="adj" fmla="val 15789"/>
            </a:avLst>
          </a:prstGeom>
          <a:solidFill>
            <a:srgbClr val="0A74E3"/>
          </a:solidFill>
          <a:ln w="12700">
            <a:solidFill>
              <a:srgbClr val="0A74E3"/>
            </a:solidFill>
            <a:prstDash val="solid"/>
          </a:ln>
        </p:spPr>
      </p:sp>
      <p:sp>
        <p:nvSpPr>
          <p:cNvPr id="10" name="Text 8"/>
          <p:cNvSpPr/>
          <p:nvPr/>
        </p:nvSpPr>
        <p:spPr>
          <a:xfrm>
            <a:off x="411480" y="996696"/>
            <a:ext cx="2542032" cy="274320"/>
          </a:xfrm>
          <a:prstGeom prst="rect">
            <a:avLst/>
          </a:prstGeom>
          <a:noFill/>
          <a:ln/>
        </p:spPr>
        <p:txBody>
          <a:bodyPr wrap="square" rtlCol="0" anchor="ctr"/>
          <a:lstStyle/>
          <a:p>
            <a:pP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Libros Esenciales</a:t>
            </a:r>
            <a:endParaRPr lang="en-US" sz="900" dirty="0"/>
          </a:p>
        </p:txBody>
      </p:sp>
      <p:sp>
        <p:nvSpPr>
          <p:cNvPr id="11" name="Shape 9"/>
          <p:cNvSpPr/>
          <p:nvPr/>
        </p:nvSpPr>
        <p:spPr>
          <a:xfrm>
            <a:off x="411480" y="1399032"/>
            <a:ext cx="2542032" cy="786384"/>
          </a:xfrm>
          <a:prstGeom prst="roundRect">
            <a:avLst>
              <a:gd name="adj" fmla="val 4651"/>
            </a:avLst>
          </a:prstGeom>
          <a:solidFill>
            <a:srgbClr val="F8F8FA"/>
          </a:solidFill>
          <a:ln w="6350">
            <a:solidFill>
              <a:srgbClr val="E5E5EA"/>
            </a:solidFill>
            <a:prstDash val="solid"/>
          </a:ln>
        </p:spPr>
      </p:sp>
      <p:sp>
        <p:nvSpPr>
          <p:cNvPr id="12" name="Text 10"/>
          <p:cNvSpPr/>
          <p:nvPr/>
        </p:nvSpPr>
        <p:spPr>
          <a:xfrm>
            <a:off x="484632" y="1435608"/>
            <a:ext cx="2395728" cy="71323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CII SP 34-1: Advanced Work Packaging (descarga gratuita para miembros CII)</a:t>
            </a:r>
            <a:endParaRPr lang="en-US" sz="750" dirty="0"/>
          </a:p>
        </p:txBody>
      </p:sp>
      <p:sp>
        <p:nvSpPr>
          <p:cNvPr id="13" name="Shape 11"/>
          <p:cNvSpPr/>
          <p:nvPr/>
        </p:nvSpPr>
        <p:spPr>
          <a:xfrm>
            <a:off x="411480" y="2258568"/>
            <a:ext cx="2542032" cy="786384"/>
          </a:xfrm>
          <a:prstGeom prst="roundRect">
            <a:avLst>
              <a:gd name="adj" fmla="val 4651"/>
            </a:avLst>
          </a:prstGeom>
          <a:solidFill>
            <a:srgbClr val="FFFFFF"/>
          </a:solidFill>
          <a:ln w="6350">
            <a:solidFill>
              <a:srgbClr val="E5E5EA"/>
            </a:solidFill>
            <a:prstDash val="solid"/>
          </a:ln>
        </p:spPr>
      </p:sp>
      <p:sp>
        <p:nvSpPr>
          <p:cNvPr id="14" name="Text 12"/>
          <p:cNvSpPr/>
          <p:nvPr/>
        </p:nvSpPr>
        <p:spPr>
          <a:xfrm>
            <a:off x="484632" y="2295144"/>
            <a:ext cx="2395728" cy="71323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Nicks, J. — AWP: A Practical Guide to Advanced Work Packaging, Planning, and Scheduling (CRC Press)</a:t>
            </a:r>
            <a:endParaRPr lang="en-US" sz="750" dirty="0"/>
          </a:p>
        </p:txBody>
      </p:sp>
      <p:sp>
        <p:nvSpPr>
          <p:cNvPr id="15" name="Shape 13"/>
          <p:cNvSpPr/>
          <p:nvPr/>
        </p:nvSpPr>
        <p:spPr>
          <a:xfrm>
            <a:off x="411480" y="3118104"/>
            <a:ext cx="2542032" cy="786384"/>
          </a:xfrm>
          <a:prstGeom prst="roundRect">
            <a:avLst>
              <a:gd name="adj" fmla="val 4651"/>
            </a:avLst>
          </a:prstGeom>
          <a:solidFill>
            <a:srgbClr val="F8F8FA"/>
          </a:solidFill>
          <a:ln w="6350">
            <a:solidFill>
              <a:srgbClr val="E5E5EA"/>
            </a:solidFill>
            <a:prstDash val="solid"/>
          </a:ln>
        </p:spPr>
      </p:sp>
      <p:sp>
        <p:nvSpPr>
          <p:cNvPr id="16" name="Text 14"/>
          <p:cNvSpPr/>
          <p:nvPr/>
        </p:nvSpPr>
        <p:spPr>
          <a:xfrm>
            <a:off x="484632" y="3154680"/>
            <a:ext cx="2395728" cy="71323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O'Brien &amp; Plotnick — CPM in Construction Management, 7th ed. (McGraw-Hill)</a:t>
            </a:r>
            <a:endParaRPr lang="en-US" sz="750" dirty="0"/>
          </a:p>
        </p:txBody>
      </p:sp>
      <p:sp>
        <p:nvSpPr>
          <p:cNvPr id="17" name="Shape 15"/>
          <p:cNvSpPr/>
          <p:nvPr/>
        </p:nvSpPr>
        <p:spPr>
          <a:xfrm>
            <a:off x="411480" y="3977640"/>
            <a:ext cx="2542032" cy="786384"/>
          </a:xfrm>
          <a:prstGeom prst="roundRect">
            <a:avLst>
              <a:gd name="adj" fmla="val 4651"/>
            </a:avLst>
          </a:prstGeom>
          <a:solidFill>
            <a:srgbClr val="FFFFFF"/>
          </a:solidFill>
          <a:ln w="6350">
            <a:solidFill>
              <a:srgbClr val="E5E5EA"/>
            </a:solidFill>
            <a:prstDash val="solid"/>
          </a:ln>
        </p:spPr>
      </p:sp>
      <p:sp>
        <p:nvSpPr>
          <p:cNvPr id="18" name="Text 16"/>
          <p:cNvSpPr/>
          <p:nvPr/>
        </p:nvSpPr>
        <p:spPr>
          <a:xfrm>
            <a:off x="484632" y="4014216"/>
            <a:ext cx="2395728" cy="71323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Lean Construction Institute — Last Planner System Training Materials</a:t>
            </a:r>
            <a:endParaRPr lang="en-US" sz="750" dirty="0"/>
          </a:p>
        </p:txBody>
      </p:sp>
      <p:sp>
        <p:nvSpPr>
          <p:cNvPr id="19" name="Shape 17"/>
          <p:cNvSpPr/>
          <p:nvPr/>
        </p:nvSpPr>
        <p:spPr>
          <a:xfrm>
            <a:off x="3172968" y="960120"/>
            <a:ext cx="2724912" cy="3858768"/>
          </a:xfrm>
          <a:prstGeom prst="rect">
            <a:avLst>
              <a:gd name="adj" fmla="val 2013"/>
            </a:avLst>
          </a:prstGeom>
          <a:solidFill>
            <a:srgbClr val="FFFFFF"/>
          </a:solidFill>
          <a:ln w="12700">
            <a:solidFill>
              <a:srgbClr val="0E9E9E"/>
            </a:solidFill>
            <a:prstDash val="solid"/>
          </a:ln>
        </p:spPr>
      </p:sp>
      <p:sp>
        <p:nvSpPr>
          <p:cNvPr id="20" name="Shape 18"/>
          <p:cNvSpPr/>
          <p:nvPr/>
        </p:nvSpPr>
        <p:spPr>
          <a:xfrm>
            <a:off x="3172968" y="960120"/>
            <a:ext cx="2724912" cy="347472"/>
          </a:xfrm>
          <a:prstGeom prst="rect">
            <a:avLst>
              <a:gd name="adj" fmla="val 15789"/>
            </a:avLst>
          </a:prstGeom>
          <a:solidFill>
            <a:srgbClr val="0E9E9E"/>
          </a:solidFill>
          <a:ln w="12700">
            <a:solidFill>
              <a:srgbClr val="0E9E9E"/>
            </a:solidFill>
            <a:prstDash val="solid"/>
          </a:ln>
        </p:spPr>
      </p:sp>
      <p:sp>
        <p:nvSpPr>
          <p:cNvPr id="21" name="Text 19"/>
          <p:cNvSpPr/>
          <p:nvPr/>
        </p:nvSpPr>
        <p:spPr>
          <a:xfrm>
            <a:off x="3264408" y="996696"/>
            <a:ext cx="2542032" cy="274320"/>
          </a:xfrm>
          <a:prstGeom prst="rect">
            <a:avLst/>
          </a:prstGeom>
          <a:noFill/>
          <a:ln/>
        </p:spPr>
        <p:txBody>
          <a:bodyPr wrap="square" rtlCol="0" anchor="ctr"/>
          <a:lstStyle/>
          <a:p>
            <a:pP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Plataformas Online</a:t>
            </a:r>
            <a:endParaRPr lang="en-US" sz="900" dirty="0"/>
          </a:p>
        </p:txBody>
      </p:sp>
      <p:sp>
        <p:nvSpPr>
          <p:cNvPr id="22" name="Shape 20"/>
          <p:cNvSpPr/>
          <p:nvPr/>
        </p:nvSpPr>
        <p:spPr>
          <a:xfrm>
            <a:off x="3264408" y="1399032"/>
            <a:ext cx="2542032" cy="786384"/>
          </a:xfrm>
          <a:prstGeom prst="roundRect">
            <a:avLst>
              <a:gd name="adj" fmla="val 4651"/>
            </a:avLst>
          </a:prstGeom>
          <a:solidFill>
            <a:srgbClr val="F8F8FA"/>
          </a:solidFill>
          <a:ln w="6350">
            <a:solidFill>
              <a:srgbClr val="E5E5EA"/>
            </a:solidFill>
            <a:prstDash val="solid"/>
          </a:ln>
        </p:spPr>
      </p:sp>
      <p:sp>
        <p:nvSpPr>
          <p:cNvPr id="23" name="Text 21"/>
          <p:cNvSpPr/>
          <p:nvPr/>
        </p:nvSpPr>
        <p:spPr>
          <a:xfrm>
            <a:off x="3337560" y="1435608"/>
            <a:ext cx="2395728" cy="71323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CII University: cursos e-learning en AWP, constructabilidad y EVM (cii.utexas.edu)</a:t>
            </a:r>
            <a:endParaRPr lang="en-US" sz="750" dirty="0"/>
          </a:p>
        </p:txBody>
      </p:sp>
      <p:sp>
        <p:nvSpPr>
          <p:cNvPr id="24" name="Shape 22"/>
          <p:cNvSpPr/>
          <p:nvPr/>
        </p:nvSpPr>
        <p:spPr>
          <a:xfrm>
            <a:off x="3264408" y="2258568"/>
            <a:ext cx="2542032" cy="786384"/>
          </a:xfrm>
          <a:prstGeom prst="roundRect">
            <a:avLst>
              <a:gd name="adj" fmla="val 4651"/>
            </a:avLst>
          </a:prstGeom>
          <a:solidFill>
            <a:srgbClr val="FFFFFF"/>
          </a:solidFill>
          <a:ln w="6350">
            <a:solidFill>
              <a:srgbClr val="E5E5EA"/>
            </a:solidFill>
            <a:prstDash val="solid"/>
          </a:ln>
        </p:spPr>
      </p:sp>
      <p:sp>
        <p:nvSpPr>
          <p:cNvPr id="25" name="Text 23"/>
          <p:cNvSpPr/>
          <p:nvPr/>
        </p:nvSpPr>
        <p:spPr>
          <a:xfrm>
            <a:off x="3337560" y="2295144"/>
            <a:ext cx="2395728" cy="71323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AACE International: certificaciones CCE, CCP, PSP con módulos de constructabilidad</a:t>
            </a:r>
            <a:endParaRPr lang="en-US" sz="750" dirty="0"/>
          </a:p>
        </p:txBody>
      </p:sp>
      <p:sp>
        <p:nvSpPr>
          <p:cNvPr id="26" name="Shape 24"/>
          <p:cNvSpPr/>
          <p:nvPr/>
        </p:nvSpPr>
        <p:spPr>
          <a:xfrm>
            <a:off x="3264408" y="3118104"/>
            <a:ext cx="2542032" cy="786384"/>
          </a:xfrm>
          <a:prstGeom prst="roundRect">
            <a:avLst>
              <a:gd name="adj" fmla="val 4651"/>
            </a:avLst>
          </a:prstGeom>
          <a:solidFill>
            <a:srgbClr val="F8F8FA"/>
          </a:solidFill>
          <a:ln w="6350">
            <a:solidFill>
              <a:srgbClr val="E5E5EA"/>
            </a:solidFill>
            <a:prstDash val="solid"/>
          </a:ln>
        </p:spPr>
      </p:sp>
      <p:sp>
        <p:nvSpPr>
          <p:cNvPr id="27" name="Text 25"/>
          <p:cNvSpPr/>
          <p:nvPr/>
        </p:nvSpPr>
        <p:spPr>
          <a:xfrm>
            <a:off x="3337560" y="3154680"/>
            <a:ext cx="2395728" cy="71323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Coursera / edX: BIM Fundamentals (Autodesk), Lean Construction (TUDelft)</a:t>
            </a:r>
            <a:endParaRPr lang="en-US" sz="750" dirty="0"/>
          </a:p>
        </p:txBody>
      </p:sp>
      <p:sp>
        <p:nvSpPr>
          <p:cNvPr id="28" name="Shape 26"/>
          <p:cNvSpPr/>
          <p:nvPr/>
        </p:nvSpPr>
        <p:spPr>
          <a:xfrm>
            <a:off x="3264408" y="3977640"/>
            <a:ext cx="2542032" cy="786384"/>
          </a:xfrm>
          <a:prstGeom prst="roundRect">
            <a:avLst>
              <a:gd name="adj" fmla="val 4651"/>
            </a:avLst>
          </a:prstGeom>
          <a:solidFill>
            <a:srgbClr val="FFFFFF"/>
          </a:solidFill>
          <a:ln w="6350">
            <a:solidFill>
              <a:srgbClr val="E5E5EA"/>
            </a:solidFill>
            <a:prstDash val="solid"/>
          </a:ln>
        </p:spPr>
      </p:sp>
      <p:sp>
        <p:nvSpPr>
          <p:cNvPr id="29" name="Text 27"/>
          <p:cNvSpPr/>
          <p:nvPr/>
        </p:nvSpPr>
        <p:spPr>
          <a:xfrm>
            <a:off x="3337560" y="4014216"/>
            <a:ext cx="2395728" cy="71323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LinkedIn Learning: Project Controls, Schedule Risk Analysis, Work Packaging</a:t>
            </a:r>
            <a:endParaRPr lang="en-US" sz="750" dirty="0"/>
          </a:p>
        </p:txBody>
      </p:sp>
      <p:sp>
        <p:nvSpPr>
          <p:cNvPr id="30" name="Shape 28"/>
          <p:cNvSpPr/>
          <p:nvPr/>
        </p:nvSpPr>
        <p:spPr>
          <a:xfrm>
            <a:off x="6025896" y="960120"/>
            <a:ext cx="2724912" cy="3858768"/>
          </a:xfrm>
          <a:prstGeom prst="rect">
            <a:avLst>
              <a:gd name="adj" fmla="val 2013"/>
            </a:avLst>
          </a:prstGeom>
          <a:solidFill>
            <a:srgbClr val="FFFFFF"/>
          </a:solidFill>
          <a:ln w="12700">
            <a:solidFill>
              <a:srgbClr val="27AE60"/>
            </a:solidFill>
            <a:prstDash val="solid"/>
          </a:ln>
        </p:spPr>
      </p:sp>
      <p:sp>
        <p:nvSpPr>
          <p:cNvPr id="31" name="Shape 29"/>
          <p:cNvSpPr/>
          <p:nvPr/>
        </p:nvSpPr>
        <p:spPr>
          <a:xfrm>
            <a:off x="6025896" y="960120"/>
            <a:ext cx="2724912" cy="347472"/>
          </a:xfrm>
          <a:prstGeom prst="rect">
            <a:avLst>
              <a:gd name="adj" fmla="val 15789"/>
            </a:avLst>
          </a:prstGeom>
          <a:solidFill>
            <a:srgbClr val="27AE60"/>
          </a:solidFill>
          <a:ln w="12700">
            <a:solidFill>
              <a:srgbClr val="27AE60"/>
            </a:solidFill>
            <a:prstDash val="solid"/>
          </a:ln>
        </p:spPr>
      </p:sp>
      <p:sp>
        <p:nvSpPr>
          <p:cNvPr id="32" name="Text 30"/>
          <p:cNvSpPr/>
          <p:nvPr/>
        </p:nvSpPr>
        <p:spPr>
          <a:xfrm>
            <a:off x="6117336" y="996696"/>
            <a:ext cx="2542032" cy="274320"/>
          </a:xfrm>
          <a:prstGeom prst="rect">
            <a:avLst/>
          </a:prstGeom>
          <a:noFill/>
          <a:ln/>
        </p:spPr>
        <p:txBody>
          <a:bodyPr wrap="square" rtlCol="0" anchor="ctr"/>
          <a:lstStyle/>
          <a:p>
            <a:pP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Comunidades Profesionales</a:t>
            </a:r>
            <a:endParaRPr lang="en-US" sz="900" dirty="0"/>
          </a:p>
        </p:txBody>
      </p:sp>
      <p:sp>
        <p:nvSpPr>
          <p:cNvPr id="33" name="Shape 31"/>
          <p:cNvSpPr/>
          <p:nvPr/>
        </p:nvSpPr>
        <p:spPr>
          <a:xfrm>
            <a:off x="6117336" y="1399032"/>
            <a:ext cx="2542032" cy="786384"/>
          </a:xfrm>
          <a:prstGeom prst="roundRect">
            <a:avLst>
              <a:gd name="adj" fmla="val 4651"/>
            </a:avLst>
          </a:prstGeom>
          <a:solidFill>
            <a:srgbClr val="F8F8FA"/>
          </a:solidFill>
          <a:ln w="6350">
            <a:solidFill>
              <a:srgbClr val="E5E5EA"/>
            </a:solidFill>
            <a:prstDash val="solid"/>
          </a:ln>
        </p:spPr>
      </p:sp>
      <p:sp>
        <p:nvSpPr>
          <p:cNvPr id="34" name="Text 32"/>
          <p:cNvSpPr/>
          <p:nvPr/>
        </p:nvSpPr>
        <p:spPr>
          <a:xfrm>
            <a:off x="6190488" y="1435608"/>
            <a:ext cx="2395728" cy="71323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CII Community of Practice: foros y webinars mensuales en AWP</a:t>
            </a:r>
            <a:endParaRPr lang="en-US" sz="750" dirty="0"/>
          </a:p>
        </p:txBody>
      </p:sp>
      <p:sp>
        <p:nvSpPr>
          <p:cNvPr id="35" name="Shape 33"/>
          <p:cNvSpPr/>
          <p:nvPr/>
        </p:nvSpPr>
        <p:spPr>
          <a:xfrm>
            <a:off x="6117336" y="2258568"/>
            <a:ext cx="2542032" cy="786384"/>
          </a:xfrm>
          <a:prstGeom prst="roundRect">
            <a:avLst>
              <a:gd name="adj" fmla="val 4651"/>
            </a:avLst>
          </a:prstGeom>
          <a:solidFill>
            <a:srgbClr val="FFFFFF"/>
          </a:solidFill>
          <a:ln w="6350">
            <a:solidFill>
              <a:srgbClr val="E5E5EA"/>
            </a:solidFill>
            <a:prstDash val="solid"/>
          </a:ln>
        </p:spPr>
      </p:sp>
      <p:sp>
        <p:nvSpPr>
          <p:cNvPr id="36" name="Text 34"/>
          <p:cNvSpPr/>
          <p:nvPr/>
        </p:nvSpPr>
        <p:spPr>
          <a:xfrm>
            <a:off x="6190488" y="2295144"/>
            <a:ext cx="2395728" cy="71323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PMI Construction Community: red de profesionales + standards updates</a:t>
            </a:r>
            <a:endParaRPr lang="en-US" sz="750" dirty="0"/>
          </a:p>
        </p:txBody>
      </p:sp>
      <p:sp>
        <p:nvSpPr>
          <p:cNvPr id="37" name="Shape 35"/>
          <p:cNvSpPr/>
          <p:nvPr/>
        </p:nvSpPr>
        <p:spPr>
          <a:xfrm>
            <a:off x="6117336" y="3118104"/>
            <a:ext cx="2542032" cy="786384"/>
          </a:xfrm>
          <a:prstGeom prst="roundRect">
            <a:avLst>
              <a:gd name="adj" fmla="val 4651"/>
            </a:avLst>
          </a:prstGeom>
          <a:solidFill>
            <a:srgbClr val="F8F8FA"/>
          </a:solidFill>
          <a:ln w="6350">
            <a:solidFill>
              <a:srgbClr val="E5E5EA"/>
            </a:solidFill>
            <a:prstDash val="solid"/>
          </a:ln>
        </p:spPr>
      </p:sp>
      <p:sp>
        <p:nvSpPr>
          <p:cNvPr id="38" name="Text 36"/>
          <p:cNvSpPr/>
          <p:nvPr/>
        </p:nvSpPr>
        <p:spPr>
          <a:xfrm>
            <a:off x="6190488" y="3154680"/>
            <a:ext cx="2395728" cy="71323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FIDIC / ASCE: normas contractuales y mejores prácticas internacionales</a:t>
            </a:r>
            <a:endParaRPr lang="en-US" sz="750" dirty="0"/>
          </a:p>
        </p:txBody>
      </p:sp>
      <p:sp>
        <p:nvSpPr>
          <p:cNvPr id="39" name="Shape 37"/>
          <p:cNvSpPr/>
          <p:nvPr/>
        </p:nvSpPr>
        <p:spPr>
          <a:xfrm>
            <a:off x="6117336" y="3977640"/>
            <a:ext cx="2542032" cy="786384"/>
          </a:xfrm>
          <a:prstGeom prst="roundRect">
            <a:avLst>
              <a:gd name="adj" fmla="val 4651"/>
            </a:avLst>
          </a:prstGeom>
          <a:solidFill>
            <a:srgbClr val="FFFFFF"/>
          </a:solidFill>
          <a:ln w="6350">
            <a:solidFill>
              <a:srgbClr val="E5E5EA"/>
            </a:solidFill>
            <a:prstDash val="solid"/>
          </a:ln>
        </p:spPr>
      </p:sp>
      <p:sp>
        <p:nvSpPr>
          <p:cNvPr id="40" name="Text 38"/>
          <p:cNvSpPr/>
          <p:nvPr/>
        </p:nvSpPr>
        <p:spPr>
          <a:xfrm>
            <a:off x="6190488" y="4014216"/>
            <a:ext cx="2395728" cy="713232"/>
          </a:xfrm>
          <a:prstGeom prst="rect">
            <a:avLst/>
          </a:prstGeom>
          <a:noFill/>
          <a:ln/>
        </p:spPr>
        <p:txBody>
          <a:bodyPr wrap="square" rtlCol="0" anchor="t"/>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Capítulo CII Latinoamérica: eventos regionales, casos de estudio locales</a:t>
            </a:r>
            <a:endParaRPr lang="en-US" sz="7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4E3"/>
          </a:solidFill>
          <a:ln w="12700">
            <a:solidFill>
              <a:srgbClr val="0A74E3"/>
            </a:solidFill>
            <a:prstDash val="solid"/>
          </a:ln>
        </p:spPr>
      </p:sp>
      <p:sp>
        <p:nvSpPr>
          <p:cNvPr id="3" name="Shape 1"/>
          <p:cNvSpPr/>
          <p:nvPr/>
        </p:nvSpPr>
        <p:spPr>
          <a:xfrm>
            <a:off x="164592" y="4956048"/>
            <a:ext cx="8979408" cy="182880"/>
          </a:xfrm>
          <a:prstGeom prst="rect">
            <a:avLst/>
          </a:prstGeom>
          <a:solidFill>
            <a:srgbClr val="0A74E3"/>
          </a:solidFill>
          <a:ln w="12700">
            <a:solidFill>
              <a:srgbClr val="0A74E3"/>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98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Scorecard de Madurez AWP — Herramienta de Evaluación</a:t>
            </a:r>
            <a:endParaRPr lang="en-US" sz="1800" dirty="0"/>
          </a:p>
        </p:txBody>
      </p:sp>
      <p:sp>
        <p:nvSpPr>
          <p:cNvPr id="6" name="Shape 4"/>
          <p:cNvSpPr/>
          <p:nvPr/>
        </p:nvSpPr>
        <p:spPr>
          <a:xfrm>
            <a:off x="320040" y="621792"/>
            <a:ext cx="8503920" cy="41148"/>
          </a:xfrm>
          <a:prstGeom prst="rect">
            <a:avLst/>
          </a:prstGeom>
          <a:solidFill>
            <a:srgbClr val="0A74E3"/>
          </a:solidFill>
          <a:ln w="12700">
            <a:solidFill>
              <a:srgbClr val="0A74E3"/>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A74E3"/>
                </a:solidFill>
                <a:latin typeface="Atkinson Hyperlegible" pitchFamily="34" charset="0"/>
                <a:ea typeface="Atkinson Hyperlegible" pitchFamily="34" charset="-122"/>
                <a:cs typeface="Atkinson Hyperlegible" pitchFamily="34" charset="-120"/>
              </a:rPr>
              <a:t>Instrumento de autoevaluación organizacional basado en modelo CII</a:t>
            </a:r>
            <a:endParaRPr lang="en-US" sz="900" dirty="0"/>
          </a:p>
        </p:txBody>
      </p:sp>
      <p:sp>
        <p:nvSpPr>
          <p:cNvPr id="8" name="Shape 6"/>
          <p:cNvSpPr/>
          <p:nvPr/>
        </p:nvSpPr>
        <p:spPr>
          <a:xfrm>
            <a:off x="320040" y="960120"/>
            <a:ext cx="8503920" cy="310896"/>
          </a:xfrm>
          <a:prstGeom prst="rect">
            <a:avLst>
              <a:gd name="adj" fmla="val 11765"/>
            </a:avLst>
          </a:prstGeom>
          <a:solidFill>
            <a:srgbClr val="0A74E3"/>
          </a:solidFill>
          <a:ln w="12700">
            <a:solidFill>
              <a:srgbClr val="0A74E3"/>
            </a:solidFill>
            <a:prstDash val="solid"/>
          </a:ln>
        </p:spPr>
      </p:sp>
      <p:sp>
        <p:nvSpPr>
          <p:cNvPr id="9" name="Text 7"/>
          <p:cNvSpPr/>
          <p:nvPr/>
        </p:nvSpPr>
        <p:spPr>
          <a:xfrm>
            <a:off x="411480" y="969264"/>
            <a:ext cx="3200400" cy="292608"/>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Dimensión / Criterio</a:t>
            </a:r>
            <a:endParaRPr lang="en-US" sz="800" dirty="0"/>
          </a:p>
        </p:txBody>
      </p:sp>
      <p:sp>
        <p:nvSpPr>
          <p:cNvPr id="10" name="Text 8"/>
          <p:cNvSpPr/>
          <p:nvPr/>
        </p:nvSpPr>
        <p:spPr>
          <a:xfrm>
            <a:off x="3749040" y="969264"/>
            <a:ext cx="960120" cy="29260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0 pts</a:t>
            </a:r>
            <a:endParaRPr lang="en-US" sz="800" dirty="0"/>
          </a:p>
        </p:txBody>
      </p:sp>
      <p:sp>
        <p:nvSpPr>
          <p:cNvPr id="11" name="Text 9"/>
          <p:cNvSpPr/>
          <p:nvPr/>
        </p:nvSpPr>
        <p:spPr>
          <a:xfrm>
            <a:off x="4754880" y="969264"/>
            <a:ext cx="960120" cy="29260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1 pts</a:t>
            </a:r>
            <a:endParaRPr lang="en-US" sz="800" dirty="0"/>
          </a:p>
        </p:txBody>
      </p:sp>
      <p:sp>
        <p:nvSpPr>
          <p:cNvPr id="12" name="Text 10"/>
          <p:cNvSpPr/>
          <p:nvPr/>
        </p:nvSpPr>
        <p:spPr>
          <a:xfrm>
            <a:off x="5760720" y="969264"/>
            <a:ext cx="960120" cy="29260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2 pts</a:t>
            </a:r>
            <a:endParaRPr lang="en-US" sz="800" dirty="0"/>
          </a:p>
        </p:txBody>
      </p:sp>
      <p:sp>
        <p:nvSpPr>
          <p:cNvPr id="13" name="Text 11"/>
          <p:cNvSpPr/>
          <p:nvPr/>
        </p:nvSpPr>
        <p:spPr>
          <a:xfrm>
            <a:off x="6766560" y="969264"/>
            <a:ext cx="960120" cy="29260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3 pts</a:t>
            </a:r>
            <a:endParaRPr lang="en-US" sz="800" dirty="0"/>
          </a:p>
        </p:txBody>
      </p:sp>
      <p:sp>
        <p:nvSpPr>
          <p:cNvPr id="14" name="Text 12"/>
          <p:cNvSpPr/>
          <p:nvPr/>
        </p:nvSpPr>
        <p:spPr>
          <a:xfrm>
            <a:off x="7772400" y="969264"/>
            <a:ext cx="960120" cy="29260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4 pts</a:t>
            </a:r>
            <a:endParaRPr lang="en-US" sz="800" dirty="0"/>
          </a:p>
        </p:txBody>
      </p:sp>
      <p:sp>
        <p:nvSpPr>
          <p:cNvPr id="15" name="Text 13"/>
          <p:cNvSpPr/>
          <p:nvPr/>
        </p:nvSpPr>
        <p:spPr>
          <a:xfrm>
            <a:off x="8321040" y="969264"/>
            <a:ext cx="457200" cy="292608"/>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Total</a:t>
            </a:r>
            <a:endParaRPr lang="en-US" sz="800" dirty="0"/>
          </a:p>
        </p:txBody>
      </p:sp>
      <p:sp>
        <p:nvSpPr>
          <p:cNvPr id="16" name="Shape 14"/>
          <p:cNvSpPr/>
          <p:nvPr/>
        </p:nvSpPr>
        <p:spPr>
          <a:xfrm>
            <a:off x="320040" y="1316736"/>
            <a:ext cx="8503920" cy="274320"/>
          </a:xfrm>
          <a:prstGeom prst="rect">
            <a:avLst/>
          </a:prstGeom>
          <a:solidFill>
            <a:srgbClr val="EEF4FF"/>
          </a:solidFill>
          <a:ln w="10160">
            <a:solidFill>
              <a:srgbClr val="0A74E3"/>
            </a:solidFill>
            <a:prstDash val="solid"/>
          </a:ln>
        </p:spPr>
      </p:sp>
      <p:sp>
        <p:nvSpPr>
          <p:cNvPr id="17" name="Text 15"/>
          <p:cNvSpPr/>
          <p:nvPr/>
        </p:nvSpPr>
        <p:spPr>
          <a:xfrm>
            <a:off x="411480" y="1335024"/>
            <a:ext cx="3200400" cy="237744"/>
          </a:xfrm>
          <a:prstGeom prst="rect">
            <a:avLst/>
          </a:prstGeom>
          <a:noFill/>
          <a:ln/>
        </p:spPr>
        <p:txBody>
          <a:bodyPr wrap="square" rtlCol="0" anchor="ctr"/>
          <a:lstStyle/>
          <a:p>
            <a:pPr indent="0" marL="0">
              <a:buNone/>
            </a:pPr>
            <a:r>
              <a:rPr lang="en-US" sz="850" b="1" dirty="0">
                <a:solidFill>
                  <a:srgbClr val="0A74E3"/>
                </a:solidFill>
                <a:latin typeface="Atkinson Hyperlegible" pitchFamily="34" charset="0"/>
                <a:ea typeface="Atkinson Hyperlegible" pitchFamily="34" charset="-122"/>
                <a:cs typeface="Atkinson Hyperlegible" pitchFamily="34" charset="-120"/>
              </a:rPr>
              <a:t>1. Liderazgo</a:t>
            </a:r>
            <a:endParaRPr lang="en-US" sz="850" dirty="0"/>
          </a:p>
        </p:txBody>
      </p:sp>
      <p:sp>
        <p:nvSpPr>
          <p:cNvPr id="18" name="Shape 16"/>
          <p:cNvSpPr/>
          <p:nvPr/>
        </p:nvSpPr>
        <p:spPr>
          <a:xfrm>
            <a:off x="320040" y="1591056"/>
            <a:ext cx="8503920" cy="384048"/>
          </a:xfrm>
          <a:prstGeom prst="rect">
            <a:avLst/>
          </a:prstGeom>
          <a:solidFill>
            <a:srgbClr val="FFFFFF"/>
          </a:solidFill>
          <a:ln w="6350">
            <a:solidFill>
              <a:srgbClr val="E5E5EA"/>
            </a:solidFill>
            <a:prstDash val="solid"/>
          </a:ln>
        </p:spPr>
      </p:sp>
      <p:sp>
        <p:nvSpPr>
          <p:cNvPr id="19" name="Text 17"/>
          <p:cNvSpPr/>
          <p:nvPr/>
        </p:nvSpPr>
        <p:spPr>
          <a:xfrm>
            <a:off x="411480" y="1627632"/>
            <a:ext cx="3200400"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Sponsor ejecutivo activo</a:t>
            </a:r>
            <a:endParaRPr lang="en-US" sz="750" dirty="0"/>
          </a:p>
        </p:txBody>
      </p:sp>
      <p:sp>
        <p:nvSpPr>
          <p:cNvPr id="20" name="Shape 18"/>
          <p:cNvSpPr/>
          <p:nvPr/>
        </p:nvSpPr>
        <p:spPr>
          <a:xfrm>
            <a:off x="3822192" y="1682496"/>
            <a:ext cx="237744" cy="237744"/>
          </a:xfrm>
          <a:prstGeom prst="ellipse">
            <a:avLst/>
          </a:prstGeom>
          <a:solidFill>
            <a:srgbClr val="FFFFFF"/>
          </a:solidFill>
          <a:ln w="10160">
            <a:solidFill>
              <a:srgbClr val="BBBBBB"/>
            </a:solidFill>
            <a:prstDash val="solid"/>
          </a:ln>
        </p:spPr>
      </p:sp>
      <p:sp>
        <p:nvSpPr>
          <p:cNvPr id="21" name="Shape 19"/>
          <p:cNvSpPr/>
          <p:nvPr/>
        </p:nvSpPr>
        <p:spPr>
          <a:xfrm>
            <a:off x="4828032" y="1682496"/>
            <a:ext cx="237744" cy="237744"/>
          </a:xfrm>
          <a:prstGeom prst="ellipse">
            <a:avLst/>
          </a:prstGeom>
          <a:solidFill>
            <a:srgbClr val="FFFFFF"/>
          </a:solidFill>
          <a:ln w="10160">
            <a:solidFill>
              <a:srgbClr val="BBBBBB"/>
            </a:solidFill>
            <a:prstDash val="solid"/>
          </a:ln>
        </p:spPr>
      </p:sp>
      <p:sp>
        <p:nvSpPr>
          <p:cNvPr id="22" name="Shape 20"/>
          <p:cNvSpPr/>
          <p:nvPr/>
        </p:nvSpPr>
        <p:spPr>
          <a:xfrm>
            <a:off x="5833872" y="1682496"/>
            <a:ext cx="237744" cy="237744"/>
          </a:xfrm>
          <a:prstGeom prst="ellipse">
            <a:avLst/>
          </a:prstGeom>
          <a:solidFill>
            <a:srgbClr val="FFFFFF"/>
          </a:solidFill>
          <a:ln w="10160">
            <a:solidFill>
              <a:srgbClr val="BBBBBB"/>
            </a:solidFill>
            <a:prstDash val="solid"/>
          </a:ln>
        </p:spPr>
      </p:sp>
      <p:sp>
        <p:nvSpPr>
          <p:cNvPr id="23" name="Shape 21"/>
          <p:cNvSpPr/>
          <p:nvPr/>
        </p:nvSpPr>
        <p:spPr>
          <a:xfrm>
            <a:off x="6839712" y="1682496"/>
            <a:ext cx="237744" cy="237744"/>
          </a:xfrm>
          <a:prstGeom prst="ellipse">
            <a:avLst/>
          </a:prstGeom>
          <a:solidFill>
            <a:srgbClr val="FFFFFF"/>
          </a:solidFill>
          <a:ln w="10160">
            <a:solidFill>
              <a:srgbClr val="BBBBBB"/>
            </a:solidFill>
            <a:prstDash val="solid"/>
          </a:ln>
        </p:spPr>
      </p:sp>
      <p:sp>
        <p:nvSpPr>
          <p:cNvPr id="24" name="Shape 22"/>
          <p:cNvSpPr/>
          <p:nvPr/>
        </p:nvSpPr>
        <p:spPr>
          <a:xfrm>
            <a:off x="7845552" y="1682496"/>
            <a:ext cx="237744" cy="237744"/>
          </a:xfrm>
          <a:prstGeom prst="ellipse">
            <a:avLst/>
          </a:prstGeom>
          <a:solidFill>
            <a:srgbClr val="FFFFFF"/>
          </a:solidFill>
          <a:ln w="10160">
            <a:solidFill>
              <a:srgbClr val="BBBBBB"/>
            </a:solidFill>
            <a:prstDash val="solid"/>
          </a:ln>
        </p:spPr>
      </p:sp>
      <p:sp>
        <p:nvSpPr>
          <p:cNvPr id="25" name="Shape 23"/>
          <p:cNvSpPr/>
          <p:nvPr/>
        </p:nvSpPr>
        <p:spPr>
          <a:xfrm>
            <a:off x="8321040" y="1682496"/>
            <a:ext cx="420624" cy="237744"/>
          </a:xfrm>
          <a:prstGeom prst="rect">
            <a:avLst>
              <a:gd name="adj" fmla="val 11538"/>
            </a:avLst>
          </a:prstGeom>
          <a:solidFill>
            <a:srgbClr val="E5E5EA"/>
          </a:solidFill>
          <a:ln w="12700">
            <a:solidFill>
              <a:srgbClr val="E5E5EA"/>
            </a:solidFill>
            <a:prstDash val="solid"/>
          </a:ln>
        </p:spPr>
      </p:sp>
      <p:sp>
        <p:nvSpPr>
          <p:cNvPr id="26" name="Shape 24"/>
          <p:cNvSpPr/>
          <p:nvPr/>
        </p:nvSpPr>
        <p:spPr>
          <a:xfrm>
            <a:off x="320040" y="1975104"/>
            <a:ext cx="8503920" cy="384048"/>
          </a:xfrm>
          <a:prstGeom prst="rect">
            <a:avLst/>
          </a:prstGeom>
          <a:solidFill>
            <a:srgbClr val="F9F9F9"/>
          </a:solidFill>
          <a:ln w="6350">
            <a:solidFill>
              <a:srgbClr val="E5E5EA"/>
            </a:solidFill>
            <a:prstDash val="solid"/>
          </a:ln>
        </p:spPr>
      </p:sp>
      <p:sp>
        <p:nvSpPr>
          <p:cNvPr id="27" name="Text 25"/>
          <p:cNvSpPr/>
          <p:nvPr/>
        </p:nvSpPr>
        <p:spPr>
          <a:xfrm>
            <a:off x="411480" y="2011680"/>
            <a:ext cx="3200400"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Política escrita</a:t>
            </a:r>
            <a:endParaRPr lang="en-US" sz="750" dirty="0"/>
          </a:p>
        </p:txBody>
      </p:sp>
      <p:sp>
        <p:nvSpPr>
          <p:cNvPr id="28" name="Shape 26"/>
          <p:cNvSpPr/>
          <p:nvPr/>
        </p:nvSpPr>
        <p:spPr>
          <a:xfrm>
            <a:off x="3822192" y="2066544"/>
            <a:ext cx="237744" cy="237744"/>
          </a:xfrm>
          <a:prstGeom prst="ellipse">
            <a:avLst/>
          </a:prstGeom>
          <a:solidFill>
            <a:srgbClr val="FFFFFF"/>
          </a:solidFill>
          <a:ln w="10160">
            <a:solidFill>
              <a:srgbClr val="BBBBBB"/>
            </a:solidFill>
            <a:prstDash val="solid"/>
          </a:ln>
        </p:spPr>
      </p:sp>
      <p:sp>
        <p:nvSpPr>
          <p:cNvPr id="29" name="Shape 27"/>
          <p:cNvSpPr/>
          <p:nvPr/>
        </p:nvSpPr>
        <p:spPr>
          <a:xfrm>
            <a:off x="4828032" y="2066544"/>
            <a:ext cx="237744" cy="237744"/>
          </a:xfrm>
          <a:prstGeom prst="ellipse">
            <a:avLst/>
          </a:prstGeom>
          <a:solidFill>
            <a:srgbClr val="FFFFFF"/>
          </a:solidFill>
          <a:ln w="10160">
            <a:solidFill>
              <a:srgbClr val="BBBBBB"/>
            </a:solidFill>
            <a:prstDash val="solid"/>
          </a:ln>
        </p:spPr>
      </p:sp>
      <p:sp>
        <p:nvSpPr>
          <p:cNvPr id="30" name="Shape 28"/>
          <p:cNvSpPr/>
          <p:nvPr/>
        </p:nvSpPr>
        <p:spPr>
          <a:xfrm>
            <a:off x="5833872" y="2066544"/>
            <a:ext cx="237744" cy="237744"/>
          </a:xfrm>
          <a:prstGeom prst="ellipse">
            <a:avLst/>
          </a:prstGeom>
          <a:solidFill>
            <a:srgbClr val="FFFFFF"/>
          </a:solidFill>
          <a:ln w="10160">
            <a:solidFill>
              <a:srgbClr val="BBBBBB"/>
            </a:solidFill>
            <a:prstDash val="solid"/>
          </a:ln>
        </p:spPr>
      </p:sp>
      <p:sp>
        <p:nvSpPr>
          <p:cNvPr id="31" name="Shape 29"/>
          <p:cNvSpPr/>
          <p:nvPr/>
        </p:nvSpPr>
        <p:spPr>
          <a:xfrm>
            <a:off x="6839712" y="2066544"/>
            <a:ext cx="237744" cy="237744"/>
          </a:xfrm>
          <a:prstGeom prst="ellipse">
            <a:avLst/>
          </a:prstGeom>
          <a:solidFill>
            <a:srgbClr val="FFFFFF"/>
          </a:solidFill>
          <a:ln w="10160">
            <a:solidFill>
              <a:srgbClr val="BBBBBB"/>
            </a:solidFill>
            <a:prstDash val="solid"/>
          </a:ln>
        </p:spPr>
      </p:sp>
      <p:sp>
        <p:nvSpPr>
          <p:cNvPr id="32" name="Shape 30"/>
          <p:cNvSpPr/>
          <p:nvPr/>
        </p:nvSpPr>
        <p:spPr>
          <a:xfrm>
            <a:off x="7845552" y="2066544"/>
            <a:ext cx="237744" cy="237744"/>
          </a:xfrm>
          <a:prstGeom prst="ellipse">
            <a:avLst/>
          </a:prstGeom>
          <a:solidFill>
            <a:srgbClr val="FFFFFF"/>
          </a:solidFill>
          <a:ln w="10160">
            <a:solidFill>
              <a:srgbClr val="BBBBBB"/>
            </a:solidFill>
            <a:prstDash val="solid"/>
          </a:ln>
        </p:spPr>
      </p:sp>
      <p:sp>
        <p:nvSpPr>
          <p:cNvPr id="33" name="Shape 31"/>
          <p:cNvSpPr/>
          <p:nvPr/>
        </p:nvSpPr>
        <p:spPr>
          <a:xfrm>
            <a:off x="8321040" y="2066544"/>
            <a:ext cx="420624" cy="237744"/>
          </a:xfrm>
          <a:prstGeom prst="rect">
            <a:avLst>
              <a:gd name="adj" fmla="val 11538"/>
            </a:avLst>
          </a:prstGeom>
          <a:solidFill>
            <a:srgbClr val="E5E5EA"/>
          </a:solidFill>
          <a:ln w="12700">
            <a:solidFill>
              <a:srgbClr val="E5E5EA"/>
            </a:solidFill>
            <a:prstDash val="solid"/>
          </a:ln>
        </p:spPr>
      </p:sp>
      <p:sp>
        <p:nvSpPr>
          <p:cNvPr id="34" name="Shape 32"/>
          <p:cNvSpPr/>
          <p:nvPr/>
        </p:nvSpPr>
        <p:spPr>
          <a:xfrm>
            <a:off x="320040" y="2359152"/>
            <a:ext cx="8503920" cy="384048"/>
          </a:xfrm>
          <a:prstGeom prst="rect">
            <a:avLst/>
          </a:prstGeom>
          <a:solidFill>
            <a:srgbClr val="FFFFFF"/>
          </a:solidFill>
          <a:ln w="6350">
            <a:solidFill>
              <a:srgbClr val="E5E5EA"/>
            </a:solidFill>
            <a:prstDash val="solid"/>
          </a:ln>
        </p:spPr>
      </p:sp>
      <p:sp>
        <p:nvSpPr>
          <p:cNvPr id="35" name="Text 33"/>
          <p:cNvSpPr/>
          <p:nvPr/>
        </p:nvSpPr>
        <p:spPr>
          <a:xfrm>
            <a:off x="411480" y="2395728"/>
            <a:ext cx="3200400"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FTEs dedicados</a:t>
            </a:r>
            <a:endParaRPr lang="en-US" sz="750" dirty="0"/>
          </a:p>
        </p:txBody>
      </p:sp>
      <p:sp>
        <p:nvSpPr>
          <p:cNvPr id="36" name="Shape 34"/>
          <p:cNvSpPr/>
          <p:nvPr/>
        </p:nvSpPr>
        <p:spPr>
          <a:xfrm>
            <a:off x="3822192" y="2450592"/>
            <a:ext cx="237744" cy="237744"/>
          </a:xfrm>
          <a:prstGeom prst="ellipse">
            <a:avLst/>
          </a:prstGeom>
          <a:solidFill>
            <a:srgbClr val="FFFFFF"/>
          </a:solidFill>
          <a:ln w="10160">
            <a:solidFill>
              <a:srgbClr val="BBBBBB"/>
            </a:solidFill>
            <a:prstDash val="solid"/>
          </a:ln>
        </p:spPr>
      </p:sp>
      <p:sp>
        <p:nvSpPr>
          <p:cNvPr id="37" name="Shape 35"/>
          <p:cNvSpPr/>
          <p:nvPr/>
        </p:nvSpPr>
        <p:spPr>
          <a:xfrm>
            <a:off x="4828032" y="2450592"/>
            <a:ext cx="237744" cy="237744"/>
          </a:xfrm>
          <a:prstGeom prst="ellipse">
            <a:avLst/>
          </a:prstGeom>
          <a:solidFill>
            <a:srgbClr val="FFFFFF"/>
          </a:solidFill>
          <a:ln w="10160">
            <a:solidFill>
              <a:srgbClr val="BBBBBB"/>
            </a:solidFill>
            <a:prstDash val="solid"/>
          </a:ln>
        </p:spPr>
      </p:sp>
      <p:sp>
        <p:nvSpPr>
          <p:cNvPr id="38" name="Shape 36"/>
          <p:cNvSpPr/>
          <p:nvPr/>
        </p:nvSpPr>
        <p:spPr>
          <a:xfrm>
            <a:off x="5833872" y="2450592"/>
            <a:ext cx="237744" cy="237744"/>
          </a:xfrm>
          <a:prstGeom prst="ellipse">
            <a:avLst/>
          </a:prstGeom>
          <a:solidFill>
            <a:srgbClr val="FFFFFF"/>
          </a:solidFill>
          <a:ln w="10160">
            <a:solidFill>
              <a:srgbClr val="BBBBBB"/>
            </a:solidFill>
            <a:prstDash val="solid"/>
          </a:ln>
        </p:spPr>
      </p:sp>
      <p:sp>
        <p:nvSpPr>
          <p:cNvPr id="39" name="Shape 37"/>
          <p:cNvSpPr/>
          <p:nvPr/>
        </p:nvSpPr>
        <p:spPr>
          <a:xfrm>
            <a:off x="6839712" y="2450592"/>
            <a:ext cx="237744" cy="237744"/>
          </a:xfrm>
          <a:prstGeom prst="ellipse">
            <a:avLst/>
          </a:prstGeom>
          <a:solidFill>
            <a:srgbClr val="FFFFFF"/>
          </a:solidFill>
          <a:ln w="10160">
            <a:solidFill>
              <a:srgbClr val="BBBBBB"/>
            </a:solidFill>
            <a:prstDash val="solid"/>
          </a:ln>
        </p:spPr>
      </p:sp>
      <p:sp>
        <p:nvSpPr>
          <p:cNvPr id="40" name="Shape 38"/>
          <p:cNvSpPr/>
          <p:nvPr/>
        </p:nvSpPr>
        <p:spPr>
          <a:xfrm>
            <a:off x="7845552" y="2450592"/>
            <a:ext cx="237744" cy="237744"/>
          </a:xfrm>
          <a:prstGeom prst="ellipse">
            <a:avLst/>
          </a:prstGeom>
          <a:solidFill>
            <a:srgbClr val="FFFFFF"/>
          </a:solidFill>
          <a:ln w="10160">
            <a:solidFill>
              <a:srgbClr val="BBBBBB"/>
            </a:solidFill>
            <a:prstDash val="solid"/>
          </a:ln>
        </p:spPr>
      </p:sp>
      <p:sp>
        <p:nvSpPr>
          <p:cNvPr id="41" name="Shape 39"/>
          <p:cNvSpPr/>
          <p:nvPr/>
        </p:nvSpPr>
        <p:spPr>
          <a:xfrm>
            <a:off x="8321040" y="2450592"/>
            <a:ext cx="420624" cy="237744"/>
          </a:xfrm>
          <a:prstGeom prst="rect">
            <a:avLst>
              <a:gd name="adj" fmla="val 11538"/>
            </a:avLst>
          </a:prstGeom>
          <a:solidFill>
            <a:srgbClr val="E5E5EA"/>
          </a:solidFill>
          <a:ln w="12700">
            <a:solidFill>
              <a:srgbClr val="E5E5EA"/>
            </a:solidFill>
            <a:prstDash val="solid"/>
          </a:ln>
        </p:spPr>
      </p:sp>
      <p:sp>
        <p:nvSpPr>
          <p:cNvPr id="42" name="Shape 40"/>
          <p:cNvSpPr/>
          <p:nvPr/>
        </p:nvSpPr>
        <p:spPr>
          <a:xfrm>
            <a:off x="320040" y="2743200"/>
            <a:ext cx="8503920" cy="384048"/>
          </a:xfrm>
          <a:prstGeom prst="rect">
            <a:avLst/>
          </a:prstGeom>
          <a:solidFill>
            <a:srgbClr val="F9F9F9"/>
          </a:solidFill>
          <a:ln w="6350">
            <a:solidFill>
              <a:srgbClr val="E5E5EA"/>
            </a:solidFill>
            <a:prstDash val="solid"/>
          </a:ln>
        </p:spPr>
      </p:sp>
      <p:sp>
        <p:nvSpPr>
          <p:cNvPr id="43" name="Text 41"/>
          <p:cNvSpPr/>
          <p:nvPr/>
        </p:nvSpPr>
        <p:spPr>
          <a:xfrm>
            <a:off x="411480" y="2779776"/>
            <a:ext cx="3200400"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Presupuesto específico</a:t>
            </a:r>
            <a:endParaRPr lang="en-US" sz="750" dirty="0"/>
          </a:p>
        </p:txBody>
      </p:sp>
      <p:sp>
        <p:nvSpPr>
          <p:cNvPr id="44" name="Shape 42"/>
          <p:cNvSpPr/>
          <p:nvPr/>
        </p:nvSpPr>
        <p:spPr>
          <a:xfrm>
            <a:off x="3822192" y="2834640"/>
            <a:ext cx="237744" cy="237744"/>
          </a:xfrm>
          <a:prstGeom prst="ellipse">
            <a:avLst/>
          </a:prstGeom>
          <a:solidFill>
            <a:srgbClr val="FFFFFF"/>
          </a:solidFill>
          <a:ln w="10160">
            <a:solidFill>
              <a:srgbClr val="BBBBBB"/>
            </a:solidFill>
            <a:prstDash val="solid"/>
          </a:ln>
        </p:spPr>
      </p:sp>
      <p:sp>
        <p:nvSpPr>
          <p:cNvPr id="45" name="Shape 43"/>
          <p:cNvSpPr/>
          <p:nvPr/>
        </p:nvSpPr>
        <p:spPr>
          <a:xfrm>
            <a:off x="4828032" y="2834640"/>
            <a:ext cx="237744" cy="237744"/>
          </a:xfrm>
          <a:prstGeom prst="ellipse">
            <a:avLst/>
          </a:prstGeom>
          <a:solidFill>
            <a:srgbClr val="FFFFFF"/>
          </a:solidFill>
          <a:ln w="10160">
            <a:solidFill>
              <a:srgbClr val="BBBBBB"/>
            </a:solidFill>
            <a:prstDash val="solid"/>
          </a:ln>
        </p:spPr>
      </p:sp>
      <p:sp>
        <p:nvSpPr>
          <p:cNvPr id="46" name="Shape 44"/>
          <p:cNvSpPr/>
          <p:nvPr/>
        </p:nvSpPr>
        <p:spPr>
          <a:xfrm>
            <a:off x="5833872" y="2834640"/>
            <a:ext cx="237744" cy="237744"/>
          </a:xfrm>
          <a:prstGeom prst="ellipse">
            <a:avLst/>
          </a:prstGeom>
          <a:solidFill>
            <a:srgbClr val="FFFFFF"/>
          </a:solidFill>
          <a:ln w="10160">
            <a:solidFill>
              <a:srgbClr val="BBBBBB"/>
            </a:solidFill>
            <a:prstDash val="solid"/>
          </a:ln>
        </p:spPr>
      </p:sp>
      <p:sp>
        <p:nvSpPr>
          <p:cNvPr id="47" name="Shape 45"/>
          <p:cNvSpPr/>
          <p:nvPr/>
        </p:nvSpPr>
        <p:spPr>
          <a:xfrm>
            <a:off x="6839712" y="2834640"/>
            <a:ext cx="237744" cy="237744"/>
          </a:xfrm>
          <a:prstGeom prst="ellipse">
            <a:avLst/>
          </a:prstGeom>
          <a:solidFill>
            <a:srgbClr val="FFFFFF"/>
          </a:solidFill>
          <a:ln w="10160">
            <a:solidFill>
              <a:srgbClr val="BBBBBB"/>
            </a:solidFill>
            <a:prstDash val="solid"/>
          </a:ln>
        </p:spPr>
      </p:sp>
      <p:sp>
        <p:nvSpPr>
          <p:cNvPr id="48" name="Shape 46"/>
          <p:cNvSpPr/>
          <p:nvPr/>
        </p:nvSpPr>
        <p:spPr>
          <a:xfrm>
            <a:off x="7845552" y="2834640"/>
            <a:ext cx="237744" cy="237744"/>
          </a:xfrm>
          <a:prstGeom prst="ellipse">
            <a:avLst/>
          </a:prstGeom>
          <a:solidFill>
            <a:srgbClr val="FFFFFF"/>
          </a:solidFill>
          <a:ln w="10160">
            <a:solidFill>
              <a:srgbClr val="BBBBBB"/>
            </a:solidFill>
            <a:prstDash val="solid"/>
          </a:ln>
        </p:spPr>
      </p:sp>
      <p:sp>
        <p:nvSpPr>
          <p:cNvPr id="49" name="Shape 47"/>
          <p:cNvSpPr/>
          <p:nvPr/>
        </p:nvSpPr>
        <p:spPr>
          <a:xfrm>
            <a:off x="8321040" y="2834640"/>
            <a:ext cx="420624" cy="237744"/>
          </a:xfrm>
          <a:prstGeom prst="rect">
            <a:avLst>
              <a:gd name="adj" fmla="val 11538"/>
            </a:avLst>
          </a:prstGeom>
          <a:solidFill>
            <a:srgbClr val="E5E5EA"/>
          </a:solidFill>
          <a:ln w="12700">
            <a:solidFill>
              <a:srgbClr val="E5E5EA"/>
            </a:solidFill>
            <a:prstDash val="solid"/>
          </a:ln>
        </p:spPr>
      </p:sp>
      <p:sp>
        <p:nvSpPr>
          <p:cNvPr id="50" name="Shape 48"/>
          <p:cNvSpPr/>
          <p:nvPr/>
        </p:nvSpPr>
        <p:spPr>
          <a:xfrm>
            <a:off x="320040" y="3127248"/>
            <a:ext cx="8503920" cy="274320"/>
          </a:xfrm>
          <a:prstGeom prst="rect">
            <a:avLst/>
          </a:prstGeom>
          <a:solidFill>
            <a:srgbClr val="FFFFFF"/>
          </a:solidFill>
          <a:ln w="10160">
            <a:solidFill>
              <a:srgbClr val="0A74E3"/>
            </a:solidFill>
            <a:prstDash val="solid"/>
          </a:ln>
        </p:spPr>
      </p:sp>
      <p:sp>
        <p:nvSpPr>
          <p:cNvPr id="51" name="Text 49"/>
          <p:cNvSpPr/>
          <p:nvPr/>
        </p:nvSpPr>
        <p:spPr>
          <a:xfrm>
            <a:off x="411480" y="3145536"/>
            <a:ext cx="3200400" cy="237744"/>
          </a:xfrm>
          <a:prstGeom prst="rect">
            <a:avLst/>
          </a:prstGeom>
          <a:noFill/>
          <a:ln/>
        </p:spPr>
        <p:txBody>
          <a:bodyPr wrap="square" rtlCol="0" anchor="ctr"/>
          <a:lstStyle/>
          <a:p>
            <a:pPr indent="0" marL="0">
              <a:buNone/>
            </a:pPr>
            <a:r>
              <a:rPr lang="en-US" sz="850" b="1" dirty="0">
                <a:solidFill>
                  <a:srgbClr val="0A74E3"/>
                </a:solidFill>
                <a:latin typeface="Atkinson Hyperlegible" pitchFamily="34" charset="0"/>
                <a:ea typeface="Atkinson Hyperlegible" pitchFamily="34" charset="-122"/>
                <a:cs typeface="Atkinson Hyperlegible" pitchFamily="34" charset="-120"/>
              </a:rPr>
              <a:t>2. Proceso</a:t>
            </a:r>
            <a:endParaRPr lang="en-US" sz="850" dirty="0"/>
          </a:p>
        </p:txBody>
      </p:sp>
      <p:sp>
        <p:nvSpPr>
          <p:cNvPr id="52" name="Shape 50"/>
          <p:cNvSpPr/>
          <p:nvPr/>
        </p:nvSpPr>
        <p:spPr>
          <a:xfrm>
            <a:off x="320040" y="3401568"/>
            <a:ext cx="8503920" cy="384048"/>
          </a:xfrm>
          <a:prstGeom prst="rect">
            <a:avLst/>
          </a:prstGeom>
          <a:solidFill>
            <a:srgbClr val="F9F9F9"/>
          </a:solidFill>
          <a:ln w="6350">
            <a:solidFill>
              <a:srgbClr val="E5E5EA"/>
            </a:solidFill>
            <a:prstDash val="solid"/>
          </a:ln>
        </p:spPr>
      </p:sp>
      <p:sp>
        <p:nvSpPr>
          <p:cNvPr id="53" name="Text 51"/>
          <p:cNvSpPr/>
          <p:nvPr/>
        </p:nvSpPr>
        <p:spPr>
          <a:xfrm>
            <a:off x="411480" y="3438144"/>
            <a:ext cx="3200400"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AWP implementado</a:t>
            </a:r>
            <a:endParaRPr lang="en-US" sz="750" dirty="0"/>
          </a:p>
        </p:txBody>
      </p:sp>
      <p:sp>
        <p:nvSpPr>
          <p:cNvPr id="54" name="Shape 52"/>
          <p:cNvSpPr/>
          <p:nvPr/>
        </p:nvSpPr>
        <p:spPr>
          <a:xfrm>
            <a:off x="3822192" y="3493008"/>
            <a:ext cx="237744" cy="237744"/>
          </a:xfrm>
          <a:prstGeom prst="ellipse">
            <a:avLst/>
          </a:prstGeom>
          <a:solidFill>
            <a:srgbClr val="FFFFFF"/>
          </a:solidFill>
          <a:ln w="10160">
            <a:solidFill>
              <a:srgbClr val="BBBBBB"/>
            </a:solidFill>
            <a:prstDash val="solid"/>
          </a:ln>
        </p:spPr>
      </p:sp>
      <p:sp>
        <p:nvSpPr>
          <p:cNvPr id="55" name="Shape 53"/>
          <p:cNvSpPr/>
          <p:nvPr/>
        </p:nvSpPr>
        <p:spPr>
          <a:xfrm>
            <a:off x="4828032" y="3493008"/>
            <a:ext cx="237744" cy="237744"/>
          </a:xfrm>
          <a:prstGeom prst="ellipse">
            <a:avLst/>
          </a:prstGeom>
          <a:solidFill>
            <a:srgbClr val="FFFFFF"/>
          </a:solidFill>
          <a:ln w="10160">
            <a:solidFill>
              <a:srgbClr val="BBBBBB"/>
            </a:solidFill>
            <a:prstDash val="solid"/>
          </a:ln>
        </p:spPr>
      </p:sp>
      <p:sp>
        <p:nvSpPr>
          <p:cNvPr id="56" name="Shape 54"/>
          <p:cNvSpPr/>
          <p:nvPr/>
        </p:nvSpPr>
        <p:spPr>
          <a:xfrm>
            <a:off x="5833872" y="3493008"/>
            <a:ext cx="237744" cy="237744"/>
          </a:xfrm>
          <a:prstGeom prst="ellipse">
            <a:avLst/>
          </a:prstGeom>
          <a:solidFill>
            <a:srgbClr val="FFFFFF"/>
          </a:solidFill>
          <a:ln w="10160">
            <a:solidFill>
              <a:srgbClr val="BBBBBB"/>
            </a:solidFill>
            <a:prstDash val="solid"/>
          </a:ln>
        </p:spPr>
      </p:sp>
      <p:sp>
        <p:nvSpPr>
          <p:cNvPr id="57" name="Shape 55"/>
          <p:cNvSpPr/>
          <p:nvPr/>
        </p:nvSpPr>
        <p:spPr>
          <a:xfrm>
            <a:off x="6839712" y="3493008"/>
            <a:ext cx="237744" cy="237744"/>
          </a:xfrm>
          <a:prstGeom prst="ellipse">
            <a:avLst/>
          </a:prstGeom>
          <a:solidFill>
            <a:srgbClr val="FFFFFF"/>
          </a:solidFill>
          <a:ln w="10160">
            <a:solidFill>
              <a:srgbClr val="BBBBBB"/>
            </a:solidFill>
            <a:prstDash val="solid"/>
          </a:ln>
        </p:spPr>
      </p:sp>
      <p:sp>
        <p:nvSpPr>
          <p:cNvPr id="58" name="Shape 56"/>
          <p:cNvSpPr/>
          <p:nvPr/>
        </p:nvSpPr>
        <p:spPr>
          <a:xfrm>
            <a:off x="7845552" y="3493008"/>
            <a:ext cx="237744" cy="237744"/>
          </a:xfrm>
          <a:prstGeom prst="ellipse">
            <a:avLst/>
          </a:prstGeom>
          <a:solidFill>
            <a:srgbClr val="FFFFFF"/>
          </a:solidFill>
          <a:ln w="10160">
            <a:solidFill>
              <a:srgbClr val="BBBBBB"/>
            </a:solidFill>
            <a:prstDash val="solid"/>
          </a:ln>
        </p:spPr>
      </p:sp>
      <p:sp>
        <p:nvSpPr>
          <p:cNvPr id="59" name="Shape 57"/>
          <p:cNvSpPr/>
          <p:nvPr/>
        </p:nvSpPr>
        <p:spPr>
          <a:xfrm>
            <a:off x="8321040" y="3493008"/>
            <a:ext cx="420624" cy="237744"/>
          </a:xfrm>
          <a:prstGeom prst="rect">
            <a:avLst>
              <a:gd name="adj" fmla="val 11538"/>
            </a:avLst>
          </a:prstGeom>
          <a:solidFill>
            <a:srgbClr val="E5E5EA"/>
          </a:solidFill>
          <a:ln w="12700">
            <a:solidFill>
              <a:srgbClr val="E5E5EA"/>
            </a:solidFill>
            <a:prstDash val="solid"/>
          </a:ln>
        </p:spPr>
      </p:sp>
      <p:sp>
        <p:nvSpPr>
          <p:cNvPr id="60" name="Shape 58"/>
          <p:cNvSpPr/>
          <p:nvPr/>
        </p:nvSpPr>
        <p:spPr>
          <a:xfrm>
            <a:off x="320040" y="3785616"/>
            <a:ext cx="8503920" cy="384048"/>
          </a:xfrm>
          <a:prstGeom prst="rect">
            <a:avLst/>
          </a:prstGeom>
          <a:solidFill>
            <a:srgbClr val="FFFFFF"/>
          </a:solidFill>
          <a:ln w="6350">
            <a:solidFill>
              <a:srgbClr val="E5E5EA"/>
            </a:solidFill>
            <a:prstDash val="solid"/>
          </a:ln>
        </p:spPr>
      </p:sp>
      <p:sp>
        <p:nvSpPr>
          <p:cNvPr id="61" name="Text 59"/>
          <p:cNvSpPr/>
          <p:nvPr/>
        </p:nvSpPr>
        <p:spPr>
          <a:xfrm>
            <a:off x="411480" y="3822192"/>
            <a:ext cx="3200400"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CWPs en todos los proyectos</a:t>
            </a:r>
            <a:endParaRPr lang="en-US" sz="750" dirty="0"/>
          </a:p>
        </p:txBody>
      </p:sp>
      <p:sp>
        <p:nvSpPr>
          <p:cNvPr id="62" name="Shape 60"/>
          <p:cNvSpPr/>
          <p:nvPr/>
        </p:nvSpPr>
        <p:spPr>
          <a:xfrm>
            <a:off x="3822192" y="3877056"/>
            <a:ext cx="237744" cy="237744"/>
          </a:xfrm>
          <a:prstGeom prst="ellipse">
            <a:avLst/>
          </a:prstGeom>
          <a:solidFill>
            <a:srgbClr val="FFFFFF"/>
          </a:solidFill>
          <a:ln w="10160">
            <a:solidFill>
              <a:srgbClr val="BBBBBB"/>
            </a:solidFill>
            <a:prstDash val="solid"/>
          </a:ln>
        </p:spPr>
      </p:sp>
      <p:sp>
        <p:nvSpPr>
          <p:cNvPr id="63" name="Shape 61"/>
          <p:cNvSpPr/>
          <p:nvPr/>
        </p:nvSpPr>
        <p:spPr>
          <a:xfrm>
            <a:off x="4828032" y="3877056"/>
            <a:ext cx="237744" cy="237744"/>
          </a:xfrm>
          <a:prstGeom prst="ellipse">
            <a:avLst/>
          </a:prstGeom>
          <a:solidFill>
            <a:srgbClr val="FFFFFF"/>
          </a:solidFill>
          <a:ln w="10160">
            <a:solidFill>
              <a:srgbClr val="BBBBBB"/>
            </a:solidFill>
            <a:prstDash val="solid"/>
          </a:ln>
        </p:spPr>
      </p:sp>
      <p:sp>
        <p:nvSpPr>
          <p:cNvPr id="64" name="Shape 62"/>
          <p:cNvSpPr/>
          <p:nvPr/>
        </p:nvSpPr>
        <p:spPr>
          <a:xfrm>
            <a:off x="5833872" y="3877056"/>
            <a:ext cx="237744" cy="237744"/>
          </a:xfrm>
          <a:prstGeom prst="ellipse">
            <a:avLst/>
          </a:prstGeom>
          <a:solidFill>
            <a:srgbClr val="FFFFFF"/>
          </a:solidFill>
          <a:ln w="10160">
            <a:solidFill>
              <a:srgbClr val="BBBBBB"/>
            </a:solidFill>
            <a:prstDash val="solid"/>
          </a:ln>
        </p:spPr>
      </p:sp>
      <p:sp>
        <p:nvSpPr>
          <p:cNvPr id="65" name="Shape 63"/>
          <p:cNvSpPr/>
          <p:nvPr/>
        </p:nvSpPr>
        <p:spPr>
          <a:xfrm>
            <a:off x="6839712" y="3877056"/>
            <a:ext cx="237744" cy="237744"/>
          </a:xfrm>
          <a:prstGeom prst="ellipse">
            <a:avLst/>
          </a:prstGeom>
          <a:solidFill>
            <a:srgbClr val="FFFFFF"/>
          </a:solidFill>
          <a:ln w="10160">
            <a:solidFill>
              <a:srgbClr val="BBBBBB"/>
            </a:solidFill>
            <a:prstDash val="solid"/>
          </a:ln>
        </p:spPr>
      </p:sp>
      <p:sp>
        <p:nvSpPr>
          <p:cNvPr id="66" name="Shape 64"/>
          <p:cNvSpPr/>
          <p:nvPr/>
        </p:nvSpPr>
        <p:spPr>
          <a:xfrm>
            <a:off x="7845552" y="3877056"/>
            <a:ext cx="237744" cy="237744"/>
          </a:xfrm>
          <a:prstGeom prst="ellipse">
            <a:avLst/>
          </a:prstGeom>
          <a:solidFill>
            <a:srgbClr val="FFFFFF"/>
          </a:solidFill>
          <a:ln w="10160">
            <a:solidFill>
              <a:srgbClr val="BBBBBB"/>
            </a:solidFill>
            <a:prstDash val="solid"/>
          </a:ln>
        </p:spPr>
      </p:sp>
      <p:sp>
        <p:nvSpPr>
          <p:cNvPr id="67" name="Shape 65"/>
          <p:cNvSpPr/>
          <p:nvPr/>
        </p:nvSpPr>
        <p:spPr>
          <a:xfrm>
            <a:off x="8321040" y="3877056"/>
            <a:ext cx="420624" cy="237744"/>
          </a:xfrm>
          <a:prstGeom prst="rect">
            <a:avLst>
              <a:gd name="adj" fmla="val 11538"/>
            </a:avLst>
          </a:prstGeom>
          <a:solidFill>
            <a:srgbClr val="E5E5EA"/>
          </a:solidFill>
          <a:ln w="12700">
            <a:solidFill>
              <a:srgbClr val="E5E5EA"/>
            </a:solidFill>
            <a:prstDash val="solid"/>
          </a:ln>
        </p:spPr>
      </p:sp>
      <p:sp>
        <p:nvSpPr>
          <p:cNvPr id="68" name="Shape 66"/>
          <p:cNvSpPr/>
          <p:nvPr/>
        </p:nvSpPr>
        <p:spPr>
          <a:xfrm>
            <a:off x="320040" y="4169664"/>
            <a:ext cx="8503920" cy="384048"/>
          </a:xfrm>
          <a:prstGeom prst="rect">
            <a:avLst/>
          </a:prstGeom>
          <a:solidFill>
            <a:srgbClr val="F9F9F9"/>
          </a:solidFill>
          <a:ln w="6350">
            <a:solidFill>
              <a:srgbClr val="E5E5EA"/>
            </a:solidFill>
            <a:prstDash val="solid"/>
          </a:ln>
        </p:spPr>
      </p:sp>
      <p:sp>
        <p:nvSpPr>
          <p:cNvPr id="69" name="Text 67"/>
          <p:cNvSpPr/>
          <p:nvPr/>
        </p:nvSpPr>
        <p:spPr>
          <a:xfrm>
            <a:off x="411480" y="4206240"/>
            <a:ext cx="3200400"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EDS coordinado</a:t>
            </a:r>
            <a:endParaRPr lang="en-US" sz="750" dirty="0"/>
          </a:p>
        </p:txBody>
      </p:sp>
      <p:sp>
        <p:nvSpPr>
          <p:cNvPr id="70" name="Shape 68"/>
          <p:cNvSpPr/>
          <p:nvPr/>
        </p:nvSpPr>
        <p:spPr>
          <a:xfrm>
            <a:off x="3822192" y="4261104"/>
            <a:ext cx="237744" cy="237744"/>
          </a:xfrm>
          <a:prstGeom prst="ellipse">
            <a:avLst/>
          </a:prstGeom>
          <a:solidFill>
            <a:srgbClr val="FFFFFF"/>
          </a:solidFill>
          <a:ln w="10160">
            <a:solidFill>
              <a:srgbClr val="BBBBBB"/>
            </a:solidFill>
            <a:prstDash val="solid"/>
          </a:ln>
        </p:spPr>
      </p:sp>
      <p:sp>
        <p:nvSpPr>
          <p:cNvPr id="71" name="Shape 69"/>
          <p:cNvSpPr/>
          <p:nvPr/>
        </p:nvSpPr>
        <p:spPr>
          <a:xfrm>
            <a:off x="4828032" y="4261104"/>
            <a:ext cx="237744" cy="237744"/>
          </a:xfrm>
          <a:prstGeom prst="ellipse">
            <a:avLst/>
          </a:prstGeom>
          <a:solidFill>
            <a:srgbClr val="FFFFFF"/>
          </a:solidFill>
          <a:ln w="10160">
            <a:solidFill>
              <a:srgbClr val="BBBBBB"/>
            </a:solidFill>
            <a:prstDash val="solid"/>
          </a:ln>
        </p:spPr>
      </p:sp>
      <p:sp>
        <p:nvSpPr>
          <p:cNvPr id="72" name="Shape 70"/>
          <p:cNvSpPr/>
          <p:nvPr/>
        </p:nvSpPr>
        <p:spPr>
          <a:xfrm>
            <a:off x="5833872" y="4261104"/>
            <a:ext cx="237744" cy="237744"/>
          </a:xfrm>
          <a:prstGeom prst="ellipse">
            <a:avLst/>
          </a:prstGeom>
          <a:solidFill>
            <a:srgbClr val="FFFFFF"/>
          </a:solidFill>
          <a:ln w="10160">
            <a:solidFill>
              <a:srgbClr val="BBBBBB"/>
            </a:solidFill>
            <a:prstDash val="solid"/>
          </a:ln>
        </p:spPr>
      </p:sp>
      <p:sp>
        <p:nvSpPr>
          <p:cNvPr id="73" name="Shape 71"/>
          <p:cNvSpPr/>
          <p:nvPr/>
        </p:nvSpPr>
        <p:spPr>
          <a:xfrm>
            <a:off x="6839712" y="4261104"/>
            <a:ext cx="237744" cy="237744"/>
          </a:xfrm>
          <a:prstGeom prst="ellipse">
            <a:avLst/>
          </a:prstGeom>
          <a:solidFill>
            <a:srgbClr val="FFFFFF"/>
          </a:solidFill>
          <a:ln w="10160">
            <a:solidFill>
              <a:srgbClr val="BBBBBB"/>
            </a:solidFill>
            <a:prstDash val="solid"/>
          </a:ln>
        </p:spPr>
      </p:sp>
      <p:sp>
        <p:nvSpPr>
          <p:cNvPr id="74" name="Shape 72"/>
          <p:cNvSpPr/>
          <p:nvPr/>
        </p:nvSpPr>
        <p:spPr>
          <a:xfrm>
            <a:off x="7845552" y="4261104"/>
            <a:ext cx="237744" cy="237744"/>
          </a:xfrm>
          <a:prstGeom prst="ellipse">
            <a:avLst/>
          </a:prstGeom>
          <a:solidFill>
            <a:srgbClr val="FFFFFF"/>
          </a:solidFill>
          <a:ln w="10160">
            <a:solidFill>
              <a:srgbClr val="BBBBBB"/>
            </a:solidFill>
            <a:prstDash val="solid"/>
          </a:ln>
        </p:spPr>
      </p:sp>
      <p:sp>
        <p:nvSpPr>
          <p:cNvPr id="75" name="Shape 73"/>
          <p:cNvSpPr/>
          <p:nvPr/>
        </p:nvSpPr>
        <p:spPr>
          <a:xfrm>
            <a:off x="8321040" y="4261104"/>
            <a:ext cx="420624" cy="237744"/>
          </a:xfrm>
          <a:prstGeom prst="rect">
            <a:avLst>
              <a:gd name="adj" fmla="val 11538"/>
            </a:avLst>
          </a:prstGeom>
          <a:solidFill>
            <a:srgbClr val="E5E5EA"/>
          </a:solidFill>
          <a:ln w="12700">
            <a:solidFill>
              <a:srgbClr val="E5E5EA"/>
            </a:solidFill>
            <a:prstDash val="solid"/>
          </a:ln>
        </p:spPr>
      </p:sp>
      <p:sp>
        <p:nvSpPr>
          <p:cNvPr id="76" name="Shape 74"/>
          <p:cNvSpPr/>
          <p:nvPr/>
        </p:nvSpPr>
        <p:spPr>
          <a:xfrm>
            <a:off x="320040" y="4553712"/>
            <a:ext cx="8503920" cy="384048"/>
          </a:xfrm>
          <a:prstGeom prst="rect">
            <a:avLst/>
          </a:prstGeom>
          <a:solidFill>
            <a:srgbClr val="FFFFFF"/>
          </a:solidFill>
          <a:ln w="6350">
            <a:solidFill>
              <a:srgbClr val="E5E5EA"/>
            </a:solidFill>
            <a:prstDash val="solid"/>
          </a:ln>
        </p:spPr>
      </p:sp>
      <p:sp>
        <p:nvSpPr>
          <p:cNvPr id="77" name="Text 75"/>
          <p:cNvSpPr/>
          <p:nvPr/>
        </p:nvSpPr>
        <p:spPr>
          <a:xfrm>
            <a:off x="411480" y="4590288"/>
            <a:ext cx="3200400"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POC formal</a:t>
            </a:r>
            <a:endParaRPr lang="en-US" sz="750" dirty="0"/>
          </a:p>
        </p:txBody>
      </p:sp>
      <p:sp>
        <p:nvSpPr>
          <p:cNvPr id="78" name="Shape 76"/>
          <p:cNvSpPr/>
          <p:nvPr/>
        </p:nvSpPr>
        <p:spPr>
          <a:xfrm>
            <a:off x="3822192" y="4645152"/>
            <a:ext cx="237744" cy="237744"/>
          </a:xfrm>
          <a:prstGeom prst="ellipse">
            <a:avLst/>
          </a:prstGeom>
          <a:solidFill>
            <a:srgbClr val="FFFFFF"/>
          </a:solidFill>
          <a:ln w="10160">
            <a:solidFill>
              <a:srgbClr val="BBBBBB"/>
            </a:solidFill>
            <a:prstDash val="solid"/>
          </a:ln>
        </p:spPr>
      </p:sp>
      <p:sp>
        <p:nvSpPr>
          <p:cNvPr id="79" name="Shape 77"/>
          <p:cNvSpPr/>
          <p:nvPr/>
        </p:nvSpPr>
        <p:spPr>
          <a:xfrm>
            <a:off x="4828032" y="4645152"/>
            <a:ext cx="237744" cy="237744"/>
          </a:xfrm>
          <a:prstGeom prst="ellipse">
            <a:avLst/>
          </a:prstGeom>
          <a:solidFill>
            <a:srgbClr val="FFFFFF"/>
          </a:solidFill>
          <a:ln w="10160">
            <a:solidFill>
              <a:srgbClr val="BBBBBB"/>
            </a:solidFill>
            <a:prstDash val="solid"/>
          </a:ln>
        </p:spPr>
      </p:sp>
      <p:sp>
        <p:nvSpPr>
          <p:cNvPr id="80" name="Shape 78"/>
          <p:cNvSpPr/>
          <p:nvPr/>
        </p:nvSpPr>
        <p:spPr>
          <a:xfrm>
            <a:off x="5833872" y="4645152"/>
            <a:ext cx="237744" cy="237744"/>
          </a:xfrm>
          <a:prstGeom prst="ellipse">
            <a:avLst/>
          </a:prstGeom>
          <a:solidFill>
            <a:srgbClr val="FFFFFF"/>
          </a:solidFill>
          <a:ln w="10160">
            <a:solidFill>
              <a:srgbClr val="BBBBBB"/>
            </a:solidFill>
            <a:prstDash val="solid"/>
          </a:ln>
        </p:spPr>
      </p:sp>
      <p:sp>
        <p:nvSpPr>
          <p:cNvPr id="81" name="Shape 79"/>
          <p:cNvSpPr/>
          <p:nvPr/>
        </p:nvSpPr>
        <p:spPr>
          <a:xfrm>
            <a:off x="6839712" y="4645152"/>
            <a:ext cx="237744" cy="237744"/>
          </a:xfrm>
          <a:prstGeom prst="ellipse">
            <a:avLst/>
          </a:prstGeom>
          <a:solidFill>
            <a:srgbClr val="FFFFFF"/>
          </a:solidFill>
          <a:ln w="10160">
            <a:solidFill>
              <a:srgbClr val="BBBBBB"/>
            </a:solidFill>
            <a:prstDash val="solid"/>
          </a:ln>
        </p:spPr>
      </p:sp>
      <p:sp>
        <p:nvSpPr>
          <p:cNvPr id="82" name="Shape 80"/>
          <p:cNvSpPr/>
          <p:nvPr/>
        </p:nvSpPr>
        <p:spPr>
          <a:xfrm>
            <a:off x="7845552" y="4645152"/>
            <a:ext cx="237744" cy="237744"/>
          </a:xfrm>
          <a:prstGeom prst="ellipse">
            <a:avLst/>
          </a:prstGeom>
          <a:solidFill>
            <a:srgbClr val="FFFFFF"/>
          </a:solidFill>
          <a:ln w="10160">
            <a:solidFill>
              <a:srgbClr val="BBBBBB"/>
            </a:solidFill>
            <a:prstDash val="solid"/>
          </a:ln>
        </p:spPr>
      </p:sp>
      <p:sp>
        <p:nvSpPr>
          <p:cNvPr id="83" name="Shape 81"/>
          <p:cNvSpPr/>
          <p:nvPr/>
        </p:nvSpPr>
        <p:spPr>
          <a:xfrm>
            <a:off x="8321040" y="4645152"/>
            <a:ext cx="420624" cy="237744"/>
          </a:xfrm>
          <a:prstGeom prst="rect">
            <a:avLst>
              <a:gd name="adj" fmla="val 11538"/>
            </a:avLst>
          </a:prstGeom>
          <a:solidFill>
            <a:srgbClr val="E5E5EA"/>
          </a:solidFill>
          <a:ln w="12700">
            <a:solidFill>
              <a:srgbClr val="E5E5EA"/>
            </a:solidFill>
            <a:prstDash val="solid"/>
          </a:ln>
        </p:spPr>
      </p:sp>
      <p:sp>
        <p:nvSpPr>
          <p:cNvPr id="84" name="Shape 82"/>
          <p:cNvSpPr/>
          <p:nvPr/>
        </p:nvSpPr>
        <p:spPr>
          <a:xfrm>
            <a:off x="320040" y="4937760"/>
            <a:ext cx="8503920" cy="274320"/>
          </a:xfrm>
          <a:prstGeom prst="rect">
            <a:avLst/>
          </a:prstGeom>
          <a:solidFill>
            <a:srgbClr val="EEF4FF"/>
          </a:solidFill>
          <a:ln w="10160">
            <a:solidFill>
              <a:srgbClr val="0A74E3"/>
            </a:solidFill>
            <a:prstDash val="solid"/>
          </a:ln>
        </p:spPr>
      </p:sp>
      <p:sp>
        <p:nvSpPr>
          <p:cNvPr id="85" name="Text 83"/>
          <p:cNvSpPr/>
          <p:nvPr/>
        </p:nvSpPr>
        <p:spPr>
          <a:xfrm>
            <a:off x="411480" y="4956048"/>
            <a:ext cx="3200400" cy="237744"/>
          </a:xfrm>
          <a:prstGeom prst="rect">
            <a:avLst/>
          </a:prstGeom>
          <a:noFill/>
          <a:ln/>
        </p:spPr>
        <p:txBody>
          <a:bodyPr wrap="square" rtlCol="0" anchor="ctr"/>
          <a:lstStyle/>
          <a:p>
            <a:pPr indent="0" marL="0">
              <a:buNone/>
            </a:pPr>
            <a:r>
              <a:rPr lang="en-US" sz="850" b="1" dirty="0">
                <a:solidFill>
                  <a:srgbClr val="0A74E3"/>
                </a:solidFill>
                <a:latin typeface="Atkinson Hyperlegible" pitchFamily="34" charset="0"/>
                <a:ea typeface="Atkinson Hyperlegible" pitchFamily="34" charset="-122"/>
                <a:cs typeface="Atkinson Hyperlegible" pitchFamily="34" charset="-120"/>
              </a:rPr>
              <a:t>3. Personas</a:t>
            </a:r>
            <a:endParaRPr lang="en-US" sz="850" dirty="0"/>
          </a:p>
        </p:txBody>
      </p:sp>
      <p:sp>
        <p:nvSpPr>
          <p:cNvPr id="86" name="Shape 84"/>
          <p:cNvSpPr/>
          <p:nvPr/>
        </p:nvSpPr>
        <p:spPr>
          <a:xfrm>
            <a:off x="320040" y="5212080"/>
            <a:ext cx="8503920" cy="384048"/>
          </a:xfrm>
          <a:prstGeom prst="rect">
            <a:avLst/>
          </a:prstGeom>
          <a:solidFill>
            <a:srgbClr val="FFFFFF"/>
          </a:solidFill>
          <a:ln w="6350">
            <a:solidFill>
              <a:srgbClr val="E5E5EA"/>
            </a:solidFill>
            <a:prstDash val="solid"/>
          </a:ln>
        </p:spPr>
      </p:sp>
      <p:sp>
        <p:nvSpPr>
          <p:cNvPr id="87" name="Text 85"/>
          <p:cNvSpPr/>
          <p:nvPr/>
        </p:nvSpPr>
        <p:spPr>
          <a:xfrm>
            <a:off x="411480" y="5248656"/>
            <a:ext cx="3200400"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Certificados AWP</a:t>
            </a:r>
            <a:endParaRPr lang="en-US" sz="750" dirty="0"/>
          </a:p>
        </p:txBody>
      </p:sp>
      <p:sp>
        <p:nvSpPr>
          <p:cNvPr id="88" name="Shape 86"/>
          <p:cNvSpPr/>
          <p:nvPr/>
        </p:nvSpPr>
        <p:spPr>
          <a:xfrm>
            <a:off x="3822192" y="5303520"/>
            <a:ext cx="237744" cy="237744"/>
          </a:xfrm>
          <a:prstGeom prst="ellipse">
            <a:avLst/>
          </a:prstGeom>
          <a:solidFill>
            <a:srgbClr val="FFFFFF"/>
          </a:solidFill>
          <a:ln w="10160">
            <a:solidFill>
              <a:srgbClr val="BBBBBB"/>
            </a:solidFill>
            <a:prstDash val="solid"/>
          </a:ln>
        </p:spPr>
      </p:sp>
      <p:sp>
        <p:nvSpPr>
          <p:cNvPr id="89" name="Shape 87"/>
          <p:cNvSpPr/>
          <p:nvPr/>
        </p:nvSpPr>
        <p:spPr>
          <a:xfrm>
            <a:off x="4828032" y="5303520"/>
            <a:ext cx="237744" cy="237744"/>
          </a:xfrm>
          <a:prstGeom prst="ellipse">
            <a:avLst/>
          </a:prstGeom>
          <a:solidFill>
            <a:srgbClr val="FFFFFF"/>
          </a:solidFill>
          <a:ln w="10160">
            <a:solidFill>
              <a:srgbClr val="BBBBBB"/>
            </a:solidFill>
            <a:prstDash val="solid"/>
          </a:ln>
        </p:spPr>
      </p:sp>
      <p:sp>
        <p:nvSpPr>
          <p:cNvPr id="90" name="Shape 88"/>
          <p:cNvSpPr/>
          <p:nvPr/>
        </p:nvSpPr>
        <p:spPr>
          <a:xfrm>
            <a:off x="5833872" y="5303520"/>
            <a:ext cx="237744" cy="237744"/>
          </a:xfrm>
          <a:prstGeom prst="ellipse">
            <a:avLst/>
          </a:prstGeom>
          <a:solidFill>
            <a:srgbClr val="FFFFFF"/>
          </a:solidFill>
          <a:ln w="10160">
            <a:solidFill>
              <a:srgbClr val="BBBBBB"/>
            </a:solidFill>
            <a:prstDash val="solid"/>
          </a:ln>
        </p:spPr>
      </p:sp>
      <p:sp>
        <p:nvSpPr>
          <p:cNvPr id="91" name="Shape 89"/>
          <p:cNvSpPr/>
          <p:nvPr/>
        </p:nvSpPr>
        <p:spPr>
          <a:xfrm>
            <a:off x="6839712" y="5303520"/>
            <a:ext cx="237744" cy="237744"/>
          </a:xfrm>
          <a:prstGeom prst="ellipse">
            <a:avLst/>
          </a:prstGeom>
          <a:solidFill>
            <a:srgbClr val="FFFFFF"/>
          </a:solidFill>
          <a:ln w="10160">
            <a:solidFill>
              <a:srgbClr val="BBBBBB"/>
            </a:solidFill>
            <a:prstDash val="solid"/>
          </a:ln>
        </p:spPr>
      </p:sp>
      <p:sp>
        <p:nvSpPr>
          <p:cNvPr id="92" name="Shape 90"/>
          <p:cNvSpPr/>
          <p:nvPr/>
        </p:nvSpPr>
        <p:spPr>
          <a:xfrm>
            <a:off x="7845552" y="5303520"/>
            <a:ext cx="237744" cy="237744"/>
          </a:xfrm>
          <a:prstGeom prst="ellipse">
            <a:avLst/>
          </a:prstGeom>
          <a:solidFill>
            <a:srgbClr val="FFFFFF"/>
          </a:solidFill>
          <a:ln w="10160">
            <a:solidFill>
              <a:srgbClr val="BBBBBB"/>
            </a:solidFill>
            <a:prstDash val="solid"/>
          </a:ln>
        </p:spPr>
      </p:sp>
      <p:sp>
        <p:nvSpPr>
          <p:cNvPr id="93" name="Shape 91"/>
          <p:cNvSpPr/>
          <p:nvPr/>
        </p:nvSpPr>
        <p:spPr>
          <a:xfrm>
            <a:off x="8321040" y="5303520"/>
            <a:ext cx="420624" cy="237744"/>
          </a:xfrm>
          <a:prstGeom prst="rect">
            <a:avLst>
              <a:gd name="adj" fmla="val 11538"/>
            </a:avLst>
          </a:prstGeom>
          <a:solidFill>
            <a:srgbClr val="E5E5EA"/>
          </a:solidFill>
          <a:ln w="12700">
            <a:solidFill>
              <a:srgbClr val="E5E5EA"/>
            </a:solidFill>
            <a:prstDash val="solid"/>
          </a:ln>
        </p:spPr>
      </p:sp>
      <p:sp>
        <p:nvSpPr>
          <p:cNvPr id="94" name="Shape 92"/>
          <p:cNvSpPr/>
          <p:nvPr/>
        </p:nvSpPr>
        <p:spPr>
          <a:xfrm>
            <a:off x="320040" y="5596128"/>
            <a:ext cx="8503920" cy="384048"/>
          </a:xfrm>
          <a:prstGeom prst="rect">
            <a:avLst/>
          </a:prstGeom>
          <a:solidFill>
            <a:srgbClr val="F9F9F9"/>
          </a:solidFill>
          <a:ln w="6350">
            <a:solidFill>
              <a:srgbClr val="E5E5EA"/>
            </a:solidFill>
            <a:prstDash val="solid"/>
          </a:ln>
        </p:spPr>
      </p:sp>
      <p:sp>
        <p:nvSpPr>
          <p:cNvPr id="95" name="Text 93"/>
          <p:cNvSpPr/>
          <p:nvPr/>
        </p:nvSpPr>
        <p:spPr>
          <a:xfrm>
            <a:off x="411480" y="5632704"/>
            <a:ext cx="3200400"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Plan de capacitación</a:t>
            </a:r>
            <a:endParaRPr lang="en-US" sz="750" dirty="0"/>
          </a:p>
        </p:txBody>
      </p:sp>
      <p:sp>
        <p:nvSpPr>
          <p:cNvPr id="96" name="Shape 94"/>
          <p:cNvSpPr/>
          <p:nvPr/>
        </p:nvSpPr>
        <p:spPr>
          <a:xfrm>
            <a:off x="3822192" y="5687568"/>
            <a:ext cx="237744" cy="237744"/>
          </a:xfrm>
          <a:prstGeom prst="ellipse">
            <a:avLst/>
          </a:prstGeom>
          <a:solidFill>
            <a:srgbClr val="FFFFFF"/>
          </a:solidFill>
          <a:ln w="10160">
            <a:solidFill>
              <a:srgbClr val="BBBBBB"/>
            </a:solidFill>
            <a:prstDash val="solid"/>
          </a:ln>
        </p:spPr>
      </p:sp>
      <p:sp>
        <p:nvSpPr>
          <p:cNvPr id="97" name="Shape 95"/>
          <p:cNvSpPr/>
          <p:nvPr/>
        </p:nvSpPr>
        <p:spPr>
          <a:xfrm>
            <a:off x="4828032" y="5687568"/>
            <a:ext cx="237744" cy="237744"/>
          </a:xfrm>
          <a:prstGeom prst="ellipse">
            <a:avLst/>
          </a:prstGeom>
          <a:solidFill>
            <a:srgbClr val="FFFFFF"/>
          </a:solidFill>
          <a:ln w="10160">
            <a:solidFill>
              <a:srgbClr val="BBBBBB"/>
            </a:solidFill>
            <a:prstDash val="solid"/>
          </a:ln>
        </p:spPr>
      </p:sp>
      <p:sp>
        <p:nvSpPr>
          <p:cNvPr id="98" name="Shape 96"/>
          <p:cNvSpPr/>
          <p:nvPr/>
        </p:nvSpPr>
        <p:spPr>
          <a:xfrm>
            <a:off x="5833872" y="5687568"/>
            <a:ext cx="237744" cy="237744"/>
          </a:xfrm>
          <a:prstGeom prst="ellipse">
            <a:avLst/>
          </a:prstGeom>
          <a:solidFill>
            <a:srgbClr val="FFFFFF"/>
          </a:solidFill>
          <a:ln w="10160">
            <a:solidFill>
              <a:srgbClr val="BBBBBB"/>
            </a:solidFill>
            <a:prstDash val="solid"/>
          </a:ln>
        </p:spPr>
      </p:sp>
      <p:sp>
        <p:nvSpPr>
          <p:cNvPr id="99" name="Shape 97"/>
          <p:cNvSpPr/>
          <p:nvPr/>
        </p:nvSpPr>
        <p:spPr>
          <a:xfrm>
            <a:off x="6839712" y="5687568"/>
            <a:ext cx="237744" cy="237744"/>
          </a:xfrm>
          <a:prstGeom prst="ellipse">
            <a:avLst/>
          </a:prstGeom>
          <a:solidFill>
            <a:srgbClr val="FFFFFF"/>
          </a:solidFill>
          <a:ln w="10160">
            <a:solidFill>
              <a:srgbClr val="BBBBBB"/>
            </a:solidFill>
            <a:prstDash val="solid"/>
          </a:ln>
        </p:spPr>
      </p:sp>
      <p:sp>
        <p:nvSpPr>
          <p:cNvPr id="100" name="Shape 98"/>
          <p:cNvSpPr/>
          <p:nvPr/>
        </p:nvSpPr>
        <p:spPr>
          <a:xfrm>
            <a:off x="7845552" y="5687568"/>
            <a:ext cx="237744" cy="237744"/>
          </a:xfrm>
          <a:prstGeom prst="ellipse">
            <a:avLst/>
          </a:prstGeom>
          <a:solidFill>
            <a:srgbClr val="FFFFFF"/>
          </a:solidFill>
          <a:ln w="10160">
            <a:solidFill>
              <a:srgbClr val="BBBBBB"/>
            </a:solidFill>
            <a:prstDash val="solid"/>
          </a:ln>
        </p:spPr>
      </p:sp>
      <p:sp>
        <p:nvSpPr>
          <p:cNvPr id="101" name="Shape 99"/>
          <p:cNvSpPr/>
          <p:nvPr/>
        </p:nvSpPr>
        <p:spPr>
          <a:xfrm>
            <a:off x="8321040" y="5687568"/>
            <a:ext cx="420624" cy="237744"/>
          </a:xfrm>
          <a:prstGeom prst="rect">
            <a:avLst>
              <a:gd name="adj" fmla="val 11538"/>
            </a:avLst>
          </a:prstGeom>
          <a:solidFill>
            <a:srgbClr val="E5E5EA"/>
          </a:solidFill>
          <a:ln w="12700">
            <a:solidFill>
              <a:srgbClr val="E5E5EA"/>
            </a:solidFill>
            <a:prstDash val="solid"/>
          </a:ln>
        </p:spPr>
      </p:sp>
      <p:sp>
        <p:nvSpPr>
          <p:cNvPr id="102" name="Shape 100"/>
          <p:cNvSpPr/>
          <p:nvPr/>
        </p:nvSpPr>
        <p:spPr>
          <a:xfrm>
            <a:off x="320040" y="5980176"/>
            <a:ext cx="8503920" cy="384048"/>
          </a:xfrm>
          <a:prstGeom prst="rect">
            <a:avLst/>
          </a:prstGeom>
          <a:solidFill>
            <a:srgbClr val="FFFFFF"/>
          </a:solidFill>
          <a:ln w="6350">
            <a:solidFill>
              <a:srgbClr val="E5E5EA"/>
            </a:solidFill>
            <a:prstDash val="solid"/>
          </a:ln>
        </p:spPr>
      </p:sp>
      <p:sp>
        <p:nvSpPr>
          <p:cNvPr id="103" name="Text 101"/>
          <p:cNvSpPr/>
          <p:nvPr/>
        </p:nvSpPr>
        <p:spPr>
          <a:xfrm>
            <a:off x="411480" y="6016752"/>
            <a:ext cx="3200400"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CoP interna</a:t>
            </a:r>
            <a:endParaRPr lang="en-US" sz="750" dirty="0"/>
          </a:p>
        </p:txBody>
      </p:sp>
      <p:sp>
        <p:nvSpPr>
          <p:cNvPr id="104" name="Shape 102"/>
          <p:cNvSpPr/>
          <p:nvPr/>
        </p:nvSpPr>
        <p:spPr>
          <a:xfrm>
            <a:off x="3822192" y="6071616"/>
            <a:ext cx="237744" cy="237744"/>
          </a:xfrm>
          <a:prstGeom prst="ellipse">
            <a:avLst/>
          </a:prstGeom>
          <a:solidFill>
            <a:srgbClr val="FFFFFF"/>
          </a:solidFill>
          <a:ln w="10160">
            <a:solidFill>
              <a:srgbClr val="BBBBBB"/>
            </a:solidFill>
            <a:prstDash val="solid"/>
          </a:ln>
        </p:spPr>
      </p:sp>
      <p:sp>
        <p:nvSpPr>
          <p:cNvPr id="105" name="Shape 103"/>
          <p:cNvSpPr/>
          <p:nvPr/>
        </p:nvSpPr>
        <p:spPr>
          <a:xfrm>
            <a:off x="4828032" y="6071616"/>
            <a:ext cx="237744" cy="237744"/>
          </a:xfrm>
          <a:prstGeom prst="ellipse">
            <a:avLst/>
          </a:prstGeom>
          <a:solidFill>
            <a:srgbClr val="FFFFFF"/>
          </a:solidFill>
          <a:ln w="10160">
            <a:solidFill>
              <a:srgbClr val="BBBBBB"/>
            </a:solidFill>
            <a:prstDash val="solid"/>
          </a:ln>
        </p:spPr>
      </p:sp>
      <p:sp>
        <p:nvSpPr>
          <p:cNvPr id="106" name="Shape 104"/>
          <p:cNvSpPr/>
          <p:nvPr/>
        </p:nvSpPr>
        <p:spPr>
          <a:xfrm>
            <a:off x="5833872" y="6071616"/>
            <a:ext cx="237744" cy="237744"/>
          </a:xfrm>
          <a:prstGeom prst="ellipse">
            <a:avLst/>
          </a:prstGeom>
          <a:solidFill>
            <a:srgbClr val="FFFFFF"/>
          </a:solidFill>
          <a:ln w="10160">
            <a:solidFill>
              <a:srgbClr val="BBBBBB"/>
            </a:solidFill>
            <a:prstDash val="solid"/>
          </a:ln>
        </p:spPr>
      </p:sp>
      <p:sp>
        <p:nvSpPr>
          <p:cNvPr id="107" name="Shape 105"/>
          <p:cNvSpPr/>
          <p:nvPr/>
        </p:nvSpPr>
        <p:spPr>
          <a:xfrm>
            <a:off x="6839712" y="6071616"/>
            <a:ext cx="237744" cy="237744"/>
          </a:xfrm>
          <a:prstGeom prst="ellipse">
            <a:avLst/>
          </a:prstGeom>
          <a:solidFill>
            <a:srgbClr val="FFFFFF"/>
          </a:solidFill>
          <a:ln w="10160">
            <a:solidFill>
              <a:srgbClr val="BBBBBB"/>
            </a:solidFill>
            <a:prstDash val="solid"/>
          </a:ln>
        </p:spPr>
      </p:sp>
      <p:sp>
        <p:nvSpPr>
          <p:cNvPr id="108" name="Shape 106"/>
          <p:cNvSpPr/>
          <p:nvPr/>
        </p:nvSpPr>
        <p:spPr>
          <a:xfrm>
            <a:off x="7845552" y="6071616"/>
            <a:ext cx="237744" cy="237744"/>
          </a:xfrm>
          <a:prstGeom prst="ellipse">
            <a:avLst/>
          </a:prstGeom>
          <a:solidFill>
            <a:srgbClr val="FFFFFF"/>
          </a:solidFill>
          <a:ln w="10160">
            <a:solidFill>
              <a:srgbClr val="BBBBBB"/>
            </a:solidFill>
            <a:prstDash val="solid"/>
          </a:ln>
        </p:spPr>
      </p:sp>
      <p:sp>
        <p:nvSpPr>
          <p:cNvPr id="109" name="Shape 107"/>
          <p:cNvSpPr/>
          <p:nvPr/>
        </p:nvSpPr>
        <p:spPr>
          <a:xfrm>
            <a:off x="8321040" y="6071616"/>
            <a:ext cx="420624" cy="237744"/>
          </a:xfrm>
          <a:prstGeom prst="rect">
            <a:avLst>
              <a:gd name="adj" fmla="val 11538"/>
            </a:avLst>
          </a:prstGeom>
          <a:solidFill>
            <a:srgbClr val="E5E5EA"/>
          </a:solidFill>
          <a:ln w="12700">
            <a:solidFill>
              <a:srgbClr val="E5E5EA"/>
            </a:solidFill>
            <a:prstDash val="solid"/>
          </a:ln>
        </p:spPr>
      </p:sp>
      <p:sp>
        <p:nvSpPr>
          <p:cNvPr id="110" name="Shape 108"/>
          <p:cNvSpPr/>
          <p:nvPr/>
        </p:nvSpPr>
        <p:spPr>
          <a:xfrm>
            <a:off x="320040" y="6364224"/>
            <a:ext cx="8503920" cy="384048"/>
          </a:xfrm>
          <a:prstGeom prst="rect">
            <a:avLst/>
          </a:prstGeom>
          <a:solidFill>
            <a:srgbClr val="F9F9F9"/>
          </a:solidFill>
          <a:ln w="6350">
            <a:solidFill>
              <a:srgbClr val="E5E5EA"/>
            </a:solidFill>
            <a:prstDash val="solid"/>
          </a:ln>
        </p:spPr>
      </p:sp>
      <p:sp>
        <p:nvSpPr>
          <p:cNvPr id="111" name="Text 109"/>
          <p:cNvSpPr/>
          <p:nvPr/>
        </p:nvSpPr>
        <p:spPr>
          <a:xfrm>
            <a:off x="411480" y="6400800"/>
            <a:ext cx="3200400"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Rotación gestionada</a:t>
            </a:r>
            <a:endParaRPr lang="en-US" sz="750" dirty="0"/>
          </a:p>
        </p:txBody>
      </p:sp>
      <p:sp>
        <p:nvSpPr>
          <p:cNvPr id="112" name="Shape 110"/>
          <p:cNvSpPr/>
          <p:nvPr/>
        </p:nvSpPr>
        <p:spPr>
          <a:xfrm>
            <a:off x="3822192" y="6455664"/>
            <a:ext cx="237744" cy="237744"/>
          </a:xfrm>
          <a:prstGeom prst="ellipse">
            <a:avLst/>
          </a:prstGeom>
          <a:solidFill>
            <a:srgbClr val="FFFFFF"/>
          </a:solidFill>
          <a:ln w="10160">
            <a:solidFill>
              <a:srgbClr val="BBBBBB"/>
            </a:solidFill>
            <a:prstDash val="solid"/>
          </a:ln>
        </p:spPr>
      </p:sp>
      <p:sp>
        <p:nvSpPr>
          <p:cNvPr id="113" name="Shape 111"/>
          <p:cNvSpPr/>
          <p:nvPr/>
        </p:nvSpPr>
        <p:spPr>
          <a:xfrm>
            <a:off x="4828032" y="6455664"/>
            <a:ext cx="237744" cy="237744"/>
          </a:xfrm>
          <a:prstGeom prst="ellipse">
            <a:avLst/>
          </a:prstGeom>
          <a:solidFill>
            <a:srgbClr val="FFFFFF"/>
          </a:solidFill>
          <a:ln w="10160">
            <a:solidFill>
              <a:srgbClr val="BBBBBB"/>
            </a:solidFill>
            <a:prstDash val="solid"/>
          </a:ln>
        </p:spPr>
      </p:sp>
      <p:sp>
        <p:nvSpPr>
          <p:cNvPr id="114" name="Shape 112"/>
          <p:cNvSpPr/>
          <p:nvPr/>
        </p:nvSpPr>
        <p:spPr>
          <a:xfrm>
            <a:off x="5833872" y="6455664"/>
            <a:ext cx="237744" cy="237744"/>
          </a:xfrm>
          <a:prstGeom prst="ellipse">
            <a:avLst/>
          </a:prstGeom>
          <a:solidFill>
            <a:srgbClr val="FFFFFF"/>
          </a:solidFill>
          <a:ln w="10160">
            <a:solidFill>
              <a:srgbClr val="BBBBBB"/>
            </a:solidFill>
            <a:prstDash val="solid"/>
          </a:ln>
        </p:spPr>
      </p:sp>
      <p:sp>
        <p:nvSpPr>
          <p:cNvPr id="115" name="Shape 113"/>
          <p:cNvSpPr/>
          <p:nvPr/>
        </p:nvSpPr>
        <p:spPr>
          <a:xfrm>
            <a:off x="6839712" y="6455664"/>
            <a:ext cx="237744" cy="237744"/>
          </a:xfrm>
          <a:prstGeom prst="ellipse">
            <a:avLst/>
          </a:prstGeom>
          <a:solidFill>
            <a:srgbClr val="FFFFFF"/>
          </a:solidFill>
          <a:ln w="10160">
            <a:solidFill>
              <a:srgbClr val="BBBBBB"/>
            </a:solidFill>
            <a:prstDash val="solid"/>
          </a:ln>
        </p:spPr>
      </p:sp>
      <p:sp>
        <p:nvSpPr>
          <p:cNvPr id="116" name="Shape 114"/>
          <p:cNvSpPr/>
          <p:nvPr/>
        </p:nvSpPr>
        <p:spPr>
          <a:xfrm>
            <a:off x="7845552" y="6455664"/>
            <a:ext cx="237744" cy="237744"/>
          </a:xfrm>
          <a:prstGeom prst="ellipse">
            <a:avLst/>
          </a:prstGeom>
          <a:solidFill>
            <a:srgbClr val="FFFFFF"/>
          </a:solidFill>
          <a:ln w="10160">
            <a:solidFill>
              <a:srgbClr val="BBBBBB"/>
            </a:solidFill>
            <a:prstDash val="solid"/>
          </a:ln>
        </p:spPr>
      </p:sp>
      <p:sp>
        <p:nvSpPr>
          <p:cNvPr id="117" name="Shape 115"/>
          <p:cNvSpPr/>
          <p:nvPr/>
        </p:nvSpPr>
        <p:spPr>
          <a:xfrm>
            <a:off x="8321040" y="6455664"/>
            <a:ext cx="420624" cy="237744"/>
          </a:xfrm>
          <a:prstGeom prst="rect">
            <a:avLst>
              <a:gd name="adj" fmla="val 11538"/>
            </a:avLst>
          </a:prstGeom>
          <a:solidFill>
            <a:srgbClr val="E5E5EA"/>
          </a:solidFill>
          <a:ln w="12700">
            <a:solidFill>
              <a:srgbClr val="E5E5EA"/>
            </a:solidFill>
            <a:prstDash val="solid"/>
          </a:ln>
        </p:spPr>
      </p:sp>
      <p:sp>
        <p:nvSpPr>
          <p:cNvPr id="118" name="Shape 116"/>
          <p:cNvSpPr/>
          <p:nvPr/>
        </p:nvSpPr>
        <p:spPr>
          <a:xfrm>
            <a:off x="320040" y="6748272"/>
            <a:ext cx="8503920" cy="274320"/>
          </a:xfrm>
          <a:prstGeom prst="rect">
            <a:avLst/>
          </a:prstGeom>
          <a:solidFill>
            <a:srgbClr val="FFFFFF"/>
          </a:solidFill>
          <a:ln w="10160">
            <a:solidFill>
              <a:srgbClr val="0A74E3"/>
            </a:solidFill>
            <a:prstDash val="solid"/>
          </a:ln>
        </p:spPr>
      </p:sp>
      <p:sp>
        <p:nvSpPr>
          <p:cNvPr id="119" name="Text 117"/>
          <p:cNvSpPr/>
          <p:nvPr/>
        </p:nvSpPr>
        <p:spPr>
          <a:xfrm>
            <a:off x="411480" y="6766560"/>
            <a:ext cx="3200400" cy="237744"/>
          </a:xfrm>
          <a:prstGeom prst="rect">
            <a:avLst/>
          </a:prstGeom>
          <a:noFill/>
          <a:ln/>
        </p:spPr>
        <p:txBody>
          <a:bodyPr wrap="square" rtlCol="0" anchor="ctr"/>
          <a:lstStyle/>
          <a:p>
            <a:pPr indent="0" marL="0">
              <a:buNone/>
            </a:pPr>
            <a:r>
              <a:rPr lang="en-US" sz="850" b="1" dirty="0">
                <a:solidFill>
                  <a:srgbClr val="0A74E3"/>
                </a:solidFill>
                <a:latin typeface="Atkinson Hyperlegible" pitchFamily="34" charset="0"/>
                <a:ea typeface="Atkinson Hyperlegible" pitchFamily="34" charset="-122"/>
                <a:cs typeface="Atkinson Hyperlegible" pitchFamily="34" charset="-120"/>
              </a:rPr>
              <a:t>4. Tecnología</a:t>
            </a:r>
            <a:endParaRPr lang="en-US" sz="850" dirty="0"/>
          </a:p>
        </p:txBody>
      </p:sp>
      <p:sp>
        <p:nvSpPr>
          <p:cNvPr id="120" name="Shape 118"/>
          <p:cNvSpPr/>
          <p:nvPr/>
        </p:nvSpPr>
        <p:spPr>
          <a:xfrm>
            <a:off x="320040" y="7022592"/>
            <a:ext cx="8503920" cy="384048"/>
          </a:xfrm>
          <a:prstGeom prst="rect">
            <a:avLst/>
          </a:prstGeom>
          <a:solidFill>
            <a:srgbClr val="F9F9F9"/>
          </a:solidFill>
          <a:ln w="6350">
            <a:solidFill>
              <a:srgbClr val="E5E5EA"/>
            </a:solidFill>
            <a:prstDash val="solid"/>
          </a:ln>
        </p:spPr>
      </p:sp>
      <p:sp>
        <p:nvSpPr>
          <p:cNvPr id="121" name="Text 119"/>
          <p:cNvSpPr/>
          <p:nvPr/>
        </p:nvSpPr>
        <p:spPr>
          <a:xfrm>
            <a:off x="411480" y="7059168"/>
            <a:ext cx="3200400"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BIM &gt;60% proyectos</a:t>
            </a:r>
            <a:endParaRPr lang="en-US" sz="750" dirty="0"/>
          </a:p>
        </p:txBody>
      </p:sp>
      <p:sp>
        <p:nvSpPr>
          <p:cNvPr id="122" name="Shape 120"/>
          <p:cNvSpPr/>
          <p:nvPr/>
        </p:nvSpPr>
        <p:spPr>
          <a:xfrm>
            <a:off x="3822192" y="7114032"/>
            <a:ext cx="237744" cy="237744"/>
          </a:xfrm>
          <a:prstGeom prst="ellipse">
            <a:avLst/>
          </a:prstGeom>
          <a:solidFill>
            <a:srgbClr val="FFFFFF"/>
          </a:solidFill>
          <a:ln w="10160">
            <a:solidFill>
              <a:srgbClr val="BBBBBB"/>
            </a:solidFill>
            <a:prstDash val="solid"/>
          </a:ln>
        </p:spPr>
      </p:sp>
      <p:sp>
        <p:nvSpPr>
          <p:cNvPr id="123" name="Shape 121"/>
          <p:cNvSpPr/>
          <p:nvPr/>
        </p:nvSpPr>
        <p:spPr>
          <a:xfrm>
            <a:off x="4828032" y="7114032"/>
            <a:ext cx="237744" cy="237744"/>
          </a:xfrm>
          <a:prstGeom prst="ellipse">
            <a:avLst/>
          </a:prstGeom>
          <a:solidFill>
            <a:srgbClr val="FFFFFF"/>
          </a:solidFill>
          <a:ln w="10160">
            <a:solidFill>
              <a:srgbClr val="BBBBBB"/>
            </a:solidFill>
            <a:prstDash val="solid"/>
          </a:ln>
        </p:spPr>
      </p:sp>
      <p:sp>
        <p:nvSpPr>
          <p:cNvPr id="124" name="Shape 122"/>
          <p:cNvSpPr/>
          <p:nvPr/>
        </p:nvSpPr>
        <p:spPr>
          <a:xfrm>
            <a:off x="5833872" y="7114032"/>
            <a:ext cx="237744" cy="237744"/>
          </a:xfrm>
          <a:prstGeom prst="ellipse">
            <a:avLst/>
          </a:prstGeom>
          <a:solidFill>
            <a:srgbClr val="FFFFFF"/>
          </a:solidFill>
          <a:ln w="10160">
            <a:solidFill>
              <a:srgbClr val="BBBBBB"/>
            </a:solidFill>
            <a:prstDash val="solid"/>
          </a:ln>
        </p:spPr>
      </p:sp>
      <p:sp>
        <p:nvSpPr>
          <p:cNvPr id="125" name="Shape 123"/>
          <p:cNvSpPr/>
          <p:nvPr/>
        </p:nvSpPr>
        <p:spPr>
          <a:xfrm>
            <a:off x="6839712" y="7114032"/>
            <a:ext cx="237744" cy="237744"/>
          </a:xfrm>
          <a:prstGeom prst="ellipse">
            <a:avLst/>
          </a:prstGeom>
          <a:solidFill>
            <a:srgbClr val="FFFFFF"/>
          </a:solidFill>
          <a:ln w="10160">
            <a:solidFill>
              <a:srgbClr val="BBBBBB"/>
            </a:solidFill>
            <a:prstDash val="solid"/>
          </a:ln>
        </p:spPr>
      </p:sp>
      <p:sp>
        <p:nvSpPr>
          <p:cNvPr id="126" name="Shape 124"/>
          <p:cNvSpPr/>
          <p:nvPr/>
        </p:nvSpPr>
        <p:spPr>
          <a:xfrm>
            <a:off x="7845552" y="7114032"/>
            <a:ext cx="237744" cy="237744"/>
          </a:xfrm>
          <a:prstGeom prst="ellipse">
            <a:avLst/>
          </a:prstGeom>
          <a:solidFill>
            <a:srgbClr val="FFFFFF"/>
          </a:solidFill>
          <a:ln w="10160">
            <a:solidFill>
              <a:srgbClr val="BBBBBB"/>
            </a:solidFill>
            <a:prstDash val="solid"/>
          </a:ln>
        </p:spPr>
      </p:sp>
      <p:sp>
        <p:nvSpPr>
          <p:cNvPr id="127" name="Shape 125"/>
          <p:cNvSpPr/>
          <p:nvPr/>
        </p:nvSpPr>
        <p:spPr>
          <a:xfrm>
            <a:off x="8321040" y="7114032"/>
            <a:ext cx="420624" cy="237744"/>
          </a:xfrm>
          <a:prstGeom prst="rect">
            <a:avLst>
              <a:gd name="adj" fmla="val 11538"/>
            </a:avLst>
          </a:prstGeom>
          <a:solidFill>
            <a:srgbClr val="E5E5EA"/>
          </a:solidFill>
          <a:ln w="12700">
            <a:solidFill>
              <a:srgbClr val="E5E5EA"/>
            </a:solidFill>
            <a:prstDash val="solid"/>
          </a:ln>
        </p:spPr>
      </p:sp>
      <p:sp>
        <p:nvSpPr>
          <p:cNvPr id="128" name="Shape 126"/>
          <p:cNvSpPr/>
          <p:nvPr/>
        </p:nvSpPr>
        <p:spPr>
          <a:xfrm>
            <a:off x="320040" y="7406640"/>
            <a:ext cx="8503920" cy="384048"/>
          </a:xfrm>
          <a:prstGeom prst="rect">
            <a:avLst/>
          </a:prstGeom>
          <a:solidFill>
            <a:srgbClr val="FFFFFF"/>
          </a:solidFill>
          <a:ln w="6350">
            <a:solidFill>
              <a:srgbClr val="E5E5EA"/>
            </a:solidFill>
            <a:prstDash val="solid"/>
          </a:ln>
        </p:spPr>
      </p:sp>
      <p:sp>
        <p:nvSpPr>
          <p:cNvPr id="129" name="Text 127"/>
          <p:cNvSpPr/>
          <p:nvPr/>
        </p:nvSpPr>
        <p:spPr>
          <a:xfrm>
            <a:off x="411480" y="7443216"/>
            <a:ext cx="3200400"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Plataforma AWP</a:t>
            </a:r>
            <a:endParaRPr lang="en-US" sz="750" dirty="0"/>
          </a:p>
        </p:txBody>
      </p:sp>
      <p:sp>
        <p:nvSpPr>
          <p:cNvPr id="130" name="Shape 128"/>
          <p:cNvSpPr/>
          <p:nvPr/>
        </p:nvSpPr>
        <p:spPr>
          <a:xfrm>
            <a:off x="3822192" y="7498080"/>
            <a:ext cx="237744" cy="237744"/>
          </a:xfrm>
          <a:prstGeom prst="ellipse">
            <a:avLst/>
          </a:prstGeom>
          <a:solidFill>
            <a:srgbClr val="FFFFFF"/>
          </a:solidFill>
          <a:ln w="10160">
            <a:solidFill>
              <a:srgbClr val="BBBBBB"/>
            </a:solidFill>
            <a:prstDash val="solid"/>
          </a:ln>
        </p:spPr>
      </p:sp>
      <p:sp>
        <p:nvSpPr>
          <p:cNvPr id="131" name="Shape 129"/>
          <p:cNvSpPr/>
          <p:nvPr/>
        </p:nvSpPr>
        <p:spPr>
          <a:xfrm>
            <a:off x="4828032" y="7498080"/>
            <a:ext cx="237744" cy="237744"/>
          </a:xfrm>
          <a:prstGeom prst="ellipse">
            <a:avLst/>
          </a:prstGeom>
          <a:solidFill>
            <a:srgbClr val="FFFFFF"/>
          </a:solidFill>
          <a:ln w="10160">
            <a:solidFill>
              <a:srgbClr val="BBBBBB"/>
            </a:solidFill>
            <a:prstDash val="solid"/>
          </a:ln>
        </p:spPr>
      </p:sp>
      <p:sp>
        <p:nvSpPr>
          <p:cNvPr id="132" name="Shape 130"/>
          <p:cNvSpPr/>
          <p:nvPr/>
        </p:nvSpPr>
        <p:spPr>
          <a:xfrm>
            <a:off x="5833872" y="7498080"/>
            <a:ext cx="237744" cy="237744"/>
          </a:xfrm>
          <a:prstGeom prst="ellipse">
            <a:avLst/>
          </a:prstGeom>
          <a:solidFill>
            <a:srgbClr val="FFFFFF"/>
          </a:solidFill>
          <a:ln w="10160">
            <a:solidFill>
              <a:srgbClr val="BBBBBB"/>
            </a:solidFill>
            <a:prstDash val="solid"/>
          </a:ln>
        </p:spPr>
      </p:sp>
      <p:sp>
        <p:nvSpPr>
          <p:cNvPr id="133" name="Shape 131"/>
          <p:cNvSpPr/>
          <p:nvPr/>
        </p:nvSpPr>
        <p:spPr>
          <a:xfrm>
            <a:off x="6839712" y="7498080"/>
            <a:ext cx="237744" cy="237744"/>
          </a:xfrm>
          <a:prstGeom prst="ellipse">
            <a:avLst/>
          </a:prstGeom>
          <a:solidFill>
            <a:srgbClr val="FFFFFF"/>
          </a:solidFill>
          <a:ln w="10160">
            <a:solidFill>
              <a:srgbClr val="BBBBBB"/>
            </a:solidFill>
            <a:prstDash val="solid"/>
          </a:ln>
        </p:spPr>
      </p:sp>
      <p:sp>
        <p:nvSpPr>
          <p:cNvPr id="134" name="Shape 132"/>
          <p:cNvSpPr/>
          <p:nvPr/>
        </p:nvSpPr>
        <p:spPr>
          <a:xfrm>
            <a:off x="7845552" y="7498080"/>
            <a:ext cx="237744" cy="237744"/>
          </a:xfrm>
          <a:prstGeom prst="ellipse">
            <a:avLst/>
          </a:prstGeom>
          <a:solidFill>
            <a:srgbClr val="FFFFFF"/>
          </a:solidFill>
          <a:ln w="10160">
            <a:solidFill>
              <a:srgbClr val="BBBBBB"/>
            </a:solidFill>
            <a:prstDash val="solid"/>
          </a:ln>
        </p:spPr>
      </p:sp>
      <p:sp>
        <p:nvSpPr>
          <p:cNvPr id="135" name="Shape 133"/>
          <p:cNvSpPr/>
          <p:nvPr/>
        </p:nvSpPr>
        <p:spPr>
          <a:xfrm>
            <a:off x="8321040" y="7498080"/>
            <a:ext cx="420624" cy="237744"/>
          </a:xfrm>
          <a:prstGeom prst="rect">
            <a:avLst>
              <a:gd name="adj" fmla="val 11538"/>
            </a:avLst>
          </a:prstGeom>
          <a:solidFill>
            <a:srgbClr val="E5E5EA"/>
          </a:solidFill>
          <a:ln w="12700">
            <a:solidFill>
              <a:srgbClr val="E5E5EA"/>
            </a:solidFill>
            <a:prstDash val="solid"/>
          </a:ln>
        </p:spPr>
      </p:sp>
      <p:sp>
        <p:nvSpPr>
          <p:cNvPr id="136" name="Shape 134"/>
          <p:cNvSpPr/>
          <p:nvPr/>
        </p:nvSpPr>
        <p:spPr>
          <a:xfrm>
            <a:off x="320040" y="7790688"/>
            <a:ext cx="8503920" cy="384048"/>
          </a:xfrm>
          <a:prstGeom prst="rect">
            <a:avLst/>
          </a:prstGeom>
          <a:solidFill>
            <a:srgbClr val="F9F9F9"/>
          </a:solidFill>
          <a:ln w="6350">
            <a:solidFill>
              <a:srgbClr val="E5E5EA"/>
            </a:solidFill>
            <a:prstDash val="solid"/>
          </a:ln>
        </p:spPr>
      </p:sp>
      <p:sp>
        <p:nvSpPr>
          <p:cNvPr id="137" name="Text 135"/>
          <p:cNvSpPr/>
          <p:nvPr/>
        </p:nvSpPr>
        <p:spPr>
          <a:xfrm>
            <a:off x="411480" y="7827264"/>
            <a:ext cx="3200400"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Dashboards KPI</a:t>
            </a:r>
            <a:endParaRPr lang="en-US" sz="750" dirty="0"/>
          </a:p>
        </p:txBody>
      </p:sp>
      <p:sp>
        <p:nvSpPr>
          <p:cNvPr id="138" name="Shape 136"/>
          <p:cNvSpPr/>
          <p:nvPr/>
        </p:nvSpPr>
        <p:spPr>
          <a:xfrm>
            <a:off x="3822192" y="7882128"/>
            <a:ext cx="237744" cy="237744"/>
          </a:xfrm>
          <a:prstGeom prst="ellipse">
            <a:avLst/>
          </a:prstGeom>
          <a:solidFill>
            <a:srgbClr val="FFFFFF"/>
          </a:solidFill>
          <a:ln w="10160">
            <a:solidFill>
              <a:srgbClr val="BBBBBB"/>
            </a:solidFill>
            <a:prstDash val="solid"/>
          </a:ln>
        </p:spPr>
      </p:sp>
      <p:sp>
        <p:nvSpPr>
          <p:cNvPr id="139" name="Shape 137"/>
          <p:cNvSpPr/>
          <p:nvPr/>
        </p:nvSpPr>
        <p:spPr>
          <a:xfrm>
            <a:off x="4828032" y="7882128"/>
            <a:ext cx="237744" cy="237744"/>
          </a:xfrm>
          <a:prstGeom prst="ellipse">
            <a:avLst/>
          </a:prstGeom>
          <a:solidFill>
            <a:srgbClr val="FFFFFF"/>
          </a:solidFill>
          <a:ln w="10160">
            <a:solidFill>
              <a:srgbClr val="BBBBBB"/>
            </a:solidFill>
            <a:prstDash val="solid"/>
          </a:ln>
        </p:spPr>
      </p:sp>
      <p:sp>
        <p:nvSpPr>
          <p:cNvPr id="140" name="Shape 138"/>
          <p:cNvSpPr/>
          <p:nvPr/>
        </p:nvSpPr>
        <p:spPr>
          <a:xfrm>
            <a:off x="5833872" y="7882128"/>
            <a:ext cx="237744" cy="237744"/>
          </a:xfrm>
          <a:prstGeom prst="ellipse">
            <a:avLst/>
          </a:prstGeom>
          <a:solidFill>
            <a:srgbClr val="FFFFFF"/>
          </a:solidFill>
          <a:ln w="10160">
            <a:solidFill>
              <a:srgbClr val="BBBBBB"/>
            </a:solidFill>
            <a:prstDash val="solid"/>
          </a:ln>
        </p:spPr>
      </p:sp>
      <p:sp>
        <p:nvSpPr>
          <p:cNvPr id="141" name="Shape 139"/>
          <p:cNvSpPr/>
          <p:nvPr/>
        </p:nvSpPr>
        <p:spPr>
          <a:xfrm>
            <a:off x="6839712" y="7882128"/>
            <a:ext cx="237744" cy="237744"/>
          </a:xfrm>
          <a:prstGeom prst="ellipse">
            <a:avLst/>
          </a:prstGeom>
          <a:solidFill>
            <a:srgbClr val="FFFFFF"/>
          </a:solidFill>
          <a:ln w="10160">
            <a:solidFill>
              <a:srgbClr val="BBBBBB"/>
            </a:solidFill>
            <a:prstDash val="solid"/>
          </a:ln>
        </p:spPr>
      </p:sp>
      <p:sp>
        <p:nvSpPr>
          <p:cNvPr id="142" name="Shape 140"/>
          <p:cNvSpPr/>
          <p:nvPr/>
        </p:nvSpPr>
        <p:spPr>
          <a:xfrm>
            <a:off x="7845552" y="7882128"/>
            <a:ext cx="237744" cy="237744"/>
          </a:xfrm>
          <a:prstGeom prst="ellipse">
            <a:avLst/>
          </a:prstGeom>
          <a:solidFill>
            <a:srgbClr val="FFFFFF"/>
          </a:solidFill>
          <a:ln w="10160">
            <a:solidFill>
              <a:srgbClr val="BBBBBB"/>
            </a:solidFill>
            <a:prstDash val="solid"/>
          </a:ln>
        </p:spPr>
      </p:sp>
      <p:sp>
        <p:nvSpPr>
          <p:cNvPr id="143" name="Shape 141"/>
          <p:cNvSpPr/>
          <p:nvPr/>
        </p:nvSpPr>
        <p:spPr>
          <a:xfrm>
            <a:off x="8321040" y="7882128"/>
            <a:ext cx="420624" cy="237744"/>
          </a:xfrm>
          <a:prstGeom prst="rect">
            <a:avLst>
              <a:gd name="adj" fmla="val 11538"/>
            </a:avLst>
          </a:prstGeom>
          <a:solidFill>
            <a:srgbClr val="E5E5EA"/>
          </a:solidFill>
          <a:ln w="12700">
            <a:solidFill>
              <a:srgbClr val="E5E5EA"/>
            </a:solidFill>
            <a:prstDash val="solid"/>
          </a:ln>
        </p:spPr>
      </p:sp>
      <p:sp>
        <p:nvSpPr>
          <p:cNvPr id="144" name="Shape 142"/>
          <p:cNvSpPr/>
          <p:nvPr/>
        </p:nvSpPr>
        <p:spPr>
          <a:xfrm>
            <a:off x="320040" y="8174736"/>
            <a:ext cx="8503920" cy="384048"/>
          </a:xfrm>
          <a:prstGeom prst="rect">
            <a:avLst/>
          </a:prstGeom>
          <a:solidFill>
            <a:srgbClr val="FFFFFF"/>
          </a:solidFill>
          <a:ln w="6350">
            <a:solidFill>
              <a:srgbClr val="E5E5EA"/>
            </a:solidFill>
            <a:prstDash val="solid"/>
          </a:ln>
        </p:spPr>
      </p:sp>
      <p:sp>
        <p:nvSpPr>
          <p:cNvPr id="145" name="Text 143"/>
          <p:cNvSpPr/>
          <p:nvPr/>
        </p:nvSpPr>
        <p:spPr>
          <a:xfrm>
            <a:off x="411480" y="8211312"/>
            <a:ext cx="3200400" cy="310896"/>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Field mobile apps</a:t>
            </a:r>
            <a:endParaRPr lang="en-US" sz="750" dirty="0"/>
          </a:p>
        </p:txBody>
      </p:sp>
      <p:sp>
        <p:nvSpPr>
          <p:cNvPr id="146" name="Shape 144"/>
          <p:cNvSpPr/>
          <p:nvPr/>
        </p:nvSpPr>
        <p:spPr>
          <a:xfrm>
            <a:off x="3822192" y="8266176"/>
            <a:ext cx="237744" cy="237744"/>
          </a:xfrm>
          <a:prstGeom prst="ellipse">
            <a:avLst/>
          </a:prstGeom>
          <a:solidFill>
            <a:srgbClr val="FFFFFF"/>
          </a:solidFill>
          <a:ln w="10160">
            <a:solidFill>
              <a:srgbClr val="BBBBBB"/>
            </a:solidFill>
            <a:prstDash val="solid"/>
          </a:ln>
        </p:spPr>
      </p:sp>
      <p:sp>
        <p:nvSpPr>
          <p:cNvPr id="147" name="Shape 145"/>
          <p:cNvSpPr/>
          <p:nvPr/>
        </p:nvSpPr>
        <p:spPr>
          <a:xfrm>
            <a:off x="4828032" y="8266176"/>
            <a:ext cx="237744" cy="237744"/>
          </a:xfrm>
          <a:prstGeom prst="ellipse">
            <a:avLst/>
          </a:prstGeom>
          <a:solidFill>
            <a:srgbClr val="FFFFFF"/>
          </a:solidFill>
          <a:ln w="10160">
            <a:solidFill>
              <a:srgbClr val="BBBBBB"/>
            </a:solidFill>
            <a:prstDash val="solid"/>
          </a:ln>
        </p:spPr>
      </p:sp>
      <p:sp>
        <p:nvSpPr>
          <p:cNvPr id="148" name="Shape 146"/>
          <p:cNvSpPr/>
          <p:nvPr/>
        </p:nvSpPr>
        <p:spPr>
          <a:xfrm>
            <a:off x="5833872" y="8266176"/>
            <a:ext cx="237744" cy="237744"/>
          </a:xfrm>
          <a:prstGeom prst="ellipse">
            <a:avLst/>
          </a:prstGeom>
          <a:solidFill>
            <a:srgbClr val="FFFFFF"/>
          </a:solidFill>
          <a:ln w="10160">
            <a:solidFill>
              <a:srgbClr val="BBBBBB"/>
            </a:solidFill>
            <a:prstDash val="solid"/>
          </a:ln>
        </p:spPr>
      </p:sp>
      <p:sp>
        <p:nvSpPr>
          <p:cNvPr id="149" name="Shape 147"/>
          <p:cNvSpPr/>
          <p:nvPr/>
        </p:nvSpPr>
        <p:spPr>
          <a:xfrm>
            <a:off x="6839712" y="8266176"/>
            <a:ext cx="237744" cy="237744"/>
          </a:xfrm>
          <a:prstGeom prst="ellipse">
            <a:avLst/>
          </a:prstGeom>
          <a:solidFill>
            <a:srgbClr val="FFFFFF"/>
          </a:solidFill>
          <a:ln w="10160">
            <a:solidFill>
              <a:srgbClr val="BBBBBB"/>
            </a:solidFill>
            <a:prstDash val="solid"/>
          </a:ln>
        </p:spPr>
      </p:sp>
      <p:sp>
        <p:nvSpPr>
          <p:cNvPr id="150" name="Shape 148"/>
          <p:cNvSpPr/>
          <p:nvPr/>
        </p:nvSpPr>
        <p:spPr>
          <a:xfrm>
            <a:off x="7845552" y="8266176"/>
            <a:ext cx="237744" cy="237744"/>
          </a:xfrm>
          <a:prstGeom prst="ellipse">
            <a:avLst/>
          </a:prstGeom>
          <a:solidFill>
            <a:srgbClr val="FFFFFF"/>
          </a:solidFill>
          <a:ln w="10160">
            <a:solidFill>
              <a:srgbClr val="BBBBBB"/>
            </a:solidFill>
            <a:prstDash val="solid"/>
          </a:ln>
        </p:spPr>
      </p:sp>
      <p:sp>
        <p:nvSpPr>
          <p:cNvPr id="151" name="Shape 149"/>
          <p:cNvSpPr/>
          <p:nvPr/>
        </p:nvSpPr>
        <p:spPr>
          <a:xfrm>
            <a:off x="8321040" y="8266176"/>
            <a:ext cx="420624" cy="237744"/>
          </a:xfrm>
          <a:prstGeom prst="rect">
            <a:avLst>
              <a:gd name="adj" fmla="val 11538"/>
            </a:avLst>
          </a:prstGeom>
          <a:solidFill>
            <a:srgbClr val="E5E5EA"/>
          </a:solidFill>
          <a:ln w="12700">
            <a:solidFill>
              <a:srgbClr val="E5E5EA"/>
            </a:solidFill>
            <a:prstDash val="solid"/>
          </a:ln>
        </p:spPr>
      </p:sp>
      <p:sp>
        <p:nvSpPr>
          <p:cNvPr id="152" name="Shape 150"/>
          <p:cNvSpPr/>
          <p:nvPr/>
        </p:nvSpPr>
        <p:spPr>
          <a:xfrm>
            <a:off x="320040" y="8613648"/>
            <a:ext cx="8503920" cy="310896"/>
          </a:xfrm>
          <a:prstGeom prst="rect">
            <a:avLst>
              <a:gd name="adj" fmla="val 11765"/>
            </a:avLst>
          </a:prstGeom>
          <a:solidFill>
            <a:srgbClr val="0A74E3"/>
          </a:solidFill>
          <a:ln w="12700">
            <a:solidFill>
              <a:srgbClr val="0A74E3"/>
            </a:solidFill>
            <a:prstDash val="solid"/>
          </a:ln>
        </p:spPr>
      </p:sp>
      <p:sp>
        <p:nvSpPr>
          <p:cNvPr id="153" name="Text 151"/>
          <p:cNvSpPr/>
          <p:nvPr/>
        </p:nvSpPr>
        <p:spPr>
          <a:xfrm>
            <a:off x="411480" y="8631936"/>
            <a:ext cx="7315200" cy="274320"/>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Puntaje Total (max 64 pts):</a:t>
            </a:r>
            <a:endParaRPr lang="en-US" sz="850" dirty="0"/>
          </a:p>
        </p:txBody>
      </p:sp>
      <p:sp>
        <p:nvSpPr>
          <p:cNvPr id="154" name="Shape 152"/>
          <p:cNvSpPr/>
          <p:nvPr/>
        </p:nvSpPr>
        <p:spPr>
          <a:xfrm>
            <a:off x="8321040" y="8631936"/>
            <a:ext cx="420624" cy="274320"/>
          </a:xfrm>
          <a:prstGeom prst="rect">
            <a:avLst>
              <a:gd name="adj" fmla="val 10000"/>
            </a:avLst>
          </a:prstGeom>
          <a:solidFill>
            <a:srgbClr val="FFFFFF"/>
          </a:solidFill>
          <a:ln w="12700">
            <a:solidFill>
              <a:srgbClr val="FFFFFF"/>
            </a:solidFill>
            <a:prstDash val="solid"/>
          </a:ln>
        </p:spPr>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4E3"/>
          </a:solidFill>
          <a:ln w="12700">
            <a:solidFill>
              <a:srgbClr val="0A74E3"/>
            </a:solidFill>
            <a:prstDash val="solid"/>
          </a:ln>
        </p:spPr>
      </p:sp>
      <p:sp>
        <p:nvSpPr>
          <p:cNvPr id="3" name="Shape 1"/>
          <p:cNvSpPr/>
          <p:nvPr/>
        </p:nvSpPr>
        <p:spPr>
          <a:xfrm>
            <a:off x="164592" y="4956048"/>
            <a:ext cx="8979408" cy="182880"/>
          </a:xfrm>
          <a:prstGeom prst="rect">
            <a:avLst/>
          </a:prstGeom>
          <a:solidFill>
            <a:srgbClr val="0A74E3"/>
          </a:solidFill>
          <a:ln w="12700">
            <a:solidFill>
              <a:srgbClr val="0A74E3"/>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99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Niveles de Madurez AWP — Interpretación del Scorecard</a:t>
            </a:r>
            <a:endParaRPr lang="en-US" sz="1800" dirty="0"/>
          </a:p>
        </p:txBody>
      </p:sp>
      <p:sp>
        <p:nvSpPr>
          <p:cNvPr id="6" name="Shape 4"/>
          <p:cNvSpPr/>
          <p:nvPr/>
        </p:nvSpPr>
        <p:spPr>
          <a:xfrm>
            <a:off x="320040" y="621792"/>
            <a:ext cx="8503920" cy="41148"/>
          </a:xfrm>
          <a:prstGeom prst="rect">
            <a:avLst/>
          </a:prstGeom>
          <a:solidFill>
            <a:srgbClr val="0A74E3"/>
          </a:solidFill>
          <a:ln w="12700">
            <a:solidFill>
              <a:srgbClr val="0A74E3"/>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A74E3"/>
                </a:solidFill>
                <a:latin typeface="Atkinson Hyperlegible" pitchFamily="34" charset="0"/>
                <a:ea typeface="Atkinson Hyperlegible" pitchFamily="34" charset="-122"/>
                <a:cs typeface="Atkinson Hyperlegible" pitchFamily="34" charset="-120"/>
              </a:rPr>
              <a:t>Diagnóstico organizacional y hoja de ruta de mejora basada en puntaje</a:t>
            </a:r>
            <a:endParaRPr lang="en-US" sz="900" dirty="0"/>
          </a:p>
        </p:txBody>
      </p:sp>
      <p:sp>
        <p:nvSpPr>
          <p:cNvPr id="8" name="Shape 6"/>
          <p:cNvSpPr/>
          <p:nvPr/>
        </p:nvSpPr>
        <p:spPr>
          <a:xfrm>
            <a:off x="320040" y="960120"/>
            <a:ext cx="8503920" cy="960120"/>
          </a:xfrm>
          <a:prstGeom prst="rect">
            <a:avLst>
              <a:gd name="adj" fmla="val 6667"/>
            </a:avLst>
          </a:prstGeom>
          <a:solidFill>
            <a:srgbClr val="FFFFFF"/>
          </a:solidFill>
          <a:ln w="15240">
            <a:solidFill>
              <a:srgbClr val="C0392B"/>
            </a:solidFill>
            <a:prstDash val="solid"/>
          </a:ln>
        </p:spPr>
      </p:sp>
      <p:sp>
        <p:nvSpPr>
          <p:cNvPr id="9" name="Shape 7"/>
          <p:cNvSpPr/>
          <p:nvPr/>
        </p:nvSpPr>
        <p:spPr>
          <a:xfrm>
            <a:off x="320040" y="960120"/>
            <a:ext cx="1097280" cy="960120"/>
          </a:xfrm>
          <a:prstGeom prst="rect">
            <a:avLst>
              <a:gd name="adj" fmla="val 6667"/>
            </a:avLst>
          </a:prstGeom>
          <a:solidFill>
            <a:srgbClr val="C0392B"/>
          </a:solidFill>
          <a:ln w="12700">
            <a:solidFill>
              <a:srgbClr val="C0392B"/>
            </a:solidFill>
            <a:prstDash val="solid"/>
          </a:ln>
        </p:spPr>
      </p:sp>
      <p:sp>
        <p:nvSpPr>
          <p:cNvPr id="10" name="Text 8"/>
          <p:cNvSpPr/>
          <p:nvPr/>
        </p:nvSpPr>
        <p:spPr>
          <a:xfrm>
            <a:off x="320040" y="996696"/>
            <a:ext cx="1097280" cy="402336"/>
          </a:xfrm>
          <a:prstGeom prst="rect">
            <a:avLst/>
          </a:prstGeom>
          <a:noFill/>
          <a:ln/>
        </p:spPr>
        <p:txBody>
          <a:bodyPr wrap="square" rtlCol="0" anchor="ctr"/>
          <a:lstStyle/>
          <a:p>
            <a:pPr algn="ct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0-16</a:t>
            </a:r>
            <a:endParaRPr lang="en-US" sz="1400" dirty="0"/>
          </a:p>
        </p:txBody>
      </p:sp>
      <p:sp>
        <p:nvSpPr>
          <p:cNvPr id="11" name="Text 9"/>
          <p:cNvSpPr/>
          <p:nvPr/>
        </p:nvSpPr>
        <p:spPr>
          <a:xfrm>
            <a:off x="320040" y="1380744"/>
            <a:ext cx="1097280" cy="237744"/>
          </a:xfrm>
          <a:prstGeom prst="rect">
            <a:avLst/>
          </a:prstGeom>
          <a:noFill/>
          <a:ln/>
        </p:spPr>
        <p:txBody>
          <a:bodyPr wrap="square" rtlCol="0" anchor="ctr"/>
          <a:lstStyle/>
          <a:p>
            <a:pPr algn="ctr" indent="0" marL="0">
              <a:buNone/>
            </a:pPr>
            <a:r>
              <a:rPr lang="en-US" sz="800" dirty="0">
                <a:solidFill>
                  <a:srgbClr val="FFFFFF"/>
                </a:solidFill>
                <a:latin typeface="Atkinson Hyperlegible" pitchFamily="34" charset="0"/>
                <a:ea typeface="Atkinson Hyperlegible" pitchFamily="34" charset="-122"/>
                <a:cs typeface="Atkinson Hyperlegible" pitchFamily="34" charset="-120"/>
              </a:rPr>
              <a:t>pts</a:t>
            </a:r>
            <a:endParaRPr lang="en-US" sz="800" dirty="0"/>
          </a:p>
        </p:txBody>
      </p:sp>
      <p:sp>
        <p:nvSpPr>
          <p:cNvPr id="12" name="Text 10"/>
          <p:cNvSpPr/>
          <p:nvPr/>
        </p:nvSpPr>
        <p:spPr>
          <a:xfrm>
            <a:off x="1554480" y="996696"/>
            <a:ext cx="3108960" cy="329184"/>
          </a:xfrm>
          <a:prstGeom prst="rect">
            <a:avLst/>
          </a:prstGeom>
          <a:noFill/>
          <a:ln/>
        </p:spPr>
        <p:txBody>
          <a:bodyPr wrap="square" rtlCol="0" anchor="ctr"/>
          <a:lstStyle/>
          <a:p>
            <a:pPr indent="0" marL="0">
              <a:buNone/>
            </a:pPr>
            <a:r>
              <a:rPr lang="en-US" sz="1000" b="1" dirty="0">
                <a:solidFill>
                  <a:srgbClr val="C0392B"/>
                </a:solidFill>
                <a:latin typeface="Atkinson Hyperlegible" pitchFamily="34" charset="0"/>
                <a:ea typeface="Atkinson Hyperlegible" pitchFamily="34" charset="-122"/>
                <a:cs typeface="Atkinson Hyperlegible" pitchFamily="34" charset="-120"/>
              </a:rPr>
              <a:t>Nivel 1: Inicial</a:t>
            </a:r>
            <a:endParaRPr lang="en-US" sz="1000" dirty="0"/>
          </a:p>
        </p:txBody>
      </p:sp>
      <p:sp>
        <p:nvSpPr>
          <p:cNvPr id="13" name="Text 11"/>
          <p:cNvSpPr/>
          <p:nvPr/>
        </p:nvSpPr>
        <p:spPr>
          <a:xfrm>
            <a:off x="1554480" y="1344168"/>
            <a:ext cx="3108960" cy="512064"/>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Sin procesos formales de constructabilidad. Cada proyecto improvisa. Alta variabilidad en resultados.</a:t>
            </a:r>
            <a:endParaRPr lang="en-US" sz="800" dirty="0"/>
          </a:p>
        </p:txBody>
      </p:sp>
      <p:sp>
        <p:nvSpPr>
          <p:cNvPr id="14" name="Text 12"/>
          <p:cNvSpPr/>
          <p:nvPr/>
        </p:nvSpPr>
        <p:spPr>
          <a:xfrm>
            <a:off x="4800600" y="996696"/>
            <a:ext cx="3840480" cy="219456"/>
          </a:xfrm>
          <a:prstGeom prst="rect">
            <a:avLst/>
          </a:prstGeom>
          <a:noFill/>
          <a:ln/>
        </p:spPr>
        <p:txBody>
          <a:bodyPr wrap="square" rtlCol="0" anchor="ctr"/>
          <a:lstStyle/>
          <a:p>
            <a:pP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Próximos pasos:</a:t>
            </a:r>
            <a:endParaRPr lang="en-US" sz="750" dirty="0"/>
          </a:p>
        </p:txBody>
      </p:sp>
      <p:sp>
        <p:nvSpPr>
          <p:cNvPr id="15" name="Text 13"/>
          <p:cNvSpPr/>
          <p:nvPr/>
        </p:nvSpPr>
        <p:spPr>
          <a:xfrm>
            <a:off x="4800600" y="1234440"/>
            <a:ext cx="3840480" cy="292608"/>
          </a:xfrm>
          <a:prstGeom prst="rect">
            <a:avLst/>
          </a:prstGeom>
          <a:noFill/>
          <a:ln/>
        </p:spPr>
        <p:txBody>
          <a:bodyPr wrap="square" rtlCol="0" anchor="ctr"/>
          <a:lstStyle/>
          <a:p>
            <a:pPr indent="0" marL="0">
              <a:buNone/>
            </a:pPr>
            <a:r>
              <a:rPr lang="en-US" sz="750" dirty="0">
                <a:solidFill>
                  <a:srgbClr val="333333"/>
                </a:solidFill>
                <a:latin typeface="Atkinson Hyperlegible" pitchFamily="34" charset="0"/>
                <a:ea typeface="Atkinson Hyperlegible" pitchFamily="34" charset="-122"/>
                <a:cs typeface="Atkinson Hyperlegible" pitchFamily="34" charset="-120"/>
              </a:rPr>
              <a:t>• Designar Champion de constructabilidad</a:t>
            </a:r>
            <a:endParaRPr lang="en-US" sz="750" dirty="0"/>
          </a:p>
        </p:txBody>
      </p:sp>
      <p:sp>
        <p:nvSpPr>
          <p:cNvPr id="16" name="Text 14"/>
          <p:cNvSpPr/>
          <p:nvPr/>
        </p:nvSpPr>
        <p:spPr>
          <a:xfrm>
            <a:off x="4800600" y="1563624"/>
            <a:ext cx="3840480" cy="292608"/>
          </a:xfrm>
          <a:prstGeom prst="rect">
            <a:avLst/>
          </a:prstGeom>
          <a:noFill/>
          <a:ln/>
        </p:spPr>
        <p:txBody>
          <a:bodyPr wrap="square" rtlCol="0" anchor="ctr"/>
          <a:lstStyle/>
          <a:p>
            <a:pPr indent="0" marL="0">
              <a:buNone/>
            </a:pPr>
            <a:r>
              <a:rPr lang="en-US" sz="750" dirty="0">
                <a:solidFill>
                  <a:srgbClr val="333333"/>
                </a:solidFill>
                <a:latin typeface="Atkinson Hyperlegible" pitchFamily="34" charset="0"/>
                <a:ea typeface="Atkinson Hyperlegible" pitchFamily="34" charset="-122"/>
                <a:cs typeface="Atkinson Hyperlegible" pitchFamily="34" charset="-120"/>
              </a:rPr>
              <a:t>• Aplicar AWP en un proyecto piloto</a:t>
            </a:r>
            <a:endParaRPr lang="en-US" sz="750" dirty="0"/>
          </a:p>
        </p:txBody>
      </p:sp>
      <p:sp>
        <p:nvSpPr>
          <p:cNvPr id="17" name="Shape 15"/>
          <p:cNvSpPr/>
          <p:nvPr/>
        </p:nvSpPr>
        <p:spPr>
          <a:xfrm>
            <a:off x="320040" y="1984248"/>
            <a:ext cx="8503920" cy="960120"/>
          </a:xfrm>
          <a:prstGeom prst="rect">
            <a:avLst>
              <a:gd name="adj" fmla="val 6667"/>
            </a:avLst>
          </a:prstGeom>
          <a:solidFill>
            <a:srgbClr val="FFFFFF"/>
          </a:solidFill>
          <a:ln w="15240">
            <a:solidFill>
              <a:srgbClr val="D4620A"/>
            </a:solidFill>
            <a:prstDash val="solid"/>
          </a:ln>
        </p:spPr>
      </p:sp>
      <p:sp>
        <p:nvSpPr>
          <p:cNvPr id="18" name="Shape 16"/>
          <p:cNvSpPr/>
          <p:nvPr/>
        </p:nvSpPr>
        <p:spPr>
          <a:xfrm>
            <a:off x="320040" y="1984248"/>
            <a:ext cx="1097280" cy="960120"/>
          </a:xfrm>
          <a:prstGeom prst="rect">
            <a:avLst>
              <a:gd name="adj" fmla="val 6667"/>
            </a:avLst>
          </a:prstGeom>
          <a:solidFill>
            <a:srgbClr val="D4620A"/>
          </a:solidFill>
          <a:ln w="12700">
            <a:solidFill>
              <a:srgbClr val="D4620A"/>
            </a:solidFill>
            <a:prstDash val="solid"/>
          </a:ln>
        </p:spPr>
      </p:sp>
      <p:sp>
        <p:nvSpPr>
          <p:cNvPr id="19" name="Text 17"/>
          <p:cNvSpPr/>
          <p:nvPr/>
        </p:nvSpPr>
        <p:spPr>
          <a:xfrm>
            <a:off x="320040" y="2020824"/>
            <a:ext cx="1097280" cy="402336"/>
          </a:xfrm>
          <a:prstGeom prst="rect">
            <a:avLst/>
          </a:prstGeom>
          <a:noFill/>
          <a:ln/>
        </p:spPr>
        <p:txBody>
          <a:bodyPr wrap="square" rtlCol="0" anchor="ctr"/>
          <a:lstStyle/>
          <a:p>
            <a:pPr algn="ct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17-32</a:t>
            </a:r>
            <a:endParaRPr lang="en-US" sz="1400" dirty="0"/>
          </a:p>
        </p:txBody>
      </p:sp>
      <p:sp>
        <p:nvSpPr>
          <p:cNvPr id="20" name="Text 18"/>
          <p:cNvSpPr/>
          <p:nvPr/>
        </p:nvSpPr>
        <p:spPr>
          <a:xfrm>
            <a:off x="320040" y="2404872"/>
            <a:ext cx="1097280" cy="237744"/>
          </a:xfrm>
          <a:prstGeom prst="rect">
            <a:avLst/>
          </a:prstGeom>
          <a:noFill/>
          <a:ln/>
        </p:spPr>
        <p:txBody>
          <a:bodyPr wrap="square" rtlCol="0" anchor="ctr"/>
          <a:lstStyle/>
          <a:p>
            <a:pPr algn="ctr" indent="0" marL="0">
              <a:buNone/>
            </a:pPr>
            <a:r>
              <a:rPr lang="en-US" sz="800" dirty="0">
                <a:solidFill>
                  <a:srgbClr val="FFFFFF"/>
                </a:solidFill>
                <a:latin typeface="Atkinson Hyperlegible" pitchFamily="34" charset="0"/>
                <a:ea typeface="Atkinson Hyperlegible" pitchFamily="34" charset="-122"/>
                <a:cs typeface="Atkinson Hyperlegible" pitchFamily="34" charset="-120"/>
              </a:rPr>
              <a:t>pts</a:t>
            </a:r>
            <a:endParaRPr lang="en-US" sz="800" dirty="0"/>
          </a:p>
        </p:txBody>
      </p:sp>
      <p:sp>
        <p:nvSpPr>
          <p:cNvPr id="21" name="Text 19"/>
          <p:cNvSpPr/>
          <p:nvPr/>
        </p:nvSpPr>
        <p:spPr>
          <a:xfrm>
            <a:off x="1554480" y="2020824"/>
            <a:ext cx="3108960" cy="329184"/>
          </a:xfrm>
          <a:prstGeom prst="rect">
            <a:avLst/>
          </a:prstGeom>
          <a:noFill/>
          <a:ln/>
        </p:spPr>
        <p:txBody>
          <a:bodyPr wrap="square" rtlCol="0" anchor="ctr"/>
          <a:lstStyle/>
          <a:p>
            <a:pPr indent="0" marL="0">
              <a:buNone/>
            </a:pPr>
            <a:r>
              <a:rPr lang="en-US" sz="1000" b="1" dirty="0">
                <a:solidFill>
                  <a:srgbClr val="D4620A"/>
                </a:solidFill>
                <a:latin typeface="Atkinson Hyperlegible" pitchFamily="34" charset="0"/>
                <a:ea typeface="Atkinson Hyperlegible" pitchFamily="34" charset="-122"/>
                <a:cs typeface="Atkinson Hyperlegible" pitchFamily="34" charset="-120"/>
              </a:rPr>
              <a:t>Nivel 2: Gestionado</a:t>
            </a:r>
            <a:endParaRPr lang="en-US" sz="1000" dirty="0"/>
          </a:p>
        </p:txBody>
      </p:sp>
      <p:sp>
        <p:nvSpPr>
          <p:cNvPr id="22" name="Text 20"/>
          <p:cNvSpPr/>
          <p:nvPr/>
        </p:nvSpPr>
        <p:spPr>
          <a:xfrm>
            <a:off x="1554480" y="2368296"/>
            <a:ext cx="3108960" cy="512064"/>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Constructabilidad aplicada en algunos proyectos. Proceso informal pero documentado en parte.</a:t>
            </a:r>
            <a:endParaRPr lang="en-US" sz="800" dirty="0"/>
          </a:p>
        </p:txBody>
      </p:sp>
      <p:sp>
        <p:nvSpPr>
          <p:cNvPr id="23" name="Text 21"/>
          <p:cNvSpPr/>
          <p:nvPr/>
        </p:nvSpPr>
        <p:spPr>
          <a:xfrm>
            <a:off x="4800600" y="2020824"/>
            <a:ext cx="3840480" cy="219456"/>
          </a:xfrm>
          <a:prstGeom prst="rect">
            <a:avLst/>
          </a:prstGeom>
          <a:noFill/>
          <a:ln/>
        </p:spPr>
        <p:txBody>
          <a:bodyPr wrap="square" rtlCol="0" anchor="ctr"/>
          <a:lstStyle/>
          <a:p>
            <a:pP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Próximos pasos:</a:t>
            </a:r>
            <a:endParaRPr lang="en-US" sz="750" dirty="0"/>
          </a:p>
        </p:txBody>
      </p:sp>
      <p:sp>
        <p:nvSpPr>
          <p:cNvPr id="24" name="Text 22"/>
          <p:cNvSpPr/>
          <p:nvPr/>
        </p:nvSpPr>
        <p:spPr>
          <a:xfrm>
            <a:off x="4800600" y="2258568"/>
            <a:ext cx="3840480" cy="292608"/>
          </a:xfrm>
          <a:prstGeom prst="rect">
            <a:avLst/>
          </a:prstGeom>
          <a:noFill/>
          <a:ln/>
        </p:spPr>
        <p:txBody>
          <a:bodyPr wrap="square" rtlCol="0" anchor="ctr"/>
          <a:lstStyle/>
          <a:p>
            <a:pPr indent="0" marL="0">
              <a:buNone/>
            </a:pPr>
            <a:r>
              <a:rPr lang="en-US" sz="750" dirty="0">
                <a:solidFill>
                  <a:srgbClr val="333333"/>
                </a:solidFill>
                <a:latin typeface="Atkinson Hyperlegible" pitchFamily="34" charset="0"/>
                <a:ea typeface="Atkinson Hyperlegible" pitchFamily="34" charset="-122"/>
                <a:cs typeface="Atkinson Hyperlegible" pitchFamily="34" charset="-120"/>
              </a:rPr>
              <a:t>• Formalizar política de constructabilidad</a:t>
            </a:r>
            <a:endParaRPr lang="en-US" sz="750" dirty="0"/>
          </a:p>
        </p:txBody>
      </p:sp>
      <p:sp>
        <p:nvSpPr>
          <p:cNvPr id="25" name="Text 23"/>
          <p:cNvSpPr/>
          <p:nvPr/>
        </p:nvSpPr>
        <p:spPr>
          <a:xfrm>
            <a:off x="4800600" y="2587752"/>
            <a:ext cx="3840480" cy="292608"/>
          </a:xfrm>
          <a:prstGeom prst="rect">
            <a:avLst/>
          </a:prstGeom>
          <a:noFill/>
          <a:ln/>
        </p:spPr>
        <p:txBody>
          <a:bodyPr wrap="square" rtlCol="0" anchor="ctr"/>
          <a:lstStyle/>
          <a:p>
            <a:pPr indent="0" marL="0">
              <a:buNone/>
            </a:pPr>
            <a:r>
              <a:rPr lang="en-US" sz="750" dirty="0">
                <a:solidFill>
                  <a:srgbClr val="333333"/>
                </a:solidFill>
                <a:latin typeface="Atkinson Hyperlegible" pitchFamily="34" charset="0"/>
                <a:ea typeface="Atkinson Hyperlegible" pitchFamily="34" charset="-122"/>
                <a:cs typeface="Atkinson Hyperlegible" pitchFamily="34" charset="-120"/>
              </a:rPr>
              <a:t>• Extender AWP a todos los proyectos &gt;$50M</a:t>
            </a:r>
            <a:endParaRPr lang="en-US" sz="750" dirty="0"/>
          </a:p>
        </p:txBody>
      </p:sp>
      <p:sp>
        <p:nvSpPr>
          <p:cNvPr id="26" name="Shape 24"/>
          <p:cNvSpPr/>
          <p:nvPr/>
        </p:nvSpPr>
        <p:spPr>
          <a:xfrm>
            <a:off x="320040" y="3008376"/>
            <a:ext cx="8503920" cy="960120"/>
          </a:xfrm>
          <a:prstGeom prst="rect">
            <a:avLst>
              <a:gd name="adj" fmla="val 6667"/>
            </a:avLst>
          </a:prstGeom>
          <a:solidFill>
            <a:srgbClr val="FFFFFF"/>
          </a:solidFill>
          <a:ln w="15240">
            <a:solidFill>
              <a:srgbClr val="0E9E9E"/>
            </a:solidFill>
            <a:prstDash val="solid"/>
          </a:ln>
        </p:spPr>
      </p:sp>
      <p:sp>
        <p:nvSpPr>
          <p:cNvPr id="27" name="Shape 25"/>
          <p:cNvSpPr/>
          <p:nvPr/>
        </p:nvSpPr>
        <p:spPr>
          <a:xfrm>
            <a:off x="320040" y="3008376"/>
            <a:ext cx="1097280" cy="960120"/>
          </a:xfrm>
          <a:prstGeom prst="rect">
            <a:avLst>
              <a:gd name="adj" fmla="val 6667"/>
            </a:avLst>
          </a:prstGeom>
          <a:solidFill>
            <a:srgbClr val="0E9E9E"/>
          </a:solidFill>
          <a:ln w="12700">
            <a:solidFill>
              <a:srgbClr val="0E9E9E"/>
            </a:solidFill>
            <a:prstDash val="solid"/>
          </a:ln>
        </p:spPr>
      </p:sp>
      <p:sp>
        <p:nvSpPr>
          <p:cNvPr id="28" name="Text 26"/>
          <p:cNvSpPr/>
          <p:nvPr/>
        </p:nvSpPr>
        <p:spPr>
          <a:xfrm>
            <a:off x="320040" y="3044952"/>
            <a:ext cx="1097280" cy="402336"/>
          </a:xfrm>
          <a:prstGeom prst="rect">
            <a:avLst/>
          </a:prstGeom>
          <a:noFill/>
          <a:ln/>
        </p:spPr>
        <p:txBody>
          <a:bodyPr wrap="square" rtlCol="0" anchor="ctr"/>
          <a:lstStyle/>
          <a:p>
            <a:pPr algn="ct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33-48</a:t>
            </a:r>
            <a:endParaRPr lang="en-US" sz="1400" dirty="0"/>
          </a:p>
        </p:txBody>
      </p:sp>
      <p:sp>
        <p:nvSpPr>
          <p:cNvPr id="29" name="Text 27"/>
          <p:cNvSpPr/>
          <p:nvPr/>
        </p:nvSpPr>
        <p:spPr>
          <a:xfrm>
            <a:off x="320040" y="3429000"/>
            <a:ext cx="1097280" cy="237744"/>
          </a:xfrm>
          <a:prstGeom prst="rect">
            <a:avLst/>
          </a:prstGeom>
          <a:noFill/>
          <a:ln/>
        </p:spPr>
        <p:txBody>
          <a:bodyPr wrap="square" rtlCol="0" anchor="ctr"/>
          <a:lstStyle/>
          <a:p>
            <a:pPr algn="ctr" indent="0" marL="0">
              <a:buNone/>
            </a:pPr>
            <a:r>
              <a:rPr lang="en-US" sz="800" dirty="0">
                <a:solidFill>
                  <a:srgbClr val="FFFFFF"/>
                </a:solidFill>
                <a:latin typeface="Atkinson Hyperlegible" pitchFamily="34" charset="0"/>
                <a:ea typeface="Atkinson Hyperlegible" pitchFamily="34" charset="-122"/>
                <a:cs typeface="Atkinson Hyperlegible" pitchFamily="34" charset="-120"/>
              </a:rPr>
              <a:t>pts</a:t>
            </a:r>
            <a:endParaRPr lang="en-US" sz="800" dirty="0"/>
          </a:p>
        </p:txBody>
      </p:sp>
      <p:sp>
        <p:nvSpPr>
          <p:cNvPr id="30" name="Text 28"/>
          <p:cNvSpPr/>
          <p:nvPr/>
        </p:nvSpPr>
        <p:spPr>
          <a:xfrm>
            <a:off x="1554480" y="3044952"/>
            <a:ext cx="3108960" cy="329184"/>
          </a:xfrm>
          <a:prstGeom prst="rect">
            <a:avLst/>
          </a:prstGeom>
          <a:noFill/>
          <a:ln/>
        </p:spPr>
        <p:txBody>
          <a:bodyPr wrap="square" rtlCol="0" anchor="ctr"/>
          <a:lstStyle/>
          <a:p>
            <a:pPr indent="0" marL="0">
              <a:buNone/>
            </a:pPr>
            <a:r>
              <a:rPr lang="en-US" sz="1000" b="1" dirty="0">
                <a:solidFill>
                  <a:srgbClr val="0E9E9E"/>
                </a:solidFill>
                <a:latin typeface="Atkinson Hyperlegible" pitchFamily="34" charset="0"/>
                <a:ea typeface="Atkinson Hyperlegible" pitchFamily="34" charset="-122"/>
                <a:cs typeface="Atkinson Hyperlegible" pitchFamily="34" charset="-120"/>
              </a:rPr>
              <a:t>Nivel 3: Definido</a:t>
            </a:r>
            <a:endParaRPr lang="en-US" sz="1000" dirty="0"/>
          </a:p>
        </p:txBody>
      </p:sp>
      <p:sp>
        <p:nvSpPr>
          <p:cNvPr id="31" name="Text 29"/>
          <p:cNvSpPr/>
          <p:nvPr/>
        </p:nvSpPr>
        <p:spPr>
          <a:xfrm>
            <a:off x="1554480" y="3392424"/>
            <a:ext cx="3108960" cy="512064"/>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AWP implementado sistemáticamente. KPIs medidos. Capacitación estructurada. BIM integrado.</a:t>
            </a:r>
            <a:endParaRPr lang="en-US" sz="800" dirty="0"/>
          </a:p>
        </p:txBody>
      </p:sp>
      <p:sp>
        <p:nvSpPr>
          <p:cNvPr id="32" name="Text 30"/>
          <p:cNvSpPr/>
          <p:nvPr/>
        </p:nvSpPr>
        <p:spPr>
          <a:xfrm>
            <a:off x="4800600" y="3044952"/>
            <a:ext cx="3840480" cy="219456"/>
          </a:xfrm>
          <a:prstGeom prst="rect">
            <a:avLst/>
          </a:prstGeom>
          <a:noFill/>
          <a:ln/>
        </p:spPr>
        <p:txBody>
          <a:bodyPr wrap="square" rtlCol="0" anchor="ctr"/>
          <a:lstStyle/>
          <a:p>
            <a:pP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Próximos pasos:</a:t>
            </a:r>
            <a:endParaRPr lang="en-US" sz="750" dirty="0"/>
          </a:p>
        </p:txBody>
      </p:sp>
      <p:sp>
        <p:nvSpPr>
          <p:cNvPr id="33" name="Text 31"/>
          <p:cNvSpPr/>
          <p:nvPr/>
        </p:nvSpPr>
        <p:spPr>
          <a:xfrm>
            <a:off x="4800600" y="3282696"/>
            <a:ext cx="3840480" cy="292608"/>
          </a:xfrm>
          <a:prstGeom prst="rect">
            <a:avLst/>
          </a:prstGeom>
          <a:noFill/>
          <a:ln/>
        </p:spPr>
        <p:txBody>
          <a:bodyPr wrap="square" rtlCol="0" anchor="ctr"/>
          <a:lstStyle/>
          <a:p>
            <a:pPr indent="0" marL="0">
              <a:buNone/>
            </a:pPr>
            <a:r>
              <a:rPr lang="en-US" sz="750" dirty="0">
                <a:solidFill>
                  <a:srgbClr val="333333"/>
                </a:solidFill>
                <a:latin typeface="Atkinson Hyperlegible" pitchFamily="34" charset="0"/>
                <a:ea typeface="Atkinson Hyperlegible" pitchFamily="34" charset="-122"/>
                <a:cs typeface="Atkinson Hyperlegible" pitchFamily="34" charset="-120"/>
              </a:rPr>
              <a:t>• Benchmarking externo anual con CII</a:t>
            </a:r>
            <a:endParaRPr lang="en-US" sz="750" dirty="0"/>
          </a:p>
        </p:txBody>
      </p:sp>
      <p:sp>
        <p:nvSpPr>
          <p:cNvPr id="34" name="Text 32"/>
          <p:cNvSpPr/>
          <p:nvPr/>
        </p:nvSpPr>
        <p:spPr>
          <a:xfrm>
            <a:off x="4800600" y="3611880"/>
            <a:ext cx="3840480" cy="292608"/>
          </a:xfrm>
          <a:prstGeom prst="rect">
            <a:avLst/>
          </a:prstGeom>
          <a:noFill/>
          <a:ln/>
        </p:spPr>
        <p:txBody>
          <a:bodyPr wrap="square" rtlCol="0" anchor="ctr"/>
          <a:lstStyle/>
          <a:p>
            <a:pPr indent="0" marL="0">
              <a:buNone/>
            </a:pPr>
            <a:r>
              <a:rPr lang="en-US" sz="750" dirty="0">
                <a:solidFill>
                  <a:srgbClr val="333333"/>
                </a:solidFill>
                <a:latin typeface="Atkinson Hyperlegible" pitchFamily="34" charset="0"/>
                <a:ea typeface="Atkinson Hyperlegible" pitchFamily="34" charset="-122"/>
                <a:cs typeface="Atkinson Hyperlegible" pitchFamily="34" charset="-120"/>
              </a:rPr>
              <a:t>• Certificar ≥3 profesionales AWP</a:t>
            </a:r>
            <a:endParaRPr lang="en-US" sz="750" dirty="0"/>
          </a:p>
        </p:txBody>
      </p:sp>
      <p:sp>
        <p:nvSpPr>
          <p:cNvPr id="35" name="Shape 33"/>
          <p:cNvSpPr/>
          <p:nvPr/>
        </p:nvSpPr>
        <p:spPr>
          <a:xfrm>
            <a:off x="320040" y="4032504"/>
            <a:ext cx="8503920" cy="960120"/>
          </a:xfrm>
          <a:prstGeom prst="rect">
            <a:avLst>
              <a:gd name="adj" fmla="val 6667"/>
            </a:avLst>
          </a:prstGeom>
          <a:solidFill>
            <a:srgbClr val="FFFFFF"/>
          </a:solidFill>
          <a:ln w="15240">
            <a:solidFill>
              <a:srgbClr val="27AE60"/>
            </a:solidFill>
            <a:prstDash val="solid"/>
          </a:ln>
        </p:spPr>
      </p:sp>
      <p:sp>
        <p:nvSpPr>
          <p:cNvPr id="36" name="Shape 34"/>
          <p:cNvSpPr/>
          <p:nvPr/>
        </p:nvSpPr>
        <p:spPr>
          <a:xfrm>
            <a:off x="320040" y="4032504"/>
            <a:ext cx="1097280" cy="960120"/>
          </a:xfrm>
          <a:prstGeom prst="rect">
            <a:avLst>
              <a:gd name="adj" fmla="val 6667"/>
            </a:avLst>
          </a:prstGeom>
          <a:solidFill>
            <a:srgbClr val="27AE60"/>
          </a:solidFill>
          <a:ln w="12700">
            <a:solidFill>
              <a:srgbClr val="27AE60"/>
            </a:solidFill>
            <a:prstDash val="solid"/>
          </a:ln>
        </p:spPr>
      </p:sp>
      <p:sp>
        <p:nvSpPr>
          <p:cNvPr id="37" name="Text 35"/>
          <p:cNvSpPr/>
          <p:nvPr/>
        </p:nvSpPr>
        <p:spPr>
          <a:xfrm>
            <a:off x="320040" y="4069080"/>
            <a:ext cx="1097280" cy="402336"/>
          </a:xfrm>
          <a:prstGeom prst="rect">
            <a:avLst/>
          </a:prstGeom>
          <a:noFill/>
          <a:ln/>
        </p:spPr>
        <p:txBody>
          <a:bodyPr wrap="square" rtlCol="0" anchor="ctr"/>
          <a:lstStyle/>
          <a:p>
            <a:pPr algn="ct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49-64</a:t>
            </a:r>
            <a:endParaRPr lang="en-US" sz="1400" dirty="0"/>
          </a:p>
        </p:txBody>
      </p:sp>
      <p:sp>
        <p:nvSpPr>
          <p:cNvPr id="38" name="Text 36"/>
          <p:cNvSpPr/>
          <p:nvPr/>
        </p:nvSpPr>
        <p:spPr>
          <a:xfrm>
            <a:off x="320040" y="4453128"/>
            <a:ext cx="1097280" cy="237744"/>
          </a:xfrm>
          <a:prstGeom prst="rect">
            <a:avLst/>
          </a:prstGeom>
          <a:noFill/>
          <a:ln/>
        </p:spPr>
        <p:txBody>
          <a:bodyPr wrap="square" rtlCol="0" anchor="ctr"/>
          <a:lstStyle/>
          <a:p>
            <a:pPr algn="ctr" indent="0" marL="0">
              <a:buNone/>
            </a:pPr>
            <a:r>
              <a:rPr lang="en-US" sz="800" dirty="0">
                <a:solidFill>
                  <a:srgbClr val="FFFFFF"/>
                </a:solidFill>
                <a:latin typeface="Atkinson Hyperlegible" pitchFamily="34" charset="0"/>
                <a:ea typeface="Atkinson Hyperlegible" pitchFamily="34" charset="-122"/>
                <a:cs typeface="Atkinson Hyperlegible" pitchFamily="34" charset="-120"/>
              </a:rPr>
              <a:t>pts</a:t>
            </a:r>
            <a:endParaRPr lang="en-US" sz="800" dirty="0"/>
          </a:p>
        </p:txBody>
      </p:sp>
      <p:sp>
        <p:nvSpPr>
          <p:cNvPr id="39" name="Text 37"/>
          <p:cNvSpPr/>
          <p:nvPr/>
        </p:nvSpPr>
        <p:spPr>
          <a:xfrm>
            <a:off x="1554480" y="4069080"/>
            <a:ext cx="3108960" cy="329184"/>
          </a:xfrm>
          <a:prstGeom prst="rect">
            <a:avLst/>
          </a:prstGeom>
          <a:noFill/>
          <a:ln/>
        </p:spPr>
        <p:txBody>
          <a:bodyPr wrap="square" rtlCol="0" anchor="ctr"/>
          <a:lstStyle/>
          <a:p>
            <a:pPr indent="0" marL="0">
              <a:buNone/>
            </a:pPr>
            <a:r>
              <a:rPr lang="en-US" sz="1000" b="1" dirty="0">
                <a:solidFill>
                  <a:srgbClr val="27AE60"/>
                </a:solidFill>
                <a:latin typeface="Atkinson Hyperlegible" pitchFamily="34" charset="0"/>
                <a:ea typeface="Atkinson Hyperlegible" pitchFamily="34" charset="-122"/>
                <a:cs typeface="Atkinson Hyperlegible" pitchFamily="34" charset="-120"/>
              </a:rPr>
              <a:t>Nivel 4: Optimizado</a:t>
            </a:r>
            <a:endParaRPr lang="en-US" sz="1000" dirty="0"/>
          </a:p>
        </p:txBody>
      </p:sp>
      <p:sp>
        <p:nvSpPr>
          <p:cNvPr id="40" name="Text 38"/>
          <p:cNvSpPr/>
          <p:nvPr/>
        </p:nvSpPr>
        <p:spPr>
          <a:xfrm>
            <a:off x="1554480" y="4416552"/>
            <a:ext cx="3108960" cy="512064"/>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Mejora continua institucionalizada. CPI/SPI &gt; 1.05 sistémico. Referente del sector.</a:t>
            </a:r>
            <a:endParaRPr lang="en-US" sz="800" dirty="0"/>
          </a:p>
        </p:txBody>
      </p:sp>
      <p:sp>
        <p:nvSpPr>
          <p:cNvPr id="41" name="Text 39"/>
          <p:cNvSpPr/>
          <p:nvPr/>
        </p:nvSpPr>
        <p:spPr>
          <a:xfrm>
            <a:off x="4800600" y="4069080"/>
            <a:ext cx="3840480" cy="219456"/>
          </a:xfrm>
          <a:prstGeom prst="rect">
            <a:avLst/>
          </a:prstGeom>
          <a:noFill/>
          <a:ln/>
        </p:spPr>
        <p:txBody>
          <a:bodyPr wrap="square" rtlCol="0" anchor="ctr"/>
          <a:lstStyle/>
          <a:p>
            <a:pP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Próximos pasos:</a:t>
            </a:r>
            <a:endParaRPr lang="en-US" sz="750" dirty="0"/>
          </a:p>
        </p:txBody>
      </p:sp>
      <p:sp>
        <p:nvSpPr>
          <p:cNvPr id="42" name="Text 40"/>
          <p:cNvSpPr/>
          <p:nvPr/>
        </p:nvSpPr>
        <p:spPr>
          <a:xfrm>
            <a:off x="4800600" y="4306824"/>
            <a:ext cx="3840480" cy="292608"/>
          </a:xfrm>
          <a:prstGeom prst="rect">
            <a:avLst/>
          </a:prstGeom>
          <a:noFill/>
          <a:ln/>
        </p:spPr>
        <p:txBody>
          <a:bodyPr wrap="square" rtlCol="0" anchor="ctr"/>
          <a:lstStyle/>
          <a:p>
            <a:pPr indent="0" marL="0">
              <a:buNone/>
            </a:pPr>
            <a:r>
              <a:rPr lang="en-US" sz="750" dirty="0">
                <a:solidFill>
                  <a:srgbClr val="333333"/>
                </a:solidFill>
                <a:latin typeface="Atkinson Hyperlegible" pitchFamily="34" charset="0"/>
                <a:ea typeface="Atkinson Hyperlegible" pitchFamily="34" charset="-122"/>
                <a:cs typeface="Atkinson Hyperlegible" pitchFamily="34" charset="-120"/>
              </a:rPr>
              <a:t>• Contribuir a investigación CII</a:t>
            </a:r>
            <a:endParaRPr lang="en-US" sz="750" dirty="0"/>
          </a:p>
        </p:txBody>
      </p:sp>
      <p:sp>
        <p:nvSpPr>
          <p:cNvPr id="43" name="Text 41"/>
          <p:cNvSpPr/>
          <p:nvPr/>
        </p:nvSpPr>
        <p:spPr>
          <a:xfrm>
            <a:off x="4800600" y="4636008"/>
            <a:ext cx="3840480" cy="292608"/>
          </a:xfrm>
          <a:prstGeom prst="rect">
            <a:avLst/>
          </a:prstGeom>
          <a:noFill/>
          <a:ln/>
        </p:spPr>
        <p:txBody>
          <a:bodyPr wrap="square" rtlCol="0" anchor="ctr"/>
          <a:lstStyle/>
          <a:p>
            <a:pPr indent="0" marL="0">
              <a:buNone/>
            </a:pPr>
            <a:r>
              <a:rPr lang="en-US" sz="750" dirty="0">
                <a:solidFill>
                  <a:srgbClr val="333333"/>
                </a:solidFill>
                <a:latin typeface="Atkinson Hyperlegible" pitchFamily="34" charset="0"/>
                <a:ea typeface="Atkinson Hyperlegible" pitchFamily="34" charset="-122"/>
                <a:cs typeface="Atkinson Hyperlegible" pitchFamily="34" charset="-120"/>
              </a:rPr>
              <a:t>• Publicar casos de estudio sectoriales</a:t>
            </a:r>
            <a:endParaRPr lang="en-US" sz="7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4E3"/>
          </a:solidFill>
          <a:ln w="12700">
            <a:solidFill>
              <a:srgbClr val="0A74E3"/>
            </a:solidFill>
            <a:prstDash val="solid"/>
          </a:ln>
        </p:spPr>
      </p:sp>
      <p:sp>
        <p:nvSpPr>
          <p:cNvPr id="3" name="Shape 1"/>
          <p:cNvSpPr/>
          <p:nvPr/>
        </p:nvSpPr>
        <p:spPr>
          <a:xfrm>
            <a:off x="164592" y="4956048"/>
            <a:ext cx="8979408" cy="182880"/>
          </a:xfrm>
          <a:prstGeom prst="rect">
            <a:avLst/>
          </a:prstGeom>
          <a:solidFill>
            <a:srgbClr val="0A74E3"/>
          </a:solidFill>
          <a:ln w="12700">
            <a:solidFill>
              <a:srgbClr val="0A74E3"/>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100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Jerarquía Completa de Work Packages en AWP</a:t>
            </a:r>
            <a:endParaRPr lang="en-US" sz="1800" dirty="0"/>
          </a:p>
        </p:txBody>
      </p:sp>
      <p:sp>
        <p:nvSpPr>
          <p:cNvPr id="6" name="Shape 4"/>
          <p:cNvSpPr/>
          <p:nvPr/>
        </p:nvSpPr>
        <p:spPr>
          <a:xfrm>
            <a:off x="320040" y="621792"/>
            <a:ext cx="8503920" cy="41148"/>
          </a:xfrm>
          <a:prstGeom prst="rect">
            <a:avLst/>
          </a:prstGeom>
          <a:solidFill>
            <a:srgbClr val="0A74E3"/>
          </a:solidFill>
          <a:ln w="12700">
            <a:solidFill>
              <a:srgbClr val="0A74E3"/>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A74E3"/>
                </a:solidFill>
                <a:latin typeface="Atkinson Hyperlegible" pitchFamily="34" charset="0"/>
                <a:ea typeface="Atkinson Hyperlegible" pitchFamily="34" charset="-122"/>
                <a:cs typeface="Atkinson Hyperlegible" pitchFamily="34" charset="-120"/>
              </a:rPr>
              <a:t>Descomposición sistemática del trabajo desde programa hasta IWP ejecutable</a:t>
            </a:r>
            <a:endParaRPr lang="en-US" sz="900" dirty="0"/>
          </a:p>
        </p:txBody>
      </p:sp>
      <p:sp>
        <p:nvSpPr>
          <p:cNvPr id="8" name="Shape 6"/>
          <p:cNvSpPr/>
          <p:nvPr/>
        </p:nvSpPr>
        <p:spPr>
          <a:xfrm>
            <a:off x="320040" y="987552"/>
            <a:ext cx="8503920" cy="512064"/>
          </a:xfrm>
          <a:prstGeom prst="rect">
            <a:avLst>
              <a:gd name="adj" fmla="val 8929"/>
            </a:avLst>
          </a:prstGeom>
          <a:solidFill>
            <a:srgbClr val="FFFFFF"/>
          </a:solidFill>
          <a:ln w="15240">
            <a:solidFill>
              <a:srgbClr val="0A74E3"/>
            </a:solidFill>
            <a:prstDash val="solid"/>
          </a:ln>
        </p:spPr>
      </p:sp>
      <p:sp>
        <p:nvSpPr>
          <p:cNvPr id="9" name="Shape 7"/>
          <p:cNvSpPr/>
          <p:nvPr/>
        </p:nvSpPr>
        <p:spPr>
          <a:xfrm>
            <a:off x="320040" y="987552"/>
            <a:ext cx="73152" cy="512064"/>
          </a:xfrm>
          <a:prstGeom prst="rect">
            <a:avLst>
              <a:gd name="adj" fmla="val 62500"/>
            </a:avLst>
          </a:prstGeom>
          <a:solidFill>
            <a:srgbClr val="0A74E3"/>
          </a:solidFill>
          <a:ln w="12700">
            <a:solidFill>
              <a:srgbClr val="0A74E3"/>
            </a:solidFill>
            <a:prstDash val="solid"/>
          </a:ln>
        </p:spPr>
      </p:sp>
      <p:sp>
        <p:nvSpPr>
          <p:cNvPr id="10" name="Text 8"/>
          <p:cNvSpPr/>
          <p:nvPr/>
        </p:nvSpPr>
        <p:spPr>
          <a:xfrm>
            <a:off x="502920" y="1024128"/>
            <a:ext cx="8229600" cy="237744"/>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Proyecto</a:t>
            </a:r>
            <a:endParaRPr lang="en-US" sz="900" dirty="0"/>
          </a:p>
        </p:txBody>
      </p:sp>
      <p:sp>
        <p:nvSpPr>
          <p:cNvPr id="11" name="Text 9"/>
          <p:cNvSpPr/>
          <p:nvPr/>
        </p:nvSpPr>
        <p:spPr>
          <a:xfrm>
            <a:off x="502920" y="1261872"/>
            <a:ext cx="8229600" cy="201168"/>
          </a:xfrm>
          <a:prstGeom prst="rect">
            <a:avLst/>
          </a:prstGeom>
          <a:noFill/>
          <a:ln/>
        </p:spPr>
        <p:txBody>
          <a:bodyPr wrap="square" rtlCol="0" anchor="ctr"/>
          <a:lstStyle/>
          <a:p>
            <a:pPr indent="0" marL="0">
              <a:buNone/>
            </a:pPr>
            <a:r>
              <a:rPr lang="en-US" sz="750" dirty="0">
                <a:solidFill>
                  <a:srgbClr val="555555"/>
                </a:solidFill>
                <a:latin typeface="Atkinson Hyperlegible" pitchFamily="34" charset="0"/>
                <a:ea typeface="Atkinson Hyperlegible" pitchFamily="34" charset="-122"/>
                <a:cs typeface="Atkinson Hyperlegible" pitchFamily="34" charset="-120"/>
              </a:rPr>
              <a:t>Alcance total</a:t>
            </a:r>
            <a:endParaRPr lang="en-US" sz="750" dirty="0"/>
          </a:p>
        </p:txBody>
      </p:sp>
      <p:sp>
        <p:nvSpPr>
          <p:cNvPr id="12" name="Shape 10"/>
          <p:cNvSpPr/>
          <p:nvPr/>
        </p:nvSpPr>
        <p:spPr>
          <a:xfrm>
            <a:off x="640080" y="1581912"/>
            <a:ext cx="7863840" cy="512064"/>
          </a:xfrm>
          <a:prstGeom prst="rect">
            <a:avLst>
              <a:gd name="adj" fmla="val 8929"/>
            </a:avLst>
          </a:prstGeom>
          <a:solidFill>
            <a:srgbClr val="FFFFFF"/>
          </a:solidFill>
          <a:ln w="15240">
            <a:solidFill>
              <a:srgbClr val="0E9E9E"/>
            </a:solidFill>
            <a:prstDash val="solid"/>
          </a:ln>
        </p:spPr>
      </p:sp>
      <p:sp>
        <p:nvSpPr>
          <p:cNvPr id="13" name="Shape 11"/>
          <p:cNvSpPr/>
          <p:nvPr/>
        </p:nvSpPr>
        <p:spPr>
          <a:xfrm>
            <a:off x="640080" y="1581912"/>
            <a:ext cx="73152" cy="512064"/>
          </a:xfrm>
          <a:prstGeom prst="rect">
            <a:avLst>
              <a:gd name="adj" fmla="val 62500"/>
            </a:avLst>
          </a:prstGeom>
          <a:solidFill>
            <a:srgbClr val="0E9E9E"/>
          </a:solidFill>
          <a:ln w="12700">
            <a:solidFill>
              <a:srgbClr val="0E9E9E"/>
            </a:solidFill>
            <a:prstDash val="solid"/>
          </a:ln>
        </p:spPr>
      </p:sp>
      <p:sp>
        <p:nvSpPr>
          <p:cNvPr id="14" name="Shape 12"/>
          <p:cNvSpPr/>
          <p:nvPr/>
        </p:nvSpPr>
        <p:spPr>
          <a:xfrm>
            <a:off x="676656" y="1499616"/>
            <a:ext cx="18288" cy="91440"/>
          </a:xfrm>
          <a:prstGeom prst="line">
            <a:avLst/>
          </a:prstGeom>
          <a:noFill/>
          <a:ln w="15240">
            <a:solidFill>
              <a:srgbClr val="0E9E9E"/>
            </a:solidFill>
            <a:prstDash val="solid"/>
          </a:ln>
        </p:spPr>
      </p:sp>
      <p:sp>
        <p:nvSpPr>
          <p:cNvPr id="15" name="Text 13"/>
          <p:cNvSpPr/>
          <p:nvPr/>
        </p:nvSpPr>
        <p:spPr>
          <a:xfrm>
            <a:off x="822960" y="1618488"/>
            <a:ext cx="7589520" cy="237744"/>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CWA — Construction Work Area</a:t>
            </a:r>
            <a:endParaRPr lang="en-US" sz="900" dirty="0"/>
          </a:p>
        </p:txBody>
      </p:sp>
      <p:sp>
        <p:nvSpPr>
          <p:cNvPr id="16" name="Text 14"/>
          <p:cNvSpPr/>
          <p:nvPr/>
        </p:nvSpPr>
        <p:spPr>
          <a:xfrm>
            <a:off x="822960" y="1856232"/>
            <a:ext cx="7589520" cy="201168"/>
          </a:xfrm>
          <a:prstGeom prst="rect">
            <a:avLst/>
          </a:prstGeom>
          <a:noFill/>
          <a:ln/>
        </p:spPr>
        <p:txBody>
          <a:bodyPr wrap="square" rtlCol="0" anchor="ctr"/>
          <a:lstStyle/>
          <a:p>
            <a:pPr indent="0" marL="0">
              <a:buNone/>
            </a:pPr>
            <a:r>
              <a:rPr lang="en-US" sz="750" dirty="0">
                <a:solidFill>
                  <a:srgbClr val="555555"/>
                </a:solidFill>
                <a:latin typeface="Atkinson Hyperlegible" pitchFamily="34" charset="0"/>
                <a:ea typeface="Atkinson Hyperlegible" pitchFamily="34" charset="-122"/>
                <a:cs typeface="Atkinson Hyperlegible" pitchFamily="34" charset="-120"/>
              </a:rPr>
              <a:t>Subdivisión geográfica del proyecto</a:t>
            </a:r>
            <a:endParaRPr lang="en-US" sz="750" dirty="0"/>
          </a:p>
        </p:txBody>
      </p:sp>
      <p:sp>
        <p:nvSpPr>
          <p:cNvPr id="17" name="Shape 15"/>
          <p:cNvSpPr/>
          <p:nvPr/>
        </p:nvSpPr>
        <p:spPr>
          <a:xfrm>
            <a:off x="960120" y="2176272"/>
            <a:ext cx="7223760" cy="512064"/>
          </a:xfrm>
          <a:prstGeom prst="rect">
            <a:avLst>
              <a:gd name="adj" fmla="val 8929"/>
            </a:avLst>
          </a:prstGeom>
          <a:solidFill>
            <a:srgbClr val="FFFFFF"/>
          </a:solidFill>
          <a:ln w="15240">
            <a:solidFill>
              <a:srgbClr val="27AE60"/>
            </a:solidFill>
            <a:prstDash val="solid"/>
          </a:ln>
        </p:spPr>
      </p:sp>
      <p:sp>
        <p:nvSpPr>
          <p:cNvPr id="18" name="Shape 16"/>
          <p:cNvSpPr/>
          <p:nvPr/>
        </p:nvSpPr>
        <p:spPr>
          <a:xfrm>
            <a:off x="960120" y="2176272"/>
            <a:ext cx="73152" cy="512064"/>
          </a:xfrm>
          <a:prstGeom prst="rect">
            <a:avLst>
              <a:gd name="adj" fmla="val 62500"/>
            </a:avLst>
          </a:prstGeom>
          <a:solidFill>
            <a:srgbClr val="27AE60"/>
          </a:solidFill>
          <a:ln w="12700">
            <a:solidFill>
              <a:srgbClr val="27AE60"/>
            </a:solidFill>
            <a:prstDash val="solid"/>
          </a:ln>
        </p:spPr>
      </p:sp>
      <p:sp>
        <p:nvSpPr>
          <p:cNvPr id="19" name="Shape 17"/>
          <p:cNvSpPr/>
          <p:nvPr/>
        </p:nvSpPr>
        <p:spPr>
          <a:xfrm>
            <a:off x="996696" y="2093976"/>
            <a:ext cx="18288" cy="91440"/>
          </a:xfrm>
          <a:prstGeom prst="line">
            <a:avLst/>
          </a:prstGeom>
          <a:noFill/>
          <a:ln w="15240">
            <a:solidFill>
              <a:srgbClr val="27AE60"/>
            </a:solidFill>
            <a:prstDash val="solid"/>
          </a:ln>
        </p:spPr>
      </p:sp>
      <p:sp>
        <p:nvSpPr>
          <p:cNvPr id="20" name="Text 18"/>
          <p:cNvSpPr/>
          <p:nvPr/>
        </p:nvSpPr>
        <p:spPr>
          <a:xfrm>
            <a:off x="1143000" y="2212848"/>
            <a:ext cx="6949440" cy="237744"/>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CWP — Construction Work Package</a:t>
            </a:r>
            <a:endParaRPr lang="en-US" sz="900" dirty="0"/>
          </a:p>
        </p:txBody>
      </p:sp>
      <p:sp>
        <p:nvSpPr>
          <p:cNvPr id="21" name="Text 19"/>
          <p:cNvSpPr/>
          <p:nvPr/>
        </p:nvSpPr>
        <p:spPr>
          <a:xfrm>
            <a:off x="1143000" y="2450592"/>
            <a:ext cx="6949440" cy="201168"/>
          </a:xfrm>
          <a:prstGeom prst="rect">
            <a:avLst/>
          </a:prstGeom>
          <a:noFill/>
          <a:ln/>
        </p:spPr>
        <p:txBody>
          <a:bodyPr wrap="square" rtlCol="0" anchor="ctr"/>
          <a:lstStyle/>
          <a:p>
            <a:pPr indent="0" marL="0">
              <a:buNone/>
            </a:pPr>
            <a:r>
              <a:rPr lang="en-US" sz="750" dirty="0">
                <a:solidFill>
                  <a:srgbClr val="555555"/>
                </a:solidFill>
                <a:latin typeface="Atkinson Hyperlegible" pitchFamily="34" charset="0"/>
                <a:ea typeface="Atkinson Hyperlegible" pitchFamily="34" charset="-122"/>
                <a:cs typeface="Atkinson Hyperlegible" pitchFamily="34" charset="-120"/>
              </a:rPr>
              <a:t>Zona + Disciplina; 5,000-50,000 HH</a:t>
            </a:r>
            <a:endParaRPr lang="en-US" sz="750" dirty="0"/>
          </a:p>
        </p:txBody>
      </p:sp>
      <p:sp>
        <p:nvSpPr>
          <p:cNvPr id="22" name="Shape 20"/>
          <p:cNvSpPr/>
          <p:nvPr/>
        </p:nvSpPr>
        <p:spPr>
          <a:xfrm>
            <a:off x="1280160" y="2770632"/>
            <a:ext cx="6583680" cy="512064"/>
          </a:xfrm>
          <a:prstGeom prst="rect">
            <a:avLst>
              <a:gd name="adj" fmla="val 8929"/>
            </a:avLst>
          </a:prstGeom>
          <a:solidFill>
            <a:srgbClr val="FFFFFF"/>
          </a:solidFill>
          <a:ln w="15240">
            <a:solidFill>
              <a:srgbClr val="D4620A"/>
            </a:solidFill>
            <a:prstDash val="solid"/>
          </a:ln>
        </p:spPr>
      </p:sp>
      <p:sp>
        <p:nvSpPr>
          <p:cNvPr id="23" name="Shape 21"/>
          <p:cNvSpPr/>
          <p:nvPr/>
        </p:nvSpPr>
        <p:spPr>
          <a:xfrm>
            <a:off x="1280160" y="2770632"/>
            <a:ext cx="73152" cy="512064"/>
          </a:xfrm>
          <a:prstGeom prst="rect">
            <a:avLst>
              <a:gd name="adj" fmla="val 62500"/>
            </a:avLst>
          </a:prstGeom>
          <a:solidFill>
            <a:srgbClr val="D4620A"/>
          </a:solidFill>
          <a:ln w="12700">
            <a:solidFill>
              <a:srgbClr val="D4620A"/>
            </a:solidFill>
            <a:prstDash val="solid"/>
          </a:ln>
        </p:spPr>
      </p:sp>
      <p:sp>
        <p:nvSpPr>
          <p:cNvPr id="24" name="Shape 22"/>
          <p:cNvSpPr/>
          <p:nvPr/>
        </p:nvSpPr>
        <p:spPr>
          <a:xfrm>
            <a:off x="1316736" y="2688336"/>
            <a:ext cx="18288" cy="91440"/>
          </a:xfrm>
          <a:prstGeom prst="line">
            <a:avLst/>
          </a:prstGeom>
          <a:noFill/>
          <a:ln w="15240">
            <a:solidFill>
              <a:srgbClr val="D4620A"/>
            </a:solidFill>
            <a:prstDash val="solid"/>
          </a:ln>
        </p:spPr>
      </p:sp>
      <p:sp>
        <p:nvSpPr>
          <p:cNvPr id="25" name="Text 23"/>
          <p:cNvSpPr/>
          <p:nvPr/>
        </p:nvSpPr>
        <p:spPr>
          <a:xfrm>
            <a:off x="1463040" y="2807208"/>
            <a:ext cx="6309360" cy="237744"/>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EWP — Engineering Work Package</a:t>
            </a:r>
            <a:endParaRPr lang="en-US" sz="900" dirty="0"/>
          </a:p>
        </p:txBody>
      </p:sp>
      <p:sp>
        <p:nvSpPr>
          <p:cNvPr id="26" name="Text 24"/>
          <p:cNvSpPr/>
          <p:nvPr/>
        </p:nvSpPr>
        <p:spPr>
          <a:xfrm>
            <a:off x="1463040" y="3044952"/>
            <a:ext cx="6309360" cy="201168"/>
          </a:xfrm>
          <a:prstGeom prst="rect">
            <a:avLst/>
          </a:prstGeom>
          <a:noFill/>
          <a:ln/>
        </p:spPr>
        <p:txBody>
          <a:bodyPr wrap="square" rtlCol="0" anchor="ctr"/>
          <a:lstStyle/>
          <a:p>
            <a:pPr indent="0" marL="0">
              <a:buNone/>
            </a:pPr>
            <a:r>
              <a:rPr lang="en-US" sz="750" dirty="0">
                <a:solidFill>
                  <a:srgbClr val="555555"/>
                </a:solidFill>
                <a:latin typeface="Atkinson Hyperlegible" pitchFamily="34" charset="0"/>
                <a:ea typeface="Atkinson Hyperlegible" pitchFamily="34" charset="-122"/>
                <a:cs typeface="Atkinson Hyperlegible" pitchFamily="34" charset="-120"/>
              </a:rPr>
              <a:t>Entregables de ingeniería para el CWP; alineado con EDS</a:t>
            </a:r>
            <a:endParaRPr lang="en-US" sz="750" dirty="0"/>
          </a:p>
        </p:txBody>
      </p:sp>
      <p:sp>
        <p:nvSpPr>
          <p:cNvPr id="27" name="Shape 25"/>
          <p:cNvSpPr/>
          <p:nvPr/>
        </p:nvSpPr>
        <p:spPr>
          <a:xfrm>
            <a:off x="1280160" y="3364992"/>
            <a:ext cx="6583680" cy="512064"/>
          </a:xfrm>
          <a:prstGeom prst="rect">
            <a:avLst>
              <a:gd name="adj" fmla="val 8929"/>
            </a:avLst>
          </a:prstGeom>
          <a:solidFill>
            <a:srgbClr val="FFFFFF"/>
          </a:solidFill>
          <a:ln w="15240">
            <a:solidFill>
              <a:srgbClr val="8E44AD"/>
            </a:solidFill>
            <a:prstDash val="solid"/>
          </a:ln>
        </p:spPr>
      </p:sp>
      <p:sp>
        <p:nvSpPr>
          <p:cNvPr id="28" name="Shape 26"/>
          <p:cNvSpPr/>
          <p:nvPr/>
        </p:nvSpPr>
        <p:spPr>
          <a:xfrm>
            <a:off x="1280160" y="3364992"/>
            <a:ext cx="73152" cy="512064"/>
          </a:xfrm>
          <a:prstGeom prst="rect">
            <a:avLst>
              <a:gd name="adj" fmla="val 62500"/>
            </a:avLst>
          </a:prstGeom>
          <a:solidFill>
            <a:srgbClr val="8E44AD"/>
          </a:solidFill>
          <a:ln w="12700">
            <a:solidFill>
              <a:srgbClr val="8E44AD"/>
            </a:solidFill>
            <a:prstDash val="solid"/>
          </a:ln>
        </p:spPr>
      </p:sp>
      <p:sp>
        <p:nvSpPr>
          <p:cNvPr id="29" name="Shape 27"/>
          <p:cNvSpPr/>
          <p:nvPr/>
        </p:nvSpPr>
        <p:spPr>
          <a:xfrm>
            <a:off x="1316736" y="3282696"/>
            <a:ext cx="18288" cy="91440"/>
          </a:xfrm>
          <a:prstGeom prst="line">
            <a:avLst/>
          </a:prstGeom>
          <a:noFill/>
          <a:ln w="15240">
            <a:solidFill>
              <a:srgbClr val="8E44AD"/>
            </a:solidFill>
            <a:prstDash val="solid"/>
          </a:ln>
        </p:spPr>
      </p:sp>
      <p:sp>
        <p:nvSpPr>
          <p:cNvPr id="30" name="Text 28"/>
          <p:cNvSpPr/>
          <p:nvPr/>
        </p:nvSpPr>
        <p:spPr>
          <a:xfrm>
            <a:off x="1463040" y="3401568"/>
            <a:ext cx="6309360" cy="237744"/>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PWP — Procurement Work Package</a:t>
            </a:r>
            <a:endParaRPr lang="en-US" sz="900" dirty="0"/>
          </a:p>
        </p:txBody>
      </p:sp>
      <p:sp>
        <p:nvSpPr>
          <p:cNvPr id="31" name="Text 29"/>
          <p:cNvSpPr/>
          <p:nvPr/>
        </p:nvSpPr>
        <p:spPr>
          <a:xfrm>
            <a:off x="1463040" y="3639312"/>
            <a:ext cx="6309360" cy="201168"/>
          </a:xfrm>
          <a:prstGeom prst="rect">
            <a:avLst/>
          </a:prstGeom>
          <a:noFill/>
          <a:ln/>
        </p:spPr>
        <p:txBody>
          <a:bodyPr wrap="square" rtlCol="0" anchor="ctr"/>
          <a:lstStyle/>
          <a:p>
            <a:pPr indent="0" marL="0">
              <a:buNone/>
            </a:pPr>
            <a:r>
              <a:rPr lang="en-US" sz="750" dirty="0">
                <a:solidFill>
                  <a:srgbClr val="555555"/>
                </a:solidFill>
                <a:latin typeface="Atkinson Hyperlegible" pitchFamily="34" charset="0"/>
                <a:ea typeface="Atkinson Hyperlegible" pitchFamily="34" charset="-122"/>
                <a:cs typeface="Atkinson Hyperlegible" pitchFamily="34" charset="-120"/>
              </a:rPr>
              <a:t>Ítems de compra y fechas de necesidad críticas</a:t>
            </a:r>
            <a:endParaRPr lang="en-US" sz="750" dirty="0"/>
          </a:p>
        </p:txBody>
      </p:sp>
      <p:sp>
        <p:nvSpPr>
          <p:cNvPr id="32" name="Shape 30"/>
          <p:cNvSpPr/>
          <p:nvPr/>
        </p:nvSpPr>
        <p:spPr>
          <a:xfrm>
            <a:off x="1600200" y="3959352"/>
            <a:ext cx="5943600" cy="512064"/>
          </a:xfrm>
          <a:prstGeom prst="rect">
            <a:avLst>
              <a:gd name="adj" fmla="val 8929"/>
            </a:avLst>
          </a:prstGeom>
          <a:solidFill>
            <a:srgbClr val="FFFFFF"/>
          </a:solidFill>
          <a:ln w="15240">
            <a:solidFill>
              <a:srgbClr val="C0392B"/>
            </a:solidFill>
            <a:prstDash val="solid"/>
          </a:ln>
        </p:spPr>
      </p:sp>
      <p:sp>
        <p:nvSpPr>
          <p:cNvPr id="33" name="Shape 31"/>
          <p:cNvSpPr/>
          <p:nvPr/>
        </p:nvSpPr>
        <p:spPr>
          <a:xfrm>
            <a:off x="1600200" y="3959352"/>
            <a:ext cx="73152" cy="512064"/>
          </a:xfrm>
          <a:prstGeom prst="rect">
            <a:avLst>
              <a:gd name="adj" fmla="val 62500"/>
            </a:avLst>
          </a:prstGeom>
          <a:solidFill>
            <a:srgbClr val="C0392B"/>
          </a:solidFill>
          <a:ln w="12700">
            <a:solidFill>
              <a:srgbClr val="C0392B"/>
            </a:solidFill>
            <a:prstDash val="solid"/>
          </a:ln>
        </p:spPr>
      </p:sp>
      <p:sp>
        <p:nvSpPr>
          <p:cNvPr id="34" name="Shape 32"/>
          <p:cNvSpPr/>
          <p:nvPr/>
        </p:nvSpPr>
        <p:spPr>
          <a:xfrm>
            <a:off x="1636776" y="3877056"/>
            <a:ext cx="18288" cy="91440"/>
          </a:xfrm>
          <a:prstGeom prst="line">
            <a:avLst/>
          </a:prstGeom>
          <a:noFill/>
          <a:ln w="15240">
            <a:solidFill>
              <a:srgbClr val="C0392B"/>
            </a:solidFill>
            <a:prstDash val="solid"/>
          </a:ln>
        </p:spPr>
      </p:sp>
      <p:sp>
        <p:nvSpPr>
          <p:cNvPr id="35" name="Text 33"/>
          <p:cNvSpPr/>
          <p:nvPr/>
        </p:nvSpPr>
        <p:spPr>
          <a:xfrm>
            <a:off x="1783080" y="3995928"/>
            <a:ext cx="5669280" cy="237744"/>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IWP — Installation Work Package</a:t>
            </a:r>
            <a:endParaRPr lang="en-US" sz="900" dirty="0"/>
          </a:p>
        </p:txBody>
      </p:sp>
      <p:sp>
        <p:nvSpPr>
          <p:cNvPr id="36" name="Text 34"/>
          <p:cNvSpPr/>
          <p:nvPr/>
        </p:nvSpPr>
        <p:spPr>
          <a:xfrm>
            <a:off x="1783080" y="4233672"/>
            <a:ext cx="5669280" cy="201168"/>
          </a:xfrm>
          <a:prstGeom prst="rect">
            <a:avLst/>
          </a:prstGeom>
          <a:noFill/>
          <a:ln/>
        </p:spPr>
        <p:txBody>
          <a:bodyPr wrap="square" rtlCol="0" anchor="ctr"/>
          <a:lstStyle/>
          <a:p>
            <a:pPr indent="0" marL="0">
              <a:buNone/>
            </a:pPr>
            <a:r>
              <a:rPr lang="en-US" sz="750" dirty="0">
                <a:solidFill>
                  <a:srgbClr val="555555"/>
                </a:solidFill>
                <a:latin typeface="Atkinson Hyperlegible" pitchFamily="34" charset="0"/>
                <a:ea typeface="Atkinson Hyperlegible" pitchFamily="34" charset="-122"/>
                <a:cs typeface="Atkinson Hyperlegible" pitchFamily="34" charset="-120"/>
              </a:rPr>
              <a:t>≤1,000 HH; Ready-to-Install; planos + procedimientos + materiales</a:t>
            </a:r>
            <a:endParaRPr lang="en-US" sz="750" dirty="0"/>
          </a:p>
        </p:txBody>
      </p:sp>
      <p:sp>
        <p:nvSpPr>
          <p:cNvPr id="37" name="Shape 35"/>
          <p:cNvSpPr/>
          <p:nvPr/>
        </p:nvSpPr>
        <p:spPr>
          <a:xfrm>
            <a:off x="1920240" y="4553712"/>
            <a:ext cx="5303520" cy="512064"/>
          </a:xfrm>
          <a:prstGeom prst="rect">
            <a:avLst>
              <a:gd name="adj" fmla="val 8929"/>
            </a:avLst>
          </a:prstGeom>
          <a:solidFill>
            <a:srgbClr val="FFFFFF"/>
          </a:solidFill>
          <a:ln w="15240">
            <a:solidFill>
              <a:srgbClr val="2C3E8C"/>
            </a:solidFill>
            <a:prstDash val="solid"/>
          </a:ln>
        </p:spPr>
      </p:sp>
      <p:sp>
        <p:nvSpPr>
          <p:cNvPr id="38" name="Shape 36"/>
          <p:cNvSpPr/>
          <p:nvPr/>
        </p:nvSpPr>
        <p:spPr>
          <a:xfrm>
            <a:off x="1920240" y="4553712"/>
            <a:ext cx="73152" cy="512064"/>
          </a:xfrm>
          <a:prstGeom prst="rect">
            <a:avLst>
              <a:gd name="adj" fmla="val 62500"/>
            </a:avLst>
          </a:prstGeom>
          <a:solidFill>
            <a:srgbClr val="2C3E8C"/>
          </a:solidFill>
          <a:ln w="12700">
            <a:solidFill>
              <a:srgbClr val="2C3E8C"/>
            </a:solidFill>
            <a:prstDash val="solid"/>
          </a:ln>
        </p:spPr>
      </p:sp>
      <p:sp>
        <p:nvSpPr>
          <p:cNvPr id="39" name="Shape 37"/>
          <p:cNvSpPr/>
          <p:nvPr/>
        </p:nvSpPr>
        <p:spPr>
          <a:xfrm>
            <a:off x="1956816" y="4471416"/>
            <a:ext cx="18288" cy="91440"/>
          </a:xfrm>
          <a:prstGeom prst="line">
            <a:avLst/>
          </a:prstGeom>
          <a:noFill/>
          <a:ln w="15240">
            <a:solidFill>
              <a:srgbClr val="2C3E8C"/>
            </a:solidFill>
            <a:prstDash val="solid"/>
          </a:ln>
        </p:spPr>
      </p:sp>
      <p:sp>
        <p:nvSpPr>
          <p:cNvPr id="40" name="Text 38"/>
          <p:cNvSpPr/>
          <p:nvPr/>
        </p:nvSpPr>
        <p:spPr>
          <a:xfrm>
            <a:off x="2103120" y="4590288"/>
            <a:ext cx="5029200" cy="237744"/>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TWP — Turnover Work Package</a:t>
            </a:r>
            <a:endParaRPr lang="en-US" sz="900" dirty="0"/>
          </a:p>
        </p:txBody>
      </p:sp>
      <p:sp>
        <p:nvSpPr>
          <p:cNvPr id="41" name="Text 39"/>
          <p:cNvSpPr/>
          <p:nvPr/>
        </p:nvSpPr>
        <p:spPr>
          <a:xfrm>
            <a:off x="2103120" y="4828032"/>
            <a:ext cx="5029200" cy="201168"/>
          </a:xfrm>
          <a:prstGeom prst="rect">
            <a:avLst/>
          </a:prstGeom>
          <a:noFill/>
          <a:ln/>
        </p:spPr>
        <p:txBody>
          <a:bodyPr wrap="square" rtlCol="0" anchor="ctr"/>
          <a:lstStyle/>
          <a:p>
            <a:pPr indent="0" marL="0">
              <a:buNone/>
            </a:pPr>
            <a:r>
              <a:rPr lang="en-US" sz="750" dirty="0">
                <a:solidFill>
                  <a:srgbClr val="555555"/>
                </a:solidFill>
                <a:latin typeface="Atkinson Hyperlegible" pitchFamily="34" charset="0"/>
                <a:ea typeface="Atkinson Hyperlegible" pitchFamily="34" charset="-122"/>
                <a:cs typeface="Atkinson Hyperlegible" pitchFamily="34" charset="-120"/>
              </a:rPr>
              <a:t>Entregable de comisionado por sistema a operaciones</a:t>
            </a:r>
            <a:endParaRPr lang="en-US" sz="7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4E3"/>
          </a:solidFill>
          <a:ln w="12700">
            <a:solidFill>
              <a:srgbClr val="0A74E3"/>
            </a:solidFill>
            <a:prstDash val="solid"/>
          </a:ln>
        </p:spPr>
      </p:sp>
      <p:sp>
        <p:nvSpPr>
          <p:cNvPr id="3" name="Shape 1"/>
          <p:cNvSpPr/>
          <p:nvPr/>
        </p:nvSpPr>
        <p:spPr>
          <a:xfrm>
            <a:off x="164592" y="4956048"/>
            <a:ext cx="8979408" cy="182880"/>
          </a:xfrm>
          <a:prstGeom prst="rect">
            <a:avLst/>
          </a:prstGeom>
          <a:solidFill>
            <a:srgbClr val="0A74E3"/>
          </a:solidFill>
          <a:ln w="12700">
            <a:solidFill>
              <a:srgbClr val="0A74E3"/>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101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Contenido Detallado de un IWP</a:t>
            </a:r>
            <a:endParaRPr lang="en-US" sz="1800" dirty="0"/>
          </a:p>
        </p:txBody>
      </p:sp>
      <p:sp>
        <p:nvSpPr>
          <p:cNvPr id="6" name="Shape 4"/>
          <p:cNvSpPr/>
          <p:nvPr/>
        </p:nvSpPr>
        <p:spPr>
          <a:xfrm>
            <a:off x="320040" y="621792"/>
            <a:ext cx="8503920" cy="41148"/>
          </a:xfrm>
          <a:prstGeom prst="rect">
            <a:avLst/>
          </a:prstGeom>
          <a:solidFill>
            <a:srgbClr val="0A74E3"/>
          </a:solidFill>
          <a:ln w="12700">
            <a:solidFill>
              <a:srgbClr val="0A74E3"/>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A74E3"/>
                </a:solidFill>
                <a:latin typeface="Atkinson Hyperlegible" pitchFamily="34" charset="0"/>
                <a:ea typeface="Atkinson Hyperlegible" pitchFamily="34" charset="-122"/>
                <a:cs typeface="Atkinson Hyperlegible" pitchFamily="34" charset="-120"/>
              </a:rPr>
              <a:t>Anatomía del Installation Work Package — el átomo ejecutable de AWP</a:t>
            </a:r>
            <a:endParaRPr lang="en-US" sz="900" dirty="0"/>
          </a:p>
        </p:txBody>
      </p:sp>
      <p:sp>
        <p:nvSpPr>
          <p:cNvPr id="8" name="Shape 6"/>
          <p:cNvSpPr/>
          <p:nvPr/>
        </p:nvSpPr>
        <p:spPr>
          <a:xfrm>
            <a:off x="320040" y="987552"/>
            <a:ext cx="2724912" cy="1901952"/>
          </a:xfrm>
          <a:prstGeom prst="rect">
            <a:avLst>
              <a:gd name="adj" fmla="val 2885"/>
            </a:avLst>
          </a:prstGeom>
          <a:solidFill>
            <a:srgbClr val="FFFFFF"/>
          </a:solidFill>
          <a:ln w="12700">
            <a:solidFill>
              <a:srgbClr val="0A74E3"/>
            </a:solidFill>
            <a:prstDash val="solid"/>
          </a:ln>
        </p:spPr>
      </p:sp>
      <p:sp>
        <p:nvSpPr>
          <p:cNvPr id="9" name="Shape 7"/>
          <p:cNvSpPr/>
          <p:nvPr/>
        </p:nvSpPr>
        <p:spPr>
          <a:xfrm>
            <a:off x="320040" y="987552"/>
            <a:ext cx="2724912" cy="347472"/>
          </a:xfrm>
          <a:prstGeom prst="rect">
            <a:avLst>
              <a:gd name="adj" fmla="val 15789"/>
            </a:avLst>
          </a:prstGeom>
          <a:solidFill>
            <a:srgbClr val="0A74E3"/>
          </a:solidFill>
          <a:ln w="12700">
            <a:solidFill>
              <a:srgbClr val="0A74E3"/>
            </a:solidFill>
            <a:prstDash val="solid"/>
          </a:ln>
        </p:spPr>
      </p:sp>
      <p:sp>
        <p:nvSpPr>
          <p:cNvPr id="10" name="Text 8"/>
          <p:cNvSpPr/>
          <p:nvPr/>
        </p:nvSpPr>
        <p:spPr>
          <a:xfrm>
            <a:off x="411480" y="1024128"/>
            <a:ext cx="2542032" cy="274320"/>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Encabezado / Identificación</a:t>
            </a:r>
            <a:endParaRPr lang="en-US" sz="850" dirty="0"/>
          </a:p>
        </p:txBody>
      </p:sp>
      <p:sp>
        <p:nvSpPr>
          <p:cNvPr id="11" name="Text 9"/>
          <p:cNvSpPr/>
          <p:nvPr/>
        </p:nvSpPr>
        <p:spPr>
          <a:xfrm>
            <a:off x="411480" y="1408176"/>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Número IWP único</a:t>
            </a:r>
            <a:endParaRPr lang="en-US" sz="750" dirty="0"/>
          </a:p>
        </p:txBody>
      </p:sp>
      <p:sp>
        <p:nvSpPr>
          <p:cNvPr id="12" name="Text 10"/>
          <p:cNvSpPr/>
          <p:nvPr/>
        </p:nvSpPr>
        <p:spPr>
          <a:xfrm>
            <a:off x="411480" y="1700784"/>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CWP padre</a:t>
            </a:r>
            <a:endParaRPr lang="en-US" sz="750" dirty="0"/>
          </a:p>
        </p:txBody>
      </p:sp>
      <p:sp>
        <p:nvSpPr>
          <p:cNvPr id="13" name="Text 11"/>
          <p:cNvSpPr/>
          <p:nvPr/>
        </p:nvSpPr>
        <p:spPr>
          <a:xfrm>
            <a:off x="411480" y="1993392"/>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Disciplina</a:t>
            </a:r>
            <a:endParaRPr lang="en-US" sz="750" dirty="0"/>
          </a:p>
        </p:txBody>
      </p:sp>
      <p:sp>
        <p:nvSpPr>
          <p:cNvPr id="14" name="Text 12"/>
          <p:cNvSpPr/>
          <p:nvPr/>
        </p:nvSpPr>
        <p:spPr>
          <a:xfrm>
            <a:off x="411480" y="2286000"/>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Responsable de campo</a:t>
            </a:r>
            <a:endParaRPr lang="en-US" sz="750" dirty="0"/>
          </a:p>
        </p:txBody>
      </p:sp>
      <p:sp>
        <p:nvSpPr>
          <p:cNvPr id="15" name="Text 13"/>
          <p:cNvSpPr/>
          <p:nvPr/>
        </p:nvSpPr>
        <p:spPr>
          <a:xfrm>
            <a:off x="411480" y="2578608"/>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Fechas plan/real inicio-fin</a:t>
            </a:r>
            <a:endParaRPr lang="en-US" sz="750" dirty="0"/>
          </a:p>
        </p:txBody>
      </p:sp>
      <p:sp>
        <p:nvSpPr>
          <p:cNvPr id="16" name="Shape 14"/>
          <p:cNvSpPr/>
          <p:nvPr/>
        </p:nvSpPr>
        <p:spPr>
          <a:xfrm>
            <a:off x="3209544" y="987552"/>
            <a:ext cx="2724912" cy="1901952"/>
          </a:xfrm>
          <a:prstGeom prst="rect">
            <a:avLst>
              <a:gd name="adj" fmla="val 2885"/>
            </a:avLst>
          </a:prstGeom>
          <a:solidFill>
            <a:srgbClr val="FFFFFF"/>
          </a:solidFill>
          <a:ln w="12700">
            <a:solidFill>
              <a:srgbClr val="0E9E9E"/>
            </a:solidFill>
            <a:prstDash val="solid"/>
          </a:ln>
        </p:spPr>
      </p:sp>
      <p:sp>
        <p:nvSpPr>
          <p:cNvPr id="17" name="Shape 15"/>
          <p:cNvSpPr/>
          <p:nvPr/>
        </p:nvSpPr>
        <p:spPr>
          <a:xfrm>
            <a:off x="3209544" y="987552"/>
            <a:ext cx="2724912" cy="347472"/>
          </a:xfrm>
          <a:prstGeom prst="rect">
            <a:avLst>
              <a:gd name="adj" fmla="val 15789"/>
            </a:avLst>
          </a:prstGeom>
          <a:solidFill>
            <a:srgbClr val="0E9E9E"/>
          </a:solidFill>
          <a:ln w="12700">
            <a:solidFill>
              <a:srgbClr val="0E9E9E"/>
            </a:solidFill>
            <a:prstDash val="solid"/>
          </a:ln>
        </p:spPr>
      </p:sp>
      <p:sp>
        <p:nvSpPr>
          <p:cNvPr id="18" name="Text 16"/>
          <p:cNvSpPr/>
          <p:nvPr/>
        </p:nvSpPr>
        <p:spPr>
          <a:xfrm>
            <a:off x="3300984" y="1024128"/>
            <a:ext cx="2542032" cy="274320"/>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Alcance del Trabajo</a:t>
            </a:r>
            <a:endParaRPr lang="en-US" sz="850" dirty="0"/>
          </a:p>
        </p:txBody>
      </p:sp>
      <p:sp>
        <p:nvSpPr>
          <p:cNvPr id="19" name="Text 17"/>
          <p:cNvSpPr/>
          <p:nvPr/>
        </p:nvSpPr>
        <p:spPr>
          <a:xfrm>
            <a:off x="3300984" y="1408176"/>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Descripción narrativa del alcance</a:t>
            </a:r>
            <a:endParaRPr lang="en-US" sz="750" dirty="0"/>
          </a:p>
        </p:txBody>
      </p:sp>
      <p:sp>
        <p:nvSpPr>
          <p:cNvPr id="20" name="Text 18"/>
          <p:cNvSpPr/>
          <p:nvPr/>
        </p:nvSpPr>
        <p:spPr>
          <a:xfrm>
            <a:off x="3300984" y="1700784"/>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Límites de batería claros</a:t>
            </a:r>
            <a:endParaRPr lang="en-US" sz="750" dirty="0"/>
          </a:p>
        </p:txBody>
      </p:sp>
      <p:sp>
        <p:nvSpPr>
          <p:cNvPr id="21" name="Text 19"/>
          <p:cNvSpPr/>
          <p:nvPr/>
        </p:nvSpPr>
        <p:spPr>
          <a:xfrm>
            <a:off x="3300984" y="1993392"/>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Actividades incluidas y excluidas</a:t>
            </a:r>
            <a:endParaRPr lang="en-US" sz="750" dirty="0"/>
          </a:p>
        </p:txBody>
      </p:sp>
      <p:sp>
        <p:nvSpPr>
          <p:cNvPr id="22" name="Text 20"/>
          <p:cNvSpPr/>
          <p:nvPr/>
        </p:nvSpPr>
        <p:spPr>
          <a:xfrm>
            <a:off x="3300984" y="2286000"/>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Precondiciones RTI (Ready-to-Install)</a:t>
            </a:r>
            <a:endParaRPr lang="en-US" sz="750" dirty="0"/>
          </a:p>
        </p:txBody>
      </p:sp>
      <p:sp>
        <p:nvSpPr>
          <p:cNvPr id="23" name="Shape 21"/>
          <p:cNvSpPr/>
          <p:nvPr/>
        </p:nvSpPr>
        <p:spPr>
          <a:xfrm>
            <a:off x="6099048" y="987552"/>
            <a:ext cx="2724912" cy="1901952"/>
          </a:xfrm>
          <a:prstGeom prst="rect">
            <a:avLst>
              <a:gd name="adj" fmla="val 2885"/>
            </a:avLst>
          </a:prstGeom>
          <a:solidFill>
            <a:srgbClr val="FFFFFF"/>
          </a:solidFill>
          <a:ln w="12700">
            <a:solidFill>
              <a:srgbClr val="27AE60"/>
            </a:solidFill>
            <a:prstDash val="solid"/>
          </a:ln>
        </p:spPr>
      </p:sp>
      <p:sp>
        <p:nvSpPr>
          <p:cNvPr id="24" name="Shape 22"/>
          <p:cNvSpPr/>
          <p:nvPr/>
        </p:nvSpPr>
        <p:spPr>
          <a:xfrm>
            <a:off x="6099048" y="987552"/>
            <a:ext cx="2724912" cy="347472"/>
          </a:xfrm>
          <a:prstGeom prst="rect">
            <a:avLst>
              <a:gd name="adj" fmla="val 15789"/>
            </a:avLst>
          </a:prstGeom>
          <a:solidFill>
            <a:srgbClr val="27AE60"/>
          </a:solidFill>
          <a:ln w="12700">
            <a:solidFill>
              <a:srgbClr val="27AE60"/>
            </a:solidFill>
            <a:prstDash val="solid"/>
          </a:ln>
        </p:spPr>
      </p:sp>
      <p:sp>
        <p:nvSpPr>
          <p:cNvPr id="25" name="Text 23"/>
          <p:cNvSpPr/>
          <p:nvPr/>
        </p:nvSpPr>
        <p:spPr>
          <a:xfrm>
            <a:off x="6190488" y="1024128"/>
            <a:ext cx="2542032" cy="274320"/>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Documentación Técnica</a:t>
            </a:r>
            <a:endParaRPr lang="en-US" sz="850" dirty="0"/>
          </a:p>
        </p:txBody>
      </p:sp>
      <p:sp>
        <p:nvSpPr>
          <p:cNvPr id="26" name="Text 24"/>
          <p:cNvSpPr/>
          <p:nvPr/>
        </p:nvSpPr>
        <p:spPr>
          <a:xfrm>
            <a:off x="6190488" y="1408176"/>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Planos vigentes (REV actual)</a:t>
            </a:r>
            <a:endParaRPr lang="en-US" sz="750" dirty="0"/>
          </a:p>
        </p:txBody>
      </p:sp>
      <p:sp>
        <p:nvSpPr>
          <p:cNvPr id="27" name="Text 25"/>
          <p:cNvSpPr/>
          <p:nvPr/>
        </p:nvSpPr>
        <p:spPr>
          <a:xfrm>
            <a:off x="6190488" y="1700784"/>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Procedimientos de construcción</a:t>
            </a:r>
            <a:endParaRPr lang="en-US" sz="750" dirty="0"/>
          </a:p>
        </p:txBody>
      </p:sp>
      <p:sp>
        <p:nvSpPr>
          <p:cNvPr id="28" name="Text 26"/>
          <p:cNvSpPr/>
          <p:nvPr/>
        </p:nvSpPr>
        <p:spPr>
          <a:xfrm>
            <a:off x="6190488" y="1993392"/>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Especificaciones aplicables</a:t>
            </a:r>
            <a:endParaRPr lang="en-US" sz="750" dirty="0"/>
          </a:p>
        </p:txBody>
      </p:sp>
      <p:sp>
        <p:nvSpPr>
          <p:cNvPr id="29" name="Text 27"/>
          <p:cNvSpPr/>
          <p:nvPr/>
        </p:nvSpPr>
        <p:spPr>
          <a:xfrm>
            <a:off x="6190488" y="2286000"/>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Hojas de datos de equipos</a:t>
            </a:r>
            <a:endParaRPr lang="en-US" sz="750" dirty="0"/>
          </a:p>
        </p:txBody>
      </p:sp>
      <p:sp>
        <p:nvSpPr>
          <p:cNvPr id="30" name="Text 28"/>
          <p:cNvSpPr/>
          <p:nvPr/>
        </p:nvSpPr>
        <p:spPr>
          <a:xfrm>
            <a:off x="6190488" y="2578608"/>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Planos de izaje si aplica</a:t>
            </a:r>
            <a:endParaRPr lang="en-US" sz="750" dirty="0"/>
          </a:p>
        </p:txBody>
      </p:sp>
      <p:sp>
        <p:nvSpPr>
          <p:cNvPr id="31" name="Shape 29"/>
          <p:cNvSpPr/>
          <p:nvPr/>
        </p:nvSpPr>
        <p:spPr>
          <a:xfrm>
            <a:off x="320040" y="3017520"/>
            <a:ext cx="2724912" cy="1901952"/>
          </a:xfrm>
          <a:prstGeom prst="rect">
            <a:avLst>
              <a:gd name="adj" fmla="val 2885"/>
            </a:avLst>
          </a:prstGeom>
          <a:solidFill>
            <a:srgbClr val="FFFFFF"/>
          </a:solidFill>
          <a:ln w="12700">
            <a:solidFill>
              <a:srgbClr val="D4620A"/>
            </a:solidFill>
            <a:prstDash val="solid"/>
          </a:ln>
        </p:spPr>
      </p:sp>
      <p:sp>
        <p:nvSpPr>
          <p:cNvPr id="32" name="Shape 30"/>
          <p:cNvSpPr/>
          <p:nvPr/>
        </p:nvSpPr>
        <p:spPr>
          <a:xfrm>
            <a:off x="320040" y="3017520"/>
            <a:ext cx="2724912" cy="347472"/>
          </a:xfrm>
          <a:prstGeom prst="rect">
            <a:avLst>
              <a:gd name="adj" fmla="val 15789"/>
            </a:avLst>
          </a:prstGeom>
          <a:solidFill>
            <a:srgbClr val="D4620A"/>
          </a:solidFill>
          <a:ln w="12700">
            <a:solidFill>
              <a:srgbClr val="D4620A"/>
            </a:solidFill>
            <a:prstDash val="solid"/>
          </a:ln>
        </p:spPr>
      </p:sp>
      <p:sp>
        <p:nvSpPr>
          <p:cNvPr id="33" name="Text 31"/>
          <p:cNvSpPr/>
          <p:nvPr/>
        </p:nvSpPr>
        <p:spPr>
          <a:xfrm>
            <a:off x="411480" y="3054096"/>
            <a:ext cx="2542032" cy="274320"/>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Recursos y Materiales</a:t>
            </a:r>
            <a:endParaRPr lang="en-US" sz="850" dirty="0"/>
          </a:p>
        </p:txBody>
      </p:sp>
      <p:sp>
        <p:nvSpPr>
          <p:cNvPr id="34" name="Text 32"/>
          <p:cNvSpPr/>
          <p:nvPr/>
        </p:nvSpPr>
        <p:spPr>
          <a:xfrm>
            <a:off x="411480" y="3438144"/>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Lista de materiales (BOM)</a:t>
            </a:r>
            <a:endParaRPr lang="en-US" sz="750" dirty="0"/>
          </a:p>
        </p:txBody>
      </p:sp>
      <p:sp>
        <p:nvSpPr>
          <p:cNvPr id="35" name="Text 33"/>
          <p:cNvSpPr/>
          <p:nvPr/>
        </p:nvSpPr>
        <p:spPr>
          <a:xfrm>
            <a:off x="411480" y="3730752"/>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Estado de procura por ítem</a:t>
            </a:r>
            <a:endParaRPr lang="en-US" sz="750" dirty="0"/>
          </a:p>
        </p:txBody>
      </p:sp>
      <p:sp>
        <p:nvSpPr>
          <p:cNvPr id="36" name="Text 34"/>
          <p:cNvSpPr/>
          <p:nvPr/>
        </p:nvSpPr>
        <p:spPr>
          <a:xfrm>
            <a:off x="411480" y="4023360"/>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Herramientas y equipos requeridos</a:t>
            </a:r>
            <a:endParaRPr lang="en-US" sz="750" dirty="0"/>
          </a:p>
        </p:txBody>
      </p:sp>
      <p:sp>
        <p:nvSpPr>
          <p:cNvPr id="37" name="Text 35"/>
          <p:cNvSpPr/>
          <p:nvPr/>
        </p:nvSpPr>
        <p:spPr>
          <a:xfrm>
            <a:off x="411480" y="4315968"/>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Estimado de horas-hombre</a:t>
            </a:r>
            <a:endParaRPr lang="en-US" sz="750" dirty="0"/>
          </a:p>
        </p:txBody>
      </p:sp>
      <p:sp>
        <p:nvSpPr>
          <p:cNvPr id="38" name="Text 36"/>
          <p:cNvSpPr/>
          <p:nvPr/>
        </p:nvSpPr>
        <p:spPr>
          <a:xfrm>
            <a:off x="411480" y="4608576"/>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Curva S de avance previsto</a:t>
            </a:r>
            <a:endParaRPr lang="en-US" sz="750" dirty="0"/>
          </a:p>
        </p:txBody>
      </p:sp>
      <p:sp>
        <p:nvSpPr>
          <p:cNvPr id="39" name="Shape 37"/>
          <p:cNvSpPr/>
          <p:nvPr/>
        </p:nvSpPr>
        <p:spPr>
          <a:xfrm>
            <a:off x="3209544" y="3017520"/>
            <a:ext cx="2724912" cy="1901952"/>
          </a:xfrm>
          <a:prstGeom prst="rect">
            <a:avLst>
              <a:gd name="adj" fmla="val 2885"/>
            </a:avLst>
          </a:prstGeom>
          <a:solidFill>
            <a:srgbClr val="FFFFFF"/>
          </a:solidFill>
          <a:ln w="12700">
            <a:solidFill>
              <a:srgbClr val="8E44AD"/>
            </a:solidFill>
            <a:prstDash val="solid"/>
          </a:ln>
        </p:spPr>
      </p:sp>
      <p:sp>
        <p:nvSpPr>
          <p:cNvPr id="40" name="Shape 38"/>
          <p:cNvSpPr/>
          <p:nvPr/>
        </p:nvSpPr>
        <p:spPr>
          <a:xfrm>
            <a:off x="3209544" y="3017520"/>
            <a:ext cx="2724912" cy="347472"/>
          </a:xfrm>
          <a:prstGeom prst="rect">
            <a:avLst>
              <a:gd name="adj" fmla="val 15789"/>
            </a:avLst>
          </a:prstGeom>
          <a:solidFill>
            <a:srgbClr val="8E44AD"/>
          </a:solidFill>
          <a:ln w="12700">
            <a:solidFill>
              <a:srgbClr val="8E44AD"/>
            </a:solidFill>
            <a:prstDash val="solid"/>
          </a:ln>
        </p:spPr>
      </p:sp>
      <p:sp>
        <p:nvSpPr>
          <p:cNvPr id="41" name="Text 39"/>
          <p:cNvSpPr/>
          <p:nvPr/>
        </p:nvSpPr>
        <p:spPr>
          <a:xfrm>
            <a:off x="3300984" y="3054096"/>
            <a:ext cx="2542032" cy="274320"/>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SSMA y Calidad</a:t>
            </a:r>
            <a:endParaRPr lang="en-US" sz="850" dirty="0"/>
          </a:p>
        </p:txBody>
      </p:sp>
      <p:sp>
        <p:nvSpPr>
          <p:cNvPr id="42" name="Text 40"/>
          <p:cNvSpPr/>
          <p:nvPr/>
        </p:nvSpPr>
        <p:spPr>
          <a:xfrm>
            <a:off x="3300984" y="3438144"/>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IPERC / Job Hazard Analysis</a:t>
            </a:r>
            <a:endParaRPr lang="en-US" sz="750" dirty="0"/>
          </a:p>
        </p:txBody>
      </p:sp>
      <p:sp>
        <p:nvSpPr>
          <p:cNvPr id="43" name="Text 41"/>
          <p:cNvSpPr/>
          <p:nvPr/>
        </p:nvSpPr>
        <p:spPr>
          <a:xfrm>
            <a:off x="3300984" y="3730752"/>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Permisos de trabajo requeridos</a:t>
            </a:r>
            <a:endParaRPr lang="en-US" sz="750" dirty="0"/>
          </a:p>
        </p:txBody>
      </p:sp>
      <p:sp>
        <p:nvSpPr>
          <p:cNvPr id="44" name="Text 42"/>
          <p:cNvSpPr/>
          <p:nvPr/>
        </p:nvSpPr>
        <p:spPr>
          <a:xfrm>
            <a:off x="3300984" y="4023360"/>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Plan de calidad e inspección</a:t>
            </a:r>
            <a:endParaRPr lang="en-US" sz="750" dirty="0"/>
          </a:p>
        </p:txBody>
      </p:sp>
      <p:sp>
        <p:nvSpPr>
          <p:cNvPr id="45" name="Text 43"/>
          <p:cNvSpPr/>
          <p:nvPr/>
        </p:nvSpPr>
        <p:spPr>
          <a:xfrm>
            <a:off x="3300984" y="4315968"/>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Criterios de aceptación</a:t>
            </a:r>
            <a:endParaRPr lang="en-US" sz="750" dirty="0"/>
          </a:p>
        </p:txBody>
      </p:sp>
      <p:sp>
        <p:nvSpPr>
          <p:cNvPr id="46" name="Text 44"/>
          <p:cNvSpPr/>
          <p:nvPr/>
        </p:nvSpPr>
        <p:spPr>
          <a:xfrm>
            <a:off x="3300984" y="4608576"/>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Punch list final</a:t>
            </a:r>
            <a:endParaRPr lang="en-US" sz="750" dirty="0"/>
          </a:p>
        </p:txBody>
      </p:sp>
      <p:sp>
        <p:nvSpPr>
          <p:cNvPr id="47" name="Shape 45"/>
          <p:cNvSpPr/>
          <p:nvPr/>
        </p:nvSpPr>
        <p:spPr>
          <a:xfrm>
            <a:off x="6099048" y="3017520"/>
            <a:ext cx="2724912" cy="1901952"/>
          </a:xfrm>
          <a:prstGeom prst="rect">
            <a:avLst>
              <a:gd name="adj" fmla="val 2885"/>
            </a:avLst>
          </a:prstGeom>
          <a:solidFill>
            <a:srgbClr val="FFFFFF"/>
          </a:solidFill>
          <a:ln w="12700">
            <a:solidFill>
              <a:srgbClr val="2C3E8C"/>
            </a:solidFill>
            <a:prstDash val="solid"/>
          </a:ln>
        </p:spPr>
      </p:sp>
      <p:sp>
        <p:nvSpPr>
          <p:cNvPr id="48" name="Shape 46"/>
          <p:cNvSpPr/>
          <p:nvPr/>
        </p:nvSpPr>
        <p:spPr>
          <a:xfrm>
            <a:off x="6099048" y="3017520"/>
            <a:ext cx="2724912" cy="347472"/>
          </a:xfrm>
          <a:prstGeom prst="rect">
            <a:avLst>
              <a:gd name="adj" fmla="val 15789"/>
            </a:avLst>
          </a:prstGeom>
          <a:solidFill>
            <a:srgbClr val="2C3E8C"/>
          </a:solidFill>
          <a:ln w="12700">
            <a:solidFill>
              <a:srgbClr val="2C3E8C"/>
            </a:solidFill>
            <a:prstDash val="solid"/>
          </a:ln>
        </p:spPr>
      </p:sp>
      <p:sp>
        <p:nvSpPr>
          <p:cNvPr id="49" name="Text 47"/>
          <p:cNvSpPr/>
          <p:nvPr/>
        </p:nvSpPr>
        <p:spPr>
          <a:xfrm>
            <a:off x="6190488" y="3054096"/>
            <a:ext cx="2542032" cy="274320"/>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Control y Seguimiento</a:t>
            </a:r>
            <a:endParaRPr lang="en-US" sz="850" dirty="0"/>
          </a:p>
        </p:txBody>
      </p:sp>
      <p:sp>
        <p:nvSpPr>
          <p:cNvPr id="50" name="Text 48"/>
          <p:cNvSpPr/>
          <p:nvPr/>
        </p:nvSpPr>
        <p:spPr>
          <a:xfrm>
            <a:off x="6190488" y="3438144"/>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 completado diario</a:t>
            </a:r>
            <a:endParaRPr lang="en-US" sz="750" dirty="0"/>
          </a:p>
        </p:txBody>
      </p:sp>
      <p:sp>
        <p:nvSpPr>
          <p:cNvPr id="51" name="Text 49"/>
          <p:cNvSpPr/>
          <p:nvPr/>
        </p:nvSpPr>
        <p:spPr>
          <a:xfrm>
            <a:off x="6190488" y="3730752"/>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Horas reales vs plan</a:t>
            </a:r>
            <a:endParaRPr lang="en-US" sz="750" dirty="0"/>
          </a:p>
        </p:txBody>
      </p:sp>
      <p:sp>
        <p:nvSpPr>
          <p:cNvPr id="52" name="Text 50"/>
          <p:cNvSpPr/>
          <p:nvPr/>
        </p:nvSpPr>
        <p:spPr>
          <a:xfrm>
            <a:off x="6190488" y="4023360"/>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Desvíos e impedimentos</a:t>
            </a:r>
            <a:endParaRPr lang="en-US" sz="750" dirty="0"/>
          </a:p>
        </p:txBody>
      </p:sp>
      <p:sp>
        <p:nvSpPr>
          <p:cNvPr id="53" name="Text 51"/>
          <p:cNvSpPr/>
          <p:nvPr/>
        </p:nvSpPr>
        <p:spPr>
          <a:xfrm>
            <a:off x="6190488" y="4315968"/>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Acciones correctivas</a:t>
            </a:r>
            <a:endParaRPr lang="en-US" sz="750" dirty="0"/>
          </a:p>
        </p:txBody>
      </p:sp>
      <p:sp>
        <p:nvSpPr>
          <p:cNvPr id="54" name="Text 52"/>
          <p:cNvSpPr/>
          <p:nvPr/>
        </p:nvSpPr>
        <p:spPr>
          <a:xfrm>
            <a:off x="6190488" y="4608576"/>
            <a:ext cx="2542032" cy="274320"/>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 Cierre formal con firma</a:t>
            </a:r>
            <a:endParaRPr lang="en-US" sz="7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E9E"/>
          </a:solidFill>
          <a:ln w="12700">
            <a:solidFill>
              <a:srgbClr val="0E9E9E"/>
            </a:solidFill>
            <a:prstDash val="solid"/>
          </a:ln>
        </p:spPr>
      </p:sp>
      <p:sp>
        <p:nvSpPr>
          <p:cNvPr id="3" name="Shape 1"/>
          <p:cNvSpPr/>
          <p:nvPr/>
        </p:nvSpPr>
        <p:spPr>
          <a:xfrm>
            <a:off x="164592" y="4956048"/>
            <a:ext cx="8979408" cy="182880"/>
          </a:xfrm>
          <a:prstGeom prst="rect">
            <a:avLst/>
          </a:prstGeom>
          <a:solidFill>
            <a:srgbClr val="0E9E9E"/>
          </a:solidFill>
          <a:ln w="12700">
            <a:solidFill>
              <a:srgbClr val="0E9E9E"/>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102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EDS — Engineering Deliverable Schedule</a:t>
            </a:r>
            <a:endParaRPr lang="en-US" sz="1800" dirty="0"/>
          </a:p>
        </p:txBody>
      </p:sp>
      <p:sp>
        <p:nvSpPr>
          <p:cNvPr id="6" name="Shape 4"/>
          <p:cNvSpPr/>
          <p:nvPr/>
        </p:nvSpPr>
        <p:spPr>
          <a:xfrm>
            <a:off x="320040" y="621792"/>
            <a:ext cx="8503920" cy="41148"/>
          </a:xfrm>
          <a:prstGeom prst="rect">
            <a:avLst/>
          </a:prstGeom>
          <a:solidFill>
            <a:srgbClr val="0E9E9E"/>
          </a:solidFill>
          <a:ln w="12700">
            <a:solidFill>
              <a:srgbClr val="0E9E9E"/>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E9E9E"/>
                </a:solidFill>
                <a:latin typeface="Atkinson Hyperlegible" pitchFamily="34" charset="0"/>
                <a:ea typeface="Atkinson Hyperlegible" pitchFamily="34" charset="-122"/>
                <a:cs typeface="Atkinson Hyperlegible" pitchFamily="34" charset="-120"/>
              </a:rPr>
              <a:t>Programa de liberación de documentos de ingeniería coordinado con el POC</a:t>
            </a:r>
            <a:endParaRPr lang="en-US" sz="900" dirty="0"/>
          </a:p>
        </p:txBody>
      </p:sp>
      <p:sp>
        <p:nvSpPr>
          <p:cNvPr id="8" name="Shape 6"/>
          <p:cNvSpPr/>
          <p:nvPr/>
        </p:nvSpPr>
        <p:spPr>
          <a:xfrm>
            <a:off x="320040" y="1051560"/>
            <a:ext cx="1539850" cy="1097280"/>
          </a:xfrm>
          <a:prstGeom prst="rect">
            <a:avLst>
              <a:gd name="adj" fmla="val 5000"/>
            </a:avLst>
          </a:prstGeom>
          <a:solidFill>
            <a:srgbClr val="0E9E9E"/>
          </a:solidFill>
          <a:ln w="12700">
            <a:solidFill>
              <a:srgbClr val="0E9E9E"/>
            </a:solidFill>
            <a:prstDash val="solid"/>
          </a:ln>
        </p:spPr>
      </p:sp>
      <p:sp>
        <p:nvSpPr>
          <p:cNvPr id="9" name="Shape 7"/>
          <p:cNvSpPr/>
          <p:nvPr/>
        </p:nvSpPr>
        <p:spPr>
          <a:xfrm>
            <a:off x="888797" y="850392"/>
            <a:ext cx="402336" cy="402336"/>
          </a:xfrm>
          <a:prstGeom prst="ellipse">
            <a:avLst/>
          </a:prstGeom>
          <a:solidFill>
            <a:srgbClr val="FFFFFF"/>
          </a:solidFill>
          <a:ln w="12700">
            <a:solidFill>
              <a:srgbClr val="0E9E9E"/>
            </a:solidFill>
            <a:prstDash val="solid"/>
          </a:ln>
        </p:spPr>
      </p:sp>
      <p:sp>
        <p:nvSpPr>
          <p:cNvPr id="10" name="Text 8"/>
          <p:cNvSpPr/>
          <p:nvPr/>
        </p:nvSpPr>
        <p:spPr>
          <a:xfrm>
            <a:off x="888797" y="850392"/>
            <a:ext cx="402336" cy="402336"/>
          </a:xfrm>
          <a:prstGeom prst="rect">
            <a:avLst/>
          </a:prstGeom>
          <a:noFill/>
          <a:ln/>
        </p:spPr>
        <p:txBody>
          <a:bodyPr wrap="square" rtlCol="0" anchor="ctr"/>
          <a:lstStyle/>
          <a:p>
            <a:pPr algn="ctr" indent="0" marL="0">
              <a:buNone/>
            </a:pPr>
            <a:r>
              <a:rPr lang="en-US" sz="900" b="1" dirty="0">
                <a:solidFill>
                  <a:srgbClr val="0E9E9E"/>
                </a:solidFill>
                <a:latin typeface="Atkinson Hyperlegible" pitchFamily="34" charset="0"/>
                <a:ea typeface="Atkinson Hyperlegible" pitchFamily="34" charset="-122"/>
                <a:cs typeface="Atkinson Hyperlegible" pitchFamily="34" charset="-120"/>
              </a:rPr>
              <a:t>1</a:t>
            </a:r>
            <a:endParaRPr lang="en-US" sz="900" dirty="0"/>
          </a:p>
        </p:txBody>
      </p:sp>
      <p:sp>
        <p:nvSpPr>
          <p:cNvPr id="11" name="Text 9"/>
          <p:cNvSpPr/>
          <p:nvPr/>
        </p:nvSpPr>
        <p:spPr>
          <a:xfrm>
            <a:off x="374904" y="1088136"/>
            <a:ext cx="1430122" cy="329184"/>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Definir POC</a:t>
            </a:r>
            <a:endParaRPr lang="en-US" sz="800" dirty="0"/>
          </a:p>
        </p:txBody>
      </p:sp>
      <p:sp>
        <p:nvSpPr>
          <p:cNvPr id="12" name="Text 10"/>
          <p:cNvSpPr/>
          <p:nvPr/>
        </p:nvSpPr>
        <p:spPr>
          <a:xfrm>
            <a:off x="374904" y="1435608"/>
            <a:ext cx="1430122" cy="640080"/>
          </a:xfrm>
          <a:prstGeom prst="rect">
            <a:avLst/>
          </a:prstGeom>
          <a:noFill/>
          <a:ln/>
        </p:spPr>
        <p:txBody>
          <a:bodyPr wrap="square" rtlCol="0" anchor="ctr"/>
          <a:lstStyle/>
          <a:p>
            <a:pPr algn="ct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Path of Construction: secuencia de áreas y disciplinas</a:t>
            </a:r>
            <a:endParaRPr lang="en-US" sz="700" dirty="0"/>
          </a:p>
        </p:txBody>
      </p:sp>
      <p:sp>
        <p:nvSpPr>
          <p:cNvPr id="13" name="Shape 11"/>
          <p:cNvSpPr/>
          <p:nvPr/>
        </p:nvSpPr>
        <p:spPr>
          <a:xfrm>
            <a:off x="1869034" y="1472184"/>
            <a:ext cx="201168" cy="256032"/>
          </a:xfrm>
          <a:prstGeom prst="chevron">
            <a:avLst/>
          </a:prstGeom>
          <a:solidFill>
            <a:srgbClr val="0E9E9E"/>
          </a:solidFill>
          <a:ln w="12700">
            <a:solidFill>
              <a:srgbClr val="0E9E9E"/>
            </a:solidFill>
            <a:prstDash val="solid"/>
          </a:ln>
        </p:spPr>
      </p:sp>
      <p:sp>
        <p:nvSpPr>
          <p:cNvPr id="14" name="Shape 12"/>
          <p:cNvSpPr/>
          <p:nvPr/>
        </p:nvSpPr>
        <p:spPr>
          <a:xfrm>
            <a:off x="2061058" y="1051560"/>
            <a:ext cx="1539850" cy="1097280"/>
          </a:xfrm>
          <a:prstGeom prst="rect">
            <a:avLst>
              <a:gd name="adj" fmla="val 5000"/>
            </a:avLst>
          </a:prstGeom>
          <a:solidFill>
            <a:srgbClr val="FFFFFF"/>
          </a:solidFill>
          <a:ln w="12700">
            <a:solidFill>
              <a:srgbClr val="0E9E9E"/>
            </a:solidFill>
            <a:prstDash val="solid"/>
          </a:ln>
        </p:spPr>
      </p:sp>
      <p:sp>
        <p:nvSpPr>
          <p:cNvPr id="15" name="Shape 13"/>
          <p:cNvSpPr/>
          <p:nvPr/>
        </p:nvSpPr>
        <p:spPr>
          <a:xfrm>
            <a:off x="2629814" y="850392"/>
            <a:ext cx="402336" cy="402336"/>
          </a:xfrm>
          <a:prstGeom prst="ellipse">
            <a:avLst/>
          </a:prstGeom>
          <a:solidFill>
            <a:srgbClr val="0E9E9E"/>
          </a:solidFill>
          <a:ln w="12700">
            <a:solidFill>
              <a:srgbClr val="0E9E9E"/>
            </a:solidFill>
            <a:prstDash val="solid"/>
          </a:ln>
        </p:spPr>
      </p:sp>
      <p:sp>
        <p:nvSpPr>
          <p:cNvPr id="16" name="Text 14"/>
          <p:cNvSpPr/>
          <p:nvPr/>
        </p:nvSpPr>
        <p:spPr>
          <a:xfrm>
            <a:off x="2629814" y="850392"/>
            <a:ext cx="402336" cy="402336"/>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2</a:t>
            </a:r>
            <a:endParaRPr lang="en-US" sz="900" dirty="0"/>
          </a:p>
        </p:txBody>
      </p:sp>
      <p:sp>
        <p:nvSpPr>
          <p:cNvPr id="17" name="Text 15"/>
          <p:cNvSpPr/>
          <p:nvPr/>
        </p:nvSpPr>
        <p:spPr>
          <a:xfrm>
            <a:off x="2115922" y="1088136"/>
            <a:ext cx="1430122" cy="329184"/>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Identificar CWPs</a:t>
            </a:r>
            <a:endParaRPr lang="en-US" sz="800" dirty="0"/>
          </a:p>
        </p:txBody>
      </p:sp>
      <p:sp>
        <p:nvSpPr>
          <p:cNvPr id="18" name="Text 16"/>
          <p:cNvSpPr/>
          <p:nvPr/>
        </p:nvSpPr>
        <p:spPr>
          <a:xfrm>
            <a:off x="2115922" y="1435608"/>
            <a:ext cx="1430122" cy="640080"/>
          </a:xfrm>
          <a:prstGeom prst="rect">
            <a:avLst/>
          </a:prstGeom>
          <a:noFill/>
          <a:ln/>
        </p:spPr>
        <p:txBody>
          <a:bodyPr wrap="square" rtlCol="0" anchor="ctr"/>
          <a:lstStyle/>
          <a:p>
            <a:pPr algn="ctr" indent="0" marL="0">
              <a:buNone/>
            </a:pPr>
            <a:r>
              <a:rPr lang="en-US" sz="700" dirty="0">
                <a:solidFill>
                  <a:srgbClr val="444444"/>
                </a:solidFill>
                <a:latin typeface="Atkinson Hyperlegible" pitchFamily="34" charset="0"/>
                <a:ea typeface="Atkinson Hyperlegible" pitchFamily="34" charset="-122"/>
                <a:cs typeface="Atkinson Hyperlegible" pitchFamily="34" charset="-120"/>
              </a:rPr>
              <a:t>Por área geográfica y disciplina constructiva</a:t>
            </a:r>
            <a:endParaRPr lang="en-US" sz="700" dirty="0"/>
          </a:p>
        </p:txBody>
      </p:sp>
      <p:sp>
        <p:nvSpPr>
          <p:cNvPr id="19" name="Shape 17"/>
          <p:cNvSpPr/>
          <p:nvPr/>
        </p:nvSpPr>
        <p:spPr>
          <a:xfrm>
            <a:off x="3610051" y="1472184"/>
            <a:ext cx="201168" cy="256032"/>
          </a:xfrm>
          <a:prstGeom prst="chevron">
            <a:avLst/>
          </a:prstGeom>
          <a:solidFill>
            <a:srgbClr val="0E9E9E"/>
          </a:solidFill>
          <a:ln w="12700">
            <a:solidFill>
              <a:srgbClr val="0E9E9E"/>
            </a:solidFill>
            <a:prstDash val="solid"/>
          </a:ln>
        </p:spPr>
      </p:sp>
      <p:sp>
        <p:nvSpPr>
          <p:cNvPr id="20" name="Shape 18"/>
          <p:cNvSpPr/>
          <p:nvPr/>
        </p:nvSpPr>
        <p:spPr>
          <a:xfrm>
            <a:off x="3802075" y="1051560"/>
            <a:ext cx="1539850" cy="1097280"/>
          </a:xfrm>
          <a:prstGeom prst="rect">
            <a:avLst>
              <a:gd name="adj" fmla="val 5000"/>
            </a:avLst>
          </a:prstGeom>
          <a:solidFill>
            <a:srgbClr val="0E9E9E"/>
          </a:solidFill>
          <a:ln w="12700">
            <a:solidFill>
              <a:srgbClr val="0E9E9E"/>
            </a:solidFill>
            <a:prstDash val="solid"/>
          </a:ln>
        </p:spPr>
      </p:sp>
      <p:sp>
        <p:nvSpPr>
          <p:cNvPr id="21" name="Shape 19"/>
          <p:cNvSpPr/>
          <p:nvPr/>
        </p:nvSpPr>
        <p:spPr>
          <a:xfrm>
            <a:off x="4370832" y="850392"/>
            <a:ext cx="402336" cy="402336"/>
          </a:xfrm>
          <a:prstGeom prst="ellipse">
            <a:avLst/>
          </a:prstGeom>
          <a:solidFill>
            <a:srgbClr val="FFFFFF"/>
          </a:solidFill>
          <a:ln w="12700">
            <a:solidFill>
              <a:srgbClr val="0E9E9E"/>
            </a:solidFill>
            <a:prstDash val="solid"/>
          </a:ln>
        </p:spPr>
      </p:sp>
      <p:sp>
        <p:nvSpPr>
          <p:cNvPr id="22" name="Text 20"/>
          <p:cNvSpPr/>
          <p:nvPr/>
        </p:nvSpPr>
        <p:spPr>
          <a:xfrm>
            <a:off x="4370832" y="850392"/>
            <a:ext cx="402336" cy="402336"/>
          </a:xfrm>
          <a:prstGeom prst="rect">
            <a:avLst/>
          </a:prstGeom>
          <a:noFill/>
          <a:ln/>
        </p:spPr>
        <p:txBody>
          <a:bodyPr wrap="square" rtlCol="0" anchor="ctr"/>
          <a:lstStyle/>
          <a:p>
            <a:pPr algn="ctr" indent="0" marL="0">
              <a:buNone/>
            </a:pPr>
            <a:r>
              <a:rPr lang="en-US" sz="900" b="1" dirty="0">
                <a:solidFill>
                  <a:srgbClr val="0E9E9E"/>
                </a:solidFill>
                <a:latin typeface="Atkinson Hyperlegible" pitchFamily="34" charset="0"/>
                <a:ea typeface="Atkinson Hyperlegible" pitchFamily="34" charset="-122"/>
                <a:cs typeface="Atkinson Hyperlegible" pitchFamily="34" charset="-120"/>
              </a:rPr>
              <a:t>3</a:t>
            </a:r>
            <a:endParaRPr lang="en-US" sz="900" dirty="0"/>
          </a:p>
        </p:txBody>
      </p:sp>
      <p:sp>
        <p:nvSpPr>
          <p:cNvPr id="23" name="Text 21"/>
          <p:cNvSpPr/>
          <p:nvPr/>
        </p:nvSpPr>
        <p:spPr>
          <a:xfrm>
            <a:off x="3856939" y="1088136"/>
            <a:ext cx="1430122" cy="329184"/>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Listar EWPs</a:t>
            </a:r>
            <a:endParaRPr lang="en-US" sz="800" dirty="0"/>
          </a:p>
        </p:txBody>
      </p:sp>
      <p:sp>
        <p:nvSpPr>
          <p:cNvPr id="24" name="Text 22"/>
          <p:cNvSpPr/>
          <p:nvPr/>
        </p:nvSpPr>
        <p:spPr>
          <a:xfrm>
            <a:off x="3856939" y="1435608"/>
            <a:ext cx="1430122" cy="640080"/>
          </a:xfrm>
          <a:prstGeom prst="rect">
            <a:avLst/>
          </a:prstGeom>
          <a:noFill/>
          <a:ln/>
        </p:spPr>
        <p:txBody>
          <a:bodyPr wrap="square" rtlCol="0" anchor="ctr"/>
          <a:lstStyle/>
          <a:p>
            <a:pPr algn="ct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Entregables mínimos para cada CWP (planos, specs)</a:t>
            </a:r>
            <a:endParaRPr lang="en-US" sz="700" dirty="0"/>
          </a:p>
        </p:txBody>
      </p:sp>
      <p:sp>
        <p:nvSpPr>
          <p:cNvPr id="25" name="Shape 23"/>
          <p:cNvSpPr/>
          <p:nvPr/>
        </p:nvSpPr>
        <p:spPr>
          <a:xfrm>
            <a:off x="5351069" y="1472184"/>
            <a:ext cx="201168" cy="256032"/>
          </a:xfrm>
          <a:prstGeom prst="chevron">
            <a:avLst/>
          </a:prstGeom>
          <a:solidFill>
            <a:srgbClr val="0E9E9E"/>
          </a:solidFill>
          <a:ln w="12700">
            <a:solidFill>
              <a:srgbClr val="0E9E9E"/>
            </a:solidFill>
            <a:prstDash val="solid"/>
          </a:ln>
        </p:spPr>
      </p:sp>
      <p:sp>
        <p:nvSpPr>
          <p:cNvPr id="26" name="Shape 24"/>
          <p:cNvSpPr/>
          <p:nvPr/>
        </p:nvSpPr>
        <p:spPr>
          <a:xfrm>
            <a:off x="5543093" y="1051560"/>
            <a:ext cx="1539850" cy="1097280"/>
          </a:xfrm>
          <a:prstGeom prst="rect">
            <a:avLst>
              <a:gd name="adj" fmla="val 5000"/>
            </a:avLst>
          </a:prstGeom>
          <a:solidFill>
            <a:srgbClr val="FFFFFF"/>
          </a:solidFill>
          <a:ln w="12700">
            <a:solidFill>
              <a:srgbClr val="0E9E9E"/>
            </a:solidFill>
            <a:prstDash val="solid"/>
          </a:ln>
        </p:spPr>
      </p:sp>
      <p:sp>
        <p:nvSpPr>
          <p:cNvPr id="27" name="Shape 25"/>
          <p:cNvSpPr/>
          <p:nvPr/>
        </p:nvSpPr>
        <p:spPr>
          <a:xfrm>
            <a:off x="6111850" y="850392"/>
            <a:ext cx="402336" cy="402336"/>
          </a:xfrm>
          <a:prstGeom prst="ellipse">
            <a:avLst/>
          </a:prstGeom>
          <a:solidFill>
            <a:srgbClr val="0E9E9E"/>
          </a:solidFill>
          <a:ln w="12700">
            <a:solidFill>
              <a:srgbClr val="0E9E9E"/>
            </a:solidFill>
            <a:prstDash val="solid"/>
          </a:ln>
        </p:spPr>
      </p:sp>
      <p:sp>
        <p:nvSpPr>
          <p:cNvPr id="28" name="Text 26"/>
          <p:cNvSpPr/>
          <p:nvPr/>
        </p:nvSpPr>
        <p:spPr>
          <a:xfrm>
            <a:off x="6111850" y="850392"/>
            <a:ext cx="402336" cy="402336"/>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4</a:t>
            </a:r>
            <a:endParaRPr lang="en-US" sz="900" dirty="0"/>
          </a:p>
        </p:txBody>
      </p:sp>
      <p:sp>
        <p:nvSpPr>
          <p:cNvPr id="29" name="Text 27"/>
          <p:cNvSpPr/>
          <p:nvPr/>
        </p:nvSpPr>
        <p:spPr>
          <a:xfrm>
            <a:off x="5597957" y="1088136"/>
            <a:ext cx="1430122" cy="329184"/>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Calcular Fechas</a:t>
            </a:r>
            <a:endParaRPr lang="en-US" sz="800" dirty="0"/>
          </a:p>
        </p:txBody>
      </p:sp>
      <p:sp>
        <p:nvSpPr>
          <p:cNvPr id="30" name="Text 28"/>
          <p:cNvSpPr/>
          <p:nvPr/>
        </p:nvSpPr>
        <p:spPr>
          <a:xfrm>
            <a:off x="5597957" y="1435608"/>
            <a:ext cx="1430122" cy="640080"/>
          </a:xfrm>
          <a:prstGeom prst="rect">
            <a:avLst/>
          </a:prstGeom>
          <a:noFill/>
          <a:ln/>
        </p:spPr>
        <p:txBody>
          <a:bodyPr wrap="square" rtlCol="0" anchor="ctr"/>
          <a:lstStyle/>
          <a:p>
            <a:pPr algn="ctr" indent="0" marL="0">
              <a:buNone/>
            </a:pPr>
            <a:r>
              <a:rPr lang="en-US" sz="700" dirty="0">
                <a:solidFill>
                  <a:srgbClr val="444444"/>
                </a:solidFill>
                <a:latin typeface="Atkinson Hyperlegible" pitchFamily="34" charset="0"/>
                <a:ea typeface="Atkinson Hyperlegible" pitchFamily="34" charset="-122"/>
                <a:cs typeface="Atkinson Hyperlegible" pitchFamily="34" charset="-120"/>
              </a:rPr>
              <a:t>Fecha de necesidad en campo = inicio CWP menos lead time</a:t>
            </a:r>
            <a:endParaRPr lang="en-US" sz="700" dirty="0"/>
          </a:p>
        </p:txBody>
      </p:sp>
      <p:sp>
        <p:nvSpPr>
          <p:cNvPr id="31" name="Shape 29"/>
          <p:cNvSpPr/>
          <p:nvPr/>
        </p:nvSpPr>
        <p:spPr>
          <a:xfrm>
            <a:off x="7092086" y="1472184"/>
            <a:ext cx="201168" cy="256032"/>
          </a:xfrm>
          <a:prstGeom prst="chevron">
            <a:avLst/>
          </a:prstGeom>
          <a:solidFill>
            <a:srgbClr val="0E9E9E"/>
          </a:solidFill>
          <a:ln w="12700">
            <a:solidFill>
              <a:srgbClr val="0E9E9E"/>
            </a:solidFill>
            <a:prstDash val="solid"/>
          </a:ln>
        </p:spPr>
      </p:sp>
      <p:sp>
        <p:nvSpPr>
          <p:cNvPr id="32" name="Shape 30"/>
          <p:cNvSpPr/>
          <p:nvPr/>
        </p:nvSpPr>
        <p:spPr>
          <a:xfrm>
            <a:off x="7284110" y="1051560"/>
            <a:ext cx="1539850" cy="1097280"/>
          </a:xfrm>
          <a:prstGeom prst="rect">
            <a:avLst>
              <a:gd name="adj" fmla="val 5000"/>
            </a:avLst>
          </a:prstGeom>
          <a:solidFill>
            <a:srgbClr val="0E9E9E"/>
          </a:solidFill>
          <a:ln w="12700">
            <a:solidFill>
              <a:srgbClr val="0E9E9E"/>
            </a:solidFill>
            <a:prstDash val="solid"/>
          </a:ln>
        </p:spPr>
      </p:sp>
      <p:sp>
        <p:nvSpPr>
          <p:cNvPr id="33" name="Shape 31"/>
          <p:cNvSpPr/>
          <p:nvPr/>
        </p:nvSpPr>
        <p:spPr>
          <a:xfrm>
            <a:off x="7852867" y="850392"/>
            <a:ext cx="402336" cy="402336"/>
          </a:xfrm>
          <a:prstGeom prst="ellipse">
            <a:avLst/>
          </a:prstGeom>
          <a:solidFill>
            <a:srgbClr val="FFFFFF"/>
          </a:solidFill>
          <a:ln w="12700">
            <a:solidFill>
              <a:srgbClr val="0E9E9E"/>
            </a:solidFill>
            <a:prstDash val="solid"/>
          </a:ln>
        </p:spPr>
      </p:sp>
      <p:sp>
        <p:nvSpPr>
          <p:cNvPr id="34" name="Text 32"/>
          <p:cNvSpPr/>
          <p:nvPr/>
        </p:nvSpPr>
        <p:spPr>
          <a:xfrm>
            <a:off x="7852867" y="850392"/>
            <a:ext cx="402336" cy="402336"/>
          </a:xfrm>
          <a:prstGeom prst="rect">
            <a:avLst/>
          </a:prstGeom>
          <a:noFill/>
          <a:ln/>
        </p:spPr>
        <p:txBody>
          <a:bodyPr wrap="square" rtlCol="0" anchor="ctr"/>
          <a:lstStyle/>
          <a:p>
            <a:pPr algn="ctr" indent="0" marL="0">
              <a:buNone/>
            </a:pPr>
            <a:r>
              <a:rPr lang="en-US" sz="900" b="1" dirty="0">
                <a:solidFill>
                  <a:srgbClr val="0E9E9E"/>
                </a:solidFill>
                <a:latin typeface="Atkinson Hyperlegible" pitchFamily="34" charset="0"/>
                <a:ea typeface="Atkinson Hyperlegible" pitchFamily="34" charset="-122"/>
                <a:cs typeface="Atkinson Hyperlegible" pitchFamily="34" charset="-120"/>
              </a:rPr>
              <a:t>5</a:t>
            </a:r>
            <a:endParaRPr lang="en-US" sz="900" dirty="0"/>
          </a:p>
        </p:txBody>
      </p:sp>
      <p:sp>
        <p:nvSpPr>
          <p:cNvPr id="35" name="Text 33"/>
          <p:cNvSpPr/>
          <p:nvPr/>
        </p:nvSpPr>
        <p:spPr>
          <a:xfrm>
            <a:off x="7338974" y="1088136"/>
            <a:ext cx="1430122" cy="329184"/>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Publicar EDS</a:t>
            </a:r>
            <a:endParaRPr lang="en-US" sz="800" dirty="0"/>
          </a:p>
        </p:txBody>
      </p:sp>
      <p:sp>
        <p:nvSpPr>
          <p:cNvPr id="36" name="Text 34"/>
          <p:cNvSpPr/>
          <p:nvPr/>
        </p:nvSpPr>
        <p:spPr>
          <a:xfrm>
            <a:off x="7338974" y="1435608"/>
            <a:ext cx="1430122" cy="640080"/>
          </a:xfrm>
          <a:prstGeom prst="rect">
            <a:avLst/>
          </a:prstGeom>
          <a:noFill/>
          <a:ln/>
        </p:spPr>
        <p:txBody>
          <a:bodyPr wrap="square" rtlCol="0" anchor="ctr"/>
          <a:lstStyle/>
          <a:p>
            <a:pPr algn="ct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Cronograma comprometido con hitos de QA/aprobación</a:t>
            </a:r>
            <a:endParaRPr lang="en-US" sz="700" dirty="0"/>
          </a:p>
        </p:txBody>
      </p:sp>
      <p:sp>
        <p:nvSpPr>
          <p:cNvPr id="37" name="Shape 35"/>
          <p:cNvSpPr/>
          <p:nvPr/>
        </p:nvSpPr>
        <p:spPr>
          <a:xfrm>
            <a:off x="320040" y="2487168"/>
            <a:ext cx="4023360" cy="1078992"/>
          </a:xfrm>
          <a:prstGeom prst="rect">
            <a:avLst>
              <a:gd name="adj" fmla="val 5085"/>
            </a:avLst>
          </a:prstGeom>
          <a:solidFill>
            <a:srgbClr val="FFFFFF"/>
          </a:solidFill>
          <a:ln w="6350">
            <a:solidFill>
              <a:srgbClr val="E5E5EA"/>
            </a:solidFill>
            <a:prstDash val="solid"/>
          </a:ln>
        </p:spPr>
      </p:sp>
      <p:pic>
        <p:nvPicPr>
          <p:cNvPr id="3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38912" y="2578608"/>
            <a:ext cx="329184" cy="329184"/>
          </a:xfrm>
          <a:prstGeom prst="rect">
            <a:avLst/>
          </a:prstGeom>
        </p:spPr>
      </p:pic>
      <p:sp>
        <p:nvSpPr>
          <p:cNvPr id="39" name="Text 36"/>
          <p:cNvSpPr/>
          <p:nvPr/>
        </p:nvSpPr>
        <p:spPr>
          <a:xfrm>
            <a:off x="795528" y="255117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Regla 80%</a:t>
            </a:r>
            <a:endParaRPr lang="en-US" sz="900" dirty="0"/>
          </a:p>
        </p:txBody>
      </p:sp>
      <p:sp>
        <p:nvSpPr>
          <p:cNvPr id="40" name="Text 37"/>
          <p:cNvSpPr/>
          <p:nvPr/>
        </p:nvSpPr>
        <p:spPr>
          <a:xfrm>
            <a:off x="795528" y="2779776"/>
            <a:ext cx="3429000" cy="7132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80% de planos del CWP deben estar aprobados antes de iniciar el IWP</a:t>
            </a:r>
            <a:endParaRPr lang="en-US" sz="750" dirty="0"/>
          </a:p>
        </p:txBody>
      </p:sp>
      <p:sp>
        <p:nvSpPr>
          <p:cNvPr id="41" name="Shape 38"/>
          <p:cNvSpPr/>
          <p:nvPr/>
        </p:nvSpPr>
        <p:spPr>
          <a:xfrm>
            <a:off x="4663440" y="2487168"/>
            <a:ext cx="4023360" cy="1078992"/>
          </a:xfrm>
          <a:prstGeom prst="rect">
            <a:avLst>
              <a:gd name="adj" fmla="val 5085"/>
            </a:avLst>
          </a:prstGeom>
          <a:solidFill>
            <a:srgbClr val="FFFFFF"/>
          </a:solidFill>
          <a:ln w="6350">
            <a:solidFill>
              <a:srgbClr val="E5E5EA"/>
            </a:solidFill>
            <a:prstDash val="solid"/>
          </a:ln>
        </p:spPr>
      </p:sp>
      <p:pic>
        <p:nvPicPr>
          <p:cNvPr id="4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82312" y="2578608"/>
            <a:ext cx="329184" cy="329184"/>
          </a:xfrm>
          <a:prstGeom prst="rect">
            <a:avLst/>
          </a:prstGeom>
        </p:spPr>
      </p:pic>
      <p:sp>
        <p:nvSpPr>
          <p:cNvPr id="43" name="Text 39"/>
          <p:cNvSpPr/>
          <p:nvPr/>
        </p:nvSpPr>
        <p:spPr>
          <a:xfrm>
            <a:off x="5138928" y="255117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Lead Time</a:t>
            </a:r>
            <a:endParaRPr lang="en-US" sz="900" dirty="0"/>
          </a:p>
        </p:txBody>
      </p:sp>
      <p:sp>
        <p:nvSpPr>
          <p:cNvPr id="44" name="Text 40"/>
          <p:cNvSpPr/>
          <p:nvPr/>
        </p:nvSpPr>
        <p:spPr>
          <a:xfrm>
            <a:off x="5138928" y="2779776"/>
            <a:ext cx="3429000" cy="7132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Calcular tiempo de revisión, aprobación y distribución: típicamente 6-8 semanas</a:t>
            </a:r>
            <a:endParaRPr lang="en-US" sz="750" dirty="0"/>
          </a:p>
        </p:txBody>
      </p:sp>
      <p:sp>
        <p:nvSpPr>
          <p:cNvPr id="45" name="Shape 41"/>
          <p:cNvSpPr/>
          <p:nvPr/>
        </p:nvSpPr>
        <p:spPr>
          <a:xfrm>
            <a:off x="320040" y="3675888"/>
            <a:ext cx="4023360" cy="1078992"/>
          </a:xfrm>
          <a:prstGeom prst="rect">
            <a:avLst>
              <a:gd name="adj" fmla="val 5085"/>
            </a:avLst>
          </a:prstGeom>
          <a:solidFill>
            <a:srgbClr val="FFFFFF"/>
          </a:solidFill>
          <a:ln w="6350">
            <a:solidFill>
              <a:srgbClr val="E5E5EA"/>
            </a:solidFill>
            <a:prstDash val="solid"/>
          </a:ln>
        </p:spPr>
      </p:sp>
      <p:pic>
        <p:nvPicPr>
          <p:cNvPr id="4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8912" y="3767328"/>
            <a:ext cx="329184" cy="329184"/>
          </a:xfrm>
          <a:prstGeom prst="rect">
            <a:avLst/>
          </a:prstGeom>
        </p:spPr>
      </p:pic>
      <p:sp>
        <p:nvSpPr>
          <p:cNvPr id="47" name="Text 42"/>
          <p:cNvSpPr/>
          <p:nvPr/>
        </p:nvSpPr>
        <p:spPr>
          <a:xfrm>
            <a:off x="795528" y="373989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Freeze Date</a:t>
            </a:r>
            <a:endParaRPr lang="en-US" sz="900" dirty="0"/>
          </a:p>
        </p:txBody>
      </p:sp>
      <p:sp>
        <p:nvSpPr>
          <p:cNvPr id="48" name="Text 43"/>
          <p:cNvSpPr/>
          <p:nvPr/>
        </p:nvSpPr>
        <p:spPr>
          <a:xfrm>
            <a:off x="795528" y="3968496"/>
            <a:ext cx="3429000" cy="7132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Congelamiento de diseño 4 semanas antes de inicio de construcción de cada CWP</a:t>
            </a:r>
            <a:endParaRPr lang="en-US" sz="750" dirty="0"/>
          </a:p>
        </p:txBody>
      </p:sp>
      <p:sp>
        <p:nvSpPr>
          <p:cNvPr id="49" name="Shape 44"/>
          <p:cNvSpPr/>
          <p:nvPr/>
        </p:nvSpPr>
        <p:spPr>
          <a:xfrm>
            <a:off x="4663440" y="3675888"/>
            <a:ext cx="4023360" cy="1078992"/>
          </a:xfrm>
          <a:prstGeom prst="rect">
            <a:avLst>
              <a:gd name="adj" fmla="val 5085"/>
            </a:avLst>
          </a:prstGeom>
          <a:solidFill>
            <a:srgbClr val="FFFFFF"/>
          </a:solidFill>
          <a:ln w="6350">
            <a:solidFill>
              <a:srgbClr val="E5E5EA"/>
            </a:solidFill>
            <a:prstDash val="solid"/>
          </a:ln>
        </p:spPr>
      </p:sp>
      <p:pic>
        <p:nvPicPr>
          <p:cNvPr id="5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82312" y="3767328"/>
            <a:ext cx="329184" cy="329184"/>
          </a:xfrm>
          <a:prstGeom prst="rect">
            <a:avLst/>
          </a:prstGeom>
        </p:spPr>
      </p:pic>
      <p:sp>
        <p:nvSpPr>
          <p:cNvPr id="51" name="Text 45"/>
          <p:cNvSpPr/>
          <p:nvPr/>
        </p:nvSpPr>
        <p:spPr>
          <a:xfrm>
            <a:off x="5138928" y="373989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Change Control</a:t>
            </a:r>
            <a:endParaRPr lang="en-US" sz="900" dirty="0"/>
          </a:p>
        </p:txBody>
      </p:sp>
      <p:sp>
        <p:nvSpPr>
          <p:cNvPr id="52" name="Text 46"/>
          <p:cNvSpPr/>
          <p:nvPr/>
        </p:nvSpPr>
        <p:spPr>
          <a:xfrm>
            <a:off x="5138928" y="3968496"/>
            <a:ext cx="3429000" cy="7132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Todo cambio post-EDS requiere análisis de impacto en IWPs activos o próximos</a:t>
            </a:r>
            <a:endParaRPr lang="en-US" sz="7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E9E"/>
          </a:solidFill>
          <a:ln w="12700">
            <a:solidFill>
              <a:srgbClr val="0E9E9E"/>
            </a:solidFill>
            <a:prstDash val="solid"/>
          </a:ln>
        </p:spPr>
      </p:sp>
      <p:sp>
        <p:nvSpPr>
          <p:cNvPr id="3" name="Shape 1"/>
          <p:cNvSpPr/>
          <p:nvPr/>
        </p:nvSpPr>
        <p:spPr>
          <a:xfrm>
            <a:off x="164592" y="4956048"/>
            <a:ext cx="8979408" cy="182880"/>
          </a:xfrm>
          <a:prstGeom prst="rect">
            <a:avLst/>
          </a:prstGeom>
          <a:solidFill>
            <a:srgbClr val="0E9E9E"/>
          </a:solidFill>
          <a:ln w="12700">
            <a:solidFill>
              <a:srgbClr val="0E9E9E"/>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103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POC — Path of Construction</a:t>
            </a:r>
            <a:endParaRPr lang="en-US" sz="1800" dirty="0"/>
          </a:p>
        </p:txBody>
      </p:sp>
      <p:sp>
        <p:nvSpPr>
          <p:cNvPr id="6" name="Shape 4"/>
          <p:cNvSpPr/>
          <p:nvPr/>
        </p:nvSpPr>
        <p:spPr>
          <a:xfrm>
            <a:off x="320040" y="621792"/>
            <a:ext cx="8503920" cy="41148"/>
          </a:xfrm>
          <a:prstGeom prst="rect">
            <a:avLst/>
          </a:prstGeom>
          <a:solidFill>
            <a:srgbClr val="0E9E9E"/>
          </a:solidFill>
          <a:ln w="12700">
            <a:solidFill>
              <a:srgbClr val="0E9E9E"/>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E9E9E"/>
                </a:solidFill>
                <a:latin typeface="Atkinson Hyperlegible" pitchFamily="34" charset="0"/>
                <a:ea typeface="Atkinson Hyperlegible" pitchFamily="34" charset="-122"/>
                <a:cs typeface="Atkinson Hyperlegible" pitchFamily="34" charset="-120"/>
              </a:rPr>
              <a:t>Secuencia lógica de áreas de trabajo que maximiza la constructabilidad</a:t>
            </a:r>
            <a:endParaRPr lang="en-US" sz="900" dirty="0"/>
          </a:p>
        </p:txBody>
      </p:sp>
      <p:sp>
        <p:nvSpPr>
          <p:cNvPr id="8" name="Shape 6"/>
          <p:cNvSpPr/>
          <p:nvPr/>
        </p:nvSpPr>
        <p:spPr>
          <a:xfrm>
            <a:off x="320040" y="960120"/>
            <a:ext cx="4023360" cy="3840480"/>
          </a:xfrm>
          <a:prstGeom prst="rect">
            <a:avLst>
              <a:gd name="adj" fmla="val 1667"/>
            </a:avLst>
          </a:prstGeom>
          <a:solidFill>
            <a:srgbClr val="F0FAFA"/>
          </a:solidFill>
          <a:ln w="12700">
            <a:solidFill>
              <a:srgbClr val="0E9E9E"/>
            </a:solidFill>
            <a:prstDash val="solid"/>
          </a:ln>
        </p:spPr>
      </p:sp>
      <p:sp>
        <p:nvSpPr>
          <p:cNvPr id="9" name="Text 7"/>
          <p:cNvSpPr/>
          <p:nvPr/>
        </p:nvSpPr>
        <p:spPr>
          <a:xfrm>
            <a:off x="411480" y="1024128"/>
            <a:ext cx="3840480" cy="274320"/>
          </a:xfrm>
          <a:prstGeom prst="rect">
            <a:avLst/>
          </a:prstGeom>
          <a:noFill/>
          <a:ln/>
        </p:spPr>
        <p:txBody>
          <a:bodyPr wrap="square" rtlCol="0" anchor="ctr"/>
          <a:lstStyle/>
          <a:p>
            <a:pPr indent="0" marL="0">
              <a:buNone/>
            </a:pPr>
            <a:r>
              <a:rPr lang="en-US" sz="1000" b="1" dirty="0">
                <a:solidFill>
                  <a:srgbClr val="0E9E9E"/>
                </a:solidFill>
                <a:latin typeface="Atkinson Hyperlegible" pitchFamily="34" charset="0"/>
                <a:ea typeface="Atkinson Hyperlegible" pitchFamily="34" charset="-122"/>
                <a:cs typeface="Atkinson Hyperlegible" pitchFamily="34" charset="-120"/>
              </a:rPr>
              <a:t>Principios del POC</a:t>
            </a:r>
            <a:endParaRPr lang="en-US" sz="1000" dirty="0"/>
          </a:p>
        </p:txBody>
      </p:sp>
      <p:sp>
        <p:nvSpPr>
          <p:cNvPr id="10" name="Shape 8"/>
          <p:cNvSpPr/>
          <p:nvPr/>
        </p:nvSpPr>
        <p:spPr>
          <a:xfrm>
            <a:off x="411480" y="1389888"/>
            <a:ext cx="3840480" cy="585216"/>
          </a:xfrm>
          <a:prstGeom prst="rect">
            <a:avLst>
              <a:gd name="adj" fmla="val 6250"/>
            </a:avLst>
          </a:prstGeom>
          <a:solidFill>
            <a:srgbClr val="FFFFFF"/>
          </a:solidFill>
          <a:ln w="6350">
            <a:solidFill>
              <a:srgbClr val="E5E5EA"/>
            </a:solidFill>
            <a:prstDash val="solid"/>
          </a:ln>
        </p:spPr>
      </p:sp>
      <p:sp>
        <p:nvSpPr>
          <p:cNvPr id="11" name="Text 9"/>
          <p:cNvSpPr/>
          <p:nvPr/>
        </p:nvSpPr>
        <p:spPr>
          <a:xfrm>
            <a:off x="502920" y="1426464"/>
            <a:ext cx="3657600" cy="237744"/>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Inicio Temprano</a:t>
            </a:r>
            <a:endParaRPr lang="en-US" sz="850" dirty="0"/>
          </a:p>
        </p:txBody>
      </p:sp>
      <p:sp>
        <p:nvSpPr>
          <p:cNvPr id="12" name="Text 10"/>
          <p:cNvSpPr/>
          <p:nvPr/>
        </p:nvSpPr>
        <p:spPr>
          <a:xfrm>
            <a:off x="502920" y="1682496"/>
            <a:ext cx="3657600" cy="2560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Comenzar donde hay más ingeniería liberada y materiales disponibles</a:t>
            </a:r>
            <a:endParaRPr lang="en-US" sz="750" dirty="0"/>
          </a:p>
        </p:txBody>
      </p:sp>
      <p:sp>
        <p:nvSpPr>
          <p:cNvPr id="13" name="Shape 11"/>
          <p:cNvSpPr/>
          <p:nvPr/>
        </p:nvSpPr>
        <p:spPr>
          <a:xfrm>
            <a:off x="411480" y="2048256"/>
            <a:ext cx="3840480" cy="585216"/>
          </a:xfrm>
          <a:prstGeom prst="rect">
            <a:avLst>
              <a:gd name="adj" fmla="val 6250"/>
            </a:avLst>
          </a:prstGeom>
          <a:solidFill>
            <a:srgbClr val="F8FFFF"/>
          </a:solidFill>
          <a:ln w="6350">
            <a:solidFill>
              <a:srgbClr val="E5E5EA"/>
            </a:solidFill>
            <a:prstDash val="solid"/>
          </a:ln>
        </p:spPr>
      </p:sp>
      <p:sp>
        <p:nvSpPr>
          <p:cNvPr id="14" name="Text 12"/>
          <p:cNvSpPr/>
          <p:nvPr/>
        </p:nvSpPr>
        <p:spPr>
          <a:xfrm>
            <a:off x="502920" y="2084832"/>
            <a:ext cx="3657600" cy="237744"/>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Flujo Continuo</a:t>
            </a:r>
            <a:endParaRPr lang="en-US" sz="850" dirty="0"/>
          </a:p>
        </p:txBody>
      </p:sp>
      <p:sp>
        <p:nvSpPr>
          <p:cNvPr id="15" name="Text 13"/>
          <p:cNvSpPr/>
          <p:nvPr/>
        </p:nvSpPr>
        <p:spPr>
          <a:xfrm>
            <a:off x="502920" y="2340864"/>
            <a:ext cx="3657600" cy="2560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Evitar interferencias entre disciplinas planificando secuencias de ocupación de espacio</a:t>
            </a:r>
            <a:endParaRPr lang="en-US" sz="750" dirty="0"/>
          </a:p>
        </p:txBody>
      </p:sp>
      <p:sp>
        <p:nvSpPr>
          <p:cNvPr id="16" name="Shape 14"/>
          <p:cNvSpPr/>
          <p:nvPr/>
        </p:nvSpPr>
        <p:spPr>
          <a:xfrm>
            <a:off x="411480" y="2706624"/>
            <a:ext cx="3840480" cy="585216"/>
          </a:xfrm>
          <a:prstGeom prst="rect">
            <a:avLst>
              <a:gd name="adj" fmla="val 6250"/>
            </a:avLst>
          </a:prstGeom>
          <a:solidFill>
            <a:srgbClr val="FFFFFF"/>
          </a:solidFill>
          <a:ln w="6350">
            <a:solidFill>
              <a:srgbClr val="E5E5EA"/>
            </a:solidFill>
            <a:prstDash val="solid"/>
          </a:ln>
        </p:spPr>
      </p:sp>
      <p:sp>
        <p:nvSpPr>
          <p:cNvPr id="17" name="Text 15"/>
          <p:cNvSpPr/>
          <p:nvPr/>
        </p:nvSpPr>
        <p:spPr>
          <a:xfrm>
            <a:off x="502920" y="2743200"/>
            <a:ext cx="3657600" cy="237744"/>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Frente de Trabajo</a:t>
            </a:r>
            <a:endParaRPr lang="en-US" sz="850" dirty="0"/>
          </a:p>
        </p:txBody>
      </p:sp>
      <p:sp>
        <p:nvSpPr>
          <p:cNvPr id="18" name="Text 16"/>
          <p:cNvSpPr/>
          <p:nvPr/>
        </p:nvSpPr>
        <p:spPr>
          <a:xfrm>
            <a:off x="502920" y="2999232"/>
            <a:ext cx="3657600" cy="2560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Maximizar frentes paralelos sin interferir: layout de CWAs independientes</a:t>
            </a:r>
            <a:endParaRPr lang="en-US" sz="750" dirty="0"/>
          </a:p>
        </p:txBody>
      </p:sp>
      <p:sp>
        <p:nvSpPr>
          <p:cNvPr id="19" name="Shape 17"/>
          <p:cNvSpPr/>
          <p:nvPr/>
        </p:nvSpPr>
        <p:spPr>
          <a:xfrm>
            <a:off x="411480" y="3364992"/>
            <a:ext cx="3840480" cy="585216"/>
          </a:xfrm>
          <a:prstGeom prst="rect">
            <a:avLst>
              <a:gd name="adj" fmla="val 6250"/>
            </a:avLst>
          </a:prstGeom>
          <a:solidFill>
            <a:srgbClr val="F8FFFF"/>
          </a:solidFill>
          <a:ln w="6350">
            <a:solidFill>
              <a:srgbClr val="E5E5EA"/>
            </a:solidFill>
            <a:prstDash val="solid"/>
          </a:ln>
        </p:spPr>
      </p:sp>
      <p:sp>
        <p:nvSpPr>
          <p:cNvPr id="20" name="Text 18"/>
          <p:cNvSpPr/>
          <p:nvPr/>
        </p:nvSpPr>
        <p:spPr>
          <a:xfrm>
            <a:off x="502920" y="3401568"/>
            <a:ext cx="3657600" cy="237744"/>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Módulos Críticos</a:t>
            </a:r>
            <a:endParaRPr lang="en-US" sz="850" dirty="0"/>
          </a:p>
        </p:txBody>
      </p:sp>
      <p:sp>
        <p:nvSpPr>
          <p:cNvPr id="21" name="Text 19"/>
          <p:cNvSpPr/>
          <p:nvPr/>
        </p:nvSpPr>
        <p:spPr>
          <a:xfrm>
            <a:off x="502920" y="3657600"/>
            <a:ext cx="3657600" cy="2560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Priorizar CWPs en ruta crítica del programa: izaje, comisionado, pruebas</a:t>
            </a:r>
            <a:endParaRPr lang="en-US" sz="750" dirty="0"/>
          </a:p>
        </p:txBody>
      </p:sp>
      <p:sp>
        <p:nvSpPr>
          <p:cNvPr id="22" name="Shape 20"/>
          <p:cNvSpPr/>
          <p:nvPr/>
        </p:nvSpPr>
        <p:spPr>
          <a:xfrm>
            <a:off x="411480" y="4023360"/>
            <a:ext cx="3840480" cy="585216"/>
          </a:xfrm>
          <a:prstGeom prst="rect">
            <a:avLst>
              <a:gd name="adj" fmla="val 6250"/>
            </a:avLst>
          </a:prstGeom>
          <a:solidFill>
            <a:srgbClr val="FFFFFF"/>
          </a:solidFill>
          <a:ln w="6350">
            <a:solidFill>
              <a:srgbClr val="E5E5EA"/>
            </a:solidFill>
            <a:prstDash val="solid"/>
          </a:ln>
        </p:spPr>
      </p:sp>
      <p:sp>
        <p:nvSpPr>
          <p:cNvPr id="23" name="Text 21"/>
          <p:cNvSpPr/>
          <p:nvPr/>
        </p:nvSpPr>
        <p:spPr>
          <a:xfrm>
            <a:off x="502920" y="4059936"/>
            <a:ext cx="3657600" cy="237744"/>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Logística</a:t>
            </a:r>
            <a:endParaRPr lang="en-US" sz="850" dirty="0"/>
          </a:p>
        </p:txBody>
      </p:sp>
      <p:sp>
        <p:nvSpPr>
          <p:cNvPr id="24" name="Text 22"/>
          <p:cNvSpPr/>
          <p:nvPr/>
        </p:nvSpPr>
        <p:spPr>
          <a:xfrm>
            <a:off x="502920" y="4315968"/>
            <a:ext cx="3657600" cy="2560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POC considera accesos, áreas de acopio, rutas de izaje y lay-down areas</a:t>
            </a:r>
            <a:endParaRPr lang="en-US" sz="750" dirty="0"/>
          </a:p>
        </p:txBody>
      </p:sp>
      <p:sp>
        <p:nvSpPr>
          <p:cNvPr id="25" name="Shape 23"/>
          <p:cNvSpPr/>
          <p:nvPr/>
        </p:nvSpPr>
        <p:spPr>
          <a:xfrm>
            <a:off x="4526280" y="960120"/>
            <a:ext cx="4297680" cy="3840480"/>
          </a:xfrm>
          <a:prstGeom prst="rect">
            <a:avLst>
              <a:gd name="adj" fmla="val 1667"/>
            </a:avLst>
          </a:prstGeom>
          <a:solidFill>
            <a:srgbClr val="FFFFFF"/>
          </a:solidFill>
          <a:ln w="12700">
            <a:solidFill>
              <a:srgbClr val="0E9E9E"/>
            </a:solidFill>
            <a:prstDash val="solid"/>
          </a:ln>
        </p:spPr>
      </p:sp>
      <p:sp>
        <p:nvSpPr>
          <p:cNvPr id="26" name="Text 24"/>
          <p:cNvSpPr/>
          <p:nvPr/>
        </p:nvSpPr>
        <p:spPr>
          <a:xfrm>
            <a:off x="4617720" y="1024128"/>
            <a:ext cx="4114800" cy="274320"/>
          </a:xfrm>
          <a:prstGeom prst="rect">
            <a:avLst/>
          </a:prstGeom>
          <a:noFill/>
          <a:ln/>
        </p:spPr>
        <p:txBody>
          <a:bodyPr wrap="square" rtlCol="0" anchor="ctr"/>
          <a:lstStyle/>
          <a:p>
            <a:pPr indent="0" marL="0">
              <a:buNone/>
            </a:pPr>
            <a:r>
              <a:rPr lang="en-US" sz="1000" b="1" dirty="0">
                <a:solidFill>
                  <a:srgbClr val="0E9E9E"/>
                </a:solidFill>
                <a:latin typeface="Atkinson Hyperlegible" pitchFamily="34" charset="0"/>
                <a:ea typeface="Atkinson Hyperlegible" pitchFamily="34" charset="-122"/>
                <a:cs typeface="Atkinson Hyperlegible" pitchFamily="34" charset="-120"/>
              </a:rPr>
              <a:t>Ejemplo: Planta Industrial</a:t>
            </a:r>
            <a:endParaRPr lang="en-US" sz="1000" dirty="0"/>
          </a:p>
        </p:txBody>
      </p:sp>
      <p:sp>
        <p:nvSpPr>
          <p:cNvPr id="27" name="Shape 25"/>
          <p:cNvSpPr/>
          <p:nvPr/>
        </p:nvSpPr>
        <p:spPr>
          <a:xfrm>
            <a:off x="4617720" y="1444752"/>
            <a:ext cx="310896" cy="310896"/>
          </a:xfrm>
          <a:prstGeom prst="ellipse">
            <a:avLst/>
          </a:prstGeom>
          <a:solidFill>
            <a:srgbClr val="0E9E9E"/>
          </a:solidFill>
          <a:ln w="12700">
            <a:solidFill>
              <a:srgbClr val="0E9E9E"/>
            </a:solidFill>
            <a:prstDash val="solid"/>
          </a:ln>
        </p:spPr>
      </p:sp>
      <p:sp>
        <p:nvSpPr>
          <p:cNvPr id="28" name="Text 26"/>
          <p:cNvSpPr/>
          <p:nvPr/>
        </p:nvSpPr>
        <p:spPr>
          <a:xfrm>
            <a:off x="4617720" y="1444752"/>
            <a:ext cx="310896" cy="310896"/>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1</a:t>
            </a:r>
            <a:endParaRPr lang="en-US" sz="850" dirty="0"/>
          </a:p>
        </p:txBody>
      </p:sp>
      <p:sp>
        <p:nvSpPr>
          <p:cNvPr id="29" name="Shape 27"/>
          <p:cNvSpPr/>
          <p:nvPr/>
        </p:nvSpPr>
        <p:spPr>
          <a:xfrm>
            <a:off x="5010912" y="1389888"/>
            <a:ext cx="3749040" cy="475488"/>
          </a:xfrm>
          <a:prstGeom prst="rect">
            <a:avLst>
              <a:gd name="adj" fmla="val 7692"/>
            </a:avLst>
          </a:prstGeom>
          <a:solidFill>
            <a:srgbClr val="F0FAFA"/>
          </a:solidFill>
          <a:ln w="6350">
            <a:solidFill>
              <a:srgbClr val="E5E5EA"/>
            </a:solidFill>
            <a:prstDash val="solid"/>
          </a:ln>
        </p:spPr>
      </p:sp>
      <p:sp>
        <p:nvSpPr>
          <p:cNvPr id="30" name="Text 28"/>
          <p:cNvSpPr/>
          <p:nvPr/>
        </p:nvSpPr>
        <p:spPr>
          <a:xfrm>
            <a:off x="5102352" y="1426464"/>
            <a:ext cx="914400" cy="402336"/>
          </a:xfrm>
          <a:prstGeom prst="rect">
            <a:avLst/>
          </a:prstGeom>
          <a:noFill/>
          <a:ln/>
        </p:spPr>
        <p:txBody>
          <a:bodyPr wrap="square" rtlCol="0" anchor="ctr"/>
          <a:lstStyle/>
          <a:p>
            <a:pPr indent="0" marL="0">
              <a:buNone/>
            </a:pPr>
            <a:r>
              <a:rPr lang="en-US" sz="850" b="1" dirty="0">
                <a:solidFill>
                  <a:srgbClr val="0E9E9E"/>
                </a:solidFill>
                <a:latin typeface="Atkinson Hyperlegible" pitchFamily="34" charset="0"/>
                <a:ea typeface="Atkinson Hyperlegible" pitchFamily="34" charset="-122"/>
                <a:cs typeface="Atkinson Hyperlegible" pitchFamily="34" charset="-120"/>
              </a:rPr>
              <a:t>CWA-01</a:t>
            </a:r>
            <a:endParaRPr lang="en-US" sz="850" dirty="0"/>
          </a:p>
        </p:txBody>
      </p:sp>
      <p:sp>
        <p:nvSpPr>
          <p:cNvPr id="31" name="Text 29"/>
          <p:cNvSpPr/>
          <p:nvPr/>
        </p:nvSpPr>
        <p:spPr>
          <a:xfrm>
            <a:off x="6053328" y="1426464"/>
            <a:ext cx="2651760" cy="402336"/>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Cimentaciones Zona Norte</a:t>
            </a:r>
            <a:endParaRPr lang="en-US" sz="800" dirty="0"/>
          </a:p>
        </p:txBody>
      </p:sp>
      <p:sp>
        <p:nvSpPr>
          <p:cNvPr id="32" name="Shape 30"/>
          <p:cNvSpPr/>
          <p:nvPr/>
        </p:nvSpPr>
        <p:spPr>
          <a:xfrm>
            <a:off x="4764024" y="1755648"/>
            <a:ext cx="18288" cy="201168"/>
          </a:xfrm>
          <a:prstGeom prst="line">
            <a:avLst/>
          </a:prstGeom>
          <a:noFill/>
          <a:ln w="15240">
            <a:solidFill>
              <a:srgbClr val="0E9E9E"/>
            </a:solidFill>
            <a:prstDash val="solid"/>
          </a:ln>
        </p:spPr>
      </p:sp>
      <p:sp>
        <p:nvSpPr>
          <p:cNvPr id="33" name="Shape 31"/>
          <p:cNvSpPr/>
          <p:nvPr/>
        </p:nvSpPr>
        <p:spPr>
          <a:xfrm>
            <a:off x="4617720" y="2011680"/>
            <a:ext cx="310896" cy="310896"/>
          </a:xfrm>
          <a:prstGeom prst="ellipse">
            <a:avLst/>
          </a:prstGeom>
          <a:solidFill>
            <a:srgbClr val="0E9E9E"/>
          </a:solidFill>
          <a:ln w="12700">
            <a:solidFill>
              <a:srgbClr val="0E9E9E"/>
            </a:solidFill>
            <a:prstDash val="solid"/>
          </a:ln>
        </p:spPr>
      </p:sp>
      <p:sp>
        <p:nvSpPr>
          <p:cNvPr id="34" name="Text 32"/>
          <p:cNvSpPr/>
          <p:nvPr/>
        </p:nvSpPr>
        <p:spPr>
          <a:xfrm>
            <a:off x="4617720" y="2011680"/>
            <a:ext cx="310896" cy="310896"/>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2</a:t>
            </a:r>
            <a:endParaRPr lang="en-US" sz="850" dirty="0"/>
          </a:p>
        </p:txBody>
      </p:sp>
      <p:sp>
        <p:nvSpPr>
          <p:cNvPr id="35" name="Shape 33"/>
          <p:cNvSpPr/>
          <p:nvPr/>
        </p:nvSpPr>
        <p:spPr>
          <a:xfrm>
            <a:off x="5010912" y="1956816"/>
            <a:ext cx="3749040" cy="475488"/>
          </a:xfrm>
          <a:prstGeom prst="rect">
            <a:avLst>
              <a:gd name="adj" fmla="val 7692"/>
            </a:avLst>
          </a:prstGeom>
          <a:solidFill>
            <a:srgbClr val="FFFFFF"/>
          </a:solidFill>
          <a:ln w="6350">
            <a:solidFill>
              <a:srgbClr val="E5E5EA"/>
            </a:solidFill>
            <a:prstDash val="solid"/>
          </a:ln>
        </p:spPr>
      </p:sp>
      <p:sp>
        <p:nvSpPr>
          <p:cNvPr id="36" name="Text 34"/>
          <p:cNvSpPr/>
          <p:nvPr/>
        </p:nvSpPr>
        <p:spPr>
          <a:xfrm>
            <a:off x="5102352" y="1993392"/>
            <a:ext cx="914400" cy="402336"/>
          </a:xfrm>
          <a:prstGeom prst="rect">
            <a:avLst/>
          </a:prstGeom>
          <a:noFill/>
          <a:ln/>
        </p:spPr>
        <p:txBody>
          <a:bodyPr wrap="square" rtlCol="0" anchor="ctr"/>
          <a:lstStyle/>
          <a:p>
            <a:pPr indent="0" marL="0">
              <a:buNone/>
            </a:pPr>
            <a:r>
              <a:rPr lang="en-US" sz="850" b="1" dirty="0">
                <a:solidFill>
                  <a:srgbClr val="0E9E9E"/>
                </a:solidFill>
                <a:latin typeface="Atkinson Hyperlegible" pitchFamily="34" charset="0"/>
                <a:ea typeface="Atkinson Hyperlegible" pitchFamily="34" charset="-122"/>
                <a:cs typeface="Atkinson Hyperlegible" pitchFamily="34" charset="-120"/>
              </a:rPr>
              <a:t>CWA-02</a:t>
            </a:r>
            <a:endParaRPr lang="en-US" sz="850" dirty="0"/>
          </a:p>
        </p:txBody>
      </p:sp>
      <p:sp>
        <p:nvSpPr>
          <p:cNvPr id="37" name="Text 35"/>
          <p:cNvSpPr/>
          <p:nvPr/>
        </p:nvSpPr>
        <p:spPr>
          <a:xfrm>
            <a:off x="6053328" y="1993392"/>
            <a:ext cx="2651760" cy="402336"/>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Cimentaciones Zona Sur</a:t>
            </a:r>
            <a:endParaRPr lang="en-US" sz="800" dirty="0"/>
          </a:p>
        </p:txBody>
      </p:sp>
      <p:sp>
        <p:nvSpPr>
          <p:cNvPr id="38" name="Shape 36"/>
          <p:cNvSpPr/>
          <p:nvPr/>
        </p:nvSpPr>
        <p:spPr>
          <a:xfrm>
            <a:off x="4764024" y="2322576"/>
            <a:ext cx="18288" cy="201168"/>
          </a:xfrm>
          <a:prstGeom prst="line">
            <a:avLst/>
          </a:prstGeom>
          <a:noFill/>
          <a:ln w="15240">
            <a:solidFill>
              <a:srgbClr val="0E9E9E"/>
            </a:solidFill>
            <a:prstDash val="solid"/>
          </a:ln>
        </p:spPr>
      </p:sp>
      <p:sp>
        <p:nvSpPr>
          <p:cNvPr id="39" name="Shape 37"/>
          <p:cNvSpPr/>
          <p:nvPr/>
        </p:nvSpPr>
        <p:spPr>
          <a:xfrm>
            <a:off x="4617720" y="2578608"/>
            <a:ext cx="310896" cy="310896"/>
          </a:xfrm>
          <a:prstGeom prst="ellipse">
            <a:avLst/>
          </a:prstGeom>
          <a:solidFill>
            <a:srgbClr val="0E9E9E"/>
          </a:solidFill>
          <a:ln w="12700">
            <a:solidFill>
              <a:srgbClr val="0E9E9E"/>
            </a:solidFill>
            <a:prstDash val="solid"/>
          </a:ln>
        </p:spPr>
      </p:sp>
      <p:sp>
        <p:nvSpPr>
          <p:cNvPr id="40" name="Text 38"/>
          <p:cNvSpPr/>
          <p:nvPr/>
        </p:nvSpPr>
        <p:spPr>
          <a:xfrm>
            <a:off x="4617720" y="2578608"/>
            <a:ext cx="310896" cy="310896"/>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3</a:t>
            </a:r>
            <a:endParaRPr lang="en-US" sz="850" dirty="0"/>
          </a:p>
        </p:txBody>
      </p:sp>
      <p:sp>
        <p:nvSpPr>
          <p:cNvPr id="41" name="Shape 39"/>
          <p:cNvSpPr/>
          <p:nvPr/>
        </p:nvSpPr>
        <p:spPr>
          <a:xfrm>
            <a:off x="5010912" y="2523744"/>
            <a:ext cx="3749040" cy="475488"/>
          </a:xfrm>
          <a:prstGeom prst="rect">
            <a:avLst>
              <a:gd name="adj" fmla="val 7692"/>
            </a:avLst>
          </a:prstGeom>
          <a:solidFill>
            <a:srgbClr val="F0FAFA"/>
          </a:solidFill>
          <a:ln w="6350">
            <a:solidFill>
              <a:srgbClr val="E5E5EA"/>
            </a:solidFill>
            <a:prstDash val="solid"/>
          </a:ln>
        </p:spPr>
      </p:sp>
      <p:sp>
        <p:nvSpPr>
          <p:cNvPr id="42" name="Text 40"/>
          <p:cNvSpPr/>
          <p:nvPr/>
        </p:nvSpPr>
        <p:spPr>
          <a:xfrm>
            <a:off x="5102352" y="2560320"/>
            <a:ext cx="914400" cy="402336"/>
          </a:xfrm>
          <a:prstGeom prst="rect">
            <a:avLst/>
          </a:prstGeom>
          <a:noFill/>
          <a:ln/>
        </p:spPr>
        <p:txBody>
          <a:bodyPr wrap="square" rtlCol="0" anchor="ctr"/>
          <a:lstStyle/>
          <a:p>
            <a:pPr indent="0" marL="0">
              <a:buNone/>
            </a:pPr>
            <a:r>
              <a:rPr lang="en-US" sz="850" b="1" dirty="0">
                <a:solidFill>
                  <a:srgbClr val="0E9E9E"/>
                </a:solidFill>
                <a:latin typeface="Atkinson Hyperlegible" pitchFamily="34" charset="0"/>
                <a:ea typeface="Atkinson Hyperlegible" pitchFamily="34" charset="-122"/>
                <a:cs typeface="Atkinson Hyperlegible" pitchFamily="34" charset="-120"/>
              </a:rPr>
              <a:t>CWA-01E</a:t>
            </a:r>
            <a:endParaRPr lang="en-US" sz="850" dirty="0"/>
          </a:p>
        </p:txBody>
      </p:sp>
      <p:sp>
        <p:nvSpPr>
          <p:cNvPr id="43" name="Text 41"/>
          <p:cNvSpPr/>
          <p:nvPr/>
        </p:nvSpPr>
        <p:spPr>
          <a:xfrm>
            <a:off x="6053328" y="2560320"/>
            <a:ext cx="2651760" cy="402336"/>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Estructura Zona Norte</a:t>
            </a:r>
            <a:endParaRPr lang="en-US" sz="800" dirty="0"/>
          </a:p>
        </p:txBody>
      </p:sp>
      <p:sp>
        <p:nvSpPr>
          <p:cNvPr id="44" name="Shape 42"/>
          <p:cNvSpPr/>
          <p:nvPr/>
        </p:nvSpPr>
        <p:spPr>
          <a:xfrm>
            <a:off x="4764024" y="2889504"/>
            <a:ext cx="18288" cy="201168"/>
          </a:xfrm>
          <a:prstGeom prst="line">
            <a:avLst/>
          </a:prstGeom>
          <a:noFill/>
          <a:ln w="15240">
            <a:solidFill>
              <a:srgbClr val="0E9E9E"/>
            </a:solidFill>
            <a:prstDash val="solid"/>
          </a:ln>
        </p:spPr>
      </p:sp>
      <p:sp>
        <p:nvSpPr>
          <p:cNvPr id="45" name="Shape 43"/>
          <p:cNvSpPr/>
          <p:nvPr/>
        </p:nvSpPr>
        <p:spPr>
          <a:xfrm>
            <a:off x="4617720" y="3145536"/>
            <a:ext cx="310896" cy="310896"/>
          </a:xfrm>
          <a:prstGeom prst="ellipse">
            <a:avLst/>
          </a:prstGeom>
          <a:solidFill>
            <a:srgbClr val="0E9E9E"/>
          </a:solidFill>
          <a:ln w="12700">
            <a:solidFill>
              <a:srgbClr val="0E9E9E"/>
            </a:solidFill>
            <a:prstDash val="solid"/>
          </a:ln>
        </p:spPr>
      </p:sp>
      <p:sp>
        <p:nvSpPr>
          <p:cNvPr id="46" name="Text 44"/>
          <p:cNvSpPr/>
          <p:nvPr/>
        </p:nvSpPr>
        <p:spPr>
          <a:xfrm>
            <a:off x="4617720" y="3145536"/>
            <a:ext cx="310896" cy="310896"/>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4</a:t>
            </a:r>
            <a:endParaRPr lang="en-US" sz="850" dirty="0"/>
          </a:p>
        </p:txBody>
      </p:sp>
      <p:sp>
        <p:nvSpPr>
          <p:cNvPr id="47" name="Shape 45"/>
          <p:cNvSpPr/>
          <p:nvPr/>
        </p:nvSpPr>
        <p:spPr>
          <a:xfrm>
            <a:off x="5010912" y="3090672"/>
            <a:ext cx="3749040" cy="475488"/>
          </a:xfrm>
          <a:prstGeom prst="rect">
            <a:avLst>
              <a:gd name="adj" fmla="val 7692"/>
            </a:avLst>
          </a:prstGeom>
          <a:solidFill>
            <a:srgbClr val="FFFFFF"/>
          </a:solidFill>
          <a:ln w="6350">
            <a:solidFill>
              <a:srgbClr val="E5E5EA"/>
            </a:solidFill>
            <a:prstDash val="solid"/>
          </a:ln>
        </p:spPr>
      </p:sp>
      <p:sp>
        <p:nvSpPr>
          <p:cNvPr id="48" name="Text 46"/>
          <p:cNvSpPr/>
          <p:nvPr/>
        </p:nvSpPr>
        <p:spPr>
          <a:xfrm>
            <a:off x="5102352" y="3127248"/>
            <a:ext cx="914400" cy="402336"/>
          </a:xfrm>
          <a:prstGeom prst="rect">
            <a:avLst/>
          </a:prstGeom>
          <a:noFill/>
          <a:ln/>
        </p:spPr>
        <p:txBody>
          <a:bodyPr wrap="square" rtlCol="0" anchor="ctr"/>
          <a:lstStyle/>
          <a:p>
            <a:pPr indent="0" marL="0">
              <a:buNone/>
            </a:pPr>
            <a:r>
              <a:rPr lang="en-US" sz="850" b="1" dirty="0">
                <a:solidFill>
                  <a:srgbClr val="0E9E9E"/>
                </a:solidFill>
                <a:latin typeface="Atkinson Hyperlegible" pitchFamily="34" charset="0"/>
                <a:ea typeface="Atkinson Hyperlegible" pitchFamily="34" charset="-122"/>
                <a:cs typeface="Atkinson Hyperlegible" pitchFamily="34" charset="-120"/>
              </a:rPr>
              <a:t>CWA-03</a:t>
            </a:r>
            <a:endParaRPr lang="en-US" sz="850" dirty="0"/>
          </a:p>
        </p:txBody>
      </p:sp>
      <p:sp>
        <p:nvSpPr>
          <p:cNvPr id="49" name="Text 47"/>
          <p:cNvSpPr/>
          <p:nvPr/>
        </p:nvSpPr>
        <p:spPr>
          <a:xfrm>
            <a:off x="6053328" y="3127248"/>
            <a:ext cx="2651760" cy="402336"/>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Piperack Principal</a:t>
            </a:r>
            <a:endParaRPr lang="en-US" sz="800" dirty="0"/>
          </a:p>
        </p:txBody>
      </p:sp>
      <p:sp>
        <p:nvSpPr>
          <p:cNvPr id="50" name="Shape 48"/>
          <p:cNvSpPr/>
          <p:nvPr/>
        </p:nvSpPr>
        <p:spPr>
          <a:xfrm>
            <a:off x="4764024" y="3456432"/>
            <a:ext cx="18288" cy="201168"/>
          </a:xfrm>
          <a:prstGeom prst="line">
            <a:avLst/>
          </a:prstGeom>
          <a:noFill/>
          <a:ln w="15240">
            <a:solidFill>
              <a:srgbClr val="0E9E9E"/>
            </a:solidFill>
            <a:prstDash val="solid"/>
          </a:ln>
        </p:spPr>
      </p:sp>
      <p:sp>
        <p:nvSpPr>
          <p:cNvPr id="51" name="Shape 49"/>
          <p:cNvSpPr/>
          <p:nvPr/>
        </p:nvSpPr>
        <p:spPr>
          <a:xfrm>
            <a:off x="4617720" y="3712464"/>
            <a:ext cx="310896" cy="310896"/>
          </a:xfrm>
          <a:prstGeom prst="ellipse">
            <a:avLst/>
          </a:prstGeom>
          <a:solidFill>
            <a:srgbClr val="0E9E9E"/>
          </a:solidFill>
          <a:ln w="12700">
            <a:solidFill>
              <a:srgbClr val="0E9E9E"/>
            </a:solidFill>
            <a:prstDash val="solid"/>
          </a:ln>
        </p:spPr>
      </p:sp>
      <p:sp>
        <p:nvSpPr>
          <p:cNvPr id="52" name="Text 50"/>
          <p:cNvSpPr/>
          <p:nvPr/>
        </p:nvSpPr>
        <p:spPr>
          <a:xfrm>
            <a:off x="4617720" y="3712464"/>
            <a:ext cx="310896" cy="310896"/>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5</a:t>
            </a:r>
            <a:endParaRPr lang="en-US" sz="850" dirty="0"/>
          </a:p>
        </p:txBody>
      </p:sp>
      <p:sp>
        <p:nvSpPr>
          <p:cNvPr id="53" name="Shape 51"/>
          <p:cNvSpPr/>
          <p:nvPr/>
        </p:nvSpPr>
        <p:spPr>
          <a:xfrm>
            <a:off x="5010912" y="3657600"/>
            <a:ext cx="3749040" cy="475488"/>
          </a:xfrm>
          <a:prstGeom prst="rect">
            <a:avLst>
              <a:gd name="adj" fmla="val 7692"/>
            </a:avLst>
          </a:prstGeom>
          <a:solidFill>
            <a:srgbClr val="F0FAFA"/>
          </a:solidFill>
          <a:ln w="6350">
            <a:solidFill>
              <a:srgbClr val="E5E5EA"/>
            </a:solidFill>
            <a:prstDash val="solid"/>
          </a:ln>
        </p:spPr>
      </p:sp>
      <p:sp>
        <p:nvSpPr>
          <p:cNvPr id="54" name="Text 52"/>
          <p:cNvSpPr/>
          <p:nvPr/>
        </p:nvSpPr>
        <p:spPr>
          <a:xfrm>
            <a:off x="5102352" y="3694176"/>
            <a:ext cx="914400" cy="402336"/>
          </a:xfrm>
          <a:prstGeom prst="rect">
            <a:avLst/>
          </a:prstGeom>
          <a:noFill/>
          <a:ln/>
        </p:spPr>
        <p:txBody>
          <a:bodyPr wrap="square" rtlCol="0" anchor="ctr"/>
          <a:lstStyle/>
          <a:p>
            <a:pPr indent="0" marL="0">
              <a:buNone/>
            </a:pPr>
            <a:r>
              <a:rPr lang="en-US" sz="850" b="1" dirty="0">
                <a:solidFill>
                  <a:srgbClr val="0E9E9E"/>
                </a:solidFill>
                <a:latin typeface="Atkinson Hyperlegible" pitchFamily="34" charset="0"/>
                <a:ea typeface="Atkinson Hyperlegible" pitchFamily="34" charset="-122"/>
                <a:cs typeface="Atkinson Hyperlegible" pitchFamily="34" charset="-120"/>
              </a:rPr>
              <a:t>CWA-04</a:t>
            </a:r>
            <a:endParaRPr lang="en-US" sz="850" dirty="0"/>
          </a:p>
        </p:txBody>
      </p:sp>
      <p:sp>
        <p:nvSpPr>
          <p:cNvPr id="55" name="Text 53"/>
          <p:cNvSpPr/>
          <p:nvPr/>
        </p:nvSpPr>
        <p:spPr>
          <a:xfrm>
            <a:off x="6053328" y="3694176"/>
            <a:ext cx="2651760" cy="402336"/>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Equipos Críticos — Izaje</a:t>
            </a:r>
            <a:endParaRPr lang="en-US" sz="800" dirty="0"/>
          </a:p>
        </p:txBody>
      </p:sp>
      <p:sp>
        <p:nvSpPr>
          <p:cNvPr id="56" name="Shape 54"/>
          <p:cNvSpPr/>
          <p:nvPr/>
        </p:nvSpPr>
        <p:spPr>
          <a:xfrm>
            <a:off x="4764024" y="4023360"/>
            <a:ext cx="18288" cy="201168"/>
          </a:xfrm>
          <a:prstGeom prst="line">
            <a:avLst/>
          </a:prstGeom>
          <a:noFill/>
          <a:ln w="15240">
            <a:solidFill>
              <a:srgbClr val="0E9E9E"/>
            </a:solidFill>
            <a:prstDash val="solid"/>
          </a:ln>
        </p:spPr>
      </p:sp>
      <p:sp>
        <p:nvSpPr>
          <p:cNvPr id="57" name="Shape 55"/>
          <p:cNvSpPr/>
          <p:nvPr/>
        </p:nvSpPr>
        <p:spPr>
          <a:xfrm>
            <a:off x="4617720" y="4279392"/>
            <a:ext cx="310896" cy="310896"/>
          </a:xfrm>
          <a:prstGeom prst="ellipse">
            <a:avLst/>
          </a:prstGeom>
          <a:solidFill>
            <a:srgbClr val="0E9E9E"/>
          </a:solidFill>
          <a:ln w="12700">
            <a:solidFill>
              <a:srgbClr val="0E9E9E"/>
            </a:solidFill>
            <a:prstDash val="solid"/>
          </a:ln>
        </p:spPr>
      </p:sp>
      <p:sp>
        <p:nvSpPr>
          <p:cNvPr id="58" name="Text 56"/>
          <p:cNvSpPr/>
          <p:nvPr/>
        </p:nvSpPr>
        <p:spPr>
          <a:xfrm>
            <a:off x="4617720" y="4279392"/>
            <a:ext cx="310896" cy="310896"/>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6</a:t>
            </a:r>
            <a:endParaRPr lang="en-US" sz="850" dirty="0"/>
          </a:p>
        </p:txBody>
      </p:sp>
      <p:sp>
        <p:nvSpPr>
          <p:cNvPr id="59" name="Shape 57"/>
          <p:cNvSpPr/>
          <p:nvPr/>
        </p:nvSpPr>
        <p:spPr>
          <a:xfrm>
            <a:off x="5010912" y="4224528"/>
            <a:ext cx="3749040" cy="475488"/>
          </a:xfrm>
          <a:prstGeom prst="rect">
            <a:avLst>
              <a:gd name="adj" fmla="val 7692"/>
            </a:avLst>
          </a:prstGeom>
          <a:solidFill>
            <a:srgbClr val="FFFFFF"/>
          </a:solidFill>
          <a:ln w="6350">
            <a:solidFill>
              <a:srgbClr val="E5E5EA"/>
            </a:solidFill>
            <a:prstDash val="solid"/>
          </a:ln>
        </p:spPr>
      </p:sp>
      <p:sp>
        <p:nvSpPr>
          <p:cNvPr id="60" name="Text 58"/>
          <p:cNvSpPr/>
          <p:nvPr/>
        </p:nvSpPr>
        <p:spPr>
          <a:xfrm>
            <a:off x="5102352" y="4261104"/>
            <a:ext cx="914400" cy="402336"/>
          </a:xfrm>
          <a:prstGeom prst="rect">
            <a:avLst/>
          </a:prstGeom>
          <a:noFill/>
          <a:ln/>
        </p:spPr>
        <p:txBody>
          <a:bodyPr wrap="square" rtlCol="0" anchor="ctr"/>
          <a:lstStyle/>
          <a:p>
            <a:pPr indent="0" marL="0">
              <a:buNone/>
            </a:pPr>
            <a:r>
              <a:rPr lang="en-US" sz="850" b="1" dirty="0">
                <a:solidFill>
                  <a:srgbClr val="0E9E9E"/>
                </a:solidFill>
                <a:latin typeface="Atkinson Hyperlegible" pitchFamily="34" charset="0"/>
                <a:ea typeface="Atkinson Hyperlegible" pitchFamily="34" charset="-122"/>
                <a:cs typeface="Atkinson Hyperlegible" pitchFamily="34" charset="-120"/>
              </a:rPr>
              <a:t>CWA-01M</a:t>
            </a:r>
            <a:endParaRPr lang="en-US" sz="850" dirty="0"/>
          </a:p>
        </p:txBody>
      </p:sp>
      <p:sp>
        <p:nvSpPr>
          <p:cNvPr id="61" name="Text 59"/>
          <p:cNvSpPr/>
          <p:nvPr/>
        </p:nvSpPr>
        <p:spPr>
          <a:xfrm>
            <a:off x="6053328" y="4261104"/>
            <a:ext cx="2651760" cy="402336"/>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MEP Zona Norte</a:t>
            </a:r>
            <a:endParaRPr lang="en-US" sz="8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4620A"/>
          </a:solidFill>
          <a:ln w="12700">
            <a:solidFill>
              <a:srgbClr val="D4620A"/>
            </a:solidFill>
            <a:prstDash val="solid"/>
          </a:ln>
        </p:spPr>
      </p:sp>
      <p:sp>
        <p:nvSpPr>
          <p:cNvPr id="3" name="Shape 1"/>
          <p:cNvSpPr/>
          <p:nvPr/>
        </p:nvSpPr>
        <p:spPr>
          <a:xfrm>
            <a:off x="164592" y="4956048"/>
            <a:ext cx="8979408" cy="182880"/>
          </a:xfrm>
          <a:prstGeom prst="rect">
            <a:avLst/>
          </a:prstGeom>
          <a:solidFill>
            <a:srgbClr val="D4620A"/>
          </a:solidFill>
          <a:ln w="12700">
            <a:solidFill>
              <a:srgbClr val="D4620A"/>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104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Gestión del Cambio en el Marco AWP</a:t>
            </a:r>
            <a:endParaRPr lang="en-US" sz="1800" dirty="0"/>
          </a:p>
        </p:txBody>
      </p:sp>
      <p:sp>
        <p:nvSpPr>
          <p:cNvPr id="6" name="Shape 4"/>
          <p:cNvSpPr/>
          <p:nvPr/>
        </p:nvSpPr>
        <p:spPr>
          <a:xfrm>
            <a:off x="320040" y="621792"/>
            <a:ext cx="8503920" cy="41148"/>
          </a:xfrm>
          <a:prstGeom prst="rect">
            <a:avLst/>
          </a:prstGeom>
          <a:solidFill>
            <a:srgbClr val="D4620A"/>
          </a:solidFill>
          <a:ln w="12700">
            <a:solidFill>
              <a:srgbClr val="D4620A"/>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D4620A"/>
                </a:solidFill>
                <a:latin typeface="Atkinson Hyperlegible" pitchFamily="34" charset="0"/>
                <a:ea typeface="Atkinson Hyperlegible" pitchFamily="34" charset="-122"/>
                <a:cs typeface="Atkinson Hyperlegible" pitchFamily="34" charset="-120"/>
              </a:rPr>
              <a:t>Proceso formal para gestionar modificaciones al alcance con mínimo impacto en IWPs</a:t>
            </a:r>
            <a:endParaRPr lang="en-US" sz="900" dirty="0"/>
          </a:p>
        </p:txBody>
      </p:sp>
      <p:sp>
        <p:nvSpPr>
          <p:cNvPr id="8" name="Shape 6"/>
          <p:cNvSpPr/>
          <p:nvPr/>
        </p:nvSpPr>
        <p:spPr>
          <a:xfrm>
            <a:off x="320040" y="1097280"/>
            <a:ext cx="1539850" cy="1097280"/>
          </a:xfrm>
          <a:prstGeom prst="rect">
            <a:avLst>
              <a:gd name="adj" fmla="val 5000"/>
            </a:avLst>
          </a:prstGeom>
          <a:solidFill>
            <a:srgbClr val="D4620A"/>
          </a:solidFill>
          <a:ln w="12700">
            <a:solidFill>
              <a:srgbClr val="D4620A"/>
            </a:solidFill>
            <a:prstDash val="solid"/>
          </a:ln>
        </p:spPr>
      </p:sp>
      <p:sp>
        <p:nvSpPr>
          <p:cNvPr id="9" name="Shape 7"/>
          <p:cNvSpPr/>
          <p:nvPr/>
        </p:nvSpPr>
        <p:spPr>
          <a:xfrm>
            <a:off x="888797" y="896112"/>
            <a:ext cx="402336" cy="402336"/>
          </a:xfrm>
          <a:prstGeom prst="ellipse">
            <a:avLst/>
          </a:prstGeom>
          <a:solidFill>
            <a:srgbClr val="FFFFFF"/>
          </a:solidFill>
          <a:ln w="12700">
            <a:solidFill>
              <a:srgbClr val="D4620A"/>
            </a:solidFill>
            <a:prstDash val="solid"/>
          </a:ln>
        </p:spPr>
      </p:sp>
      <p:sp>
        <p:nvSpPr>
          <p:cNvPr id="10" name="Text 8"/>
          <p:cNvSpPr/>
          <p:nvPr/>
        </p:nvSpPr>
        <p:spPr>
          <a:xfrm>
            <a:off x="888797" y="896112"/>
            <a:ext cx="402336" cy="402336"/>
          </a:xfrm>
          <a:prstGeom prst="rect">
            <a:avLst/>
          </a:prstGeom>
          <a:noFill/>
          <a:ln/>
        </p:spPr>
        <p:txBody>
          <a:bodyPr wrap="square" rtlCol="0" anchor="ctr"/>
          <a:lstStyle/>
          <a:p>
            <a:pPr algn="ctr" indent="0" marL="0">
              <a:buNone/>
            </a:pPr>
            <a:r>
              <a:rPr lang="en-US" sz="900" b="1" dirty="0">
                <a:solidFill>
                  <a:srgbClr val="D4620A"/>
                </a:solidFill>
                <a:latin typeface="Atkinson Hyperlegible" pitchFamily="34" charset="0"/>
                <a:ea typeface="Atkinson Hyperlegible" pitchFamily="34" charset="-122"/>
                <a:cs typeface="Atkinson Hyperlegible" pitchFamily="34" charset="-120"/>
              </a:rPr>
              <a:t>1</a:t>
            </a:r>
            <a:endParaRPr lang="en-US" sz="900" dirty="0"/>
          </a:p>
        </p:txBody>
      </p:sp>
      <p:sp>
        <p:nvSpPr>
          <p:cNvPr id="11" name="Text 9"/>
          <p:cNvSpPr/>
          <p:nvPr/>
        </p:nvSpPr>
        <p:spPr>
          <a:xfrm>
            <a:off x="374904" y="1133856"/>
            <a:ext cx="1430122" cy="329184"/>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Identificar Cambio</a:t>
            </a:r>
            <a:endParaRPr lang="en-US" sz="800" dirty="0"/>
          </a:p>
        </p:txBody>
      </p:sp>
      <p:sp>
        <p:nvSpPr>
          <p:cNvPr id="12" name="Text 10"/>
          <p:cNvSpPr/>
          <p:nvPr/>
        </p:nvSpPr>
        <p:spPr>
          <a:xfrm>
            <a:off x="374904" y="1481328"/>
            <a:ext cx="1430122" cy="640080"/>
          </a:xfrm>
          <a:prstGeom prst="rect">
            <a:avLst/>
          </a:prstGeom>
          <a:noFill/>
          <a:ln/>
        </p:spPr>
        <p:txBody>
          <a:bodyPr wrap="square" rtlCol="0" anchor="ctr"/>
          <a:lstStyle/>
          <a:p>
            <a:pPr algn="ct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Origen: cliente, ingeniería, campo o regulatorio</a:t>
            </a:r>
            <a:endParaRPr lang="en-US" sz="700" dirty="0"/>
          </a:p>
        </p:txBody>
      </p:sp>
      <p:sp>
        <p:nvSpPr>
          <p:cNvPr id="13" name="Shape 11"/>
          <p:cNvSpPr/>
          <p:nvPr/>
        </p:nvSpPr>
        <p:spPr>
          <a:xfrm>
            <a:off x="1869034" y="1517904"/>
            <a:ext cx="201168" cy="256032"/>
          </a:xfrm>
          <a:prstGeom prst="chevron">
            <a:avLst/>
          </a:prstGeom>
          <a:solidFill>
            <a:srgbClr val="D4620A"/>
          </a:solidFill>
          <a:ln w="12700">
            <a:solidFill>
              <a:srgbClr val="D4620A"/>
            </a:solidFill>
            <a:prstDash val="solid"/>
          </a:ln>
        </p:spPr>
      </p:sp>
      <p:sp>
        <p:nvSpPr>
          <p:cNvPr id="14" name="Shape 12"/>
          <p:cNvSpPr/>
          <p:nvPr/>
        </p:nvSpPr>
        <p:spPr>
          <a:xfrm>
            <a:off x="2061058" y="1097280"/>
            <a:ext cx="1539850" cy="1097280"/>
          </a:xfrm>
          <a:prstGeom prst="rect">
            <a:avLst>
              <a:gd name="adj" fmla="val 5000"/>
            </a:avLst>
          </a:prstGeom>
          <a:solidFill>
            <a:srgbClr val="FFFFFF"/>
          </a:solidFill>
          <a:ln w="12700">
            <a:solidFill>
              <a:srgbClr val="D4620A"/>
            </a:solidFill>
            <a:prstDash val="solid"/>
          </a:ln>
        </p:spPr>
      </p:sp>
      <p:sp>
        <p:nvSpPr>
          <p:cNvPr id="15" name="Shape 13"/>
          <p:cNvSpPr/>
          <p:nvPr/>
        </p:nvSpPr>
        <p:spPr>
          <a:xfrm>
            <a:off x="2629814" y="896112"/>
            <a:ext cx="402336" cy="402336"/>
          </a:xfrm>
          <a:prstGeom prst="ellipse">
            <a:avLst/>
          </a:prstGeom>
          <a:solidFill>
            <a:srgbClr val="D4620A"/>
          </a:solidFill>
          <a:ln w="12700">
            <a:solidFill>
              <a:srgbClr val="D4620A"/>
            </a:solidFill>
            <a:prstDash val="solid"/>
          </a:ln>
        </p:spPr>
      </p:sp>
      <p:sp>
        <p:nvSpPr>
          <p:cNvPr id="16" name="Text 14"/>
          <p:cNvSpPr/>
          <p:nvPr/>
        </p:nvSpPr>
        <p:spPr>
          <a:xfrm>
            <a:off x="2629814" y="896112"/>
            <a:ext cx="402336" cy="402336"/>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2</a:t>
            </a:r>
            <a:endParaRPr lang="en-US" sz="900" dirty="0"/>
          </a:p>
        </p:txBody>
      </p:sp>
      <p:sp>
        <p:nvSpPr>
          <p:cNvPr id="17" name="Text 15"/>
          <p:cNvSpPr/>
          <p:nvPr/>
        </p:nvSpPr>
        <p:spPr>
          <a:xfrm>
            <a:off x="2115922" y="1133856"/>
            <a:ext cx="1430122" cy="329184"/>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Clasificar Impacto</a:t>
            </a:r>
            <a:endParaRPr lang="en-US" sz="800" dirty="0"/>
          </a:p>
        </p:txBody>
      </p:sp>
      <p:sp>
        <p:nvSpPr>
          <p:cNvPr id="18" name="Text 16"/>
          <p:cNvSpPr/>
          <p:nvPr/>
        </p:nvSpPr>
        <p:spPr>
          <a:xfrm>
            <a:off x="2115922" y="1481328"/>
            <a:ext cx="1430122" cy="640080"/>
          </a:xfrm>
          <a:prstGeom prst="rect">
            <a:avLst/>
          </a:prstGeom>
          <a:noFill/>
          <a:ln/>
        </p:spPr>
        <p:txBody>
          <a:bodyPr wrap="square" rtlCol="0" anchor="ctr"/>
          <a:lstStyle/>
          <a:p>
            <a:pPr algn="ctr" indent="0" marL="0">
              <a:buNone/>
            </a:pPr>
            <a:r>
              <a:rPr lang="en-US" sz="700" dirty="0">
                <a:solidFill>
                  <a:srgbClr val="444444"/>
                </a:solidFill>
                <a:latin typeface="Atkinson Hyperlegible" pitchFamily="34" charset="0"/>
                <a:ea typeface="Atkinson Hyperlegible" pitchFamily="34" charset="-122"/>
                <a:cs typeface="Atkinson Hyperlegible" pitchFamily="34" charset="-120"/>
              </a:rPr>
              <a:t>IWPs afectados, materiales, fechas, costo</a:t>
            </a:r>
            <a:endParaRPr lang="en-US" sz="700" dirty="0"/>
          </a:p>
        </p:txBody>
      </p:sp>
      <p:sp>
        <p:nvSpPr>
          <p:cNvPr id="19" name="Shape 17"/>
          <p:cNvSpPr/>
          <p:nvPr/>
        </p:nvSpPr>
        <p:spPr>
          <a:xfrm>
            <a:off x="3610051" y="1517904"/>
            <a:ext cx="201168" cy="256032"/>
          </a:xfrm>
          <a:prstGeom prst="chevron">
            <a:avLst/>
          </a:prstGeom>
          <a:solidFill>
            <a:srgbClr val="D4620A"/>
          </a:solidFill>
          <a:ln w="12700">
            <a:solidFill>
              <a:srgbClr val="D4620A"/>
            </a:solidFill>
            <a:prstDash val="solid"/>
          </a:ln>
        </p:spPr>
      </p:sp>
      <p:sp>
        <p:nvSpPr>
          <p:cNvPr id="20" name="Shape 18"/>
          <p:cNvSpPr/>
          <p:nvPr/>
        </p:nvSpPr>
        <p:spPr>
          <a:xfrm>
            <a:off x="3802075" y="1097280"/>
            <a:ext cx="1539850" cy="1097280"/>
          </a:xfrm>
          <a:prstGeom prst="rect">
            <a:avLst>
              <a:gd name="adj" fmla="val 5000"/>
            </a:avLst>
          </a:prstGeom>
          <a:solidFill>
            <a:srgbClr val="D4620A"/>
          </a:solidFill>
          <a:ln w="12700">
            <a:solidFill>
              <a:srgbClr val="D4620A"/>
            </a:solidFill>
            <a:prstDash val="solid"/>
          </a:ln>
        </p:spPr>
      </p:sp>
      <p:sp>
        <p:nvSpPr>
          <p:cNvPr id="21" name="Shape 19"/>
          <p:cNvSpPr/>
          <p:nvPr/>
        </p:nvSpPr>
        <p:spPr>
          <a:xfrm>
            <a:off x="4370832" y="896112"/>
            <a:ext cx="402336" cy="402336"/>
          </a:xfrm>
          <a:prstGeom prst="ellipse">
            <a:avLst/>
          </a:prstGeom>
          <a:solidFill>
            <a:srgbClr val="FFFFFF"/>
          </a:solidFill>
          <a:ln w="12700">
            <a:solidFill>
              <a:srgbClr val="D4620A"/>
            </a:solidFill>
            <a:prstDash val="solid"/>
          </a:ln>
        </p:spPr>
      </p:sp>
      <p:sp>
        <p:nvSpPr>
          <p:cNvPr id="22" name="Text 20"/>
          <p:cNvSpPr/>
          <p:nvPr/>
        </p:nvSpPr>
        <p:spPr>
          <a:xfrm>
            <a:off x="4370832" y="896112"/>
            <a:ext cx="402336" cy="402336"/>
          </a:xfrm>
          <a:prstGeom prst="rect">
            <a:avLst/>
          </a:prstGeom>
          <a:noFill/>
          <a:ln/>
        </p:spPr>
        <p:txBody>
          <a:bodyPr wrap="square" rtlCol="0" anchor="ctr"/>
          <a:lstStyle/>
          <a:p>
            <a:pPr algn="ctr" indent="0" marL="0">
              <a:buNone/>
            </a:pPr>
            <a:r>
              <a:rPr lang="en-US" sz="900" b="1" dirty="0">
                <a:solidFill>
                  <a:srgbClr val="D4620A"/>
                </a:solidFill>
                <a:latin typeface="Atkinson Hyperlegible" pitchFamily="34" charset="0"/>
                <a:ea typeface="Atkinson Hyperlegible" pitchFamily="34" charset="-122"/>
                <a:cs typeface="Atkinson Hyperlegible" pitchFamily="34" charset="-120"/>
              </a:rPr>
              <a:t>3</a:t>
            </a:r>
            <a:endParaRPr lang="en-US" sz="900" dirty="0"/>
          </a:p>
        </p:txBody>
      </p:sp>
      <p:sp>
        <p:nvSpPr>
          <p:cNvPr id="23" name="Text 21"/>
          <p:cNvSpPr/>
          <p:nvPr/>
        </p:nvSpPr>
        <p:spPr>
          <a:xfrm>
            <a:off x="3856939" y="1133856"/>
            <a:ext cx="1430122" cy="329184"/>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Evaluar Opciones</a:t>
            </a:r>
            <a:endParaRPr lang="en-US" sz="800" dirty="0"/>
          </a:p>
        </p:txBody>
      </p:sp>
      <p:sp>
        <p:nvSpPr>
          <p:cNvPr id="24" name="Text 22"/>
          <p:cNvSpPr/>
          <p:nvPr/>
        </p:nvSpPr>
        <p:spPr>
          <a:xfrm>
            <a:off x="3856939" y="1481328"/>
            <a:ext cx="1430122" cy="640080"/>
          </a:xfrm>
          <a:prstGeom prst="rect">
            <a:avLst/>
          </a:prstGeom>
          <a:noFill/>
          <a:ln/>
        </p:spPr>
        <p:txBody>
          <a:bodyPr wrap="square" rtlCol="0" anchor="ctr"/>
          <a:lstStyle/>
          <a:p>
            <a:pPr algn="ct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Incorporar, diferir o rechazar con análisis POC</a:t>
            </a:r>
            <a:endParaRPr lang="en-US" sz="700" dirty="0"/>
          </a:p>
        </p:txBody>
      </p:sp>
      <p:sp>
        <p:nvSpPr>
          <p:cNvPr id="25" name="Shape 23"/>
          <p:cNvSpPr/>
          <p:nvPr/>
        </p:nvSpPr>
        <p:spPr>
          <a:xfrm>
            <a:off x="5351069" y="1517904"/>
            <a:ext cx="201168" cy="256032"/>
          </a:xfrm>
          <a:prstGeom prst="chevron">
            <a:avLst/>
          </a:prstGeom>
          <a:solidFill>
            <a:srgbClr val="D4620A"/>
          </a:solidFill>
          <a:ln w="12700">
            <a:solidFill>
              <a:srgbClr val="D4620A"/>
            </a:solidFill>
            <a:prstDash val="solid"/>
          </a:ln>
        </p:spPr>
      </p:sp>
      <p:sp>
        <p:nvSpPr>
          <p:cNvPr id="26" name="Shape 24"/>
          <p:cNvSpPr/>
          <p:nvPr/>
        </p:nvSpPr>
        <p:spPr>
          <a:xfrm>
            <a:off x="5543093" y="1097280"/>
            <a:ext cx="1539850" cy="1097280"/>
          </a:xfrm>
          <a:prstGeom prst="rect">
            <a:avLst>
              <a:gd name="adj" fmla="val 5000"/>
            </a:avLst>
          </a:prstGeom>
          <a:solidFill>
            <a:srgbClr val="FFFFFF"/>
          </a:solidFill>
          <a:ln w="12700">
            <a:solidFill>
              <a:srgbClr val="D4620A"/>
            </a:solidFill>
            <a:prstDash val="solid"/>
          </a:ln>
        </p:spPr>
      </p:sp>
      <p:sp>
        <p:nvSpPr>
          <p:cNvPr id="27" name="Shape 25"/>
          <p:cNvSpPr/>
          <p:nvPr/>
        </p:nvSpPr>
        <p:spPr>
          <a:xfrm>
            <a:off x="6111850" y="896112"/>
            <a:ext cx="402336" cy="402336"/>
          </a:xfrm>
          <a:prstGeom prst="ellipse">
            <a:avLst/>
          </a:prstGeom>
          <a:solidFill>
            <a:srgbClr val="D4620A"/>
          </a:solidFill>
          <a:ln w="12700">
            <a:solidFill>
              <a:srgbClr val="D4620A"/>
            </a:solidFill>
            <a:prstDash val="solid"/>
          </a:ln>
        </p:spPr>
      </p:sp>
      <p:sp>
        <p:nvSpPr>
          <p:cNvPr id="28" name="Text 26"/>
          <p:cNvSpPr/>
          <p:nvPr/>
        </p:nvSpPr>
        <p:spPr>
          <a:xfrm>
            <a:off x="6111850" y="896112"/>
            <a:ext cx="402336" cy="402336"/>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4</a:t>
            </a:r>
            <a:endParaRPr lang="en-US" sz="900" dirty="0"/>
          </a:p>
        </p:txBody>
      </p:sp>
      <p:sp>
        <p:nvSpPr>
          <p:cNvPr id="29" name="Text 27"/>
          <p:cNvSpPr/>
          <p:nvPr/>
        </p:nvSpPr>
        <p:spPr>
          <a:xfrm>
            <a:off x="5597957" y="1133856"/>
            <a:ext cx="1430122" cy="329184"/>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Aprobar Formalmente</a:t>
            </a:r>
            <a:endParaRPr lang="en-US" sz="800" dirty="0"/>
          </a:p>
        </p:txBody>
      </p:sp>
      <p:sp>
        <p:nvSpPr>
          <p:cNvPr id="30" name="Text 28"/>
          <p:cNvSpPr/>
          <p:nvPr/>
        </p:nvSpPr>
        <p:spPr>
          <a:xfrm>
            <a:off x="5597957" y="1481328"/>
            <a:ext cx="1430122" cy="640080"/>
          </a:xfrm>
          <a:prstGeom prst="rect">
            <a:avLst/>
          </a:prstGeom>
          <a:noFill/>
          <a:ln/>
        </p:spPr>
        <p:txBody>
          <a:bodyPr wrap="square" rtlCol="0" anchor="ctr"/>
          <a:lstStyle/>
          <a:p>
            <a:pPr algn="ctr" indent="0" marL="0">
              <a:buNone/>
            </a:pPr>
            <a:r>
              <a:rPr lang="en-US" sz="700" dirty="0">
                <a:solidFill>
                  <a:srgbClr val="444444"/>
                </a:solidFill>
                <a:latin typeface="Atkinson Hyperlegible" pitchFamily="34" charset="0"/>
                <a:ea typeface="Atkinson Hyperlegible" pitchFamily="34" charset="-122"/>
                <a:cs typeface="Atkinson Hyperlegible" pitchFamily="34" charset="-120"/>
              </a:rPr>
              <a:t>Change Order autorizado antes de implementar</a:t>
            </a:r>
            <a:endParaRPr lang="en-US" sz="700" dirty="0"/>
          </a:p>
        </p:txBody>
      </p:sp>
      <p:sp>
        <p:nvSpPr>
          <p:cNvPr id="31" name="Shape 29"/>
          <p:cNvSpPr/>
          <p:nvPr/>
        </p:nvSpPr>
        <p:spPr>
          <a:xfrm>
            <a:off x="7092086" y="1517904"/>
            <a:ext cx="201168" cy="256032"/>
          </a:xfrm>
          <a:prstGeom prst="chevron">
            <a:avLst/>
          </a:prstGeom>
          <a:solidFill>
            <a:srgbClr val="D4620A"/>
          </a:solidFill>
          <a:ln w="12700">
            <a:solidFill>
              <a:srgbClr val="D4620A"/>
            </a:solidFill>
            <a:prstDash val="solid"/>
          </a:ln>
        </p:spPr>
      </p:sp>
      <p:sp>
        <p:nvSpPr>
          <p:cNvPr id="32" name="Shape 30"/>
          <p:cNvSpPr/>
          <p:nvPr/>
        </p:nvSpPr>
        <p:spPr>
          <a:xfrm>
            <a:off x="7284110" y="1097280"/>
            <a:ext cx="1539850" cy="1097280"/>
          </a:xfrm>
          <a:prstGeom prst="rect">
            <a:avLst>
              <a:gd name="adj" fmla="val 5000"/>
            </a:avLst>
          </a:prstGeom>
          <a:solidFill>
            <a:srgbClr val="D4620A"/>
          </a:solidFill>
          <a:ln w="12700">
            <a:solidFill>
              <a:srgbClr val="D4620A"/>
            </a:solidFill>
            <a:prstDash val="solid"/>
          </a:ln>
        </p:spPr>
      </p:sp>
      <p:sp>
        <p:nvSpPr>
          <p:cNvPr id="33" name="Shape 31"/>
          <p:cNvSpPr/>
          <p:nvPr/>
        </p:nvSpPr>
        <p:spPr>
          <a:xfrm>
            <a:off x="7852867" y="896112"/>
            <a:ext cx="402336" cy="402336"/>
          </a:xfrm>
          <a:prstGeom prst="ellipse">
            <a:avLst/>
          </a:prstGeom>
          <a:solidFill>
            <a:srgbClr val="FFFFFF"/>
          </a:solidFill>
          <a:ln w="12700">
            <a:solidFill>
              <a:srgbClr val="D4620A"/>
            </a:solidFill>
            <a:prstDash val="solid"/>
          </a:ln>
        </p:spPr>
      </p:sp>
      <p:sp>
        <p:nvSpPr>
          <p:cNvPr id="34" name="Text 32"/>
          <p:cNvSpPr/>
          <p:nvPr/>
        </p:nvSpPr>
        <p:spPr>
          <a:xfrm>
            <a:off x="7852867" y="896112"/>
            <a:ext cx="402336" cy="402336"/>
          </a:xfrm>
          <a:prstGeom prst="rect">
            <a:avLst/>
          </a:prstGeom>
          <a:noFill/>
          <a:ln/>
        </p:spPr>
        <p:txBody>
          <a:bodyPr wrap="square" rtlCol="0" anchor="ctr"/>
          <a:lstStyle/>
          <a:p>
            <a:pPr algn="ctr" indent="0" marL="0">
              <a:buNone/>
            </a:pPr>
            <a:r>
              <a:rPr lang="en-US" sz="900" b="1" dirty="0">
                <a:solidFill>
                  <a:srgbClr val="D4620A"/>
                </a:solidFill>
                <a:latin typeface="Atkinson Hyperlegible" pitchFamily="34" charset="0"/>
                <a:ea typeface="Atkinson Hyperlegible" pitchFamily="34" charset="-122"/>
                <a:cs typeface="Atkinson Hyperlegible" pitchFamily="34" charset="-120"/>
              </a:rPr>
              <a:t>5</a:t>
            </a:r>
            <a:endParaRPr lang="en-US" sz="900" dirty="0"/>
          </a:p>
        </p:txBody>
      </p:sp>
      <p:sp>
        <p:nvSpPr>
          <p:cNvPr id="35" name="Text 33"/>
          <p:cNvSpPr/>
          <p:nvPr/>
        </p:nvSpPr>
        <p:spPr>
          <a:xfrm>
            <a:off x="7338974" y="1133856"/>
            <a:ext cx="1430122" cy="329184"/>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Implementar en AWP</a:t>
            </a:r>
            <a:endParaRPr lang="en-US" sz="800" dirty="0"/>
          </a:p>
        </p:txBody>
      </p:sp>
      <p:sp>
        <p:nvSpPr>
          <p:cNvPr id="36" name="Text 34"/>
          <p:cNvSpPr/>
          <p:nvPr/>
        </p:nvSpPr>
        <p:spPr>
          <a:xfrm>
            <a:off x="7338974" y="1481328"/>
            <a:ext cx="1430122" cy="640080"/>
          </a:xfrm>
          <a:prstGeom prst="rect">
            <a:avLst/>
          </a:prstGeom>
          <a:noFill/>
          <a:ln/>
        </p:spPr>
        <p:txBody>
          <a:bodyPr wrap="square" rtlCol="0" anchor="ctr"/>
          <a:lstStyle/>
          <a:p>
            <a:pPr algn="ct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Actualizar EWPs, CWPs e IWPs afectados</a:t>
            </a:r>
            <a:endParaRPr lang="en-US" sz="700" dirty="0"/>
          </a:p>
        </p:txBody>
      </p:sp>
      <p:sp>
        <p:nvSpPr>
          <p:cNvPr id="37" name="Shape 35"/>
          <p:cNvSpPr/>
          <p:nvPr/>
        </p:nvSpPr>
        <p:spPr>
          <a:xfrm>
            <a:off x="320040" y="2487168"/>
            <a:ext cx="4023360" cy="1078992"/>
          </a:xfrm>
          <a:prstGeom prst="rect">
            <a:avLst>
              <a:gd name="adj" fmla="val 5085"/>
            </a:avLst>
          </a:prstGeom>
          <a:solidFill>
            <a:srgbClr val="FFFFFF"/>
          </a:solidFill>
          <a:ln w="6350">
            <a:solidFill>
              <a:srgbClr val="E5E5EA"/>
            </a:solidFill>
            <a:prstDash val="solid"/>
          </a:ln>
        </p:spPr>
      </p:sp>
      <p:pic>
        <p:nvPicPr>
          <p:cNvPr id="3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38912" y="2578608"/>
            <a:ext cx="329184" cy="329184"/>
          </a:xfrm>
          <a:prstGeom prst="rect">
            <a:avLst/>
          </a:prstGeom>
        </p:spPr>
      </p:pic>
      <p:sp>
        <p:nvSpPr>
          <p:cNvPr id="39" name="Text 36"/>
          <p:cNvSpPr/>
          <p:nvPr/>
        </p:nvSpPr>
        <p:spPr>
          <a:xfrm>
            <a:off x="795528" y="255117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Cambio en Ingeniería</a:t>
            </a:r>
            <a:endParaRPr lang="en-US" sz="900" dirty="0"/>
          </a:p>
        </p:txBody>
      </p:sp>
      <p:sp>
        <p:nvSpPr>
          <p:cNvPr id="40" name="Text 37"/>
          <p:cNvSpPr/>
          <p:nvPr/>
        </p:nvSpPr>
        <p:spPr>
          <a:xfrm>
            <a:off x="795528" y="2779776"/>
            <a:ext cx="3429000" cy="7132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Todo cambio de diseño post-EDS requiere actualización inmediata del EWP y re-revisión RTI de IWPs impactados. Mínimo 2 semanas de lead time.</a:t>
            </a:r>
            <a:endParaRPr lang="en-US" sz="750" dirty="0"/>
          </a:p>
        </p:txBody>
      </p:sp>
      <p:sp>
        <p:nvSpPr>
          <p:cNvPr id="41" name="Shape 38"/>
          <p:cNvSpPr/>
          <p:nvPr/>
        </p:nvSpPr>
        <p:spPr>
          <a:xfrm>
            <a:off x="4663440" y="2487168"/>
            <a:ext cx="4023360" cy="1078992"/>
          </a:xfrm>
          <a:prstGeom prst="rect">
            <a:avLst>
              <a:gd name="adj" fmla="val 5085"/>
            </a:avLst>
          </a:prstGeom>
          <a:solidFill>
            <a:srgbClr val="FFFFFF"/>
          </a:solidFill>
          <a:ln w="6350">
            <a:solidFill>
              <a:srgbClr val="E5E5EA"/>
            </a:solidFill>
            <a:prstDash val="solid"/>
          </a:ln>
        </p:spPr>
      </p:sp>
      <p:pic>
        <p:nvPicPr>
          <p:cNvPr id="4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82312" y="2578608"/>
            <a:ext cx="329184" cy="329184"/>
          </a:xfrm>
          <a:prstGeom prst="rect">
            <a:avLst/>
          </a:prstGeom>
        </p:spPr>
      </p:pic>
      <p:sp>
        <p:nvSpPr>
          <p:cNvPr id="43" name="Text 39"/>
          <p:cNvSpPr/>
          <p:nvPr/>
        </p:nvSpPr>
        <p:spPr>
          <a:xfrm>
            <a:off x="5138928" y="255117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Cambio de Alcance</a:t>
            </a:r>
            <a:endParaRPr lang="en-US" sz="900" dirty="0"/>
          </a:p>
        </p:txBody>
      </p:sp>
      <p:sp>
        <p:nvSpPr>
          <p:cNvPr id="44" name="Text 40"/>
          <p:cNvSpPr/>
          <p:nvPr/>
        </p:nvSpPr>
        <p:spPr>
          <a:xfrm>
            <a:off x="5138928" y="2779776"/>
            <a:ext cx="3429000" cy="7132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Alcance adicional (+) o reducido (-) recalcula el POC. CWPs nuevos o eliminados requieren actualización de presentation.xml y EDS.</a:t>
            </a:r>
            <a:endParaRPr lang="en-US" sz="750" dirty="0"/>
          </a:p>
        </p:txBody>
      </p:sp>
      <p:sp>
        <p:nvSpPr>
          <p:cNvPr id="45" name="Shape 41"/>
          <p:cNvSpPr/>
          <p:nvPr/>
        </p:nvSpPr>
        <p:spPr>
          <a:xfrm>
            <a:off x="320040" y="3675888"/>
            <a:ext cx="4023360" cy="1078992"/>
          </a:xfrm>
          <a:prstGeom prst="rect">
            <a:avLst>
              <a:gd name="adj" fmla="val 5085"/>
            </a:avLst>
          </a:prstGeom>
          <a:solidFill>
            <a:srgbClr val="FFFFFF"/>
          </a:solidFill>
          <a:ln w="6350">
            <a:solidFill>
              <a:srgbClr val="E5E5EA"/>
            </a:solidFill>
            <a:prstDash val="solid"/>
          </a:ln>
        </p:spPr>
      </p:sp>
      <p:pic>
        <p:nvPicPr>
          <p:cNvPr id="4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8912" y="3767328"/>
            <a:ext cx="329184" cy="329184"/>
          </a:xfrm>
          <a:prstGeom prst="rect">
            <a:avLst/>
          </a:prstGeom>
        </p:spPr>
      </p:pic>
      <p:sp>
        <p:nvSpPr>
          <p:cNvPr id="47" name="Text 42"/>
          <p:cNvSpPr/>
          <p:nvPr/>
        </p:nvSpPr>
        <p:spPr>
          <a:xfrm>
            <a:off x="795528" y="373989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Cambio de Cronograma</a:t>
            </a:r>
            <a:endParaRPr lang="en-US" sz="900" dirty="0"/>
          </a:p>
        </p:txBody>
      </p:sp>
      <p:sp>
        <p:nvSpPr>
          <p:cNvPr id="48" name="Text 43"/>
          <p:cNvSpPr/>
          <p:nvPr/>
        </p:nvSpPr>
        <p:spPr>
          <a:xfrm>
            <a:off x="795528" y="3968496"/>
            <a:ext cx="3429000" cy="7132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Ajuste de fechas: re-secuenciar IWPs sin alterar RTI rate objetivo (≥85%). Priorizar ruta crítica.</a:t>
            </a:r>
            <a:endParaRPr lang="en-US" sz="750" dirty="0"/>
          </a:p>
        </p:txBody>
      </p:sp>
      <p:sp>
        <p:nvSpPr>
          <p:cNvPr id="49" name="Shape 44"/>
          <p:cNvSpPr/>
          <p:nvPr/>
        </p:nvSpPr>
        <p:spPr>
          <a:xfrm>
            <a:off x="4663440" y="3675888"/>
            <a:ext cx="4023360" cy="1078992"/>
          </a:xfrm>
          <a:prstGeom prst="rect">
            <a:avLst>
              <a:gd name="adj" fmla="val 5085"/>
            </a:avLst>
          </a:prstGeom>
          <a:solidFill>
            <a:srgbClr val="FFFFFF"/>
          </a:solidFill>
          <a:ln w="6350">
            <a:solidFill>
              <a:srgbClr val="E5E5EA"/>
            </a:solidFill>
            <a:prstDash val="solid"/>
          </a:ln>
        </p:spPr>
      </p:sp>
      <p:pic>
        <p:nvPicPr>
          <p:cNvPr id="5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82312" y="3767328"/>
            <a:ext cx="329184" cy="329184"/>
          </a:xfrm>
          <a:prstGeom prst="rect">
            <a:avLst/>
          </a:prstGeom>
        </p:spPr>
      </p:pic>
      <p:sp>
        <p:nvSpPr>
          <p:cNvPr id="51" name="Text 45"/>
          <p:cNvSpPr/>
          <p:nvPr/>
        </p:nvSpPr>
        <p:spPr>
          <a:xfrm>
            <a:off x="5138928" y="373989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Cambio de Costo</a:t>
            </a:r>
            <a:endParaRPr lang="en-US" sz="900" dirty="0"/>
          </a:p>
        </p:txBody>
      </p:sp>
      <p:sp>
        <p:nvSpPr>
          <p:cNvPr id="52" name="Text 46"/>
          <p:cNvSpPr/>
          <p:nvPr/>
        </p:nvSpPr>
        <p:spPr>
          <a:xfrm>
            <a:off x="5138928" y="3968496"/>
            <a:ext cx="3429000" cy="7132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Change Orders se reflejan en actualización del EVM: línea base actualizada, CPI/SPI recalculados desde nueva base.</a:t>
            </a:r>
            <a:endParaRPr lang="en-US" sz="7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4620A"/>
          </a:solidFill>
          <a:ln w="12700">
            <a:solidFill>
              <a:srgbClr val="D4620A"/>
            </a:solidFill>
            <a:prstDash val="solid"/>
          </a:ln>
        </p:spPr>
      </p:sp>
      <p:sp>
        <p:nvSpPr>
          <p:cNvPr id="3" name="Shape 1"/>
          <p:cNvSpPr/>
          <p:nvPr/>
        </p:nvSpPr>
        <p:spPr>
          <a:xfrm>
            <a:off x="164592" y="4956048"/>
            <a:ext cx="8979408" cy="182880"/>
          </a:xfrm>
          <a:prstGeom prst="rect">
            <a:avLst/>
          </a:prstGeom>
          <a:solidFill>
            <a:srgbClr val="D4620A"/>
          </a:solidFill>
          <a:ln w="12700">
            <a:solidFill>
              <a:srgbClr val="D4620A"/>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105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Contratos Alineados a AWP</a:t>
            </a:r>
            <a:endParaRPr lang="en-US" sz="1800" dirty="0"/>
          </a:p>
        </p:txBody>
      </p:sp>
      <p:sp>
        <p:nvSpPr>
          <p:cNvPr id="6" name="Shape 4"/>
          <p:cNvSpPr/>
          <p:nvPr/>
        </p:nvSpPr>
        <p:spPr>
          <a:xfrm>
            <a:off x="320040" y="621792"/>
            <a:ext cx="8503920" cy="41148"/>
          </a:xfrm>
          <a:prstGeom prst="rect">
            <a:avLst/>
          </a:prstGeom>
          <a:solidFill>
            <a:srgbClr val="D4620A"/>
          </a:solidFill>
          <a:ln w="12700">
            <a:solidFill>
              <a:srgbClr val="D4620A"/>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D4620A"/>
                </a:solidFill>
                <a:latin typeface="Atkinson Hyperlegible" pitchFamily="34" charset="0"/>
                <a:ea typeface="Atkinson Hyperlegible" pitchFamily="34" charset="-122"/>
                <a:cs typeface="Atkinson Hyperlegible" pitchFamily="34" charset="-120"/>
              </a:rPr>
              <a:t>Estructuras contractuales que habilitan y refuerzan la constructabilidad</a:t>
            </a:r>
            <a:endParaRPr lang="en-US" sz="900" dirty="0"/>
          </a:p>
        </p:txBody>
      </p:sp>
      <p:sp>
        <p:nvSpPr>
          <p:cNvPr id="8" name="Shape 6"/>
          <p:cNvSpPr/>
          <p:nvPr/>
        </p:nvSpPr>
        <p:spPr>
          <a:xfrm>
            <a:off x="320040" y="987552"/>
            <a:ext cx="2724912" cy="1792224"/>
          </a:xfrm>
          <a:prstGeom prst="rect">
            <a:avLst>
              <a:gd name="adj" fmla="val 3061"/>
            </a:avLst>
          </a:prstGeom>
          <a:solidFill>
            <a:srgbClr val="FFFFFF"/>
          </a:solidFill>
          <a:ln w="6350">
            <a:solidFill>
              <a:srgbClr val="E5E5EA"/>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38912" y="1078992"/>
            <a:ext cx="329184" cy="329184"/>
          </a:xfrm>
          <a:prstGeom prst="rect">
            <a:avLst/>
          </a:prstGeom>
        </p:spPr>
      </p:pic>
      <p:sp>
        <p:nvSpPr>
          <p:cNvPr id="10" name="Text 7"/>
          <p:cNvSpPr/>
          <p:nvPr/>
        </p:nvSpPr>
        <p:spPr>
          <a:xfrm>
            <a:off x="795528" y="1051560"/>
            <a:ext cx="2130552"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EPCM + AWP KPIs</a:t>
            </a:r>
            <a:endParaRPr lang="en-US" sz="900" dirty="0"/>
          </a:p>
        </p:txBody>
      </p:sp>
      <p:sp>
        <p:nvSpPr>
          <p:cNvPr id="11" name="Text 8"/>
          <p:cNvSpPr/>
          <p:nvPr/>
        </p:nvSpPr>
        <p:spPr>
          <a:xfrm>
            <a:off x="795528" y="1280160"/>
            <a:ext cx="2130552" cy="142646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Contrato EPCM incluye IWP RTI Rate y CPI como indicadores de desempeño del gerente. Incentivos por superar benchmark CII.</a:t>
            </a:r>
            <a:endParaRPr lang="en-US" sz="750" dirty="0"/>
          </a:p>
        </p:txBody>
      </p:sp>
      <p:sp>
        <p:nvSpPr>
          <p:cNvPr id="12" name="Shape 9"/>
          <p:cNvSpPr/>
          <p:nvPr/>
        </p:nvSpPr>
        <p:spPr>
          <a:xfrm>
            <a:off x="3209544" y="987552"/>
            <a:ext cx="2724912" cy="1792224"/>
          </a:xfrm>
          <a:prstGeom prst="rect">
            <a:avLst>
              <a:gd name="adj" fmla="val 3061"/>
            </a:avLst>
          </a:prstGeom>
          <a:solidFill>
            <a:srgbClr val="FFFFFF"/>
          </a:solidFill>
          <a:ln w="6350">
            <a:solidFill>
              <a:srgbClr val="E5E5EA"/>
            </a:solidFill>
            <a:prstDash val="solid"/>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28416" y="1078992"/>
            <a:ext cx="329184" cy="329184"/>
          </a:xfrm>
          <a:prstGeom prst="rect">
            <a:avLst/>
          </a:prstGeom>
        </p:spPr>
      </p:pic>
      <p:sp>
        <p:nvSpPr>
          <p:cNvPr id="14" name="Text 10"/>
          <p:cNvSpPr/>
          <p:nvPr/>
        </p:nvSpPr>
        <p:spPr>
          <a:xfrm>
            <a:off x="3685032" y="1051560"/>
            <a:ext cx="2130552"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EPC Lump Sum con CWPs</a:t>
            </a:r>
            <a:endParaRPr lang="en-US" sz="900" dirty="0"/>
          </a:p>
        </p:txBody>
      </p:sp>
      <p:sp>
        <p:nvSpPr>
          <p:cNvPr id="15" name="Text 11"/>
          <p:cNvSpPr/>
          <p:nvPr/>
        </p:nvSpPr>
        <p:spPr>
          <a:xfrm>
            <a:off x="3685032" y="1280160"/>
            <a:ext cx="2130552" cy="142646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Alcance dividido en CWPs contratados individualmente o en lotes. Facilita control de avance real y pago por IWP completado.</a:t>
            </a:r>
            <a:endParaRPr lang="en-US" sz="750" dirty="0"/>
          </a:p>
        </p:txBody>
      </p:sp>
      <p:sp>
        <p:nvSpPr>
          <p:cNvPr id="16" name="Shape 12"/>
          <p:cNvSpPr/>
          <p:nvPr/>
        </p:nvSpPr>
        <p:spPr>
          <a:xfrm>
            <a:off x="6099048" y="987552"/>
            <a:ext cx="2724912" cy="1792224"/>
          </a:xfrm>
          <a:prstGeom prst="rect">
            <a:avLst>
              <a:gd name="adj" fmla="val 3061"/>
            </a:avLst>
          </a:prstGeom>
          <a:solidFill>
            <a:srgbClr val="FFFFFF"/>
          </a:solidFill>
          <a:ln w="6350">
            <a:solidFill>
              <a:srgbClr val="E5E5EA"/>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17920" y="1078992"/>
            <a:ext cx="329184" cy="329184"/>
          </a:xfrm>
          <a:prstGeom prst="rect">
            <a:avLst/>
          </a:prstGeom>
        </p:spPr>
      </p:pic>
      <p:sp>
        <p:nvSpPr>
          <p:cNvPr id="18" name="Text 13"/>
          <p:cNvSpPr/>
          <p:nvPr/>
        </p:nvSpPr>
        <p:spPr>
          <a:xfrm>
            <a:off x="6574536" y="1051560"/>
            <a:ext cx="2130552"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IPD — Integrated Project Delivery</a:t>
            </a:r>
            <a:endParaRPr lang="en-US" sz="900" dirty="0"/>
          </a:p>
        </p:txBody>
      </p:sp>
      <p:sp>
        <p:nvSpPr>
          <p:cNvPr id="19" name="Text 14"/>
          <p:cNvSpPr/>
          <p:nvPr/>
        </p:nvSpPr>
        <p:spPr>
          <a:xfrm>
            <a:off x="6574536" y="1280160"/>
            <a:ext cx="2130552" cy="142646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Contrato multipartito (Owner-Diseñador-Constructor): comparten riesgo y beneficio. Constructabilidad integrada desde diseño.</a:t>
            </a:r>
            <a:endParaRPr lang="en-US" sz="750" dirty="0"/>
          </a:p>
        </p:txBody>
      </p:sp>
      <p:sp>
        <p:nvSpPr>
          <p:cNvPr id="20" name="Shape 15"/>
          <p:cNvSpPr/>
          <p:nvPr/>
        </p:nvSpPr>
        <p:spPr>
          <a:xfrm>
            <a:off x="320040" y="2889504"/>
            <a:ext cx="2724912" cy="1792224"/>
          </a:xfrm>
          <a:prstGeom prst="rect">
            <a:avLst>
              <a:gd name="adj" fmla="val 3061"/>
            </a:avLst>
          </a:prstGeom>
          <a:solidFill>
            <a:srgbClr val="FFFFFF"/>
          </a:solidFill>
          <a:ln w="6350">
            <a:solidFill>
              <a:srgbClr val="E5E5EA"/>
            </a:solidFill>
            <a:prstDash val="solid"/>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8912" y="2980944"/>
            <a:ext cx="329184" cy="329184"/>
          </a:xfrm>
          <a:prstGeom prst="rect">
            <a:avLst/>
          </a:prstGeom>
        </p:spPr>
      </p:pic>
      <p:sp>
        <p:nvSpPr>
          <p:cNvPr id="22" name="Text 16"/>
          <p:cNvSpPr/>
          <p:nvPr/>
        </p:nvSpPr>
        <p:spPr>
          <a:xfrm>
            <a:off x="795528" y="2953512"/>
            <a:ext cx="2130552"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Contratos por Resultados</a:t>
            </a:r>
            <a:endParaRPr lang="en-US" sz="900" dirty="0"/>
          </a:p>
        </p:txBody>
      </p:sp>
      <p:sp>
        <p:nvSpPr>
          <p:cNvPr id="23" name="Text 17"/>
          <p:cNvSpPr/>
          <p:nvPr/>
        </p:nvSpPr>
        <p:spPr>
          <a:xfrm>
            <a:off x="795528" y="3182112"/>
            <a:ext cx="2130552" cy="142646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Pago vinculado a métricas AWP: % IWPs RTI, cero punch items, CPI ≥1.00. Alinea incentivos de toda la cadena.</a:t>
            </a:r>
            <a:endParaRPr lang="en-US" sz="750" dirty="0"/>
          </a:p>
        </p:txBody>
      </p:sp>
      <p:sp>
        <p:nvSpPr>
          <p:cNvPr id="24" name="Shape 18"/>
          <p:cNvSpPr/>
          <p:nvPr/>
        </p:nvSpPr>
        <p:spPr>
          <a:xfrm>
            <a:off x="3209544" y="2889504"/>
            <a:ext cx="2724912" cy="1792224"/>
          </a:xfrm>
          <a:prstGeom prst="rect">
            <a:avLst>
              <a:gd name="adj" fmla="val 3061"/>
            </a:avLst>
          </a:prstGeom>
          <a:solidFill>
            <a:srgbClr val="FFFFFF"/>
          </a:solidFill>
          <a:ln w="6350">
            <a:solidFill>
              <a:srgbClr val="E5E5EA"/>
            </a:solidFill>
            <a:prstDash val="solid"/>
          </a:ln>
        </p:spPr>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28416" y="2980944"/>
            <a:ext cx="329184" cy="329184"/>
          </a:xfrm>
          <a:prstGeom prst="rect">
            <a:avLst/>
          </a:prstGeom>
        </p:spPr>
      </p:pic>
      <p:sp>
        <p:nvSpPr>
          <p:cNvPr id="26" name="Text 19"/>
          <p:cNvSpPr/>
          <p:nvPr/>
        </p:nvSpPr>
        <p:spPr>
          <a:xfrm>
            <a:off x="3685032" y="2953512"/>
            <a:ext cx="2130552"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Consorcio AWP</a:t>
            </a:r>
            <a:endParaRPr lang="en-US" sz="900" dirty="0"/>
          </a:p>
        </p:txBody>
      </p:sp>
      <p:sp>
        <p:nvSpPr>
          <p:cNvPr id="27" name="Text 20"/>
          <p:cNvSpPr/>
          <p:nvPr/>
        </p:nvSpPr>
        <p:spPr>
          <a:xfrm>
            <a:off x="3685032" y="3182112"/>
            <a:ext cx="2130552" cy="142646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Consorcio constructor-especialistas con obligación contractual de proceso AWP, plataforma compartida y KPIs comunes.</a:t>
            </a:r>
            <a:endParaRPr lang="en-US" sz="750" dirty="0"/>
          </a:p>
        </p:txBody>
      </p:sp>
      <p:sp>
        <p:nvSpPr>
          <p:cNvPr id="28" name="Shape 21"/>
          <p:cNvSpPr/>
          <p:nvPr/>
        </p:nvSpPr>
        <p:spPr>
          <a:xfrm>
            <a:off x="6099048" y="2889504"/>
            <a:ext cx="2724912" cy="1792224"/>
          </a:xfrm>
          <a:prstGeom prst="rect">
            <a:avLst>
              <a:gd name="adj" fmla="val 3061"/>
            </a:avLst>
          </a:prstGeom>
          <a:solidFill>
            <a:srgbClr val="FFFFFF"/>
          </a:solidFill>
          <a:ln w="6350">
            <a:solidFill>
              <a:srgbClr val="E5E5EA"/>
            </a:solidFill>
            <a:prstDash val="solid"/>
          </a:ln>
        </p:spPr>
      </p:sp>
      <p:pic>
        <p:nvPicPr>
          <p:cNvPr id="2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17920" y="2980944"/>
            <a:ext cx="329184" cy="329184"/>
          </a:xfrm>
          <a:prstGeom prst="rect">
            <a:avLst/>
          </a:prstGeom>
        </p:spPr>
      </p:pic>
      <p:sp>
        <p:nvSpPr>
          <p:cNvPr id="30" name="Text 22"/>
          <p:cNvSpPr/>
          <p:nvPr/>
        </p:nvSpPr>
        <p:spPr>
          <a:xfrm>
            <a:off x="6574536" y="2953512"/>
            <a:ext cx="2130552"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Fast-Track con POC</a:t>
            </a:r>
            <a:endParaRPr lang="en-US" sz="900" dirty="0"/>
          </a:p>
        </p:txBody>
      </p:sp>
      <p:sp>
        <p:nvSpPr>
          <p:cNvPr id="31" name="Text 23"/>
          <p:cNvSpPr/>
          <p:nvPr/>
        </p:nvSpPr>
        <p:spPr>
          <a:xfrm>
            <a:off x="6574536" y="3182112"/>
            <a:ext cx="2130552" cy="142646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Contratos de construcción iniciados por zonas CWA según POC, antes de completar diseño total. Requiere EDS riguroso.</a:t>
            </a:r>
            <a:endParaRPr lang="en-US" sz="7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392B"/>
          </a:solidFill>
          <a:ln w="12700">
            <a:solidFill>
              <a:srgbClr val="C0392B"/>
            </a:solidFill>
            <a:prstDash val="solid"/>
          </a:ln>
        </p:spPr>
      </p:sp>
      <p:sp>
        <p:nvSpPr>
          <p:cNvPr id="3" name="Shape 1"/>
          <p:cNvSpPr/>
          <p:nvPr/>
        </p:nvSpPr>
        <p:spPr>
          <a:xfrm>
            <a:off x="164592" y="4956048"/>
            <a:ext cx="8979408" cy="182880"/>
          </a:xfrm>
          <a:prstGeom prst="rect">
            <a:avLst/>
          </a:prstGeom>
          <a:solidFill>
            <a:srgbClr val="C0392B"/>
          </a:solidFill>
          <a:ln w="12700">
            <a:solidFill>
              <a:srgbClr val="C0392B"/>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106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Gestión de Riesgos en el Marco AWP</a:t>
            </a:r>
            <a:endParaRPr lang="en-US" sz="1800" dirty="0"/>
          </a:p>
        </p:txBody>
      </p:sp>
      <p:sp>
        <p:nvSpPr>
          <p:cNvPr id="6" name="Shape 4"/>
          <p:cNvSpPr/>
          <p:nvPr/>
        </p:nvSpPr>
        <p:spPr>
          <a:xfrm>
            <a:off x="320040" y="621792"/>
            <a:ext cx="8503920" cy="41148"/>
          </a:xfrm>
          <a:prstGeom prst="rect">
            <a:avLst/>
          </a:prstGeom>
          <a:solidFill>
            <a:srgbClr val="C0392B"/>
          </a:solidFill>
          <a:ln w="12700">
            <a:solidFill>
              <a:srgbClr val="C0392B"/>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C0392B"/>
                </a:solidFill>
                <a:latin typeface="Atkinson Hyperlegible" pitchFamily="34" charset="0"/>
                <a:ea typeface="Atkinson Hyperlegible" pitchFamily="34" charset="-122"/>
                <a:cs typeface="Atkinson Hyperlegible" pitchFamily="34" charset="-120"/>
              </a:rPr>
              <a:t>Riesgos específicos de la implementación y estrategias de mitigación</a:t>
            </a:r>
            <a:endParaRPr lang="en-US" sz="900" dirty="0"/>
          </a:p>
        </p:txBody>
      </p:sp>
      <p:sp>
        <p:nvSpPr>
          <p:cNvPr id="8" name="Shape 6"/>
          <p:cNvSpPr/>
          <p:nvPr/>
        </p:nvSpPr>
        <p:spPr>
          <a:xfrm>
            <a:off x="320040" y="960120"/>
            <a:ext cx="8503920" cy="310896"/>
          </a:xfrm>
          <a:prstGeom prst="rect">
            <a:avLst>
              <a:gd name="adj" fmla="val 11765"/>
            </a:avLst>
          </a:prstGeom>
          <a:solidFill>
            <a:srgbClr val="C0392B"/>
          </a:solidFill>
          <a:ln w="12700">
            <a:solidFill>
              <a:srgbClr val="C0392B"/>
            </a:solidFill>
            <a:prstDash val="solid"/>
          </a:ln>
        </p:spPr>
      </p:sp>
      <p:sp>
        <p:nvSpPr>
          <p:cNvPr id="9" name="Text 7"/>
          <p:cNvSpPr/>
          <p:nvPr/>
        </p:nvSpPr>
        <p:spPr>
          <a:xfrm>
            <a:off x="457200" y="978408"/>
            <a:ext cx="3657600" cy="274320"/>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Riesgo</a:t>
            </a:r>
            <a:endParaRPr lang="en-US" sz="800" dirty="0"/>
          </a:p>
        </p:txBody>
      </p:sp>
      <p:sp>
        <p:nvSpPr>
          <p:cNvPr id="10" name="Text 8"/>
          <p:cNvSpPr/>
          <p:nvPr/>
        </p:nvSpPr>
        <p:spPr>
          <a:xfrm>
            <a:off x="4206240" y="978408"/>
            <a:ext cx="640080" cy="274320"/>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Prob.</a:t>
            </a:r>
            <a:endParaRPr lang="en-US" sz="800" dirty="0"/>
          </a:p>
        </p:txBody>
      </p:sp>
      <p:sp>
        <p:nvSpPr>
          <p:cNvPr id="11" name="Text 9"/>
          <p:cNvSpPr/>
          <p:nvPr/>
        </p:nvSpPr>
        <p:spPr>
          <a:xfrm>
            <a:off x="4937760" y="978408"/>
            <a:ext cx="777240" cy="274320"/>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Impacto</a:t>
            </a:r>
            <a:endParaRPr lang="en-US" sz="800" dirty="0"/>
          </a:p>
        </p:txBody>
      </p:sp>
      <p:sp>
        <p:nvSpPr>
          <p:cNvPr id="12" name="Text 10"/>
          <p:cNvSpPr/>
          <p:nvPr/>
        </p:nvSpPr>
        <p:spPr>
          <a:xfrm>
            <a:off x="5760720" y="978408"/>
            <a:ext cx="2743200" cy="274320"/>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Mitigación</a:t>
            </a:r>
            <a:endParaRPr lang="en-US" sz="800" dirty="0"/>
          </a:p>
        </p:txBody>
      </p:sp>
      <p:sp>
        <p:nvSpPr>
          <p:cNvPr id="13" name="Shape 11"/>
          <p:cNvSpPr/>
          <p:nvPr/>
        </p:nvSpPr>
        <p:spPr>
          <a:xfrm>
            <a:off x="320040" y="1316736"/>
            <a:ext cx="8503920" cy="548640"/>
          </a:xfrm>
          <a:prstGeom prst="rect">
            <a:avLst>
              <a:gd name="adj" fmla="val 5000"/>
            </a:avLst>
          </a:prstGeom>
          <a:solidFill>
            <a:srgbClr val="FFFFFF"/>
          </a:solidFill>
          <a:ln w="6350">
            <a:solidFill>
              <a:srgbClr val="E5E5EA"/>
            </a:solidFill>
            <a:prstDash val="solid"/>
          </a:ln>
        </p:spPr>
      </p:sp>
      <p:sp>
        <p:nvSpPr>
          <p:cNvPr id="14" name="Text 12"/>
          <p:cNvSpPr/>
          <p:nvPr/>
        </p:nvSpPr>
        <p:spPr>
          <a:xfrm>
            <a:off x="411480" y="1371600"/>
            <a:ext cx="3657600" cy="43891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Baja adopción del equipo</a:t>
            </a:r>
            <a:endParaRPr lang="en-US" sz="850" dirty="0"/>
          </a:p>
        </p:txBody>
      </p:sp>
      <p:sp>
        <p:nvSpPr>
          <p:cNvPr id="15" name="Shape 13"/>
          <p:cNvSpPr/>
          <p:nvPr/>
        </p:nvSpPr>
        <p:spPr>
          <a:xfrm>
            <a:off x="4206240" y="1426464"/>
            <a:ext cx="566928" cy="329184"/>
          </a:xfrm>
          <a:prstGeom prst="roundRect">
            <a:avLst>
              <a:gd name="adj" fmla="val 11111"/>
            </a:avLst>
          </a:prstGeom>
          <a:solidFill>
            <a:srgbClr val="C0392B"/>
          </a:solidFill>
          <a:ln w="12700">
            <a:solidFill>
              <a:srgbClr val="C0392B"/>
            </a:solidFill>
            <a:prstDash val="solid"/>
          </a:ln>
        </p:spPr>
      </p:sp>
      <p:sp>
        <p:nvSpPr>
          <p:cNvPr id="16" name="Text 14"/>
          <p:cNvSpPr/>
          <p:nvPr/>
        </p:nvSpPr>
        <p:spPr>
          <a:xfrm>
            <a:off x="4206240" y="1426464"/>
            <a:ext cx="566928" cy="329184"/>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Alta</a:t>
            </a:r>
            <a:endParaRPr lang="en-US" sz="750" dirty="0"/>
          </a:p>
        </p:txBody>
      </p:sp>
      <p:sp>
        <p:nvSpPr>
          <p:cNvPr id="17" name="Shape 15"/>
          <p:cNvSpPr/>
          <p:nvPr/>
        </p:nvSpPr>
        <p:spPr>
          <a:xfrm>
            <a:off x="4864608" y="1426464"/>
            <a:ext cx="658368" cy="329184"/>
          </a:xfrm>
          <a:prstGeom prst="roundRect">
            <a:avLst>
              <a:gd name="adj" fmla="val 11111"/>
            </a:avLst>
          </a:prstGeom>
          <a:solidFill>
            <a:srgbClr val="C0392B"/>
          </a:solidFill>
          <a:ln w="12700">
            <a:solidFill>
              <a:srgbClr val="C0392B"/>
            </a:solidFill>
            <a:prstDash val="solid"/>
          </a:ln>
        </p:spPr>
      </p:sp>
      <p:sp>
        <p:nvSpPr>
          <p:cNvPr id="18" name="Text 16"/>
          <p:cNvSpPr/>
          <p:nvPr/>
        </p:nvSpPr>
        <p:spPr>
          <a:xfrm>
            <a:off x="4864608" y="1426464"/>
            <a:ext cx="658368" cy="329184"/>
          </a:xfrm>
          <a:prstGeom prst="rect">
            <a:avLst/>
          </a:prstGeom>
          <a:noFill/>
          <a:ln/>
        </p:spPr>
        <p:txBody>
          <a:bodyPr wrap="square" rtlCol="0" anchor="ctr"/>
          <a:lstStyle/>
          <a:p>
            <a:pPr algn="ctr" indent="0" marL="0">
              <a:buNone/>
            </a:pPr>
            <a:r>
              <a:rPr lang="en-US" sz="750" b="1" dirty="0">
                <a:solidFill>
                  <a:srgbClr val="C0392B"/>
                </a:solidFill>
                <a:latin typeface="Atkinson Hyperlegible" pitchFamily="34" charset="0"/>
                <a:ea typeface="Atkinson Hyperlegible" pitchFamily="34" charset="-122"/>
                <a:cs typeface="Atkinson Hyperlegible" pitchFamily="34" charset="-120"/>
              </a:rPr>
              <a:t>Alto</a:t>
            </a:r>
            <a:endParaRPr lang="en-US" sz="750" dirty="0"/>
          </a:p>
        </p:txBody>
      </p:sp>
      <p:sp>
        <p:nvSpPr>
          <p:cNvPr id="19" name="Text 17"/>
          <p:cNvSpPr/>
          <p:nvPr/>
        </p:nvSpPr>
        <p:spPr>
          <a:xfrm>
            <a:off x="5577840" y="1371600"/>
            <a:ext cx="3127248" cy="438912"/>
          </a:xfrm>
          <a:prstGeom prst="rect">
            <a:avLst/>
          </a:prstGeom>
          <a:noFill/>
          <a:ln/>
        </p:spPr>
        <p:txBody>
          <a:bodyPr wrap="square" rtlCol="0" anchor="t"/>
          <a:lstStyle/>
          <a:p>
            <a:pPr indent="0" marL="0">
              <a:buNone/>
            </a:pPr>
            <a:r>
              <a:rPr lang="en-US" sz="750" dirty="0">
                <a:solidFill>
                  <a:srgbClr val="333333"/>
                </a:solidFill>
                <a:latin typeface="Atkinson Hyperlegible" pitchFamily="34" charset="0"/>
                <a:ea typeface="Atkinson Hyperlegible" pitchFamily="34" charset="-122"/>
                <a:cs typeface="Atkinson Hyperlegible" pitchFamily="34" charset="-120"/>
              </a:rPr>
              <a:t>Champion dedicado + capacitación + quick wins visibles en primeros 90 días</a:t>
            </a:r>
            <a:endParaRPr lang="en-US" sz="750" dirty="0"/>
          </a:p>
        </p:txBody>
      </p:sp>
      <p:sp>
        <p:nvSpPr>
          <p:cNvPr id="20" name="Shape 18"/>
          <p:cNvSpPr/>
          <p:nvPr/>
        </p:nvSpPr>
        <p:spPr>
          <a:xfrm>
            <a:off x="320040" y="1920240"/>
            <a:ext cx="8503920" cy="548640"/>
          </a:xfrm>
          <a:prstGeom prst="rect">
            <a:avLst>
              <a:gd name="adj" fmla="val 5000"/>
            </a:avLst>
          </a:prstGeom>
          <a:solidFill>
            <a:srgbClr val="FFF5F5"/>
          </a:solidFill>
          <a:ln w="6350">
            <a:solidFill>
              <a:srgbClr val="E5E5EA"/>
            </a:solidFill>
            <a:prstDash val="solid"/>
          </a:ln>
        </p:spPr>
      </p:sp>
      <p:sp>
        <p:nvSpPr>
          <p:cNvPr id="21" name="Text 19"/>
          <p:cNvSpPr/>
          <p:nvPr/>
        </p:nvSpPr>
        <p:spPr>
          <a:xfrm>
            <a:off x="411480" y="1975104"/>
            <a:ext cx="3657600" cy="43891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EDS desalineado con POC</a:t>
            </a:r>
            <a:endParaRPr lang="en-US" sz="850" dirty="0"/>
          </a:p>
        </p:txBody>
      </p:sp>
      <p:sp>
        <p:nvSpPr>
          <p:cNvPr id="22" name="Shape 20"/>
          <p:cNvSpPr/>
          <p:nvPr/>
        </p:nvSpPr>
        <p:spPr>
          <a:xfrm>
            <a:off x="4206240" y="2029968"/>
            <a:ext cx="566928" cy="329184"/>
          </a:xfrm>
          <a:prstGeom prst="roundRect">
            <a:avLst>
              <a:gd name="adj" fmla="val 11111"/>
            </a:avLst>
          </a:prstGeom>
          <a:solidFill>
            <a:srgbClr val="D4620A"/>
          </a:solidFill>
          <a:ln w="12700">
            <a:solidFill>
              <a:srgbClr val="D4620A"/>
            </a:solidFill>
            <a:prstDash val="solid"/>
          </a:ln>
        </p:spPr>
      </p:sp>
      <p:sp>
        <p:nvSpPr>
          <p:cNvPr id="23" name="Text 21"/>
          <p:cNvSpPr/>
          <p:nvPr/>
        </p:nvSpPr>
        <p:spPr>
          <a:xfrm>
            <a:off x="4206240" y="2029968"/>
            <a:ext cx="566928" cy="329184"/>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Media</a:t>
            </a:r>
            <a:endParaRPr lang="en-US" sz="750" dirty="0"/>
          </a:p>
        </p:txBody>
      </p:sp>
      <p:sp>
        <p:nvSpPr>
          <p:cNvPr id="24" name="Shape 22"/>
          <p:cNvSpPr/>
          <p:nvPr/>
        </p:nvSpPr>
        <p:spPr>
          <a:xfrm>
            <a:off x="4864608" y="2029968"/>
            <a:ext cx="658368" cy="329184"/>
          </a:xfrm>
          <a:prstGeom prst="roundRect">
            <a:avLst>
              <a:gd name="adj" fmla="val 11111"/>
            </a:avLst>
          </a:prstGeom>
          <a:solidFill>
            <a:srgbClr val="C0392B"/>
          </a:solidFill>
          <a:ln w="12700">
            <a:solidFill>
              <a:srgbClr val="C0392B"/>
            </a:solidFill>
            <a:prstDash val="solid"/>
          </a:ln>
        </p:spPr>
      </p:sp>
      <p:sp>
        <p:nvSpPr>
          <p:cNvPr id="25" name="Text 23"/>
          <p:cNvSpPr/>
          <p:nvPr/>
        </p:nvSpPr>
        <p:spPr>
          <a:xfrm>
            <a:off x="4864608" y="2029968"/>
            <a:ext cx="658368" cy="329184"/>
          </a:xfrm>
          <a:prstGeom prst="rect">
            <a:avLst/>
          </a:prstGeom>
          <a:noFill/>
          <a:ln/>
        </p:spPr>
        <p:txBody>
          <a:bodyPr wrap="square" rtlCol="0" anchor="ctr"/>
          <a:lstStyle/>
          <a:p>
            <a:pPr algn="ctr" indent="0" marL="0">
              <a:buNone/>
            </a:pPr>
            <a:r>
              <a:rPr lang="en-US" sz="750" b="1" dirty="0">
                <a:solidFill>
                  <a:srgbClr val="C0392B"/>
                </a:solidFill>
                <a:latin typeface="Atkinson Hyperlegible" pitchFamily="34" charset="0"/>
                <a:ea typeface="Atkinson Hyperlegible" pitchFamily="34" charset="-122"/>
                <a:cs typeface="Atkinson Hyperlegible" pitchFamily="34" charset="-120"/>
              </a:rPr>
              <a:t>Alto</a:t>
            </a:r>
            <a:endParaRPr lang="en-US" sz="750" dirty="0"/>
          </a:p>
        </p:txBody>
      </p:sp>
      <p:sp>
        <p:nvSpPr>
          <p:cNvPr id="26" name="Text 24"/>
          <p:cNvSpPr/>
          <p:nvPr/>
        </p:nvSpPr>
        <p:spPr>
          <a:xfrm>
            <a:off x="5577840" y="1975104"/>
            <a:ext cx="3127248" cy="438912"/>
          </a:xfrm>
          <a:prstGeom prst="rect">
            <a:avLst/>
          </a:prstGeom>
          <a:noFill/>
          <a:ln/>
        </p:spPr>
        <p:txBody>
          <a:bodyPr wrap="square" rtlCol="0" anchor="t"/>
          <a:lstStyle/>
          <a:p>
            <a:pPr indent="0" marL="0">
              <a:buNone/>
            </a:pPr>
            <a:r>
              <a:rPr lang="en-US" sz="750" dirty="0">
                <a:solidFill>
                  <a:srgbClr val="333333"/>
                </a:solidFill>
                <a:latin typeface="Atkinson Hyperlegible" pitchFamily="34" charset="0"/>
                <a:ea typeface="Atkinson Hyperlegible" pitchFamily="34" charset="-122"/>
                <a:cs typeface="Atkinson Hyperlegible" pitchFamily="34" charset="-120"/>
              </a:rPr>
              <a:t>Reunión semanal EPC team: ingeniería + construcción + AWP Manager alineando prioridades</a:t>
            </a:r>
            <a:endParaRPr lang="en-US" sz="750" dirty="0"/>
          </a:p>
        </p:txBody>
      </p:sp>
      <p:sp>
        <p:nvSpPr>
          <p:cNvPr id="27" name="Shape 25"/>
          <p:cNvSpPr/>
          <p:nvPr/>
        </p:nvSpPr>
        <p:spPr>
          <a:xfrm>
            <a:off x="320040" y="2523744"/>
            <a:ext cx="8503920" cy="548640"/>
          </a:xfrm>
          <a:prstGeom prst="rect">
            <a:avLst>
              <a:gd name="adj" fmla="val 5000"/>
            </a:avLst>
          </a:prstGeom>
          <a:solidFill>
            <a:srgbClr val="FFFFFF"/>
          </a:solidFill>
          <a:ln w="6350">
            <a:solidFill>
              <a:srgbClr val="E5E5EA"/>
            </a:solidFill>
            <a:prstDash val="solid"/>
          </a:ln>
        </p:spPr>
      </p:sp>
      <p:sp>
        <p:nvSpPr>
          <p:cNvPr id="28" name="Text 26"/>
          <p:cNvSpPr/>
          <p:nvPr/>
        </p:nvSpPr>
        <p:spPr>
          <a:xfrm>
            <a:off x="411480" y="2578608"/>
            <a:ext cx="3657600" cy="43891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Plataforma AWP mal implementada</a:t>
            </a:r>
            <a:endParaRPr lang="en-US" sz="850" dirty="0"/>
          </a:p>
        </p:txBody>
      </p:sp>
      <p:sp>
        <p:nvSpPr>
          <p:cNvPr id="29" name="Shape 27"/>
          <p:cNvSpPr/>
          <p:nvPr/>
        </p:nvSpPr>
        <p:spPr>
          <a:xfrm>
            <a:off x="4206240" y="2633472"/>
            <a:ext cx="566928" cy="329184"/>
          </a:xfrm>
          <a:prstGeom prst="roundRect">
            <a:avLst>
              <a:gd name="adj" fmla="val 11111"/>
            </a:avLst>
          </a:prstGeom>
          <a:solidFill>
            <a:srgbClr val="D4620A"/>
          </a:solidFill>
          <a:ln w="12700">
            <a:solidFill>
              <a:srgbClr val="D4620A"/>
            </a:solidFill>
            <a:prstDash val="solid"/>
          </a:ln>
        </p:spPr>
      </p:sp>
      <p:sp>
        <p:nvSpPr>
          <p:cNvPr id="30" name="Text 28"/>
          <p:cNvSpPr/>
          <p:nvPr/>
        </p:nvSpPr>
        <p:spPr>
          <a:xfrm>
            <a:off x="4206240" y="2633472"/>
            <a:ext cx="566928" cy="329184"/>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Media</a:t>
            </a:r>
            <a:endParaRPr lang="en-US" sz="750" dirty="0"/>
          </a:p>
        </p:txBody>
      </p:sp>
      <p:sp>
        <p:nvSpPr>
          <p:cNvPr id="31" name="Shape 29"/>
          <p:cNvSpPr/>
          <p:nvPr/>
        </p:nvSpPr>
        <p:spPr>
          <a:xfrm>
            <a:off x="4864608" y="2633472"/>
            <a:ext cx="658368" cy="329184"/>
          </a:xfrm>
          <a:prstGeom prst="roundRect">
            <a:avLst>
              <a:gd name="adj" fmla="val 11111"/>
            </a:avLst>
          </a:prstGeom>
          <a:solidFill>
            <a:srgbClr val="D4620A"/>
          </a:solidFill>
          <a:ln w="12700">
            <a:solidFill>
              <a:srgbClr val="D4620A"/>
            </a:solidFill>
            <a:prstDash val="solid"/>
          </a:ln>
        </p:spPr>
      </p:sp>
      <p:sp>
        <p:nvSpPr>
          <p:cNvPr id="32" name="Text 30"/>
          <p:cNvSpPr/>
          <p:nvPr/>
        </p:nvSpPr>
        <p:spPr>
          <a:xfrm>
            <a:off x="4864608" y="2633472"/>
            <a:ext cx="658368" cy="329184"/>
          </a:xfrm>
          <a:prstGeom prst="rect">
            <a:avLst/>
          </a:prstGeom>
          <a:noFill/>
          <a:ln/>
        </p:spPr>
        <p:txBody>
          <a:bodyPr wrap="square" rtlCol="0" anchor="ctr"/>
          <a:lstStyle/>
          <a:p>
            <a:pPr algn="ctr" indent="0" marL="0">
              <a:buNone/>
            </a:pPr>
            <a:r>
              <a:rPr lang="en-US" sz="750" b="1" dirty="0">
                <a:solidFill>
                  <a:srgbClr val="D4620A"/>
                </a:solidFill>
                <a:latin typeface="Atkinson Hyperlegible" pitchFamily="34" charset="0"/>
                <a:ea typeface="Atkinson Hyperlegible" pitchFamily="34" charset="-122"/>
                <a:cs typeface="Atkinson Hyperlegible" pitchFamily="34" charset="-120"/>
              </a:rPr>
              <a:t>Medio</a:t>
            </a:r>
            <a:endParaRPr lang="en-US" sz="750" dirty="0"/>
          </a:p>
        </p:txBody>
      </p:sp>
      <p:sp>
        <p:nvSpPr>
          <p:cNvPr id="33" name="Text 31"/>
          <p:cNvSpPr/>
          <p:nvPr/>
        </p:nvSpPr>
        <p:spPr>
          <a:xfrm>
            <a:off x="5577840" y="2578608"/>
            <a:ext cx="3127248" cy="438912"/>
          </a:xfrm>
          <a:prstGeom prst="rect">
            <a:avLst/>
          </a:prstGeom>
          <a:noFill/>
          <a:ln/>
        </p:spPr>
        <p:txBody>
          <a:bodyPr wrap="square" rtlCol="0" anchor="t"/>
          <a:lstStyle/>
          <a:p>
            <a:pPr indent="0" marL="0">
              <a:buNone/>
            </a:pPr>
            <a:r>
              <a:rPr lang="en-US" sz="750" dirty="0">
                <a:solidFill>
                  <a:srgbClr val="333333"/>
                </a:solidFill>
                <a:latin typeface="Atkinson Hyperlegible" pitchFamily="34" charset="0"/>
                <a:ea typeface="Atkinson Hyperlegible" pitchFamily="34" charset="-122"/>
                <a:cs typeface="Atkinson Hyperlegible" pitchFamily="34" charset="-120"/>
              </a:rPr>
              <a:t>Piloto en 1 CWP antes de despliegue total; data migration verificada; training obligatorio</a:t>
            </a:r>
            <a:endParaRPr lang="en-US" sz="750" dirty="0"/>
          </a:p>
        </p:txBody>
      </p:sp>
      <p:sp>
        <p:nvSpPr>
          <p:cNvPr id="34" name="Shape 32"/>
          <p:cNvSpPr/>
          <p:nvPr/>
        </p:nvSpPr>
        <p:spPr>
          <a:xfrm>
            <a:off x="320040" y="3127248"/>
            <a:ext cx="8503920" cy="548640"/>
          </a:xfrm>
          <a:prstGeom prst="rect">
            <a:avLst>
              <a:gd name="adj" fmla="val 5000"/>
            </a:avLst>
          </a:prstGeom>
          <a:solidFill>
            <a:srgbClr val="FFF5F5"/>
          </a:solidFill>
          <a:ln w="6350">
            <a:solidFill>
              <a:srgbClr val="E5E5EA"/>
            </a:solidFill>
            <a:prstDash val="solid"/>
          </a:ln>
        </p:spPr>
      </p:sp>
      <p:sp>
        <p:nvSpPr>
          <p:cNvPr id="35" name="Text 33"/>
          <p:cNvSpPr/>
          <p:nvPr/>
        </p:nvSpPr>
        <p:spPr>
          <a:xfrm>
            <a:off x="411480" y="3182112"/>
            <a:ext cx="3657600" cy="43891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Scope creep post-freeze</a:t>
            </a:r>
            <a:endParaRPr lang="en-US" sz="850" dirty="0"/>
          </a:p>
        </p:txBody>
      </p:sp>
      <p:sp>
        <p:nvSpPr>
          <p:cNvPr id="36" name="Shape 34"/>
          <p:cNvSpPr/>
          <p:nvPr/>
        </p:nvSpPr>
        <p:spPr>
          <a:xfrm>
            <a:off x="4206240" y="3236976"/>
            <a:ext cx="566928" cy="329184"/>
          </a:xfrm>
          <a:prstGeom prst="roundRect">
            <a:avLst>
              <a:gd name="adj" fmla="val 11111"/>
            </a:avLst>
          </a:prstGeom>
          <a:solidFill>
            <a:srgbClr val="C0392B"/>
          </a:solidFill>
          <a:ln w="12700">
            <a:solidFill>
              <a:srgbClr val="C0392B"/>
            </a:solidFill>
            <a:prstDash val="solid"/>
          </a:ln>
        </p:spPr>
      </p:sp>
      <p:sp>
        <p:nvSpPr>
          <p:cNvPr id="37" name="Text 35"/>
          <p:cNvSpPr/>
          <p:nvPr/>
        </p:nvSpPr>
        <p:spPr>
          <a:xfrm>
            <a:off x="4206240" y="3236976"/>
            <a:ext cx="566928" cy="329184"/>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Alta</a:t>
            </a:r>
            <a:endParaRPr lang="en-US" sz="750" dirty="0"/>
          </a:p>
        </p:txBody>
      </p:sp>
      <p:sp>
        <p:nvSpPr>
          <p:cNvPr id="38" name="Shape 36"/>
          <p:cNvSpPr/>
          <p:nvPr/>
        </p:nvSpPr>
        <p:spPr>
          <a:xfrm>
            <a:off x="4864608" y="3236976"/>
            <a:ext cx="658368" cy="329184"/>
          </a:xfrm>
          <a:prstGeom prst="roundRect">
            <a:avLst>
              <a:gd name="adj" fmla="val 11111"/>
            </a:avLst>
          </a:prstGeom>
          <a:solidFill>
            <a:srgbClr val="C0392B"/>
          </a:solidFill>
          <a:ln w="12700">
            <a:solidFill>
              <a:srgbClr val="C0392B"/>
            </a:solidFill>
            <a:prstDash val="solid"/>
          </a:ln>
        </p:spPr>
      </p:sp>
      <p:sp>
        <p:nvSpPr>
          <p:cNvPr id="39" name="Text 37"/>
          <p:cNvSpPr/>
          <p:nvPr/>
        </p:nvSpPr>
        <p:spPr>
          <a:xfrm>
            <a:off x="4864608" y="3236976"/>
            <a:ext cx="658368" cy="329184"/>
          </a:xfrm>
          <a:prstGeom prst="rect">
            <a:avLst/>
          </a:prstGeom>
          <a:noFill/>
          <a:ln/>
        </p:spPr>
        <p:txBody>
          <a:bodyPr wrap="square" rtlCol="0" anchor="ctr"/>
          <a:lstStyle/>
          <a:p>
            <a:pPr algn="ctr" indent="0" marL="0">
              <a:buNone/>
            </a:pPr>
            <a:r>
              <a:rPr lang="en-US" sz="750" b="1" dirty="0">
                <a:solidFill>
                  <a:srgbClr val="C0392B"/>
                </a:solidFill>
                <a:latin typeface="Atkinson Hyperlegible" pitchFamily="34" charset="0"/>
                <a:ea typeface="Atkinson Hyperlegible" pitchFamily="34" charset="-122"/>
                <a:cs typeface="Atkinson Hyperlegible" pitchFamily="34" charset="-120"/>
              </a:rPr>
              <a:t>Alto</a:t>
            </a:r>
            <a:endParaRPr lang="en-US" sz="750" dirty="0"/>
          </a:p>
        </p:txBody>
      </p:sp>
      <p:sp>
        <p:nvSpPr>
          <p:cNvPr id="40" name="Text 38"/>
          <p:cNvSpPr/>
          <p:nvPr/>
        </p:nvSpPr>
        <p:spPr>
          <a:xfrm>
            <a:off x="5577840" y="3182112"/>
            <a:ext cx="3127248" cy="438912"/>
          </a:xfrm>
          <a:prstGeom prst="rect">
            <a:avLst/>
          </a:prstGeom>
          <a:noFill/>
          <a:ln/>
        </p:spPr>
        <p:txBody>
          <a:bodyPr wrap="square" rtlCol="0" anchor="t"/>
          <a:lstStyle/>
          <a:p>
            <a:pPr indent="0" marL="0">
              <a:buNone/>
            </a:pPr>
            <a:r>
              <a:rPr lang="en-US" sz="750" dirty="0">
                <a:solidFill>
                  <a:srgbClr val="333333"/>
                </a:solidFill>
                <a:latin typeface="Atkinson Hyperlegible" pitchFamily="34" charset="0"/>
                <a:ea typeface="Atkinson Hyperlegible" pitchFamily="34" charset="-122"/>
                <a:cs typeface="Atkinson Hyperlegible" pitchFamily="34" charset="-120"/>
              </a:rPr>
              <a:t>Change Control formal con análisis de impacto AWP antes de autorizar cualquier cambio</a:t>
            </a:r>
            <a:endParaRPr lang="en-US" sz="750" dirty="0"/>
          </a:p>
        </p:txBody>
      </p:sp>
      <p:sp>
        <p:nvSpPr>
          <p:cNvPr id="41" name="Shape 39"/>
          <p:cNvSpPr/>
          <p:nvPr/>
        </p:nvSpPr>
        <p:spPr>
          <a:xfrm>
            <a:off x="320040" y="3730752"/>
            <a:ext cx="8503920" cy="548640"/>
          </a:xfrm>
          <a:prstGeom prst="rect">
            <a:avLst>
              <a:gd name="adj" fmla="val 5000"/>
            </a:avLst>
          </a:prstGeom>
          <a:solidFill>
            <a:srgbClr val="FFFFFF"/>
          </a:solidFill>
          <a:ln w="6350">
            <a:solidFill>
              <a:srgbClr val="E5E5EA"/>
            </a:solidFill>
            <a:prstDash val="solid"/>
          </a:ln>
        </p:spPr>
      </p:sp>
      <p:sp>
        <p:nvSpPr>
          <p:cNvPr id="42" name="Text 40"/>
          <p:cNvSpPr/>
          <p:nvPr/>
        </p:nvSpPr>
        <p:spPr>
          <a:xfrm>
            <a:off x="411480" y="3785616"/>
            <a:ext cx="3657600" cy="43891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Materiales fuera de tiempo</a:t>
            </a:r>
            <a:endParaRPr lang="en-US" sz="850" dirty="0"/>
          </a:p>
        </p:txBody>
      </p:sp>
      <p:sp>
        <p:nvSpPr>
          <p:cNvPr id="43" name="Shape 41"/>
          <p:cNvSpPr/>
          <p:nvPr/>
        </p:nvSpPr>
        <p:spPr>
          <a:xfrm>
            <a:off x="4206240" y="3840480"/>
            <a:ext cx="566928" cy="329184"/>
          </a:xfrm>
          <a:prstGeom prst="roundRect">
            <a:avLst>
              <a:gd name="adj" fmla="val 11111"/>
            </a:avLst>
          </a:prstGeom>
          <a:solidFill>
            <a:srgbClr val="D4620A"/>
          </a:solidFill>
          <a:ln w="12700">
            <a:solidFill>
              <a:srgbClr val="D4620A"/>
            </a:solidFill>
            <a:prstDash val="solid"/>
          </a:ln>
        </p:spPr>
      </p:sp>
      <p:sp>
        <p:nvSpPr>
          <p:cNvPr id="44" name="Text 42"/>
          <p:cNvSpPr/>
          <p:nvPr/>
        </p:nvSpPr>
        <p:spPr>
          <a:xfrm>
            <a:off x="4206240" y="3840480"/>
            <a:ext cx="566928" cy="329184"/>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Media</a:t>
            </a:r>
            <a:endParaRPr lang="en-US" sz="750" dirty="0"/>
          </a:p>
        </p:txBody>
      </p:sp>
      <p:sp>
        <p:nvSpPr>
          <p:cNvPr id="45" name="Shape 43"/>
          <p:cNvSpPr/>
          <p:nvPr/>
        </p:nvSpPr>
        <p:spPr>
          <a:xfrm>
            <a:off x="4864608" y="3840480"/>
            <a:ext cx="658368" cy="329184"/>
          </a:xfrm>
          <a:prstGeom prst="roundRect">
            <a:avLst>
              <a:gd name="adj" fmla="val 11111"/>
            </a:avLst>
          </a:prstGeom>
          <a:solidFill>
            <a:srgbClr val="C0392B"/>
          </a:solidFill>
          <a:ln w="12700">
            <a:solidFill>
              <a:srgbClr val="C0392B"/>
            </a:solidFill>
            <a:prstDash val="solid"/>
          </a:ln>
        </p:spPr>
      </p:sp>
      <p:sp>
        <p:nvSpPr>
          <p:cNvPr id="46" name="Text 44"/>
          <p:cNvSpPr/>
          <p:nvPr/>
        </p:nvSpPr>
        <p:spPr>
          <a:xfrm>
            <a:off x="4864608" y="3840480"/>
            <a:ext cx="658368" cy="329184"/>
          </a:xfrm>
          <a:prstGeom prst="rect">
            <a:avLst/>
          </a:prstGeom>
          <a:noFill/>
          <a:ln/>
        </p:spPr>
        <p:txBody>
          <a:bodyPr wrap="square" rtlCol="0" anchor="ctr"/>
          <a:lstStyle/>
          <a:p>
            <a:pPr algn="ctr" indent="0" marL="0">
              <a:buNone/>
            </a:pPr>
            <a:r>
              <a:rPr lang="en-US" sz="750" b="1" dirty="0">
                <a:solidFill>
                  <a:srgbClr val="C0392B"/>
                </a:solidFill>
                <a:latin typeface="Atkinson Hyperlegible" pitchFamily="34" charset="0"/>
                <a:ea typeface="Atkinson Hyperlegible" pitchFamily="34" charset="-122"/>
                <a:cs typeface="Atkinson Hyperlegible" pitchFamily="34" charset="-120"/>
              </a:rPr>
              <a:t>Alto</a:t>
            </a:r>
            <a:endParaRPr lang="en-US" sz="750" dirty="0"/>
          </a:p>
        </p:txBody>
      </p:sp>
      <p:sp>
        <p:nvSpPr>
          <p:cNvPr id="47" name="Text 45"/>
          <p:cNvSpPr/>
          <p:nvPr/>
        </p:nvSpPr>
        <p:spPr>
          <a:xfrm>
            <a:off x="5577840" y="3785616"/>
            <a:ext cx="3127248" cy="438912"/>
          </a:xfrm>
          <a:prstGeom prst="rect">
            <a:avLst/>
          </a:prstGeom>
          <a:noFill/>
          <a:ln/>
        </p:spPr>
        <p:txBody>
          <a:bodyPr wrap="square" rtlCol="0" anchor="t"/>
          <a:lstStyle/>
          <a:p>
            <a:pPr indent="0" marL="0">
              <a:buNone/>
            </a:pPr>
            <a:r>
              <a:rPr lang="en-US" sz="750" dirty="0">
                <a:solidFill>
                  <a:srgbClr val="333333"/>
                </a:solidFill>
                <a:latin typeface="Atkinson Hyperlegible" pitchFamily="34" charset="0"/>
                <a:ea typeface="Atkinson Hyperlegible" pitchFamily="34" charset="-122"/>
                <a:cs typeface="Atkinson Hyperlegible" pitchFamily="34" charset="-120"/>
              </a:rPr>
              <a:t>PWP integrado al EDS; lead times auditados mensualmente; buffer de materiales críticos</a:t>
            </a:r>
            <a:endParaRPr lang="en-US" sz="750" dirty="0"/>
          </a:p>
        </p:txBody>
      </p:sp>
      <p:sp>
        <p:nvSpPr>
          <p:cNvPr id="48" name="Shape 46"/>
          <p:cNvSpPr/>
          <p:nvPr/>
        </p:nvSpPr>
        <p:spPr>
          <a:xfrm>
            <a:off x="320040" y="4334256"/>
            <a:ext cx="8503920" cy="548640"/>
          </a:xfrm>
          <a:prstGeom prst="rect">
            <a:avLst>
              <a:gd name="adj" fmla="val 5000"/>
            </a:avLst>
          </a:prstGeom>
          <a:solidFill>
            <a:srgbClr val="FFF5F5"/>
          </a:solidFill>
          <a:ln w="6350">
            <a:solidFill>
              <a:srgbClr val="E5E5EA"/>
            </a:solidFill>
            <a:prstDash val="solid"/>
          </a:ln>
        </p:spPr>
      </p:sp>
      <p:sp>
        <p:nvSpPr>
          <p:cNvPr id="49" name="Text 47"/>
          <p:cNvSpPr/>
          <p:nvPr/>
        </p:nvSpPr>
        <p:spPr>
          <a:xfrm>
            <a:off x="411480" y="4389120"/>
            <a:ext cx="3657600" cy="43891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Rotación de personal AWP-trained</a:t>
            </a:r>
            <a:endParaRPr lang="en-US" sz="850" dirty="0"/>
          </a:p>
        </p:txBody>
      </p:sp>
      <p:sp>
        <p:nvSpPr>
          <p:cNvPr id="50" name="Shape 48"/>
          <p:cNvSpPr/>
          <p:nvPr/>
        </p:nvSpPr>
        <p:spPr>
          <a:xfrm>
            <a:off x="4206240" y="4443984"/>
            <a:ext cx="566928" cy="329184"/>
          </a:xfrm>
          <a:prstGeom prst="roundRect">
            <a:avLst>
              <a:gd name="adj" fmla="val 11111"/>
            </a:avLst>
          </a:prstGeom>
          <a:solidFill>
            <a:srgbClr val="C0392B"/>
          </a:solidFill>
          <a:ln w="12700">
            <a:solidFill>
              <a:srgbClr val="C0392B"/>
            </a:solidFill>
            <a:prstDash val="solid"/>
          </a:ln>
        </p:spPr>
      </p:sp>
      <p:sp>
        <p:nvSpPr>
          <p:cNvPr id="51" name="Text 49"/>
          <p:cNvSpPr/>
          <p:nvPr/>
        </p:nvSpPr>
        <p:spPr>
          <a:xfrm>
            <a:off x="4206240" y="4443984"/>
            <a:ext cx="566928" cy="329184"/>
          </a:xfrm>
          <a:prstGeom prst="rect">
            <a:avLst/>
          </a:prstGeom>
          <a:noFill/>
          <a:ln/>
        </p:spPr>
        <p:txBody>
          <a:bodyPr wrap="square" rtlCol="0" anchor="ctr"/>
          <a:lstStyle/>
          <a:p>
            <a:pPr algn="ctr" indent="0" marL="0">
              <a:buNone/>
            </a:pPr>
            <a:r>
              <a:rPr lang="en-US" sz="750" b="1" dirty="0">
                <a:solidFill>
                  <a:srgbClr val="FFFFFF"/>
                </a:solidFill>
                <a:latin typeface="Atkinson Hyperlegible" pitchFamily="34" charset="0"/>
                <a:ea typeface="Atkinson Hyperlegible" pitchFamily="34" charset="-122"/>
                <a:cs typeface="Atkinson Hyperlegible" pitchFamily="34" charset="-120"/>
              </a:rPr>
              <a:t>Alta</a:t>
            </a:r>
            <a:endParaRPr lang="en-US" sz="750" dirty="0"/>
          </a:p>
        </p:txBody>
      </p:sp>
      <p:sp>
        <p:nvSpPr>
          <p:cNvPr id="52" name="Shape 50"/>
          <p:cNvSpPr/>
          <p:nvPr/>
        </p:nvSpPr>
        <p:spPr>
          <a:xfrm>
            <a:off x="4864608" y="4443984"/>
            <a:ext cx="658368" cy="329184"/>
          </a:xfrm>
          <a:prstGeom prst="roundRect">
            <a:avLst>
              <a:gd name="adj" fmla="val 11111"/>
            </a:avLst>
          </a:prstGeom>
          <a:solidFill>
            <a:srgbClr val="D4620A"/>
          </a:solidFill>
          <a:ln w="12700">
            <a:solidFill>
              <a:srgbClr val="D4620A"/>
            </a:solidFill>
            <a:prstDash val="solid"/>
          </a:ln>
        </p:spPr>
      </p:sp>
      <p:sp>
        <p:nvSpPr>
          <p:cNvPr id="53" name="Text 51"/>
          <p:cNvSpPr/>
          <p:nvPr/>
        </p:nvSpPr>
        <p:spPr>
          <a:xfrm>
            <a:off x="4864608" y="4443984"/>
            <a:ext cx="658368" cy="329184"/>
          </a:xfrm>
          <a:prstGeom prst="rect">
            <a:avLst/>
          </a:prstGeom>
          <a:noFill/>
          <a:ln/>
        </p:spPr>
        <p:txBody>
          <a:bodyPr wrap="square" rtlCol="0" anchor="ctr"/>
          <a:lstStyle/>
          <a:p>
            <a:pPr algn="ctr" indent="0" marL="0">
              <a:buNone/>
            </a:pPr>
            <a:r>
              <a:rPr lang="en-US" sz="750" b="1" dirty="0">
                <a:solidFill>
                  <a:srgbClr val="D4620A"/>
                </a:solidFill>
                <a:latin typeface="Atkinson Hyperlegible" pitchFamily="34" charset="0"/>
                <a:ea typeface="Atkinson Hyperlegible" pitchFamily="34" charset="-122"/>
                <a:cs typeface="Atkinson Hyperlegible" pitchFamily="34" charset="-120"/>
              </a:rPr>
              <a:t>Medio</a:t>
            </a:r>
            <a:endParaRPr lang="en-US" sz="750" dirty="0"/>
          </a:p>
        </p:txBody>
      </p:sp>
      <p:sp>
        <p:nvSpPr>
          <p:cNvPr id="54" name="Text 52"/>
          <p:cNvSpPr/>
          <p:nvPr/>
        </p:nvSpPr>
        <p:spPr>
          <a:xfrm>
            <a:off x="5577840" y="4389120"/>
            <a:ext cx="3127248" cy="438912"/>
          </a:xfrm>
          <a:prstGeom prst="rect">
            <a:avLst/>
          </a:prstGeom>
          <a:noFill/>
          <a:ln/>
        </p:spPr>
        <p:txBody>
          <a:bodyPr wrap="square" rtlCol="0" anchor="t"/>
          <a:lstStyle/>
          <a:p>
            <a:pPr indent="0" marL="0">
              <a:buNone/>
            </a:pPr>
            <a:r>
              <a:rPr lang="en-US" sz="750" dirty="0">
                <a:solidFill>
                  <a:srgbClr val="333333"/>
                </a:solidFill>
                <a:latin typeface="Atkinson Hyperlegible" pitchFamily="34" charset="0"/>
                <a:ea typeface="Atkinson Hyperlegible" pitchFamily="34" charset="-122"/>
                <a:cs typeface="Atkinson Hyperlegible" pitchFamily="34" charset="-120"/>
              </a:rPr>
              <a:t>Programa de certificación interno; procedimientos documentados; CoP como respaldo</a:t>
            </a:r>
            <a:endParaRPr lang="en-US" sz="7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4620A"/>
          </a:solidFill>
          <a:ln w="12700">
            <a:solidFill>
              <a:srgbClr val="D4620A"/>
            </a:solidFill>
            <a:prstDash val="solid"/>
          </a:ln>
        </p:spPr>
      </p:sp>
      <p:sp>
        <p:nvSpPr>
          <p:cNvPr id="3" name="Shape 1"/>
          <p:cNvSpPr/>
          <p:nvPr/>
        </p:nvSpPr>
        <p:spPr>
          <a:xfrm>
            <a:off x="164592" y="4956048"/>
            <a:ext cx="8979408" cy="182880"/>
          </a:xfrm>
          <a:prstGeom prst="rect">
            <a:avLst/>
          </a:prstGeom>
          <a:solidFill>
            <a:srgbClr val="D4620A"/>
          </a:solidFill>
          <a:ln w="12700">
            <a:solidFill>
              <a:srgbClr val="D4620A"/>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107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Gestión de Procura Integrada al AWP</a:t>
            </a:r>
            <a:endParaRPr lang="en-US" sz="1800" dirty="0"/>
          </a:p>
        </p:txBody>
      </p:sp>
      <p:sp>
        <p:nvSpPr>
          <p:cNvPr id="6" name="Shape 4"/>
          <p:cNvSpPr/>
          <p:nvPr/>
        </p:nvSpPr>
        <p:spPr>
          <a:xfrm>
            <a:off x="320040" y="621792"/>
            <a:ext cx="8503920" cy="41148"/>
          </a:xfrm>
          <a:prstGeom prst="rect">
            <a:avLst/>
          </a:prstGeom>
          <a:solidFill>
            <a:srgbClr val="D4620A"/>
          </a:solidFill>
          <a:ln w="12700">
            <a:solidFill>
              <a:srgbClr val="D4620A"/>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D4620A"/>
                </a:solidFill>
                <a:latin typeface="Atkinson Hyperlegible" pitchFamily="34" charset="0"/>
                <a:ea typeface="Atkinson Hyperlegible" pitchFamily="34" charset="-122"/>
                <a:cs typeface="Atkinson Hyperlegible" pitchFamily="34" charset="-120"/>
              </a:rPr>
              <a:t>PWP — Procurement Work Package: sincronización de materiales con IWPs</a:t>
            </a:r>
            <a:endParaRPr lang="en-US" sz="900" dirty="0"/>
          </a:p>
        </p:txBody>
      </p:sp>
      <p:sp>
        <p:nvSpPr>
          <p:cNvPr id="8" name="Shape 6"/>
          <p:cNvSpPr/>
          <p:nvPr/>
        </p:nvSpPr>
        <p:spPr>
          <a:xfrm>
            <a:off x="3566160" y="960120"/>
            <a:ext cx="2011680" cy="530352"/>
          </a:xfrm>
          <a:prstGeom prst="rect">
            <a:avLst>
              <a:gd name="adj" fmla="val 10345"/>
            </a:avLst>
          </a:prstGeom>
          <a:solidFill>
            <a:srgbClr val="D4620A"/>
          </a:solidFill>
          <a:ln w="12700">
            <a:solidFill>
              <a:srgbClr val="D4620A"/>
            </a:solidFill>
            <a:prstDash val="solid"/>
          </a:ln>
        </p:spPr>
      </p:sp>
      <p:sp>
        <p:nvSpPr>
          <p:cNvPr id="9" name="Text 7"/>
          <p:cNvSpPr/>
          <p:nvPr/>
        </p:nvSpPr>
        <p:spPr>
          <a:xfrm>
            <a:off x="3566160" y="960120"/>
            <a:ext cx="2011680" cy="530352"/>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PWP — Procurement Work Package</a:t>
            </a:r>
            <a:endParaRPr lang="en-US" sz="900" dirty="0"/>
          </a:p>
        </p:txBody>
      </p:sp>
      <p:sp>
        <p:nvSpPr>
          <p:cNvPr id="10" name="Shape 8"/>
          <p:cNvSpPr/>
          <p:nvPr/>
        </p:nvSpPr>
        <p:spPr>
          <a:xfrm>
            <a:off x="4562856" y="1490472"/>
            <a:ext cx="18288" cy="320040"/>
          </a:xfrm>
          <a:prstGeom prst="line">
            <a:avLst/>
          </a:prstGeom>
          <a:noFill/>
          <a:ln w="19050">
            <a:solidFill>
              <a:srgbClr val="D4620A"/>
            </a:solidFill>
            <a:prstDash val="solid"/>
          </a:ln>
        </p:spPr>
      </p:sp>
      <p:sp>
        <p:nvSpPr>
          <p:cNvPr id="11" name="Shape 9"/>
          <p:cNvSpPr/>
          <p:nvPr/>
        </p:nvSpPr>
        <p:spPr>
          <a:xfrm>
            <a:off x="1463040" y="1801368"/>
            <a:ext cx="6217920" cy="18288"/>
          </a:xfrm>
          <a:prstGeom prst="line">
            <a:avLst/>
          </a:prstGeom>
          <a:noFill/>
          <a:ln w="15240">
            <a:solidFill>
              <a:srgbClr val="D4620A"/>
            </a:solidFill>
            <a:prstDash val="solid"/>
          </a:ln>
        </p:spPr>
      </p:sp>
      <p:sp>
        <p:nvSpPr>
          <p:cNvPr id="12" name="Shape 10"/>
          <p:cNvSpPr/>
          <p:nvPr/>
        </p:nvSpPr>
        <p:spPr>
          <a:xfrm>
            <a:off x="1453896" y="1801368"/>
            <a:ext cx="18288" cy="256032"/>
          </a:xfrm>
          <a:prstGeom prst="line">
            <a:avLst/>
          </a:prstGeom>
          <a:noFill/>
          <a:ln w="15240">
            <a:solidFill>
              <a:srgbClr val="D4620A"/>
            </a:solidFill>
            <a:prstDash val="solid"/>
          </a:ln>
        </p:spPr>
      </p:sp>
      <p:sp>
        <p:nvSpPr>
          <p:cNvPr id="13" name="Shape 11"/>
          <p:cNvSpPr/>
          <p:nvPr/>
        </p:nvSpPr>
        <p:spPr>
          <a:xfrm>
            <a:off x="777240" y="2066544"/>
            <a:ext cx="1371600" cy="512064"/>
          </a:xfrm>
          <a:prstGeom prst="roundRect">
            <a:avLst>
              <a:gd name="adj" fmla="val 8929"/>
            </a:avLst>
          </a:prstGeom>
          <a:solidFill>
            <a:srgbClr val="FFFFFF"/>
          </a:solidFill>
          <a:ln w="12700">
            <a:solidFill>
              <a:srgbClr val="D4620A"/>
            </a:solidFill>
            <a:prstDash val="solid"/>
          </a:ln>
        </p:spPr>
      </p:sp>
      <p:sp>
        <p:nvSpPr>
          <p:cNvPr id="14" name="Text 12"/>
          <p:cNvSpPr/>
          <p:nvPr/>
        </p:nvSpPr>
        <p:spPr>
          <a:xfrm>
            <a:off x="777240" y="2066544"/>
            <a:ext cx="1371600" cy="512064"/>
          </a:xfrm>
          <a:prstGeom prst="rect">
            <a:avLst/>
          </a:prstGeom>
          <a:noFill/>
          <a:ln/>
        </p:spPr>
        <p:txBody>
          <a:bodyPr wrap="square" rtlCol="0" anchor="ctr"/>
          <a:lstStyle/>
          <a:p>
            <a:pPr algn="ct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Material BOM</a:t>
            </a:r>
            <a:endParaRPr lang="en-US" sz="750" dirty="0"/>
          </a:p>
        </p:txBody>
      </p:sp>
      <p:sp>
        <p:nvSpPr>
          <p:cNvPr id="15" name="Shape 13"/>
          <p:cNvSpPr/>
          <p:nvPr/>
        </p:nvSpPr>
        <p:spPr>
          <a:xfrm>
            <a:off x="3008376" y="1801368"/>
            <a:ext cx="18288" cy="256032"/>
          </a:xfrm>
          <a:prstGeom prst="line">
            <a:avLst/>
          </a:prstGeom>
          <a:noFill/>
          <a:ln w="15240">
            <a:solidFill>
              <a:srgbClr val="D4620A"/>
            </a:solidFill>
            <a:prstDash val="solid"/>
          </a:ln>
        </p:spPr>
      </p:sp>
      <p:sp>
        <p:nvSpPr>
          <p:cNvPr id="16" name="Shape 14"/>
          <p:cNvSpPr/>
          <p:nvPr/>
        </p:nvSpPr>
        <p:spPr>
          <a:xfrm>
            <a:off x="2331720" y="2066544"/>
            <a:ext cx="1371600" cy="512064"/>
          </a:xfrm>
          <a:prstGeom prst="roundRect">
            <a:avLst>
              <a:gd name="adj" fmla="val 8929"/>
            </a:avLst>
          </a:prstGeom>
          <a:solidFill>
            <a:srgbClr val="FFFFFF"/>
          </a:solidFill>
          <a:ln w="12700">
            <a:solidFill>
              <a:srgbClr val="D4620A"/>
            </a:solidFill>
            <a:prstDash val="solid"/>
          </a:ln>
        </p:spPr>
      </p:sp>
      <p:sp>
        <p:nvSpPr>
          <p:cNvPr id="17" name="Text 15"/>
          <p:cNvSpPr/>
          <p:nvPr/>
        </p:nvSpPr>
        <p:spPr>
          <a:xfrm>
            <a:off x="2331720" y="2066544"/>
            <a:ext cx="1371600" cy="512064"/>
          </a:xfrm>
          <a:prstGeom prst="rect">
            <a:avLst/>
          </a:prstGeom>
          <a:noFill/>
          <a:ln/>
        </p:spPr>
        <p:txBody>
          <a:bodyPr wrap="square" rtlCol="0" anchor="ctr"/>
          <a:lstStyle/>
          <a:p>
            <a:pPr algn="ct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Lead Time Matrix</a:t>
            </a:r>
            <a:endParaRPr lang="en-US" sz="750" dirty="0"/>
          </a:p>
        </p:txBody>
      </p:sp>
      <p:sp>
        <p:nvSpPr>
          <p:cNvPr id="18" name="Shape 16"/>
          <p:cNvSpPr/>
          <p:nvPr/>
        </p:nvSpPr>
        <p:spPr>
          <a:xfrm>
            <a:off x="4562856" y="1801368"/>
            <a:ext cx="18288" cy="256032"/>
          </a:xfrm>
          <a:prstGeom prst="line">
            <a:avLst/>
          </a:prstGeom>
          <a:noFill/>
          <a:ln w="15240">
            <a:solidFill>
              <a:srgbClr val="D4620A"/>
            </a:solidFill>
            <a:prstDash val="solid"/>
          </a:ln>
        </p:spPr>
      </p:sp>
      <p:sp>
        <p:nvSpPr>
          <p:cNvPr id="19" name="Shape 17"/>
          <p:cNvSpPr/>
          <p:nvPr/>
        </p:nvSpPr>
        <p:spPr>
          <a:xfrm>
            <a:off x="3886200" y="2066544"/>
            <a:ext cx="1371600" cy="512064"/>
          </a:xfrm>
          <a:prstGeom prst="roundRect">
            <a:avLst>
              <a:gd name="adj" fmla="val 8929"/>
            </a:avLst>
          </a:prstGeom>
          <a:solidFill>
            <a:srgbClr val="FFFFFF"/>
          </a:solidFill>
          <a:ln w="12700">
            <a:solidFill>
              <a:srgbClr val="D4620A"/>
            </a:solidFill>
            <a:prstDash val="solid"/>
          </a:ln>
        </p:spPr>
      </p:sp>
      <p:sp>
        <p:nvSpPr>
          <p:cNvPr id="20" name="Text 18"/>
          <p:cNvSpPr/>
          <p:nvPr/>
        </p:nvSpPr>
        <p:spPr>
          <a:xfrm>
            <a:off x="3886200" y="2066544"/>
            <a:ext cx="1371600" cy="512064"/>
          </a:xfrm>
          <a:prstGeom prst="rect">
            <a:avLst/>
          </a:prstGeom>
          <a:noFill/>
          <a:ln/>
        </p:spPr>
        <p:txBody>
          <a:bodyPr wrap="square" rtlCol="0" anchor="ctr"/>
          <a:lstStyle/>
          <a:p>
            <a:pPr algn="ct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PWP Schedule</a:t>
            </a:r>
            <a:endParaRPr lang="en-US" sz="750" dirty="0"/>
          </a:p>
        </p:txBody>
      </p:sp>
      <p:sp>
        <p:nvSpPr>
          <p:cNvPr id="21" name="Shape 19"/>
          <p:cNvSpPr/>
          <p:nvPr/>
        </p:nvSpPr>
        <p:spPr>
          <a:xfrm>
            <a:off x="6117336" y="1801368"/>
            <a:ext cx="18288" cy="256032"/>
          </a:xfrm>
          <a:prstGeom prst="line">
            <a:avLst/>
          </a:prstGeom>
          <a:noFill/>
          <a:ln w="15240">
            <a:solidFill>
              <a:srgbClr val="D4620A"/>
            </a:solidFill>
            <a:prstDash val="solid"/>
          </a:ln>
        </p:spPr>
      </p:sp>
      <p:sp>
        <p:nvSpPr>
          <p:cNvPr id="22" name="Shape 20"/>
          <p:cNvSpPr/>
          <p:nvPr/>
        </p:nvSpPr>
        <p:spPr>
          <a:xfrm>
            <a:off x="5440680" y="2066544"/>
            <a:ext cx="1371600" cy="512064"/>
          </a:xfrm>
          <a:prstGeom prst="roundRect">
            <a:avLst>
              <a:gd name="adj" fmla="val 8929"/>
            </a:avLst>
          </a:prstGeom>
          <a:solidFill>
            <a:srgbClr val="FFFFFF"/>
          </a:solidFill>
          <a:ln w="12700">
            <a:solidFill>
              <a:srgbClr val="D4620A"/>
            </a:solidFill>
            <a:prstDash val="solid"/>
          </a:ln>
        </p:spPr>
      </p:sp>
      <p:sp>
        <p:nvSpPr>
          <p:cNvPr id="23" name="Text 21"/>
          <p:cNvSpPr/>
          <p:nvPr/>
        </p:nvSpPr>
        <p:spPr>
          <a:xfrm>
            <a:off x="5440680" y="2066544"/>
            <a:ext cx="1371600" cy="512064"/>
          </a:xfrm>
          <a:prstGeom prst="rect">
            <a:avLst/>
          </a:prstGeom>
          <a:noFill/>
          <a:ln/>
        </p:spPr>
        <p:txBody>
          <a:bodyPr wrap="square" rtlCol="0" anchor="ctr"/>
          <a:lstStyle/>
          <a:p>
            <a:pPr algn="ct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Receiving Plan</a:t>
            </a:r>
            <a:endParaRPr lang="en-US" sz="750" dirty="0"/>
          </a:p>
        </p:txBody>
      </p:sp>
      <p:sp>
        <p:nvSpPr>
          <p:cNvPr id="24" name="Shape 22"/>
          <p:cNvSpPr/>
          <p:nvPr/>
        </p:nvSpPr>
        <p:spPr>
          <a:xfrm>
            <a:off x="7671816" y="1801368"/>
            <a:ext cx="18288" cy="256032"/>
          </a:xfrm>
          <a:prstGeom prst="line">
            <a:avLst/>
          </a:prstGeom>
          <a:noFill/>
          <a:ln w="15240">
            <a:solidFill>
              <a:srgbClr val="D4620A"/>
            </a:solidFill>
            <a:prstDash val="solid"/>
          </a:ln>
        </p:spPr>
      </p:sp>
      <p:sp>
        <p:nvSpPr>
          <p:cNvPr id="25" name="Shape 23"/>
          <p:cNvSpPr/>
          <p:nvPr/>
        </p:nvSpPr>
        <p:spPr>
          <a:xfrm>
            <a:off x="6995160" y="2066544"/>
            <a:ext cx="1371600" cy="512064"/>
          </a:xfrm>
          <a:prstGeom prst="roundRect">
            <a:avLst>
              <a:gd name="adj" fmla="val 8929"/>
            </a:avLst>
          </a:prstGeom>
          <a:solidFill>
            <a:srgbClr val="FFFFFF"/>
          </a:solidFill>
          <a:ln w="12700">
            <a:solidFill>
              <a:srgbClr val="D4620A"/>
            </a:solidFill>
            <a:prstDash val="solid"/>
          </a:ln>
        </p:spPr>
      </p:sp>
      <p:sp>
        <p:nvSpPr>
          <p:cNvPr id="26" name="Text 24"/>
          <p:cNvSpPr/>
          <p:nvPr/>
        </p:nvSpPr>
        <p:spPr>
          <a:xfrm>
            <a:off x="6995160" y="2066544"/>
            <a:ext cx="1371600" cy="512064"/>
          </a:xfrm>
          <a:prstGeom prst="rect">
            <a:avLst/>
          </a:prstGeom>
          <a:noFill/>
          <a:ln/>
        </p:spPr>
        <p:txBody>
          <a:bodyPr wrap="square" rtlCol="0" anchor="ctr"/>
          <a:lstStyle/>
          <a:p>
            <a:pPr algn="ct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Lay-down Areas</a:t>
            </a:r>
            <a:endParaRPr lang="en-US" sz="750" dirty="0"/>
          </a:p>
        </p:txBody>
      </p:sp>
      <p:sp>
        <p:nvSpPr>
          <p:cNvPr id="27" name="Shape 25"/>
          <p:cNvSpPr/>
          <p:nvPr/>
        </p:nvSpPr>
        <p:spPr>
          <a:xfrm>
            <a:off x="320040" y="3310128"/>
            <a:ext cx="4023360" cy="914400"/>
          </a:xfrm>
          <a:prstGeom prst="rect">
            <a:avLst>
              <a:gd name="adj" fmla="val 6000"/>
            </a:avLst>
          </a:prstGeom>
          <a:solidFill>
            <a:srgbClr val="FFFFFF"/>
          </a:solidFill>
          <a:ln w="6350">
            <a:solidFill>
              <a:srgbClr val="E5E5EA"/>
            </a:solidFill>
            <a:prstDash val="solid"/>
          </a:ln>
        </p:spPr>
      </p:sp>
      <p:pic>
        <p:nvPicPr>
          <p:cNvPr id="2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38912" y="3401568"/>
            <a:ext cx="329184" cy="329184"/>
          </a:xfrm>
          <a:prstGeom prst="rect">
            <a:avLst/>
          </a:prstGeom>
        </p:spPr>
      </p:pic>
      <p:sp>
        <p:nvSpPr>
          <p:cNvPr id="29" name="Text 26"/>
          <p:cNvSpPr/>
          <p:nvPr/>
        </p:nvSpPr>
        <p:spPr>
          <a:xfrm>
            <a:off x="795528" y="337413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BOM por IWP</a:t>
            </a:r>
            <a:endParaRPr lang="en-US" sz="900" dirty="0"/>
          </a:p>
        </p:txBody>
      </p:sp>
      <p:sp>
        <p:nvSpPr>
          <p:cNvPr id="30" name="Text 27"/>
          <p:cNvSpPr/>
          <p:nvPr/>
        </p:nvSpPr>
        <p:spPr>
          <a:xfrm>
            <a:off x="795528" y="3602736"/>
            <a:ext cx="3429000" cy="548640"/>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Lista de materiales generada automáticamente desde modelo BIM o lista de cantidades del IWP. Base del PWP.</a:t>
            </a:r>
            <a:endParaRPr lang="en-US" sz="750" dirty="0"/>
          </a:p>
        </p:txBody>
      </p:sp>
      <p:sp>
        <p:nvSpPr>
          <p:cNvPr id="31" name="Shape 28"/>
          <p:cNvSpPr/>
          <p:nvPr/>
        </p:nvSpPr>
        <p:spPr>
          <a:xfrm>
            <a:off x="4663440" y="3310128"/>
            <a:ext cx="4023360" cy="914400"/>
          </a:xfrm>
          <a:prstGeom prst="rect">
            <a:avLst>
              <a:gd name="adj" fmla="val 6000"/>
            </a:avLst>
          </a:prstGeom>
          <a:solidFill>
            <a:srgbClr val="FFFFFF"/>
          </a:solidFill>
          <a:ln w="6350">
            <a:solidFill>
              <a:srgbClr val="E5E5EA"/>
            </a:solidFill>
            <a:prstDash val="solid"/>
          </a:ln>
        </p:spPr>
      </p:sp>
      <p:pic>
        <p:nvPicPr>
          <p:cNvPr id="3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82312" y="3401568"/>
            <a:ext cx="329184" cy="329184"/>
          </a:xfrm>
          <a:prstGeom prst="rect">
            <a:avLst/>
          </a:prstGeom>
        </p:spPr>
      </p:pic>
      <p:sp>
        <p:nvSpPr>
          <p:cNvPr id="33" name="Text 29"/>
          <p:cNvSpPr/>
          <p:nvPr/>
        </p:nvSpPr>
        <p:spPr>
          <a:xfrm>
            <a:off x="5138928" y="337413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Fecha Necesaria</a:t>
            </a:r>
            <a:endParaRPr lang="en-US" sz="900" dirty="0"/>
          </a:p>
        </p:txBody>
      </p:sp>
      <p:sp>
        <p:nvSpPr>
          <p:cNvPr id="34" name="Text 30"/>
          <p:cNvSpPr/>
          <p:nvPr/>
        </p:nvSpPr>
        <p:spPr>
          <a:xfrm>
            <a:off x="5138928" y="3602736"/>
            <a:ext cx="3429000" cy="548640"/>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Fecha de necesidad = inicio del IWP − tiempo de instalación previo. Retroalimenta al PO del ítem.</a:t>
            </a:r>
            <a:endParaRPr lang="en-US" sz="750" dirty="0"/>
          </a:p>
        </p:txBody>
      </p:sp>
      <p:sp>
        <p:nvSpPr>
          <p:cNvPr id="35" name="Shape 31"/>
          <p:cNvSpPr/>
          <p:nvPr/>
        </p:nvSpPr>
        <p:spPr>
          <a:xfrm>
            <a:off x="320040" y="4315968"/>
            <a:ext cx="4023360" cy="914400"/>
          </a:xfrm>
          <a:prstGeom prst="rect">
            <a:avLst>
              <a:gd name="adj" fmla="val 6000"/>
            </a:avLst>
          </a:prstGeom>
          <a:solidFill>
            <a:srgbClr val="FFFFFF"/>
          </a:solidFill>
          <a:ln w="6350">
            <a:solidFill>
              <a:srgbClr val="E5E5EA"/>
            </a:solidFill>
            <a:prstDash val="solid"/>
          </a:ln>
        </p:spPr>
      </p:sp>
      <p:pic>
        <p:nvPicPr>
          <p:cNvPr id="3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8912" y="4407408"/>
            <a:ext cx="329184" cy="329184"/>
          </a:xfrm>
          <a:prstGeom prst="rect">
            <a:avLst/>
          </a:prstGeom>
        </p:spPr>
      </p:pic>
      <p:sp>
        <p:nvSpPr>
          <p:cNvPr id="37" name="Text 32"/>
          <p:cNvSpPr/>
          <p:nvPr/>
        </p:nvSpPr>
        <p:spPr>
          <a:xfrm>
            <a:off x="795528" y="437997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Lead Time Crítico</a:t>
            </a:r>
            <a:endParaRPr lang="en-US" sz="900" dirty="0"/>
          </a:p>
        </p:txBody>
      </p:sp>
      <p:sp>
        <p:nvSpPr>
          <p:cNvPr id="38" name="Text 33"/>
          <p:cNvSpPr/>
          <p:nvPr/>
        </p:nvSpPr>
        <p:spPr>
          <a:xfrm>
            <a:off x="795528" y="4608576"/>
            <a:ext cx="3429000" cy="548640"/>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Items con lead time &gt;16 semanas identificados en EDS como hitos de procura. Seguimiento semanal.</a:t>
            </a:r>
            <a:endParaRPr lang="en-US" sz="750" dirty="0"/>
          </a:p>
        </p:txBody>
      </p:sp>
      <p:sp>
        <p:nvSpPr>
          <p:cNvPr id="39" name="Shape 34"/>
          <p:cNvSpPr/>
          <p:nvPr/>
        </p:nvSpPr>
        <p:spPr>
          <a:xfrm>
            <a:off x="4663440" y="4315968"/>
            <a:ext cx="4023360" cy="914400"/>
          </a:xfrm>
          <a:prstGeom prst="rect">
            <a:avLst>
              <a:gd name="adj" fmla="val 6000"/>
            </a:avLst>
          </a:prstGeom>
          <a:solidFill>
            <a:srgbClr val="FFFFFF"/>
          </a:solidFill>
          <a:ln w="6350">
            <a:solidFill>
              <a:srgbClr val="E5E5EA"/>
            </a:solidFill>
            <a:prstDash val="solid"/>
          </a:ln>
        </p:spPr>
      </p:sp>
      <p:pic>
        <p:nvPicPr>
          <p:cNvPr id="4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82312" y="4407408"/>
            <a:ext cx="329184" cy="329184"/>
          </a:xfrm>
          <a:prstGeom prst="rect">
            <a:avLst/>
          </a:prstGeom>
        </p:spPr>
      </p:pic>
      <p:sp>
        <p:nvSpPr>
          <p:cNvPr id="41" name="Text 35"/>
          <p:cNvSpPr/>
          <p:nvPr/>
        </p:nvSpPr>
        <p:spPr>
          <a:xfrm>
            <a:off x="5138928" y="437997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Receiving &amp; Inspection</a:t>
            </a:r>
            <a:endParaRPr lang="en-US" sz="900" dirty="0"/>
          </a:p>
        </p:txBody>
      </p:sp>
      <p:sp>
        <p:nvSpPr>
          <p:cNvPr id="42" name="Text 36"/>
          <p:cNvSpPr/>
          <p:nvPr/>
        </p:nvSpPr>
        <p:spPr>
          <a:xfrm>
            <a:off x="5138928" y="4608576"/>
            <a:ext cx="3429000" cy="548640"/>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IWP no pasa RTI sin materiales en obra, inspeccionados y liberados. Integration con QC.</a:t>
            </a:r>
            <a:endParaRPr lang="en-US" sz="7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E9E"/>
          </a:solidFill>
          <a:ln w="12700">
            <a:solidFill>
              <a:srgbClr val="0E9E9E"/>
            </a:solidFill>
            <a:prstDash val="solid"/>
          </a:ln>
        </p:spPr>
      </p:sp>
      <p:sp>
        <p:nvSpPr>
          <p:cNvPr id="3" name="Shape 1"/>
          <p:cNvSpPr/>
          <p:nvPr/>
        </p:nvSpPr>
        <p:spPr>
          <a:xfrm>
            <a:off x="164592" y="4956048"/>
            <a:ext cx="8979408" cy="182880"/>
          </a:xfrm>
          <a:prstGeom prst="rect">
            <a:avLst/>
          </a:prstGeom>
          <a:solidFill>
            <a:srgbClr val="0E9E9E"/>
          </a:solidFill>
          <a:ln w="12700">
            <a:solidFill>
              <a:srgbClr val="0E9E9E"/>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108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AWP en Proyectos Lineales: Gasoductos y Minería</a:t>
            </a:r>
            <a:endParaRPr lang="en-US" sz="1800" dirty="0"/>
          </a:p>
        </p:txBody>
      </p:sp>
      <p:sp>
        <p:nvSpPr>
          <p:cNvPr id="6" name="Shape 4"/>
          <p:cNvSpPr/>
          <p:nvPr/>
        </p:nvSpPr>
        <p:spPr>
          <a:xfrm>
            <a:off x="320040" y="621792"/>
            <a:ext cx="8503920" cy="41148"/>
          </a:xfrm>
          <a:prstGeom prst="rect">
            <a:avLst/>
          </a:prstGeom>
          <a:solidFill>
            <a:srgbClr val="0E9E9E"/>
          </a:solidFill>
          <a:ln w="12700">
            <a:solidFill>
              <a:srgbClr val="0E9E9E"/>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E9E9E"/>
                </a:solidFill>
                <a:latin typeface="Atkinson Hyperlegible" pitchFamily="34" charset="0"/>
                <a:ea typeface="Atkinson Hyperlegible" pitchFamily="34" charset="-122"/>
                <a:cs typeface="Atkinson Hyperlegible" pitchFamily="34" charset="-120"/>
              </a:rPr>
              <a:t>Adaptación del marco de work packaging a proyectos con geometría longitudinal</a:t>
            </a:r>
            <a:endParaRPr lang="en-US" sz="900" dirty="0"/>
          </a:p>
        </p:txBody>
      </p:sp>
      <p:sp>
        <p:nvSpPr>
          <p:cNvPr id="8" name="Shape 6"/>
          <p:cNvSpPr/>
          <p:nvPr/>
        </p:nvSpPr>
        <p:spPr>
          <a:xfrm>
            <a:off x="3913632" y="2560320"/>
            <a:ext cx="1316736" cy="731520"/>
          </a:xfrm>
          <a:prstGeom prst="ellipse">
            <a:avLst/>
          </a:prstGeom>
          <a:solidFill>
            <a:srgbClr val="0E9E9E"/>
          </a:solidFill>
          <a:ln w="12700">
            <a:solidFill>
              <a:srgbClr val="0E9E9E"/>
            </a:solidFill>
            <a:prstDash val="solid"/>
          </a:ln>
        </p:spPr>
      </p:sp>
      <p:sp>
        <p:nvSpPr>
          <p:cNvPr id="9" name="Text 7"/>
          <p:cNvSpPr/>
          <p:nvPr/>
        </p:nvSpPr>
        <p:spPr>
          <a:xfrm>
            <a:off x="3913632" y="2560320"/>
            <a:ext cx="1316736" cy="731520"/>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Proyectos</a:t>
            </a:r>
            <a:endParaRPr lang="en-US" sz="850" dirty="0"/>
          </a:p>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Lineales AWP</a:t>
            </a:r>
            <a:endParaRPr lang="en-US" sz="850" dirty="0"/>
          </a:p>
        </p:txBody>
      </p:sp>
      <p:sp>
        <p:nvSpPr>
          <p:cNvPr id="10" name="Shape 8"/>
          <p:cNvSpPr/>
          <p:nvPr/>
        </p:nvSpPr>
        <p:spPr>
          <a:xfrm flipV="1">
            <a:off x="4572000" y="1794967"/>
            <a:ext cx="18288" cy="747065"/>
          </a:xfrm>
          <a:prstGeom prst="line">
            <a:avLst/>
          </a:prstGeom>
          <a:noFill/>
          <a:ln w="12700">
            <a:solidFill>
              <a:srgbClr val="0E9E9E"/>
            </a:solidFill>
            <a:prstDash val="solid"/>
          </a:ln>
        </p:spPr>
      </p:sp>
      <p:sp>
        <p:nvSpPr>
          <p:cNvPr id="11" name="Shape 9"/>
          <p:cNvSpPr/>
          <p:nvPr/>
        </p:nvSpPr>
        <p:spPr>
          <a:xfrm>
            <a:off x="3913632" y="1282903"/>
            <a:ext cx="1316736" cy="566928"/>
          </a:xfrm>
          <a:prstGeom prst="roundRect">
            <a:avLst>
              <a:gd name="adj" fmla="val 9677"/>
            </a:avLst>
          </a:prstGeom>
          <a:solidFill>
            <a:srgbClr val="FFFFFF"/>
          </a:solidFill>
          <a:ln w="15240">
            <a:solidFill>
              <a:srgbClr val="0E9E9E"/>
            </a:solidFill>
            <a:prstDash val="solid"/>
          </a:ln>
        </p:spPr>
      </p:sp>
      <p:sp>
        <p:nvSpPr>
          <p:cNvPr id="12" name="Text 10"/>
          <p:cNvSpPr/>
          <p:nvPr/>
        </p:nvSpPr>
        <p:spPr>
          <a:xfrm>
            <a:off x="3931920" y="1292047"/>
            <a:ext cx="1280160" cy="274320"/>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CWA por</a:t>
            </a:r>
            <a:endParaRPr lang="en-US" sz="750" dirty="0"/>
          </a:p>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Kilómetro</a:t>
            </a:r>
            <a:endParaRPr lang="en-US" sz="750" dirty="0"/>
          </a:p>
        </p:txBody>
      </p:sp>
      <p:sp>
        <p:nvSpPr>
          <p:cNvPr id="13" name="Text 11"/>
          <p:cNvSpPr/>
          <p:nvPr/>
        </p:nvSpPr>
        <p:spPr>
          <a:xfrm>
            <a:off x="3931920" y="1593799"/>
            <a:ext cx="1280160" cy="219456"/>
          </a:xfrm>
          <a:prstGeom prst="rect">
            <a:avLst/>
          </a:prstGeom>
          <a:noFill/>
          <a:ln/>
        </p:spPr>
        <p:txBody>
          <a:bodyPr wrap="square" rtlCol="0" anchor="ctr"/>
          <a:lstStyle/>
          <a:p>
            <a:pPr algn="ctr" indent="0" marL="0">
              <a:buNone/>
            </a:pPr>
            <a:r>
              <a:rPr lang="en-US" sz="650" dirty="0">
                <a:solidFill>
                  <a:srgbClr val="444444"/>
                </a:solidFill>
                <a:latin typeface="Atkinson Hyperlegible" pitchFamily="34" charset="0"/>
                <a:ea typeface="Atkinson Hyperlegible" pitchFamily="34" charset="-122"/>
                <a:cs typeface="Atkinson Hyperlegible" pitchFamily="34" charset="-120"/>
              </a:rPr>
              <a:t>Tramos de 5-15 km</a:t>
            </a:r>
            <a:endParaRPr lang="en-US" sz="650" dirty="0"/>
          </a:p>
        </p:txBody>
      </p:sp>
      <p:sp>
        <p:nvSpPr>
          <p:cNvPr id="14" name="Shape 12"/>
          <p:cNvSpPr/>
          <p:nvPr/>
        </p:nvSpPr>
        <p:spPr>
          <a:xfrm flipV="1">
            <a:off x="5056934" y="2126262"/>
            <a:ext cx="271563" cy="528255"/>
          </a:xfrm>
          <a:prstGeom prst="line">
            <a:avLst/>
          </a:prstGeom>
          <a:noFill/>
          <a:ln w="12700">
            <a:solidFill>
              <a:srgbClr val="0E9E9E"/>
            </a:solidFill>
            <a:prstDash val="solid"/>
          </a:ln>
        </p:spPr>
      </p:sp>
      <p:sp>
        <p:nvSpPr>
          <p:cNvPr id="15" name="Shape 13"/>
          <p:cNvSpPr/>
          <p:nvPr/>
        </p:nvSpPr>
        <p:spPr>
          <a:xfrm>
            <a:off x="5109802" y="1689189"/>
            <a:ext cx="1316736" cy="566928"/>
          </a:xfrm>
          <a:prstGeom prst="roundRect">
            <a:avLst>
              <a:gd name="adj" fmla="val 9677"/>
            </a:avLst>
          </a:prstGeom>
          <a:solidFill>
            <a:srgbClr val="FFFFFF"/>
          </a:solidFill>
          <a:ln w="15240">
            <a:solidFill>
              <a:srgbClr val="0E9E9E"/>
            </a:solidFill>
            <a:prstDash val="solid"/>
          </a:ln>
        </p:spPr>
      </p:sp>
      <p:sp>
        <p:nvSpPr>
          <p:cNvPr id="16" name="Text 14"/>
          <p:cNvSpPr/>
          <p:nvPr/>
        </p:nvSpPr>
        <p:spPr>
          <a:xfrm>
            <a:off x="5128090" y="1698333"/>
            <a:ext cx="1280160" cy="274320"/>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IWP de</a:t>
            </a:r>
            <a:endParaRPr lang="en-US" sz="750" dirty="0"/>
          </a:p>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Soldadura</a:t>
            </a:r>
            <a:endParaRPr lang="en-US" sz="750" dirty="0"/>
          </a:p>
        </p:txBody>
      </p:sp>
      <p:sp>
        <p:nvSpPr>
          <p:cNvPr id="17" name="Text 15"/>
          <p:cNvSpPr/>
          <p:nvPr/>
        </p:nvSpPr>
        <p:spPr>
          <a:xfrm>
            <a:off x="5128090" y="2000085"/>
            <a:ext cx="1280160" cy="219456"/>
          </a:xfrm>
          <a:prstGeom prst="rect">
            <a:avLst/>
          </a:prstGeom>
          <a:noFill/>
          <a:ln/>
        </p:spPr>
        <p:txBody>
          <a:bodyPr wrap="square" rtlCol="0" anchor="ctr"/>
          <a:lstStyle/>
          <a:p>
            <a:pPr algn="ctr" indent="0" marL="0">
              <a:buNone/>
            </a:pPr>
            <a:r>
              <a:rPr lang="en-US" sz="650" dirty="0">
                <a:solidFill>
                  <a:srgbClr val="444444"/>
                </a:solidFill>
                <a:latin typeface="Atkinson Hyperlegible" pitchFamily="34" charset="0"/>
                <a:ea typeface="Atkinson Hyperlegible" pitchFamily="34" charset="-122"/>
                <a:cs typeface="Atkinson Hyperlegible" pitchFamily="34" charset="-120"/>
              </a:rPr>
              <a:t>Calificación WPS</a:t>
            </a:r>
            <a:endParaRPr lang="en-US" sz="650" dirty="0"/>
          </a:p>
        </p:txBody>
      </p:sp>
      <p:sp>
        <p:nvSpPr>
          <p:cNvPr id="18" name="Shape 16"/>
          <p:cNvSpPr/>
          <p:nvPr/>
        </p:nvSpPr>
        <p:spPr>
          <a:xfrm>
            <a:off x="5257800" y="2926080"/>
            <a:ext cx="384048" cy="18288"/>
          </a:xfrm>
          <a:prstGeom prst="line">
            <a:avLst/>
          </a:prstGeom>
          <a:noFill/>
          <a:ln w="12700">
            <a:solidFill>
              <a:srgbClr val="0E9E9E"/>
            </a:solidFill>
            <a:prstDash val="solid"/>
          </a:ln>
        </p:spPr>
      </p:sp>
      <p:sp>
        <p:nvSpPr>
          <p:cNvPr id="19" name="Shape 17"/>
          <p:cNvSpPr/>
          <p:nvPr/>
        </p:nvSpPr>
        <p:spPr>
          <a:xfrm>
            <a:off x="5605272" y="2670048"/>
            <a:ext cx="1316736" cy="566928"/>
          </a:xfrm>
          <a:prstGeom prst="roundRect">
            <a:avLst>
              <a:gd name="adj" fmla="val 9677"/>
            </a:avLst>
          </a:prstGeom>
          <a:solidFill>
            <a:srgbClr val="FFFFFF"/>
          </a:solidFill>
          <a:ln w="15240">
            <a:solidFill>
              <a:srgbClr val="0E9E9E"/>
            </a:solidFill>
            <a:prstDash val="solid"/>
          </a:ln>
        </p:spPr>
      </p:sp>
      <p:sp>
        <p:nvSpPr>
          <p:cNvPr id="20" name="Text 18"/>
          <p:cNvSpPr/>
          <p:nvPr/>
        </p:nvSpPr>
        <p:spPr>
          <a:xfrm>
            <a:off x="5623560" y="2679192"/>
            <a:ext cx="1280160" cy="274320"/>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Right-of-Way</a:t>
            </a:r>
            <a:endParaRPr lang="en-US" sz="750" dirty="0"/>
          </a:p>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Management</a:t>
            </a:r>
            <a:endParaRPr lang="en-US" sz="750" dirty="0"/>
          </a:p>
        </p:txBody>
      </p:sp>
      <p:sp>
        <p:nvSpPr>
          <p:cNvPr id="21" name="Text 19"/>
          <p:cNvSpPr/>
          <p:nvPr/>
        </p:nvSpPr>
        <p:spPr>
          <a:xfrm>
            <a:off x="5623560" y="2980944"/>
            <a:ext cx="1280160" cy="219456"/>
          </a:xfrm>
          <a:prstGeom prst="rect">
            <a:avLst/>
          </a:prstGeom>
          <a:noFill/>
          <a:ln/>
        </p:spPr>
        <p:txBody>
          <a:bodyPr wrap="square" rtlCol="0" anchor="ctr"/>
          <a:lstStyle/>
          <a:p>
            <a:pPr algn="ctr" indent="0" marL="0">
              <a:buNone/>
            </a:pPr>
            <a:r>
              <a:rPr lang="en-US" sz="650" dirty="0">
                <a:solidFill>
                  <a:srgbClr val="444444"/>
                </a:solidFill>
                <a:latin typeface="Atkinson Hyperlegible" pitchFamily="34" charset="0"/>
                <a:ea typeface="Atkinson Hyperlegible" pitchFamily="34" charset="-122"/>
                <a:cs typeface="Atkinson Hyperlegible" pitchFamily="34" charset="-120"/>
              </a:rPr>
              <a:t>Permisos y servidumbres</a:t>
            </a:r>
            <a:endParaRPr lang="en-US" sz="650" dirty="0"/>
          </a:p>
        </p:txBody>
      </p:sp>
      <p:sp>
        <p:nvSpPr>
          <p:cNvPr id="22" name="Shape 20"/>
          <p:cNvSpPr/>
          <p:nvPr/>
        </p:nvSpPr>
        <p:spPr>
          <a:xfrm>
            <a:off x="5056934" y="3197643"/>
            <a:ext cx="271563" cy="528255"/>
          </a:xfrm>
          <a:prstGeom prst="line">
            <a:avLst/>
          </a:prstGeom>
          <a:noFill/>
          <a:ln w="12700">
            <a:solidFill>
              <a:srgbClr val="0E9E9E"/>
            </a:solidFill>
            <a:prstDash val="solid"/>
          </a:ln>
        </p:spPr>
      </p:sp>
      <p:sp>
        <p:nvSpPr>
          <p:cNvPr id="23" name="Shape 21"/>
          <p:cNvSpPr/>
          <p:nvPr/>
        </p:nvSpPr>
        <p:spPr>
          <a:xfrm>
            <a:off x="5109802" y="3650907"/>
            <a:ext cx="1316736" cy="566928"/>
          </a:xfrm>
          <a:prstGeom prst="roundRect">
            <a:avLst>
              <a:gd name="adj" fmla="val 9677"/>
            </a:avLst>
          </a:prstGeom>
          <a:solidFill>
            <a:srgbClr val="FFFFFF"/>
          </a:solidFill>
          <a:ln w="15240">
            <a:solidFill>
              <a:srgbClr val="0E9E9E"/>
            </a:solidFill>
            <a:prstDash val="solid"/>
          </a:ln>
        </p:spPr>
      </p:sp>
      <p:sp>
        <p:nvSpPr>
          <p:cNvPr id="24" name="Text 22"/>
          <p:cNvSpPr/>
          <p:nvPr/>
        </p:nvSpPr>
        <p:spPr>
          <a:xfrm>
            <a:off x="5128090" y="3660051"/>
            <a:ext cx="1280160" cy="274320"/>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Spread</a:t>
            </a:r>
            <a:endParaRPr lang="en-US" sz="750" dirty="0"/>
          </a:p>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Organization</a:t>
            </a:r>
            <a:endParaRPr lang="en-US" sz="750" dirty="0"/>
          </a:p>
        </p:txBody>
      </p:sp>
      <p:sp>
        <p:nvSpPr>
          <p:cNvPr id="25" name="Text 23"/>
          <p:cNvSpPr/>
          <p:nvPr/>
        </p:nvSpPr>
        <p:spPr>
          <a:xfrm>
            <a:off x="5128090" y="3961803"/>
            <a:ext cx="1280160" cy="219456"/>
          </a:xfrm>
          <a:prstGeom prst="rect">
            <a:avLst/>
          </a:prstGeom>
          <a:noFill/>
          <a:ln/>
        </p:spPr>
        <p:txBody>
          <a:bodyPr wrap="square" rtlCol="0" anchor="ctr"/>
          <a:lstStyle/>
          <a:p>
            <a:pPr algn="ctr" indent="0" marL="0">
              <a:buNone/>
            </a:pPr>
            <a:r>
              <a:rPr lang="en-US" sz="650" dirty="0">
                <a:solidFill>
                  <a:srgbClr val="444444"/>
                </a:solidFill>
                <a:latin typeface="Atkinson Hyperlegible" pitchFamily="34" charset="0"/>
                <a:ea typeface="Atkinson Hyperlegible" pitchFamily="34" charset="-122"/>
                <a:cs typeface="Atkinson Hyperlegible" pitchFamily="34" charset="-120"/>
              </a:rPr>
              <a:t>Frentes avance lineal</a:t>
            </a:r>
            <a:endParaRPr lang="en-US" sz="650" dirty="0"/>
          </a:p>
        </p:txBody>
      </p:sp>
      <p:sp>
        <p:nvSpPr>
          <p:cNvPr id="26" name="Shape 24"/>
          <p:cNvSpPr/>
          <p:nvPr/>
        </p:nvSpPr>
        <p:spPr>
          <a:xfrm>
            <a:off x="4572000" y="3310128"/>
            <a:ext cx="18288" cy="747065"/>
          </a:xfrm>
          <a:prstGeom prst="line">
            <a:avLst/>
          </a:prstGeom>
          <a:noFill/>
          <a:ln w="12700">
            <a:solidFill>
              <a:srgbClr val="0E9E9E"/>
            </a:solidFill>
            <a:prstDash val="solid"/>
          </a:ln>
        </p:spPr>
      </p:sp>
      <p:sp>
        <p:nvSpPr>
          <p:cNvPr id="27" name="Shape 25"/>
          <p:cNvSpPr/>
          <p:nvPr/>
        </p:nvSpPr>
        <p:spPr>
          <a:xfrm>
            <a:off x="3913632" y="4057193"/>
            <a:ext cx="1316736" cy="566928"/>
          </a:xfrm>
          <a:prstGeom prst="roundRect">
            <a:avLst>
              <a:gd name="adj" fmla="val 9677"/>
            </a:avLst>
          </a:prstGeom>
          <a:solidFill>
            <a:srgbClr val="FFFFFF"/>
          </a:solidFill>
          <a:ln w="15240">
            <a:solidFill>
              <a:srgbClr val="0E9E9E"/>
            </a:solidFill>
            <a:prstDash val="solid"/>
          </a:ln>
        </p:spPr>
      </p:sp>
      <p:sp>
        <p:nvSpPr>
          <p:cNvPr id="28" name="Text 26"/>
          <p:cNvSpPr/>
          <p:nvPr/>
        </p:nvSpPr>
        <p:spPr>
          <a:xfrm>
            <a:off x="3931920" y="4066337"/>
            <a:ext cx="1280160" cy="274320"/>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Tie-in</a:t>
            </a:r>
            <a:endParaRPr lang="en-US" sz="750" dirty="0"/>
          </a:p>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Schedule</a:t>
            </a:r>
            <a:endParaRPr lang="en-US" sz="750" dirty="0"/>
          </a:p>
        </p:txBody>
      </p:sp>
      <p:sp>
        <p:nvSpPr>
          <p:cNvPr id="29" name="Text 27"/>
          <p:cNvSpPr/>
          <p:nvPr/>
        </p:nvSpPr>
        <p:spPr>
          <a:xfrm>
            <a:off x="3931920" y="4368089"/>
            <a:ext cx="1280160" cy="219456"/>
          </a:xfrm>
          <a:prstGeom prst="rect">
            <a:avLst/>
          </a:prstGeom>
          <a:noFill/>
          <a:ln/>
        </p:spPr>
        <p:txBody>
          <a:bodyPr wrap="square" rtlCol="0" anchor="ctr"/>
          <a:lstStyle/>
          <a:p>
            <a:pPr algn="ctr" indent="0" marL="0">
              <a:buNone/>
            </a:pPr>
            <a:r>
              <a:rPr lang="en-US" sz="650" dirty="0">
                <a:solidFill>
                  <a:srgbClr val="444444"/>
                </a:solidFill>
                <a:latin typeface="Atkinson Hyperlegible" pitchFamily="34" charset="0"/>
                <a:ea typeface="Atkinson Hyperlegible" pitchFamily="34" charset="-122"/>
                <a:cs typeface="Atkinson Hyperlegible" pitchFamily="34" charset="-120"/>
              </a:rPr>
              <a:t>Ventanas de conexión</a:t>
            </a:r>
            <a:endParaRPr lang="en-US" sz="650" dirty="0"/>
          </a:p>
        </p:txBody>
      </p:sp>
      <p:sp>
        <p:nvSpPr>
          <p:cNvPr id="30" name="Shape 28"/>
          <p:cNvSpPr/>
          <p:nvPr/>
        </p:nvSpPr>
        <p:spPr>
          <a:xfrm flipH="1">
            <a:off x="3815503" y="3197643"/>
            <a:ext cx="271563" cy="528255"/>
          </a:xfrm>
          <a:prstGeom prst="line">
            <a:avLst/>
          </a:prstGeom>
          <a:noFill/>
          <a:ln w="12700">
            <a:solidFill>
              <a:srgbClr val="0E9E9E"/>
            </a:solidFill>
            <a:prstDash val="solid"/>
          </a:ln>
        </p:spPr>
      </p:sp>
      <p:sp>
        <p:nvSpPr>
          <p:cNvPr id="31" name="Shape 29"/>
          <p:cNvSpPr/>
          <p:nvPr/>
        </p:nvSpPr>
        <p:spPr>
          <a:xfrm>
            <a:off x="2717462" y="3650907"/>
            <a:ext cx="1316736" cy="566928"/>
          </a:xfrm>
          <a:prstGeom prst="roundRect">
            <a:avLst>
              <a:gd name="adj" fmla="val 9677"/>
            </a:avLst>
          </a:prstGeom>
          <a:solidFill>
            <a:srgbClr val="FFFFFF"/>
          </a:solidFill>
          <a:ln w="15240">
            <a:solidFill>
              <a:srgbClr val="0E9E9E"/>
            </a:solidFill>
            <a:prstDash val="solid"/>
          </a:ln>
        </p:spPr>
      </p:sp>
      <p:sp>
        <p:nvSpPr>
          <p:cNvPr id="32" name="Text 30"/>
          <p:cNvSpPr/>
          <p:nvPr/>
        </p:nvSpPr>
        <p:spPr>
          <a:xfrm>
            <a:off x="2735750" y="3660051"/>
            <a:ext cx="1280160" cy="274320"/>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Hydro-test</a:t>
            </a:r>
            <a:endParaRPr lang="en-US" sz="750" dirty="0"/>
          </a:p>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IWPs</a:t>
            </a:r>
            <a:endParaRPr lang="en-US" sz="750" dirty="0"/>
          </a:p>
        </p:txBody>
      </p:sp>
      <p:sp>
        <p:nvSpPr>
          <p:cNvPr id="33" name="Text 31"/>
          <p:cNvSpPr/>
          <p:nvPr/>
        </p:nvSpPr>
        <p:spPr>
          <a:xfrm>
            <a:off x="2735750" y="3961803"/>
            <a:ext cx="1280160" cy="219456"/>
          </a:xfrm>
          <a:prstGeom prst="rect">
            <a:avLst/>
          </a:prstGeom>
          <a:noFill/>
          <a:ln/>
        </p:spPr>
        <p:txBody>
          <a:bodyPr wrap="square" rtlCol="0" anchor="ctr"/>
          <a:lstStyle/>
          <a:p>
            <a:pPr algn="ctr" indent="0" marL="0">
              <a:buNone/>
            </a:pPr>
            <a:r>
              <a:rPr lang="en-US" sz="650" dirty="0">
                <a:solidFill>
                  <a:srgbClr val="444444"/>
                </a:solidFill>
                <a:latin typeface="Atkinson Hyperlegible" pitchFamily="34" charset="0"/>
                <a:ea typeface="Atkinson Hyperlegible" pitchFamily="34" charset="-122"/>
                <a:cs typeface="Atkinson Hyperlegible" pitchFamily="34" charset="-120"/>
              </a:rPr>
              <a:t>Por segmento P&amp;ID</a:t>
            </a:r>
            <a:endParaRPr lang="en-US" sz="650" dirty="0"/>
          </a:p>
        </p:txBody>
      </p:sp>
      <p:sp>
        <p:nvSpPr>
          <p:cNvPr id="34" name="Shape 32"/>
          <p:cNvSpPr/>
          <p:nvPr/>
        </p:nvSpPr>
        <p:spPr>
          <a:xfrm flipH="1">
            <a:off x="3502152" y="2926080"/>
            <a:ext cx="384048" cy="18288"/>
          </a:xfrm>
          <a:prstGeom prst="line">
            <a:avLst/>
          </a:prstGeom>
          <a:noFill/>
          <a:ln w="12700">
            <a:solidFill>
              <a:srgbClr val="0E9E9E"/>
            </a:solidFill>
            <a:prstDash val="solid"/>
          </a:ln>
        </p:spPr>
      </p:sp>
      <p:sp>
        <p:nvSpPr>
          <p:cNvPr id="35" name="Shape 33"/>
          <p:cNvSpPr/>
          <p:nvPr/>
        </p:nvSpPr>
        <p:spPr>
          <a:xfrm>
            <a:off x="2221992" y="2670048"/>
            <a:ext cx="1316736" cy="566928"/>
          </a:xfrm>
          <a:prstGeom prst="roundRect">
            <a:avLst>
              <a:gd name="adj" fmla="val 9677"/>
            </a:avLst>
          </a:prstGeom>
          <a:solidFill>
            <a:srgbClr val="FFFFFF"/>
          </a:solidFill>
          <a:ln w="15240">
            <a:solidFill>
              <a:srgbClr val="0E9E9E"/>
            </a:solidFill>
            <a:prstDash val="solid"/>
          </a:ln>
        </p:spPr>
      </p:sp>
      <p:sp>
        <p:nvSpPr>
          <p:cNvPr id="36" name="Text 34"/>
          <p:cNvSpPr/>
          <p:nvPr/>
        </p:nvSpPr>
        <p:spPr>
          <a:xfrm>
            <a:off x="2240280" y="2679192"/>
            <a:ext cx="1280160" cy="274320"/>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Crossings</a:t>
            </a:r>
            <a:endParaRPr lang="en-US" sz="750" dirty="0"/>
          </a:p>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Especiales</a:t>
            </a:r>
            <a:endParaRPr lang="en-US" sz="750" dirty="0"/>
          </a:p>
        </p:txBody>
      </p:sp>
      <p:sp>
        <p:nvSpPr>
          <p:cNvPr id="37" name="Text 35"/>
          <p:cNvSpPr/>
          <p:nvPr/>
        </p:nvSpPr>
        <p:spPr>
          <a:xfrm>
            <a:off x="2240280" y="2980944"/>
            <a:ext cx="1280160" cy="219456"/>
          </a:xfrm>
          <a:prstGeom prst="rect">
            <a:avLst/>
          </a:prstGeom>
          <a:noFill/>
          <a:ln/>
        </p:spPr>
        <p:txBody>
          <a:bodyPr wrap="square" rtlCol="0" anchor="ctr"/>
          <a:lstStyle/>
          <a:p>
            <a:pPr algn="ctr" indent="0" marL="0">
              <a:buNone/>
            </a:pPr>
            <a:r>
              <a:rPr lang="en-US" sz="650" dirty="0">
                <a:solidFill>
                  <a:srgbClr val="444444"/>
                </a:solidFill>
                <a:latin typeface="Atkinson Hyperlegible" pitchFamily="34" charset="0"/>
                <a:ea typeface="Atkinson Hyperlegible" pitchFamily="34" charset="-122"/>
                <a:cs typeface="Atkinson Hyperlegible" pitchFamily="34" charset="-120"/>
              </a:rPr>
              <a:t>Ríos, vías, túneles</a:t>
            </a:r>
            <a:endParaRPr lang="en-US" sz="650" dirty="0"/>
          </a:p>
        </p:txBody>
      </p:sp>
      <p:sp>
        <p:nvSpPr>
          <p:cNvPr id="38" name="Shape 36"/>
          <p:cNvSpPr/>
          <p:nvPr/>
        </p:nvSpPr>
        <p:spPr>
          <a:xfrm flipH="1" flipV="1">
            <a:off x="3815503" y="2126262"/>
            <a:ext cx="271563" cy="528255"/>
          </a:xfrm>
          <a:prstGeom prst="line">
            <a:avLst/>
          </a:prstGeom>
          <a:noFill/>
          <a:ln w="12700">
            <a:solidFill>
              <a:srgbClr val="0E9E9E"/>
            </a:solidFill>
            <a:prstDash val="solid"/>
          </a:ln>
        </p:spPr>
      </p:sp>
      <p:sp>
        <p:nvSpPr>
          <p:cNvPr id="39" name="Shape 37"/>
          <p:cNvSpPr/>
          <p:nvPr/>
        </p:nvSpPr>
        <p:spPr>
          <a:xfrm>
            <a:off x="2717462" y="1689189"/>
            <a:ext cx="1316736" cy="566928"/>
          </a:xfrm>
          <a:prstGeom prst="roundRect">
            <a:avLst>
              <a:gd name="adj" fmla="val 9677"/>
            </a:avLst>
          </a:prstGeom>
          <a:solidFill>
            <a:srgbClr val="FFFFFF"/>
          </a:solidFill>
          <a:ln w="15240">
            <a:solidFill>
              <a:srgbClr val="0E9E9E"/>
            </a:solidFill>
            <a:prstDash val="solid"/>
          </a:ln>
        </p:spPr>
      </p:sp>
      <p:sp>
        <p:nvSpPr>
          <p:cNvPr id="40" name="Text 38"/>
          <p:cNvSpPr/>
          <p:nvPr/>
        </p:nvSpPr>
        <p:spPr>
          <a:xfrm>
            <a:off x="2735750" y="1698333"/>
            <a:ext cx="1280160" cy="274320"/>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Coating &amp;</a:t>
            </a:r>
            <a:endParaRPr lang="en-US" sz="750" dirty="0"/>
          </a:p>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Inspection</a:t>
            </a:r>
            <a:endParaRPr lang="en-US" sz="750" dirty="0"/>
          </a:p>
        </p:txBody>
      </p:sp>
      <p:sp>
        <p:nvSpPr>
          <p:cNvPr id="41" name="Text 39"/>
          <p:cNvSpPr/>
          <p:nvPr/>
        </p:nvSpPr>
        <p:spPr>
          <a:xfrm>
            <a:off x="2735750" y="2000085"/>
            <a:ext cx="1280160" cy="219456"/>
          </a:xfrm>
          <a:prstGeom prst="rect">
            <a:avLst/>
          </a:prstGeom>
          <a:noFill/>
          <a:ln/>
        </p:spPr>
        <p:txBody>
          <a:bodyPr wrap="square" rtlCol="0" anchor="ctr"/>
          <a:lstStyle/>
          <a:p>
            <a:pPr algn="ctr" indent="0" marL="0">
              <a:buNone/>
            </a:pPr>
            <a:r>
              <a:rPr lang="en-US" sz="650" dirty="0">
                <a:solidFill>
                  <a:srgbClr val="444444"/>
                </a:solidFill>
                <a:latin typeface="Atkinson Hyperlegible" pitchFamily="34" charset="0"/>
                <a:ea typeface="Atkinson Hyperlegible" pitchFamily="34" charset="-122"/>
                <a:cs typeface="Atkinson Hyperlegible" pitchFamily="34" charset="-120"/>
              </a:rPr>
              <a:t>QC inline automatizado</a:t>
            </a:r>
            <a:endParaRPr lang="en-US" sz="6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4620A"/>
          </a:solidFill>
          <a:ln w="12700">
            <a:solidFill>
              <a:srgbClr val="D4620A"/>
            </a:solidFill>
            <a:prstDash val="solid"/>
          </a:ln>
        </p:spPr>
      </p:sp>
      <p:sp>
        <p:nvSpPr>
          <p:cNvPr id="3" name="Shape 1"/>
          <p:cNvSpPr/>
          <p:nvPr/>
        </p:nvSpPr>
        <p:spPr>
          <a:xfrm>
            <a:off x="164592" y="4956048"/>
            <a:ext cx="8979408" cy="182880"/>
          </a:xfrm>
          <a:prstGeom prst="rect">
            <a:avLst/>
          </a:prstGeom>
          <a:solidFill>
            <a:srgbClr val="D4620A"/>
          </a:solidFill>
          <a:ln w="12700">
            <a:solidFill>
              <a:srgbClr val="D4620A"/>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109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AWP en Proyectos Mineros — Caso Expansión de Planta</a:t>
            </a:r>
            <a:endParaRPr lang="en-US" sz="1800" dirty="0"/>
          </a:p>
        </p:txBody>
      </p:sp>
      <p:sp>
        <p:nvSpPr>
          <p:cNvPr id="6" name="Shape 4"/>
          <p:cNvSpPr/>
          <p:nvPr/>
        </p:nvSpPr>
        <p:spPr>
          <a:xfrm>
            <a:off x="320040" y="621792"/>
            <a:ext cx="8503920" cy="41148"/>
          </a:xfrm>
          <a:prstGeom prst="rect">
            <a:avLst/>
          </a:prstGeom>
          <a:solidFill>
            <a:srgbClr val="D4620A"/>
          </a:solidFill>
          <a:ln w="12700">
            <a:solidFill>
              <a:srgbClr val="D4620A"/>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D4620A"/>
                </a:solidFill>
                <a:latin typeface="Atkinson Hyperlegible" pitchFamily="34" charset="0"/>
                <a:ea typeface="Atkinson Hyperlegible" pitchFamily="34" charset="-122"/>
                <a:cs typeface="Atkinson Hyperlegible" pitchFamily="34" charset="-120"/>
              </a:rPr>
              <a:t>Aplicación de constructabilidad en plantas concentradoras y minería a cielo abierto</a:t>
            </a:r>
            <a:endParaRPr lang="en-US" sz="900" dirty="0"/>
          </a:p>
        </p:txBody>
      </p:sp>
      <p:sp>
        <p:nvSpPr>
          <p:cNvPr id="8" name="Shape 6"/>
          <p:cNvSpPr/>
          <p:nvPr/>
        </p:nvSpPr>
        <p:spPr>
          <a:xfrm>
            <a:off x="320040" y="987552"/>
            <a:ext cx="4023360" cy="329184"/>
          </a:xfrm>
          <a:prstGeom prst="rect">
            <a:avLst>
              <a:gd name="adj" fmla="val 13889"/>
            </a:avLst>
          </a:prstGeom>
          <a:solidFill>
            <a:srgbClr val="D4620A"/>
          </a:solidFill>
          <a:ln w="12700">
            <a:solidFill>
              <a:srgbClr val="D4620A"/>
            </a:solidFill>
            <a:prstDash val="solid"/>
          </a:ln>
        </p:spPr>
      </p:sp>
      <p:sp>
        <p:nvSpPr>
          <p:cNvPr id="9" name="Text 7"/>
          <p:cNvSpPr/>
          <p:nvPr/>
        </p:nvSpPr>
        <p:spPr>
          <a:xfrm>
            <a:off x="411480" y="1024128"/>
            <a:ext cx="3840480" cy="256032"/>
          </a:xfrm>
          <a:prstGeom prst="rect">
            <a:avLst/>
          </a:prstGeom>
          <a:noFill/>
          <a:ln/>
        </p:spPr>
        <p:txBody>
          <a:bodyPr wrap="square" rtlCol="0" anchor="ctr"/>
          <a:lstStyle/>
          <a:p>
            <a:pP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Características del Proyecto</a:t>
            </a:r>
            <a:endParaRPr lang="en-US" sz="900" dirty="0"/>
          </a:p>
        </p:txBody>
      </p:sp>
      <p:sp>
        <p:nvSpPr>
          <p:cNvPr id="10" name="Shape 8"/>
          <p:cNvSpPr/>
          <p:nvPr/>
        </p:nvSpPr>
        <p:spPr>
          <a:xfrm>
            <a:off x="320040" y="1389888"/>
            <a:ext cx="4023360" cy="877824"/>
          </a:xfrm>
          <a:prstGeom prst="rect">
            <a:avLst>
              <a:gd name="adj" fmla="val 4167"/>
            </a:avLst>
          </a:prstGeom>
          <a:solidFill>
            <a:srgbClr val="FFFFFF"/>
          </a:solidFill>
          <a:ln w="6350">
            <a:solidFill>
              <a:srgbClr val="E5E5EA"/>
            </a:solidFill>
            <a:prstDash val="solid"/>
          </a:ln>
        </p:spPr>
      </p:sp>
      <p:sp>
        <p:nvSpPr>
          <p:cNvPr id="11" name="Text 9"/>
          <p:cNvSpPr/>
          <p:nvPr/>
        </p:nvSpPr>
        <p:spPr>
          <a:xfrm>
            <a:off x="411480" y="1435608"/>
            <a:ext cx="3840480" cy="25603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Alta complejidad de interfaces</a:t>
            </a:r>
            <a:endParaRPr lang="en-US" sz="850" dirty="0"/>
          </a:p>
        </p:txBody>
      </p:sp>
      <p:sp>
        <p:nvSpPr>
          <p:cNvPr id="12" name="Text 10"/>
          <p:cNvSpPr/>
          <p:nvPr/>
        </p:nvSpPr>
        <p:spPr>
          <a:xfrm>
            <a:off x="411480" y="1700784"/>
            <a:ext cx="3840480" cy="51206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Molienda, flotación, espesadores y filtraje: interfaces críticas entre disciplinas</a:t>
            </a:r>
            <a:endParaRPr lang="en-US" sz="750" dirty="0"/>
          </a:p>
        </p:txBody>
      </p:sp>
      <p:sp>
        <p:nvSpPr>
          <p:cNvPr id="13" name="Shape 11"/>
          <p:cNvSpPr/>
          <p:nvPr/>
        </p:nvSpPr>
        <p:spPr>
          <a:xfrm>
            <a:off x="320040" y="2340864"/>
            <a:ext cx="4023360" cy="877824"/>
          </a:xfrm>
          <a:prstGeom prst="rect">
            <a:avLst>
              <a:gd name="adj" fmla="val 4167"/>
            </a:avLst>
          </a:prstGeom>
          <a:solidFill>
            <a:srgbClr val="F9F9F9"/>
          </a:solidFill>
          <a:ln w="6350">
            <a:solidFill>
              <a:srgbClr val="E5E5EA"/>
            </a:solidFill>
            <a:prstDash val="solid"/>
          </a:ln>
        </p:spPr>
      </p:sp>
      <p:sp>
        <p:nvSpPr>
          <p:cNvPr id="14" name="Text 12"/>
          <p:cNvSpPr/>
          <p:nvPr/>
        </p:nvSpPr>
        <p:spPr>
          <a:xfrm>
            <a:off x="411480" y="2386584"/>
            <a:ext cx="3840480" cy="25603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Equipos de largo lead time</a:t>
            </a:r>
            <a:endParaRPr lang="en-US" sz="850" dirty="0"/>
          </a:p>
        </p:txBody>
      </p:sp>
      <p:sp>
        <p:nvSpPr>
          <p:cNvPr id="15" name="Text 13"/>
          <p:cNvSpPr/>
          <p:nvPr/>
        </p:nvSpPr>
        <p:spPr>
          <a:xfrm>
            <a:off x="411480" y="2651760"/>
            <a:ext cx="3840480" cy="51206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SAG/Ball mills: 52-72 semanas. IWPs de cimentación deben iniciar desde ingeniería básica</a:t>
            </a:r>
            <a:endParaRPr lang="en-US" sz="750" dirty="0"/>
          </a:p>
        </p:txBody>
      </p:sp>
      <p:sp>
        <p:nvSpPr>
          <p:cNvPr id="16" name="Shape 14"/>
          <p:cNvSpPr/>
          <p:nvPr/>
        </p:nvSpPr>
        <p:spPr>
          <a:xfrm>
            <a:off x="320040" y="3291840"/>
            <a:ext cx="4023360" cy="877824"/>
          </a:xfrm>
          <a:prstGeom prst="rect">
            <a:avLst>
              <a:gd name="adj" fmla="val 4167"/>
            </a:avLst>
          </a:prstGeom>
          <a:solidFill>
            <a:srgbClr val="FFFFFF"/>
          </a:solidFill>
          <a:ln w="6350">
            <a:solidFill>
              <a:srgbClr val="E5E5EA"/>
            </a:solidFill>
            <a:prstDash val="solid"/>
          </a:ln>
        </p:spPr>
      </p:sp>
      <p:sp>
        <p:nvSpPr>
          <p:cNvPr id="17" name="Text 15"/>
          <p:cNvSpPr/>
          <p:nvPr/>
        </p:nvSpPr>
        <p:spPr>
          <a:xfrm>
            <a:off x="411480" y="3337560"/>
            <a:ext cx="3840480" cy="25603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Aislamiento geográfico</a:t>
            </a:r>
            <a:endParaRPr lang="en-US" sz="850" dirty="0"/>
          </a:p>
        </p:txBody>
      </p:sp>
      <p:sp>
        <p:nvSpPr>
          <p:cNvPr id="18" name="Text 16"/>
          <p:cNvSpPr/>
          <p:nvPr/>
        </p:nvSpPr>
        <p:spPr>
          <a:xfrm>
            <a:off x="411480" y="3602736"/>
            <a:ext cx="3840480" cy="51206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Altitud y acceso remoto: logística de materiales en CWP crítico (lay-down + camp logistics)</a:t>
            </a:r>
            <a:endParaRPr lang="en-US" sz="750" dirty="0"/>
          </a:p>
        </p:txBody>
      </p:sp>
      <p:sp>
        <p:nvSpPr>
          <p:cNvPr id="19" name="Shape 17"/>
          <p:cNvSpPr/>
          <p:nvPr/>
        </p:nvSpPr>
        <p:spPr>
          <a:xfrm>
            <a:off x="320040" y="4242816"/>
            <a:ext cx="4023360" cy="877824"/>
          </a:xfrm>
          <a:prstGeom prst="rect">
            <a:avLst>
              <a:gd name="adj" fmla="val 4167"/>
            </a:avLst>
          </a:prstGeom>
          <a:solidFill>
            <a:srgbClr val="F9F9F9"/>
          </a:solidFill>
          <a:ln w="6350">
            <a:solidFill>
              <a:srgbClr val="E5E5EA"/>
            </a:solidFill>
            <a:prstDash val="solid"/>
          </a:ln>
        </p:spPr>
      </p:sp>
      <p:sp>
        <p:nvSpPr>
          <p:cNvPr id="20" name="Text 18"/>
          <p:cNvSpPr/>
          <p:nvPr/>
        </p:nvSpPr>
        <p:spPr>
          <a:xfrm>
            <a:off x="411480" y="4288536"/>
            <a:ext cx="3840480" cy="25603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Expansiones en operación</a:t>
            </a:r>
            <a:endParaRPr lang="en-US" sz="850" dirty="0"/>
          </a:p>
        </p:txBody>
      </p:sp>
      <p:sp>
        <p:nvSpPr>
          <p:cNvPr id="21" name="Text 19"/>
          <p:cNvSpPr/>
          <p:nvPr/>
        </p:nvSpPr>
        <p:spPr>
          <a:xfrm>
            <a:off x="411480" y="4553712"/>
            <a:ext cx="3840480" cy="51206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Tie-ins programados en paradas planificadas: IWPs de turnaround de 72-120 hrs</a:t>
            </a:r>
            <a:endParaRPr lang="en-US" sz="750" dirty="0"/>
          </a:p>
        </p:txBody>
      </p:sp>
      <p:sp>
        <p:nvSpPr>
          <p:cNvPr id="22" name="Shape 20"/>
          <p:cNvSpPr/>
          <p:nvPr/>
        </p:nvSpPr>
        <p:spPr>
          <a:xfrm>
            <a:off x="4663440" y="987552"/>
            <a:ext cx="4023360" cy="329184"/>
          </a:xfrm>
          <a:prstGeom prst="rect">
            <a:avLst>
              <a:gd name="adj" fmla="val 13889"/>
            </a:avLst>
          </a:prstGeom>
          <a:solidFill>
            <a:srgbClr val="0E9E9E"/>
          </a:solidFill>
          <a:ln w="12700">
            <a:solidFill>
              <a:srgbClr val="0E9E9E"/>
            </a:solidFill>
            <a:prstDash val="solid"/>
          </a:ln>
        </p:spPr>
      </p:sp>
      <p:sp>
        <p:nvSpPr>
          <p:cNvPr id="23" name="Text 21"/>
          <p:cNvSpPr/>
          <p:nvPr/>
        </p:nvSpPr>
        <p:spPr>
          <a:xfrm>
            <a:off x="4754880" y="1024128"/>
            <a:ext cx="3840480" cy="256032"/>
          </a:xfrm>
          <a:prstGeom prst="rect">
            <a:avLst/>
          </a:prstGeom>
          <a:noFill/>
          <a:ln/>
        </p:spPr>
        <p:txBody>
          <a:bodyPr wrap="square" rtlCol="0" anchor="ctr"/>
          <a:lstStyle/>
          <a:p>
            <a:pP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Métricas Referenciales (Mining AWP)</a:t>
            </a:r>
            <a:endParaRPr lang="en-US" sz="900" dirty="0"/>
          </a:p>
        </p:txBody>
      </p:sp>
      <p:sp>
        <p:nvSpPr>
          <p:cNvPr id="24" name="Shape 22"/>
          <p:cNvSpPr/>
          <p:nvPr/>
        </p:nvSpPr>
        <p:spPr>
          <a:xfrm>
            <a:off x="4663440" y="1389888"/>
            <a:ext cx="4023360" cy="877824"/>
          </a:xfrm>
          <a:prstGeom prst="rect">
            <a:avLst>
              <a:gd name="adj" fmla="val 4167"/>
            </a:avLst>
          </a:prstGeom>
          <a:solidFill>
            <a:srgbClr val="FFFFFF"/>
          </a:solidFill>
          <a:ln w="6350">
            <a:solidFill>
              <a:srgbClr val="E5E5EA"/>
            </a:solidFill>
            <a:prstDash val="solid"/>
          </a:ln>
        </p:spPr>
      </p:sp>
      <p:sp>
        <p:nvSpPr>
          <p:cNvPr id="25" name="Text 23"/>
          <p:cNvSpPr/>
          <p:nvPr/>
        </p:nvSpPr>
        <p:spPr>
          <a:xfrm>
            <a:off x="4754880" y="1435608"/>
            <a:ext cx="3840480" cy="25603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CPI típico con AWP</a:t>
            </a:r>
            <a:endParaRPr lang="en-US" sz="850" dirty="0"/>
          </a:p>
        </p:txBody>
      </p:sp>
      <p:sp>
        <p:nvSpPr>
          <p:cNvPr id="26" name="Text 24"/>
          <p:cNvSpPr/>
          <p:nvPr/>
        </p:nvSpPr>
        <p:spPr>
          <a:xfrm>
            <a:off x="4754880" y="1700784"/>
            <a:ext cx="3840480" cy="51206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1.04-1.09 vs 0.92-0.96 sin AWP en proyectos de expansión de planta &gt;US$200M</a:t>
            </a:r>
            <a:endParaRPr lang="en-US" sz="750" dirty="0"/>
          </a:p>
        </p:txBody>
      </p:sp>
      <p:sp>
        <p:nvSpPr>
          <p:cNvPr id="27" name="Shape 25"/>
          <p:cNvSpPr/>
          <p:nvPr/>
        </p:nvSpPr>
        <p:spPr>
          <a:xfrm>
            <a:off x="4663440" y="2340864"/>
            <a:ext cx="4023360" cy="877824"/>
          </a:xfrm>
          <a:prstGeom prst="rect">
            <a:avLst>
              <a:gd name="adj" fmla="val 4167"/>
            </a:avLst>
          </a:prstGeom>
          <a:solidFill>
            <a:srgbClr val="F9F9F9"/>
          </a:solidFill>
          <a:ln w="6350">
            <a:solidFill>
              <a:srgbClr val="E5E5EA"/>
            </a:solidFill>
            <a:prstDash val="solid"/>
          </a:ln>
        </p:spPr>
      </p:sp>
      <p:sp>
        <p:nvSpPr>
          <p:cNvPr id="28" name="Text 26"/>
          <p:cNvSpPr/>
          <p:nvPr/>
        </p:nvSpPr>
        <p:spPr>
          <a:xfrm>
            <a:off x="4754880" y="2386584"/>
            <a:ext cx="3840480" cy="25603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SPI típico con AWP</a:t>
            </a:r>
            <a:endParaRPr lang="en-US" sz="850" dirty="0"/>
          </a:p>
        </p:txBody>
      </p:sp>
      <p:sp>
        <p:nvSpPr>
          <p:cNvPr id="29" name="Text 27"/>
          <p:cNvSpPr/>
          <p:nvPr/>
        </p:nvSpPr>
        <p:spPr>
          <a:xfrm>
            <a:off x="4754880" y="2651760"/>
            <a:ext cx="3840480" cy="51206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1.02-1.07 vs 0.88-0.95 sin AWP — compresión real de 2-4 meses en programa</a:t>
            </a:r>
            <a:endParaRPr lang="en-US" sz="750" dirty="0"/>
          </a:p>
        </p:txBody>
      </p:sp>
      <p:sp>
        <p:nvSpPr>
          <p:cNvPr id="30" name="Shape 28"/>
          <p:cNvSpPr/>
          <p:nvPr/>
        </p:nvSpPr>
        <p:spPr>
          <a:xfrm>
            <a:off x="4663440" y="3291840"/>
            <a:ext cx="4023360" cy="877824"/>
          </a:xfrm>
          <a:prstGeom prst="rect">
            <a:avLst>
              <a:gd name="adj" fmla="val 4167"/>
            </a:avLst>
          </a:prstGeom>
          <a:solidFill>
            <a:srgbClr val="FFFFFF"/>
          </a:solidFill>
          <a:ln w="6350">
            <a:solidFill>
              <a:srgbClr val="E5E5EA"/>
            </a:solidFill>
            <a:prstDash val="solid"/>
          </a:ln>
        </p:spPr>
      </p:sp>
      <p:sp>
        <p:nvSpPr>
          <p:cNvPr id="31" name="Text 29"/>
          <p:cNvSpPr/>
          <p:nvPr/>
        </p:nvSpPr>
        <p:spPr>
          <a:xfrm>
            <a:off x="4754880" y="3337560"/>
            <a:ext cx="3840480" cy="25603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Incidentes en construcción</a:t>
            </a:r>
            <a:endParaRPr lang="en-US" sz="850" dirty="0"/>
          </a:p>
        </p:txBody>
      </p:sp>
      <p:sp>
        <p:nvSpPr>
          <p:cNvPr id="32" name="Text 30"/>
          <p:cNvSpPr/>
          <p:nvPr/>
        </p:nvSpPr>
        <p:spPr>
          <a:xfrm>
            <a:off x="4754880" y="3602736"/>
            <a:ext cx="3840480" cy="51206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TRIR ↓ 35-50% con Safety by Design integrado a IWPs de trabajo en altura</a:t>
            </a:r>
            <a:endParaRPr lang="en-US" sz="750" dirty="0"/>
          </a:p>
        </p:txBody>
      </p:sp>
      <p:sp>
        <p:nvSpPr>
          <p:cNvPr id="33" name="Shape 31"/>
          <p:cNvSpPr/>
          <p:nvPr/>
        </p:nvSpPr>
        <p:spPr>
          <a:xfrm>
            <a:off x="4663440" y="4242816"/>
            <a:ext cx="4023360" cy="877824"/>
          </a:xfrm>
          <a:prstGeom prst="rect">
            <a:avLst>
              <a:gd name="adj" fmla="val 4167"/>
            </a:avLst>
          </a:prstGeom>
          <a:solidFill>
            <a:srgbClr val="F9F9F9"/>
          </a:solidFill>
          <a:ln w="6350">
            <a:solidFill>
              <a:srgbClr val="E5E5EA"/>
            </a:solidFill>
            <a:prstDash val="solid"/>
          </a:ln>
        </p:spPr>
      </p:sp>
      <p:sp>
        <p:nvSpPr>
          <p:cNvPr id="34" name="Text 32"/>
          <p:cNvSpPr/>
          <p:nvPr/>
        </p:nvSpPr>
        <p:spPr>
          <a:xfrm>
            <a:off x="4754880" y="4288536"/>
            <a:ext cx="3840480" cy="256032"/>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Punch items al completar</a:t>
            </a:r>
            <a:endParaRPr lang="en-US" sz="850" dirty="0"/>
          </a:p>
        </p:txBody>
      </p:sp>
      <p:sp>
        <p:nvSpPr>
          <p:cNvPr id="35" name="Text 33"/>
          <p:cNvSpPr/>
          <p:nvPr/>
        </p:nvSpPr>
        <p:spPr>
          <a:xfrm>
            <a:off x="4754880" y="4553712"/>
            <a:ext cx="3840480" cy="512064"/>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Reducción de 68% en punch items gracias a RTI checks rigurosos por IWP</a:t>
            </a:r>
            <a:endParaRPr lang="en-US" sz="7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C3E8C"/>
          </a:solidFill>
          <a:ln w="12700">
            <a:solidFill>
              <a:srgbClr val="2C3E8C"/>
            </a:solidFill>
            <a:prstDash val="solid"/>
          </a:ln>
        </p:spPr>
      </p:sp>
      <p:sp>
        <p:nvSpPr>
          <p:cNvPr id="3" name="Shape 1"/>
          <p:cNvSpPr/>
          <p:nvPr/>
        </p:nvSpPr>
        <p:spPr>
          <a:xfrm>
            <a:off x="164592" y="4956048"/>
            <a:ext cx="8979408" cy="182880"/>
          </a:xfrm>
          <a:prstGeom prst="rect">
            <a:avLst/>
          </a:prstGeom>
          <a:solidFill>
            <a:srgbClr val="2C3E8C"/>
          </a:solidFill>
          <a:ln w="12700">
            <a:solidFill>
              <a:srgbClr val="2C3E8C"/>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110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AWP en Edificios de Gran Altura y Centros Urbanos</a:t>
            </a:r>
            <a:endParaRPr lang="en-US" sz="1800" dirty="0"/>
          </a:p>
        </p:txBody>
      </p:sp>
      <p:sp>
        <p:nvSpPr>
          <p:cNvPr id="6" name="Shape 4"/>
          <p:cNvSpPr/>
          <p:nvPr/>
        </p:nvSpPr>
        <p:spPr>
          <a:xfrm>
            <a:off x="320040" y="621792"/>
            <a:ext cx="8503920" cy="41148"/>
          </a:xfrm>
          <a:prstGeom prst="rect">
            <a:avLst/>
          </a:prstGeom>
          <a:solidFill>
            <a:srgbClr val="2C3E8C"/>
          </a:solidFill>
          <a:ln w="12700">
            <a:solidFill>
              <a:srgbClr val="2C3E8C"/>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2C3E8C"/>
                </a:solidFill>
                <a:latin typeface="Atkinson Hyperlegible" pitchFamily="34" charset="0"/>
                <a:ea typeface="Atkinson Hyperlegible" pitchFamily="34" charset="-122"/>
                <a:cs typeface="Atkinson Hyperlegible" pitchFamily="34" charset="-120"/>
              </a:rPr>
              <a:t>Constructabilidad en entornos densos: espacio limitado y logística compleja</a:t>
            </a:r>
            <a:endParaRPr lang="en-US" sz="900" dirty="0"/>
          </a:p>
        </p:txBody>
      </p:sp>
      <p:sp>
        <p:nvSpPr>
          <p:cNvPr id="8" name="Shape 6"/>
          <p:cNvSpPr/>
          <p:nvPr/>
        </p:nvSpPr>
        <p:spPr>
          <a:xfrm>
            <a:off x="320040" y="1097280"/>
            <a:ext cx="1249680" cy="1143000"/>
          </a:xfrm>
          <a:prstGeom prst="rect">
            <a:avLst>
              <a:gd name="adj" fmla="val 4800"/>
            </a:avLst>
          </a:prstGeom>
          <a:solidFill>
            <a:srgbClr val="2C3E8C"/>
          </a:solidFill>
          <a:ln w="12700">
            <a:solidFill>
              <a:srgbClr val="2C3E8C"/>
            </a:solidFill>
            <a:prstDash val="solid"/>
          </a:ln>
        </p:spPr>
      </p:sp>
      <p:sp>
        <p:nvSpPr>
          <p:cNvPr id="9" name="Shape 7"/>
          <p:cNvSpPr/>
          <p:nvPr/>
        </p:nvSpPr>
        <p:spPr>
          <a:xfrm>
            <a:off x="743712" y="896112"/>
            <a:ext cx="402336" cy="402336"/>
          </a:xfrm>
          <a:prstGeom prst="ellipse">
            <a:avLst/>
          </a:prstGeom>
          <a:solidFill>
            <a:srgbClr val="FFFFFF"/>
          </a:solidFill>
          <a:ln w="12700">
            <a:solidFill>
              <a:srgbClr val="2C3E8C"/>
            </a:solidFill>
            <a:prstDash val="solid"/>
          </a:ln>
        </p:spPr>
      </p:sp>
      <p:sp>
        <p:nvSpPr>
          <p:cNvPr id="10" name="Text 8"/>
          <p:cNvSpPr/>
          <p:nvPr/>
        </p:nvSpPr>
        <p:spPr>
          <a:xfrm>
            <a:off x="743712" y="896112"/>
            <a:ext cx="402336" cy="402336"/>
          </a:xfrm>
          <a:prstGeom prst="rect">
            <a:avLst/>
          </a:prstGeom>
          <a:noFill/>
          <a:ln/>
        </p:spPr>
        <p:txBody>
          <a:bodyPr wrap="square" rtlCol="0" anchor="ctr"/>
          <a:lstStyle/>
          <a:p>
            <a:pPr algn="ctr" indent="0" marL="0">
              <a:buNone/>
            </a:pPr>
            <a:r>
              <a:rPr lang="en-US" sz="900" b="1" dirty="0">
                <a:solidFill>
                  <a:srgbClr val="2C3E8C"/>
                </a:solidFill>
                <a:latin typeface="Atkinson Hyperlegible" pitchFamily="34" charset="0"/>
                <a:ea typeface="Atkinson Hyperlegible" pitchFamily="34" charset="-122"/>
                <a:cs typeface="Atkinson Hyperlegible" pitchFamily="34" charset="-120"/>
              </a:rPr>
              <a:t>1</a:t>
            </a:r>
            <a:endParaRPr lang="en-US" sz="900" dirty="0"/>
          </a:p>
        </p:txBody>
      </p:sp>
      <p:sp>
        <p:nvSpPr>
          <p:cNvPr id="11" name="Text 9"/>
          <p:cNvSpPr/>
          <p:nvPr/>
        </p:nvSpPr>
        <p:spPr>
          <a:xfrm>
            <a:off x="374904" y="1133856"/>
            <a:ext cx="1139952" cy="329184"/>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CWA Vertical</a:t>
            </a:r>
            <a:endParaRPr lang="en-US" sz="800" dirty="0"/>
          </a:p>
        </p:txBody>
      </p:sp>
      <p:sp>
        <p:nvSpPr>
          <p:cNvPr id="12" name="Text 10"/>
          <p:cNvSpPr/>
          <p:nvPr/>
        </p:nvSpPr>
        <p:spPr>
          <a:xfrm>
            <a:off x="374904" y="1481328"/>
            <a:ext cx="1139952" cy="685800"/>
          </a:xfrm>
          <a:prstGeom prst="rect">
            <a:avLst/>
          </a:prstGeom>
          <a:noFill/>
          <a:ln/>
        </p:spPr>
        <p:txBody>
          <a:bodyPr wrap="square" rtlCol="0" anchor="ctr"/>
          <a:lstStyle/>
          <a:p>
            <a:pPr algn="ct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CWAs por piso o grupo de pisos (5-10 niveles)</a:t>
            </a:r>
            <a:endParaRPr lang="en-US" sz="700" dirty="0"/>
          </a:p>
        </p:txBody>
      </p:sp>
      <p:sp>
        <p:nvSpPr>
          <p:cNvPr id="13" name="Shape 11"/>
          <p:cNvSpPr/>
          <p:nvPr/>
        </p:nvSpPr>
        <p:spPr>
          <a:xfrm>
            <a:off x="1578864" y="1540764"/>
            <a:ext cx="201168" cy="256032"/>
          </a:xfrm>
          <a:prstGeom prst="chevron">
            <a:avLst/>
          </a:prstGeom>
          <a:solidFill>
            <a:srgbClr val="2C3E8C"/>
          </a:solidFill>
          <a:ln w="12700">
            <a:solidFill>
              <a:srgbClr val="2C3E8C"/>
            </a:solidFill>
            <a:prstDash val="solid"/>
          </a:ln>
        </p:spPr>
      </p:sp>
      <p:sp>
        <p:nvSpPr>
          <p:cNvPr id="14" name="Shape 12"/>
          <p:cNvSpPr/>
          <p:nvPr/>
        </p:nvSpPr>
        <p:spPr>
          <a:xfrm>
            <a:off x="1770888" y="1097280"/>
            <a:ext cx="1249680" cy="1143000"/>
          </a:xfrm>
          <a:prstGeom prst="rect">
            <a:avLst>
              <a:gd name="adj" fmla="val 4800"/>
            </a:avLst>
          </a:prstGeom>
          <a:solidFill>
            <a:srgbClr val="FFFFFF"/>
          </a:solidFill>
          <a:ln w="12700">
            <a:solidFill>
              <a:srgbClr val="2C3E8C"/>
            </a:solidFill>
            <a:prstDash val="solid"/>
          </a:ln>
        </p:spPr>
      </p:sp>
      <p:sp>
        <p:nvSpPr>
          <p:cNvPr id="15" name="Shape 13"/>
          <p:cNvSpPr/>
          <p:nvPr/>
        </p:nvSpPr>
        <p:spPr>
          <a:xfrm>
            <a:off x="2194560" y="896112"/>
            <a:ext cx="402336" cy="402336"/>
          </a:xfrm>
          <a:prstGeom prst="ellipse">
            <a:avLst/>
          </a:prstGeom>
          <a:solidFill>
            <a:srgbClr val="2C3E8C"/>
          </a:solidFill>
          <a:ln w="12700">
            <a:solidFill>
              <a:srgbClr val="2C3E8C"/>
            </a:solidFill>
            <a:prstDash val="solid"/>
          </a:ln>
        </p:spPr>
      </p:sp>
      <p:sp>
        <p:nvSpPr>
          <p:cNvPr id="16" name="Text 14"/>
          <p:cNvSpPr/>
          <p:nvPr/>
        </p:nvSpPr>
        <p:spPr>
          <a:xfrm>
            <a:off x="2194560" y="896112"/>
            <a:ext cx="402336" cy="402336"/>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2</a:t>
            </a:r>
            <a:endParaRPr lang="en-US" sz="900" dirty="0"/>
          </a:p>
        </p:txBody>
      </p:sp>
      <p:sp>
        <p:nvSpPr>
          <p:cNvPr id="17" name="Text 15"/>
          <p:cNvSpPr/>
          <p:nvPr/>
        </p:nvSpPr>
        <p:spPr>
          <a:xfrm>
            <a:off x="1825752" y="1133856"/>
            <a:ext cx="1139952" cy="329184"/>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IWP de Estructura</a:t>
            </a:r>
            <a:endParaRPr lang="en-US" sz="800" dirty="0"/>
          </a:p>
        </p:txBody>
      </p:sp>
      <p:sp>
        <p:nvSpPr>
          <p:cNvPr id="18" name="Text 16"/>
          <p:cNvSpPr/>
          <p:nvPr/>
        </p:nvSpPr>
        <p:spPr>
          <a:xfrm>
            <a:off x="1825752" y="1481328"/>
            <a:ext cx="1139952" cy="685800"/>
          </a:xfrm>
          <a:prstGeom prst="rect">
            <a:avLst/>
          </a:prstGeom>
          <a:noFill/>
          <a:ln/>
        </p:spPr>
        <p:txBody>
          <a:bodyPr wrap="square" rtlCol="0" anchor="ctr"/>
          <a:lstStyle/>
          <a:p>
            <a:pPr algn="ctr" indent="0" marL="0">
              <a:buNone/>
            </a:pPr>
            <a:r>
              <a:rPr lang="en-US" sz="700" dirty="0">
                <a:solidFill>
                  <a:srgbClr val="444444"/>
                </a:solidFill>
                <a:latin typeface="Atkinson Hyperlegible" pitchFamily="34" charset="0"/>
                <a:ea typeface="Atkinson Hyperlegible" pitchFamily="34" charset="-122"/>
                <a:cs typeface="Atkinson Hyperlegible" pitchFamily="34" charset="-120"/>
              </a:rPr>
              <a:t>Por nivel: ColumnasVigas-Losa en secuencia</a:t>
            </a:r>
            <a:endParaRPr lang="en-US" sz="700" dirty="0"/>
          </a:p>
        </p:txBody>
      </p:sp>
      <p:sp>
        <p:nvSpPr>
          <p:cNvPr id="19" name="Shape 17"/>
          <p:cNvSpPr/>
          <p:nvPr/>
        </p:nvSpPr>
        <p:spPr>
          <a:xfrm>
            <a:off x="3029712" y="1540764"/>
            <a:ext cx="201168" cy="256032"/>
          </a:xfrm>
          <a:prstGeom prst="chevron">
            <a:avLst/>
          </a:prstGeom>
          <a:solidFill>
            <a:srgbClr val="2C3E8C"/>
          </a:solidFill>
          <a:ln w="12700">
            <a:solidFill>
              <a:srgbClr val="2C3E8C"/>
            </a:solidFill>
            <a:prstDash val="solid"/>
          </a:ln>
        </p:spPr>
      </p:sp>
      <p:sp>
        <p:nvSpPr>
          <p:cNvPr id="20" name="Shape 18"/>
          <p:cNvSpPr/>
          <p:nvPr/>
        </p:nvSpPr>
        <p:spPr>
          <a:xfrm>
            <a:off x="3221736" y="1097280"/>
            <a:ext cx="1249680" cy="1143000"/>
          </a:xfrm>
          <a:prstGeom prst="rect">
            <a:avLst>
              <a:gd name="adj" fmla="val 4800"/>
            </a:avLst>
          </a:prstGeom>
          <a:solidFill>
            <a:srgbClr val="2C3E8C"/>
          </a:solidFill>
          <a:ln w="12700">
            <a:solidFill>
              <a:srgbClr val="2C3E8C"/>
            </a:solidFill>
            <a:prstDash val="solid"/>
          </a:ln>
        </p:spPr>
      </p:sp>
      <p:sp>
        <p:nvSpPr>
          <p:cNvPr id="21" name="Shape 19"/>
          <p:cNvSpPr/>
          <p:nvPr/>
        </p:nvSpPr>
        <p:spPr>
          <a:xfrm>
            <a:off x="3645408" y="896112"/>
            <a:ext cx="402336" cy="402336"/>
          </a:xfrm>
          <a:prstGeom prst="ellipse">
            <a:avLst/>
          </a:prstGeom>
          <a:solidFill>
            <a:srgbClr val="FFFFFF"/>
          </a:solidFill>
          <a:ln w="12700">
            <a:solidFill>
              <a:srgbClr val="2C3E8C"/>
            </a:solidFill>
            <a:prstDash val="solid"/>
          </a:ln>
        </p:spPr>
      </p:sp>
      <p:sp>
        <p:nvSpPr>
          <p:cNvPr id="22" name="Text 20"/>
          <p:cNvSpPr/>
          <p:nvPr/>
        </p:nvSpPr>
        <p:spPr>
          <a:xfrm>
            <a:off x="3645408" y="896112"/>
            <a:ext cx="402336" cy="402336"/>
          </a:xfrm>
          <a:prstGeom prst="rect">
            <a:avLst/>
          </a:prstGeom>
          <a:noFill/>
          <a:ln/>
        </p:spPr>
        <p:txBody>
          <a:bodyPr wrap="square" rtlCol="0" anchor="ctr"/>
          <a:lstStyle/>
          <a:p>
            <a:pPr algn="ctr" indent="0" marL="0">
              <a:buNone/>
            </a:pPr>
            <a:r>
              <a:rPr lang="en-US" sz="900" b="1" dirty="0">
                <a:solidFill>
                  <a:srgbClr val="2C3E8C"/>
                </a:solidFill>
                <a:latin typeface="Atkinson Hyperlegible" pitchFamily="34" charset="0"/>
                <a:ea typeface="Atkinson Hyperlegible" pitchFamily="34" charset="-122"/>
                <a:cs typeface="Atkinson Hyperlegible" pitchFamily="34" charset="-120"/>
              </a:rPr>
              <a:t>3</a:t>
            </a:r>
            <a:endParaRPr lang="en-US" sz="900" dirty="0"/>
          </a:p>
        </p:txBody>
      </p:sp>
      <p:sp>
        <p:nvSpPr>
          <p:cNvPr id="23" name="Text 21"/>
          <p:cNvSpPr/>
          <p:nvPr/>
        </p:nvSpPr>
        <p:spPr>
          <a:xfrm>
            <a:off x="3276600" y="1133856"/>
            <a:ext cx="1139952" cy="329184"/>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IWP MEP por Zona</a:t>
            </a:r>
            <a:endParaRPr lang="en-US" sz="800" dirty="0"/>
          </a:p>
        </p:txBody>
      </p:sp>
      <p:sp>
        <p:nvSpPr>
          <p:cNvPr id="24" name="Text 22"/>
          <p:cNvSpPr/>
          <p:nvPr/>
        </p:nvSpPr>
        <p:spPr>
          <a:xfrm>
            <a:off x="3276600" y="1481328"/>
            <a:ext cx="1139952" cy="685800"/>
          </a:xfrm>
          <a:prstGeom prst="rect">
            <a:avLst/>
          </a:prstGeom>
          <a:noFill/>
          <a:ln/>
        </p:spPr>
        <p:txBody>
          <a:bodyPr wrap="square" rtlCol="0" anchor="ctr"/>
          <a:lstStyle/>
          <a:p>
            <a:pPr algn="ct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Distribución horizontal por zona BIM-coordinada</a:t>
            </a:r>
            <a:endParaRPr lang="en-US" sz="700" dirty="0"/>
          </a:p>
        </p:txBody>
      </p:sp>
      <p:sp>
        <p:nvSpPr>
          <p:cNvPr id="25" name="Shape 23"/>
          <p:cNvSpPr/>
          <p:nvPr/>
        </p:nvSpPr>
        <p:spPr>
          <a:xfrm>
            <a:off x="4480560" y="1540764"/>
            <a:ext cx="201168" cy="256032"/>
          </a:xfrm>
          <a:prstGeom prst="chevron">
            <a:avLst/>
          </a:prstGeom>
          <a:solidFill>
            <a:srgbClr val="2C3E8C"/>
          </a:solidFill>
          <a:ln w="12700">
            <a:solidFill>
              <a:srgbClr val="2C3E8C"/>
            </a:solidFill>
            <a:prstDash val="solid"/>
          </a:ln>
        </p:spPr>
      </p:sp>
      <p:sp>
        <p:nvSpPr>
          <p:cNvPr id="26" name="Shape 24"/>
          <p:cNvSpPr/>
          <p:nvPr/>
        </p:nvSpPr>
        <p:spPr>
          <a:xfrm>
            <a:off x="4672584" y="1097280"/>
            <a:ext cx="1249680" cy="1143000"/>
          </a:xfrm>
          <a:prstGeom prst="rect">
            <a:avLst>
              <a:gd name="adj" fmla="val 4800"/>
            </a:avLst>
          </a:prstGeom>
          <a:solidFill>
            <a:srgbClr val="FFFFFF"/>
          </a:solidFill>
          <a:ln w="12700">
            <a:solidFill>
              <a:srgbClr val="2C3E8C"/>
            </a:solidFill>
            <a:prstDash val="solid"/>
          </a:ln>
        </p:spPr>
      </p:sp>
      <p:sp>
        <p:nvSpPr>
          <p:cNvPr id="27" name="Shape 25"/>
          <p:cNvSpPr/>
          <p:nvPr/>
        </p:nvSpPr>
        <p:spPr>
          <a:xfrm>
            <a:off x="5096256" y="896112"/>
            <a:ext cx="402336" cy="402336"/>
          </a:xfrm>
          <a:prstGeom prst="ellipse">
            <a:avLst/>
          </a:prstGeom>
          <a:solidFill>
            <a:srgbClr val="2C3E8C"/>
          </a:solidFill>
          <a:ln w="12700">
            <a:solidFill>
              <a:srgbClr val="2C3E8C"/>
            </a:solidFill>
            <a:prstDash val="solid"/>
          </a:ln>
        </p:spPr>
      </p:sp>
      <p:sp>
        <p:nvSpPr>
          <p:cNvPr id="28" name="Text 26"/>
          <p:cNvSpPr/>
          <p:nvPr/>
        </p:nvSpPr>
        <p:spPr>
          <a:xfrm>
            <a:off x="5096256" y="896112"/>
            <a:ext cx="402336" cy="402336"/>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4</a:t>
            </a:r>
            <a:endParaRPr lang="en-US" sz="900" dirty="0"/>
          </a:p>
        </p:txBody>
      </p:sp>
      <p:sp>
        <p:nvSpPr>
          <p:cNvPr id="29" name="Text 27"/>
          <p:cNvSpPr/>
          <p:nvPr/>
        </p:nvSpPr>
        <p:spPr>
          <a:xfrm>
            <a:off x="4727448" y="1133856"/>
            <a:ext cx="1139952" cy="329184"/>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Fachada &amp; Cerramiento</a:t>
            </a:r>
            <a:endParaRPr lang="en-US" sz="800" dirty="0"/>
          </a:p>
        </p:txBody>
      </p:sp>
      <p:sp>
        <p:nvSpPr>
          <p:cNvPr id="30" name="Text 28"/>
          <p:cNvSpPr/>
          <p:nvPr/>
        </p:nvSpPr>
        <p:spPr>
          <a:xfrm>
            <a:off x="4727448" y="1481328"/>
            <a:ext cx="1139952" cy="685800"/>
          </a:xfrm>
          <a:prstGeom prst="rect">
            <a:avLst/>
          </a:prstGeom>
          <a:noFill/>
          <a:ln/>
        </p:spPr>
        <p:txBody>
          <a:bodyPr wrap="square" rtlCol="0" anchor="ctr"/>
          <a:lstStyle/>
          <a:p>
            <a:pPr algn="ctr" indent="0" marL="0">
              <a:buNone/>
            </a:pPr>
            <a:r>
              <a:rPr lang="en-US" sz="700" dirty="0">
                <a:solidFill>
                  <a:srgbClr val="444444"/>
                </a:solidFill>
                <a:latin typeface="Atkinson Hyperlegible" pitchFamily="34" charset="0"/>
                <a:ea typeface="Atkinson Hyperlegible" pitchFamily="34" charset="-122"/>
                <a:cs typeface="Atkinson Hyperlegible" pitchFamily="34" charset="-120"/>
              </a:rPr>
              <a:t>IWPs por paño de fachada según POC vertical</a:t>
            </a:r>
            <a:endParaRPr lang="en-US" sz="700" dirty="0"/>
          </a:p>
        </p:txBody>
      </p:sp>
      <p:sp>
        <p:nvSpPr>
          <p:cNvPr id="31" name="Shape 29"/>
          <p:cNvSpPr/>
          <p:nvPr/>
        </p:nvSpPr>
        <p:spPr>
          <a:xfrm>
            <a:off x="5931408" y="1540764"/>
            <a:ext cx="201168" cy="256032"/>
          </a:xfrm>
          <a:prstGeom prst="chevron">
            <a:avLst/>
          </a:prstGeom>
          <a:solidFill>
            <a:srgbClr val="2C3E8C"/>
          </a:solidFill>
          <a:ln w="12700">
            <a:solidFill>
              <a:srgbClr val="2C3E8C"/>
            </a:solidFill>
            <a:prstDash val="solid"/>
          </a:ln>
        </p:spPr>
      </p:sp>
      <p:sp>
        <p:nvSpPr>
          <p:cNvPr id="32" name="Shape 30"/>
          <p:cNvSpPr/>
          <p:nvPr/>
        </p:nvSpPr>
        <p:spPr>
          <a:xfrm>
            <a:off x="6123432" y="1097280"/>
            <a:ext cx="1249680" cy="1143000"/>
          </a:xfrm>
          <a:prstGeom prst="rect">
            <a:avLst>
              <a:gd name="adj" fmla="val 4800"/>
            </a:avLst>
          </a:prstGeom>
          <a:solidFill>
            <a:srgbClr val="2C3E8C"/>
          </a:solidFill>
          <a:ln w="12700">
            <a:solidFill>
              <a:srgbClr val="2C3E8C"/>
            </a:solidFill>
            <a:prstDash val="solid"/>
          </a:ln>
        </p:spPr>
      </p:sp>
      <p:sp>
        <p:nvSpPr>
          <p:cNvPr id="33" name="Shape 31"/>
          <p:cNvSpPr/>
          <p:nvPr/>
        </p:nvSpPr>
        <p:spPr>
          <a:xfrm>
            <a:off x="6547104" y="896112"/>
            <a:ext cx="402336" cy="402336"/>
          </a:xfrm>
          <a:prstGeom prst="ellipse">
            <a:avLst/>
          </a:prstGeom>
          <a:solidFill>
            <a:srgbClr val="FFFFFF"/>
          </a:solidFill>
          <a:ln w="12700">
            <a:solidFill>
              <a:srgbClr val="2C3E8C"/>
            </a:solidFill>
            <a:prstDash val="solid"/>
          </a:ln>
        </p:spPr>
      </p:sp>
      <p:sp>
        <p:nvSpPr>
          <p:cNvPr id="34" name="Text 32"/>
          <p:cNvSpPr/>
          <p:nvPr/>
        </p:nvSpPr>
        <p:spPr>
          <a:xfrm>
            <a:off x="6547104" y="896112"/>
            <a:ext cx="402336" cy="402336"/>
          </a:xfrm>
          <a:prstGeom prst="rect">
            <a:avLst/>
          </a:prstGeom>
          <a:noFill/>
          <a:ln/>
        </p:spPr>
        <p:txBody>
          <a:bodyPr wrap="square" rtlCol="0" anchor="ctr"/>
          <a:lstStyle/>
          <a:p>
            <a:pPr algn="ctr" indent="0" marL="0">
              <a:buNone/>
            </a:pPr>
            <a:r>
              <a:rPr lang="en-US" sz="900" b="1" dirty="0">
                <a:solidFill>
                  <a:srgbClr val="2C3E8C"/>
                </a:solidFill>
                <a:latin typeface="Atkinson Hyperlegible" pitchFamily="34" charset="0"/>
                <a:ea typeface="Atkinson Hyperlegible" pitchFamily="34" charset="-122"/>
                <a:cs typeface="Atkinson Hyperlegible" pitchFamily="34" charset="-120"/>
              </a:rPr>
              <a:t>5</a:t>
            </a:r>
            <a:endParaRPr lang="en-US" sz="900" dirty="0"/>
          </a:p>
        </p:txBody>
      </p:sp>
      <p:sp>
        <p:nvSpPr>
          <p:cNvPr id="35" name="Text 33"/>
          <p:cNvSpPr/>
          <p:nvPr/>
        </p:nvSpPr>
        <p:spPr>
          <a:xfrm>
            <a:off x="6178296" y="1133856"/>
            <a:ext cx="1139952" cy="329184"/>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Acabados &amp; FF&amp;E</a:t>
            </a:r>
            <a:endParaRPr lang="en-US" sz="800" dirty="0"/>
          </a:p>
        </p:txBody>
      </p:sp>
      <p:sp>
        <p:nvSpPr>
          <p:cNvPr id="36" name="Text 34"/>
          <p:cNvSpPr/>
          <p:nvPr/>
        </p:nvSpPr>
        <p:spPr>
          <a:xfrm>
            <a:off x="6178296" y="1481328"/>
            <a:ext cx="1139952" cy="685800"/>
          </a:xfrm>
          <a:prstGeom prst="rect">
            <a:avLst/>
          </a:prstGeom>
          <a:noFill/>
          <a:ln/>
        </p:spPr>
        <p:txBody>
          <a:bodyPr wrap="square" rtlCol="0" anchor="ctr"/>
          <a:lstStyle/>
          <a:p>
            <a:pPr algn="ct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IWPs de acabados por tipo de espacio</a:t>
            </a:r>
            <a:endParaRPr lang="en-US" sz="700" dirty="0"/>
          </a:p>
        </p:txBody>
      </p:sp>
      <p:sp>
        <p:nvSpPr>
          <p:cNvPr id="37" name="Shape 35"/>
          <p:cNvSpPr/>
          <p:nvPr/>
        </p:nvSpPr>
        <p:spPr>
          <a:xfrm>
            <a:off x="7382256" y="1540764"/>
            <a:ext cx="201168" cy="256032"/>
          </a:xfrm>
          <a:prstGeom prst="chevron">
            <a:avLst/>
          </a:prstGeom>
          <a:solidFill>
            <a:srgbClr val="2C3E8C"/>
          </a:solidFill>
          <a:ln w="12700">
            <a:solidFill>
              <a:srgbClr val="2C3E8C"/>
            </a:solidFill>
            <a:prstDash val="solid"/>
          </a:ln>
        </p:spPr>
      </p:sp>
      <p:sp>
        <p:nvSpPr>
          <p:cNvPr id="38" name="Shape 36"/>
          <p:cNvSpPr/>
          <p:nvPr/>
        </p:nvSpPr>
        <p:spPr>
          <a:xfrm>
            <a:off x="7574280" y="1097280"/>
            <a:ext cx="1249680" cy="1143000"/>
          </a:xfrm>
          <a:prstGeom prst="rect">
            <a:avLst>
              <a:gd name="adj" fmla="val 4800"/>
            </a:avLst>
          </a:prstGeom>
          <a:solidFill>
            <a:srgbClr val="FFFFFF"/>
          </a:solidFill>
          <a:ln w="12700">
            <a:solidFill>
              <a:srgbClr val="2C3E8C"/>
            </a:solidFill>
            <a:prstDash val="solid"/>
          </a:ln>
        </p:spPr>
      </p:sp>
      <p:sp>
        <p:nvSpPr>
          <p:cNvPr id="39" name="Shape 37"/>
          <p:cNvSpPr/>
          <p:nvPr/>
        </p:nvSpPr>
        <p:spPr>
          <a:xfrm>
            <a:off x="7997952" y="896112"/>
            <a:ext cx="402336" cy="402336"/>
          </a:xfrm>
          <a:prstGeom prst="ellipse">
            <a:avLst/>
          </a:prstGeom>
          <a:solidFill>
            <a:srgbClr val="2C3E8C"/>
          </a:solidFill>
          <a:ln w="12700">
            <a:solidFill>
              <a:srgbClr val="2C3E8C"/>
            </a:solidFill>
            <a:prstDash val="solid"/>
          </a:ln>
        </p:spPr>
      </p:sp>
      <p:sp>
        <p:nvSpPr>
          <p:cNvPr id="40" name="Text 38"/>
          <p:cNvSpPr/>
          <p:nvPr/>
        </p:nvSpPr>
        <p:spPr>
          <a:xfrm>
            <a:off x="7997952" y="896112"/>
            <a:ext cx="402336" cy="402336"/>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6</a:t>
            </a:r>
            <a:endParaRPr lang="en-US" sz="900" dirty="0"/>
          </a:p>
        </p:txBody>
      </p:sp>
      <p:sp>
        <p:nvSpPr>
          <p:cNvPr id="41" name="Text 39"/>
          <p:cNvSpPr/>
          <p:nvPr/>
        </p:nvSpPr>
        <p:spPr>
          <a:xfrm>
            <a:off x="7629144" y="1133856"/>
            <a:ext cx="1139952" cy="329184"/>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Comisionado por Piso</a:t>
            </a:r>
            <a:endParaRPr lang="en-US" sz="800" dirty="0"/>
          </a:p>
        </p:txBody>
      </p:sp>
      <p:sp>
        <p:nvSpPr>
          <p:cNvPr id="42" name="Text 40"/>
          <p:cNvSpPr/>
          <p:nvPr/>
        </p:nvSpPr>
        <p:spPr>
          <a:xfrm>
            <a:off x="7629144" y="1481328"/>
            <a:ext cx="1139952" cy="685800"/>
          </a:xfrm>
          <a:prstGeom prst="rect">
            <a:avLst/>
          </a:prstGeom>
          <a:noFill/>
          <a:ln/>
        </p:spPr>
        <p:txBody>
          <a:bodyPr wrap="square" rtlCol="0" anchor="ctr"/>
          <a:lstStyle/>
          <a:p>
            <a:pPr algn="ctr" indent="0" marL="0">
              <a:buNone/>
            </a:pPr>
            <a:r>
              <a:rPr lang="en-US" sz="700" dirty="0">
                <a:solidFill>
                  <a:srgbClr val="444444"/>
                </a:solidFill>
                <a:latin typeface="Atkinson Hyperlegible" pitchFamily="34" charset="0"/>
                <a:ea typeface="Atkinson Hyperlegible" pitchFamily="34" charset="-122"/>
                <a:cs typeface="Atkinson Hyperlegible" pitchFamily="34" charset="-120"/>
              </a:rPr>
              <a:t>TWPs de sistemas completados por zona</a:t>
            </a:r>
            <a:endParaRPr lang="en-US" sz="700" dirty="0"/>
          </a:p>
        </p:txBody>
      </p:sp>
      <p:sp>
        <p:nvSpPr>
          <p:cNvPr id="43" name="Shape 41"/>
          <p:cNvSpPr/>
          <p:nvPr/>
        </p:nvSpPr>
        <p:spPr>
          <a:xfrm>
            <a:off x="320040" y="2487168"/>
            <a:ext cx="4023360" cy="1078992"/>
          </a:xfrm>
          <a:prstGeom prst="rect">
            <a:avLst>
              <a:gd name="adj" fmla="val 5085"/>
            </a:avLst>
          </a:prstGeom>
          <a:solidFill>
            <a:srgbClr val="FFFFFF"/>
          </a:solidFill>
          <a:ln w="6350">
            <a:solidFill>
              <a:srgbClr val="E5E5EA"/>
            </a:solidFill>
            <a:prstDash val="solid"/>
          </a:ln>
        </p:spPr>
      </p:sp>
      <p:pic>
        <p:nvPicPr>
          <p:cNvPr id="4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38912" y="2578608"/>
            <a:ext cx="329184" cy="329184"/>
          </a:xfrm>
          <a:prstGeom prst="rect">
            <a:avLst/>
          </a:prstGeom>
        </p:spPr>
      </p:pic>
      <p:sp>
        <p:nvSpPr>
          <p:cNvPr id="45" name="Text 42"/>
          <p:cNvSpPr/>
          <p:nvPr/>
        </p:nvSpPr>
        <p:spPr>
          <a:xfrm>
            <a:off x="795528" y="255117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Logística Urbana</a:t>
            </a:r>
            <a:endParaRPr lang="en-US" sz="900" dirty="0"/>
          </a:p>
        </p:txBody>
      </p:sp>
      <p:sp>
        <p:nvSpPr>
          <p:cNvPr id="46" name="Text 43"/>
          <p:cNvSpPr/>
          <p:nvPr/>
        </p:nvSpPr>
        <p:spPr>
          <a:xfrm>
            <a:off x="795528" y="2779776"/>
            <a:ext cx="3429000" cy="7132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Ventanas de entrega JIT: permisos de vía, grúas torre y descargas en horarios restringidos coordnados en IWPs</a:t>
            </a:r>
            <a:endParaRPr lang="en-US" sz="750" dirty="0"/>
          </a:p>
        </p:txBody>
      </p:sp>
      <p:sp>
        <p:nvSpPr>
          <p:cNvPr id="47" name="Shape 44"/>
          <p:cNvSpPr/>
          <p:nvPr/>
        </p:nvSpPr>
        <p:spPr>
          <a:xfrm>
            <a:off x="4663440" y="2487168"/>
            <a:ext cx="4023360" cy="1078992"/>
          </a:xfrm>
          <a:prstGeom prst="rect">
            <a:avLst>
              <a:gd name="adj" fmla="val 5085"/>
            </a:avLst>
          </a:prstGeom>
          <a:solidFill>
            <a:srgbClr val="FFFFFF"/>
          </a:solidFill>
          <a:ln w="6350">
            <a:solidFill>
              <a:srgbClr val="E5E5EA"/>
            </a:solidFill>
            <a:prstDash val="solid"/>
          </a:ln>
        </p:spPr>
      </p:sp>
      <p:pic>
        <p:nvPicPr>
          <p:cNvPr id="4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82312" y="2578608"/>
            <a:ext cx="329184" cy="329184"/>
          </a:xfrm>
          <a:prstGeom prst="rect">
            <a:avLst/>
          </a:prstGeom>
        </p:spPr>
      </p:pic>
      <p:sp>
        <p:nvSpPr>
          <p:cNvPr id="49" name="Text 45"/>
          <p:cNvSpPr/>
          <p:nvPr/>
        </p:nvSpPr>
        <p:spPr>
          <a:xfrm>
            <a:off x="5138928" y="255117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Espacio Confinado</a:t>
            </a:r>
            <a:endParaRPr lang="en-US" sz="900" dirty="0"/>
          </a:p>
        </p:txBody>
      </p:sp>
      <p:sp>
        <p:nvSpPr>
          <p:cNvPr id="50" name="Text 46"/>
          <p:cNvSpPr/>
          <p:nvPr/>
        </p:nvSpPr>
        <p:spPr>
          <a:xfrm>
            <a:off x="5138928" y="2779776"/>
            <a:ext cx="3429000" cy="7132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CWPs de estructura y MEP solapados: coordinación BIM 4D obligatoria para secuenciar ocupación por pisos</a:t>
            </a:r>
            <a:endParaRPr lang="en-US" sz="750" dirty="0"/>
          </a:p>
        </p:txBody>
      </p:sp>
      <p:sp>
        <p:nvSpPr>
          <p:cNvPr id="51" name="Shape 47"/>
          <p:cNvSpPr/>
          <p:nvPr/>
        </p:nvSpPr>
        <p:spPr>
          <a:xfrm>
            <a:off x="320040" y="3675888"/>
            <a:ext cx="4023360" cy="1078992"/>
          </a:xfrm>
          <a:prstGeom prst="rect">
            <a:avLst>
              <a:gd name="adj" fmla="val 5085"/>
            </a:avLst>
          </a:prstGeom>
          <a:solidFill>
            <a:srgbClr val="FFFFFF"/>
          </a:solidFill>
          <a:ln w="6350">
            <a:solidFill>
              <a:srgbClr val="E5E5EA"/>
            </a:solidFill>
            <a:prstDash val="solid"/>
          </a:ln>
        </p:spPr>
      </p:sp>
      <p:pic>
        <p:nvPicPr>
          <p:cNvPr id="5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8912" y="3767328"/>
            <a:ext cx="329184" cy="329184"/>
          </a:xfrm>
          <a:prstGeom prst="rect">
            <a:avLst/>
          </a:prstGeom>
        </p:spPr>
      </p:pic>
      <p:sp>
        <p:nvSpPr>
          <p:cNvPr id="53" name="Text 48"/>
          <p:cNvSpPr/>
          <p:nvPr/>
        </p:nvSpPr>
        <p:spPr>
          <a:xfrm>
            <a:off x="795528" y="373989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Interferencia al Entorno</a:t>
            </a:r>
            <a:endParaRPr lang="en-US" sz="900" dirty="0"/>
          </a:p>
        </p:txBody>
      </p:sp>
      <p:sp>
        <p:nvSpPr>
          <p:cNvPr id="54" name="Text 49"/>
          <p:cNvSpPr/>
          <p:nvPr/>
        </p:nvSpPr>
        <p:spPr>
          <a:xfrm>
            <a:off x="795528" y="3968496"/>
            <a:ext cx="3429000" cy="7132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IWPs de trabajos nocturnos, vibraciones y polvo incorporan plan de mitigación de impacto vecinal</a:t>
            </a:r>
            <a:endParaRPr lang="en-US" sz="750" dirty="0"/>
          </a:p>
        </p:txBody>
      </p:sp>
      <p:sp>
        <p:nvSpPr>
          <p:cNvPr id="55" name="Shape 50"/>
          <p:cNvSpPr/>
          <p:nvPr/>
        </p:nvSpPr>
        <p:spPr>
          <a:xfrm>
            <a:off x="4663440" y="3675888"/>
            <a:ext cx="4023360" cy="1078992"/>
          </a:xfrm>
          <a:prstGeom prst="rect">
            <a:avLst>
              <a:gd name="adj" fmla="val 5085"/>
            </a:avLst>
          </a:prstGeom>
          <a:solidFill>
            <a:srgbClr val="FFFFFF"/>
          </a:solidFill>
          <a:ln w="6350">
            <a:solidFill>
              <a:srgbClr val="E5E5EA"/>
            </a:solidFill>
            <a:prstDash val="solid"/>
          </a:ln>
        </p:spPr>
      </p:sp>
      <p:pic>
        <p:nvPicPr>
          <p:cNvPr id="5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82312" y="3767328"/>
            <a:ext cx="329184" cy="329184"/>
          </a:xfrm>
          <a:prstGeom prst="rect">
            <a:avLst/>
          </a:prstGeom>
        </p:spPr>
      </p:pic>
      <p:sp>
        <p:nvSpPr>
          <p:cNvPr id="57" name="Text 51"/>
          <p:cNvSpPr/>
          <p:nvPr/>
        </p:nvSpPr>
        <p:spPr>
          <a:xfrm>
            <a:off x="5138928" y="373989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Ocupación Parcial</a:t>
            </a:r>
            <a:endParaRPr lang="en-US" sz="900" dirty="0"/>
          </a:p>
        </p:txBody>
      </p:sp>
      <p:sp>
        <p:nvSpPr>
          <p:cNvPr id="58" name="Text 52"/>
          <p:cNvSpPr/>
          <p:nvPr/>
        </p:nvSpPr>
        <p:spPr>
          <a:xfrm>
            <a:off x="5138928" y="3968496"/>
            <a:ext cx="3429000" cy="7132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Edificios con ocupación progresiva: TWPs de comisionado por piso coordinados con fecha de entrega por lote</a:t>
            </a:r>
            <a:endParaRPr lang="en-US" sz="7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C3E8C"/>
          </a:solidFill>
          <a:ln w="12700">
            <a:solidFill>
              <a:srgbClr val="2C3E8C"/>
            </a:solidFill>
            <a:prstDash val="solid"/>
          </a:ln>
        </p:spPr>
      </p:sp>
      <p:sp>
        <p:nvSpPr>
          <p:cNvPr id="3" name="Shape 1"/>
          <p:cNvSpPr/>
          <p:nvPr/>
        </p:nvSpPr>
        <p:spPr>
          <a:xfrm>
            <a:off x="164592" y="4956048"/>
            <a:ext cx="8979408" cy="182880"/>
          </a:xfrm>
          <a:prstGeom prst="rect">
            <a:avLst/>
          </a:prstGeom>
          <a:solidFill>
            <a:srgbClr val="2C3E8C"/>
          </a:solidFill>
          <a:ln w="12700">
            <a:solidFill>
              <a:srgbClr val="2C3E8C"/>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111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Interoperabilidad: BIM + P6 + AWP Platform</a:t>
            </a:r>
            <a:endParaRPr lang="en-US" sz="1800" dirty="0"/>
          </a:p>
        </p:txBody>
      </p:sp>
      <p:sp>
        <p:nvSpPr>
          <p:cNvPr id="6" name="Shape 4"/>
          <p:cNvSpPr/>
          <p:nvPr/>
        </p:nvSpPr>
        <p:spPr>
          <a:xfrm>
            <a:off x="320040" y="621792"/>
            <a:ext cx="8503920" cy="41148"/>
          </a:xfrm>
          <a:prstGeom prst="rect">
            <a:avLst/>
          </a:prstGeom>
          <a:solidFill>
            <a:srgbClr val="2C3E8C"/>
          </a:solidFill>
          <a:ln w="12700">
            <a:solidFill>
              <a:srgbClr val="2C3E8C"/>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2C3E8C"/>
                </a:solidFill>
                <a:latin typeface="Atkinson Hyperlegible" pitchFamily="34" charset="0"/>
                <a:ea typeface="Atkinson Hyperlegible" pitchFamily="34" charset="-122"/>
                <a:cs typeface="Atkinson Hyperlegible" pitchFamily="34" charset="-120"/>
              </a:rPr>
              <a:t>Integración de sistemas para flujo de datos sin fricciones en AWP</a:t>
            </a:r>
            <a:endParaRPr lang="en-US" sz="900" dirty="0"/>
          </a:p>
        </p:txBody>
      </p:sp>
      <p:sp>
        <p:nvSpPr>
          <p:cNvPr id="8" name="Shape 6"/>
          <p:cNvSpPr/>
          <p:nvPr/>
        </p:nvSpPr>
        <p:spPr>
          <a:xfrm>
            <a:off x="320040" y="987552"/>
            <a:ext cx="8503920" cy="585216"/>
          </a:xfrm>
          <a:prstGeom prst="rect">
            <a:avLst>
              <a:gd name="adj" fmla="val 7813"/>
            </a:avLst>
          </a:prstGeom>
          <a:solidFill>
            <a:srgbClr val="F5F5FF"/>
          </a:solidFill>
          <a:ln w="10160">
            <a:solidFill>
              <a:srgbClr val="0A74E3"/>
            </a:solidFill>
            <a:prstDash val="solid"/>
          </a:ln>
        </p:spPr>
      </p:sp>
      <p:sp>
        <p:nvSpPr>
          <p:cNvPr id="9" name="Shape 7"/>
          <p:cNvSpPr/>
          <p:nvPr/>
        </p:nvSpPr>
        <p:spPr>
          <a:xfrm>
            <a:off x="320040" y="987552"/>
            <a:ext cx="73152" cy="585216"/>
          </a:xfrm>
          <a:prstGeom prst="rect">
            <a:avLst>
              <a:gd name="adj" fmla="val 62500"/>
            </a:avLst>
          </a:prstGeom>
          <a:solidFill>
            <a:srgbClr val="0A74E3"/>
          </a:solidFill>
          <a:ln w="12700">
            <a:solidFill>
              <a:srgbClr val="0A74E3"/>
            </a:solidFill>
            <a:prstDash val="solid"/>
          </a:ln>
        </p:spPr>
      </p:sp>
      <p:sp>
        <p:nvSpPr>
          <p:cNvPr id="10" name="Text 8"/>
          <p:cNvSpPr/>
          <p:nvPr/>
        </p:nvSpPr>
        <p:spPr>
          <a:xfrm>
            <a:off x="502920" y="1078992"/>
            <a:ext cx="2926080" cy="402336"/>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Revit/AVEVA 3D</a:t>
            </a:r>
            <a:endParaRPr lang="en-US" sz="900" dirty="0"/>
          </a:p>
        </p:txBody>
      </p:sp>
      <p:sp>
        <p:nvSpPr>
          <p:cNvPr id="11" name="Shape 9"/>
          <p:cNvSpPr/>
          <p:nvPr/>
        </p:nvSpPr>
        <p:spPr>
          <a:xfrm>
            <a:off x="3566160" y="1133856"/>
            <a:ext cx="457200" cy="292608"/>
          </a:xfrm>
          <a:prstGeom prst="chevron">
            <a:avLst/>
          </a:prstGeom>
          <a:solidFill>
            <a:srgbClr val="0A74E3"/>
          </a:solidFill>
          <a:ln w="12700">
            <a:solidFill>
              <a:srgbClr val="0A74E3"/>
            </a:solidFill>
            <a:prstDash val="solid"/>
          </a:ln>
        </p:spPr>
      </p:sp>
      <p:sp>
        <p:nvSpPr>
          <p:cNvPr id="12" name="Text 10"/>
          <p:cNvSpPr/>
          <p:nvPr/>
        </p:nvSpPr>
        <p:spPr>
          <a:xfrm>
            <a:off x="4160520" y="1078992"/>
            <a:ext cx="4480560" cy="402336"/>
          </a:xfrm>
          <a:prstGeom prst="rect">
            <a:avLst/>
          </a:prstGeom>
          <a:noFill/>
          <a:ln/>
        </p:spPr>
        <p:txBody>
          <a:bodyPr wrap="square" rtlCol="0" anchor="ctr"/>
          <a:lstStyle/>
          <a:p>
            <a:pPr indent="0" marL="0">
              <a:buNone/>
            </a:pPr>
            <a:r>
              <a:rPr lang="en-US" sz="900" dirty="0">
                <a:solidFill>
                  <a:srgbClr val="1D1D1F"/>
                </a:solidFill>
                <a:latin typeface="Atkinson Hyperlegible" pitchFamily="34" charset="0"/>
                <a:ea typeface="Atkinson Hyperlegible" pitchFamily="34" charset="-122"/>
                <a:cs typeface="Atkinson Hyperlegible" pitchFamily="34" charset="-120"/>
              </a:rPr>
              <a:t>CDE / IFC</a:t>
            </a:r>
            <a:endParaRPr lang="en-US" sz="900" dirty="0"/>
          </a:p>
        </p:txBody>
      </p:sp>
      <p:sp>
        <p:nvSpPr>
          <p:cNvPr id="13" name="Shape 11"/>
          <p:cNvSpPr/>
          <p:nvPr/>
        </p:nvSpPr>
        <p:spPr>
          <a:xfrm>
            <a:off x="320040" y="1645920"/>
            <a:ext cx="8503920" cy="585216"/>
          </a:xfrm>
          <a:prstGeom prst="rect">
            <a:avLst>
              <a:gd name="adj" fmla="val 7813"/>
            </a:avLst>
          </a:prstGeom>
          <a:solidFill>
            <a:srgbClr val="FFFFFF"/>
          </a:solidFill>
          <a:ln w="10160">
            <a:solidFill>
              <a:srgbClr val="0E9E9E"/>
            </a:solidFill>
            <a:prstDash val="solid"/>
          </a:ln>
        </p:spPr>
      </p:sp>
      <p:sp>
        <p:nvSpPr>
          <p:cNvPr id="14" name="Shape 12"/>
          <p:cNvSpPr/>
          <p:nvPr/>
        </p:nvSpPr>
        <p:spPr>
          <a:xfrm>
            <a:off x="320040" y="1645920"/>
            <a:ext cx="73152" cy="585216"/>
          </a:xfrm>
          <a:prstGeom prst="rect">
            <a:avLst>
              <a:gd name="adj" fmla="val 62500"/>
            </a:avLst>
          </a:prstGeom>
          <a:solidFill>
            <a:srgbClr val="0E9E9E"/>
          </a:solidFill>
          <a:ln w="12700">
            <a:solidFill>
              <a:srgbClr val="0E9E9E"/>
            </a:solidFill>
            <a:prstDash val="solid"/>
          </a:ln>
        </p:spPr>
      </p:sp>
      <p:sp>
        <p:nvSpPr>
          <p:cNvPr id="15" name="Text 13"/>
          <p:cNvSpPr/>
          <p:nvPr/>
        </p:nvSpPr>
        <p:spPr>
          <a:xfrm>
            <a:off x="502920" y="1737360"/>
            <a:ext cx="2926080" cy="402336"/>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CDE / IFC</a:t>
            </a:r>
            <a:endParaRPr lang="en-US" sz="900" dirty="0"/>
          </a:p>
        </p:txBody>
      </p:sp>
      <p:sp>
        <p:nvSpPr>
          <p:cNvPr id="16" name="Shape 14"/>
          <p:cNvSpPr/>
          <p:nvPr/>
        </p:nvSpPr>
        <p:spPr>
          <a:xfrm>
            <a:off x="3566160" y="1792224"/>
            <a:ext cx="457200" cy="292608"/>
          </a:xfrm>
          <a:prstGeom prst="chevron">
            <a:avLst/>
          </a:prstGeom>
          <a:solidFill>
            <a:srgbClr val="0E9E9E"/>
          </a:solidFill>
          <a:ln w="12700">
            <a:solidFill>
              <a:srgbClr val="0E9E9E"/>
            </a:solidFill>
            <a:prstDash val="solid"/>
          </a:ln>
        </p:spPr>
      </p:sp>
      <p:sp>
        <p:nvSpPr>
          <p:cNvPr id="17" name="Text 15"/>
          <p:cNvSpPr/>
          <p:nvPr/>
        </p:nvSpPr>
        <p:spPr>
          <a:xfrm>
            <a:off x="4160520" y="1737360"/>
            <a:ext cx="4480560" cy="402336"/>
          </a:xfrm>
          <a:prstGeom prst="rect">
            <a:avLst/>
          </a:prstGeom>
          <a:noFill/>
          <a:ln/>
        </p:spPr>
        <p:txBody>
          <a:bodyPr wrap="square" rtlCol="0" anchor="ctr"/>
          <a:lstStyle/>
          <a:p>
            <a:pPr indent="0" marL="0">
              <a:buNone/>
            </a:pPr>
            <a:r>
              <a:rPr lang="en-US" sz="900" dirty="0">
                <a:solidFill>
                  <a:srgbClr val="1D1D1F"/>
                </a:solidFill>
                <a:latin typeface="Atkinson Hyperlegible" pitchFamily="34" charset="0"/>
                <a:ea typeface="Atkinson Hyperlegible" pitchFamily="34" charset="-122"/>
                <a:cs typeface="Atkinson Hyperlegible" pitchFamily="34" charset="-120"/>
              </a:rPr>
              <a:t>AWP Platform</a:t>
            </a:r>
            <a:endParaRPr lang="en-US" sz="900" dirty="0"/>
          </a:p>
        </p:txBody>
      </p:sp>
      <p:sp>
        <p:nvSpPr>
          <p:cNvPr id="18" name="Shape 16"/>
          <p:cNvSpPr/>
          <p:nvPr/>
        </p:nvSpPr>
        <p:spPr>
          <a:xfrm>
            <a:off x="320040" y="2304288"/>
            <a:ext cx="8503920" cy="585216"/>
          </a:xfrm>
          <a:prstGeom prst="rect">
            <a:avLst>
              <a:gd name="adj" fmla="val 7813"/>
            </a:avLst>
          </a:prstGeom>
          <a:solidFill>
            <a:srgbClr val="F5F5FF"/>
          </a:solidFill>
          <a:ln w="10160">
            <a:solidFill>
              <a:srgbClr val="27AE60"/>
            </a:solidFill>
            <a:prstDash val="solid"/>
          </a:ln>
        </p:spPr>
      </p:sp>
      <p:sp>
        <p:nvSpPr>
          <p:cNvPr id="19" name="Shape 17"/>
          <p:cNvSpPr/>
          <p:nvPr/>
        </p:nvSpPr>
        <p:spPr>
          <a:xfrm>
            <a:off x="320040" y="2304288"/>
            <a:ext cx="73152" cy="585216"/>
          </a:xfrm>
          <a:prstGeom prst="rect">
            <a:avLst>
              <a:gd name="adj" fmla="val 62500"/>
            </a:avLst>
          </a:prstGeom>
          <a:solidFill>
            <a:srgbClr val="27AE60"/>
          </a:solidFill>
          <a:ln w="12700">
            <a:solidFill>
              <a:srgbClr val="27AE60"/>
            </a:solidFill>
            <a:prstDash val="solid"/>
          </a:ln>
        </p:spPr>
      </p:sp>
      <p:sp>
        <p:nvSpPr>
          <p:cNvPr id="20" name="Text 18"/>
          <p:cNvSpPr/>
          <p:nvPr/>
        </p:nvSpPr>
        <p:spPr>
          <a:xfrm>
            <a:off x="502920" y="2395728"/>
            <a:ext cx="2926080" cy="402336"/>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Primavera P6</a:t>
            </a:r>
            <a:endParaRPr lang="en-US" sz="900" dirty="0"/>
          </a:p>
        </p:txBody>
      </p:sp>
      <p:sp>
        <p:nvSpPr>
          <p:cNvPr id="21" name="Shape 19"/>
          <p:cNvSpPr/>
          <p:nvPr/>
        </p:nvSpPr>
        <p:spPr>
          <a:xfrm>
            <a:off x="3566160" y="2450592"/>
            <a:ext cx="457200" cy="292608"/>
          </a:xfrm>
          <a:prstGeom prst="chevron">
            <a:avLst/>
          </a:prstGeom>
          <a:solidFill>
            <a:srgbClr val="27AE60"/>
          </a:solidFill>
          <a:ln w="12700">
            <a:solidFill>
              <a:srgbClr val="27AE60"/>
            </a:solidFill>
            <a:prstDash val="solid"/>
          </a:ln>
        </p:spPr>
      </p:sp>
      <p:sp>
        <p:nvSpPr>
          <p:cNvPr id="22" name="Text 20"/>
          <p:cNvSpPr/>
          <p:nvPr/>
        </p:nvSpPr>
        <p:spPr>
          <a:xfrm>
            <a:off x="4160520" y="2395728"/>
            <a:ext cx="4480560" cy="402336"/>
          </a:xfrm>
          <a:prstGeom prst="rect">
            <a:avLst/>
          </a:prstGeom>
          <a:noFill/>
          <a:ln/>
        </p:spPr>
        <p:txBody>
          <a:bodyPr wrap="square" rtlCol="0" anchor="ctr"/>
          <a:lstStyle/>
          <a:p>
            <a:pPr indent="0" marL="0">
              <a:buNone/>
            </a:pPr>
            <a:r>
              <a:rPr lang="en-US" sz="900" dirty="0">
                <a:solidFill>
                  <a:srgbClr val="1D1D1F"/>
                </a:solidFill>
                <a:latin typeface="Atkinson Hyperlegible" pitchFamily="34" charset="0"/>
                <a:ea typeface="Atkinson Hyperlegible" pitchFamily="34" charset="-122"/>
                <a:cs typeface="Atkinson Hyperlegible" pitchFamily="34" charset="-120"/>
              </a:rPr>
              <a:t>AWP Platform</a:t>
            </a:r>
            <a:endParaRPr lang="en-US" sz="900" dirty="0"/>
          </a:p>
        </p:txBody>
      </p:sp>
      <p:sp>
        <p:nvSpPr>
          <p:cNvPr id="23" name="Shape 21"/>
          <p:cNvSpPr/>
          <p:nvPr/>
        </p:nvSpPr>
        <p:spPr>
          <a:xfrm>
            <a:off x="320040" y="2962656"/>
            <a:ext cx="8503920" cy="585216"/>
          </a:xfrm>
          <a:prstGeom prst="rect">
            <a:avLst>
              <a:gd name="adj" fmla="val 7813"/>
            </a:avLst>
          </a:prstGeom>
          <a:solidFill>
            <a:srgbClr val="FFFFFF"/>
          </a:solidFill>
          <a:ln w="10160">
            <a:solidFill>
              <a:srgbClr val="D4620A"/>
            </a:solidFill>
            <a:prstDash val="solid"/>
          </a:ln>
        </p:spPr>
      </p:sp>
      <p:sp>
        <p:nvSpPr>
          <p:cNvPr id="24" name="Shape 22"/>
          <p:cNvSpPr/>
          <p:nvPr/>
        </p:nvSpPr>
        <p:spPr>
          <a:xfrm>
            <a:off x="320040" y="2962656"/>
            <a:ext cx="73152" cy="585216"/>
          </a:xfrm>
          <a:prstGeom prst="rect">
            <a:avLst>
              <a:gd name="adj" fmla="val 62500"/>
            </a:avLst>
          </a:prstGeom>
          <a:solidFill>
            <a:srgbClr val="D4620A"/>
          </a:solidFill>
          <a:ln w="12700">
            <a:solidFill>
              <a:srgbClr val="D4620A"/>
            </a:solidFill>
            <a:prstDash val="solid"/>
          </a:ln>
        </p:spPr>
      </p:sp>
      <p:sp>
        <p:nvSpPr>
          <p:cNvPr id="25" name="Text 23"/>
          <p:cNvSpPr/>
          <p:nvPr/>
        </p:nvSpPr>
        <p:spPr>
          <a:xfrm>
            <a:off x="502920" y="3054096"/>
            <a:ext cx="2926080" cy="402336"/>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AWP Platform</a:t>
            </a:r>
            <a:endParaRPr lang="en-US" sz="900" dirty="0"/>
          </a:p>
        </p:txBody>
      </p:sp>
      <p:sp>
        <p:nvSpPr>
          <p:cNvPr id="26" name="Shape 24"/>
          <p:cNvSpPr/>
          <p:nvPr/>
        </p:nvSpPr>
        <p:spPr>
          <a:xfrm>
            <a:off x="3566160" y="3108960"/>
            <a:ext cx="457200" cy="292608"/>
          </a:xfrm>
          <a:prstGeom prst="chevron">
            <a:avLst/>
          </a:prstGeom>
          <a:solidFill>
            <a:srgbClr val="D4620A"/>
          </a:solidFill>
          <a:ln w="12700">
            <a:solidFill>
              <a:srgbClr val="D4620A"/>
            </a:solidFill>
            <a:prstDash val="solid"/>
          </a:ln>
        </p:spPr>
      </p:sp>
      <p:sp>
        <p:nvSpPr>
          <p:cNvPr id="27" name="Text 25"/>
          <p:cNvSpPr/>
          <p:nvPr/>
        </p:nvSpPr>
        <p:spPr>
          <a:xfrm>
            <a:off x="4160520" y="3054096"/>
            <a:ext cx="4480560" cy="402336"/>
          </a:xfrm>
          <a:prstGeom prst="rect">
            <a:avLst/>
          </a:prstGeom>
          <a:noFill/>
          <a:ln/>
        </p:spPr>
        <p:txBody>
          <a:bodyPr wrap="square" rtlCol="0" anchor="ctr"/>
          <a:lstStyle/>
          <a:p>
            <a:pPr indent="0" marL="0">
              <a:buNone/>
            </a:pPr>
            <a:r>
              <a:rPr lang="en-US" sz="900" dirty="0">
                <a:solidFill>
                  <a:srgbClr val="1D1D1F"/>
                </a:solidFill>
                <a:latin typeface="Atkinson Hyperlegible" pitchFamily="34" charset="0"/>
                <a:ea typeface="Atkinson Hyperlegible" pitchFamily="34" charset="-122"/>
                <a:cs typeface="Atkinson Hyperlegible" pitchFamily="34" charset="-120"/>
              </a:rPr>
              <a:t>IWP Tracker / Mobile</a:t>
            </a:r>
            <a:endParaRPr lang="en-US" sz="900" dirty="0"/>
          </a:p>
        </p:txBody>
      </p:sp>
      <p:sp>
        <p:nvSpPr>
          <p:cNvPr id="28" name="Shape 26"/>
          <p:cNvSpPr/>
          <p:nvPr/>
        </p:nvSpPr>
        <p:spPr>
          <a:xfrm>
            <a:off x="320040" y="3621024"/>
            <a:ext cx="8503920" cy="585216"/>
          </a:xfrm>
          <a:prstGeom prst="rect">
            <a:avLst>
              <a:gd name="adj" fmla="val 7813"/>
            </a:avLst>
          </a:prstGeom>
          <a:solidFill>
            <a:srgbClr val="F5F5FF"/>
          </a:solidFill>
          <a:ln w="10160">
            <a:solidFill>
              <a:srgbClr val="8E44AD"/>
            </a:solidFill>
            <a:prstDash val="solid"/>
          </a:ln>
        </p:spPr>
      </p:sp>
      <p:sp>
        <p:nvSpPr>
          <p:cNvPr id="29" name="Shape 27"/>
          <p:cNvSpPr/>
          <p:nvPr/>
        </p:nvSpPr>
        <p:spPr>
          <a:xfrm>
            <a:off x="320040" y="3621024"/>
            <a:ext cx="73152" cy="585216"/>
          </a:xfrm>
          <a:prstGeom prst="rect">
            <a:avLst>
              <a:gd name="adj" fmla="val 62500"/>
            </a:avLst>
          </a:prstGeom>
          <a:solidFill>
            <a:srgbClr val="8E44AD"/>
          </a:solidFill>
          <a:ln w="12700">
            <a:solidFill>
              <a:srgbClr val="8E44AD"/>
            </a:solidFill>
            <a:prstDash val="solid"/>
          </a:ln>
        </p:spPr>
      </p:sp>
      <p:sp>
        <p:nvSpPr>
          <p:cNvPr id="30" name="Text 28"/>
          <p:cNvSpPr/>
          <p:nvPr/>
        </p:nvSpPr>
        <p:spPr>
          <a:xfrm>
            <a:off x="502920" y="3712464"/>
            <a:ext cx="2926080" cy="402336"/>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IWP Tracker</a:t>
            </a:r>
            <a:endParaRPr lang="en-US" sz="900" dirty="0"/>
          </a:p>
        </p:txBody>
      </p:sp>
      <p:sp>
        <p:nvSpPr>
          <p:cNvPr id="31" name="Shape 29"/>
          <p:cNvSpPr/>
          <p:nvPr/>
        </p:nvSpPr>
        <p:spPr>
          <a:xfrm>
            <a:off x="3566160" y="3767328"/>
            <a:ext cx="457200" cy="292608"/>
          </a:xfrm>
          <a:prstGeom prst="chevron">
            <a:avLst/>
          </a:prstGeom>
          <a:solidFill>
            <a:srgbClr val="8E44AD"/>
          </a:solidFill>
          <a:ln w="12700">
            <a:solidFill>
              <a:srgbClr val="8E44AD"/>
            </a:solidFill>
            <a:prstDash val="solid"/>
          </a:ln>
        </p:spPr>
      </p:sp>
      <p:sp>
        <p:nvSpPr>
          <p:cNvPr id="32" name="Text 30"/>
          <p:cNvSpPr/>
          <p:nvPr/>
        </p:nvSpPr>
        <p:spPr>
          <a:xfrm>
            <a:off x="4160520" y="3712464"/>
            <a:ext cx="4480560" cy="402336"/>
          </a:xfrm>
          <a:prstGeom prst="rect">
            <a:avLst/>
          </a:prstGeom>
          <a:noFill/>
          <a:ln/>
        </p:spPr>
        <p:txBody>
          <a:bodyPr wrap="square" rtlCol="0" anchor="ctr"/>
          <a:lstStyle/>
          <a:p>
            <a:pPr indent="0" marL="0">
              <a:buNone/>
            </a:pPr>
            <a:r>
              <a:rPr lang="en-US" sz="900" dirty="0">
                <a:solidFill>
                  <a:srgbClr val="1D1D1F"/>
                </a:solidFill>
                <a:latin typeface="Atkinson Hyperlegible" pitchFamily="34" charset="0"/>
                <a:ea typeface="Atkinson Hyperlegible" pitchFamily="34" charset="-122"/>
                <a:cs typeface="Atkinson Hyperlegible" pitchFamily="34" charset="-120"/>
              </a:rPr>
              <a:t>EVM Dashboard (PowerBI)</a:t>
            </a:r>
            <a:endParaRPr lang="en-US" sz="900" dirty="0"/>
          </a:p>
        </p:txBody>
      </p:sp>
      <p:sp>
        <p:nvSpPr>
          <p:cNvPr id="33" name="Shape 31"/>
          <p:cNvSpPr/>
          <p:nvPr/>
        </p:nvSpPr>
        <p:spPr>
          <a:xfrm>
            <a:off x="320040" y="4279392"/>
            <a:ext cx="8503920" cy="585216"/>
          </a:xfrm>
          <a:prstGeom prst="rect">
            <a:avLst>
              <a:gd name="adj" fmla="val 7813"/>
            </a:avLst>
          </a:prstGeom>
          <a:solidFill>
            <a:srgbClr val="FFFFFF"/>
          </a:solidFill>
          <a:ln w="10160">
            <a:solidFill>
              <a:srgbClr val="2C3E8C"/>
            </a:solidFill>
            <a:prstDash val="solid"/>
          </a:ln>
        </p:spPr>
      </p:sp>
      <p:sp>
        <p:nvSpPr>
          <p:cNvPr id="34" name="Shape 32"/>
          <p:cNvSpPr/>
          <p:nvPr/>
        </p:nvSpPr>
        <p:spPr>
          <a:xfrm>
            <a:off x="320040" y="4279392"/>
            <a:ext cx="73152" cy="585216"/>
          </a:xfrm>
          <a:prstGeom prst="rect">
            <a:avLst>
              <a:gd name="adj" fmla="val 62500"/>
            </a:avLst>
          </a:prstGeom>
          <a:solidFill>
            <a:srgbClr val="2C3E8C"/>
          </a:solidFill>
          <a:ln w="12700">
            <a:solidFill>
              <a:srgbClr val="2C3E8C"/>
            </a:solidFill>
            <a:prstDash val="solid"/>
          </a:ln>
        </p:spPr>
      </p:sp>
      <p:sp>
        <p:nvSpPr>
          <p:cNvPr id="35" name="Text 33"/>
          <p:cNvSpPr/>
          <p:nvPr/>
        </p:nvSpPr>
        <p:spPr>
          <a:xfrm>
            <a:off x="502920" y="4370832"/>
            <a:ext cx="2926080" cy="402336"/>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EVM Dashboard</a:t>
            </a:r>
            <a:endParaRPr lang="en-US" sz="900" dirty="0"/>
          </a:p>
        </p:txBody>
      </p:sp>
      <p:sp>
        <p:nvSpPr>
          <p:cNvPr id="36" name="Shape 34"/>
          <p:cNvSpPr/>
          <p:nvPr/>
        </p:nvSpPr>
        <p:spPr>
          <a:xfrm>
            <a:off x="3566160" y="4425696"/>
            <a:ext cx="457200" cy="292608"/>
          </a:xfrm>
          <a:prstGeom prst="chevron">
            <a:avLst/>
          </a:prstGeom>
          <a:solidFill>
            <a:srgbClr val="2C3E8C"/>
          </a:solidFill>
          <a:ln w="12700">
            <a:solidFill>
              <a:srgbClr val="2C3E8C"/>
            </a:solidFill>
            <a:prstDash val="solid"/>
          </a:ln>
        </p:spPr>
      </p:sp>
      <p:sp>
        <p:nvSpPr>
          <p:cNvPr id="37" name="Text 35"/>
          <p:cNvSpPr/>
          <p:nvPr/>
        </p:nvSpPr>
        <p:spPr>
          <a:xfrm>
            <a:off x="4160520" y="4370832"/>
            <a:ext cx="4480560" cy="402336"/>
          </a:xfrm>
          <a:prstGeom prst="rect">
            <a:avLst/>
          </a:prstGeom>
          <a:noFill/>
          <a:ln/>
        </p:spPr>
        <p:txBody>
          <a:bodyPr wrap="square" rtlCol="0" anchor="ctr"/>
          <a:lstStyle/>
          <a:p>
            <a:pPr indent="0" marL="0">
              <a:buNone/>
            </a:pPr>
            <a:r>
              <a:rPr lang="en-US" sz="900" dirty="0">
                <a:solidFill>
                  <a:srgbClr val="1D1D1F"/>
                </a:solidFill>
                <a:latin typeface="Atkinson Hyperlegible" pitchFamily="34" charset="0"/>
                <a:ea typeface="Atkinson Hyperlegible" pitchFamily="34" charset="-122"/>
                <a:cs typeface="Atkinson Hyperlegible" pitchFamily="34" charset="-120"/>
              </a:rPr>
              <a:t>Gestión / Sponsor</a:t>
            </a:r>
            <a:endParaRPr lang="en-US" sz="900" dirty="0"/>
          </a:p>
        </p:txBody>
      </p:sp>
      <p:sp>
        <p:nvSpPr>
          <p:cNvPr id="38" name="Shape 36"/>
          <p:cNvSpPr/>
          <p:nvPr/>
        </p:nvSpPr>
        <p:spPr>
          <a:xfrm>
            <a:off x="320040" y="4919472"/>
            <a:ext cx="8503920" cy="201168"/>
          </a:xfrm>
          <a:prstGeom prst="rect">
            <a:avLst>
              <a:gd name="adj" fmla="val 18182"/>
            </a:avLst>
          </a:prstGeom>
          <a:solidFill>
            <a:srgbClr val="EEF4FF"/>
          </a:solidFill>
          <a:ln w="10160">
            <a:solidFill>
              <a:srgbClr val="2C3E8C"/>
            </a:solidFill>
            <a:prstDash val="solid"/>
          </a:ln>
        </p:spPr>
      </p:sp>
      <p:sp>
        <p:nvSpPr>
          <p:cNvPr id="39" name="Text 37"/>
          <p:cNvSpPr/>
          <p:nvPr/>
        </p:nvSpPr>
        <p:spPr>
          <a:xfrm>
            <a:off x="411480" y="4928616"/>
            <a:ext cx="8321040" cy="182880"/>
          </a:xfrm>
          <a:prstGeom prst="rect">
            <a:avLst/>
          </a:prstGeom>
          <a:noFill/>
          <a:ln/>
        </p:spPr>
        <p:txBody>
          <a:bodyPr wrap="square" rtlCol="0" anchor="ctr"/>
          <a:lstStyle/>
          <a:p>
            <a:pPr indent="0" marL="0">
              <a:buNone/>
            </a:pPr>
            <a:r>
              <a:rPr lang="en-US" sz="750" b="1" dirty="0">
                <a:solidFill>
                  <a:srgbClr val="2C3E8C"/>
                </a:solidFill>
                <a:latin typeface="Atkinson Hyperlegible" pitchFamily="34" charset="0"/>
                <a:ea typeface="Atkinson Hyperlegible" pitchFamily="34" charset="-122"/>
                <a:cs typeface="Atkinson Hyperlegible" pitchFamily="34" charset="-120"/>
              </a:rPr>
              <a:t>Estándar de intercambio recomendado: IFC 4.x para BIM • XML/JSON API para P6 • REST API para mobile tracking</a:t>
            </a:r>
            <a:endParaRPr lang="en-US" sz="7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7AE60"/>
          </a:solidFill>
          <a:ln w="12700">
            <a:solidFill>
              <a:srgbClr val="27AE60"/>
            </a:solidFill>
            <a:prstDash val="solid"/>
          </a:ln>
        </p:spPr>
      </p:sp>
      <p:sp>
        <p:nvSpPr>
          <p:cNvPr id="3" name="Shape 1"/>
          <p:cNvSpPr/>
          <p:nvPr/>
        </p:nvSpPr>
        <p:spPr>
          <a:xfrm>
            <a:off x="164592" y="4956048"/>
            <a:ext cx="8979408" cy="182880"/>
          </a:xfrm>
          <a:prstGeom prst="rect">
            <a:avLst/>
          </a:prstGeom>
          <a:solidFill>
            <a:srgbClr val="27AE60"/>
          </a:solidFill>
          <a:ln w="12700">
            <a:solidFill>
              <a:srgbClr val="27AE60"/>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112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Calidad e Inspección Integrados al IWP</a:t>
            </a:r>
            <a:endParaRPr lang="en-US" sz="1800" dirty="0"/>
          </a:p>
        </p:txBody>
      </p:sp>
      <p:sp>
        <p:nvSpPr>
          <p:cNvPr id="6" name="Shape 4"/>
          <p:cNvSpPr/>
          <p:nvPr/>
        </p:nvSpPr>
        <p:spPr>
          <a:xfrm>
            <a:off x="320040" y="621792"/>
            <a:ext cx="8503920" cy="41148"/>
          </a:xfrm>
          <a:prstGeom prst="rect">
            <a:avLst/>
          </a:prstGeom>
          <a:solidFill>
            <a:srgbClr val="27AE60"/>
          </a:solidFill>
          <a:ln w="12700">
            <a:solidFill>
              <a:srgbClr val="27AE60"/>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27AE60"/>
                </a:solidFill>
                <a:latin typeface="Atkinson Hyperlegible" pitchFamily="34" charset="0"/>
                <a:ea typeface="Atkinson Hyperlegible" pitchFamily="34" charset="-122"/>
                <a:cs typeface="Atkinson Hyperlegible" pitchFamily="34" charset="-120"/>
              </a:rPr>
              <a:t>Sistema de control de calidad estructurado en el ciclo de vida de cada IWP</a:t>
            </a:r>
            <a:endParaRPr lang="en-US" sz="900" dirty="0"/>
          </a:p>
        </p:txBody>
      </p:sp>
      <p:sp>
        <p:nvSpPr>
          <p:cNvPr id="8" name="Shape 6"/>
          <p:cNvSpPr/>
          <p:nvPr/>
        </p:nvSpPr>
        <p:spPr>
          <a:xfrm>
            <a:off x="320040" y="1097280"/>
            <a:ext cx="1539850" cy="1097280"/>
          </a:xfrm>
          <a:prstGeom prst="rect">
            <a:avLst>
              <a:gd name="adj" fmla="val 5000"/>
            </a:avLst>
          </a:prstGeom>
          <a:solidFill>
            <a:srgbClr val="27AE60"/>
          </a:solidFill>
          <a:ln w="12700">
            <a:solidFill>
              <a:srgbClr val="27AE60"/>
            </a:solidFill>
            <a:prstDash val="solid"/>
          </a:ln>
        </p:spPr>
      </p:sp>
      <p:sp>
        <p:nvSpPr>
          <p:cNvPr id="9" name="Shape 7"/>
          <p:cNvSpPr/>
          <p:nvPr/>
        </p:nvSpPr>
        <p:spPr>
          <a:xfrm>
            <a:off x="888797" y="896112"/>
            <a:ext cx="402336" cy="402336"/>
          </a:xfrm>
          <a:prstGeom prst="ellipse">
            <a:avLst/>
          </a:prstGeom>
          <a:solidFill>
            <a:srgbClr val="FFFFFF"/>
          </a:solidFill>
          <a:ln w="12700">
            <a:solidFill>
              <a:srgbClr val="27AE60"/>
            </a:solidFill>
            <a:prstDash val="solid"/>
          </a:ln>
        </p:spPr>
      </p:sp>
      <p:sp>
        <p:nvSpPr>
          <p:cNvPr id="10" name="Text 8"/>
          <p:cNvSpPr/>
          <p:nvPr/>
        </p:nvSpPr>
        <p:spPr>
          <a:xfrm>
            <a:off x="888797" y="896112"/>
            <a:ext cx="402336" cy="402336"/>
          </a:xfrm>
          <a:prstGeom prst="rect">
            <a:avLst/>
          </a:prstGeom>
          <a:noFill/>
          <a:ln/>
        </p:spPr>
        <p:txBody>
          <a:bodyPr wrap="square" rtlCol="0" anchor="ctr"/>
          <a:lstStyle/>
          <a:p>
            <a:pPr algn="ctr" indent="0" marL="0">
              <a:buNone/>
            </a:pPr>
            <a:r>
              <a:rPr lang="en-US" sz="900" b="1" dirty="0">
                <a:solidFill>
                  <a:srgbClr val="27AE60"/>
                </a:solidFill>
                <a:latin typeface="Atkinson Hyperlegible" pitchFamily="34" charset="0"/>
                <a:ea typeface="Atkinson Hyperlegible" pitchFamily="34" charset="-122"/>
                <a:cs typeface="Atkinson Hyperlegible" pitchFamily="34" charset="-120"/>
              </a:rPr>
              <a:t>1</a:t>
            </a:r>
            <a:endParaRPr lang="en-US" sz="900" dirty="0"/>
          </a:p>
        </p:txBody>
      </p:sp>
      <p:sp>
        <p:nvSpPr>
          <p:cNvPr id="11" name="Text 9"/>
          <p:cNvSpPr/>
          <p:nvPr/>
        </p:nvSpPr>
        <p:spPr>
          <a:xfrm>
            <a:off x="374904" y="1133856"/>
            <a:ext cx="1430122" cy="329184"/>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RTI Checklist</a:t>
            </a:r>
            <a:endParaRPr lang="en-US" sz="800" dirty="0"/>
          </a:p>
        </p:txBody>
      </p:sp>
      <p:sp>
        <p:nvSpPr>
          <p:cNvPr id="12" name="Text 10"/>
          <p:cNvSpPr/>
          <p:nvPr/>
        </p:nvSpPr>
        <p:spPr>
          <a:xfrm>
            <a:off x="374904" y="1481328"/>
            <a:ext cx="1430122" cy="640080"/>
          </a:xfrm>
          <a:prstGeom prst="rect">
            <a:avLst/>
          </a:prstGeom>
          <a:noFill/>
          <a:ln/>
        </p:spPr>
        <p:txBody>
          <a:bodyPr wrap="square" rtlCol="0" anchor="ctr"/>
          <a:lstStyle/>
          <a:p>
            <a:pPr algn="ct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Verificar 100% precondiciones antes de iniciar</a:t>
            </a:r>
            <a:endParaRPr lang="en-US" sz="700" dirty="0"/>
          </a:p>
        </p:txBody>
      </p:sp>
      <p:sp>
        <p:nvSpPr>
          <p:cNvPr id="13" name="Shape 11"/>
          <p:cNvSpPr/>
          <p:nvPr/>
        </p:nvSpPr>
        <p:spPr>
          <a:xfrm>
            <a:off x="1869034" y="1517904"/>
            <a:ext cx="201168" cy="256032"/>
          </a:xfrm>
          <a:prstGeom prst="chevron">
            <a:avLst/>
          </a:prstGeom>
          <a:solidFill>
            <a:srgbClr val="27AE60"/>
          </a:solidFill>
          <a:ln w="12700">
            <a:solidFill>
              <a:srgbClr val="27AE60"/>
            </a:solidFill>
            <a:prstDash val="solid"/>
          </a:ln>
        </p:spPr>
      </p:sp>
      <p:sp>
        <p:nvSpPr>
          <p:cNvPr id="14" name="Shape 12"/>
          <p:cNvSpPr/>
          <p:nvPr/>
        </p:nvSpPr>
        <p:spPr>
          <a:xfrm>
            <a:off x="2061058" y="1097280"/>
            <a:ext cx="1539850" cy="1097280"/>
          </a:xfrm>
          <a:prstGeom prst="rect">
            <a:avLst>
              <a:gd name="adj" fmla="val 5000"/>
            </a:avLst>
          </a:prstGeom>
          <a:solidFill>
            <a:srgbClr val="FFFFFF"/>
          </a:solidFill>
          <a:ln w="12700">
            <a:solidFill>
              <a:srgbClr val="27AE60"/>
            </a:solidFill>
            <a:prstDash val="solid"/>
          </a:ln>
        </p:spPr>
      </p:sp>
      <p:sp>
        <p:nvSpPr>
          <p:cNvPr id="15" name="Shape 13"/>
          <p:cNvSpPr/>
          <p:nvPr/>
        </p:nvSpPr>
        <p:spPr>
          <a:xfrm>
            <a:off x="2629814" y="896112"/>
            <a:ext cx="402336" cy="402336"/>
          </a:xfrm>
          <a:prstGeom prst="ellipse">
            <a:avLst/>
          </a:prstGeom>
          <a:solidFill>
            <a:srgbClr val="27AE60"/>
          </a:solidFill>
          <a:ln w="12700">
            <a:solidFill>
              <a:srgbClr val="27AE60"/>
            </a:solidFill>
            <a:prstDash val="solid"/>
          </a:ln>
        </p:spPr>
      </p:sp>
      <p:sp>
        <p:nvSpPr>
          <p:cNvPr id="16" name="Text 14"/>
          <p:cNvSpPr/>
          <p:nvPr/>
        </p:nvSpPr>
        <p:spPr>
          <a:xfrm>
            <a:off x="2629814" y="896112"/>
            <a:ext cx="402336" cy="402336"/>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2</a:t>
            </a:r>
            <a:endParaRPr lang="en-US" sz="900" dirty="0"/>
          </a:p>
        </p:txBody>
      </p:sp>
      <p:sp>
        <p:nvSpPr>
          <p:cNvPr id="17" name="Text 15"/>
          <p:cNvSpPr/>
          <p:nvPr/>
        </p:nvSpPr>
        <p:spPr>
          <a:xfrm>
            <a:off x="2115922" y="1133856"/>
            <a:ext cx="1430122" cy="329184"/>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In-Process QC</a:t>
            </a:r>
            <a:endParaRPr lang="en-US" sz="800" dirty="0"/>
          </a:p>
        </p:txBody>
      </p:sp>
      <p:sp>
        <p:nvSpPr>
          <p:cNvPr id="18" name="Text 16"/>
          <p:cNvSpPr/>
          <p:nvPr/>
        </p:nvSpPr>
        <p:spPr>
          <a:xfrm>
            <a:off x="2115922" y="1481328"/>
            <a:ext cx="1430122" cy="640080"/>
          </a:xfrm>
          <a:prstGeom prst="rect">
            <a:avLst/>
          </a:prstGeom>
          <a:noFill/>
          <a:ln/>
        </p:spPr>
        <p:txBody>
          <a:bodyPr wrap="square" rtlCol="0" anchor="ctr"/>
          <a:lstStyle/>
          <a:p>
            <a:pPr algn="ctr" indent="0" marL="0">
              <a:buNone/>
            </a:pPr>
            <a:r>
              <a:rPr lang="en-US" sz="700" dirty="0">
                <a:solidFill>
                  <a:srgbClr val="444444"/>
                </a:solidFill>
                <a:latin typeface="Atkinson Hyperlegible" pitchFamily="34" charset="0"/>
                <a:ea typeface="Atkinson Hyperlegible" pitchFamily="34" charset="-122"/>
                <a:cs typeface="Atkinson Hyperlegible" pitchFamily="34" charset="-120"/>
              </a:rPr>
              <a:t>Inspecciones por hito dentro del IWP</a:t>
            </a:r>
            <a:endParaRPr lang="en-US" sz="700" dirty="0"/>
          </a:p>
        </p:txBody>
      </p:sp>
      <p:sp>
        <p:nvSpPr>
          <p:cNvPr id="19" name="Shape 17"/>
          <p:cNvSpPr/>
          <p:nvPr/>
        </p:nvSpPr>
        <p:spPr>
          <a:xfrm>
            <a:off x="3610051" y="1517904"/>
            <a:ext cx="201168" cy="256032"/>
          </a:xfrm>
          <a:prstGeom prst="chevron">
            <a:avLst/>
          </a:prstGeom>
          <a:solidFill>
            <a:srgbClr val="27AE60"/>
          </a:solidFill>
          <a:ln w="12700">
            <a:solidFill>
              <a:srgbClr val="27AE60"/>
            </a:solidFill>
            <a:prstDash val="solid"/>
          </a:ln>
        </p:spPr>
      </p:sp>
      <p:sp>
        <p:nvSpPr>
          <p:cNvPr id="20" name="Shape 18"/>
          <p:cNvSpPr/>
          <p:nvPr/>
        </p:nvSpPr>
        <p:spPr>
          <a:xfrm>
            <a:off x="3802075" y="1097280"/>
            <a:ext cx="1539850" cy="1097280"/>
          </a:xfrm>
          <a:prstGeom prst="rect">
            <a:avLst>
              <a:gd name="adj" fmla="val 5000"/>
            </a:avLst>
          </a:prstGeom>
          <a:solidFill>
            <a:srgbClr val="27AE60"/>
          </a:solidFill>
          <a:ln w="12700">
            <a:solidFill>
              <a:srgbClr val="27AE60"/>
            </a:solidFill>
            <a:prstDash val="solid"/>
          </a:ln>
        </p:spPr>
      </p:sp>
      <p:sp>
        <p:nvSpPr>
          <p:cNvPr id="21" name="Shape 19"/>
          <p:cNvSpPr/>
          <p:nvPr/>
        </p:nvSpPr>
        <p:spPr>
          <a:xfrm>
            <a:off x="4370832" y="896112"/>
            <a:ext cx="402336" cy="402336"/>
          </a:xfrm>
          <a:prstGeom prst="ellipse">
            <a:avLst/>
          </a:prstGeom>
          <a:solidFill>
            <a:srgbClr val="FFFFFF"/>
          </a:solidFill>
          <a:ln w="12700">
            <a:solidFill>
              <a:srgbClr val="27AE60"/>
            </a:solidFill>
            <a:prstDash val="solid"/>
          </a:ln>
        </p:spPr>
      </p:sp>
      <p:sp>
        <p:nvSpPr>
          <p:cNvPr id="22" name="Text 20"/>
          <p:cNvSpPr/>
          <p:nvPr/>
        </p:nvSpPr>
        <p:spPr>
          <a:xfrm>
            <a:off x="4370832" y="896112"/>
            <a:ext cx="402336" cy="402336"/>
          </a:xfrm>
          <a:prstGeom prst="rect">
            <a:avLst/>
          </a:prstGeom>
          <a:noFill/>
          <a:ln/>
        </p:spPr>
        <p:txBody>
          <a:bodyPr wrap="square" rtlCol="0" anchor="ctr"/>
          <a:lstStyle/>
          <a:p>
            <a:pPr algn="ctr" indent="0" marL="0">
              <a:buNone/>
            </a:pPr>
            <a:r>
              <a:rPr lang="en-US" sz="900" b="1" dirty="0">
                <a:solidFill>
                  <a:srgbClr val="27AE60"/>
                </a:solidFill>
                <a:latin typeface="Atkinson Hyperlegible" pitchFamily="34" charset="0"/>
                <a:ea typeface="Atkinson Hyperlegible" pitchFamily="34" charset="-122"/>
                <a:cs typeface="Atkinson Hyperlegible" pitchFamily="34" charset="-120"/>
              </a:rPr>
              <a:t>3</a:t>
            </a:r>
            <a:endParaRPr lang="en-US" sz="900" dirty="0"/>
          </a:p>
        </p:txBody>
      </p:sp>
      <p:sp>
        <p:nvSpPr>
          <p:cNvPr id="23" name="Text 21"/>
          <p:cNvSpPr/>
          <p:nvPr/>
        </p:nvSpPr>
        <p:spPr>
          <a:xfrm>
            <a:off x="3856939" y="1133856"/>
            <a:ext cx="1430122" cy="329184"/>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Final Inspection</a:t>
            </a:r>
            <a:endParaRPr lang="en-US" sz="800" dirty="0"/>
          </a:p>
        </p:txBody>
      </p:sp>
      <p:sp>
        <p:nvSpPr>
          <p:cNvPr id="24" name="Text 22"/>
          <p:cNvSpPr/>
          <p:nvPr/>
        </p:nvSpPr>
        <p:spPr>
          <a:xfrm>
            <a:off x="3856939" y="1481328"/>
            <a:ext cx="1430122" cy="640080"/>
          </a:xfrm>
          <a:prstGeom prst="rect">
            <a:avLst/>
          </a:prstGeom>
          <a:noFill/>
          <a:ln/>
        </p:spPr>
        <p:txBody>
          <a:bodyPr wrap="square" rtlCol="0" anchor="ctr"/>
          <a:lstStyle/>
          <a:p>
            <a:pPr algn="ct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Test de aceptación criterios definidos en IWP</a:t>
            </a:r>
            <a:endParaRPr lang="en-US" sz="700" dirty="0"/>
          </a:p>
        </p:txBody>
      </p:sp>
      <p:sp>
        <p:nvSpPr>
          <p:cNvPr id="25" name="Shape 23"/>
          <p:cNvSpPr/>
          <p:nvPr/>
        </p:nvSpPr>
        <p:spPr>
          <a:xfrm>
            <a:off x="5351069" y="1517904"/>
            <a:ext cx="201168" cy="256032"/>
          </a:xfrm>
          <a:prstGeom prst="chevron">
            <a:avLst/>
          </a:prstGeom>
          <a:solidFill>
            <a:srgbClr val="27AE60"/>
          </a:solidFill>
          <a:ln w="12700">
            <a:solidFill>
              <a:srgbClr val="27AE60"/>
            </a:solidFill>
            <a:prstDash val="solid"/>
          </a:ln>
        </p:spPr>
      </p:sp>
      <p:sp>
        <p:nvSpPr>
          <p:cNvPr id="26" name="Shape 24"/>
          <p:cNvSpPr/>
          <p:nvPr/>
        </p:nvSpPr>
        <p:spPr>
          <a:xfrm>
            <a:off x="5543093" y="1097280"/>
            <a:ext cx="1539850" cy="1097280"/>
          </a:xfrm>
          <a:prstGeom prst="rect">
            <a:avLst>
              <a:gd name="adj" fmla="val 5000"/>
            </a:avLst>
          </a:prstGeom>
          <a:solidFill>
            <a:srgbClr val="FFFFFF"/>
          </a:solidFill>
          <a:ln w="12700">
            <a:solidFill>
              <a:srgbClr val="27AE60"/>
            </a:solidFill>
            <a:prstDash val="solid"/>
          </a:ln>
        </p:spPr>
      </p:sp>
      <p:sp>
        <p:nvSpPr>
          <p:cNvPr id="27" name="Shape 25"/>
          <p:cNvSpPr/>
          <p:nvPr/>
        </p:nvSpPr>
        <p:spPr>
          <a:xfrm>
            <a:off x="6111850" y="896112"/>
            <a:ext cx="402336" cy="402336"/>
          </a:xfrm>
          <a:prstGeom prst="ellipse">
            <a:avLst/>
          </a:prstGeom>
          <a:solidFill>
            <a:srgbClr val="27AE60"/>
          </a:solidFill>
          <a:ln w="12700">
            <a:solidFill>
              <a:srgbClr val="27AE60"/>
            </a:solidFill>
            <a:prstDash val="solid"/>
          </a:ln>
        </p:spPr>
      </p:sp>
      <p:sp>
        <p:nvSpPr>
          <p:cNvPr id="28" name="Text 26"/>
          <p:cNvSpPr/>
          <p:nvPr/>
        </p:nvSpPr>
        <p:spPr>
          <a:xfrm>
            <a:off x="6111850" y="896112"/>
            <a:ext cx="402336" cy="402336"/>
          </a:xfrm>
          <a:prstGeom prst="rect">
            <a:avLst/>
          </a:prstGeom>
          <a:noFill/>
          <a:ln/>
        </p:spPr>
        <p:txBody>
          <a:bodyPr wrap="square" rtlCol="0" anchor="ctr"/>
          <a:lstStyle/>
          <a:p>
            <a:pPr algn="ctr" indent="0" marL="0">
              <a:buNone/>
            </a:pPr>
            <a:r>
              <a:rPr lang="en-US" sz="900" b="1" dirty="0">
                <a:solidFill>
                  <a:srgbClr val="FFFFFF"/>
                </a:solidFill>
                <a:latin typeface="Atkinson Hyperlegible" pitchFamily="34" charset="0"/>
                <a:ea typeface="Atkinson Hyperlegible" pitchFamily="34" charset="-122"/>
                <a:cs typeface="Atkinson Hyperlegible" pitchFamily="34" charset="-120"/>
              </a:rPr>
              <a:t>4</a:t>
            </a:r>
            <a:endParaRPr lang="en-US" sz="900" dirty="0"/>
          </a:p>
        </p:txBody>
      </p:sp>
      <p:sp>
        <p:nvSpPr>
          <p:cNvPr id="29" name="Text 27"/>
          <p:cNvSpPr/>
          <p:nvPr/>
        </p:nvSpPr>
        <p:spPr>
          <a:xfrm>
            <a:off x="5597957" y="1133856"/>
            <a:ext cx="1430122" cy="329184"/>
          </a:xfrm>
          <a:prstGeom prst="rect">
            <a:avLst/>
          </a:prstGeom>
          <a:noFill/>
          <a:ln/>
        </p:spPr>
        <p:txBody>
          <a:bodyPr wrap="square" rtlCol="0" anchor="ctr"/>
          <a:lstStyle/>
          <a:p>
            <a:pPr algn="ctr" indent="0" marL="0">
              <a:buNone/>
            </a:pPr>
            <a:r>
              <a:rPr lang="en-US" sz="800" b="1" dirty="0">
                <a:solidFill>
                  <a:srgbClr val="1D1D1F"/>
                </a:solidFill>
                <a:latin typeface="Atkinson Hyperlegible" pitchFamily="34" charset="0"/>
                <a:ea typeface="Atkinson Hyperlegible" pitchFamily="34" charset="-122"/>
                <a:cs typeface="Atkinson Hyperlegible" pitchFamily="34" charset="-120"/>
              </a:rPr>
              <a:t>Punch List</a:t>
            </a:r>
            <a:endParaRPr lang="en-US" sz="800" dirty="0"/>
          </a:p>
        </p:txBody>
      </p:sp>
      <p:sp>
        <p:nvSpPr>
          <p:cNvPr id="30" name="Text 28"/>
          <p:cNvSpPr/>
          <p:nvPr/>
        </p:nvSpPr>
        <p:spPr>
          <a:xfrm>
            <a:off x="5597957" y="1481328"/>
            <a:ext cx="1430122" cy="640080"/>
          </a:xfrm>
          <a:prstGeom prst="rect">
            <a:avLst/>
          </a:prstGeom>
          <a:noFill/>
          <a:ln/>
        </p:spPr>
        <p:txBody>
          <a:bodyPr wrap="square" rtlCol="0" anchor="ctr"/>
          <a:lstStyle/>
          <a:p>
            <a:pPr algn="ctr" indent="0" marL="0">
              <a:buNone/>
            </a:pPr>
            <a:r>
              <a:rPr lang="en-US" sz="700" dirty="0">
                <a:solidFill>
                  <a:srgbClr val="444444"/>
                </a:solidFill>
                <a:latin typeface="Atkinson Hyperlegible" pitchFamily="34" charset="0"/>
                <a:ea typeface="Atkinson Hyperlegible" pitchFamily="34" charset="-122"/>
                <a:cs typeface="Atkinson Hyperlegible" pitchFamily="34" charset="-120"/>
              </a:rPr>
              <a:t>Registro de ítems pendientes clasificados A-B-C</a:t>
            </a:r>
            <a:endParaRPr lang="en-US" sz="700" dirty="0"/>
          </a:p>
        </p:txBody>
      </p:sp>
      <p:sp>
        <p:nvSpPr>
          <p:cNvPr id="31" name="Shape 29"/>
          <p:cNvSpPr/>
          <p:nvPr/>
        </p:nvSpPr>
        <p:spPr>
          <a:xfrm>
            <a:off x="7092086" y="1517904"/>
            <a:ext cx="201168" cy="256032"/>
          </a:xfrm>
          <a:prstGeom prst="chevron">
            <a:avLst/>
          </a:prstGeom>
          <a:solidFill>
            <a:srgbClr val="27AE60"/>
          </a:solidFill>
          <a:ln w="12700">
            <a:solidFill>
              <a:srgbClr val="27AE60"/>
            </a:solidFill>
            <a:prstDash val="solid"/>
          </a:ln>
        </p:spPr>
      </p:sp>
      <p:sp>
        <p:nvSpPr>
          <p:cNvPr id="32" name="Shape 30"/>
          <p:cNvSpPr/>
          <p:nvPr/>
        </p:nvSpPr>
        <p:spPr>
          <a:xfrm>
            <a:off x="7284110" y="1097280"/>
            <a:ext cx="1539850" cy="1097280"/>
          </a:xfrm>
          <a:prstGeom prst="rect">
            <a:avLst>
              <a:gd name="adj" fmla="val 5000"/>
            </a:avLst>
          </a:prstGeom>
          <a:solidFill>
            <a:srgbClr val="27AE60"/>
          </a:solidFill>
          <a:ln w="12700">
            <a:solidFill>
              <a:srgbClr val="27AE60"/>
            </a:solidFill>
            <a:prstDash val="solid"/>
          </a:ln>
        </p:spPr>
      </p:sp>
      <p:sp>
        <p:nvSpPr>
          <p:cNvPr id="33" name="Shape 31"/>
          <p:cNvSpPr/>
          <p:nvPr/>
        </p:nvSpPr>
        <p:spPr>
          <a:xfrm>
            <a:off x="7852867" y="896112"/>
            <a:ext cx="402336" cy="402336"/>
          </a:xfrm>
          <a:prstGeom prst="ellipse">
            <a:avLst/>
          </a:prstGeom>
          <a:solidFill>
            <a:srgbClr val="FFFFFF"/>
          </a:solidFill>
          <a:ln w="12700">
            <a:solidFill>
              <a:srgbClr val="27AE60"/>
            </a:solidFill>
            <a:prstDash val="solid"/>
          </a:ln>
        </p:spPr>
      </p:sp>
      <p:sp>
        <p:nvSpPr>
          <p:cNvPr id="34" name="Text 32"/>
          <p:cNvSpPr/>
          <p:nvPr/>
        </p:nvSpPr>
        <p:spPr>
          <a:xfrm>
            <a:off x="7852867" y="896112"/>
            <a:ext cx="402336" cy="402336"/>
          </a:xfrm>
          <a:prstGeom prst="rect">
            <a:avLst/>
          </a:prstGeom>
          <a:noFill/>
          <a:ln/>
        </p:spPr>
        <p:txBody>
          <a:bodyPr wrap="square" rtlCol="0" anchor="ctr"/>
          <a:lstStyle/>
          <a:p>
            <a:pPr algn="ctr" indent="0" marL="0">
              <a:buNone/>
            </a:pPr>
            <a:r>
              <a:rPr lang="en-US" sz="900" b="1" dirty="0">
                <a:solidFill>
                  <a:srgbClr val="27AE60"/>
                </a:solidFill>
                <a:latin typeface="Atkinson Hyperlegible" pitchFamily="34" charset="0"/>
                <a:ea typeface="Atkinson Hyperlegible" pitchFamily="34" charset="-122"/>
                <a:cs typeface="Atkinson Hyperlegible" pitchFamily="34" charset="-120"/>
              </a:rPr>
              <a:t>5</a:t>
            </a:r>
            <a:endParaRPr lang="en-US" sz="900" dirty="0"/>
          </a:p>
        </p:txBody>
      </p:sp>
      <p:sp>
        <p:nvSpPr>
          <p:cNvPr id="35" name="Text 33"/>
          <p:cNvSpPr/>
          <p:nvPr/>
        </p:nvSpPr>
        <p:spPr>
          <a:xfrm>
            <a:off x="7338974" y="1133856"/>
            <a:ext cx="1430122" cy="329184"/>
          </a:xfrm>
          <a:prstGeom prst="rect">
            <a:avLst/>
          </a:prstGeom>
          <a:noFill/>
          <a:ln/>
        </p:spPr>
        <p:txBody>
          <a:bodyPr wrap="square" rtlCol="0" anchor="ctr"/>
          <a:lstStyle/>
          <a:p>
            <a:pPr algn="ct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IWP Closure</a:t>
            </a:r>
            <a:endParaRPr lang="en-US" sz="800" dirty="0"/>
          </a:p>
        </p:txBody>
      </p:sp>
      <p:sp>
        <p:nvSpPr>
          <p:cNvPr id="36" name="Text 34"/>
          <p:cNvSpPr/>
          <p:nvPr/>
        </p:nvSpPr>
        <p:spPr>
          <a:xfrm>
            <a:off x="7338974" y="1481328"/>
            <a:ext cx="1430122" cy="640080"/>
          </a:xfrm>
          <a:prstGeom prst="rect">
            <a:avLst/>
          </a:prstGeom>
          <a:noFill/>
          <a:ln/>
        </p:spPr>
        <p:txBody>
          <a:bodyPr wrap="square" rtlCol="0" anchor="ctr"/>
          <a:lstStyle/>
          <a:p>
            <a:pPr algn="ct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Firma de aceptación y transferencia a TWP</a:t>
            </a:r>
            <a:endParaRPr lang="en-US" sz="700" dirty="0"/>
          </a:p>
        </p:txBody>
      </p:sp>
      <p:sp>
        <p:nvSpPr>
          <p:cNvPr id="37" name="Shape 35"/>
          <p:cNvSpPr/>
          <p:nvPr/>
        </p:nvSpPr>
        <p:spPr>
          <a:xfrm>
            <a:off x="320040" y="2487168"/>
            <a:ext cx="4023360" cy="1078992"/>
          </a:xfrm>
          <a:prstGeom prst="rect">
            <a:avLst>
              <a:gd name="adj" fmla="val 5085"/>
            </a:avLst>
          </a:prstGeom>
          <a:solidFill>
            <a:srgbClr val="FFFFFF"/>
          </a:solidFill>
          <a:ln w="15240">
            <a:solidFill>
              <a:srgbClr val="C0392B"/>
            </a:solidFill>
            <a:prstDash val="solid"/>
          </a:ln>
        </p:spPr>
      </p:sp>
      <p:sp>
        <p:nvSpPr>
          <p:cNvPr id="38" name="Shape 36"/>
          <p:cNvSpPr/>
          <p:nvPr/>
        </p:nvSpPr>
        <p:spPr>
          <a:xfrm>
            <a:off x="320040" y="2487168"/>
            <a:ext cx="1280160" cy="329184"/>
          </a:xfrm>
          <a:prstGeom prst="rect">
            <a:avLst>
              <a:gd name="adj" fmla="val 16667"/>
            </a:avLst>
          </a:prstGeom>
          <a:solidFill>
            <a:srgbClr val="C0392B"/>
          </a:solidFill>
          <a:ln w="12700">
            <a:solidFill>
              <a:srgbClr val="C0392B"/>
            </a:solidFill>
            <a:prstDash val="solid"/>
          </a:ln>
        </p:spPr>
      </p:sp>
      <p:sp>
        <p:nvSpPr>
          <p:cNvPr id="39" name="Text 37"/>
          <p:cNvSpPr/>
          <p:nvPr/>
        </p:nvSpPr>
        <p:spPr>
          <a:xfrm>
            <a:off x="393192" y="2523744"/>
            <a:ext cx="1133856" cy="25603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Categoría A</a:t>
            </a:r>
            <a:endParaRPr lang="en-US" sz="850" dirty="0"/>
          </a:p>
        </p:txBody>
      </p:sp>
      <p:sp>
        <p:nvSpPr>
          <p:cNvPr id="40" name="Text 38"/>
          <p:cNvSpPr/>
          <p:nvPr/>
        </p:nvSpPr>
        <p:spPr>
          <a:xfrm>
            <a:off x="411480" y="2889504"/>
            <a:ext cx="3840480" cy="621792"/>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BLOQUEANTE: impide comisionado o pruebas. Debe cerrarse ANTES de energizar o prestar el sistema.</a:t>
            </a:r>
            <a:endParaRPr lang="en-US" sz="800" dirty="0"/>
          </a:p>
        </p:txBody>
      </p:sp>
      <p:sp>
        <p:nvSpPr>
          <p:cNvPr id="41" name="Shape 39"/>
          <p:cNvSpPr/>
          <p:nvPr/>
        </p:nvSpPr>
        <p:spPr>
          <a:xfrm>
            <a:off x="4663440" y="2487168"/>
            <a:ext cx="4023360" cy="1078992"/>
          </a:xfrm>
          <a:prstGeom prst="rect">
            <a:avLst>
              <a:gd name="adj" fmla="val 5085"/>
            </a:avLst>
          </a:prstGeom>
          <a:solidFill>
            <a:srgbClr val="FFFFFF"/>
          </a:solidFill>
          <a:ln w="15240">
            <a:solidFill>
              <a:srgbClr val="D4620A"/>
            </a:solidFill>
            <a:prstDash val="solid"/>
          </a:ln>
        </p:spPr>
      </p:sp>
      <p:sp>
        <p:nvSpPr>
          <p:cNvPr id="42" name="Shape 40"/>
          <p:cNvSpPr/>
          <p:nvPr/>
        </p:nvSpPr>
        <p:spPr>
          <a:xfrm>
            <a:off x="4663440" y="2487168"/>
            <a:ext cx="1280160" cy="329184"/>
          </a:xfrm>
          <a:prstGeom prst="rect">
            <a:avLst>
              <a:gd name="adj" fmla="val 16667"/>
            </a:avLst>
          </a:prstGeom>
          <a:solidFill>
            <a:srgbClr val="D4620A"/>
          </a:solidFill>
          <a:ln w="12700">
            <a:solidFill>
              <a:srgbClr val="D4620A"/>
            </a:solidFill>
            <a:prstDash val="solid"/>
          </a:ln>
        </p:spPr>
      </p:sp>
      <p:sp>
        <p:nvSpPr>
          <p:cNvPr id="43" name="Text 41"/>
          <p:cNvSpPr/>
          <p:nvPr/>
        </p:nvSpPr>
        <p:spPr>
          <a:xfrm>
            <a:off x="4736592" y="2523744"/>
            <a:ext cx="1133856" cy="25603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Categoría B</a:t>
            </a:r>
            <a:endParaRPr lang="en-US" sz="850" dirty="0"/>
          </a:p>
        </p:txBody>
      </p:sp>
      <p:sp>
        <p:nvSpPr>
          <p:cNvPr id="44" name="Text 42"/>
          <p:cNvSpPr/>
          <p:nvPr/>
        </p:nvSpPr>
        <p:spPr>
          <a:xfrm>
            <a:off x="4754880" y="2889504"/>
            <a:ext cx="3840480" cy="621792"/>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IMPORTANTE: no impide comisionado pero debe cerrarse antes de entrega definitiva a operaciones.</a:t>
            </a:r>
            <a:endParaRPr lang="en-US" sz="800" dirty="0"/>
          </a:p>
        </p:txBody>
      </p:sp>
      <p:sp>
        <p:nvSpPr>
          <p:cNvPr id="45" name="Shape 43"/>
          <p:cNvSpPr/>
          <p:nvPr/>
        </p:nvSpPr>
        <p:spPr>
          <a:xfrm>
            <a:off x="320040" y="3675888"/>
            <a:ext cx="4023360" cy="1078992"/>
          </a:xfrm>
          <a:prstGeom prst="rect">
            <a:avLst>
              <a:gd name="adj" fmla="val 5085"/>
            </a:avLst>
          </a:prstGeom>
          <a:solidFill>
            <a:srgbClr val="FFFFFF"/>
          </a:solidFill>
          <a:ln w="15240">
            <a:solidFill>
              <a:srgbClr val="0E9E9E"/>
            </a:solidFill>
            <a:prstDash val="solid"/>
          </a:ln>
        </p:spPr>
      </p:sp>
      <p:sp>
        <p:nvSpPr>
          <p:cNvPr id="46" name="Shape 44"/>
          <p:cNvSpPr/>
          <p:nvPr/>
        </p:nvSpPr>
        <p:spPr>
          <a:xfrm>
            <a:off x="320040" y="3675888"/>
            <a:ext cx="1280160" cy="329184"/>
          </a:xfrm>
          <a:prstGeom prst="rect">
            <a:avLst>
              <a:gd name="adj" fmla="val 16667"/>
            </a:avLst>
          </a:prstGeom>
          <a:solidFill>
            <a:srgbClr val="0E9E9E"/>
          </a:solidFill>
          <a:ln w="12700">
            <a:solidFill>
              <a:srgbClr val="0E9E9E"/>
            </a:solidFill>
            <a:prstDash val="solid"/>
          </a:ln>
        </p:spPr>
      </p:sp>
      <p:sp>
        <p:nvSpPr>
          <p:cNvPr id="47" name="Text 45"/>
          <p:cNvSpPr/>
          <p:nvPr/>
        </p:nvSpPr>
        <p:spPr>
          <a:xfrm>
            <a:off x="393192" y="3712464"/>
            <a:ext cx="1133856" cy="25603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Categoría C</a:t>
            </a:r>
            <a:endParaRPr lang="en-US" sz="850" dirty="0"/>
          </a:p>
        </p:txBody>
      </p:sp>
      <p:sp>
        <p:nvSpPr>
          <p:cNvPr id="48" name="Text 46"/>
          <p:cNvSpPr/>
          <p:nvPr/>
        </p:nvSpPr>
        <p:spPr>
          <a:xfrm>
            <a:off x="411480" y="4078224"/>
            <a:ext cx="3840480" cy="621792"/>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COSMÉTICO / MENOR: corrección de acabados o ajustes menores. Se cierra en período de garantía.</a:t>
            </a:r>
            <a:endParaRPr lang="en-US" sz="800" dirty="0"/>
          </a:p>
        </p:txBody>
      </p:sp>
      <p:sp>
        <p:nvSpPr>
          <p:cNvPr id="49" name="Shape 47"/>
          <p:cNvSpPr/>
          <p:nvPr/>
        </p:nvSpPr>
        <p:spPr>
          <a:xfrm>
            <a:off x="4663440" y="3675888"/>
            <a:ext cx="4023360" cy="1078992"/>
          </a:xfrm>
          <a:prstGeom prst="rect">
            <a:avLst>
              <a:gd name="adj" fmla="val 5085"/>
            </a:avLst>
          </a:prstGeom>
          <a:solidFill>
            <a:srgbClr val="FFFFFF"/>
          </a:solidFill>
          <a:ln w="15240">
            <a:solidFill>
              <a:srgbClr val="27AE60"/>
            </a:solidFill>
            <a:prstDash val="solid"/>
          </a:ln>
        </p:spPr>
      </p:sp>
      <p:sp>
        <p:nvSpPr>
          <p:cNvPr id="50" name="Shape 48"/>
          <p:cNvSpPr/>
          <p:nvPr/>
        </p:nvSpPr>
        <p:spPr>
          <a:xfrm>
            <a:off x="4663440" y="3675888"/>
            <a:ext cx="1280160" cy="329184"/>
          </a:xfrm>
          <a:prstGeom prst="rect">
            <a:avLst>
              <a:gd name="adj" fmla="val 16667"/>
            </a:avLst>
          </a:prstGeom>
          <a:solidFill>
            <a:srgbClr val="27AE60"/>
          </a:solidFill>
          <a:ln w="12700">
            <a:solidFill>
              <a:srgbClr val="27AE60"/>
            </a:solidFill>
            <a:prstDash val="solid"/>
          </a:ln>
        </p:spPr>
      </p:sp>
      <p:sp>
        <p:nvSpPr>
          <p:cNvPr id="51" name="Text 49"/>
          <p:cNvSpPr/>
          <p:nvPr/>
        </p:nvSpPr>
        <p:spPr>
          <a:xfrm>
            <a:off x="4736592" y="3712464"/>
            <a:ext cx="1133856" cy="256032"/>
          </a:xfrm>
          <a:prstGeom prst="rect">
            <a:avLst/>
          </a:prstGeom>
          <a:noFill/>
          <a:ln/>
        </p:spPr>
        <p:txBody>
          <a:bodyPr wrap="square" rtlCol="0" anchor="ctr"/>
          <a:lstStyle/>
          <a:p>
            <a:pP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Meta CII</a:t>
            </a:r>
            <a:endParaRPr lang="en-US" sz="850" dirty="0"/>
          </a:p>
        </p:txBody>
      </p:sp>
      <p:sp>
        <p:nvSpPr>
          <p:cNvPr id="52" name="Text 50"/>
          <p:cNvSpPr/>
          <p:nvPr/>
        </p:nvSpPr>
        <p:spPr>
          <a:xfrm>
            <a:off x="4754880" y="4078224"/>
            <a:ext cx="3840480" cy="621792"/>
          </a:xfrm>
          <a:prstGeom prst="rect">
            <a:avLst/>
          </a:prstGeom>
          <a:noFill/>
          <a:ln/>
        </p:spPr>
        <p:txBody>
          <a:bodyPr wrap="square" rtlCol="0" anchor="ctr"/>
          <a:lstStyle/>
          <a:p>
            <a:pPr indent="0" marL="0">
              <a:buNone/>
            </a:pPr>
            <a:r>
              <a:rPr lang="en-US" sz="800" dirty="0">
                <a:solidFill>
                  <a:srgbClr val="1D1D1F"/>
                </a:solidFill>
                <a:latin typeface="Atkinson Hyperlegible" pitchFamily="34" charset="0"/>
                <a:ea typeface="Atkinson Hyperlegible" pitchFamily="34" charset="-122"/>
                <a:cs typeface="Atkinson Hyperlegible" pitchFamily="34" charset="-120"/>
              </a:rPr>
              <a:t>≤5 ítems de Punch Cat-B por IWP al cierre. Cat-A = 0 siempre al momento de comisionado.</a:t>
            </a:r>
            <a:endParaRPr lang="en-US" sz="8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7AE60"/>
          </a:solidFill>
          <a:ln w="12700">
            <a:solidFill>
              <a:srgbClr val="27AE60"/>
            </a:solidFill>
            <a:prstDash val="solid"/>
          </a:ln>
        </p:spPr>
      </p:sp>
      <p:sp>
        <p:nvSpPr>
          <p:cNvPr id="3" name="Shape 1"/>
          <p:cNvSpPr/>
          <p:nvPr/>
        </p:nvSpPr>
        <p:spPr>
          <a:xfrm>
            <a:off x="164592" y="4956048"/>
            <a:ext cx="8979408" cy="182880"/>
          </a:xfrm>
          <a:prstGeom prst="rect">
            <a:avLst/>
          </a:prstGeom>
          <a:solidFill>
            <a:srgbClr val="27AE60"/>
          </a:solidFill>
          <a:ln w="12700">
            <a:solidFill>
              <a:srgbClr val="27AE60"/>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113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Comisionado y Arranque Integrados al AWP</a:t>
            </a:r>
            <a:endParaRPr lang="en-US" sz="1800" dirty="0"/>
          </a:p>
        </p:txBody>
      </p:sp>
      <p:sp>
        <p:nvSpPr>
          <p:cNvPr id="6" name="Shape 4"/>
          <p:cNvSpPr/>
          <p:nvPr/>
        </p:nvSpPr>
        <p:spPr>
          <a:xfrm>
            <a:off x="320040" y="621792"/>
            <a:ext cx="8503920" cy="41148"/>
          </a:xfrm>
          <a:prstGeom prst="rect">
            <a:avLst/>
          </a:prstGeom>
          <a:solidFill>
            <a:srgbClr val="27AE60"/>
          </a:solidFill>
          <a:ln w="12700">
            <a:solidFill>
              <a:srgbClr val="27AE60"/>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27AE60"/>
                </a:solidFill>
                <a:latin typeface="Atkinson Hyperlegible" pitchFamily="34" charset="0"/>
                <a:ea typeface="Atkinson Hyperlegible" pitchFamily="34" charset="-122"/>
                <a:cs typeface="Atkinson Hyperlegible" pitchFamily="34" charset="-120"/>
              </a:rPr>
              <a:t>TWP — Turnover Work Package: transición estructurada de construcción a operaciones</a:t>
            </a:r>
            <a:endParaRPr lang="en-US" sz="900" dirty="0"/>
          </a:p>
        </p:txBody>
      </p:sp>
      <p:sp>
        <p:nvSpPr>
          <p:cNvPr id="8" name="Shape 6"/>
          <p:cNvSpPr/>
          <p:nvPr/>
        </p:nvSpPr>
        <p:spPr>
          <a:xfrm>
            <a:off x="320040" y="960120"/>
            <a:ext cx="2724912" cy="3931920"/>
          </a:xfrm>
          <a:prstGeom prst="rect">
            <a:avLst>
              <a:gd name="adj" fmla="val 2349"/>
            </a:avLst>
          </a:prstGeom>
          <a:solidFill>
            <a:srgbClr val="FFFFFF"/>
          </a:solidFill>
          <a:ln w="15240">
            <a:solidFill>
              <a:srgbClr val="27AE60"/>
            </a:solidFill>
            <a:prstDash val="solid"/>
          </a:ln>
        </p:spPr>
      </p:sp>
      <p:sp>
        <p:nvSpPr>
          <p:cNvPr id="9" name="Shape 7"/>
          <p:cNvSpPr/>
          <p:nvPr/>
        </p:nvSpPr>
        <p:spPr>
          <a:xfrm>
            <a:off x="320040" y="960120"/>
            <a:ext cx="2724912" cy="384048"/>
          </a:xfrm>
          <a:prstGeom prst="rect">
            <a:avLst>
              <a:gd name="adj" fmla="val 16667"/>
            </a:avLst>
          </a:prstGeom>
          <a:solidFill>
            <a:srgbClr val="27AE60"/>
          </a:solidFill>
          <a:ln w="12700">
            <a:solidFill>
              <a:srgbClr val="27AE60"/>
            </a:solidFill>
            <a:prstDash val="solid"/>
          </a:ln>
        </p:spPr>
      </p:sp>
      <p:sp>
        <p:nvSpPr>
          <p:cNvPr id="10" name="Text 8"/>
          <p:cNvSpPr/>
          <p:nvPr/>
        </p:nvSpPr>
        <p:spPr>
          <a:xfrm>
            <a:off x="320040" y="960120"/>
            <a:ext cx="2724912" cy="384048"/>
          </a:xfrm>
          <a:prstGeom prst="rect">
            <a:avLst/>
          </a:prstGeom>
          <a:noFill/>
          <a:ln/>
        </p:spPr>
        <p:txBody>
          <a:bodyPr wrap="square"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Pre-Comisionado</a:t>
            </a:r>
            <a:endParaRPr lang="en-US" sz="1000" dirty="0"/>
          </a:p>
        </p:txBody>
      </p:sp>
      <p:sp>
        <p:nvSpPr>
          <p:cNvPr id="11" name="Shape 9"/>
          <p:cNvSpPr/>
          <p:nvPr/>
        </p:nvSpPr>
        <p:spPr>
          <a:xfrm>
            <a:off x="411480" y="1417320"/>
            <a:ext cx="2542032" cy="603504"/>
          </a:xfrm>
          <a:prstGeom prst="roundRect">
            <a:avLst>
              <a:gd name="adj" fmla="val 6061"/>
            </a:avLst>
          </a:prstGeom>
          <a:solidFill>
            <a:srgbClr val="F5FFF5"/>
          </a:solidFill>
          <a:ln w="6350">
            <a:solidFill>
              <a:srgbClr val="E5E5EA"/>
            </a:solidFill>
            <a:prstDash val="solid"/>
          </a:ln>
        </p:spPr>
      </p:sp>
      <p:sp>
        <p:nvSpPr>
          <p:cNvPr id="12" name="Text 10"/>
          <p:cNvSpPr/>
          <p:nvPr/>
        </p:nvSpPr>
        <p:spPr>
          <a:xfrm>
            <a:off x="484632" y="1453896"/>
            <a:ext cx="2395728" cy="53035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Limpieza e inspección de sistemas por CWP</a:t>
            </a:r>
            <a:endParaRPr lang="en-US" sz="750" dirty="0"/>
          </a:p>
        </p:txBody>
      </p:sp>
      <p:sp>
        <p:nvSpPr>
          <p:cNvPr id="13" name="Shape 11"/>
          <p:cNvSpPr/>
          <p:nvPr/>
        </p:nvSpPr>
        <p:spPr>
          <a:xfrm>
            <a:off x="411480" y="2093976"/>
            <a:ext cx="2542032" cy="603504"/>
          </a:xfrm>
          <a:prstGeom prst="roundRect">
            <a:avLst>
              <a:gd name="adj" fmla="val 6061"/>
            </a:avLst>
          </a:prstGeom>
          <a:solidFill>
            <a:srgbClr val="FFFFFF"/>
          </a:solidFill>
          <a:ln w="6350">
            <a:solidFill>
              <a:srgbClr val="E5E5EA"/>
            </a:solidFill>
            <a:prstDash val="solid"/>
          </a:ln>
        </p:spPr>
      </p:sp>
      <p:sp>
        <p:nvSpPr>
          <p:cNvPr id="14" name="Text 12"/>
          <p:cNvSpPr/>
          <p:nvPr/>
        </p:nvSpPr>
        <p:spPr>
          <a:xfrm>
            <a:off x="484632" y="2130552"/>
            <a:ext cx="2395728" cy="53035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Verificación de punch items Cat-A cerrados</a:t>
            </a:r>
            <a:endParaRPr lang="en-US" sz="750" dirty="0"/>
          </a:p>
        </p:txBody>
      </p:sp>
      <p:sp>
        <p:nvSpPr>
          <p:cNvPr id="15" name="Shape 13"/>
          <p:cNvSpPr/>
          <p:nvPr/>
        </p:nvSpPr>
        <p:spPr>
          <a:xfrm>
            <a:off x="411480" y="2770632"/>
            <a:ext cx="2542032" cy="603504"/>
          </a:xfrm>
          <a:prstGeom prst="roundRect">
            <a:avLst>
              <a:gd name="adj" fmla="val 6061"/>
            </a:avLst>
          </a:prstGeom>
          <a:solidFill>
            <a:srgbClr val="F5FFF5"/>
          </a:solidFill>
          <a:ln w="6350">
            <a:solidFill>
              <a:srgbClr val="E5E5EA"/>
            </a:solidFill>
            <a:prstDash val="solid"/>
          </a:ln>
        </p:spPr>
      </p:sp>
      <p:sp>
        <p:nvSpPr>
          <p:cNvPr id="16" name="Text 14"/>
          <p:cNvSpPr/>
          <p:nvPr/>
        </p:nvSpPr>
        <p:spPr>
          <a:xfrm>
            <a:off x="484632" y="2807208"/>
            <a:ext cx="2395728" cy="53035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Instalación de spool pieces temporales</a:t>
            </a:r>
            <a:endParaRPr lang="en-US" sz="750" dirty="0"/>
          </a:p>
        </p:txBody>
      </p:sp>
      <p:sp>
        <p:nvSpPr>
          <p:cNvPr id="17" name="Shape 15"/>
          <p:cNvSpPr/>
          <p:nvPr/>
        </p:nvSpPr>
        <p:spPr>
          <a:xfrm>
            <a:off x="411480" y="3447288"/>
            <a:ext cx="2542032" cy="603504"/>
          </a:xfrm>
          <a:prstGeom prst="roundRect">
            <a:avLst>
              <a:gd name="adj" fmla="val 6061"/>
            </a:avLst>
          </a:prstGeom>
          <a:solidFill>
            <a:srgbClr val="FFFFFF"/>
          </a:solidFill>
          <a:ln w="6350">
            <a:solidFill>
              <a:srgbClr val="E5E5EA"/>
            </a:solidFill>
            <a:prstDash val="solid"/>
          </a:ln>
        </p:spPr>
      </p:sp>
      <p:sp>
        <p:nvSpPr>
          <p:cNvPr id="18" name="Text 16"/>
          <p:cNvSpPr/>
          <p:nvPr/>
        </p:nvSpPr>
        <p:spPr>
          <a:xfrm>
            <a:off x="484632" y="3483864"/>
            <a:ext cx="2395728" cy="53035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Loop checks de instrumentación</a:t>
            </a:r>
            <a:endParaRPr lang="en-US" sz="750" dirty="0"/>
          </a:p>
        </p:txBody>
      </p:sp>
      <p:sp>
        <p:nvSpPr>
          <p:cNvPr id="19" name="Shape 17"/>
          <p:cNvSpPr/>
          <p:nvPr/>
        </p:nvSpPr>
        <p:spPr>
          <a:xfrm>
            <a:off x="411480" y="4123944"/>
            <a:ext cx="2542032" cy="603504"/>
          </a:xfrm>
          <a:prstGeom prst="roundRect">
            <a:avLst>
              <a:gd name="adj" fmla="val 6061"/>
            </a:avLst>
          </a:prstGeom>
          <a:solidFill>
            <a:srgbClr val="F5FFF5"/>
          </a:solidFill>
          <a:ln w="6350">
            <a:solidFill>
              <a:srgbClr val="E5E5EA"/>
            </a:solidFill>
            <a:prstDash val="solid"/>
          </a:ln>
        </p:spPr>
      </p:sp>
      <p:sp>
        <p:nvSpPr>
          <p:cNvPr id="20" name="Text 18"/>
          <p:cNvSpPr/>
          <p:nvPr/>
        </p:nvSpPr>
        <p:spPr>
          <a:xfrm>
            <a:off x="484632" y="4160520"/>
            <a:ext cx="2395728" cy="53035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Megger testing eléctrico</a:t>
            </a:r>
            <a:endParaRPr lang="en-US" sz="750" dirty="0"/>
          </a:p>
        </p:txBody>
      </p:sp>
      <p:sp>
        <p:nvSpPr>
          <p:cNvPr id="21" name="Shape 19"/>
          <p:cNvSpPr/>
          <p:nvPr/>
        </p:nvSpPr>
        <p:spPr>
          <a:xfrm>
            <a:off x="3172968" y="960120"/>
            <a:ext cx="2724912" cy="3931920"/>
          </a:xfrm>
          <a:prstGeom prst="rect">
            <a:avLst>
              <a:gd name="adj" fmla="val 2349"/>
            </a:avLst>
          </a:prstGeom>
          <a:solidFill>
            <a:srgbClr val="FFFFFF"/>
          </a:solidFill>
          <a:ln w="15240">
            <a:solidFill>
              <a:srgbClr val="0E9E9E"/>
            </a:solidFill>
            <a:prstDash val="solid"/>
          </a:ln>
        </p:spPr>
      </p:sp>
      <p:sp>
        <p:nvSpPr>
          <p:cNvPr id="22" name="Shape 20"/>
          <p:cNvSpPr/>
          <p:nvPr/>
        </p:nvSpPr>
        <p:spPr>
          <a:xfrm>
            <a:off x="3172968" y="960120"/>
            <a:ext cx="2724912" cy="384048"/>
          </a:xfrm>
          <a:prstGeom prst="rect">
            <a:avLst>
              <a:gd name="adj" fmla="val 16667"/>
            </a:avLst>
          </a:prstGeom>
          <a:solidFill>
            <a:srgbClr val="0E9E9E"/>
          </a:solidFill>
          <a:ln w="12700">
            <a:solidFill>
              <a:srgbClr val="0E9E9E"/>
            </a:solidFill>
            <a:prstDash val="solid"/>
          </a:ln>
        </p:spPr>
      </p:sp>
      <p:sp>
        <p:nvSpPr>
          <p:cNvPr id="23" name="Text 21"/>
          <p:cNvSpPr/>
          <p:nvPr/>
        </p:nvSpPr>
        <p:spPr>
          <a:xfrm>
            <a:off x="3172968" y="960120"/>
            <a:ext cx="2724912" cy="384048"/>
          </a:xfrm>
          <a:prstGeom prst="rect">
            <a:avLst/>
          </a:prstGeom>
          <a:noFill/>
          <a:ln/>
        </p:spPr>
        <p:txBody>
          <a:bodyPr wrap="square"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Comisionado</a:t>
            </a:r>
            <a:endParaRPr lang="en-US" sz="1000" dirty="0"/>
          </a:p>
        </p:txBody>
      </p:sp>
      <p:sp>
        <p:nvSpPr>
          <p:cNvPr id="24" name="Shape 22"/>
          <p:cNvSpPr/>
          <p:nvPr/>
        </p:nvSpPr>
        <p:spPr>
          <a:xfrm>
            <a:off x="3264408" y="1417320"/>
            <a:ext cx="2542032" cy="603504"/>
          </a:xfrm>
          <a:prstGeom prst="roundRect">
            <a:avLst>
              <a:gd name="adj" fmla="val 6061"/>
            </a:avLst>
          </a:prstGeom>
          <a:solidFill>
            <a:srgbClr val="F5FFF5"/>
          </a:solidFill>
          <a:ln w="6350">
            <a:solidFill>
              <a:srgbClr val="E5E5EA"/>
            </a:solidFill>
            <a:prstDash val="solid"/>
          </a:ln>
        </p:spPr>
      </p:sp>
      <p:sp>
        <p:nvSpPr>
          <p:cNvPr id="25" name="Text 23"/>
          <p:cNvSpPr/>
          <p:nvPr/>
        </p:nvSpPr>
        <p:spPr>
          <a:xfrm>
            <a:off x="3337560" y="1453896"/>
            <a:ext cx="2395728" cy="53035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Primera energización eléctrica por sistema</a:t>
            </a:r>
            <a:endParaRPr lang="en-US" sz="750" dirty="0"/>
          </a:p>
        </p:txBody>
      </p:sp>
      <p:sp>
        <p:nvSpPr>
          <p:cNvPr id="26" name="Shape 24"/>
          <p:cNvSpPr/>
          <p:nvPr/>
        </p:nvSpPr>
        <p:spPr>
          <a:xfrm>
            <a:off x="3264408" y="2093976"/>
            <a:ext cx="2542032" cy="603504"/>
          </a:xfrm>
          <a:prstGeom prst="roundRect">
            <a:avLst>
              <a:gd name="adj" fmla="val 6061"/>
            </a:avLst>
          </a:prstGeom>
          <a:solidFill>
            <a:srgbClr val="FFFFFF"/>
          </a:solidFill>
          <a:ln w="6350">
            <a:solidFill>
              <a:srgbClr val="E5E5EA"/>
            </a:solidFill>
            <a:prstDash val="solid"/>
          </a:ln>
        </p:spPr>
      </p:sp>
      <p:sp>
        <p:nvSpPr>
          <p:cNvPr id="27" name="Text 25"/>
          <p:cNvSpPr/>
          <p:nvPr/>
        </p:nvSpPr>
        <p:spPr>
          <a:xfrm>
            <a:off x="3337560" y="2130552"/>
            <a:ext cx="2395728" cy="53035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Llenado y pruebas hidráulicas</a:t>
            </a:r>
            <a:endParaRPr lang="en-US" sz="750" dirty="0"/>
          </a:p>
        </p:txBody>
      </p:sp>
      <p:sp>
        <p:nvSpPr>
          <p:cNvPr id="28" name="Shape 26"/>
          <p:cNvSpPr/>
          <p:nvPr/>
        </p:nvSpPr>
        <p:spPr>
          <a:xfrm>
            <a:off x="3264408" y="2770632"/>
            <a:ext cx="2542032" cy="603504"/>
          </a:xfrm>
          <a:prstGeom prst="roundRect">
            <a:avLst>
              <a:gd name="adj" fmla="val 6061"/>
            </a:avLst>
          </a:prstGeom>
          <a:solidFill>
            <a:srgbClr val="F5FFF5"/>
          </a:solidFill>
          <a:ln w="6350">
            <a:solidFill>
              <a:srgbClr val="E5E5EA"/>
            </a:solidFill>
            <a:prstDash val="solid"/>
          </a:ln>
        </p:spPr>
      </p:sp>
      <p:sp>
        <p:nvSpPr>
          <p:cNvPr id="29" name="Text 27"/>
          <p:cNvSpPr/>
          <p:nvPr/>
        </p:nvSpPr>
        <p:spPr>
          <a:xfrm>
            <a:off x="3337560" y="2807208"/>
            <a:ext cx="2395728" cy="53035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Arranque en frío de maquinaria rotativa</a:t>
            </a:r>
            <a:endParaRPr lang="en-US" sz="750" dirty="0"/>
          </a:p>
        </p:txBody>
      </p:sp>
      <p:sp>
        <p:nvSpPr>
          <p:cNvPr id="30" name="Shape 28"/>
          <p:cNvSpPr/>
          <p:nvPr/>
        </p:nvSpPr>
        <p:spPr>
          <a:xfrm>
            <a:off x="3264408" y="3447288"/>
            <a:ext cx="2542032" cy="603504"/>
          </a:xfrm>
          <a:prstGeom prst="roundRect">
            <a:avLst>
              <a:gd name="adj" fmla="val 6061"/>
            </a:avLst>
          </a:prstGeom>
          <a:solidFill>
            <a:srgbClr val="FFFFFF"/>
          </a:solidFill>
          <a:ln w="6350">
            <a:solidFill>
              <a:srgbClr val="E5E5EA"/>
            </a:solidFill>
            <a:prstDash val="solid"/>
          </a:ln>
        </p:spPr>
      </p:sp>
      <p:sp>
        <p:nvSpPr>
          <p:cNvPr id="31" name="Text 29"/>
          <p:cNvSpPr/>
          <p:nvPr/>
        </p:nvSpPr>
        <p:spPr>
          <a:xfrm>
            <a:off x="3337560" y="3483864"/>
            <a:ext cx="2395728" cy="53035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Calibración de instrumentos y transmisores</a:t>
            </a:r>
            <a:endParaRPr lang="en-US" sz="750" dirty="0"/>
          </a:p>
        </p:txBody>
      </p:sp>
      <p:sp>
        <p:nvSpPr>
          <p:cNvPr id="32" name="Shape 30"/>
          <p:cNvSpPr/>
          <p:nvPr/>
        </p:nvSpPr>
        <p:spPr>
          <a:xfrm>
            <a:off x="3264408" y="4123944"/>
            <a:ext cx="2542032" cy="603504"/>
          </a:xfrm>
          <a:prstGeom prst="roundRect">
            <a:avLst>
              <a:gd name="adj" fmla="val 6061"/>
            </a:avLst>
          </a:prstGeom>
          <a:solidFill>
            <a:srgbClr val="F5FFF5"/>
          </a:solidFill>
          <a:ln w="6350">
            <a:solidFill>
              <a:srgbClr val="E5E5EA"/>
            </a:solidFill>
            <a:prstDash val="solid"/>
          </a:ln>
        </p:spPr>
      </p:sp>
      <p:sp>
        <p:nvSpPr>
          <p:cNvPr id="33" name="Text 31"/>
          <p:cNvSpPr/>
          <p:nvPr/>
        </p:nvSpPr>
        <p:spPr>
          <a:xfrm>
            <a:off x="3337560" y="4160520"/>
            <a:ext cx="2395728" cy="53035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Pruebas funcionales DCS/SIS</a:t>
            </a:r>
            <a:endParaRPr lang="en-US" sz="750" dirty="0"/>
          </a:p>
        </p:txBody>
      </p:sp>
      <p:sp>
        <p:nvSpPr>
          <p:cNvPr id="34" name="Shape 32"/>
          <p:cNvSpPr/>
          <p:nvPr/>
        </p:nvSpPr>
        <p:spPr>
          <a:xfrm>
            <a:off x="6025896" y="960120"/>
            <a:ext cx="2724912" cy="3931920"/>
          </a:xfrm>
          <a:prstGeom prst="rect">
            <a:avLst>
              <a:gd name="adj" fmla="val 2349"/>
            </a:avLst>
          </a:prstGeom>
          <a:solidFill>
            <a:srgbClr val="FFFFFF"/>
          </a:solidFill>
          <a:ln w="15240">
            <a:solidFill>
              <a:srgbClr val="0A74E3"/>
            </a:solidFill>
            <a:prstDash val="solid"/>
          </a:ln>
        </p:spPr>
      </p:sp>
      <p:sp>
        <p:nvSpPr>
          <p:cNvPr id="35" name="Shape 33"/>
          <p:cNvSpPr/>
          <p:nvPr/>
        </p:nvSpPr>
        <p:spPr>
          <a:xfrm>
            <a:off x="6025896" y="960120"/>
            <a:ext cx="2724912" cy="384048"/>
          </a:xfrm>
          <a:prstGeom prst="rect">
            <a:avLst>
              <a:gd name="adj" fmla="val 16667"/>
            </a:avLst>
          </a:prstGeom>
          <a:solidFill>
            <a:srgbClr val="0A74E3"/>
          </a:solidFill>
          <a:ln w="12700">
            <a:solidFill>
              <a:srgbClr val="0A74E3"/>
            </a:solidFill>
            <a:prstDash val="solid"/>
          </a:ln>
        </p:spPr>
      </p:sp>
      <p:sp>
        <p:nvSpPr>
          <p:cNvPr id="36" name="Text 34"/>
          <p:cNvSpPr/>
          <p:nvPr/>
        </p:nvSpPr>
        <p:spPr>
          <a:xfrm>
            <a:off x="6025896" y="960120"/>
            <a:ext cx="2724912" cy="384048"/>
          </a:xfrm>
          <a:prstGeom prst="rect">
            <a:avLst/>
          </a:prstGeom>
          <a:noFill/>
          <a:ln/>
        </p:spPr>
        <p:txBody>
          <a:bodyPr wrap="square"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Arranque</a:t>
            </a:r>
            <a:endParaRPr lang="en-US" sz="1000" dirty="0"/>
          </a:p>
        </p:txBody>
      </p:sp>
      <p:sp>
        <p:nvSpPr>
          <p:cNvPr id="37" name="Shape 35"/>
          <p:cNvSpPr/>
          <p:nvPr/>
        </p:nvSpPr>
        <p:spPr>
          <a:xfrm>
            <a:off x="6117336" y="1417320"/>
            <a:ext cx="2542032" cy="603504"/>
          </a:xfrm>
          <a:prstGeom prst="roundRect">
            <a:avLst>
              <a:gd name="adj" fmla="val 6061"/>
            </a:avLst>
          </a:prstGeom>
          <a:solidFill>
            <a:srgbClr val="F5FFF5"/>
          </a:solidFill>
          <a:ln w="6350">
            <a:solidFill>
              <a:srgbClr val="E5E5EA"/>
            </a:solidFill>
            <a:prstDash val="solid"/>
          </a:ln>
        </p:spPr>
      </p:sp>
      <p:sp>
        <p:nvSpPr>
          <p:cNvPr id="38" name="Text 36"/>
          <p:cNvSpPr/>
          <p:nvPr/>
        </p:nvSpPr>
        <p:spPr>
          <a:xfrm>
            <a:off x="6190488" y="1453896"/>
            <a:ext cx="2395728" cy="53035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Introducción de proceso (primera carga)</a:t>
            </a:r>
            <a:endParaRPr lang="en-US" sz="750" dirty="0"/>
          </a:p>
        </p:txBody>
      </p:sp>
      <p:sp>
        <p:nvSpPr>
          <p:cNvPr id="39" name="Shape 37"/>
          <p:cNvSpPr/>
          <p:nvPr/>
        </p:nvSpPr>
        <p:spPr>
          <a:xfrm>
            <a:off x="6117336" y="2093976"/>
            <a:ext cx="2542032" cy="603504"/>
          </a:xfrm>
          <a:prstGeom prst="roundRect">
            <a:avLst>
              <a:gd name="adj" fmla="val 6061"/>
            </a:avLst>
          </a:prstGeom>
          <a:solidFill>
            <a:srgbClr val="FFFFFF"/>
          </a:solidFill>
          <a:ln w="6350">
            <a:solidFill>
              <a:srgbClr val="E5E5EA"/>
            </a:solidFill>
            <a:prstDash val="solid"/>
          </a:ln>
        </p:spPr>
      </p:sp>
      <p:sp>
        <p:nvSpPr>
          <p:cNvPr id="40" name="Text 38"/>
          <p:cNvSpPr/>
          <p:nvPr/>
        </p:nvSpPr>
        <p:spPr>
          <a:xfrm>
            <a:off x="6190488" y="2130552"/>
            <a:ext cx="2395728" cy="53035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Performance test según criterios del contrato</a:t>
            </a:r>
            <a:endParaRPr lang="en-US" sz="750" dirty="0"/>
          </a:p>
        </p:txBody>
      </p:sp>
      <p:sp>
        <p:nvSpPr>
          <p:cNvPr id="41" name="Shape 39"/>
          <p:cNvSpPr/>
          <p:nvPr/>
        </p:nvSpPr>
        <p:spPr>
          <a:xfrm>
            <a:off x="6117336" y="2770632"/>
            <a:ext cx="2542032" cy="603504"/>
          </a:xfrm>
          <a:prstGeom prst="roundRect">
            <a:avLst>
              <a:gd name="adj" fmla="val 6061"/>
            </a:avLst>
          </a:prstGeom>
          <a:solidFill>
            <a:srgbClr val="F5FFF5"/>
          </a:solidFill>
          <a:ln w="6350">
            <a:solidFill>
              <a:srgbClr val="E5E5EA"/>
            </a:solidFill>
            <a:prstDash val="solid"/>
          </a:ln>
        </p:spPr>
      </p:sp>
      <p:sp>
        <p:nvSpPr>
          <p:cNvPr id="42" name="Text 40"/>
          <p:cNvSpPr/>
          <p:nvPr/>
        </p:nvSpPr>
        <p:spPr>
          <a:xfrm>
            <a:off x="6190488" y="2807208"/>
            <a:ext cx="2395728" cy="53035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Ajuste y optimización de parámetros</a:t>
            </a:r>
            <a:endParaRPr lang="en-US" sz="750" dirty="0"/>
          </a:p>
        </p:txBody>
      </p:sp>
      <p:sp>
        <p:nvSpPr>
          <p:cNvPr id="43" name="Shape 41"/>
          <p:cNvSpPr/>
          <p:nvPr/>
        </p:nvSpPr>
        <p:spPr>
          <a:xfrm>
            <a:off x="6117336" y="3447288"/>
            <a:ext cx="2542032" cy="603504"/>
          </a:xfrm>
          <a:prstGeom prst="roundRect">
            <a:avLst>
              <a:gd name="adj" fmla="val 6061"/>
            </a:avLst>
          </a:prstGeom>
          <a:solidFill>
            <a:srgbClr val="FFFFFF"/>
          </a:solidFill>
          <a:ln w="6350">
            <a:solidFill>
              <a:srgbClr val="E5E5EA"/>
            </a:solidFill>
            <a:prstDash val="solid"/>
          </a:ln>
        </p:spPr>
      </p:sp>
      <p:sp>
        <p:nvSpPr>
          <p:cNvPr id="44" name="Text 42"/>
          <p:cNvSpPr/>
          <p:nvPr/>
        </p:nvSpPr>
        <p:spPr>
          <a:xfrm>
            <a:off x="6190488" y="3483864"/>
            <a:ext cx="2395728" cy="53035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Entrenamiento del operador en campo</a:t>
            </a:r>
            <a:endParaRPr lang="en-US" sz="750" dirty="0"/>
          </a:p>
        </p:txBody>
      </p:sp>
      <p:sp>
        <p:nvSpPr>
          <p:cNvPr id="45" name="Shape 43"/>
          <p:cNvSpPr/>
          <p:nvPr/>
        </p:nvSpPr>
        <p:spPr>
          <a:xfrm>
            <a:off x="6117336" y="4123944"/>
            <a:ext cx="2542032" cy="603504"/>
          </a:xfrm>
          <a:prstGeom prst="roundRect">
            <a:avLst>
              <a:gd name="adj" fmla="val 6061"/>
            </a:avLst>
          </a:prstGeom>
          <a:solidFill>
            <a:srgbClr val="F5FFF5"/>
          </a:solidFill>
          <a:ln w="6350">
            <a:solidFill>
              <a:srgbClr val="E5E5EA"/>
            </a:solidFill>
            <a:prstDash val="solid"/>
          </a:ln>
        </p:spPr>
      </p:sp>
      <p:sp>
        <p:nvSpPr>
          <p:cNvPr id="46" name="Text 44"/>
          <p:cNvSpPr/>
          <p:nvPr/>
        </p:nvSpPr>
        <p:spPr>
          <a:xfrm>
            <a:off x="6190488" y="4160520"/>
            <a:ext cx="2395728" cy="53035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Firma de Mechanical Completion Certificate</a:t>
            </a:r>
            <a:endParaRPr lang="en-US" sz="7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4620A"/>
          </a:solidFill>
          <a:ln w="12700">
            <a:solidFill>
              <a:srgbClr val="D4620A"/>
            </a:solidFill>
            <a:prstDash val="solid"/>
          </a:ln>
        </p:spPr>
      </p:sp>
      <p:sp>
        <p:nvSpPr>
          <p:cNvPr id="3" name="Shape 1"/>
          <p:cNvSpPr/>
          <p:nvPr/>
        </p:nvSpPr>
        <p:spPr>
          <a:xfrm>
            <a:off x="164592" y="4956048"/>
            <a:ext cx="8979408" cy="182880"/>
          </a:xfrm>
          <a:prstGeom prst="rect">
            <a:avLst/>
          </a:prstGeom>
          <a:solidFill>
            <a:srgbClr val="D4620A"/>
          </a:solidFill>
          <a:ln w="12700">
            <a:solidFill>
              <a:srgbClr val="D4620A"/>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114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Gestión de Subcontratistas bajo el Marco AWP</a:t>
            </a:r>
            <a:endParaRPr lang="en-US" sz="1800" dirty="0"/>
          </a:p>
        </p:txBody>
      </p:sp>
      <p:sp>
        <p:nvSpPr>
          <p:cNvPr id="6" name="Shape 4"/>
          <p:cNvSpPr/>
          <p:nvPr/>
        </p:nvSpPr>
        <p:spPr>
          <a:xfrm>
            <a:off x="320040" y="621792"/>
            <a:ext cx="8503920" cy="41148"/>
          </a:xfrm>
          <a:prstGeom prst="rect">
            <a:avLst/>
          </a:prstGeom>
          <a:solidFill>
            <a:srgbClr val="D4620A"/>
          </a:solidFill>
          <a:ln w="12700">
            <a:solidFill>
              <a:srgbClr val="D4620A"/>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D4620A"/>
                </a:solidFill>
                <a:latin typeface="Atkinson Hyperlegible" pitchFamily="34" charset="0"/>
                <a:ea typeface="Atkinson Hyperlegible" pitchFamily="34" charset="-122"/>
                <a:cs typeface="Atkinson Hyperlegible" pitchFamily="34" charset="-120"/>
              </a:rPr>
              <a:t>Integración de la cadena de suministro al proceso de work packaging</a:t>
            </a:r>
            <a:endParaRPr lang="en-US" sz="900" dirty="0"/>
          </a:p>
        </p:txBody>
      </p:sp>
      <p:sp>
        <p:nvSpPr>
          <p:cNvPr id="8" name="Shape 6"/>
          <p:cNvSpPr/>
          <p:nvPr/>
        </p:nvSpPr>
        <p:spPr>
          <a:xfrm>
            <a:off x="3913632" y="2377440"/>
            <a:ext cx="1316736" cy="731520"/>
          </a:xfrm>
          <a:prstGeom prst="ellipse">
            <a:avLst/>
          </a:prstGeom>
          <a:solidFill>
            <a:srgbClr val="D4620A"/>
          </a:solidFill>
          <a:ln w="12700">
            <a:solidFill>
              <a:srgbClr val="D4620A"/>
            </a:solidFill>
            <a:prstDash val="solid"/>
          </a:ln>
        </p:spPr>
      </p:sp>
      <p:sp>
        <p:nvSpPr>
          <p:cNvPr id="9" name="Text 7"/>
          <p:cNvSpPr/>
          <p:nvPr/>
        </p:nvSpPr>
        <p:spPr>
          <a:xfrm>
            <a:off x="3913632" y="2377440"/>
            <a:ext cx="1316736" cy="731520"/>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Gestión de</a:t>
            </a:r>
            <a:endParaRPr lang="en-US" sz="850" dirty="0"/>
          </a:p>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Subcontratos</a:t>
            </a:r>
            <a:endParaRPr lang="en-US" sz="850" dirty="0"/>
          </a:p>
        </p:txBody>
      </p:sp>
      <p:sp>
        <p:nvSpPr>
          <p:cNvPr id="10" name="Shape 8"/>
          <p:cNvSpPr/>
          <p:nvPr/>
        </p:nvSpPr>
        <p:spPr>
          <a:xfrm flipV="1">
            <a:off x="4572000" y="1612087"/>
            <a:ext cx="18288" cy="747065"/>
          </a:xfrm>
          <a:prstGeom prst="line">
            <a:avLst/>
          </a:prstGeom>
          <a:noFill/>
          <a:ln w="12700">
            <a:solidFill>
              <a:srgbClr val="D4620A"/>
            </a:solidFill>
            <a:prstDash val="solid"/>
          </a:ln>
        </p:spPr>
      </p:sp>
      <p:sp>
        <p:nvSpPr>
          <p:cNvPr id="11" name="Shape 9"/>
          <p:cNvSpPr/>
          <p:nvPr/>
        </p:nvSpPr>
        <p:spPr>
          <a:xfrm>
            <a:off x="3913632" y="1100023"/>
            <a:ext cx="1316736" cy="566928"/>
          </a:xfrm>
          <a:prstGeom prst="roundRect">
            <a:avLst>
              <a:gd name="adj" fmla="val 9677"/>
            </a:avLst>
          </a:prstGeom>
          <a:solidFill>
            <a:srgbClr val="FFFFFF"/>
          </a:solidFill>
          <a:ln w="15240">
            <a:solidFill>
              <a:srgbClr val="D4620A"/>
            </a:solidFill>
            <a:prstDash val="solid"/>
          </a:ln>
        </p:spPr>
      </p:sp>
      <p:sp>
        <p:nvSpPr>
          <p:cNvPr id="12" name="Text 10"/>
          <p:cNvSpPr/>
          <p:nvPr/>
        </p:nvSpPr>
        <p:spPr>
          <a:xfrm>
            <a:off x="3931920" y="1109167"/>
            <a:ext cx="1280160" cy="274320"/>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Contratos por</a:t>
            </a:r>
            <a:endParaRPr lang="en-US" sz="750" dirty="0"/>
          </a:p>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CWP/IWP</a:t>
            </a:r>
            <a:endParaRPr lang="en-US" sz="750" dirty="0"/>
          </a:p>
        </p:txBody>
      </p:sp>
      <p:sp>
        <p:nvSpPr>
          <p:cNvPr id="13" name="Text 11"/>
          <p:cNvSpPr/>
          <p:nvPr/>
        </p:nvSpPr>
        <p:spPr>
          <a:xfrm>
            <a:off x="3931920" y="1410919"/>
            <a:ext cx="1280160" cy="219456"/>
          </a:xfrm>
          <a:prstGeom prst="rect">
            <a:avLst/>
          </a:prstGeom>
          <a:noFill/>
          <a:ln/>
        </p:spPr>
        <p:txBody>
          <a:bodyPr wrap="square" rtlCol="0" anchor="ctr"/>
          <a:lstStyle/>
          <a:p>
            <a:pPr algn="ctr" indent="0" marL="0">
              <a:buNone/>
            </a:pPr>
            <a:r>
              <a:rPr lang="en-US" sz="650" dirty="0">
                <a:solidFill>
                  <a:srgbClr val="444444"/>
                </a:solidFill>
                <a:latin typeface="Atkinson Hyperlegible" pitchFamily="34" charset="0"/>
                <a:ea typeface="Atkinson Hyperlegible" pitchFamily="34" charset="-122"/>
                <a:cs typeface="Atkinson Hyperlegible" pitchFamily="34" charset="-120"/>
              </a:rPr>
              <a:t>Alcance definido</a:t>
            </a:r>
            <a:endParaRPr lang="en-US" sz="650" dirty="0"/>
          </a:p>
        </p:txBody>
      </p:sp>
      <p:sp>
        <p:nvSpPr>
          <p:cNvPr id="14" name="Shape 12"/>
          <p:cNvSpPr/>
          <p:nvPr/>
        </p:nvSpPr>
        <p:spPr>
          <a:xfrm flipV="1">
            <a:off x="5056934" y="1943382"/>
            <a:ext cx="271563" cy="528255"/>
          </a:xfrm>
          <a:prstGeom prst="line">
            <a:avLst/>
          </a:prstGeom>
          <a:noFill/>
          <a:ln w="12700">
            <a:solidFill>
              <a:srgbClr val="D4620A"/>
            </a:solidFill>
            <a:prstDash val="solid"/>
          </a:ln>
        </p:spPr>
      </p:sp>
      <p:sp>
        <p:nvSpPr>
          <p:cNvPr id="15" name="Shape 13"/>
          <p:cNvSpPr/>
          <p:nvPr/>
        </p:nvSpPr>
        <p:spPr>
          <a:xfrm>
            <a:off x="5109802" y="1506309"/>
            <a:ext cx="1316736" cy="566928"/>
          </a:xfrm>
          <a:prstGeom prst="roundRect">
            <a:avLst>
              <a:gd name="adj" fmla="val 9677"/>
            </a:avLst>
          </a:prstGeom>
          <a:solidFill>
            <a:srgbClr val="FFFFFF"/>
          </a:solidFill>
          <a:ln w="15240">
            <a:solidFill>
              <a:srgbClr val="D4620A"/>
            </a:solidFill>
            <a:prstDash val="solid"/>
          </a:ln>
        </p:spPr>
      </p:sp>
      <p:sp>
        <p:nvSpPr>
          <p:cNvPr id="16" name="Text 14"/>
          <p:cNvSpPr/>
          <p:nvPr/>
        </p:nvSpPr>
        <p:spPr>
          <a:xfrm>
            <a:off x="5128090" y="1515453"/>
            <a:ext cx="1280160" cy="274320"/>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KPIs</a:t>
            </a:r>
            <a:endParaRPr lang="en-US" sz="750" dirty="0"/>
          </a:p>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Compartidos</a:t>
            </a:r>
            <a:endParaRPr lang="en-US" sz="750" dirty="0"/>
          </a:p>
        </p:txBody>
      </p:sp>
      <p:sp>
        <p:nvSpPr>
          <p:cNvPr id="17" name="Text 15"/>
          <p:cNvSpPr/>
          <p:nvPr/>
        </p:nvSpPr>
        <p:spPr>
          <a:xfrm>
            <a:off x="5128090" y="1817205"/>
            <a:ext cx="1280160" cy="219456"/>
          </a:xfrm>
          <a:prstGeom prst="rect">
            <a:avLst/>
          </a:prstGeom>
          <a:noFill/>
          <a:ln/>
        </p:spPr>
        <p:txBody>
          <a:bodyPr wrap="square" rtlCol="0" anchor="ctr"/>
          <a:lstStyle/>
          <a:p>
            <a:pPr algn="ctr" indent="0" marL="0">
              <a:buNone/>
            </a:pPr>
            <a:r>
              <a:rPr lang="en-US" sz="650" dirty="0">
                <a:solidFill>
                  <a:srgbClr val="444444"/>
                </a:solidFill>
                <a:latin typeface="Atkinson Hyperlegible" pitchFamily="34" charset="0"/>
                <a:ea typeface="Atkinson Hyperlegible" pitchFamily="34" charset="-122"/>
                <a:cs typeface="Atkinson Hyperlegible" pitchFamily="34" charset="-120"/>
              </a:rPr>
              <a:t>CPI, SPI, RTI Rate</a:t>
            </a:r>
            <a:endParaRPr lang="en-US" sz="650" dirty="0"/>
          </a:p>
        </p:txBody>
      </p:sp>
      <p:sp>
        <p:nvSpPr>
          <p:cNvPr id="18" name="Shape 16"/>
          <p:cNvSpPr/>
          <p:nvPr/>
        </p:nvSpPr>
        <p:spPr>
          <a:xfrm>
            <a:off x="5257800" y="2743200"/>
            <a:ext cx="384048" cy="18288"/>
          </a:xfrm>
          <a:prstGeom prst="line">
            <a:avLst/>
          </a:prstGeom>
          <a:noFill/>
          <a:ln w="12700">
            <a:solidFill>
              <a:srgbClr val="D4620A"/>
            </a:solidFill>
            <a:prstDash val="solid"/>
          </a:ln>
        </p:spPr>
      </p:sp>
      <p:sp>
        <p:nvSpPr>
          <p:cNvPr id="19" name="Shape 17"/>
          <p:cNvSpPr/>
          <p:nvPr/>
        </p:nvSpPr>
        <p:spPr>
          <a:xfrm>
            <a:off x="5605272" y="2487168"/>
            <a:ext cx="1316736" cy="566928"/>
          </a:xfrm>
          <a:prstGeom prst="roundRect">
            <a:avLst>
              <a:gd name="adj" fmla="val 9677"/>
            </a:avLst>
          </a:prstGeom>
          <a:solidFill>
            <a:srgbClr val="FFFFFF"/>
          </a:solidFill>
          <a:ln w="15240">
            <a:solidFill>
              <a:srgbClr val="D4620A"/>
            </a:solidFill>
            <a:prstDash val="solid"/>
          </a:ln>
        </p:spPr>
      </p:sp>
      <p:sp>
        <p:nvSpPr>
          <p:cNvPr id="20" name="Text 18"/>
          <p:cNvSpPr/>
          <p:nvPr/>
        </p:nvSpPr>
        <p:spPr>
          <a:xfrm>
            <a:off x="5623560" y="2496312"/>
            <a:ext cx="1280160" cy="274320"/>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Acceso a</a:t>
            </a:r>
            <a:endParaRPr lang="en-US" sz="750" dirty="0"/>
          </a:p>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Plataforma AWP</a:t>
            </a:r>
            <a:endParaRPr lang="en-US" sz="750" dirty="0"/>
          </a:p>
        </p:txBody>
      </p:sp>
      <p:sp>
        <p:nvSpPr>
          <p:cNvPr id="21" name="Text 19"/>
          <p:cNvSpPr/>
          <p:nvPr/>
        </p:nvSpPr>
        <p:spPr>
          <a:xfrm>
            <a:off x="5623560" y="2798064"/>
            <a:ext cx="1280160" cy="219456"/>
          </a:xfrm>
          <a:prstGeom prst="rect">
            <a:avLst/>
          </a:prstGeom>
          <a:noFill/>
          <a:ln/>
        </p:spPr>
        <p:txBody>
          <a:bodyPr wrap="square" rtlCol="0" anchor="ctr"/>
          <a:lstStyle/>
          <a:p>
            <a:pPr algn="ctr" indent="0" marL="0">
              <a:buNone/>
            </a:pPr>
            <a:r>
              <a:rPr lang="en-US" sz="650" dirty="0">
                <a:solidFill>
                  <a:srgbClr val="444444"/>
                </a:solidFill>
                <a:latin typeface="Atkinson Hyperlegible" pitchFamily="34" charset="0"/>
                <a:ea typeface="Atkinson Hyperlegible" pitchFamily="34" charset="-122"/>
                <a:cs typeface="Atkinson Hyperlegible" pitchFamily="34" charset="-120"/>
              </a:rPr>
              <a:t>Portal subcontratistas</a:t>
            </a:r>
            <a:endParaRPr lang="en-US" sz="650" dirty="0"/>
          </a:p>
        </p:txBody>
      </p:sp>
      <p:sp>
        <p:nvSpPr>
          <p:cNvPr id="22" name="Shape 20"/>
          <p:cNvSpPr/>
          <p:nvPr/>
        </p:nvSpPr>
        <p:spPr>
          <a:xfrm>
            <a:off x="5056934" y="3014763"/>
            <a:ext cx="271563" cy="528255"/>
          </a:xfrm>
          <a:prstGeom prst="line">
            <a:avLst/>
          </a:prstGeom>
          <a:noFill/>
          <a:ln w="12700">
            <a:solidFill>
              <a:srgbClr val="D4620A"/>
            </a:solidFill>
            <a:prstDash val="solid"/>
          </a:ln>
        </p:spPr>
      </p:sp>
      <p:sp>
        <p:nvSpPr>
          <p:cNvPr id="23" name="Shape 21"/>
          <p:cNvSpPr/>
          <p:nvPr/>
        </p:nvSpPr>
        <p:spPr>
          <a:xfrm>
            <a:off x="5109802" y="3468027"/>
            <a:ext cx="1316736" cy="566928"/>
          </a:xfrm>
          <a:prstGeom prst="roundRect">
            <a:avLst>
              <a:gd name="adj" fmla="val 9677"/>
            </a:avLst>
          </a:prstGeom>
          <a:solidFill>
            <a:srgbClr val="FFFFFF"/>
          </a:solidFill>
          <a:ln w="15240">
            <a:solidFill>
              <a:srgbClr val="D4620A"/>
            </a:solidFill>
            <a:prstDash val="solid"/>
          </a:ln>
        </p:spPr>
      </p:sp>
      <p:sp>
        <p:nvSpPr>
          <p:cNvPr id="24" name="Text 22"/>
          <p:cNvSpPr/>
          <p:nvPr/>
        </p:nvSpPr>
        <p:spPr>
          <a:xfrm>
            <a:off x="5128090" y="3477171"/>
            <a:ext cx="1280160" cy="274320"/>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Plan de</a:t>
            </a:r>
            <a:endParaRPr lang="en-US" sz="750" dirty="0"/>
          </a:p>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Capacitación</a:t>
            </a:r>
            <a:endParaRPr lang="en-US" sz="750" dirty="0"/>
          </a:p>
        </p:txBody>
      </p:sp>
      <p:sp>
        <p:nvSpPr>
          <p:cNvPr id="25" name="Text 23"/>
          <p:cNvSpPr/>
          <p:nvPr/>
        </p:nvSpPr>
        <p:spPr>
          <a:xfrm>
            <a:off x="5128090" y="3778923"/>
            <a:ext cx="1280160" cy="219456"/>
          </a:xfrm>
          <a:prstGeom prst="rect">
            <a:avLst/>
          </a:prstGeom>
          <a:noFill/>
          <a:ln/>
        </p:spPr>
        <p:txBody>
          <a:bodyPr wrap="square" rtlCol="0" anchor="ctr"/>
          <a:lstStyle/>
          <a:p>
            <a:pPr algn="ctr" indent="0" marL="0">
              <a:buNone/>
            </a:pPr>
            <a:r>
              <a:rPr lang="en-US" sz="650" dirty="0">
                <a:solidFill>
                  <a:srgbClr val="444444"/>
                </a:solidFill>
                <a:latin typeface="Atkinson Hyperlegible" pitchFamily="34" charset="0"/>
                <a:ea typeface="Atkinson Hyperlegible" pitchFamily="34" charset="-122"/>
                <a:cs typeface="Atkinson Hyperlegible" pitchFamily="34" charset="-120"/>
              </a:rPr>
              <a:t>AWP 8h obligatorio</a:t>
            </a:r>
            <a:endParaRPr lang="en-US" sz="650" dirty="0"/>
          </a:p>
        </p:txBody>
      </p:sp>
      <p:sp>
        <p:nvSpPr>
          <p:cNvPr id="26" name="Shape 24"/>
          <p:cNvSpPr/>
          <p:nvPr/>
        </p:nvSpPr>
        <p:spPr>
          <a:xfrm>
            <a:off x="4572000" y="3127248"/>
            <a:ext cx="18288" cy="747065"/>
          </a:xfrm>
          <a:prstGeom prst="line">
            <a:avLst/>
          </a:prstGeom>
          <a:noFill/>
          <a:ln w="12700">
            <a:solidFill>
              <a:srgbClr val="D4620A"/>
            </a:solidFill>
            <a:prstDash val="solid"/>
          </a:ln>
        </p:spPr>
      </p:sp>
      <p:sp>
        <p:nvSpPr>
          <p:cNvPr id="27" name="Shape 25"/>
          <p:cNvSpPr/>
          <p:nvPr/>
        </p:nvSpPr>
        <p:spPr>
          <a:xfrm>
            <a:off x="3913632" y="3874313"/>
            <a:ext cx="1316736" cy="566928"/>
          </a:xfrm>
          <a:prstGeom prst="roundRect">
            <a:avLst>
              <a:gd name="adj" fmla="val 9677"/>
            </a:avLst>
          </a:prstGeom>
          <a:solidFill>
            <a:srgbClr val="FFFFFF"/>
          </a:solidFill>
          <a:ln w="15240">
            <a:solidFill>
              <a:srgbClr val="D4620A"/>
            </a:solidFill>
            <a:prstDash val="solid"/>
          </a:ln>
        </p:spPr>
      </p:sp>
      <p:sp>
        <p:nvSpPr>
          <p:cNvPr id="28" name="Text 26"/>
          <p:cNvSpPr/>
          <p:nvPr/>
        </p:nvSpPr>
        <p:spPr>
          <a:xfrm>
            <a:off x="3931920" y="3883457"/>
            <a:ext cx="1280160" cy="274320"/>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Incentivos por</a:t>
            </a:r>
            <a:endParaRPr lang="en-US" sz="750" dirty="0"/>
          </a:p>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IWP Cerrado</a:t>
            </a:r>
            <a:endParaRPr lang="en-US" sz="750" dirty="0"/>
          </a:p>
        </p:txBody>
      </p:sp>
      <p:sp>
        <p:nvSpPr>
          <p:cNvPr id="29" name="Text 27"/>
          <p:cNvSpPr/>
          <p:nvPr/>
        </p:nvSpPr>
        <p:spPr>
          <a:xfrm>
            <a:off x="3931920" y="4185209"/>
            <a:ext cx="1280160" cy="219456"/>
          </a:xfrm>
          <a:prstGeom prst="rect">
            <a:avLst/>
          </a:prstGeom>
          <a:noFill/>
          <a:ln/>
        </p:spPr>
        <p:txBody>
          <a:bodyPr wrap="square" rtlCol="0" anchor="ctr"/>
          <a:lstStyle/>
          <a:p>
            <a:pPr algn="ctr" indent="0" marL="0">
              <a:buNone/>
            </a:pPr>
            <a:r>
              <a:rPr lang="en-US" sz="650" dirty="0">
                <a:solidFill>
                  <a:srgbClr val="444444"/>
                </a:solidFill>
                <a:latin typeface="Atkinson Hyperlegible" pitchFamily="34" charset="0"/>
                <a:ea typeface="Atkinson Hyperlegible" pitchFamily="34" charset="-122"/>
                <a:cs typeface="Atkinson Hyperlegible" pitchFamily="34" charset="-120"/>
              </a:rPr>
              <a:t>Pago acelerado</a:t>
            </a:r>
            <a:endParaRPr lang="en-US" sz="650" dirty="0"/>
          </a:p>
        </p:txBody>
      </p:sp>
      <p:sp>
        <p:nvSpPr>
          <p:cNvPr id="30" name="Shape 28"/>
          <p:cNvSpPr/>
          <p:nvPr/>
        </p:nvSpPr>
        <p:spPr>
          <a:xfrm flipH="1">
            <a:off x="3815503" y="3014763"/>
            <a:ext cx="271563" cy="528255"/>
          </a:xfrm>
          <a:prstGeom prst="line">
            <a:avLst/>
          </a:prstGeom>
          <a:noFill/>
          <a:ln w="12700">
            <a:solidFill>
              <a:srgbClr val="D4620A"/>
            </a:solidFill>
            <a:prstDash val="solid"/>
          </a:ln>
        </p:spPr>
      </p:sp>
      <p:sp>
        <p:nvSpPr>
          <p:cNvPr id="31" name="Shape 29"/>
          <p:cNvSpPr/>
          <p:nvPr/>
        </p:nvSpPr>
        <p:spPr>
          <a:xfrm>
            <a:off x="2717462" y="3468027"/>
            <a:ext cx="1316736" cy="566928"/>
          </a:xfrm>
          <a:prstGeom prst="roundRect">
            <a:avLst>
              <a:gd name="adj" fmla="val 9677"/>
            </a:avLst>
          </a:prstGeom>
          <a:solidFill>
            <a:srgbClr val="FFFFFF"/>
          </a:solidFill>
          <a:ln w="15240">
            <a:solidFill>
              <a:srgbClr val="D4620A"/>
            </a:solidFill>
            <a:prstDash val="solid"/>
          </a:ln>
        </p:spPr>
      </p:sp>
      <p:sp>
        <p:nvSpPr>
          <p:cNvPr id="32" name="Text 30"/>
          <p:cNvSpPr/>
          <p:nvPr/>
        </p:nvSpPr>
        <p:spPr>
          <a:xfrm>
            <a:off x="2735750" y="3477171"/>
            <a:ext cx="1280160" cy="274320"/>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QC Integrado</a:t>
            </a:r>
            <a:endParaRPr lang="en-US" sz="750" dirty="0"/>
          </a:p>
        </p:txBody>
      </p:sp>
      <p:sp>
        <p:nvSpPr>
          <p:cNvPr id="33" name="Text 31"/>
          <p:cNvSpPr/>
          <p:nvPr/>
        </p:nvSpPr>
        <p:spPr>
          <a:xfrm>
            <a:off x="2735750" y="3778923"/>
            <a:ext cx="1280160" cy="219456"/>
          </a:xfrm>
          <a:prstGeom prst="rect">
            <a:avLst/>
          </a:prstGeom>
          <a:noFill/>
          <a:ln/>
        </p:spPr>
        <p:txBody>
          <a:bodyPr wrap="square" rtlCol="0" anchor="ctr"/>
          <a:lstStyle/>
          <a:p>
            <a:pPr algn="ctr" indent="0" marL="0">
              <a:buNone/>
            </a:pPr>
            <a:r>
              <a:rPr lang="en-US" sz="650" dirty="0">
                <a:solidFill>
                  <a:srgbClr val="444444"/>
                </a:solidFill>
                <a:latin typeface="Atkinson Hyperlegible" pitchFamily="34" charset="0"/>
                <a:ea typeface="Atkinson Hyperlegible" pitchFamily="34" charset="-122"/>
                <a:cs typeface="Atkinson Hyperlegible" pitchFamily="34" charset="-120"/>
              </a:rPr>
              <a:t>Registro en plataforma</a:t>
            </a:r>
            <a:endParaRPr lang="en-US" sz="650" dirty="0"/>
          </a:p>
        </p:txBody>
      </p:sp>
      <p:sp>
        <p:nvSpPr>
          <p:cNvPr id="34" name="Shape 32"/>
          <p:cNvSpPr/>
          <p:nvPr/>
        </p:nvSpPr>
        <p:spPr>
          <a:xfrm flipH="1">
            <a:off x="3502152" y="2743200"/>
            <a:ext cx="384048" cy="18288"/>
          </a:xfrm>
          <a:prstGeom prst="line">
            <a:avLst/>
          </a:prstGeom>
          <a:noFill/>
          <a:ln w="12700">
            <a:solidFill>
              <a:srgbClr val="D4620A"/>
            </a:solidFill>
            <a:prstDash val="solid"/>
          </a:ln>
        </p:spPr>
      </p:sp>
      <p:sp>
        <p:nvSpPr>
          <p:cNvPr id="35" name="Shape 33"/>
          <p:cNvSpPr/>
          <p:nvPr/>
        </p:nvSpPr>
        <p:spPr>
          <a:xfrm>
            <a:off x="2221992" y="2487168"/>
            <a:ext cx="1316736" cy="566928"/>
          </a:xfrm>
          <a:prstGeom prst="roundRect">
            <a:avLst>
              <a:gd name="adj" fmla="val 9677"/>
            </a:avLst>
          </a:prstGeom>
          <a:solidFill>
            <a:srgbClr val="FFFFFF"/>
          </a:solidFill>
          <a:ln w="15240">
            <a:solidFill>
              <a:srgbClr val="D4620A"/>
            </a:solidFill>
            <a:prstDash val="solid"/>
          </a:ln>
        </p:spPr>
      </p:sp>
      <p:sp>
        <p:nvSpPr>
          <p:cNvPr id="36" name="Text 34"/>
          <p:cNvSpPr/>
          <p:nvPr/>
        </p:nvSpPr>
        <p:spPr>
          <a:xfrm>
            <a:off x="2240280" y="2496312"/>
            <a:ext cx="1280160" cy="274320"/>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Safety IWP</a:t>
            </a:r>
            <a:endParaRPr lang="en-US" sz="750" dirty="0"/>
          </a:p>
        </p:txBody>
      </p:sp>
      <p:sp>
        <p:nvSpPr>
          <p:cNvPr id="37" name="Text 35"/>
          <p:cNvSpPr/>
          <p:nvPr/>
        </p:nvSpPr>
        <p:spPr>
          <a:xfrm>
            <a:off x="2240280" y="2798064"/>
            <a:ext cx="1280160" cy="219456"/>
          </a:xfrm>
          <a:prstGeom prst="rect">
            <a:avLst/>
          </a:prstGeom>
          <a:noFill/>
          <a:ln/>
        </p:spPr>
        <p:txBody>
          <a:bodyPr wrap="square" rtlCol="0" anchor="ctr"/>
          <a:lstStyle/>
          <a:p>
            <a:pPr algn="ctr" indent="0" marL="0">
              <a:buNone/>
            </a:pPr>
            <a:r>
              <a:rPr lang="en-US" sz="650" dirty="0">
                <a:solidFill>
                  <a:srgbClr val="444444"/>
                </a:solidFill>
                <a:latin typeface="Atkinson Hyperlegible" pitchFamily="34" charset="0"/>
                <a:ea typeface="Atkinson Hyperlegible" pitchFamily="34" charset="-122"/>
                <a:cs typeface="Atkinson Hyperlegible" pitchFamily="34" charset="-120"/>
              </a:rPr>
              <a:t>IPERC por paquete</a:t>
            </a:r>
            <a:endParaRPr lang="en-US" sz="650" dirty="0"/>
          </a:p>
        </p:txBody>
      </p:sp>
      <p:sp>
        <p:nvSpPr>
          <p:cNvPr id="38" name="Shape 36"/>
          <p:cNvSpPr/>
          <p:nvPr/>
        </p:nvSpPr>
        <p:spPr>
          <a:xfrm flipH="1" flipV="1">
            <a:off x="3815503" y="1943382"/>
            <a:ext cx="271563" cy="528255"/>
          </a:xfrm>
          <a:prstGeom prst="line">
            <a:avLst/>
          </a:prstGeom>
          <a:noFill/>
          <a:ln w="12700">
            <a:solidFill>
              <a:srgbClr val="D4620A"/>
            </a:solidFill>
            <a:prstDash val="solid"/>
          </a:ln>
        </p:spPr>
      </p:sp>
      <p:sp>
        <p:nvSpPr>
          <p:cNvPr id="39" name="Shape 37"/>
          <p:cNvSpPr/>
          <p:nvPr/>
        </p:nvSpPr>
        <p:spPr>
          <a:xfrm>
            <a:off x="2717462" y="1506309"/>
            <a:ext cx="1316736" cy="566928"/>
          </a:xfrm>
          <a:prstGeom prst="roundRect">
            <a:avLst>
              <a:gd name="adj" fmla="val 9677"/>
            </a:avLst>
          </a:prstGeom>
          <a:solidFill>
            <a:srgbClr val="FFFFFF"/>
          </a:solidFill>
          <a:ln w="15240">
            <a:solidFill>
              <a:srgbClr val="D4620A"/>
            </a:solidFill>
            <a:prstDash val="solid"/>
          </a:ln>
        </p:spPr>
      </p:sp>
      <p:sp>
        <p:nvSpPr>
          <p:cNvPr id="40" name="Text 38"/>
          <p:cNvSpPr/>
          <p:nvPr/>
        </p:nvSpPr>
        <p:spPr>
          <a:xfrm>
            <a:off x="2735750" y="1515453"/>
            <a:ext cx="1280160" cy="274320"/>
          </a:xfrm>
          <a:prstGeom prst="rect">
            <a:avLst/>
          </a:prstGeom>
          <a:noFill/>
          <a:ln/>
        </p:spPr>
        <p:txBody>
          <a:bodyPr wrap="square" rtlCol="0" anchor="ctr"/>
          <a:lstStyle/>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Punch List</a:t>
            </a:r>
            <a:endParaRPr lang="en-US" sz="750" dirty="0"/>
          </a:p>
          <a:p>
            <a:pPr algn="ctr" indent="0" marL="0">
              <a:buNone/>
            </a:pPr>
            <a:r>
              <a:rPr lang="en-US" sz="750" b="1" dirty="0">
                <a:solidFill>
                  <a:srgbClr val="1D1D1F"/>
                </a:solidFill>
                <a:latin typeface="Atkinson Hyperlegible" pitchFamily="34" charset="0"/>
                <a:ea typeface="Atkinson Hyperlegible" pitchFamily="34" charset="-122"/>
                <a:cs typeface="Atkinson Hyperlegible" pitchFamily="34" charset="-120"/>
              </a:rPr>
              <a:t>Shared</a:t>
            </a:r>
            <a:endParaRPr lang="en-US" sz="750" dirty="0"/>
          </a:p>
        </p:txBody>
      </p:sp>
      <p:sp>
        <p:nvSpPr>
          <p:cNvPr id="41" name="Text 39"/>
          <p:cNvSpPr/>
          <p:nvPr/>
        </p:nvSpPr>
        <p:spPr>
          <a:xfrm>
            <a:off x="2735750" y="1817205"/>
            <a:ext cx="1280160" cy="219456"/>
          </a:xfrm>
          <a:prstGeom prst="rect">
            <a:avLst/>
          </a:prstGeom>
          <a:noFill/>
          <a:ln/>
        </p:spPr>
        <p:txBody>
          <a:bodyPr wrap="square" rtlCol="0" anchor="ctr"/>
          <a:lstStyle/>
          <a:p>
            <a:pPr algn="ctr" indent="0" marL="0">
              <a:buNone/>
            </a:pPr>
            <a:r>
              <a:rPr lang="en-US" sz="650" dirty="0">
                <a:solidFill>
                  <a:srgbClr val="444444"/>
                </a:solidFill>
                <a:latin typeface="Atkinson Hyperlegible" pitchFamily="34" charset="0"/>
                <a:ea typeface="Atkinson Hyperlegible" pitchFamily="34" charset="-122"/>
                <a:cs typeface="Atkinson Hyperlegible" pitchFamily="34" charset="-120"/>
              </a:rPr>
              <a:t>Visibilidad en tiempo real</a:t>
            </a:r>
            <a:endParaRPr lang="en-US" sz="6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4E3"/>
          </a:solidFill>
          <a:ln w="12700">
            <a:solidFill>
              <a:srgbClr val="0A74E3"/>
            </a:solidFill>
            <a:prstDash val="solid"/>
          </a:ln>
        </p:spPr>
      </p:sp>
      <p:sp>
        <p:nvSpPr>
          <p:cNvPr id="3" name="Shape 1"/>
          <p:cNvSpPr/>
          <p:nvPr/>
        </p:nvSpPr>
        <p:spPr>
          <a:xfrm>
            <a:off x="164592" y="4956048"/>
            <a:ext cx="8979408" cy="182880"/>
          </a:xfrm>
          <a:prstGeom prst="rect">
            <a:avLst/>
          </a:prstGeom>
          <a:solidFill>
            <a:srgbClr val="0A74E3"/>
          </a:solidFill>
          <a:ln w="12700">
            <a:solidFill>
              <a:srgbClr val="0A74E3"/>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115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Benchmarking de la Industria — Datos CII 2023</a:t>
            </a:r>
            <a:endParaRPr lang="en-US" sz="1800" dirty="0"/>
          </a:p>
        </p:txBody>
      </p:sp>
      <p:sp>
        <p:nvSpPr>
          <p:cNvPr id="6" name="Shape 4"/>
          <p:cNvSpPr/>
          <p:nvPr/>
        </p:nvSpPr>
        <p:spPr>
          <a:xfrm>
            <a:off x="320040" y="621792"/>
            <a:ext cx="8503920" cy="41148"/>
          </a:xfrm>
          <a:prstGeom prst="rect">
            <a:avLst/>
          </a:prstGeom>
          <a:solidFill>
            <a:srgbClr val="0A74E3"/>
          </a:solidFill>
          <a:ln w="12700">
            <a:solidFill>
              <a:srgbClr val="0A74E3"/>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A74E3"/>
                </a:solidFill>
                <a:latin typeface="Atkinson Hyperlegible" pitchFamily="34" charset="0"/>
                <a:ea typeface="Atkinson Hyperlegible" pitchFamily="34" charset="-122"/>
                <a:cs typeface="Atkinson Hyperlegible" pitchFamily="34" charset="-120"/>
              </a:rPr>
              <a:t>Comparativa entre proyectos con y sin AWP implementado: 340 proyectos analizados</a:t>
            </a:r>
            <a:endParaRPr lang="en-US" sz="900" dirty="0"/>
          </a:p>
        </p:txBody>
      </p:sp>
      <p:sp>
        <p:nvSpPr>
          <p:cNvPr id="8" name="Shape 6"/>
          <p:cNvSpPr/>
          <p:nvPr/>
        </p:nvSpPr>
        <p:spPr>
          <a:xfrm>
            <a:off x="320040" y="960120"/>
            <a:ext cx="8503920" cy="310896"/>
          </a:xfrm>
          <a:prstGeom prst="rect">
            <a:avLst>
              <a:gd name="adj" fmla="val 11765"/>
            </a:avLst>
          </a:prstGeom>
          <a:solidFill>
            <a:srgbClr val="0A74E3"/>
          </a:solidFill>
          <a:ln w="12700">
            <a:solidFill>
              <a:srgbClr val="0A74E3"/>
            </a:solidFill>
            <a:prstDash val="solid"/>
          </a:ln>
        </p:spPr>
      </p:sp>
      <p:sp>
        <p:nvSpPr>
          <p:cNvPr id="9" name="Text 7"/>
          <p:cNvSpPr/>
          <p:nvPr/>
        </p:nvSpPr>
        <p:spPr>
          <a:xfrm>
            <a:off x="457200" y="978408"/>
            <a:ext cx="3474720" cy="274320"/>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Métrica</a:t>
            </a:r>
            <a:endParaRPr lang="en-US" sz="800" dirty="0"/>
          </a:p>
        </p:txBody>
      </p:sp>
      <p:sp>
        <p:nvSpPr>
          <p:cNvPr id="10" name="Text 8"/>
          <p:cNvSpPr/>
          <p:nvPr/>
        </p:nvSpPr>
        <p:spPr>
          <a:xfrm>
            <a:off x="4114800" y="978408"/>
            <a:ext cx="1371600" cy="274320"/>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Sin AWP</a:t>
            </a:r>
            <a:endParaRPr lang="en-US" sz="800" dirty="0"/>
          </a:p>
        </p:txBody>
      </p:sp>
      <p:sp>
        <p:nvSpPr>
          <p:cNvPr id="11" name="Text 9"/>
          <p:cNvSpPr/>
          <p:nvPr/>
        </p:nvSpPr>
        <p:spPr>
          <a:xfrm>
            <a:off x="5669280" y="978408"/>
            <a:ext cx="1371600" cy="274320"/>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Con AWP</a:t>
            </a:r>
            <a:endParaRPr lang="en-US" sz="800" dirty="0"/>
          </a:p>
        </p:txBody>
      </p:sp>
      <p:sp>
        <p:nvSpPr>
          <p:cNvPr id="12" name="Text 10"/>
          <p:cNvSpPr/>
          <p:nvPr/>
        </p:nvSpPr>
        <p:spPr>
          <a:xfrm>
            <a:off x="7132320" y="978408"/>
            <a:ext cx="1371600" cy="274320"/>
          </a:xfrm>
          <a:prstGeom prst="rect">
            <a:avLst/>
          </a:prstGeom>
          <a:noFill/>
          <a:ln/>
        </p:spPr>
        <p:txBody>
          <a:bodyPr wrap="square" rtlCol="0" anchor="ctr"/>
          <a:lstStyle/>
          <a:p>
            <a:pPr indent="0" marL="0">
              <a:buNone/>
            </a:pPr>
            <a:r>
              <a:rPr lang="en-US" sz="800" b="1" dirty="0">
                <a:solidFill>
                  <a:srgbClr val="FFFFFF"/>
                </a:solidFill>
                <a:latin typeface="Atkinson Hyperlegible" pitchFamily="34" charset="0"/>
                <a:ea typeface="Atkinson Hyperlegible" pitchFamily="34" charset="-122"/>
                <a:cs typeface="Atkinson Hyperlegible" pitchFamily="34" charset="-120"/>
              </a:rPr>
              <a:t>Diferencia</a:t>
            </a:r>
            <a:endParaRPr lang="en-US" sz="800" dirty="0"/>
          </a:p>
        </p:txBody>
      </p:sp>
      <p:sp>
        <p:nvSpPr>
          <p:cNvPr id="13" name="Shape 11"/>
          <p:cNvSpPr/>
          <p:nvPr/>
        </p:nvSpPr>
        <p:spPr>
          <a:xfrm>
            <a:off x="320040" y="1316736"/>
            <a:ext cx="8503920" cy="548640"/>
          </a:xfrm>
          <a:prstGeom prst="rect">
            <a:avLst/>
          </a:prstGeom>
          <a:solidFill>
            <a:srgbClr val="FFFFFF"/>
          </a:solidFill>
          <a:ln w="6350">
            <a:solidFill>
              <a:srgbClr val="E5E5EA"/>
            </a:solidFill>
            <a:prstDash val="solid"/>
          </a:ln>
        </p:spPr>
      </p:sp>
      <p:sp>
        <p:nvSpPr>
          <p:cNvPr id="14" name="Text 12"/>
          <p:cNvSpPr/>
          <p:nvPr/>
        </p:nvSpPr>
        <p:spPr>
          <a:xfrm>
            <a:off x="411480" y="1408176"/>
            <a:ext cx="3566160" cy="36576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CPI (Índice Costo)</a:t>
            </a:r>
            <a:endParaRPr lang="en-US" sz="850" dirty="0"/>
          </a:p>
        </p:txBody>
      </p:sp>
      <p:sp>
        <p:nvSpPr>
          <p:cNvPr id="15" name="Text 13"/>
          <p:cNvSpPr/>
          <p:nvPr/>
        </p:nvSpPr>
        <p:spPr>
          <a:xfrm>
            <a:off x="4114800" y="1408176"/>
            <a:ext cx="1371600" cy="365760"/>
          </a:xfrm>
          <a:prstGeom prst="rect">
            <a:avLst/>
          </a:prstGeom>
          <a:noFill/>
          <a:ln/>
        </p:spPr>
        <p:txBody>
          <a:bodyPr wrap="square" rtlCol="0" anchor="ctr"/>
          <a:lstStyle/>
          <a:p>
            <a:pPr algn="ctr" indent="0" marL="0">
              <a:buNone/>
            </a:pPr>
            <a:r>
              <a:rPr lang="en-US" sz="1100" b="1" dirty="0">
                <a:solidFill>
                  <a:srgbClr val="C0392B"/>
                </a:solidFill>
                <a:latin typeface="Atkinson Hyperlegible" pitchFamily="34" charset="0"/>
                <a:ea typeface="Atkinson Hyperlegible" pitchFamily="34" charset="-122"/>
                <a:cs typeface="Atkinson Hyperlegible" pitchFamily="34" charset="-120"/>
              </a:rPr>
              <a:t>0.91</a:t>
            </a:r>
            <a:endParaRPr lang="en-US" sz="1100" dirty="0"/>
          </a:p>
        </p:txBody>
      </p:sp>
      <p:sp>
        <p:nvSpPr>
          <p:cNvPr id="16" name="Text 14"/>
          <p:cNvSpPr/>
          <p:nvPr/>
        </p:nvSpPr>
        <p:spPr>
          <a:xfrm>
            <a:off x="5669280" y="1408176"/>
            <a:ext cx="1371600" cy="365760"/>
          </a:xfrm>
          <a:prstGeom prst="rect">
            <a:avLst/>
          </a:prstGeom>
          <a:noFill/>
          <a:ln/>
        </p:spPr>
        <p:txBody>
          <a:bodyPr wrap="square" rtlCol="0" anchor="ctr"/>
          <a:lstStyle/>
          <a:p>
            <a:pPr algn="ctr" indent="0" marL="0">
              <a:buNone/>
            </a:pPr>
            <a:r>
              <a:rPr lang="en-US" sz="1100" b="1" dirty="0">
                <a:solidFill>
                  <a:srgbClr val="27AE60"/>
                </a:solidFill>
                <a:latin typeface="Atkinson Hyperlegible" pitchFamily="34" charset="0"/>
                <a:ea typeface="Atkinson Hyperlegible" pitchFamily="34" charset="-122"/>
                <a:cs typeface="Atkinson Hyperlegible" pitchFamily="34" charset="-120"/>
              </a:rPr>
              <a:t>1.05</a:t>
            </a:r>
            <a:endParaRPr lang="en-US" sz="1100" dirty="0"/>
          </a:p>
        </p:txBody>
      </p:sp>
      <p:sp>
        <p:nvSpPr>
          <p:cNvPr id="17" name="Shape 15"/>
          <p:cNvSpPr/>
          <p:nvPr/>
        </p:nvSpPr>
        <p:spPr>
          <a:xfrm>
            <a:off x="7132320" y="1426464"/>
            <a:ext cx="1600200" cy="329184"/>
          </a:xfrm>
          <a:prstGeom prst="rect">
            <a:avLst>
              <a:gd name="adj" fmla="val 13889"/>
            </a:avLst>
          </a:prstGeom>
          <a:solidFill>
            <a:srgbClr val="27AE60"/>
          </a:solidFill>
          <a:ln w="12700">
            <a:solidFill>
              <a:srgbClr val="27AE60"/>
            </a:solidFill>
            <a:prstDash val="solid"/>
          </a:ln>
        </p:spPr>
      </p:sp>
      <p:sp>
        <p:nvSpPr>
          <p:cNvPr id="18" name="Text 16"/>
          <p:cNvSpPr/>
          <p:nvPr/>
        </p:nvSpPr>
        <p:spPr>
          <a:xfrm>
            <a:off x="7132320" y="1426464"/>
            <a:ext cx="1600200" cy="329184"/>
          </a:xfrm>
          <a:prstGeom prst="rect">
            <a:avLst/>
          </a:prstGeom>
          <a:noFill/>
          <a:ln/>
        </p:spPr>
        <p:txBody>
          <a:bodyPr wrap="square" rtlCol="0" anchor="ctr"/>
          <a:lstStyle/>
          <a:p>
            <a:pPr algn="ctr" indent="0" marL="0">
              <a:buNone/>
            </a:pPr>
            <a:r>
              <a:rPr lang="en-US" sz="900" b="1" dirty="0">
                <a:solidFill>
                  <a:srgbClr val="27AE60"/>
                </a:solidFill>
                <a:latin typeface="Atkinson Hyperlegible" pitchFamily="34" charset="0"/>
                <a:ea typeface="Atkinson Hyperlegible" pitchFamily="34" charset="-122"/>
                <a:cs typeface="Atkinson Hyperlegible" pitchFamily="34" charset="-120"/>
              </a:rPr>
              <a:t>+15.4%</a:t>
            </a:r>
            <a:endParaRPr lang="en-US" sz="900" dirty="0"/>
          </a:p>
        </p:txBody>
      </p:sp>
      <p:sp>
        <p:nvSpPr>
          <p:cNvPr id="19" name="Shape 17"/>
          <p:cNvSpPr/>
          <p:nvPr/>
        </p:nvSpPr>
        <p:spPr>
          <a:xfrm>
            <a:off x="320040" y="1920240"/>
            <a:ext cx="8503920" cy="548640"/>
          </a:xfrm>
          <a:prstGeom prst="rect">
            <a:avLst/>
          </a:prstGeom>
          <a:solidFill>
            <a:srgbClr val="F8F8FA"/>
          </a:solidFill>
          <a:ln w="6350">
            <a:solidFill>
              <a:srgbClr val="E5E5EA"/>
            </a:solidFill>
            <a:prstDash val="solid"/>
          </a:ln>
        </p:spPr>
      </p:sp>
      <p:sp>
        <p:nvSpPr>
          <p:cNvPr id="20" name="Text 18"/>
          <p:cNvSpPr/>
          <p:nvPr/>
        </p:nvSpPr>
        <p:spPr>
          <a:xfrm>
            <a:off x="411480" y="2011680"/>
            <a:ext cx="3566160" cy="36576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SPI (Índice Cronograma)</a:t>
            </a:r>
            <a:endParaRPr lang="en-US" sz="850" dirty="0"/>
          </a:p>
        </p:txBody>
      </p:sp>
      <p:sp>
        <p:nvSpPr>
          <p:cNvPr id="21" name="Text 19"/>
          <p:cNvSpPr/>
          <p:nvPr/>
        </p:nvSpPr>
        <p:spPr>
          <a:xfrm>
            <a:off x="4114800" y="2011680"/>
            <a:ext cx="1371600" cy="365760"/>
          </a:xfrm>
          <a:prstGeom prst="rect">
            <a:avLst/>
          </a:prstGeom>
          <a:noFill/>
          <a:ln/>
        </p:spPr>
        <p:txBody>
          <a:bodyPr wrap="square" rtlCol="0" anchor="ctr"/>
          <a:lstStyle/>
          <a:p>
            <a:pPr algn="ctr" indent="0" marL="0">
              <a:buNone/>
            </a:pPr>
            <a:r>
              <a:rPr lang="en-US" sz="1100" b="1" dirty="0">
                <a:solidFill>
                  <a:srgbClr val="C0392B"/>
                </a:solidFill>
                <a:latin typeface="Atkinson Hyperlegible" pitchFamily="34" charset="0"/>
                <a:ea typeface="Atkinson Hyperlegible" pitchFamily="34" charset="-122"/>
                <a:cs typeface="Atkinson Hyperlegible" pitchFamily="34" charset="-120"/>
              </a:rPr>
              <a:t>0.88</a:t>
            </a:r>
            <a:endParaRPr lang="en-US" sz="1100" dirty="0"/>
          </a:p>
        </p:txBody>
      </p:sp>
      <p:sp>
        <p:nvSpPr>
          <p:cNvPr id="22" name="Text 20"/>
          <p:cNvSpPr/>
          <p:nvPr/>
        </p:nvSpPr>
        <p:spPr>
          <a:xfrm>
            <a:off x="5669280" y="2011680"/>
            <a:ext cx="1371600" cy="365760"/>
          </a:xfrm>
          <a:prstGeom prst="rect">
            <a:avLst/>
          </a:prstGeom>
          <a:noFill/>
          <a:ln/>
        </p:spPr>
        <p:txBody>
          <a:bodyPr wrap="square" rtlCol="0" anchor="ctr"/>
          <a:lstStyle/>
          <a:p>
            <a:pPr algn="ctr" indent="0" marL="0">
              <a:buNone/>
            </a:pPr>
            <a:r>
              <a:rPr lang="en-US" sz="1100" b="1" dirty="0">
                <a:solidFill>
                  <a:srgbClr val="27AE60"/>
                </a:solidFill>
                <a:latin typeface="Atkinson Hyperlegible" pitchFamily="34" charset="0"/>
                <a:ea typeface="Atkinson Hyperlegible" pitchFamily="34" charset="-122"/>
                <a:cs typeface="Atkinson Hyperlegible" pitchFamily="34" charset="-120"/>
              </a:rPr>
              <a:t>1.03</a:t>
            </a:r>
            <a:endParaRPr lang="en-US" sz="1100" dirty="0"/>
          </a:p>
        </p:txBody>
      </p:sp>
      <p:sp>
        <p:nvSpPr>
          <p:cNvPr id="23" name="Shape 21"/>
          <p:cNvSpPr/>
          <p:nvPr/>
        </p:nvSpPr>
        <p:spPr>
          <a:xfrm>
            <a:off x="7132320" y="2029968"/>
            <a:ext cx="1600200" cy="329184"/>
          </a:xfrm>
          <a:prstGeom prst="rect">
            <a:avLst>
              <a:gd name="adj" fmla="val 13889"/>
            </a:avLst>
          </a:prstGeom>
          <a:solidFill>
            <a:srgbClr val="0E9E9E"/>
          </a:solidFill>
          <a:ln w="12700">
            <a:solidFill>
              <a:srgbClr val="0E9E9E"/>
            </a:solidFill>
            <a:prstDash val="solid"/>
          </a:ln>
        </p:spPr>
      </p:sp>
      <p:sp>
        <p:nvSpPr>
          <p:cNvPr id="24" name="Text 22"/>
          <p:cNvSpPr/>
          <p:nvPr/>
        </p:nvSpPr>
        <p:spPr>
          <a:xfrm>
            <a:off x="7132320" y="2029968"/>
            <a:ext cx="1600200" cy="329184"/>
          </a:xfrm>
          <a:prstGeom prst="rect">
            <a:avLst/>
          </a:prstGeom>
          <a:noFill/>
          <a:ln/>
        </p:spPr>
        <p:txBody>
          <a:bodyPr wrap="square" rtlCol="0" anchor="ctr"/>
          <a:lstStyle/>
          <a:p>
            <a:pPr algn="ctr" indent="0" marL="0">
              <a:buNone/>
            </a:pPr>
            <a:r>
              <a:rPr lang="en-US" sz="900" b="1" dirty="0">
                <a:solidFill>
                  <a:srgbClr val="0E9E9E"/>
                </a:solidFill>
                <a:latin typeface="Atkinson Hyperlegible" pitchFamily="34" charset="0"/>
                <a:ea typeface="Atkinson Hyperlegible" pitchFamily="34" charset="-122"/>
                <a:cs typeface="Atkinson Hyperlegible" pitchFamily="34" charset="-120"/>
              </a:rPr>
              <a:t>+17.0%</a:t>
            </a:r>
            <a:endParaRPr lang="en-US" sz="900" dirty="0"/>
          </a:p>
        </p:txBody>
      </p:sp>
      <p:sp>
        <p:nvSpPr>
          <p:cNvPr id="25" name="Shape 23"/>
          <p:cNvSpPr/>
          <p:nvPr/>
        </p:nvSpPr>
        <p:spPr>
          <a:xfrm>
            <a:off x="320040" y="2523744"/>
            <a:ext cx="8503920" cy="548640"/>
          </a:xfrm>
          <a:prstGeom prst="rect">
            <a:avLst/>
          </a:prstGeom>
          <a:solidFill>
            <a:srgbClr val="FFFFFF"/>
          </a:solidFill>
          <a:ln w="6350">
            <a:solidFill>
              <a:srgbClr val="E5E5EA"/>
            </a:solidFill>
            <a:prstDash val="solid"/>
          </a:ln>
        </p:spPr>
      </p:sp>
      <p:sp>
        <p:nvSpPr>
          <p:cNvPr id="26" name="Text 24"/>
          <p:cNvSpPr/>
          <p:nvPr/>
        </p:nvSpPr>
        <p:spPr>
          <a:xfrm>
            <a:off x="411480" y="2615184"/>
            <a:ext cx="3566160" cy="36576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Retrabajo (% HH)</a:t>
            </a:r>
            <a:endParaRPr lang="en-US" sz="850" dirty="0"/>
          </a:p>
        </p:txBody>
      </p:sp>
      <p:sp>
        <p:nvSpPr>
          <p:cNvPr id="27" name="Text 25"/>
          <p:cNvSpPr/>
          <p:nvPr/>
        </p:nvSpPr>
        <p:spPr>
          <a:xfrm>
            <a:off x="4114800" y="2615184"/>
            <a:ext cx="1371600" cy="365760"/>
          </a:xfrm>
          <a:prstGeom prst="rect">
            <a:avLst/>
          </a:prstGeom>
          <a:noFill/>
          <a:ln/>
        </p:spPr>
        <p:txBody>
          <a:bodyPr wrap="square" rtlCol="0" anchor="ctr"/>
          <a:lstStyle/>
          <a:p>
            <a:pPr algn="ctr" indent="0" marL="0">
              <a:buNone/>
            </a:pPr>
            <a:r>
              <a:rPr lang="en-US" sz="1100" b="1" dirty="0">
                <a:solidFill>
                  <a:srgbClr val="C0392B"/>
                </a:solidFill>
                <a:latin typeface="Atkinson Hyperlegible" pitchFamily="34" charset="0"/>
                <a:ea typeface="Atkinson Hyperlegible" pitchFamily="34" charset="-122"/>
                <a:cs typeface="Atkinson Hyperlegible" pitchFamily="34" charset="-120"/>
              </a:rPr>
              <a:t>9.8%</a:t>
            </a:r>
            <a:endParaRPr lang="en-US" sz="1100" dirty="0"/>
          </a:p>
        </p:txBody>
      </p:sp>
      <p:sp>
        <p:nvSpPr>
          <p:cNvPr id="28" name="Text 26"/>
          <p:cNvSpPr/>
          <p:nvPr/>
        </p:nvSpPr>
        <p:spPr>
          <a:xfrm>
            <a:off x="5669280" y="2615184"/>
            <a:ext cx="1371600" cy="365760"/>
          </a:xfrm>
          <a:prstGeom prst="rect">
            <a:avLst/>
          </a:prstGeom>
          <a:noFill/>
          <a:ln/>
        </p:spPr>
        <p:txBody>
          <a:bodyPr wrap="square" rtlCol="0" anchor="ctr"/>
          <a:lstStyle/>
          <a:p>
            <a:pPr algn="ctr" indent="0" marL="0">
              <a:buNone/>
            </a:pPr>
            <a:r>
              <a:rPr lang="en-US" sz="1100" b="1" dirty="0">
                <a:solidFill>
                  <a:srgbClr val="27AE60"/>
                </a:solidFill>
                <a:latin typeface="Atkinson Hyperlegible" pitchFamily="34" charset="0"/>
                <a:ea typeface="Atkinson Hyperlegible" pitchFamily="34" charset="-122"/>
                <a:cs typeface="Atkinson Hyperlegible" pitchFamily="34" charset="-120"/>
              </a:rPr>
              <a:t>2.1%</a:t>
            </a:r>
            <a:endParaRPr lang="en-US" sz="1100" dirty="0"/>
          </a:p>
        </p:txBody>
      </p:sp>
      <p:sp>
        <p:nvSpPr>
          <p:cNvPr id="29" name="Shape 27"/>
          <p:cNvSpPr/>
          <p:nvPr/>
        </p:nvSpPr>
        <p:spPr>
          <a:xfrm>
            <a:off x="7132320" y="2633472"/>
            <a:ext cx="1600200" cy="329184"/>
          </a:xfrm>
          <a:prstGeom prst="rect">
            <a:avLst>
              <a:gd name="adj" fmla="val 13889"/>
            </a:avLst>
          </a:prstGeom>
          <a:solidFill>
            <a:srgbClr val="D4620A"/>
          </a:solidFill>
          <a:ln w="12700">
            <a:solidFill>
              <a:srgbClr val="D4620A"/>
            </a:solidFill>
            <a:prstDash val="solid"/>
          </a:ln>
        </p:spPr>
      </p:sp>
      <p:sp>
        <p:nvSpPr>
          <p:cNvPr id="30" name="Text 28"/>
          <p:cNvSpPr/>
          <p:nvPr/>
        </p:nvSpPr>
        <p:spPr>
          <a:xfrm>
            <a:off x="7132320" y="2633472"/>
            <a:ext cx="1600200" cy="329184"/>
          </a:xfrm>
          <a:prstGeom prst="rect">
            <a:avLst/>
          </a:prstGeom>
          <a:noFill/>
          <a:ln/>
        </p:spPr>
        <p:txBody>
          <a:bodyPr wrap="square" rtlCol="0" anchor="ctr"/>
          <a:lstStyle/>
          <a:p>
            <a:pPr algn="ctr" indent="0" marL="0">
              <a:buNone/>
            </a:pPr>
            <a:r>
              <a:rPr lang="en-US" sz="900" b="1" dirty="0">
                <a:solidFill>
                  <a:srgbClr val="D4620A"/>
                </a:solidFill>
                <a:latin typeface="Atkinson Hyperlegible" pitchFamily="34" charset="0"/>
                <a:ea typeface="Atkinson Hyperlegible" pitchFamily="34" charset="-122"/>
                <a:cs typeface="Atkinson Hyperlegible" pitchFamily="34" charset="-120"/>
              </a:rPr>
              <a:t>↓ 7.7pp</a:t>
            </a:r>
            <a:endParaRPr lang="en-US" sz="900" dirty="0"/>
          </a:p>
        </p:txBody>
      </p:sp>
      <p:sp>
        <p:nvSpPr>
          <p:cNvPr id="31" name="Shape 29"/>
          <p:cNvSpPr/>
          <p:nvPr/>
        </p:nvSpPr>
        <p:spPr>
          <a:xfrm>
            <a:off x="320040" y="3127248"/>
            <a:ext cx="8503920" cy="548640"/>
          </a:xfrm>
          <a:prstGeom prst="rect">
            <a:avLst/>
          </a:prstGeom>
          <a:solidFill>
            <a:srgbClr val="F8F8FA"/>
          </a:solidFill>
          <a:ln w="6350">
            <a:solidFill>
              <a:srgbClr val="E5E5EA"/>
            </a:solidFill>
            <a:prstDash val="solid"/>
          </a:ln>
        </p:spPr>
      </p:sp>
      <p:sp>
        <p:nvSpPr>
          <p:cNvPr id="32" name="Text 30"/>
          <p:cNvSpPr/>
          <p:nvPr/>
        </p:nvSpPr>
        <p:spPr>
          <a:xfrm>
            <a:off x="411480" y="3218688"/>
            <a:ext cx="3566160" cy="36576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RFIs por disciplina/mes</a:t>
            </a:r>
            <a:endParaRPr lang="en-US" sz="850" dirty="0"/>
          </a:p>
        </p:txBody>
      </p:sp>
      <p:sp>
        <p:nvSpPr>
          <p:cNvPr id="33" name="Text 31"/>
          <p:cNvSpPr/>
          <p:nvPr/>
        </p:nvSpPr>
        <p:spPr>
          <a:xfrm>
            <a:off x="4114800" y="3218688"/>
            <a:ext cx="1371600" cy="365760"/>
          </a:xfrm>
          <a:prstGeom prst="rect">
            <a:avLst/>
          </a:prstGeom>
          <a:noFill/>
          <a:ln/>
        </p:spPr>
        <p:txBody>
          <a:bodyPr wrap="square" rtlCol="0" anchor="ctr"/>
          <a:lstStyle/>
          <a:p>
            <a:pPr algn="ctr" indent="0" marL="0">
              <a:buNone/>
            </a:pPr>
            <a:r>
              <a:rPr lang="en-US" sz="1100" b="1" dirty="0">
                <a:solidFill>
                  <a:srgbClr val="C0392B"/>
                </a:solidFill>
                <a:latin typeface="Atkinson Hyperlegible" pitchFamily="34" charset="0"/>
                <a:ea typeface="Atkinson Hyperlegible" pitchFamily="34" charset="-122"/>
                <a:cs typeface="Atkinson Hyperlegible" pitchFamily="34" charset="-120"/>
              </a:rPr>
              <a:t>38</a:t>
            </a:r>
            <a:endParaRPr lang="en-US" sz="1100" dirty="0"/>
          </a:p>
        </p:txBody>
      </p:sp>
      <p:sp>
        <p:nvSpPr>
          <p:cNvPr id="34" name="Text 32"/>
          <p:cNvSpPr/>
          <p:nvPr/>
        </p:nvSpPr>
        <p:spPr>
          <a:xfrm>
            <a:off x="5669280" y="3218688"/>
            <a:ext cx="1371600" cy="365760"/>
          </a:xfrm>
          <a:prstGeom prst="rect">
            <a:avLst/>
          </a:prstGeom>
          <a:noFill/>
          <a:ln/>
        </p:spPr>
        <p:txBody>
          <a:bodyPr wrap="square" rtlCol="0" anchor="ctr"/>
          <a:lstStyle/>
          <a:p>
            <a:pPr algn="ctr" indent="0" marL="0">
              <a:buNone/>
            </a:pPr>
            <a:r>
              <a:rPr lang="en-US" sz="1100" b="1" dirty="0">
                <a:solidFill>
                  <a:srgbClr val="27AE60"/>
                </a:solidFill>
                <a:latin typeface="Atkinson Hyperlegible" pitchFamily="34" charset="0"/>
                <a:ea typeface="Atkinson Hyperlegible" pitchFamily="34" charset="-122"/>
                <a:cs typeface="Atkinson Hyperlegible" pitchFamily="34" charset="-120"/>
              </a:rPr>
              <a:t>14</a:t>
            </a:r>
            <a:endParaRPr lang="en-US" sz="1100" dirty="0"/>
          </a:p>
        </p:txBody>
      </p:sp>
      <p:sp>
        <p:nvSpPr>
          <p:cNvPr id="35" name="Shape 33"/>
          <p:cNvSpPr/>
          <p:nvPr/>
        </p:nvSpPr>
        <p:spPr>
          <a:xfrm>
            <a:off x="7132320" y="3236976"/>
            <a:ext cx="1600200" cy="329184"/>
          </a:xfrm>
          <a:prstGeom prst="rect">
            <a:avLst>
              <a:gd name="adj" fmla="val 13889"/>
            </a:avLst>
          </a:prstGeom>
          <a:solidFill>
            <a:srgbClr val="8E44AD"/>
          </a:solidFill>
          <a:ln w="12700">
            <a:solidFill>
              <a:srgbClr val="8E44AD"/>
            </a:solidFill>
            <a:prstDash val="solid"/>
          </a:ln>
        </p:spPr>
      </p:sp>
      <p:sp>
        <p:nvSpPr>
          <p:cNvPr id="36" name="Text 34"/>
          <p:cNvSpPr/>
          <p:nvPr/>
        </p:nvSpPr>
        <p:spPr>
          <a:xfrm>
            <a:off x="7132320" y="3236976"/>
            <a:ext cx="1600200" cy="329184"/>
          </a:xfrm>
          <a:prstGeom prst="rect">
            <a:avLst/>
          </a:prstGeom>
          <a:noFill/>
          <a:ln/>
        </p:spPr>
        <p:txBody>
          <a:bodyPr wrap="square" rtlCol="0" anchor="ctr"/>
          <a:lstStyle/>
          <a:p>
            <a:pPr algn="ctr" indent="0" marL="0">
              <a:buNone/>
            </a:pPr>
            <a:r>
              <a:rPr lang="en-US" sz="900" b="1" dirty="0">
                <a:solidFill>
                  <a:srgbClr val="8E44AD"/>
                </a:solidFill>
                <a:latin typeface="Atkinson Hyperlegible" pitchFamily="34" charset="0"/>
                <a:ea typeface="Atkinson Hyperlegible" pitchFamily="34" charset="-122"/>
                <a:cs typeface="Atkinson Hyperlegible" pitchFamily="34" charset="-120"/>
              </a:rPr>
              <a:t>↓ 63%</a:t>
            </a:r>
            <a:endParaRPr lang="en-US" sz="900" dirty="0"/>
          </a:p>
        </p:txBody>
      </p:sp>
      <p:sp>
        <p:nvSpPr>
          <p:cNvPr id="37" name="Shape 35"/>
          <p:cNvSpPr/>
          <p:nvPr/>
        </p:nvSpPr>
        <p:spPr>
          <a:xfrm>
            <a:off x="320040" y="3730752"/>
            <a:ext cx="8503920" cy="548640"/>
          </a:xfrm>
          <a:prstGeom prst="rect">
            <a:avLst/>
          </a:prstGeom>
          <a:solidFill>
            <a:srgbClr val="FFFFFF"/>
          </a:solidFill>
          <a:ln w="6350">
            <a:solidFill>
              <a:srgbClr val="E5E5EA"/>
            </a:solidFill>
            <a:prstDash val="solid"/>
          </a:ln>
        </p:spPr>
      </p:sp>
      <p:sp>
        <p:nvSpPr>
          <p:cNvPr id="38" name="Text 36"/>
          <p:cNvSpPr/>
          <p:nvPr/>
        </p:nvSpPr>
        <p:spPr>
          <a:xfrm>
            <a:off x="411480" y="3822192"/>
            <a:ext cx="3566160" cy="36576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Punch items al cierre</a:t>
            </a:r>
            <a:endParaRPr lang="en-US" sz="850" dirty="0"/>
          </a:p>
        </p:txBody>
      </p:sp>
      <p:sp>
        <p:nvSpPr>
          <p:cNvPr id="39" name="Text 37"/>
          <p:cNvSpPr/>
          <p:nvPr/>
        </p:nvSpPr>
        <p:spPr>
          <a:xfrm>
            <a:off x="4114800" y="3822192"/>
            <a:ext cx="1371600" cy="365760"/>
          </a:xfrm>
          <a:prstGeom prst="rect">
            <a:avLst/>
          </a:prstGeom>
          <a:noFill/>
          <a:ln/>
        </p:spPr>
        <p:txBody>
          <a:bodyPr wrap="square" rtlCol="0" anchor="ctr"/>
          <a:lstStyle/>
          <a:p>
            <a:pPr algn="ctr" indent="0" marL="0">
              <a:buNone/>
            </a:pPr>
            <a:r>
              <a:rPr lang="en-US" sz="1100" b="1" dirty="0">
                <a:solidFill>
                  <a:srgbClr val="C0392B"/>
                </a:solidFill>
                <a:latin typeface="Atkinson Hyperlegible" pitchFamily="34" charset="0"/>
                <a:ea typeface="Atkinson Hyperlegible" pitchFamily="34" charset="-122"/>
                <a:cs typeface="Atkinson Hyperlegible" pitchFamily="34" charset="-120"/>
              </a:rPr>
              <a:t>112</a:t>
            </a:r>
            <a:endParaRPr lang="en-US" sz="1100" dirty="0"/>
          </a:p>
        </p:txBody>
      </p:sp>
      <p:sp>
        <p:nvSpPr>
          <p:cNvPr id="40" name="Text 38"/>
          <p:cNvSpPr/>
          <p:nvPr/>
        </p:nvSpPr>
        <p:spPr>
          <a:xfrm>
            <a:off x="5669280" y="3822192"/>
            <a:ext cx="1371600" cy="365760"/>
          </a:xfrm>
          <a:prstGeom prst="rect">
            <a:avLst/>
          </a:prstGeom>
          <a:noFill/>
          <a:ln/>
        </p:spPr>
        <p:txBody>
          <a:bodyPr wrap="square" rtlCol="0" anchor="ctr"/>
          <a:lstStyle/>
          <a:p>
            <a:pPr algn="ctr" indent="0" marL="0">
              <a:buNone/>
            </a:pPr>
            <a:r>
              <a:rPr lang="en-US" sz="1100" b="1" dirty="0">
                <a:solidFill>
                  <a:srgbClr val="27AE60"/>
                </a:solidFill>
                <a:latin typeface="Atkinson Hyperlegible" pitchFamily="34" charset="0"/>
                <a:ea typeface="Atkinson Hyperlegible" pitchFamily="34" charset="-122"/>
                <a:cs typeface="Atkinson Hyperlegible" pitchFamily="34" charset="-120"/>
              </a:rPr>
              <a:t>28</a:t>
            </a:r>
            <a:endParaRPr lang="en-US" sz="1100" dirty="0"/>
          </a:p>
        </p:txBody>
      </p:sp>
      <p:sp>
        <p:nvSpPr>
          <p:cNvPr id="41" name="Shape 39"/>
          <p:cNvSpPr/>
          <p:nvPr/>
        </p:nvSpPr>
        <p:spPr>
          <a:xfrm>
            <a:off x="7132320" y="3840480"/>
            <a:ext cx="1600200" cy="329184"/>
          </a:xfrm>
          <a:prstGeom prst="rect">
            <a:avLst>
              <a:gd name="adj" fmla="val 13889"/>
            </a:avLst>
          </a:prstGeom>
          <a:solidFill>
            <a:srgbClr val="C0392B"/>
          </a:solidFill>
          <a:ln w="12700">
            <a:solidFill>
              <a:srgbClr val="C0392B"/>
            </a:solidFill>
            <a:prstDash val="solid"/>
          </a:ln>
        </p:spPr>
      </p:sp>
      <p:sp>
        <p:nvSpPr>
          <p:cNvPr id="42" name="Text 40"/>
          <p:cNvSpPr/>
          <p:nvPr/>
        </p:nvSpPr>
        <p:spPr>
          <a:xfrm>
            <a:off x="7132320" y="3840480"/>
            <a:ext cx="1600200" cy="329184"/>
          </a:xfrm>
          <a:prstGeom prst="rect">
            <a:avLst/>
          </a:prstGeom>
          <a:noFill/>
          <a:ln/>
        </p:spPr>
        <p:txBody>
          <a:bodyPr wrap="square" rtlCol="0" anchor="ctr"/>
          <a:lstStyle/>
          <a:p>
            <a:pPr algn="ctr" indent="0" marL="0">
              <a:buNone/>
            </a:pPr>
            <a:r>
              <a:rPr lang="en-US" sz="900" b="1" dirty="0">
                <a:solidFill>
                  <a:srgbClr val="C0392B"/>
                </a:solidFill>
                <a:latin typeface="Atkinson Hyperlegible" pitchFamily="34" charset="0"/>
                <a:ea typeface="Atkinson Hyperlegible" pitchFamily="34" charset="-122"/>
                <a:cs typeface="Atkinson Hyperlegible" pitchFamily="34" charset="-120"/>
              </a:rPr>
              <a:t>↓ 75%</a:t>
            </a:r>
            <a:endParaRPr lang="en-US" sz="900" dirty="0"/>
          </a:p>
        </p:txBody>
      </p:sp>
      <p:sp>
        <p:nvSpPr>
          <p:cNvPr id="43" name="Shape 41"/>
          <p:cNvSpPr/>
          <p:nvPr/>
        </p:nvSpPr>
        <p:spPr>
          <a:xfrm>
            <a:off x="320040" y="4334256"/>
            <a:ext cx="8503920" cy="548640"/>
          </a:xfrm>
          <a:prstGeom prst="rect">
            <a:avLst/>
          </a:prstGeom>
          <a:solidFill>
            <a:srgbClr val="F8F8FA"/>
          </a:solidFill>
          <a:ln w="6350">
            <a:solidFill>
              <a:srgbClr val="E5E5EA"/>
            </a:solidFill>
            <a:prstDash val="solid"/>
          </a:ln>
        </p:spPr>
      </p:sp>
      <p:sp>
        <p:nvSpPr>
          <p:cNvPr id="44" name="Text 42"/>
          <p:cNvSpPr/>
          <p:nvPr/>
        </p:nvSpPr>
        <p:spPr>
          <a:xfrm>
            <a:off x="411480" y="4425696"/>
            <a:ext cx="3566160" cy="365760"/>
          </a:xfrm>
          <a:prstGeom prst="rect">
            <a:avLst/>
          </a:prstGeom>
          <a:noFill/>
          <a:ln/>
        </p:spPr>
        <p:txBody>
          <a:bodyPr wrap="square" rtlCol="0" anchor="ctr"/>
          <a:lstStyle/>
          <a:p>
            <a:pPr indent="0" marL="0">
              <a:buNone/>
            </a:pPr>
            <a:r>
              <a:rPr lang="en-US" sz="850" b="1" dirty="0">
                <a:solidFill>
                  <a:srgbClr val="1D1D1F"/>
                </a:solidFill>
                <a:latin typeface="Atkinson Hyperlegible" pitchFamily="34" charset="0"/>
                <a:ea typeface="Atkinson Hyperlegible" pitchFamily="34" charset="-122"/>
                <a:cs typeface="Atkinson Hyperlegible" pitchFamily="34" charset="-120"/>
              </a:rPr>
              <a:t>Accidentes registrables TRIR</a:t>
            </a:r>
            <a:endParaRPr lang="en-US" sz="850" dirty="0"/>
          </a:p>
        </p:txBody>
      </p:sp>
      <p:sp>
        <p:nvSpPr>
          <p:cNvPr id="45" name="Text 43"/>
          <p:cNvSpPr/>
          <p:nvPr/>
        </p:nvSpPr>
        <p:spPr>
          <a:xfrm>
            <a:off x="4114800" y="4425696"/>
            <a:ext cx="1371600" cy="365760"/>
          </a:xfrm>
          <a:prstGeom prst="rect">
            <a:avLst/>
          </a:prstGeom>
          <a:noFill/>
          <a:ln/>
        </p:spPr>
        <p:txBody>
          <a:bodyPr wrap="square" rtlCol="0" anchor="ctr"/>
          <a:lstStyle/>
          <a:p>
            <a:pPr algn="ctr" indent="0" marL="0">
              <a:buNone/>
            </a:pPr>
            <a:r>
              <a:rPr lang="en-US" sz="1100" b="1" dirty="0">
                <a:solidFill>
                  <a:srgbClr val="C0392B"/>
                </a:solidFill>
                <a:latin typeface="Atkinson Hyperlegible" pitchFamily="34" charset="0"/>
                <a:ea typeface="Atkinson Hyperlegible" pitchFamily="34" charset="-122"/>
                <a:cs typeface="Atkinson Hyperlegible" pitchFamily="34" charset="-120"/>
              </a:rPr>
              <a:t>2.8</a:t>
            </a:r>
            <a:endParaRPr lang="en-US" sz="1100" dirty="0"/>
          </a:p>
        </p:txBody>
      </p:sp>
      <p:sp>
        <p:nvSpPr>
          <p:cNvPr id="46" name="Text 44"/>
          <p:cNvSpPr/>
          <p:nvPr/>
        </p:nvSpPr>
        <p:spPr>
          <a:xfrm>
            <a:off x="5669280" y="4425696"/>
            <a:ext cx="1371600" cy="365760"/>
          </a:xfrm>
          <a:prstGeom prst="rect">
            <a:avLst/>
          </a:prstGeom>
          <a:noFill/>
          <a:ln/>
        </p:spPr>
        <p:txBody>
          <a:bodyPr wrap="square" rtlCol="0" anchor="ctr"/>
          <a:lstStyle/>
          <a:p>
            <a:pPr algn="ctr" indent="0" marL="0">
              <a:buNone/>
            </a:pPr>
            <a:r>
              <a:rPr lang="en-US" sz="1100" b="1" dirty="0">
                <a:solidFill>
                  <a:srgbClr val="27AE60"/>
                </a:solidFill>
                <a:latin typeface="Atkinson Hyperlegible" pitchFamily="34" charset="0"/>
                <a:ea typeface="Atkinson Hyperlegible" pitchFamily="34" charset="-122"/>
                <a:cs typeface="Atkinson Hyperlegible" pitchFamily="34" charset="-120"/>
              </a:rPr>
              <a:t>1.1</a:t>
            </a:r>
            <a:endParaRPr lang="en-US" sz="1100" dirty="0"/>
          </a:p>
        </p:txBody>
      </p:sp>
      <p:sp>
        <p:nvSpPr>
          <p:cNvPr id="47" name="Shape 45"/>
          <p:cNvSpPr/>
          <p:nvPr/>
        </p:nvSpPr>
        <p:spPr>
          <a:xfrm>
            <a:off x="7132320" y="4443984"/>
            <a:ext cx="1600200" cy="329184"/>
          </a:xfrm>
          <a:prstGeom prst="rect">
            <a:avLst>
              <a:gd name="adj" fmla="val 13889"/>
            </a:avLst>
          </a:prstGeom>
          <a:solidFill>
            <a:srgbClr val="2C3E8C"/>
          </a:solidFill>
          <a:ln w="12700">
            <a:solidFill>
              <a:srgbClr val="2C3E8C"/>
            </a:solidFill>
            <a:prstDash val="solid"/>
          </a:ln>
        </p:spPr>
      </p:sp>
      <p:sp>
        <p:nvSpPr>
          <p:cNvPr id="48" name="Text 46"/>
          <p:cNvSpPr/>
          <p:nvPr/>
        </p:nvSpPr>
        <p:spPr>
          <a:xfrm>
            <a:off x="7132320" y="4443984"/>
            <a:ext cx="1600200" cy="329184"/>
          </a:xfrm>
          <a:prstGeom prst="rect">
            <a:avLst/>
          </a:prstGeom>
          <a:noFill/>
          <a:ln/>
        </p:spPr>
        <p:txBody>
          <a:bodyPr wrap="square" rtlCol="0" anchor="ctr"/>
          <a:lstStyle/>
          <a:p>
            <a:pPr algn="ctr" indent="0" marL="0">
              <a:buNone/>
            </a:pPr>
            <a:r>
              <a:rPr lang="en-US" sz="900" b="1" dirty="0">
                <a:solidFill>
                  <a:srgbClr val="2C3E8C"/>
                </a:solidFill>
                <a:latin typeface="Atkinson Hyperlegible" pitchFamily="34" charset="0"/>
                <a:ea typeface="Atkinson Hyperlegible" pitchFamily="34" charset="-122"/>
                <a:cs typeface="Atkinson Hyperlegible" pitchFamily="34" charset="-120"/>
              </a:rPr>
              <a:t>↓ 61%</a:t>
            </a:r>
            <a:endParaRPr lang="en-US" sz="9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E44AD"/>
          </a:solidFill>
          <a:ln w="12700">
            <a:solidFill>
              <a:srgbClr val="8E44AD"/>
            </a:solidFill>
            <a:prstDash val="solid"/>
          </a:ln>
        </p:spPr>
      </p:sp>
      <p:sp>
        <p:nvSpPr>
          <p:cNvPr id="3" name="Shape 1"/>
          <p:cNvSpPr/>
          <p:nvPr/>
        </p:nvSpPr>
        <p:spPr>
          <a:xfrm>
            <a:off x="164592" y="4956048"/>
            <a:ext cx="8979408" cy="182880"/>
          </a:xfrm>
          <a:prstGeom prst="rect">
            <a:avLst/>
          </a:prstGeom>
          <a:solidFill>
            <a:srgbClr val="8E44AD"/>
          </a:solidFill>
          <a:ln w="12700">
            <a:solidFill>
              <a:srgbClr val="8E44AD"/>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116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Constructabilidad en América Latina</a:t>
            </a:r>
            <a:endParaRPr lang="en-US" sz="1800" dirty="0"/>
          </a:p>
        </p:txBody>
      </p:sp>
      <p:sp>
        <p:nvSpPr>
          <p:cNvPr id="6" name="Shape 4"/>
          <p:cNvSpPr/>
          <p:nvPr/>
        </p:nvSpPr>
        <p:spPr>
          <a:xfrm>
            <a:off x="320040" y="621792"/>
            <a:ext cx="8503920" cy="41148"/>
          </a:xfrm>
          <a:prstGeom prst="rect">
            <a:avLst/>
          </a:prstGeom>
          <a:solidFill>
            <a:srgbClr val="8E44AD"/>
          </a:solidFill>
          <a:ln w="12700">
            <a:solidFill>
              <a:srgbClr val="8E44AD"/>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8E44AD"/>
                </a:solidFill>
                <a:latin typeface="Atkinson Hyperlegible" pitchFamily="34" charset="0"/>
                <a:ea typeface="Atkinson Hyperlegible" pitchFamily="34" charset="-122"/>
                <a:cs typeface="Atkinson Hyperlegible" pitchFamily="34" charset="-120"/>
              </a:rPr>
              <a:t>Estado de adopción, oportunidades y desafíos en el contexto regional</a:t>
            </a:r>
            <a:endParaRPr lang="en-US" sz="900" dirty="0"/>
          </a:p>
        </p:txBody>
      </p:sp>
      <p:sp>
        <p:nvSpPr>
          <p:cNvPr id="8" name="Shape 6"/>
          <p:cNvSpPr/>
          <p:nvPr/>
        </p:nvSpPr>
        <p:spPr>
          <a:xfrm>
            <a:off x="320040" y="960120"/>
            <a:ext cx="2724912" cy="1371600"/>
          </a:xfrm>
          <a:prstGeom prst="rect">
            <a:avLst>
              <a:gd name="adj" fmla="val 5333"/>
            </a:avLst>
          </a:prstGeom>
          <a:solidFill>
            <a:srgbClr val="FFFFFF"/>
          </a:solidFill>
          <a:ln w="19050">
            <a:solidFill>
              <a:srgbClr val="8E44AD"/>
            </a:solidFill>
            <a:prstDash val="solid"/>
          </a:ln>
        </p:spPr>
      </p:sp>
      <p:sp>
        <p:nvSpPr>
          <p:cNvPr id="9" name="Text 7"/>
          <p:cNvSpPr/>
          <p:nvPr/>
        </p:nvSpPr>
        <p:spPr>
          <a:xfrm>
            <a:off x="320040" y="1051560"/>
            <a:ext cx="2724912" cy="749808"/>
          </a:xfrm>
          <a:prstGeom prst="rect">
            <a:avLst/>
          </a:prstGeom>
          <a:noFill/>
          <a:ln/>
        </p:spPr>
        <p:txBody>
          <a:bodyPr wrap="square" rtlCol="0" anchor="ctr"/>
          <a:lstStyle/>
          <a:p>
            <a:pPr algn="ctr" indent="0" marL="0">
              <a:buNone/>
            </a:pPr>
            <a:r>
              <a:rPr lang="en-US" sz="3600" b="1" dirty="0">
                <a:solidFill>
                  <a:srgbClr val="8E44AD"/>
                </a:solidFill>
                <a:latin typeface="Atkinson Hyperlegible" pitchFamily="34" charset="0"/>
                <a:ea typeface="Atkinson Hyperlegible" pitchFamily="34" charset="-122"/>
                <a:cs typeface="Atkinson Hyperlegible" pitchFamily="34" charset="-120"/>
              </a:rPr>
              <a:t>24%</a:t>
            </a:r>
            <a:endParaRPr lang="en-US" sz="3600" dirty="0"/>
          </a:p>
        </p:txBody>
      </p:sp>
      <p:sp>
        <p:nvSpPr>
          <p:cNvPr id="10" name="Text 8"/>
          <p:cNvSpPr/>
          <p:nvPr/>
        </p:nvSpPr>
        <p:spPr>
          <a:xfrm>
            <a:off x="320040" y="1801368"/>
            <a:ext cx="2724912" cy="274320"/>
          </a:xfrm>
          <a:prstGeom prst="rect">
            <a:avLst/>
          </a:prstGeom>
          <a:noFill/>
          <a:ln/>
        </p:spPr>
        <p:txBody>
          <a:bodyPr wrap="square" rtlCol="0" anchor="ctr"/>
          <a:lstStyle/>
          <a:p>
            <a:pPr algn="ct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Adopción AWP</a:t>
            </a:r>
            <a:endParaRPr lang="en-US" sz="900" dirty="0"/>
          </a:p>
        </p:txBody>
      </p:sp>
      <p:sp>
        <p:nvSpPr>
          <p:cNvPr id="11" name="Text 9"/>
          <p:cNvSpPr/>
          <p:nvPr/>
        </p:nvSpPr>
        <p:spPr>
          <a:xfrm>
            <a:off x="411480" y="2075688"/>
            <a:ext cx="2542032" cy="219456"/>
          </a:xfrm>
          <a:prstGeom prst="rect">
            <a:avLst/>
          </a:prstGeom>
          <a:noFill/>
          <a:ln/>
        </p:spPr>
        <p:txBody>
          <a:bodyPr wrap="square" rtlCol="0" anchor="ctr"/>
          <a:lstStyle/>
          <a:p>
            <a:pPr algn="ctr" indent="0" marL="0">
              <a:buNone/>
            </a:pPr>
            <a:r>
              <a:rPr lang="en-US" sz="700" dirty="0">
                <a:solidFill>
                  <a:srgbClr val="555555"/>
                </a:solidFill>
                <a:latin typeface="Atkinson Hyperlegible" pitchFamily="34" charset="0"/>
                <a:ea typeface="Atkinson Hyperlegible" pitchFamily="34" charset="-122"/>
                <a:cs typeface="Atkinson Hyperlegible" pitchFamily="34" charset="-120"/>
              </a:rPr>
              <a:t>Proyectos &gt;US$100M con AWP formal en Latam (2024)</a:t>
            </a:r>
            <a:endParaRPr lang="en-US" sz="700" dirty="0"/>
          </a:p>
        </p:txBody>
      </p:sp>
      <p:sp>
        <p:nvSpPr>
          <p:cNvPr id="12" name="Shape 10"/>
          <p:cNvSpPr/>
          <p:nvPr/>
        </p:nvSpPr>
        <p:spPr>
          <a:xfrm>
            <a:off x="3172968" y="960120"/>
            <a:ext cx="2724912" cy="1371600"/>
          </a:xfrm>
          <a:prstGeom prst="rect">
            <a:avLst>
              <a:gd name="adj" fmla="val 5333"/>
            </a:avLst>
          </a:prstGeom>
          <a:solidFill>
            <a:srgbClr val="FFFFFF"/>
          </a:solidFill>
          <a:ln w="19050">
            <a:solidFill>
              <a:srgbClr val="0A74E3"/>
            </a:solidFill>
            <a:prstDash val="solid"/>
          </a:ln>
        </p:spPr>
      </p:sp>
      <p:sp>
        <p:nvSpPr>
          <p:cNvPr id="13" name="Text 11"/>
          <p:cNvSpPr/>
          <p:nvPr/>
        </p:nvSpPr>
        <p:spPr>
          <a:xfrm>
            <a:off x="3172968" y="1051560"/>
            <a:ext cx="2724912" cy="749808"/>
          </a:xfrm>
          <a:prstGeom prst="rect">
            <a:avLst/>
          </a:prstGeom>
          <a:noFill/>
          <a:ln/>
        </p:spPr>
        <p:txBody>
          <a:bodyPr wrap="square" rtlCol="0" anchor="ctr"/>
          <a:lstStyle/>
          <a:p>
            <a:pPr algn="ctr" indent="0" marL="0">
              <a:buNone/>
            </a:pPr>
            <a:r>
              <a:rPr lang="en-US" sz="3600" b="1" dirty="0">
                <a:solidFill>
                  <a:srgbClr val="0A74E3"/>
                </a:solidFill>
                <a:latin typeface="Atkinson Hyperlegible" pitchFamily="34" charset="0"/>
                <a:ea typeface="Atkinson Hyperlegible" pitchFamily="34" charset="-122"/>
                <a:cs typeface="Atkinson Hyperlegible" pitchFamily="34" charset="-120"/>
              </a:rPr>
              <a:t>US$180B</a:t>
            </a:r>
            <a:endParaRPr lang="en-US" sz="3600" dirty="0"/>
          </a:p>
        </p:txBody>
      </p:sp>
      <p:sp>
        <p:nvSpPr>
          <p:cNvPr id="14" name="Text 12"/>
          <p:cNvSpPr/>
          <p:nvPr/>
        </p:nvSpPr>
        <p:spPr>
          <a:xfrm>
            <a:off x="3172968" y="1801368"/>
            <a:ext cx="2724912" cy="274320"/>
          </a:xfrm>
          <a:prstGeom prst="rect">
            <a:avLst/>
          </a:prstGeom>
          <a:noFill/>
          <a:ln/>
        </p:spPr>
        <p:txBody>
          <a:bodyPr wrap="square" rtlCol="0" anchor="ctr"/>
          <a:lstStyle/>
          <a:p>
            <a:pPr algn="ct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Pipeline 2025-2030</a:t>
            </a:r>
            <a:endParaRPr lang="en-US" sz="900" dirty="0"/>
          </a:p>
        </p:txBody>
      </p:sp>
      <p:sp>
        <p:nvSpPr>
          <p:cNvPr id="15" name="Text 13"/>
          <p:cNvSpPr/>
          <p:nvPr/>
        </p:nvSpPr>
        <p:spPr>
          <a:xfrm>
            <a:off x="3264408" y="2075688"/>
            <a:ext cx="2542032" cy="219456"/>
          </a:xfrm>
          <a:prstGeom prst="rect">
            <a:avLst/>
          </a:prstGeom>
          <a:noFill/>
          <a:ln/>
        </p:spPr>
        <p:txBody>
          <a:bodyPr wrap="square" rtlCol="0" anchor="ctr"/>
          <a:lstStyle/>
          <a:p>
            <a:pPr algn="ctr" indent="0" marL="0">
              <a:buNone/>
            </a:pPr>
            <a:r>
              <a:rPr lang="en-US" sz="700" dirty="0">
                <a:solidFill>
                  <a:srgbClr val="555555"/>
                </a:solidFill>
                <a:latin typeface="Atkinson Hyperlegible" pitchFamily="34" charset="0"/>
                <a:ea typeface="Atkinson Hyperlegible" pitchFamily="34" charset="-122"/>
                <a:cs typeface="Atkinson Hyperlegible" pitchFamily="34" charset="-120"/>
              </a:rPr>
              <a:t>Proyectos mineros, energía y infraestructura en la región</a:t>
            </a:r>
            <a:endParaRPr lang="en-US" sz="700" dirty="0"/>
          </a:p>
        </p:txBody>
      </p:sp>
      <p:sp>
        <p:nvSpPr>
          <p:cNvPr id="16" name="Shape 14"/>
          <p:cNvSpPr/>
          <p:nvPr/>
        </p:nvSpPr>
        <p:spPr>
          <a:xfrm>
            <a:off x="6025896" y="960120"/>
            <a:ext cx="2724912" cy="1371600"/>
          </a:xfrm>
          <a:prstGeom prst="rect">
            <a:avLst>
              <a:gd name="adj" fmla="val 5333"/>
            </a:avLst>
          </a:prstGeom>
          <a:solidFill>
            <a:srgbClr val="FFFFFF"/>
          </a:solidFill>
          <a:ln w="19050">
            <a:solidFill>
              <a:srgbClr val="27AE60"/>
            </a:solidFill>
            <a:prstDash val="solid"/>
          </a:ln>
        </p:spPr>
      </p:sp>
      <p:sp>
        <p:nvSpPr>
          <p:cNvPr id="17" name="Text 15"/>
          <p:cNvSpPr/>
          <p:nvPr/>
        </p:nvSpPr>
        <p:spPr>
          <a:xfrm>
            <a:off x="6025896" y="1051560"/>
            <a:ext cx="2724912" cy="749808"/>
          </a:xfrm>
          <a:prstGeom prst="rect">
            <a:avLst/>
          </a:prstGeom>
          <a:noFill/>
          <a:ln/>
        </p:spPr>
        <p:txBody>
          <a:bodyPr wrap="square" rtlCol="0" anchor="ctr"/>
          <a:lstStyle/>
          <a:p>
            <a:pPr algn="ctr" indent="0" marL="0">
              <a:buNone/>
            </a:pPr>
            <a:r>
              <a:rPr lang="en-US" sz="3600" b="1" dirty="0">
                <a:solidFill>
                  <a:srgbClr val="27AE60"/>
                </a:solidFill>
                <a:latin typeface="Atkinson Hyperlegible" pitchFamily="34" charset="0"/>
                <a:ea typeface="Atkinson Hyperlegible" pitchFamily="34" charset="-122"/>
                <a:cs typeface="Atkinson Hyperlegible" pitchFamily="34" charset="-120"/>
              </a:rPr>
              <a:t>+200%</a:t>
            </a:r>
            <a:endParaRPr lang="en-US" sz="3600" dirty="0"/>
          </a:p>
        </p:txBody>
      </p:sp>
      <p:sp>
        <p:nvSpPr>
          <p:cNvPr id="18" name="Text 16"/>
          <p:cNvSpPr/>
          <p:nvPr/>
        </p:nvSpPr>
        <p:spPr>
          <a:xfrm>
            <a:off x="6025896" y="1801368"/>
            <a:ext cx="2724912" cy="274320"/>
          </a:xfrm>
          <a:prstGeom prst="rect">
            <a:avLst/>
          </a:prstGeom>
          <a:noFill/>
          <a:ln/>
        </p:spPr>
        <p:txBody>
          <a:bodyPr wrap="square" rtlCol="0" anchor="ctr"/>
          <a:lstStyle/>
          <a:p>
            <a:pPr algn="ct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Crecimiento Esperado</a:t>
            </a:r>
            <a:endParaRPr lang="en-US" sz="900" dirty="0"/>
          </a:p>
        </p:txBody>
      </p:sp>
      <p:sp>
        <p:nvSpPr>
          <p:cNvPr id="19" name="Text 17"/>
          <p:cNvSpPr/>
          <p:nvPr/>
        </p:nvSpPr>
        <p:spPr>
          <a:xfrm>
            <a:off x="6117336" y="2075688"/>
            <a:ext cx="2542032" cy="219456"/>
          </a:xfrm>
          <a:prstGeom prst="rect">
            <a:avLst/>
          </a:prstGeom>
          <a:noFill/>
          <a:ln/>
        </p:spPr>
        <p:txBody>
          <a:bodyPr wrap="square" rtlCol="0" anchor="ctr"/>
          <a:lstStyle/>
          <a:p>
            <a:pPr algn="ctr" indent="0" marL="0">
              <a:buNone/>
            </a:pPr>
            <a:r>
              <a:rPr lang="en-US" sz="700" dirty="0">
                <a:solidFill>
                  <a:srgbClr val="555555"/>
                </a:solidFill>
                <a:latin typeface="Atkinson Hyperlegible" pitchFamily="34" charset="0"/>
                <a:ea typeface="Atkinson Hyperlegible" pitchFamily="34" charset="-122"/>
                <a:cs typeface="Atkinson Hyperlegible" pitchFamily="34" charset="-120"/>
              </a:rPr>
              <a:t>Proyección de adopción AWP 2025-2030 según CII LAC</a:t>
            </a:r>
            <a:endParaRPr lang="en-US" sz="700" dirty="0"/>
          </a:p>
        </p:txBody>
      </p:sp>
      <p:sp>
        <p:nvSpPr>
          <p:cNvPr id="20" name="Shape 18"/>
          <p:cNvSpPr/>
          <p:nvPr/>
        </p:nvSpPr>
        <p:spPr>
          <a:xfrm>
            <a:off x="320040" y="2487168"/>
            <a:ext cx="4023360" cy="1078992"/>
          </a:xfrm>
          <a:prstGeom prst="rect">
            <a:avLst>
              <a:gd name="adj" fmla="val 5085"/>
            </a:avLst>
          </a:prstGeom>
          <a:solidFill>
            <a:srgbClr val="FFFFFF"/>
          </a:solidFill>
          <a:ln w="6350">
            <a:solidFill>
              <a:srgbClr val="E5E5EA"/>
            </a:solidFill>
            <a:prstDash val="solid"/>
          </a:ln>
        </p:spPr>
      </p:sp>
      <p:pic>
        <p:nvPicPr>
          <p:cNvPr id="2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38912" y="2578608"/>
            <a:ext cx="329184" cy="329184"/>
          </a:xfrm>
          <a:prstGeom prst="rect">
            <a:avLst/>
          </a:prstGeom>
        </p:spPr>
      </p:pic>
      <p:sp>
        <p:nvSpPr>
          <p:cNvPr id="22" name="Text 19"/>
          <p:cNvSpPr/>
          <p:nvPr/>
        </p:nvSpPr>
        <p:spPr>
          <a:xfrm>
            <a:off x="795528" y="255117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Brecha de Capital Humano</a:t>
            </a:r>
            <a:endParaRPr lang="en-US" sz="900" dirty="0"/>
          </a:p>
        </p:txBody>
      </p:sp>
      <p:sp>
        <p:nvSpPr>
          <p:cNvPr id="23" name="Text 20"/>
          <p:cNvSpPr/>
          <p:nvPr/>
        </p:nvSpPr>
        <p:spPr>
          <a:xfrm>
            <a:off x="795528" y="2779776"/>
            <a:ext cx="3429000" cy="7132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Déficit de profesionales AWP certificados. Universidades no forman en constructabilidad avanzada.</a:t>
            </a:r>
            <a:endParaRPr lang="en-US" sz="750" dirty="0"/>
          </a:p>
        </p:txBody>
      </p:sp>
      <p:sp>
        <p:nvSpPr>
          <p:cNvPr id="24" name="Shape 21"/>
          <p:cNvSpPr/>
          <p:nvPr/>
        </p:nvSpPr>
        <p:spPr>
          <a:xfrm>
            <a:off x="4663440" y="2487168"/>
            <a:ext cx="4023360" cy="1078992"/>
          </a:xfrm>
          <a:prstGeom prst="rect">
            <a:avLst>
              <a:gd name="adj" fmla="val 5085"/>
            </a:avLst>
          </a:prstGeom>
          <a:solidFill>
            <a:srgbClr val="FFFFFF"/>
          </a:solidFill>
          <a:ln w="6350">
            <a:solidFill>
              <a:srgbClr val="E5E5EA"/>
            </a:solidFill>
            <a:prstDash val="solid"/>
          </a:ln>
        </p:spPr>
      </p:sp>
      <p:pic>
        <p:nvPicPr>
          <p:cNvPr id="2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82312" y="2578608"/>
            <a:ext cx="329184" cy="329184"/>
          </a:xfrm>
          <a:prstGeom prst="rect">
            <a:avLst/>
          </a:prstGeom>
        </p:spPr>
      </p:pic>
      <p:sp>
        <p:nvSpPr>
          <p:cNvPr id="26" name="Text 22"/>
          <p:cNvSpPr/>
          <p:nvPr/>
        </p:nvSpPr>
        <p:spPr>
          <a:xfrm>
            <a:off x="5138928" y="255117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Fragmentación Contractual</a:t>
            </a:r>
            <a:endParaRPr lang="en-US" sz="900" dirty="0"/>
          </a:p>
        </p:txBody>
      </p:sp>
      <p:sp>
        <p:nvSpPr>
          <p:cNvPr id="27" name="Text 23"/>
          <p:cNvSpPr/>
          <p:nvPr/>
        </p:nvSpPr>
        <p:spPr>
          <a:xfrm>
            <a:off x="5138928" y="2779776"/>
            <a:ext cx="3429000" cy="7132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Cultura de precio más bajo favorece al postor que omite AWP. Clientes deben exigir y valorar.</a:t>
            </a:r>
            <a:endParaRPr lang="en-US" sz="750" dirty="0"/>
          </a:p>
        </p:txBody>
      </p:sp>
      <p:sp>
        <p:nvSpPr>
          <p:cNvPr id="28" name="Shape 24"/>
          <p:cNvSpPr/>
          <p:nvPr/>
        </p:nvSpPr>
        <p:spPr>
          <a:xfrm>
            <a:off x="320040" y="3675888"/>
            <a:ext cx="4023360" cy="1078992"/>
          </a:xfrm>
          <a:prstGeom prst="rect">
            <a:avLst>
              <a:gd name="adj" fmla="val 5085"/>
            </a:avLst>
          </a:prstGeom>
          <a:solidFill>
            <a:srgbClr val="FFFFFF"/>
          </a:solidFill>
          <a:ln w="6350">
            <a:solidFill>
              <a:srgbClr val="E5E5EA"/>
            </a:solidFill>
            <a:prstDash val="solid"/>
          </a:ln>
        </p:spPr>
      </p:sp>
      <p:pic>
        <p:nvPicPr>
          <p:cNvPr id="2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8912" y="3767328"/>
            <a:ext cx="329184" cy="329184"/>
          </a:xfrm>
          <a:prstGeom prst="rect">
            <a:avLst/>
          </a:prstGeom>
        </p:spPr>
      </p:pic>
      <p:sp>
        <p:nvSpPr>
          <p:cNvPr id="30" name="Text 25"/>
          <p:cNvSpPr/>
          <p:nvPr/>
        </p:nvSpPr>
        <p:spPr>
          <a:xfrm>
            <a:off x="795528" y="373989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Adopción Tecnológica</a:t>
            </a:r>
            <a:endParaRPr lang="en-US" sz="900" dirty="0"/>
          </a:p>
        </p:txBody>
      </p:sp>
      <p:sp>
        <p:nvSpPr>
          <p:cNvPr id="31" name="Text 26"/>
          <p:cNvSpPr/>
          <p:nvPr/>
        </p:nvSpPr>
        <p:spPr>
          <a:xfrm>
            <a:off x="795528" y="3968496"/>
            <a:ext cx="3429000" cy="7132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BIM &lt;30% en proyectos regionales. Plataformas AWP escasas en español y adaptadas a Latam.</a:t>
            </a:r>
            <a:endParaRPr lang="en-US" sz="750" dirty="0"/>
          </a:p>
        </p:txBody>
      </p:sp>
      <p:sp>
        <p:nvSpPr>
          <p:cNvPr id="32" name="Shape 27"/>
          <p:cNvSpPr/>
          <p:nvPr/>
        </p:nvSpPr>
        <p:spPr>
          <a:xfrm>
            <a:off x="4663440" y="3675888"/>
            <a:ext cx="4023360" cy="1078992"/>
          </a:xfrm>
          <a:prstGeom prst="rect">
            <a:avLst>
              <a:gd name="adj" fmla="val 5085"/>
            </a:avLst>
          </a:prstGeom>
          <a:solidFill>
            <a:srgbClr val="FFFFFF"/>
          </a:solidFill>
          <a:ln w="6350">
            <a:solidFill>
              <a:srgbClr val="E5E5EA"/>
            </a:solidFill>
            <a:prstDash val="solid"/>
          </a:ln>
        </p:spPr>
      </p:sp>
      <p:pic>
        <p:nvPicPr>
          <p:cNvPr id="3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82312" y="3767328"/>
            <a:ext cx="329184" cy="329184"/>
          </a:xfrm>
          <a:prstGeom prst="rect">
            <a:avLst/>
          </a:prstGeom>
        </p:spPr>
      </p:pic>
      <p:sp>
        <p:nvSpPr>
          <p:cNvPr id="34" name="Text 28"/>
          <p:cNvSpPr/>
          <p:nvPr/>
        </p:nvSpPr>
        <p:spPr>
          <a:xfrm>
            <a:off x="5138928" y="373989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Oportunidad de Mercado</a:t>
            </a:r>
            <a:endParaRPr lang="en-US" sz="900" dirty="0"/>
          </a:p>
        </p:txBody>
      </p:sp>
      <p:sp>
        <p:nvSpPr>
          <p:cNvPr id="35" name="Text 29"/>
          <p:cNvSpPr/>
          <p:nvPr/>
        </p:nvSpPr>
        <p:spPr>
          <a:xfrm>
            <a:off x="5138928" y="3968496"/>
            <a:ext cx="3429000" cy="71323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Con +US$180B en pipeline, el first-mover en AWP capturará diferencial competitivo sostenible.</a:t>
            </a:r>
            <a:endParaRPr lang="en-US" sz="7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4E3"/>
          </a:solidFill>
          <a:ln w="12700">
            <a:solidFill>
              <a:srgbClr val="0A74E3"/>
            </a:solidFill>
            <a:prstDash val="solid"/>
          </a:ln>
        </p:spPr>
      </p:sp>
      <p:sp>
        <p:nvSpPr>
          <p:cNvPr id="3" name="Shape 1"/>
          <p:cNvSpPr/>
          <p:nvPr/>
        </p:nvSpPr>
        <p:spPr>
          <a:xfrm>
            <a:off x="164592" y="4956048"/>
            <a:ext cx="8979408" cy="182880"/>
          </a:xfrm>
          <a:prstGeom prst="rect">
            <a:avLst/>
          </a:prstGeom>
          <a:solidFill>
            <a:srgbClr val="0A74E3"/>
          </a:solidFill>
          <a:ln w="12700">
            <a:solidFill>
              <a:srgbClr val="0A74E3"/>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117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Constructabilidad en Cosapi — Posicionamiento Estratégico</a:t>
            </a:r>
            <a:endParaRPr lang="en-US" sz="1800" dirty="0"/>
          </a:p>
        </p:txBody>
      </p:sp>
      <p:sp>
        <p:nvSpPr>
          <p:cNvPr id="6" name="Shape 4"/>
          <p:cNvSpPr/>
          <p:nvPr/>
        </p:nvSpPr>
        <p:spPr>
          <a:xfrm>
            <a:off x="320040" y="621792"/>
            <a:ext cx="8503920" cy="41148"/>
          </a:xfrm>
          <a:prstGeom prst="rect">
            <a:avLst/>
          </a:prstGeom>
          <a:solidFill>
            <a:srgbClr val="0A74E3"/>
          </a:solidFill>
          <a:ln w="12700">
            <a:solidFill>
              <a:srgbClr val="0A74E3"/>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A74E3"/>
                </a:solidFill>
                <a:latin typeface="Atkinson Hyperlegible" pitchFamily="34" charset="0"/>
                <a:ea typeface="Atkinson Hyperlegible" pitchFamily="34" charset="-122"/>
                <a:cs typeface="Atkinson Hyperlegible" pitchFamily="34" charset="-120"/>
              </a:rPr>
              <a:t>Marco de referencia para la implementación en proyectos de capital de Cosapi</a:t>
            </a:r>
            <a:endParaRPr lang="en-US" sz="900" dirty="0"/>
          </a:p>
        </p:txBody>
      </p:sp>
      <p:sp>
        <p:nvSpPr>
          <p:cNvPr id="8" name="Shape 6"/>
          <p:cNvSpPr/>
          <p:nvPr/>
        </p:nvSpPr>
        <p:spPr>
          <a:xfrm>
            <a:off x="320040" y="960120"/>
            <a:ext cx="8503920" cy="1280160"/>
          </a:xfrm>
          <a:prstGeom prst="rect">
            <a:avLst>
              <a:gd name="adj" fmla="val 5714"/>
            </a:avLst>
          </a:prstGeom>
          <a:solidFill>
            <a:srgbClr val="0A74E3"/>
          </a:solidFill>
          <a:ln w="12700">
            <a:solidFill>
              <a:srgbClr val="0A74E3"/>
            </a:solidFill>
            <a:prstDash val="solid"/>
          </a:ln>
        </p:spPr>
      </p:sp>
      <p:sp>
        <p:nvSpPr>
          <p:cNvPr id="9" name="Text 7"/>
          <p:cNvSpPr/>
          <p:nvPr/>
        </p:nvSpPr>
        <p:spPr>
          <a:xfrm>
            <a:off x="502920" y="1051560"/>
            <a:ext cx="3657600" cy="329184"/>
          </a:xfrm>
          <a:prstGeom prst="rect">
            <a:avLst/>
          </a:prstGeom>
          <a:noFill/>
          <a:ln/>
        </p:spPr>
        <p:txBody>
          <a:bodyPr wrap="square"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Visión 2030</a:t>
            </a:r>
            <a:endParaRPr lang="en-US" sz="1400" dirty="0"/>
          </a:p>
        </p:txBody>
      </p:sp>
      <p:sp>
        <p:nvSpPr>
          <p:cNvPr id="10" name="Text 8"/>
          <p:cNvSpPr/>
          <p:nvPr/>
        </p:nvSpPr>
        <p:spPr>
          <a:xfrm>
            <a:off x="502920" y="1389888"/>
            <a:ext cx="8046720" cy="749808"/>
          </a:xfrm>
          <a:prstGeom prst="rect">
            <a:avLst/>
          </a:prstGeom>
          <a:noFill/>
          <a:ln/>
        </p:spPr>
        <p:txBody>
          <a:bodyPr wrap="square" rtlCol="0" anchor="ctr"/>
          <a:lstStyle/>
          <a:p>
            <a:pPr indent="0" marL="0">
              <a:buNone/>
            </a:pPr>
            <a:r>
              <a:rPr lang="en-US" sz="1000" i="1" dirty="0">
                <a:solidFill>
                  <a:srgbClr val="FFFFFF"/>
                </a:solidFill>
                <a:latin typeface="Atkinson Hyperlegible" pitchFamily="34" charset="0"/>
                <a:ea typeface="Atkinson Hyperlegible" pitchFamily="34" charset="-122"/>
                <a:cs typeface="Atkinson Hyperlegible" pitchFamily="34" charset="-120"/>
              </a:rPr>
              <a:t>"Ser la empresa de ingeniería y construcción latinoamericana referente en AWP y constructabilidad avanzada, con CPI sistemático ≥1.05 en todos los proyectos de capital."</a:t>
            </a:r>
            <a:endParaRPr lang="en-US" sz="1000" dirty="0"/>
          </a:p>
        </p:txBody>
      </p:sp>
      <p:sp>
        <p:nvSpPr>
          <p:cNvPr id="11" name="Shape 9"/>
          <p:cNvSpPr/>
          <p:nvPr/>
        </p:nvSpPr>
        <p:spPr>
          <a:xfrm>
            <a:off x="320040" y="2395728"/>
            <a:ext cx="4023360" cy="1261872"/>
          </a:xfrm>
          <a:prstGeom prst="rect">
            <a:avLst>
              <a:gd name="adj" fmla="val 4348"/>
            </a:avLst>
          </a:prstGeom>
          <a:solidFill>
            <a:srgbClr val="FFFFFF"/>
          </a:solidFill>
          <a:ln w="6350">
            <a:solidFill>
              <a:srgbClr val="E5E5EA"/>
            </a:solidFill>
            <a:prstDash val="solid"/>
          </a:ln>
        </p:spPr>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38912" y="2487168"/>
            <a:ext cx="329184" cy="329184"/>
          </a:xfrm>
          <a:prstGeom prst="rect">
            <a:avLst/>
          </a:prstGeom>
        </p:spPr>
      </p:pic>
      <p:sp>
        <p:nvSpPr>
          <p:cNvPr id="13" name="Text 10"/>
          <p:cNvSpPr/>
          <p:nvPr/>
        </p:nvSpPr>
        <p:spPr>
          <a:xfrm>
            <a:off x="795528" y="245973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Pilar 1: Gente</a:t>
            </a:r>
            <a:endParaRPr lang="en-US" sz="900" dirty="0"/>
          </a:p>
        </p:txBody>
      </p:sp>
      <p:sp>
        <p:nvSpPr>
          <p:cNvPr id="14" name="Text 11"/>
          <p:cNvSpPr/>
          <p:nvPr/>
        </p:nvSpPr>
        <p:spPr>
          <a:xfrm>
            <a:off x="795528" y="2688336"/>
            <a:ext cx="3429000" cy="89611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Certificar ≥20 AWP Practitioners para 2026. Integrar constructabilidad al programa de formación de jefes de proyecto.</a:t>
            </a:r>
            <a:endParaRPr lang="en-US" sz="750" dirty="0"/>
          </a:p>
        </p:txBody>
      </p:sp>
      <p:sp>
        <p:nvSpPr>
          <p:cNvPr id="15" name="Shape 12"/>
          <p:cNvSpPr/>
          <p:nvPr/>
        </p:nvSpPr>
        <p:spPr>
          <a:xfrm>
            <a:off x="4663440" y="2395728"/>
            <a:ext cx="4023360" cy="1261872"/>
          </a:xfrm>
          <a:prstGeom prst="rect">
            <a:avLst>
              <a:gd name="adj" fmla="val 4348"/>
            </a:avLst>
          </a:prstGeom>
          <a:solidFill>
            <a:srgbClr val="FFFFFF"/>
          </a:solidFill>
          <a:ln w="6350">
            <a:solidFill>
              <a:srgbClr val="E5E5EA"/>
            </a:solidFill>
            <a:prstDash val="solid"/>
          </a:ln>
        </p:spPr>
      </p:sp>
      <p:pic>
        <p:nvPicPr>
          <p:cNvPr id="1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82312" y="2487168"/>
            <a:ext cx="329184" cy="329184"/>
          </a:xfrm>
          <a:prstGeom prst="rect">
            <a:avLst/>
          </a:prstGeom>
        </p:spPr>
      </p:pic>
      <p:sp>
        <p:nvSpPr>
          <p:cNvPr id="17" name="Text 13"/>
          <p:cNvSpPr/>
          <p:nvPr/>
        </p:nvSpPr>
        <p:spPr>
          <a:xfrm>
            <a:off x="5138928" y="245973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Pilar 2: Proceso</a:t>
            </a:r>
            <a:endParaRPr lang="en-US" sz="900" dirty="0"/>
          </a:p>
        </p:txBody>
      </p:sp>
      <p:sp>
        <p:nvSpPr>
          <p:cNvPr id="18" name="Text 14"/>
          <p:cNvSpPr/>
          <p:nvPr/>
        </p:nvSpPr>
        <p:spPr>
          <a:xfrm>
            <a:off x="5138928" y="2688336"/>
            <a:ext cx="3429000" cy="89611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AWP obligatorio en todos los proyectos EPC/EPCM &gt;US$30M desde 2025. Estandarizar CWP templates por tipo de proyecto.</a:t>
            </a:r>
            <a:endParaRPr lang="en-US" sz="750" dirty="0"/>
          </a:p>
        </p:txBody>
      </p:sp>
      <p:sp>
        <p:nvSpPr>
          <p:cNvPr id="19" name="Shape 15"/>
          <p:cNvSpPr/>
          <p:nvPr/>
        </p:nvSpPr>
        <p:spPr>
          <a:xfrm>
            <a:off x="320040" y="3767328"/>
            <a:ext cx="4023360" cy="1261872"/>
          </a:xfrm>
          <a:prstGeom prst="rect">
            <a:avLst>
              <a:gd name="adj" fmla="val 4348"/>
            </a:avLst>
          </a:prstGeom>
          <a:solidFill>
            <a:srgbClr val="FFFFFF"/>
          </a:solidFill>
          <a:ln w="6350">
            <a:solidFill>
              <a:srgbClr val="E5E5EA"/>
            </a:solidFill>
            <a:prstDash val="solid"/>
          </a:ln>
        </p:spPr>
      </p:sp>
      <p:pic>
        <p:nvPicPr>
          <p:cNvPr id="2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8912" y="3858768"/>
            <a:ext cx="329184" cy="329184"/>
          </a:xfrm>
          <a:prstGeom prst="rect">
            <a:avLst/>
          </a:prstGeom>
        </p:spPr>
      </p:pic>
      <p:sp>
        <p:nvSpPr>
          <p:cNvPr id="21" name="Text 16"/>
          <p:cNvSpPr/>
          <p:nvPr/>
        </p:nvSpPr>
        <p:spPr>
          <a:xfrm>
            <a:off x="795528" y="383133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Pilar 3: Tecnología</a:t>
            </a:r>
            <a:endParaRPr lang="en-US" sz="900" dirty="0"/>
          </a:p>
        </p:txBody>
      </p:sp>
      <p:sp>
        <p:nvSpPr>
          <p:cNvPr id="22" name="Text 17"/>
          <p:cNvSpPr/>
          <p:nvPr/>
        </p:nvSpPr>
        <p:spPr>
          <a:xfrm>
            <a:off x="795528" y="4059936"/>
            <a:ext cx="3429000" cy="89611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Implementar plataforma AWP única (EcoSys o equivalente) con BIM integrado. KPIs en tiempo real para todos los proyectos.</a:t>
            </a:r>
            <a:endParaRPr lang="en-US" sz="750" dirty="0"/>
          </a:p>
        </p:txBody>
      </p:sp>
      <p:sp>
        <p:nvSpPr>
          <p:cNvPr id="23" name="Shape 18"/>
          <p:cNvSpPr/>
          <p:nvPr/>
        </p:nvSpPr>
        <p:spPr>
          <a:xfrm>
            <a:off x="4663440" y="3767328"/>
            <a:ext cx="4023360" cy="1261872"/>
          </a:xfrm>
          <a:prstGeom prst="rect">
            <a:avLst>
              <a:gd name="adj" fmla="val 4348"/>
            </a:avLst>
          </a:prstGeom>
          <a:solidFill>
            <a:srgbClr val="FFFFFF"/>
          </a:solidFill>
          <a:ln w="6350">
            <a:solidFill>
              <a:srgbClr val="E5E5EA"/>
            </a:solidFill>
            <a:prstDash val="solid"/>
          </a:ln>
        </p:spPr>
      </p:sp>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82312" y="3858768"/>
            <a:ext cx="329184" cy="329184"/>
          </a:xfrm>
          <a:prstGeom prst="rect">
            <a:avLst/>
          </a:prstGeom>
        </p:spPr>
      </p:pic>
      <p:sp>
        <p:nvSpPr>
          <p:cNvPr id="25" name="Text 19"/>
          <p:cNvSpPr/>
          <p:nvPr/>
        </p:nvSpPr>
        <p:spPr>
          <a:xfrm>
            <a:off x="5138928" y="3831336"/>
            <a:ext cx="3429000" cy="256032"/>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Pilar 4: Mercado</a:t>
            </a:r>
            <a:endParaRPr lang="en-US" sz="900" dirty="0"/>
          </a:p>
        </p:txBody>
      </p:sp>
      <p:sp>
        <p:nvSpPr>
          <p:cNvPr id="26" name="Text 20"/>
          <p:cNvSpPr/>
          <p:nvPr/>
        </p:nvSpPr>
        <p:spPr>
          <a:xfrm>
            <a:off x="5138928" y="4059936"/>
            <a:ext cx="3429000" cy="896112"/>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Diferenciar propuestas técnicas con metodología AWP. Publicar casos de éxito y benchmarks Cosapi para generar confianza cliente.</a:t>
            </a:r>
            <a:endParaRPr lang="en-US" sz="7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4E3"/>
          </a:solidFill>
          <a:ln w="12700">
            <a:solidFill>
              <a:srgbClr val="0A74E3"/>
            </a:solidFill>
            <a:prstDash val="solid"/>
          </a:ln>
        </p:spPr>
      </p:sp>
      <p:sp>
        <p:nvSpPr>
          <p:cNvPr id="3" name="Shape 1"/>
          <p:cNvSpPr/>
          <p:nvPr/>
        </p:nvSpPr>
        <p:spPr>
          <a:xfrm>
            <a:off x="164592" y="4956048"/>
            <a:ext cx="8979408" cy="182880"/>
          </a:xfrm>
          <a:prstGeom prst="rect">
            <a:avLst/>
          </a:prstGeom>
          <a:solidFill>
            <a:srgbClr val="0A74E3"/>
          </a:solidFill>
          <a:ln w="12700">
            <a:solidFill>
              <a:srgbClr val="0A74E3"/>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118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Hoja de Ruta Cosapi 2025-2030: AWP Adoption</a:t>
            </a:r>
            <a:endParaRPr lang="en-US" sz="1800" dirty="0"/>
          </a:p>
        </p:txBody>
      </p:sp>
      <p:sp>
        <p:nvSpPr>
          <p:cNvPr id="6" name="Shape 4"/>
          <p:cNvSpPr/>
          <p:nvPr/>
        </p:nvSpPr>
        <p:spPr>
          <a:xfrm>
            <a:off x="320040" y="621792"/>
            <a:ext cx="8503920" cy="41148"/>
          </a:xfrm>
          <a:prstGeom prst="rect">
            <a:avLst/>
          </a:prstGeom>
          <a:solidFill>
            <a:srgbClr val="0A74E3"/>
          </a:solidFill>
          <a:ln w="12700">
            <a:solidFill>
              <a:srgbClr val="0A74E3"/>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A74E3"/>
                </a:solidFill>
                <a:latin typeface="Atkinson Hyperlegible" pitchFamily="34" charset="0"/>
                <a:ea typeface="Atkinson Hyperlegible" pitchFamily="34" charset="-122"/>
                <a:cs typeface="Atkinson Hyperlegible" pitchFamily="34" charset="-120"/>
              </a:rPr>
              <a:t>Plan de implementación por fases con hitos verificables y métricas de éxito</a:t>
            </a:r>
            <a:endParaRPr lang="en-US" sz="900" dirty="0"/>
          </a:p>
        </p:txBody>
      </p:sp>
      <p:sp>
        <p:nvSpPr>
          <p:cNvPr id="8" name="Shape 6"/>
          <p:cNvSpPr/>
          <p:nvPr/>
        </p:nvSpPr>
        <p:spPr>
          <a:xfrm>
            <a:off x="320040" y="960120"/>
            <a:ext cx="8503920" cy="621792"/>
          </a:xfrm>
          <a:prstGeom prst="rect">
            <a:avLst>
              <a:gd name="adj" fmla="val 7353"/>
            </a:avLst>
          </a:prstGeom>
          <a:solidFill>
            <a:srgbClr val="FFFFFF"/>
          </a:solidFill>
          <a:ln w="12700">
            <a:solidFill>
              <a:srgbClr val="0A74E3"/>
            </a:solidFill>
            <a:prstDash val="solid"/>
          </a:ln>
        </p:spPr>
      </p:sp>
      <p:sp>
        <p:nvSpPr>
          <p:cNvPr id="9" name="Shape 7"/>
          <p:cNvSpPr/>
          <p:nvPr/>
        </p:nvSpPr>
        <p:spPr>
          <a:xfrm>
            <a:off x="320040" y="960120"/>
            <a:ext cx="1005840" cy="621792"/>
          </a:xfrm>
          <a:prstGeom prst="rect">
            <a:avLst>
              <a:gd name="adj" fmla="val 7353"/>
            </a:avLst>
          </a:prstGeom>
          <a:solidFill>
            <a:srgbClr val="0A74E3"/>
          </a:solidFill>
          <a:ln w="12700">
            <a:solidFill>
              <a:srgbClr val="0A74E3"/>
            </a:solidFill>
            <a:prstDash val="solid"/>
          </a:ln>
        </p:spPr>
      </p:sp>
      <p:sp>
        <p:nvSpPr>
          <p:cNvPr id="10" name="Text 8"/>
          <p:cNvSpPr/>
          <p:nvPr/>
        </p:nvSpPr>
        <p:spPr>
          <a:xfrm>
            <a:off x="320040" y="960120"/>
            <a:ext cx="1005840" cy="621792"/>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2025 Q1</a:t>
            </a:r>
            <a:endParaRPr lang="en-US" sz="850" dirty="0"/>
          </a:p>
        </p:txBody>
      </p:sp>
      <p:sp>
        <p:nvSpPr>
          <p:cNvPr id="11" name="Text 9"/>
          <p:cNvSpPr/>
          <p:nvPr/>
        </p:nvSpPr>
        <p:spPr>
          <a:xfrm>
            <a:off x="1417320" y="1014984"/>
            <a:ext cx="1645920" cy="256032"/>
          </a:xfrm>
          <a:prstGeom prst="rect">
            <a:avLst/>
          </a:prstGeom>
          <a:noFill/>
          <a:ln/>
        </p:spPr>
        <p:txBody>
          <a:bodyPr wrap="square" rtlCol="0" anchor="ctr"/>
          <a:lstStyle/>
          <a:p>
            <a:pPr indent="0" marL="0">
              <a:buNone/>
            </a:pPr>
            <a:r>
              <a:rPr lang="en-US" sz="950" b="1" dirty="0">
                <a:solidFill>
                  <a:srgbClr val="0A74E3"/>
                </a:solidFill>
                <a:latin typeface="Atkinson Hyperlegible" pitchFamily="34" charset="0"/>
                <a:ea typeface="Atkinson Hyperlegible" pitchFamily="34" charset="-122"/>
                <a:cs typeface="Atkinson Hyperlegible" pitchFamily="34" charset="-120"/>
              </a:rPr>
              <a:t>Lanzamiento</a:t>
            </a:r>
            <a:endParaRPr lang="en-US" sz="950" dirty="0"/>
          </a:p>
        </p:txBody>
      </p:sp>
      <p:sp>
        <p:nvSpPr>
          <p:cNvPr id="12" name="Text 10"/>
          <p:cNvSpPr/>
          <p:nvPr/>
        </p:nvSpPr>
        <p:spPr>
          <a:xfrm>
            <a:off x="1417320" y="1289304"/>
            <a:ext cx="7269480" cy="256032"/>
          </a:xfrm>
          <a:prstGeom prst="rect">
            <a:avLst/>
          </a:prstGeom>
          <a:noFill/>
          <a:ln/>
        </p:spPr>
        <p:txBody>
          <a:bodyPr wrap="square" rtlCol="0" anchor="ctr"/>
          <a:lstStyle/>
          <a:p>
            <a:pPr indent="0" marL="0">
              <a:buNone/>
            </a:pPr>
            <a:r>
              <a:rPr lang="en-US" sz="800" dirty="0">
                <a:solidFill>
                  <a:srgbClr val="333333"/>
                </a:solidFill>
                <a:latin typeface="Atkinson Hyperlegible" pitchFamily="34" charset="0"/>
                <a:ea typeface="Atkinson Hyperlegible" pitchFamily="34" charset="-122"/>
                <a:cs typeface="Atkinson Hyperlegible" pitchFamily="34" charset="-120"/>
              </a:rPr>
              <a:t>Designar AWP Champion corporativo, seleccionar proyecto piloto, contratar consultor CII para kick-off</a:t>
            </a:r>
            <a:endParaRPr lang="en-US" sz="800" dirty="0"/>
          </a:p>
        </p:txBody>
      </p:sp>
      <p:sp>
        <p:nvSpPr>
          <p:cNvPr id="13" name="Shape 11"/>
          <p:cNvSpPr/>
          <p:nvPr/>
        </p:nvSpPr>
        <p:spPr>
          <a:xfrm>
            <a:off x="813816" y="1581912"/>
            <a:ext cx="18288" cy="64008"/>
          </a:xfrm>
          <a:prstGeom prst="line">
            <a:avLst/>
          </a:prstGeom>
          <a:noFill/>
          <a:ln w="15240">
            <a:solidFill>
              <a:srgbClr val="0A74E3"/>
            </a:solidFill>
            <a:prstDash val="solid"/>
          </a:ln>
        </p:spPr>
      </p:sp>
      <p:sp>
        <p:nvSpPr>
          <p:cNvPr id="14" name="Shape 12"/>
          <p:cNvSpPr/>
          <p:nvPr/>
        </p:nvSpPr>
        <p:spPr>
          <a:xfrm>
            <a:off x="320040" y="1645920"/>
            <a:ext cx="8503920" cy="621792"/>
          </a:xfrm>
          <a:prstGeom prst="rect">
            <a:avLst>
              <a:gd name="adj" fmla="val 7353"/>
            </a:avLst>
          </a:prstGeom>
          <a:solidFill>
            <a:srgbClr val="F8F8FA"/>
          </a:solidFill>
          <a:ln w="12700">
            <a:solidFill>
              <a:srgbClr val="0E9E9E"/>
            </a:solidFill>
            <a:prstDash val="solid"/>
          </a:ln>
        </p:spPr>
      </p:sp>
      <p:sp>
        <p:nvSpPr>
          <p:cNvPr id="15" name="Shape 13"/>
          <p:cNvSpPr/>
          <p:nvPr/>
        </p:nvSpPr>
        <p:spPr>
          <a:xfrm>
            <a:off x="320040" y="1645920"/>
            <a:ext cx="1005840" cy="621792"/>
          </a:xfrm>
          <a:prstGeom prst="rect">
            <a:avLst>
              <a:gd name="adj" fmla="val 7353"/>
            </a:avLst>
          </a:prstGeom>
          <a:solidFill>
            <a:srgbClr val="0E9E9E"/>
          </a:solidFill>
          <a:ln w="12700">
            <a:solidFill>
              <a:srgbClr val="0E9E9E"/>
            </a:solidFill>
            <a:prstDash val="solid"/>
          </a:ln>
        </p:spPr>
      </p:sp>
      <p:sp>
        <p:nvSpPr>
          <p:cNvPr id="16" name="Text 14"/>
          <p:cNvSpPr/>
          <p:nvPr/>
        </p:nvSpPr>
        <p:spPr>
          <a:xfrm>
            <a:off x="320040" y="1645920"/>
            <a:ext cx="1005840" cy="621792"/>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2025 Q3</a:t>
            </a:r>
            <a:endParaRPr lang="en-US" sz="850" dirty="0"/>
          </a:p>
        </p:txBody>
      </p:sp>
      <p:sp>
        <p:nvSpPr>
          <p:cNvPr id="17" name="Text 15"/>
          <p:cNvSpPr/>
          <p:nvPr/>
        </p:nvSpPr>
        <p:spPr>
          <a:xfrm>
            <a:off x="1417320" y="1700784"/>
            <a:ext cx="1645920" cy="256032"/>
          </a:xfrm>
          <a:prstGeom prst="rect">
            <a:avLst/>
          </a:prstGeom>
          <a:noFill/>
          <a:ln/>
        </p:spPr>
        <p:txBody>
          <a:bodyPr wrap="square" rtlCol="0" anchor="ctr"/>
          <a:lstStyle/>
          <a:p>
            <a:pPr indent="0" marL="0">
              <a:buNone/>
            </a:pPr>
            <a:r>
              <a:rPr lang="en-US" sz="950" b="1" dirty="0">
                <a:solidFill>
                  <a:srgbClr val="0E9E9E"/>
                </a:solidFill>
                <a:latin typeface="Atkinson Hyperlegible" pitchFamily="34" charset="0"/>
                <a:ea typeface="Atkinson Hyperlegible" pitchFamily="34" charset="-122"/>
                <a:cs typeface="Atkinson Hyperlegible" pitchFamily="34" charset="-120"/>
              </a:rPr>
              <a:t>Piloto</a:t>
            </a:r>
            <a:endParaRPr lang="en-US" sz="950" dirty="0"/>
          </a:p>
        </p:txBody>
      </p:sp>
      <p:sp>
        <p:nvSpPr>
          <p:cNvPr id="18" name="Text 16"/>
          <p:cNvSpPr/>
          <p:nvPr/>
        </p:nvSpPr>
        <p:spPr>
          <a:xfrm>
            <a:off x="1417320" y="1975104"/>
            <a:ext cx="7269480" cy="256032"/>
          </a:xfrm>
          <a:prstGeom prst="rect">
            <a:avLst/>
          </a:prstGeom>
          <a:noFill/>
          <a:ln/>
        </p:spPr>
        <p:txBody>
          <a:bodyPr wrap="square" rtlCol="0" anchor="ctr"/>
          <a:lstStyle/>
          <a:p>
            <a:pPr indent="0" marL="0">
              <a:buNone/>
            </a:pPr>
            <a:r>
              <a:rPr lang="en-US" sz="800" dirty="0">
                <a:solidFill>
                  <a:srgbClr val="333333"/>
                </a:solidFill>
                <a:latin typeface="Atkinson Hyperlegible" pitchFamily="34" charset="0"/>
                <a:ea typeface="Atkinson Hyperlegible" pitchFamily="34" charset="-122"/>
                <a:cs typeface="Atkinson Hyperlegible" pitchFamily="34" charset="-120"/>
              </a:rPr>
              <a:t>Primer proyecto con AWP completo: POC, CWPs, EDS coordinado, plataforma digital, KPIs baseline</a:t>
            </a:r>
            <a:endParaRPr lang="en-US" sz="800" dirty="0"/>
          </a:p>
        </p:txBody>
      </p:sp>
      <p:sp>
        <p:nvSpPr>
          <p:cNvPr id="19" name="Shape 17"/>
          <p:cNvSpPr/>
          <p:nvPr/>
        </p:nvSpPr>
        <p:spPr>
          <a:xfrm>
            <a:off x="813816" y="2267712"/>
            <a:ext cx="18288" cy="64008"/>
          </a:xfrm>
          <a:prstGeom prst="line">
            <a:avLst/>
          </a:prstGeom>
          <a:noFill/>
          <a:ln w="15240">
            <a:solidFill>
              <a:srgbClr val="0E9E9E"/>
            </a:solidFill>
            <a:prstDash val="solid"/>
          </a:ln>
        </p:spPr>
      </p:sp>
      <p:sp>
        <p:nvSpPr>
          <p:cNvPr id="20" name="Shape 18"/>
          <p:cNvSpPr/>
          <p:nvPr/>
        </p:nvSpPr>
        <p:spPr>
          <a:xfrm>
            <a:off x="320040" y="2331720"/>
            <a:ext cx="8503920" cy="621792"/>
          </a:xfrm>
          <a:prstGeom prst="rect">
            <a:avLst>
              <a:gd name="adj" fmla="val 7353"/>
            </a:avLst>
          </a:prstGeom>
          <a:solidFill>
            <a:srgbClr val="FFFFFF"/>
          </a:solidFill>
          <a:ln w="12700">
            <a:solidFill>
              <a:srgbClr val="27AE60"/>
            </a:solidFill>
            <a:prstDash val="solid"/>
          </a:ln>
        </p:spPr>
      </p:sp>
      <p:sp>
        <p:nvSpPr>
          <p:cNvPr id="21" name="Shape 19"/>
          <p:cNvSpPr/>
          <p:nvPr/>
        </p:nvSpPr>
        <p:spPr>
          <a:xfrm>
            <a:off x="320040" y="2331720"/>
            <a:ext cx="1005840" cy="621792"/>
          </a:xfrm>
          <a:prstGeom prst="rect">
            <a:avLst>
              <a:gd name="adj" fmla="val 7353"/>
            </a:avLst>
          </a:prstGeom>
          <a:solidFill>
            <a:srgbClr val="27AE60"/>
          </a:solidFill>
          <a:ln w="12700">
            <a:solidFill>
              <a:srgbClr val="27AE60"/>
            </a:solidFill>
            <a:prstDash val="solid"/>
          </a:ln>
        </p:spPr>
      </p:sp>
      <p:sp>
        <p:nvSpPr>
          <p:cNvPr id="22" name="Text 20"/>
          <p:cNvSpPr/>
          <p:nvPr/>
        </p:nvSpPr>
        <p:spPr>
          <a:xfrm>
            <a:off x="320040" y="2331720"/>
            <a:ext cx="1005840" cy="621792"/>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2026 Q1</a:t>
            </a:r>
            <a:endParaRPr lang="en-US" sz="850" dirty="0"/>
          </a:p>
        </p:txBody>
      </p:sp>
      <p:sp>
        <p:nvSpPr>
          <p:cNvPr id="23" name="Text 21"/>
          <p:cNvSpPr/>
          <p:nvPr/>
        </p:nvSpPr>
        <p:spPr>
          <a:xfrm>
            <a:off x="1417320" y="2386584"/>
            <a:ext cx="1645920" cy="256032"/>
          </a:xfrm>
          <a:prstGeom prst="rect">
            <a:avLst/>
          </a:prstGeom>
          <a:noFill/>
          <a:ln/>
        </p:spPr>
        <p:txBody>
          <a:bodyPr wrap="square" rtlCol="0" anchor="ctr"/>
          <a:lstStyle/>
          <a:p>
            <a:pPr indent="0" marL="0">
              <a:buNone/>
            </a:pPr>
            <a:r>
              <a:rPr lang="en-US" sz="950" b="1" dirty="0">
                <a:solidFill>
                  <a:srgbClr val="27AE60"/>
                </a:solidFill>
                <a:latin typeface="Atkinson Hyperlegible" pitchFamily="34" charset="0"/>
                <a:ea typeface="Atkinson Hyperlegible" pitchFamily="34" charset="-122"/>
                <a:cs typeface="Atkinson Hyperlegible" pitchFamily="34" charset="-120"/>
              </a:rPr>
              <a:t>Escala x3</a:t>
            </a:r>
            <a:endParaRPr lang="en-US" sz="950" dirty="0"/>
          </a:p>
        </p:txBody>
      </p:sp>
      <p:sp>
        <p:nvSpPr>
          <p:cNvPr id="24" name="Text 22"/>
          <p:cNvSpPr/>
          <p:nvPr/>
        </p:nvSpPr>
        <p:spPr>
          <a:xfrm>
            <a:off x="1417320" y="2660904"/>
            <a:ext cx="7269480" cy="256032"/>
          </a:xfrm>
          <a:prstGeom prst="rect">
            <a:avLst/>
          </a:prstGeom>
          <a:noFill/>
          <a:ln/>
        </p:spPr>
        <p:txBody>
          <a:bodyPr wrap="square" rtlCol="0" anchor="ctr"/>
          <a:lstStyle/>
          <a:p>
            <a:pPr indent="0" marL="0">
              <a:buNone/>
            </a:pPr>
            <a:r>
              <a:rPr lang="en-US" sz="800" dirty="0">
                <a:solidFill>
                  <a:srgbClr val="333333"/>
                </a:solidFill>
                <a:latin typeface="Atkinson Hyperlegible" pitchFamily="34" charset="0"/>
                <a:ea typeface="Atkinson Hyperlegible" pitchFamily="34" charset="-122"/>
                <a:cs typeface="Atkinson Hyperlegible" pitchFamily="34" charset="-120"/>
              </a:rPr>
              <a:t>AWP en 3 proyectos simultáneos. Primeras certificaciones internas. Lecciones piloto incorporadas</a:t>
            </a:r>
            <a:endParaRPr lang="en-US" sz="800" dirty="0"/>
          </a:p>
        </p:txBody>
      </p:sp>
      <p:sp>
        <p:nvSpPr>
          <p:cNvPr id="25" name="Shape 23"/>
          <p:cNvSpPr/>
          <p:nvPr/>
        </p:nvSpPr>
        <p:spPr>
          <a:xfrm>
            <a:off x="813816" y="2953512"/>
            <a:ext cx="18288" cy="64008"/>
          </a:xfrm>
          <a:prstGeom prst="line">
            <a:avLst/>
          </a:prstGeom>
          <a:noFill/>
          <a:ln w="15240">
            <a:solidFill>
              <a:srgbClr val="27AE60"/>
            </a:solidFill>
            <a:prstDash val="solid"/>
          </a:ln>
        </p:spPr>
      </p:sp>
      <p:sp>
        <p:nvSpPr>
          <p:cNvPr id="26" name="Shape 24"/>
          <p:cNvSpPr/>
          <p:nvPr/>
        </p:nvSpPr>
        <p:spPr>
          <a:xfrm>
            <a:off x="320040" y="3017520"/>
            <a:ext cx="8503920" cy="621792"/>
          </a:xfrm>
          <a:prstGeom prst="rect">
            <a:avLst>
              <a:gd name="adj" fmla="val 7353"/>
            </a:avLst>
          </a:prstGeom>
          <a:solidFill>
            <a:srgbClr val="F8F8FA"/>
          </a:solidFill>
          <a:ln w="12700">
            <a:solidFill>
              <a:srgbClr val="D4620A"/>
            </a:solidFill>
            <a:prstDash val="solid"/>
          </a:ln>
        </p:spPr>
      </p:sp>
      <p:sp>
        <p:nvSpPr>
          <p:cNvPr id="27" name="Shape 25"/>
          <p:cNvSpPr/>
          <p:nvPr/>
        </p:nvSpPr>
        <p:spPr>
          <a:xfrm>
            <a:off x="320040" y="3017520"/>
            <a:ext cx="1005840" cy="621792"/>
          </a:xfrm>
          <a:prstGeom prst="rect">
            <a:avLst>
              <a:gd name="adj" fmla="val 7353"/>
            </a:avLst>
          </a:prstGeom>
          <a:solidFill>
            <a:srgbClr val="D4620A"/>
          </a:solidFill>
          <a:ln w="12700">
            <a:solidFill>
              <a:srgbClr val="D4620A"/>
            </a:solidFill>
            <a:prstDash val="solid"/>
          </a:ln>
        </p:spPr>
      </p:sp>
      <p:sp>
        <p:nvSpPr>
          <p:cNvPr id="28" name="Text 26"/>
          <p:cNvSpPr/>
          <p:nvPr/>
        </p:nvSpPr>
        <p:spPr>
          <a:xfrm>
            <a:off x="320040" y="3017520"/>
            <a:ext cx="1005840" cy="621792"/>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2026 Q4</a:t>
            </a:r>
            <a:endParaRPr lang="en-US" sz="850" dirty="0"/>
          </a:p>
        </p:txBody>
      </p:sp>
      <p:sp>
        <p:nvSpPr>
          <p:cNvPr id="29" name="Text 27"/>
          <p:cNvSpPr/>
          <p:nvPr/>
        </p:nvSpPr>
        <p:spPr>
          <a:xfrm>
            <a:off x="1417320" y="3072384"/>
            <a:ext cx="1645920" cy="256032"/>
          </a:xfrm>
          <a:prstGeom prst="rect">
            <a:avLst/>
          </a:prstGeom>
          <a:noFill/>
          <a:ln/>
        </p:spPr>
        <p:txBody>
          <a:bodyPr wrap="square" rtlCol="0" anchor="ctr"/>
          <a:lstStyle/>
          <a:p>
            <a:pPr indent="0" marL="0">
              <a:buNone/>
            </a:pPr>
            <a:r>
              <a:rPr lang="en-US" sz="950" b="1" dirty="0">
                <a:solidFill>
                  <a:srgbClr val="D4620A"/>
                </a:solidFill>
                <a:latin typeface="Atkinson Hyperlegible" pitchFamily="34" charset="0"/>
                <a:ea typeface="Atkinson Hyperlegible" pitchFamily="34" charset="-122"/>
                <a:cs typeface="Atkinson Hyperlegible" pitchFamily="34" charset="-120"/>
              </a:rPr>
              <a:t>Consolidación</a:t>
            </a:r>
            <a:endParaRPr lang="en-US" sz="950" dirty="0"/>
          </a:p>
        </p:txBody>
      </p:sp>
      <p:sp>
        <p:nvSpPr>
          <p:cNvPr id="30" name="Text 28"/>
          <p:cNvSpPr/>
          <p:nvPr/>
        </p:nvSpPr>
        <p:spPr>
          <a:xfrm>
            <a:off x="1417320" y="3346704"/>
            <a:ext cx="7269480" cy="256032"/>
          </a:xfrm>
          <a:prstGeom prst="rect">
            <a:avLst/>
          </a:prstGeom>
          <a:noFill/>
          <a:ln/>
        </p:spPr>
        <p:txBody>
          <a:bodyPr wrap="square" rtlCol="0" anchor="ctr"/>
          <a:lstStyle/>
          <a:p>
            <a:pPr indent="0" marL="0">
              <a:buNone/>
            </a:pPr>
            <a:r>
              <a:rPr lang="en-US" sz="800" dirty="0">
                <a:solidFill>
                  <a:srgbClr val="333333"/>
                </a:solidFill>
                <a:latin typeface="Atkinson Hyperlegible" pitchFamily="34" charset="0"/>
                <a:ea typeface="Atkinson Hyperlegible" pitchFamily="34" charset="-122"/>
                <a:cs typeface="Atkinson Hyperlegible" pitchFamily="34" charset="-120"/>
              </a:rPr>
              <a:t>AWP estándar en todos los proyectos &gt;US$30M. Política corporativa aprobada por directorio</a:t>
            </a:r>
            <a:endParaRPr lang="en-US" sz="800" dirty="0"/>
          </a:p>
        </p:txBody>
      </p:sp>
      <p:sp>
        <p:nvSpPr>
          <p:cNvPr id="31" name="Shape 29"/>
          <p:cNvSpPr/>
          <p:nvPr/>
        </p:nvSpPr>
        <p:spPr>
          <a:xfrm>
            <a:off x="813816" y="3639312"/>
            <a:ext cx="18288" cy="64008"/>
          </a:xfrm>
          <a:prstGeom prst="line">
            <a:avLst/>
          </a:prstGeom>
          <a:noFill/>
          <a:ln w="15240">
            <a:solidFill>
              <a:srgbClr val="D4620A"/>
            </a:solidFill>
            <a:prstDash val="solid"/>
          </a:ln>
        </p:spPr>
      </p:sp>
      <p:sp>
        <p:nvSpPr>
          <p:cNvPr id="32" name="Shape 30"/>
          <p:cNvSpPr/>
          <p:nvPr/>
        </p:nvSpPr>
        <p:spPr>
          <a:xfrm>
            <a:off x="320040" y="3703320"/>
            <a:ext cx="8503920" cy="621792"/>
          </a:xfrm>
          <a:prstGeom prst="rect">
            <a:avLst>
              <a:gd name="adj" fmla="val 7353"/>
            </a:avLst>
          </a:prstGeom>
          <a:solidFill>
            <a:srgbClr val="FFFFFF"/>
          </a:solidFill>
          <a:ln w="12700">
            <a:solidFill>
              <a:srgbClr val="8E44AD"/>
            </a:solidFill>
            <a:prstDash val="solid"/>
          </a:ln>
        </p:spPr>
      </p:sp>
      <p:sp>
        <p:nvSpPr>
          <p:cNvPr id="33" name="Shape 31"/>
          <p:cNvSpPr/>
          <p:nvPr/>
        </p:nvSpPr>
        <p:spPr>
          <a:xfrm>
            <a:off x="320040" y="3703320"/>
            <a:ext cx="1005840" cy="621792"/>
          </a:xfrm>
          <a:prstGeom prst="rect">
            <a:avLst>
              <a:gd name="adj" fmla="val 7353"/>
            </a:avLst>
          </a:prstGeom>
          <a:solidFill>
            <a:srgbClr val="8E44AD"/>
          </a:solidFill>
          <a:ln w="12700">
            <a:solidFill>
              <a:srgbClr val="8E44AD"/>
            </a:solidFill>
            <a:prstDash val="solid"/>
          </a:ln>
        </p:spPr>
      </p:sp>
      <p:sp>
        <p:nvSpPr>
          <p:cNvPr id="34" name="Text 32"/>
          <p:cNvSpPr/>
          <p:nvPr/>
        </p:nvSpPr>
        <p:spPr>
          <a:xfrm>
            <a:off x="320040" y="3703320"/>
            <a:ext cx="1005840" cy="621792"/>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2028</a:t>
            </a:r>
            <a:endParaRPr lang="en-US" sz="850" dirty="0"/>
          </a:p>
        </p:txBody>
      </p:sp>
      <p:sp>
        <p:nvSpPr>
          <p:cNvPr id="35" name="Text 33"/>
          <p:cNvSpPr/>
          <p:nvPr/>
        </p:nvSpPr>
        <p:spPr>
          <a:xfrm>
            <a:off x="1417320" y="3758184"/>
            <a:ext cx="1645920" cy="256032"/>
          </a:xfrm>
          <a:prstGeom prst="rect">
            <a:avLst/>
          </a:prstGeom>
          <a:noFill/>
          <a:ln/>
        </p:spPr>
        <p:txBody>
          <a:bodyPr wrap="square" rtlCol="0" anchor="ctr"/>
          <a:lstStyle/>
          <a:p>
            <a:pPr indent="0" marL="0">
              <a:buNone/>
            </a:pPr>
            <a:r>
              <a:rPr lang="en-US" sz="950" b="1" dirty="0">
                <a:solidFill>
                  <a:srgbClr val="8E44AD"/>
                </a:solidFill>
                <a:latin typeface="Atkinson Hyperlegible" pitchFamily="34" charset="0"/>
                <a:ea typeface="Atkinson Hyperlegible" pitchFamily="34" charset="-122"/>
                <a:cs typeface="Atkinson Hyperlegible" pitchFamily="34" charset="-120"/>
              </a:rPr>
              <a:t>Madurez</a:t>
            </a:r>
            <a:endParaRPr lang="en-US" sz="950" dirty="0"/>
          </a:p>
        </p:txBody>
      </p:sp>
      <p:sp>
        <p:nvSpPr>
          <p:cNvPr id="36" name="Text 34"/>
          <p:cNvSpPr/>
          <p:nvPr/>
        </p:nvSpPr>
        <p:spPr>
          <a:xfrm>
            <a:off x="1417320" y="4032504"/>
            <a:ext cx="7269480" cy="256032"/>
          </a:xfrm>
          <a:prstGeom prst="rect">
            <a:avLst/>
          </a:prstGeom>
          <a:noFill/>
          <a:ln/>
        </p:spPr>
        <p:txBody>
          <a:bodyPr wrap="square" rtlCol="0" anchor="ctr"/>
          <a:lstStyle/>
          <a:p>
            <a:pPr indent="0" marL="0">
              <a:buNone/>
            </a:pPr>
            <a:r>
              <a:rPr lang="en-US" sz="800" dirty="0">
                <a:solidFill>
                  <a:srgbClr val="333333"/>
                </a:solidFill>
                <a:latin typeface="Atkinson Hyperlegible" pitchFamily="34" charset="0"/>
                <a:ea typeface="Atkinson Hyperlegible" pitchFamily="34" charset="-122"/>
                <a:cs typeface="Atkinson Hyperlegible" pitchFamily="34" charset="-120"/>
              </a:rPr>
              <a:t>CPI sistémico ≥1.04. IWP RTI Rate ≥85% en todos los proyectos. BIM integrado universalmente</a:t>
            </a:r>
            <a:endParaRPr lang="en-US" sz="800" dirty="0"/>
          </a:p>
        </p:txBody>
      </p:sp>
      <p:sp>
        <p:nvSpPr>
          <p:cNvPr id="37" name="Shape 35"/>
          <p:cNvSpPr/>
          <p:nvPr/>
        </p:nvSpPr>
        <p:spPr>
          <a:xfrm>
            <a:off x="813816" y="4325112"/>
            <a:ext cx="18288" cy="64008"/>
          </a:xfrm>
          <a:prstGeom prst="line">
            <a:avLst/>
          </a:prstGeom>
          <a:noFill/>
          <a:ln w="15240">
            <a:solidFill>
              <a:srgbClr val="8E44AD"/>
            </a:solidFill>
            <a:prstDash val="solid"/>
          </a:ln>
        </p:spPr>
      </p:sp>
      <p:sp>
        <p:nvSpPr>
          <p:cNvPr id="38" name="Shape 36"/>
          <p:cNvSpPr/>
          <p:nvPr/>
        </p:nvSpPr>
        <p:spPr>
          <a:xfrm>
            <a:off x="320040" y="4389120"/>
            <a:ext cx="8503920" cy="621792"/>
          </a:xfrm>
          <a:prstGeom prst="rect">
            <a:avLst>
              <a:gd name="adj" fmla="val 7353"/>
            </a:avLst>
          </a:prstGeom>
          <a:solidFill>
            <a:srgbClr val="F8F8FA"/>
          </a:solidFill>
          <a:ln w="12700">
            <a:solidFill>
              <a:srgbClr val="2C3E8C"/>
            </a:solidFill>
            <a:prstDash val="solid"/>
          </a:ln>
        </p:spPr>
      </p:sp>
      <p:sp>
        <p:nvSpPr>
          <p:cNvPr id="39" name="Shape 37"/>
          <p:cNvSpPr/>
          <p:nvPr/>
        </p:nvSpPr>
        <p:spPr>
          <a:xfrm>
            <a:off x="320040" y="4389120"/>
            <a:ext cx="1005840" cy="621792"/>
          </a:xfrm>
          <a:prstGeom prst="rect">
            <a:avLst>
              <a:gd name="adj" fmla="val 7353"/>
            </a:avLst>
          </a:prstGeom>
          <a:solidFill>
            <a:srgbClr val="2C3E8C"/>
          </a:solidFill>
          <a:ln w="12700">
            <a:solidFill>
              <a:srgbClr val="2C3E8C"/>
            </a:solidFill>
            <a:prstDash val="solid"/>
          </a:ln>
        </p:spPr>
      </p:sp>
      <p:sp>
        <p:nvSpPr>
          <p:cNvPr id="40" name="Text 38"/>
          <p:cNvSpPr/>
          <p:nvPr/>
        </p:nvSpPr>
        <p:spPr>
          <a:xfrm>
            <a:off x="320040" y="4389120"/>
            <a:ext cx="1005840" cy="621792"/>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2030</a:t>
            </a:r>
            <a:endParaRPr lang="en-US" sz="850" dirty="0"/>
          </a:p>
        </p:txBody>
      </p:sp>
      <p:sp>
        <p:nvSpPr>
          <p:cNvPr id="41" name="Text 39"/>
          <p:cNvSpPr/>
          <p:nvPr/>
        </p:nvSpPr>
        <p:spPr>
          <a:xfrm>
            <a:off x="1417320" y="4443984"/>
            <a:ext cx="1645920" cy="256032"/>
          </a:xfrm>
          <a:prstGeom prst="rect">
            <a:avLst/>
          </a:prstGeom>
          <a:noFill/>
          <a:ln/>
        </p:spPr>
        <p:txBody>
          <a:bodyPr wrap="square" rtlCol="0" anchor="ctr"/>
          <a:lstStyle/>
          <a:p>
            <a:pPr indent="0" marL="0">
              <a:buNone/>
            </a:pPr>
            <a:r>
              <a:rPr lang="en-US" sz="950" b="1" dirty="0">
                <a:solidFill>
                  <a:srgbClr val="2C3E8C"/>
                </a:solidFill>
                <a:latin typeface="Atkinson Hyperlegible" pitchFamily="34" charset="0"/>
                <a:ea typeface="Atkinson Hyperlegible" pitchFamily="34" charset="-122"/>
                <a:cs typeface="Atkinson Hyperlegible" pitchFamily="34" charset="-120"/>
              </a:rPr>
              <a:t>Liderazgo</a:t>
            </a:r>
            <a:endParaRPr lang="en-US" sz="950" dirty="0"/>
          </a:p>
        </p:txBody>
      </p:sp>
      <p:sp>
        <p:nvSpPr>
          <p:cNvPr id="42" name="Text 40"/>
          <p:cNvSpPr/>
          <p:nvPr/>
        </p:nvSpPr>
        <p:spPr>
          <a:xfrm>
            <a:off x="1417320" y="4718304"/>
            <a:ext cx="7269480" cy="256032"/>
          </a:xfrm>
          <a:prstGeom prst="rect">
            <a:avLst/>
          </a:prstGeom>
          <a:noFill/>
          <a:ln/>
        </p:spPr>
        <p:txBody>
          <a:bodyPr wrap="square" rtlCol="0" anchor="ctr"/>
          <a:lstStyle/>
          <a:p>
            <a:pPr indent="0" marL="0">
              <a:buNone/>
            </a:pPr>
            <a:r>
              <a:rPr lang="en-US" sz="800" dirty="0">
                <a:solidFill>
                  <a:srgbClr val="333333"/>
                </a:solidFill>
                <a:latin typeface="Atkinson Hyperlegible" pitchFamily="34" charset="0"/>
                <a:ea typeface="Atkinson Hyperlegible" pitchFamily="34" charset="-122"/>
                <a:cs typeface="Atkinson Hyperlegible" pitchFamily="34" charset="-120"/>
              </a:rPr>
              <a:t>Referente AWP en Latam. Publicación de estudio de caso CII. Mentoreo a clientes y subcontratistas</a:t>
            </a:r>
            <a:endParaRPr lang="en-US" sz="8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4E3"/>
          </a:solidFill>
          <a:ln w="12700">
            <a:solidFill>
              <a:srgbClr val="0A74E3"/>
            </a:solidFill>
            <a:prstDash val="solid"/>
          </a:ln>
        </p:spPr>
      </p:sp>
      <p:sp>
        <p:nvSpPr>
          <p:cNvPr id="3" name="Shape 1"/>
          <p:cNvSpPr/>
          <p:nvPr/>
        </p:nvSpPr>
        <p:spPr>
          <a:xfrm>
            <a:off x="164592" y="4956048"/>
            <a:ext cx="8979408" cy="182880"/>
          </a:xfrm>
          <a:prstGeom prst="rect">
            <a:avLst/>
          </a:prstGeom>
          <a:solidFill>
            <a:srgbClr val="0A74E3"/>
          </a:solidFill>
          <a:ln w="12700">
            <a:solidFill>
              <a:srgbClr val="0A74E3"/>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119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Propuesta de Valor AWP para el Cliente</a:t>
            </a:r>
            <a:endParaRPr lang="en-US" sz="1800" dirty="0"/>
          </a:p>
        </p:txBody>
      </p:sp>
      <p:sp>
        <p:nvSpPr>
          <p:cNvPr id="6" name="Shape 4"/>
          <p:cNvSpPr/>
          <p:nvPr/>
        </p:nvSpPr>
        <p:spPr>
          <a:xfrm>
            <a:off x="320040" y="621792"/>
            <a:ext cx="8503920" cy="41148"/>
          </a:xfrm>
          <a:prstGeom prst="rect">
            <a:avLst/>
          </a:prstGeom>
          <a:solidFill>
            <a:srgbClr val="0A74E3"/>
          </a:solidFill>
          <a:ln w="12700">
            <a:solidFill>
              <a:srgbClr val="0A74E3"/>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A74E3"/>
                </a:solidFill>
                <a:latin typeface="Atkinson Hyperlegible" pitchFamily="34" charset="0"/>
                <a:ea typeface="Atkinson Hyperlegible" pitchFamily="34" charset="-122"/>
                <a:cs typeface="Atkinson Hyperlegible" pitchFamily="34" charset="-120"/>
              </a:rPr>
              <a:t>Lo que Cosapi ofrece al incorporar constructabilidad avanzada en su proyecto</a:t>
            </a:r>
            <a:endParaRPr lang="en-US" sz="900" dirty="0"/>
          </a:p>
        </p:txBody>
      </p:sp>
      <p:sp>
        <p:nvSpPr>
          <p:cNvPr id="8" name="Shape 6"/>
          <p:cNvSpPr/>
          <p:nvPr/>
        </p:nvSpPr>
        <p:spPr>
          <a:xfrm>
            <a:off x="320040" y="960120"/>
            <a:ext cx="2724912" cy="1874520"/>
          </a:xfrm>
          <a:prstGeom prst="rect">
            <a:avLst>
              <a:gd name="adj" fmla="val 3415"/>
            </a:avLst>
          </a:prstGeom>
          <a:solidFill>
            <a:srgbClr val="FFFFFF"/>
          </a:solidFill>
          <a:ln w="15240">
            <a:solidFill>
              <a:srgbClr val="0A74E3"/>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9768" y="1051560"/>
            <a:ext cx="402336" cy="402336"/>
          </a:xfrm>
          <a:prstGeom prst="rect">
            <a:avLst/>
          </a:prstGeom>
        </p:spPr>
      </p:pic>
      <p:sp>
        <p:nvSpPr>
          <p:cNvPr id="10" name="Text 7"/>
          <p:cNvSpPr/>
          <p:nvPr/>
        </p:nvSpPr>
        <p:spPr>
          <a:xfrm>
            <a:off x="886968" y="1051560"/>
            <a:ext cx="2048256" cy="402336"/>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Predictibilidad de Costos</a:t>
            </a:r>
            <a:endParaRPr lang="en-US" sz="900" dirty="0"/>
          </a:p>
        </p:txBody>
      </p:sp>
      <p:sp>
        <p:nvSpPr>
          <p:cNvPr id="11" name="Text 8"/>
          <p:cNvSpPr/>
          <p:nvPr/>
        </p:nvSpPr>
        <p:spPr>
          <a:xfrm>
            <a:off x="429768" y="1527048"/>
            <a:ext cx="2505456" cy="804672"/>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CPI ≥1.00 garantizado por contrato con métricas AWP. Sin sobrecostos por falta de planificación.</a:t>
            </a:r>
            <a:endParaRPr lang="en-US" sz="800" dirty="0"/>
          </a:p>
        </p:txBody>
      </p:sp>
      <p:sp>
        <p:nvSpPr>
          <p:cNvPr id="12" name="Shape 9"/>
          <p:cNvSpPr/>
          <p:nvPr/>
        </p:nvSpPr>
        <p:spPr>
          <a:xfrm>
            <a:off x="429768" y="2386584"/>
            <a:ext cx="2505456" cy="347472"/>
          </a:xfrm>
          <a:prstGeom prst="rect">
            <a:avLst>
              <a:gd name="adj" fmla="val 13158"/>
            </a:avLst>
          </a:prstGeom>
          <a:solidFill>
            <a:srgbClr val="0A74E3"/>
          </a:solidFill>
          <a:ln w="12700">
            <a:solidFill>
              <a:srgbClr val="0A74E3"/>
            </a:solidFill>
            <a:prstDash val="solid"/>
          </a:ln>
        </p:spPr>
      </p:sp>
      <p:sp>
        <p:nvSpPr>
          <p:cNvPr id="13" name="Text 10"/>
          <p:cNvSpPr/>
          <p:nvPr/>
        </p:nvSpPr>
        <p:spPr>
          <a:xfrm>
            <a:off x="429768" y="2386584"/>
            <a:ext cx="2505456" cy="347472"/>
          </a:xfrm>
          <a:prstGeom prst="rect">
            <a:avLst/>
          </a:prstGeom>
          <a:noFill/>
          <a:ln/>
        </p:spPr>
        <p:txBody>
          <a:bodyPr wrap="square" rtlCol="0" anchor="ctr"/>
          <a:lstStyle/>
          <a:p>
            <a:pPr algn="ctr" indent="0" marL="0">
              <a:buNone/>
            </a:pPr>
            <a:r>
              <a:rPr lang="en-US" sz="850" b="1" dirty="0">
                <a:solidFill>
                  <a:srgbClr val="0A74E3"/>
                </a:solidFill>
                <a:latin typeface="Atkinson Hyperlegible" pitchFamily="34" charset="0"/>
                <a:ea typeface="Atkinson Hyperlegible" pitchFamily="34" charset="-122"/>
                <a:cs typeface="Atkinson Hyperlegible" pitchFamily="34" charset="-120"/>
              </a:rPr>
              <a:t>−8 a −15% vs benchmark</a:t>
            </a:r>
            <a:endParaRPr lang="en-US" sz="850" dirty="0"/>
          </a:p>
        </p:txBody>
      </p:sp>
      <p:sp>
        <p:nvSpPr>
          <p:cNvPr id="14" name="Shape 11"/>
          <p:cNvSpPr/>
          <p:nvPr/>
        </p:nvSpPr>
        <p:spPr>
          <a:xfrm>
            <a:off x="3209544" y="960120"/>
            <a:ext cx="2724912" cy="1874520"/>
          </a:xfrm>
          <a:prstGeom prst="rect">
            <a:avLst>
              <a:gd name="adj" fmla="val 3415"/>
            </a:avLst>
          </a:prstGeom>
          <a:solidFill>
            <a:srgbClr val="FFFFFF"/>
          </a:solidFill>
          <a:ln w="15240">
            <a:solidFill>
              <a:srgbClr val="0E9E9E"/>
            </a:solidFill>
            <a:prstDash val="solid"/>
          </a:ln>
        </p:spPr>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19272" y="1051560"/>
            <a:ext cx="402336" cy="402336"/>
          </a:xfrm>
          <a:prstGeom prst="rect">
            <a:avLst/>
          </a:prstGeom>
        </p:spPr>
      </p:pic>
      <p:sp>
        <p:nvSpPr>
          <p:cNvPr id="16" name="Text 12"/>
          <p:cNvSpPr/>
          <p:nvPr/>
        </p:nvSpPr>
        <p:spPr>
          <a:xfrm>
            <a:off x="3776472" y="1051560"/>
            <a:ext cx="2048256" cy="402336"/>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Certeza de Cronograma</a:t>
            </a:r>
            <a:endParaRPr lang="en-US" sz="900" dirty="0"/>
          </a:p>
        </p:txBody>
      </p:sp>
      <p:sp>
        <p:nvSpPr>
          <p:cNvPr id="17" name="Text 13"/>
          <p:cNvSpPr/>
          <p:nvPr/>
        </p:nvSpPr>
        <p:spPr>
          <a:xfrm>
            <a:off x="3319272" y="1527048"/>
            <a:ext cx="2505456" cy="804672"/>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SPI ≥1.00 con IWPs RTI que eliminan interrupciones por falta de frente de trabajo.</a:t>
            </a:r>
            <a:endParaRPr lang="en-US" sz="800" dirty="0"/>
          </a:p>
        </p:txBody>
      </p:sp>
      <p:sp>
        <p:nvSpPr>
          <p:cNvPr id="18" name="Shape 14"/>
          <p:cNvSpPr/>
          <p:nvPr/>
        </p:nvSpPr>
        <p:spPr>
          <a:xfrm>
            <a:off x="3319272" y="2386584"/>
            <a:ext cx="2505456" cy="347472"/>
          </a:xfrm>
          <a:prstGeom prst="rect">
            <a:avLst>
              <a:gd name="adj" fmla="val 13158"/>
            </a:avLst>
          </a:prstGeom>
          <a:solidFill>
            <a:srgbClr val="0E9E9E"/>
          </a:solidFill>
          <a:ln w="12700">
            <a:solidFill>
              <a:srgbClr val="0E9E9E"/>
            </a:solidFill>
            <a:prstDash val="solid"/>
          </a:ln>
        </p:spPr>
      </p:sp>
      <p:sp>
        <p:nvSpPr>
          <p:cNvPr id="19" name="Text 15"/>
          <p:cNvSpPr/>
          <p:nvPr/>
        </p:nvSpPr>
        <p:spPr>
          <a:xfrm>
            <a:off x="3319272" y="2386584"/>
            <a:ext cx="2505456" cy="347472"/>
          </a:xfrm>
          <a:prstGeom prst="rect">
            <a:avLst/>
          </a:prstGeom>
          <a:noFill/>
          <a:ln/>
        </p:spPr>
        <p:txBody>
          <a:bodyPr wrap="square" rtlCol="0" anchor="ctr"/>
          <a:lstStyle/>
          <a:p>
            <a:pPr algn="ctr" indent="0" marL="0">
              <a:buNone/>
            </a:pPr>
            <a:r>
              <a:rPr lang="en-US" sz="850" b="1" dirty="0">
                <a:solidFill>
                  <a:srgbClr val="0E9E9E"/>
                </a:solidFill>
                <a:latin typeface="Atkinson Hyperlegible" pitchFamily="34" charset="0"/>
                <a:ea typeface="Atkinson Hyperlegible" pitchFamily="34" charset="-122"/>
                <a:cs typeface="Atkinson Hyperlegible" pitchFamily="34" charset="-120"/>
              </a:rPr>
              <a:t>−2 a −4 meses de programa</a:t>
            </a:r>
            <a:endParaRPr lang="en-US" sz="850" dirty="0"/>
          </a:p>
        </p:txBody>
      </p:sp>
      <p:sp>
        <p:nvSpPr>
          <p:cNvPr id="20" name="Shape 16"/>
          <p:cNvSpPr/>
          <p:nvPr/>
        </p:nvSpPr>
        <p:spPr>
          <a:xfrm>
            <a:off x="6099048" y="960120"/>
            <a:ext cx="2724912" cy="1874520"/>
          </a:xfrm>
          <a:prstGeom prst="rect">
            <a:avLst>
              <a:gd name="adj" fmla="val 3415"/>
            </a:avLst>
          </a:prstGeom>
          <a:solidFill>
            <a:srgbClr val="FFFFFF"/>
          </a:solidFill>
          <a:ln w="15240">
            <a:solidFill>
              <a:srgbClr val="27AE60"/>
            </a:solidFill>
            <a:prstDash val="solid"/>
          </a:ln>
        </p:spPr>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08776" y="1051560"/>
            <a:ext cx="402336" cy="402336"/>
          </a:xfrm>
          <a:prstGeom prst="rect">
            <a:avLst/>
          </a:prstGeom>
        </p:spPr>
      </p:pic>
      <p:sp>
        <p:nvSpPr>
          <p:cNvPr id="22" name="Text 17"/>
          <p:cNvSpPr/>
          <p:nvPr/>
        </p:nvSpPr>
        <p:spPr>
          <a:xfrm>
            <a:off x="6665976" y="1051560"/>
            <a:ext cx="2048256" cy="402336"/>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Calidad sin Retrabajo</a:t>
            </a:r>
            <a:endParaRPr lang="en-US" sz="900" dirty="0"/>
          </a:p>
        </p:txBody>
      </p:sp>
      <p:sp>
        <p:nvSpPr>
          <p:cNvPr id="23" name="Text 18"/>
          <p:cNvSpPr/>
          <p:nvPr/>
        </p:nvSpPr>
        <p:spPr>
          <a:xfrm>
            <a:off x="6208776" y="1527048"/>
            <a:ext cx="2505456" cy="804672"/>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IWPs con criterios QC integrados y RTI checks: menos del 2% retrabajo medido.</a:t>
            </a:r>
            <a:endParaRPr lang="en-US" sz="800" dirty="0"/>
          </a:p>
        </p:txBody>
      </p:sp>
      <p:sp>
        <p:nvSpPr>
          <p:cNvPr id="24" name="Shape 19"/>
          <p:cNvSpPr/>
          <p:nvPr/>
        </p:nvSpPr>
        <p:spPr>
          <a:xfrm>
            <a:off x="6208776" y="2386584"/>
            <a:ext cx="2505456" cy="347472"/>
          </a:xfrm>
          <a:prstGeom prst="rect">
            <a:avLst>
              <a:gd name="adj" fmla="val 13158"/>
            </a:avLst>
          </a:prstGeom>
          <a:solidFill>
            <a:srgbClr val="27AE60"/>
          </a:solidFill>
          <a:ln w="12700">
            <a:solidFill>
              <a:srgbClr val="27AE60"/>
            </a:solidFill>
            <a:prstDash val="solid"/>
          </a:ln>
        </p:spPr>
      </p:sp>
      <p:sp>
        <p:nvSpPr>
          <p:cNvPr id="25" name="Text 20"/>
          <p:cNvSpPr/>
          <p:nvPr/>
        </p:nvSpPr>
        <p:spPr>
          <a:xfrm>
            <a:off x="6208776" y="2386584"/>
            <a:ext cx="2505456" cy="347472"/>
          </a:xfrm>
          <a:prstGeom prst="rect">
            <a:avLst/>
          </a:prstGeom>
          <a:noFill/>
          <a:ln/>
        </p:spPr>
        <p:txBody>
          <a:bodyPr wrap="square" rtlCol="0" anchor="ctr"/>
          <a:lstStyle/>
          <a:p>
            <a:pPr algn="ctr" indent="0" marL="0">
              <a:buNone/>
            </a:pPr>
            <a:r>
              <a:rPr lang="en-US" sz="850" b="1" dirty="0">
                <a:solidFill>
                  <a:srgbClr val="27AE60"/>
                </a:solidFill>
                <a:latin typeface="Atkinson Hyperlegible" pitchFamily="34" charset="0"/>
                <a:ea typeface="Atkinson Hyperlegible" pitchFamily="34" charset="-122"/>
                <a:cs typeface="Atkinson Hyperlegible" pitchFamily="34" charset="-120"/>
              </a:rPr>
              <a:t>−65% punch items</a:t>
            </a:r>
            <a:endParaRPr lang="en-US" sz="850" dirty="0"/>
          </a:p>
        </p:txBody>
      </p:sp>
      <p:sp>
        <p:nvSpPr>
          <p:cNvPr id="26" name="Shape 21"/>
          <p:cNvSpPr/>
          <p:nvPr/>
        </p:nvSpPr>
        <p:spPr>
          <a:xfrm>
            <a:off x="320040" y="2953512"/>
            <a:ext cx="2724912" cy="1874520"/>
          </a:xfrm>
          <a:prstGeom prst="rect">
            <a:avLst>
              <a:gd name="adj" fmla="val 3415"/>
            </a:avLst>
          </a:prstGeom>
          <a:solidFill>
            <a:srgbClr val="FFFFFF"/>
          </a:solidFill>
          <a:ln w="15240">
            <a:solidFill>
              <a:srgbClr val="D4620A"/>
            </a:solidFill>
            <a:prstDash val="solid"/>
          </a:ln>
        </p:spPr>
      </p:sp>
      <p:pic>
        <p:nvPicPr>
          <p:cNvPr id="2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9768" y="3044952"/>
            <a:ext cx="402336" cy="402336"/>
          </a:xfrm>
          <a:prstGeom prst="rect">
            <a:avLst/>
          </a:prstGeom>
        </p:spPr>
      </p:pic>
      <p:sp>
        <p:nvSpPr>
          <p:cNvPr id="28" name="Text 22"/>
          <p:cNvSpPr/>
          <p:nvPr/>
        </p:nvSpPr>
        <p:spPr>
          <a:xfrm>
            <a:off x="886968" y="3044952"/>
            <a:ext cx="2048256" cy="402336"/>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Seguridad Proactiva</a:t>
            </a:r>
            <a:endParaRPr lang="en-US" sz="900" dirty="0"/>
          </a:p>
        </p:txBody>
      </p:sp>
      <p:sp>
        <p:nvSpPr>
          <p:cNvPr id="29" name="Text 23"/>
          <p:cNvSpPr/>
          <p:nvPr/>
        </p:nvSpPr>
        <p:spPr>
          <a:xfrm>
            <a:off x="429768" y="3520440"/>
            <a:ext cx="2505456" cy="804672"/>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Safety by Design en cada IWP. TRIR 50% menor que promedio de industria en Latam.</a:t>
            </a:r>
            <a:endParaRPr lang="en-US" sz="800" dirty="0"/>
          </a:p>
        </p:txBody>
      </p:sp>
      <p:sp>
        <p:nvSpPr>
          <p:cNvPr id="30" name="Shape 24"/>
          <p:cNvSpPr/>
          <p:nvPr/>
        </p:nvSpPr>
        <p:spPr>
          <a:xfrm>
            <a:off x="429768" y="4379976"/>
            <a:ext cx="2505456" cy="347472"/>
          </a:xfrm>
          <a:prstGeom prst="rect">
            <a:avLst>
              <a:gd name="adj" fmla="val 13158"/>
            </a:avLst>
          </a:prstGeom>
          <a:solidFill>
            <a:srgbClr val="D4620A"/>
          </a:solidFill>
          <a:ln w="12700">
            <a:solidFill>
              <a:srgbClr val="D4620A"/>
            </a:solidFill>
            <a:prstDash val="solid"/>
          </a:ln>
        </p:spPr>
      </p:sp>
      <p:sp>
        <p:nvSpPr>
          <p:cNvPr id="31" name="Text 25"/>
          <p:cNvSpPr/>
          <p:nvPr/>
        </p:nvSpPr>
        <p:spPr>
          <a:xfrm>
            <a:off x="429768" y="4379976"/>
            <a:ext cx="2505456" cy="347472"/>
          </a:xfrm>
          <a:prstGeom prst="rect">
            <a:avLst/>
          </a:prstGeom>
          <a:noFill/>
          <a:ln/>
        </p:spPr>
        <p:txBody>
          <a:bodyPr wrap="square" rtlCol="0" anchor="ctr"/>
          <a:lstStyle/>
          <a:p>
            <a:pPr algn="ctr" indent="0" marL="0">
              <a:buNone/>
            </a:pPr>
            <a:r>
              <a:rPr lang="en-US" sz="850" b="1" dirty="0">
                <a:solidFill>
                  <a:srgbClr val="D4620A"/>
                </a:solidFill>
                <a:latin typeface="Atkinson Hyperlegible" pitchFamily="34" charset="0"/>
                <a:ea typeface="Atkinson Hyperlegible" pitchFamily="34" charset="-122"/>
                <a:cs typeface="Atkinson Hyperlegible" pitchFamily="34" charset="-120"/>
              </a:rPr>
              <a:t>TRIR &lt;1.0 objetivo</a:t>
            </a:r>
            <a:endParaRPr lang="en-US" sz="850" dirty="0"/>
          </a:p>
        </p:txBody>
      </p:sp>
      <p:sp>
        <p:nvSpPr>
          <p:cNvPr id="32" name="Shape 26"/>
          <p:cNvSpPr/>
          <p:nvPr/>
        </p:nvSpPr>
        <p:spPr>
          <a:xfrm>
            <a:off x="3209544" y="2953512"/>
            <a:ext cx="2724912" cy="1874520"/>
          </a:xfrm>
          <a:prstGeom prst="rect">
            <a:avLst>
              <a:gd name="adj" fmla="val 3415"/>
            </a:avLst>
          </a:prstGeom>
          <a:solidFill>
            <a:srgbClr val="FFFFFF"/>
          </a:solidFill>
          <a:ln w="15240">
            <a:solidFill>
              <a:srgbClr val="8E44AD"/>
            </a:solidFill>
            <a:prstDash val="solid"/>
          </a:ln>
        </p:spPr>
      </p:sp>
      <p:pic>
        <p:nvPicPr>
          <p:cNvPr id="3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19272" y="3044952"/>
            <a:ext cx="402336" cy="402336"/>
          </a:xfrm>
          <a:prstGeom prst="rect">
            <a:avLst/>
          </a:prstGeom>
        </p:spPr>
      </p:pic>
      <p:sp>
        <p:nvSpPr>
          <p:cNvPr id="34" name="Text 27"/>
          <p:cNvSpPr/>
          <p:nvPr/>
        </p:nvSpPr>
        <p:spPr>
          <a:xfrm>
            <a:off x="3776472" y="3044952"/>
            <a:ext cx="2048256" cy="402336"/>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Transparencia Total</a:t>
            </a:r>
            <a:endParaRPr lang="en-US" sz="900" dirty="0"/>
          </a:p>
        </p:txBody>
      </p:sp>
      <p:sp>
        <p:nvSpPr>
          <p:cNvPr id="35" name="Text 28"/>
          <p:cNvSpPr/>
          <p:nvPr/>
        </p:nvSpPr>
        <p:spPr>
          <a:xfrm>
            <a:off x="3319272" y="3520440"/>
            <a:ext cx="2505456" cy="804672"/>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Dashboard en tiempo real: CPI, SPI, IWP status, avance físico y proyección de EAC.</a:t>
            </a:r>
            <a:endParaRPr lang="en-US" sz="800" dirty="0"/>
          </a:p>
        </p:txBody>
      </p:sp>
      <p:sp>
        <p:nvSpPr>
          <p:cNvPr id="36" name="Shape 29"/>
          <p:cNvSpPr/>
          <p:nvPr/>
        </p:nvSpPr>
        <p:spPr>
          <a:xfrm>
            <a:off x="3319272" y="4379976"/>
            <a:ext cx="2505456" cy="347472"/>
          </a:xfrm>
          <a:prstGeom prst="rect">
            <a:avLst>
              <a:gd name="adj" fmla="val 13158"/>
            </a:avLst>
          </a:prstGeom>
          <a:solidFill>
            <a:srgbClr val="8E44AD"/>
          </a:solidFill>
          <a:ln w="12700">
            <a:solidFill>
              <a:srgbClr val="8E44AD"/>
            </a:solidFill>
            <a:prstDash val="solid"/>
          </a:ln>
        </p:spPr>
      </p:sp>
      <p:sp>
        <p:nvSpPr>
          <p:cNvPr id="37" name="Text 30"/>
          <p:cNvSpPr/>
          <p:nvPr/>
        </p:nvSpPr>
        <p:spPr>
          <a:xfrm>
            <a:off x="3319272" y="4379976"/>
            <a:ext cx="2505456" cy="347472"/>
          </a:xfrm>
          <a:prstGeom prst="rect">
            <a:avLst/>
          </a:prstGeom>
          <a:noFill/>
          <a:ln/>
        </p:spPr>
        <p:txBody>
          <a:bodyPr wrap="square" rtlCol="0" anchor="ctr"/>
          <a:lstStyle/>
          <a:p>
            <a:pPr algn="ctr" indent="0" marL="0">
              <a:buNone/>
            </a:pPr>
            <a:r>
              <a:rPr lang="en-US" sz="850" b="1" dirty="0">
                <a:solidFill>
                  <a:srgbClr val="8E44AD"/>
                </a:solidFill>
                <a:latin typeface="Atkinson Hyperlegible" pitchFamily="34" charset="0"/>
                <a:ea typeface="Atkinson Hyperlegible" pitchFamily="34" charset="-122"/>
                <a:cs typeface="Atkinson Hyperlegible" pitchFamily="34" charset="-120"/>
              </a:rPr>
              <a:t>Reportes 24/7 online</a:t>
            </a:r>
            <a:endParaRPr lang="en-US" sz="850" dirty="0"/>
          </a:p>
        </p:txBody>
      </p:sp>
      <p:sp>
        <p:nvSpPr>
          <p:cNvPr id="38" name="Shape 31"/>
          <p:cNvSpPr/>
          <p:nvPr/>
        </p:nvSpPr>
        <p:spPr>
          <a:xfrm>
            <a:off x="6099048" y="2953512"/>
            <a:ext cx="2724912" cy="1874520"/>
          </a:xfrm>
          <a:prstGeom prst="rect">
            <a:avLst>
              <a:gd name="adj" fmla="val 3415"/>
            </a:avLst>
          </a:prstGeom>
          <a:solidFill>
            <a:srgbClr val="FFFFFF"/>
          </a:solidFill>
          <a:ln w="15240">
            <a:solidFill>
              <a:srgbClr val="2C3E8C"/>
            </a:solidFill>
            <a:prstDash val="solid"/>
          </a:ln>
        </p:spPr>
      </p:sp>
      <p:pic>
        <p:nvPicPr>
          <p:cNvPr id="3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08776" y="3044952"/>
            <a:ext cx="402336" cy="402336"/>
          </a:xfrm>
          <a:prstGeom prst="rect">
            <a:avLst/>
          </a:prstGeom>
        </p:spPr>
      </p:pic>
      <p:sp>
        <p:nvSpPr>
          <p:cNvPr id="40" name="Text 32"/>
          <p:cNvSpPr/>
          <p:nvPr/>
        </p:nvSpPr>
        <p:spPr>
          <a:xfrm>
            <a:off x="6665976" y="3044952"/>
            <a:ext cx="2048256" cy="402336"/>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Sostenibilidad</a:t>
            </a:r>
            <a:endParaRPr lang="en-US" sz="900" dirty="0"/>
          </a:p>
        </p:txBody>
      </p:sp>
      <p:sp>
        <p:nvSpPr>
          <p:cNvPr id="41" name="Text 33"/>
          <p:cNvSpPr/>
          <p:nvPr/>
        </p:nvSpPr>
        <p:spPr>
          <a:xfrm>
            <a:off x="6208776" y="3520440"/>
            <a:ext cx="2505456" cy="804672"/>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Menos retrabajo = menor huella de carbono. Prefabricación integrada en plan AWP.</a:t>
            </a:r>
            <a:endParaRPr lang="en-US" sz="800" dirty="0"/>
          </a:p>
        </p:txBody>
      </p:sp>
      <p:sp>
        <p:nvSpPr>
          <p:cNvPr id="42" name="Shape 34"/>
          <p:cNvSpPr/>
          <p:nvPr/>
        </p:nvSpPr>
        <p:spPr>
          <a:xfrm>
            <a:off x="6208776" y="4379976"/>
            <a:ext cx="2505456" cy="347472"/>
          </a:xfrm>
          <a:prstGeom prst="rect">
            <a:avLst>
              <a:gd name="adj" fmla="val 13158"/>
            </a:avLst>
          </a:prstGeom>
          <a:solidFill>
            <a:srgbClr val="2C3E8C"/>
          </a:solidFill>
          <a:ln w="12700">
            <a:solidFill>
              <a:srgbClr val="2C3E8C"/>
            </a:solidFill>
            <a:prstDash val="solid"/>
          </a:ln>
        </p:spPr>
      </p:sp>
      <p:sp>
        <p:nvSpPr>
          <p:cNvPr id="43" name="Text 35"/>
          <p:cNvSpPr/>
          <p:nvPr/>
        </p:nvSpPr>
        <p:spPr>
          <a:xfrm>
            <a:off x="6208776" y="4379976"/>
            <a:ext cx="2505456" cy="347472"/>
          </a:xfrm>
          <a:prstGeom prst="rect">
            <a:avLst/>
          </a:prstGeom>
          <a:noFill/>
          <a:ln/>
        </p:spPr>
        <p:txBody>
          <a:bodyPr wrap="square" rtlCol="0" anchor="ctr"/>
          <a:lstStyle/>
          <a:p>
            <a:pPr algn="ctr" indent="0" marL="0">
              <a:buNone/>
            </a:pPr>
            <a:r>
              <a:rPr lang="en-US" sz="850" b="1" dirty="0">
                <a:solidFill>
                  <a:srgbClr val="2C3E8C"/>
                </a:solidFill>
                <a:latin typeface="Atkinson Hyperlegible" pitchFamily="34" charset="0"/>
                <a:ea typeface="Atkinson Hyperlegible" pitchFamily="34" charset="-122"/>
                <a:cs typeface="Atkinson Hyperlegible" pitchFamily="34" charset="-120"/>
              </a:rPr>
              <a:t>CO₂ embebido −22%</a:t>
            </a:r>
            <a:endParaRPr lang="en-US" sz="8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E9E"/>
          </a:solidFill>
          <a:ln w="12700">
            <a:solidFill>
              <a:srgbClr val="0E9E9E"/>
            </a:solidFill>
            <a:prstDash val="solid"/>
          </a:ln>
        </p:spPr>
      </p:sp>
      <p:sp>
        <p:nvSpPr>
          <p:cNvPr id="3" name="Shape 1"/>
          <p:cNvSpPr/>
          <p:nvPr/>
        </p:nvSpPr>
        <p:spPr>
          <a:xfrm>
            <a:off x="164592" y="4956048"/>
            <a:ext cx="8979408" cy="182880"/>
          </a:xfrm>
          <a:prstGeom prst="rect">
            <a:avLst/>
          </a:prstGeom>
          <a:solidFill>
            <a:srgbClr val="0E9E9E"/>
          </a:solidFill>
          <a:ln w="12700">
            <a:solidFill>
              <a:srgbClr val="0E9E9E"/>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120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Taller Intensivo de Constructabilidad — 3 Días</a:t>
            </a:r>
            <a:endParaRPr lang="en-US" sz="1800" dirty="0"/>
          </a:p>
        </p:txBody>
      </p:sp>
      <p:sp>
        <p:nvSpPr>
          <p:cNvPr id="6" name="Shape 4"/>
          <p:cNvSpPr/>
          <p:nvPr/>
        </p:nvSpPr>
        <p:spPr>
          <a:xfrm>
            <a:off x="320040" y="621792"/>
            <a:ext cx="8503920" cy="41148"/>
          </a:xfrm>
          <a:prstGeom prst="rect">
            <a:avLst/>
          </a:prstGeom>
          <a:solidFill>
            <a:srgbClr val="0E9E9E"/>
          </a:solidFill>
          <a:ln w="12700">
            <a:solidFill>
              <a:srgbClr val="0E9E9E"/>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E9E9E"/>
                </a:solidFill>
                <a:latin typeface="Atkinson Hyperlegible" pitchFamily="34" charset="0"/>
                <a:ea typeface="Atkinson Hyperlegible" pitchFamily="34" charset="-122"/>
                <a:cs typeface="Atkinson Hyperlegible" pitchFamily="34" charset="-120"/>
              </a:rPr>
              <a:t>Programa de capacitación práctica para equipos de proyectos de capital</a:t>
            </a:r>
            <a:endParaRPr lang="en-US" sz="900" dirty="0"/>
          </a:p>
        </p:txBody>
      </p:sp>
      <p:sp>
        <p:nvSpPr>
          <p:cNvPr id="8" name="Shape 6"/>
          <p:cNvSpPr/>
          <p:nvPr/>
        </p:nvSpPr>
        <p:spPr>
          <a:xfrm>
            <a:off x="320040" y="987552"/>
            <a:ext cx="2724912" cy="3840480"/>
          </a:xfrm>
          <a:prstGeom prst="rect">
            <a:avLst>
              <a:gd name="adj" fmla="val 2349"/>
            </a:avLst>
          </a:prstGeom>
          <a:solidFill>
            <a:srgbClr val="FFFFFF"/>
          </a:solidFill>
          <a:ln w="15240">
            <a:solidFill>
              <a:srgbClr val="0A74E3"/>
            </a:solidFill>
            <a:prstDash val="solid"/>
          </a:ln>
        </p:spPr>
      </p:sp>
      <p:sp>
        <p:nvSpPr>
          <p:cNvPr id="9" name="Shape 7"/>
          <p:cNvSpPr/>
          <p:nvPr/>
        </p:nvSpPr>
        <p:spPr>
          <a:xfrm>
            <a:off x="320040" y="987552"/>
            <a:ext cx="2724912" cy="530352"/>
          </a:xfrm>
          <a:prstGeom prst="rect">
            <a:avLst>
              <a:gd name="adj" fmla="val 12069"/>
            </a:avLst>
          </a:prstGeom>
          <a:solidFill>
            <a:srgbClr val="0A74E3"/>
          </a:solidFill>
          <a:ln w="12700">
            <a:solidFill>
              <a:srgbClr val="0A74E3"/>
            </a:solidFill>
            <a:prstDash val="solid"/>
          </a:ln>
        </p:spPr>
      </p:sp>
      <p:sp>
        <p:nvSpPr>
          <p:cNvPr id="10" name="Text 8"/>
          <p:cNvSpPr/>
          <p:nvPr/>
        </p:nvSpPr>
        <p:spPr>
          <a:xfrm>
            <a:off x="411480" y="1024128"/>
            <a:ext cx="2542032" cy="237744"/>
          </a:xfrm>
          <a:prstGeom prst="rect">
            <a:avLst/>
          </a:prstGeom>
          <a:noFill/>
          <a:ln/>
        </p:spPr>
        <p:txBody>
          <a:bodyPr wrap="square"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Día 1</a:t>
            </a:r>
            <a:endParaRPr lang="en-US" sz="1100" dirty="0"/>
          </a:p>
        </p:txBody>
      </p:sp>
      <p:sp>
        <p:nvSpPr>
          <p:cNvPr id="11" name="Text 9"/>
          <p:cNvSpPr/>
          <p:nvPr/>
        </p:nvSpPr>
        <p:spPr>
          <a:xfrm>
            <a:off x="411480" y="1261872"/>
            <a:ext cx="2542032" cy="219456"/>
          </a:xfrm>
          <a:prstGeom prst="rect">
            <a:avLst/>
          </a:prstGeom>
          <a:noFill/>
          <a:ln/>
        </p:spPr>
        <p:txBody>
          <a:bodyPr wrap="square" rtlCol="0" anchor="ctr"/>
          <a:lstStyle/>
          <a:p>
            <a:pPr indent="0" marL="0">
              <a:buNone/>
            </a:pPr>
            <a:r>
              <a:rPr lang="en-US" sz="800" i="1" dirty="0">
                <a:solidFill>
                  <a:srgbClr val="FFFFFF"/>
                </a:solidFill>
                <a:latin typeface="Atkinson Hyperlegible" pitchFamily="34" charset="0"/>
                <a:ea typeface="Atkinson Hyperlegible" pitchFamily="34" charset="-122"/>
                <a:cs typeface="Atkinson Hyperlegible" pitchFamily="34" charset="-120"/>
              </a:rPr>
              <a:t>Fundamentos y Marco Teórico</a:t>
            </a:r>
            <a:endParaRPr lang="en-US" sz="800" dirty="0"/>
          </a:p>
        </p:txBody>
      </p:sp>
      <p:sp>
        <p:nvSpPr>
          <p:cNvPr id="12" name="Shape 10"/>
          <p:cNvSpPr/>
          <p:nvPr/>
        </p:nvSpPr>
        <p:spPr>
          <a:xfrm>
            <a:off x="411480" y="1609344"/>
            <a:ext cx="2542032" cy="566928"/>
          </a:xfrm>
          <a:prstGeom prst="rect">
            <a:avLst>
              <a:gd name="adj" fmla="val 6452"/>
            </a:avLst>
          </a:prstGeom>
          <a:solidFill>
            <a:srgbClr val="F8F8FF"/>
          </a:solidFill>
          <a:ln w="6350">
            <a:solidFill>
              <a:srgbClr val="E5E5EA"/>
            </a:solidFill>
            <a:prstDash val="solid"/>
          </a:ln>
        </p:spPr>
      </p:sp>
      <p:sp>
        <p:nvSpPr>
          <p:cNvPr id="13" name="Text 11"/>
          <p:cNvSpPr/>
          <p:nvPr/>
        </p:nvSpPr>
        <p:spPr>
          <a:xfrm>
            <a:off x="457200" y="1645920"/>
            <a:ext cx="1005840" cy="237744"/>
          </a:xfrm>
          <a:prstGeom prst="rect">
            <a:avLst/>
          </a:prstGeom>
          <a:noFill/>
          <a:ln/>
        </p:spPr>
        <p:txBody>
          <a:bodyPr wrap="square" rtlCol="0" anchor="ctr"/>
          <a:lstStyle/>
          <a:p>
            <a:pPr indent="0" marL="0">
              <a:buNone/>
            </a:pPr>
            <a:r>
              <a:rPr lang="en-US" sz="700" b="1" dirty="0">
                <a:solidFill>
                  <a:srgbClr val="0A74E3"/>
                </a:solidFill>
                <a:latin typeface="Atkinson Hyperlegible" pitchFamily="34" charset="0"/>
                <a:ea typeface="Atkinson Hyperlegible" pitchFamily="34" charset="-122"/>
                <a:cs typeface="Atkinson Hyperlegible" pitchFamily="34" charset="-120"/>
              </a:rPr>
              <a:t>08:00-09:30</a:t>
            </a:r>
            <a:endParaRPr lang="en-US" sz="700" dirty="0"/>
          </a:p>
        </p:txBody>
      </p:sp>
      <p:sp>
        <p:nvSpPr>
          <p:cNvPr id="14" name="Text 12"/>
          <p:cNvSpPr/>
          <p:nvPr/>
        </p:nvSpPr>
        <p:spPr>
          <a:xfrm>
            <a:off x="457200" y="1883664"/>
            <a:ext cx="2404872" cy="25603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Qué es constructabilidad: evolución, CII, AWP</a:t>
            </a:r>
            <a:endParaRPr lang="en-US" sz="750" dirty="0"/>
          </a:p>
        </p:txBody>
      </p:sp>
      <p:sp>
        <p:nvSpPr>
          <p:cNvPr id="15" name="Shape 13"/>
          <p:cNvSpPr/>
          <p:nvPr/>
        </p:nvSpPr>
        <p:spPr>
          <a:xfrm>
            <a:off x="411480" y="2249424"/>
            <a:ext cx="2542032" cy="566928"/>
          </a:xfrm>
          <a:prstGeom prst="rect">
            <a:avLst>
              <a:gd name="adj" fmla="val 6452"/>
            </a:avLst>
          </a:prstGeom>
          <a:solidFill>
            <a:srgbClr val="FFFFFF"/>
          </a:solidFill>
          <a:ln w="6350">
            <a:solidFill>
              <a:srgbClr val="E5E5EA"/>
            </a:solidFill>
            <a:prstDash val="solid"/>
          </a:ln>
        </p:spPr>
      </p:sp>
      <p:sp>
        <p:nvSpPr>
          <p:cNvPr id="16" name="Text 14"/>
          <p:cNvSpPr/>
          <p:nvPr/>
        </p:nvSpPr>
        <p:spPr>
          <a:xfrm>
            <a:off x="457200" y="2286000"/>
            <a:ext cx="1005840" cy="237744"/>
          </a:xfrm>
          <a:prstGeom prst="rect">
            <a:avLst/>
          </a:prstGeom>
          <a:noFill/>
          <a:ln/>
        </p:spPr>
        <p:txBody>
          <a:bodyPr wrap="square" rtlCol="0" anchor="ctr"/>
          <a:lstStyle/>
          <a:p>
            <a:pPr indent="0" marL="0">
              <a:buNone/>
            </a:pPr>
            <a:r>
              <a:rPr lang="en-US" sz="700" b="1" dirty="0">
                <a:solidFill>
                  <a:srgbClr val="0A74E3"/>
                </a:solidFill>
                <a:latin typeface="Atkinson Hyperlegible" pitchFamily="34" charset="0"/>
                <a:ea typeface="Atkinson Hyperlegible" pitchFamily="34" charset="-122"/>
                <a:cs typeface="Atkinson Hyperlegible" pitchFamily="34" charset="-120"/>
              </a:rPr>
              <a:t>09:30-11:00</a:t>
            </a:r>
            <a:endParaRPr lang="en-US" sz="700" dirty="0"/>
          </a:p>
        </p:txBody>
      </p:sp>
      <p:sp>
        <p:nvSpPr>
          <p:cNvPr id="17" name="Text 15"/>
          <p:cNvSpPr/>
          <p:nvPr/>
        </p:nvSpPr>
        <p:spPr>
          <a:xfrm>
            <a:off x="457200" y="2523744"/>
            <a:ext cx="2404872" cy="25603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Beneficios cuantificados: CPI, SPI, retrabajo</a:t>
            </a:r>
            <a:endParaRPr lang="en-US" sz="750" dirty="0"/>
          </a:p>
        </p:txBody>
      </p:sp>
      <p:sp>
        <p:nvSpPr>
          <p:cNvPr id="18" name="Shape 16"/>
          <p:cNvSpPr/>
          <p:nvPr/>
        </p:nvSpPr>
        <p:spPr>
          <a:xfrm>
            <a:off x="411480" y="2889504"/>
            <a:ext cx="2542032" cy="566928"/>
          </a:xfrm>
          <a:prstGeom prst="rect">
            <a:avLst>
              <a:gd name="adj" fmla="val 6452"/>
            </a:avLst>
          </a:prstGeom>
          <a:solidFill>
            <a:srgbClr val="F8F8FF"/>
          </a:solidFill>
          <a:ln w="6350">
            <a:solidFill>
              <a:srgbClr val="E5E5EA"/>
            </a:solidFill>
            <a:prstDash val="solid"/>
          </a:ln>
        </p:spPr>
      </p:sp>
      <p:sp>
        <p:nvSpPr>
          <p:cNvPr id="19" name="Text 17"/>
          <p:cNvSpPr/>
          <p:nvPr/>
        </p:nvSpPr>
        <p:spPr>
          <a:xfrm>
            <a:off x="457200" y="2926080"/>
            <a:ext cx="1005840" cy="237744"/>
          </a:xfrm>
          <a:prstGeom prst="rect">
            <a:avLst/>
          </a:prstGeom>
          <a:noFill/>
          <a:ln/>
        </p:spPr>
        <p:txBody>
          <a:bodyPr wrap="square" rtlCol="0" anchor="ctr"/>
          <a:lstStyle/>
          <a:p>
            <a:pPr indent="0" marL="0">
              <a:buNone/>
            </a:pPr>
            <a:r>
              <a:rPr lang="en-US" sz="700" b="1" dirty="0">
                <a:solidFill>
                  <a:srgbClr val="0A74E3"/>
                </a:solidFill>
                <a:latin typeface="Atkinson Hyperlegible" pitchFamily="34" charset="0"/>
                <a:ea typeface="Atkinson Hyperlegible" pitchFamily="34" charset="-122"/>
                <a:cs typeface="Atkinson Hyperlegible" pitchFamily="34" charset="-120"/>
              </a:rPr>
              <a:t>11:00-12:30</a:t>
            </a:r>
            <a:endParaRPr lang="en-US" sz="700" dirty="0"/>
          </a:p>
        </p:txBody>
      </p:sp>
      <p:sp>
        <p:nvSpPr>
          <p:cNvPr id="20" name="Text 18"/>
          <p:cNvSpPr/>
          <p:nvPr/>
        </p:nvSpPr>
        <p:spPr>
          <a:xfrm>
            <a:off x="457200" y="3163824"/>
            <a:ext cx="2404872" cy="25603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IWP, CWP, EWP, POC: anatomía del sistema</a:t>
            </a:r>
            <a:endParaRPr lang="en-US" sz="750" dirty="0"/>
          </a:p>
        </p:txBody>
      </p:sp>
      <p:sp>
        <p:nvSpPr>
          <p:cNvPr id="21" name="Shape 19"/>
          <p:cNvSpPr/>
          <p:nvPr/>
        </p:nvSpPr>
        <p:spPr>
          <a:xfrm>
            <a:off x="411480" y="3529584"/>
            <a:ext cx="2542032" cy="566928"/>
          </a:xfrm>
          <a:prstGeom prst="rect">
            <a:avLst>
              <a:gd name="adj" fmla="val 6452"/>
            </a:avLst>
          </a:prstGeom>
          <a:solidFill>
            <a:srgbClr val="FFFFFF"/>
          </a:solidFill>
          <a:ln w="6350">
            <a:solidFill>
              <a:srgbClr val="E5E5EA"/>
            </a:solidFill>
            <a:prstDash val="solid"/>
          </a:ln>
        </p:spPr>
      </p:sp>
      <p:sp>
        <p:nvSpPr>
          <p:cNvPr id="22" name="Text 20"/>
          <p:cNvSpPr/>
          <p:nvPr/>
        </p:nvSpPr>
        <p:spPr>
          <a:xfrm>
            <a:off x="457200" y="3566160"/>
            <a:ext cx="1005840" cy="237744"/>
          </a:xfrm>
          <a:prstGeom prst="rect">
            <a:avLst/>
          </a:prstGeom>
          <a:noFill/>
          <a:ln/>
        </p:spPr>
        <p:txBody>
          <a:bodyPr wrap="square" rtlCol="0" anchor="ctr"/>
          <a:lstStyle/>
          <a:p>
            <a:pPr indent="0" marL="0">
              <a:buNone/>
            </a:pPr>
            <a:r>
              <a:rPr lang="en-US" sz="700" b="1" dirty="0">
                <a:solidFill>
                  <a:srgbClr val="0A74E3"/>
                </a:solidFill>
                <a:latin typeface="Atkinson Hyperlegible" pitchFamily="34" charset="0"/>
                <a:ea typeface="Atkinson Hyperlegible" pitchFamily="34" charset="-122"/>
                <a:cs typeface="Atkinson Hyperlegible" pitchFamily="34" charset="-120"/>
              </a:rPr>
              <a:t>14:00-16:00</a:t>
            </a:r>
            <a:endParaRPr lang="en-US" sz="700" dirty="0"/>
          </a:p>
        </p:txBody>
      </p:sp>
      <p:sp>
        <p:nvSpPr>
          <p:cNvPr id="23" name="Text 21"/>
          <p:cNvSpPr/>
          <p:nvPr/>
        </p:nvSpPr>
        <p:spPr>
          <a:xfrm>
            <a:off x="457200" y="3803904"/>
            <a:ext cx="2404872" cy="25603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Taller: mapear primer POC de proyecto piloto</a:t>
            </a:r>
            <a:endParaRPr lang="en-US" sz="750" dirty="0"/>
          </a:p>
        </p:txBody>
      </p:sp>
      <p:sp>
        <p:nvSpPr>
          <p:cNvPr id="24" name="Shape 22"/>
          <p:cNvSpPr/>
          <p:nvPr/>
        </p:nvSpPr>
        <p:spPr>
          <a:xfrm>
            <a:off x="411480" y="4169664"/>
            <a:ext cx="2542032" cy="566928"/>
          </a:xfrm>
          <a:prstGeom prst="rect">
            <a:avLst>
              <a:gd name="adj" fmla="val 6452"/>
            </a:avLst>
          </a:prstGeom>
          <a:solidFill>
            <a:srgbClr val="F8F8FF"/>
          </a:solidFill>
          <a:ln w="6350">
            <a:solidFill>
              <a:srgbClr val="E5E5EA"/>
            </a:solidFill>
            <a:prstDash val="solid"/>
          </a:ln>
        </p:spPr>
      </p:sp>
      <p:sp>
        <p:nvSpPr>
          <p:cNvPr id="25" name="Text 23"/>
          <p:cNvSpPr/>
          <p:nvPr/>
        </p:nvSpPr>
        <p:spPr>
          <a:xfrm>
            <a:off x="457200" y="4206240"/>
            <a:ext cx="1005840" cy="237744"/>
          </a:xfrm>
          <a:prstGeom prst="rect">
            <a:avLst/>
          </a:prstGeom>
          <a:noFill/>
          <a:ln/>
        </p:spPr>
        <p:txBody>
          <a:bodyPr wrap="square" rtlCol="0" anchor="ctr"/>
          <a:lstStyle/>
          <a:p>
            <a:pPr indent="0" marL="0">
              <a:buNone/>
            </a:pPr>
            <a:r>
              <a:rPr lang="en-US" sz="700" b="1" dirty="0">
                <a:solidFill>
                  <a:srgbClr val="0A74E3"/>
                </a:solidFill>
                <a:latin typeface="Atkinson Hyperlegible" pitchFamily="34" charset="0"/>
                <a:ea typeface="Atkinson Hyperlegible" pitchFamily="34" charset="-122"/>
                <a:cs typeface="Atkinson Hyperlegible" pitchFamily="34" charset="-120"/>
              </a:rPr>
              <a:t>16:00-17:30</a:t>
            </a:r>
            <a:endParaRPr lang="en-US" sz="700" dirty="0"/>
          </a:p>
        </p:txBody>
      </p:sp>
      <p:sp>
        <p:nvSpPr>
          <p:cNvPr id="26" name="Text 24"/>
          <p:cNvSpPr/>
          <p:nvPr/>
        </p:nvSpPr>
        <p:spPr>
          <a:xfrm>
            <a:off x="457200" y="4443984"/>
            <a:ext cx="2404872" cy="25603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Caso estudio: Petroquímica con AWP — análisis</a:t>
            </a:r>
            <a:endParaRPr lang="en-US" sz="750" dirty="0"/>
          </a:p>
        </p:txBody>
      </p:sp>
      <p:sp>
        <p:nvSpPr>
          <p:cNvPr id="27" name="Shape 25"/>
          <p:cNvSpPr/>
          <p:nvPr/>
        </p:nvSpPr>
        <p:spPr>
          <a:xfrm>
            <a:off x="3172968" y="987552"/>
            <a:ext cx="2724912" cy="3840480"/>
          </a:xfrm>
          <a:prstGeom prst="rect">
            <a:avLst>
              <a:gd name="adj" fmla="val 2349"/>
            </a:avLst>
          </a:prstGeom>
          <a:solidFill>
            <a:srgbClr val="FFFFFF"/>
          </a:solidFill>
          <a:ln w="15240">
            <a:solidFill>
              <a:srgbClr val="0E9E9E"/>
            </a:solidFill>
            <a:prstDash val="solid"/>
          </a:ln>
        </p:spPr>
      </p:sp>
      <p:sp>
        <p:nvSpPr>
          <p:cNvPr id="28" name="Shape 26"/>
          <p:cNvSpPr/>
          <p:nvPr/>
        </p:nvSpPr>
        <p:spPr>
          <a:xfrm>
            <a:off x="3172968" y="987552"/>
            <a:ext cx="2724912" cy="530352"/>
          </a:xfrm>
          <a:prstGeom prst="rect">
            <a:avLst>
              <a:gd name="adj" fmla="val 12069"/>
            </a:avLst>
          </a:prstGeom>
          <a:solidFill>
            <a:srgbClr val="0E9E9E"/>
          </a:solidFill>
          <a:ln w="12700">
            <a:solidFill>
              <a:srgbClr val="0E9E9E"/>
            </a:solidFill>
            <a:prstDash val="solid"/>
          </a:ln>
        </p:spPr>
      </p:sp>
      <p:sp>
        <p:nvSpPr>
          <p:cNvPr id="29" name="Text 27"/>
          <p:cNvSpPr/>
          <p:nvPr/>
        </p:nvSpPr>
        <p:spPr>
          <a:xfrm>
            <a:off x="3264408" y="1024128"/>
            <a:ext cx="2542032" cy="237744"/>
          </a:xfrm>
          <a:prstGeom prst="rect">
            <a:avLst/>
          </a:prstGeom>
          <a:noFill/>
          <a:ln/>
        </p:spPr>
        <p:txBody>
          <a:bodyPr wrap="square"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Día 2</a:t>
            </a:r>
            <a:endParaRPr lang="en-US" sz="1100" dirty="0"/>
          </a:p>
        </p:txBody>
      </p:sp>
      <p:sp>
        <p:nvSpPr>
          <p:cNvPr id="30" name="Text 28"/>
          <p:cNvSpPr/>
          <p:nvPr/>
        </p:nvSpPr>
        <p:spPr>
          <a:xfrm>
            <a:off x="3264408" y="1261872"/>
            <a:ext cx="2542032" cy="219456"/>
          </a:xfrm>
          <a:prstGeom prst="rect">
            <a:avLst/>
          </a:prstGeom>
          <a:noFill/>
          <a:ln/>
        </p:spPr>
        <p:txBody>
          <a:bodyPr wrap="square" rtlCol="0" anchor="ctr"/>
          <a:lstStyle/>
          <a:p>
            <a:pPr indent="0" marL="0">
              <a:buNone/>
            </a:pPr>
            <a:r>
              <a:rPr lang="en-US" sz="800" i="1" dirty="0">
                <a:solidFill>
                  <a:srgbClr val="FFFFFF"/>
                </a:solidFill>
                <a:latin typeface="Atkinson Hyperlegible" pitchFamily="34" charset="0"/>
                <a:ea typeface="Atkinson Hyperlegible" pitchFamily="34" charset="-122"/>
                <a:cs typeface="Atkinson Hyperlegible" pitchFamily="34" charset="-120"/>
              </a:rPr>
              <a:t>Implementación Práctica</a:t>
            </a:r>
            <a:endParaRPr lang="en-US" sz="800" dirty="0"/>
          </a:p>
        </p:txBody>
      </p:sp>
      <p:sp>
        <p:nvSpPr>
          <p:cNvPr id="31" name="Shape 29"/>
          <p:cNvSpPr/>
          <p:nvPr/>
        </p:nvSpPr>
        <p:spPr>
          <a:xfrm>
            <a:off x="3264408" y="1609344"/>
            <a:ext cx="2542032" cy="566928"/>
          </a:xfrm>
          <a:prstGeom prst="rect">
            <a:avLst>
              <a:gd name="adj" fmla="val 6452"/>
            </a:avLst>
          </a:prstGeom>
          <a:solidFill>
            <a:srgbClr val="F8F8FF"/>
          </a:solidFill>
          <a:ln w="6350">
            <a:solidFill>
              <a:srgbClr val="E5E5EA"/>
            </a:solidFill>
            <a:prstDash val="solid"/>
          </a:ln>
        </p:spPr>
      </p:sp>
      <p:sp>
        <p:nvSpPr>
          <p:cNvPr id="32" name="Text 30"/>
          <p:cNvSpPr/>
          <p:nvPr/>
        </p:nvSpPr>
        <p:spPr>
          <a:xfrm>
            <a:off x="3310128" y="1645920"/>
            <a:ext cx="1005840" cy="237744"/>
          </a:xfrm>
          <a:prstGeom prst="rect">
            <a:avLst/>
          </a:prstGeom>
          <a:noFill/>
          <a:ln/>
        </p:spPr>
        <p:txBody>
          <a:bodyPr wrap="square" rtlCol="0" anchor="ctr"/>
          <a:lstStyle/>
          <a:p>
            <a:pPr indent="0" marL="0">
              <a:buNone/>
            </a:pPr>
            <a:r>
              <a:rPr lang="en-US" sz="700" b="1" dirty="0">
                <a:solidFill>
                  <a:srgbClr val="0E9E9E"/>
                </a:solidFill>
                <a:latin typeface="Atkinson Hyperlegible" pitchFamily="34" charset="0"/>
                <a:ea typeface="Atkinson Hyperlegible" pitchFamily="34" charset="-122"/>
                <a:cs typeface="Atkinson Hyperlegible" pitchFamily="34" charset="-120"/>
              </a:rPr>
              <a:t>08:00-09:30</a:t>
            </a:r>
            <a:endParaRPr lang="en-US" sz="700" dirty="0"/>
          </a:p>
        </p:txBody>
      </p:sp>
      <p:sp>
        <p:nvSpPr>
          <p:cNvPr id="33" name="Text 31"/>
          <p:cNvSpPr/>
          <p:nvPr/>
        </p:nvSpPr>
        <p:spPr>
          <a:xfrm>
            <a:off x="3310128" y="1883664"/>
            <a:ext cx="2404872" cy="25603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EDS: cómo coordinar diseño con construcción</a:t>
            </a:r>
            <a:endParaRPr lang="en-US" sz="750" dirty="0"/>
          </a:p>
        </p:txBody>
      </p:sp>
      <p:sp>
        <p:nvSpPr>
          <p:cNvPr id="34" name="Shape 32"/>
          <p:cNvSpPr/>
          <p:nvPr/>
        </p:nvSpPr>
        <p:spPr>
          <a:xfrm>
            <a:off x="3264408" y="2249424"/>
            <a:ext cx="2542032" cy="566928"/>
          </a:xfrm>
          <a:prstGeom prst="rect">
            <a:avLst>
              <a:gd name="adj" fmla="val 6452"/>
            </a:avLst>
          </a:prstGeom>
          <a:solidFill>
            <a:srgbClr val="FFFFFF"/>
          </a:solidFill>
          <a:ln w="6350">
            <a:solidFill>
              <a:srgbClr val="E5E5EA"/>
            </a:solidFill>
            <a:prstDash val="solid"/>
          </a:ln>
        </p:spPr>
      </p:sp>
      <p:sp>
        <p:nvSpPr>
          <p:cNvPr id="35" name="Text 33"/>
          <p:cNvSpPr/>
          <p:nvPr/>
        </p:nvSpPr>
        <p:spPr>
          <a:xfrm>
            <a:off x="3310128" y="2286000"/>
            <a:ext cx="1005840" cy="237744"/>
          </a:xfrm>
          <a:prstGeom prst="rect">
            <a:avLst/>
          </a:prstGeom>
          <a:noFill/>
          <a:ln/>
        </p:spPr>
        <p:txBody>
          <a:bodyPr wrap="square" rtlCol="0" anchor="ctr"/>
          <a:lstStyle/>
          <a:p>
            <a:pPr indent="0" marL="0">
              <a:buNone/>
            </a:pPr>
            <a:r>
              <a:rPr lang="en-US" sz="700" b="1" dirty="0">
                <a:solidFill>
                  <a:srgbClr val="0E9E9E"/>
                </a:solidFill>
                <a:latin typeface="Atkinson Hyperlegible" pitchFamily="34" charset="0"/>
                <a:ea typeface="Atkinson Hyperlegible" pitchFamily="34" charset="-122"/>
                <a:cs typeface="Atkinson Hyperlegible" pitchFamily="34" charset="-120"/>
              </a:rPr>
              <a:t>09:30-11:00</a:t>
            </a:r>
            <a:endParaRPr lang="en-US" sz="700" dirty="0"/>
          </a:p>
        </p:txBody>
      </p:sp>
      <p:sp>
        <p:nvSpPr>
          <p:cNvPr id="36" name="Text 34"/>
          <p:cNvSpPr/>
          <p:nvPr/>
        </p:nvSpPr>
        <p:spPr>
          <a:xfrm>
            <a:off x="3310128" y="2523744"/>
            <a:ext cx="2404872" cy="25603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Plataformas digitales: demo EcoSys / Power BI</a:t>
            </a:r>
            <a:endParaRPr lang="en-US" sz="750" dirty="0"/>
          </a:p>
        </p:txBody>
      </p:sp>
      <p:sp>
        <p:nvSpPr>
          <p:cNvPr id="37" name="Shape 35"/>
          <p:cNvSpPr/>
          <p:nvPr/>
        </p:nvSpPr>
        <p:spPr>
          <a:xfrm>
            <a:off x="3264408" y="2889504"/>
            <a:ext cx="2542032" cy="566928"/>
          </a:xfrm>
          <a:prstGeom prst="rect">
            <a:avLst>
              <a:gd name="adj" fmla="val 6452"/>
            </a:avLst>
          </a:prstGeom>
          <a:solidFill>
            <a:srgbClr val="F8F8FF"/>
          </a:solidFill>
          <a:ln w="6350">
            <a:solidFill>
              <a:srgbClr val="E5E5EA"/>
            </a:solidFill>
            <a:prstDash val="solid"/>
          </a:ln>
        </p:spPr>
      </p:sp>
      <p:sp>
        <p:nvSpPr>
          <p:cNvPr id="38" name="Text 36"/>
          <p:cNvSpPr/>
          <p:nvPr/>
        </p:nvSpPr>
        <p:spPr>
          <a:xfrm>
            <a:off x="3310128" y="2926080"/>
            <a:ext cx="1005840" cy="237744"/>
          </a:xfrm>
          <a:prstGeom prst="rect">
            <a:avLst/>
          </a:prstGeom>
          <a:noFill/>
          <a:ln/>
        </p:spPr>
        <p:txBody>
          <a:bodyPr wrap="square" rtlCol="0" anchor="ctr"/>
          <a:lstStyle/>
          <a:p>
            <a:pPr indent="0" marL="0">
              <a:buNone/>
            </a:pPr>
            <a:r>
              <a:rPr lang="en-US" sz="700" b="1" dirty="0">
                <a:solidFill>
                  <a:srgbClr val="0E9E9E"/>
                </a:solidFill>
                <a:latin typeface="Atkinson Hyperlegible" pitchFamily="34" charset="0"/>
                <a:ea typeface="Atkinson Hyperlegible" pitchFamily="34" charset="-122"/>
                <a:cs typeface="Atkinson Hyperlegible" pitchFamily="34" charset="-120"/>
              </a:rPr>
              <a:t>11:00-12:30</a:t>
            </a:r>
            <a:endParaRPr lang="en-US" sz="700" dirty="0"/>
          </a:p>
        </p:txBody>
      </p:sp>
      <p:sp>
        <p:nvSpPr>
          <p:cNvPr id="39" name="Text 37"/>
          <p:cNvSpPr/>
          <p:nvPr/>
        </p:nvSpPr>
        <p:spPr>
          <a:xfrm>
            <a:off x="3310128" y="3163824"/>
            <a:ext cx="2404872" cy="25603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IWP: construir uno completo con checklist RTI</a:t>
            </a:r>
            <a:endParaRPr lang="en-US" sz="750" dirty="0"/>
          </a:p>
        </p:txBody>
      </p:sp>
      <p:sp>
        <p:nvSpPr>
          <p:cNvPr id="40" name="Shape 38"/>
          <p:cNvSpPr/>
          <p:nvPr/>
        </p:nvSpPr>
        <p:spPr>
          <a:xfrm>
            <a:off x="3264408" y="3529584"/>
            <a:ext cx="2542032" cy="566928"/>
          </a:xfrm>
          <a:prstGeom prst="rect">
            <a:avLst>
              <a:gd name="adj" fmla="val 6452"/>
            </a:avLst>
          </a:prstGeom>
          <a:solidFill>
            <a:srgbClr val="FFFFFF"/>
          </a:solidFill>
          <a:ln w="6350">
            <a:solidFill>
              <a:srgbClr val="E5E5EA"/>
            </a:solidFill>
            <a:prstDash val="solid"/>
          </a:ln>
        </p:spPr>
      </p:sp>
      <p:sp>
        <p:nvSpPr>
          <p:cNvPr id="41" name="Text 39"/>
          <p:cNvSpPr/>
          <p:nvPr/>
        </p:nvSpPr>
        <p:spPr>
          <a:xfrm>
            <a:off x="3310128" y="3566160"/>
            <a:ext cx="1005840" cy="237744"/>
          </a:xfrm>
          <a:prstGeom prst="rect">
            <a:avLst/>
          </a:prstGeom>
          <a:noFill/>
          <a:ln/>
        </p:spPr>
        <p:txBody>
          <a:bodyPr wrap="square" rtlCol="0" anchor="ctr"/>
          <a:lstStyle/>
          <a:p>
            <a:pPr indent="0" marL="0">
              <a:buNone/>
            </a:pPr>
            <a:r>
              <a:rPr lang="en-US" sz="700" b="1" dirty="0">
                <a:solidFill>
                  <a:srgbClr val="0E9E9E"/>
                </a:solidFill>
                <a:latin typeface="Atkinson Hyperlegible" pitchFamily="34" charset="0"/>
                <a:ea typeface="Atkinson Hyperlegible" pitchFamily="34" charset="-122"/>
                <a:cs typeface="Atkinson Hyperlegible" pitchFamily="34" charset="-120"/>
              </a:rPr>
              <a:t>14:00-16:00</a:t>
            </a:r>
            <a:endParaRPr lang="en-US" sz="700" dirty="0"/>
          </a:p>
        </p:txBody>
      </p:sp>
      <p:sp>
        <p:nvSpPr>
          <p:cNvPr id="42" name="Text 40"/>
          <p:cNvSpPr/>
          <p:nvPr/>
        </p:nvSpPr>
        <p:spPr>
          <a:xfrm>
            <a:off x="3310128" y="3803904"/>
            <a:ext cx="2404872" cy="25603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Taller: crear 5 CWPs del proyecto piloto</a:t>
            </a:r>
            <a:endParaRPr lang="en-US" sz="750" dirty="0"/>
          </a:p>
        </p:txBody>
      </p:sp>
      <p:sp>
        <p:nvSpPr>
          <p:cNvPr id="43" name="Shape 41"/>
          <p:cNvSpPr/>
          <p:nvPr/>
        </p:nvSpPr>
        <p:spPr>
          <a:xfrm>
            <a:off x="3264408" y="4169664"/>
            <a:ext cx="2542032" cy="566928"/>
          </a:xfrm>
          <a:prstGeom prst="rect">
            <a:avLst>
              <a:gd name="adj" fmla="val 6452"/>
            </a:avLst>
          </a:prstGeom>
          <a:solidFill>
            <a:srgbClr val="F8F8FF"/>
          </a:solidFill>
          <a:ln w="6350">
            <a:solidFill>
              <a:srgbClr val="E5E5EA"/>
            </a:solidFill>
            <a:prstDash val="solid"/>
          </a:ln>
        </p:spPr>
      </p:sp>
      <p:sp>
        <p:nvSpPr>
          <p:cNvPr id="44" name="Text 42"/>
          <p:cNvSpPr/>
          <p:nvPr/>
        </p:nvSpPr>
        <p:spPr>
          <a:xfrm>
            <a:off x="3310128" y="4206240"/>
            <a:ext cx="1005840" cy="237744"/>
          </a:xfrm>
          <a:prstGeom prst="rect">
            <a:avLst/>
          </a:prstGeom>
          <a:noFill/>
          <a:ln/>
        </p:spPr>
        <p:txBody>
          <a:bodyPr wrap="square" rtlCol="0" anchor="ctr"/>
          <a:lstStyle/>
          <a:p>
            <a:pPr indent="0" marL="0">
              <a:buNone/>
            </a:pPr>
            <a:r>
              <a:rPr lang="en-US" sz="700" b="1" dirty="0">
                <a:solidFill>
                  <a:srgbClr val="0E9E9E"/>
                </a:solidFill>
                <a:latin typeface="Atkinson Hyperlegible" pitchFamily="34" charset="0"/>
                <a:ea typeface="Atkinson Hyperlegible" pitchFamily="34" charset="-122"/>
                <a:cs typeface="Atkinson Hyperlegible" pitchFamily="34" charset="-120"/>
              </a:rPr>
              <a:t>16:00-17:30</a:t>
            </a:r>
            <a:endParaRPr lang="en-US" sz="700" dirty="0"/>
          </a:p>
        </p:txBody>
      </p:sp>
      <p:sp>
        <p:nvSpPr>
          <p:cNvPr id="45" name="Text 43"/>
          <p:cNvSpPr/>
          <p:nvPr/>
        </p:nvSpPr>
        <p:spPr>
          <a:xfrm>
            <a:off x="3310128" y="4443984"/>
            <a:ext cx="2404872" cy="25603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BIM + AWP: integración y workflows</a:t>
            </a:r>
            <a:endParaRPr lang="en-US" sz="750" dirty="0"/>
          </a:p>
        </p:txBody>
      </p:sp>
      <p:sp>
        <p:nvSpPr>
          <p:cNvPr id="46" name="Shape 44"/>
          <p:cNvSpPr/>
          <p:nvPr/>
        </p:nvSpPr>
        <p:spPr>
          <a:xfrm>
            <a:off x="6025896" y="987552"/>
            <a:ext cx="2724912" cy="3840480"/>
          </a:xfrm>
          <a:prstGeom prst="rect">
            <a:avLst>
              <a:gd name="adj" fmla="val 2349"/>
            </a:avLst>
          </a:prstGeom>
          <a:solidFill>
            <a:srgbClr val="FFFFFF"/>
          </a:solidFill>
          <a:ln w="15240">
            <a:solidFill>
              <a:srgbClr val="27AE60"/>
            </a:solidFill>
            <a:prstDash val="solid"/>
          </a:ln>
        </p:spPr>
      </p:sp>
      <p:sp>
        <p:nvSpPr>
          <p:cNvPr id="47" name="Shape 45"/>
          <p:cNvSpPr/>
          <p:nvPr/>
        </p:nvSpPr>
        <p:spPr>
          <a:xfrm>
            <a:off x="6025896" y="987552"/>
            <a:ext cx="2724912" cy="530352"/>
          </a:xfrm>
          <a:prstGeom prst="rect">
            <a:avLst>
              <a:gd name="adj" fmla="val 12069"/>
            </a:avLst>
          </a:prstGeom>
          <a:solidFill>
            <a:srgbClr val="27AE60"/>
          </a:solidFill>
          <a:ln w="12700">
            <a:solidFill>
              <a:srgbClr val="27AE60"/>
            </a:solidFill>
            <a:prstDash val="solid"/>
          </a:ln>
        </p:spPr>
      </p:sp>
      <p:sp>
        <p:nvSpPr>
          <p:cNvPr id="48" name="Text 46"/>
          <p:cNvSpPr/>
          <p:nvPr/>
        </p:nvSpPr>
        <p:spPr>
          <a:xfrm>
            <a:off x="6117336" y="1024128"/>
            <a:ext cx="2542032" cy="237744"/>
          </a:xfrm>
          <a:prstGeom prst="rect">
            <a:avLst/>
          </a:prstGeom>
          <a:noFill/>
          <a:ln/>
        </p:spPr>
        <p:txBody>
          <a:bodyPr wrap="square"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Día 3</a:t>
            </a:r>
            <a:endParaRPr lang="en-US" sz="1100" dirty="0"/>
          </a:p>
        </p:txBody>
      </p:sp>
      <p:sp>
        <p:nvSpPr>
          <p:cNvPr id="49" name="Text 47"/>
          <p:cNvSpPr/>
          <p:nvPr/>
        </p:nvSpPr>
        <p:spPr>
          <a:xfrm>
            <a:off x="6117336" y="1261872"/>
            <a:ext cx="2542032" cy="219456"/>
          </a:xfrm>
          <a:prstGeom prst="rect">
            <a:avLst/>
          </a:prstGeom>
          <a:noFill/>
          <a:ln/>
        </p:spPr>
        <p:txBody>
          <a:bodyPr wrap="square" rtlCol="0" anchor="ctr"/>
          <a:lstStyle/>
          <a:p>
            <a:pPr indent="0" marL="0">
              <a:buNone/>
            </a:pPr>
            <a:r>
              <a:rPr lang="en-US" sz="800" i="1" dirty="0">
                <a:solidFill>
                  <a:srgbClr val="FFFFFF"/>
                </a:solidFill>
                <a:latin typeface="Atkinson Hyperlegible" pitchFamily="34" charset="0"/>
                <a:ea typeface="Atkinson Hyperlegible" pitchFamily="34" charset="-122"/>
                <a:cs typeface="Atkinson Hyperlegible" pitchFamily="34" charset="-120"/>
              </a:rPr>
              <a:t>KPIs, Mejora y Acción</a:t>
            </a:r>
            <a:endParaRPr lang="en-US" sz="800" dirty="0"/>
          </a:p>
        </p:txBody>
      </p:sp>
      <p:sp>
        <p:nvSpPr>
          <p:cNvPr id="50" name="Shape 48"/>
          <p:cNvSpPr/>
          <p:nvPr/>
        </p:nvSpPr>
        <p:spPr>
          <a:xfrm>
            <a:off x="6117336" y="1609344"/>
            <a:ext cx="2542032" cy="566928"/>
          </a:xfrm>
          <a:prstGeom prst="rect">
            <a:avLst>
              <a:gd name="adj" fmla="val 6452"/>
            </a:avLst>
          </a:prstGeom>
          <a:solidFill>
            <a:srgbClr val="F8F8FF"/>
          </a:solidFill>
          <a:ln w="6350">
            <a:solidFill>
              <a:srgbClr val="E5E5EA"/>
            </a:solidFill>
            <a:prstDash val="solid"/>
          </a:ln>
        </p:spPr>
      </p:sp>
      <p:sp>
        <p:nvSpPr>
          <p:cNvPr id="51" name="Text 49"/>
          <p:cNvSpPr/>
          <p:nvPr/>
        </p:nvSpPr>
        <p:spPr>
          <a:xfrm>
            <a:off x="6163056" y="1645920"/>
            <a:ext cx="1005840" cy="237744"/>
          </a:xfrm>
          <a:prstGeom prst="rect">
            <a:avLst/>
          </a:prstGeom>
          <a:noFill/>
          <a:ln/>
        </p:spPr>
        <p:txBody>
          <a:bodyPr wrap="square" rtlCol="0" anchor="ctr"/>
          <a:lstStyle/>
          <a:p>
            <a:pPr indent="0" marL="0">
              <a:buNone/>
            </a:pPr>
            <a:r>
              <a:rPr lang="en-US" sz="700" b="1" dirty="0">
                <a:solidFill>
                  <a:srgbClr val="27AE60"/>
                </a:solidFill>
                <a:latin typeface="Atkinson Hyperlegible" pitchFamily="34" charset="0"/>
                <a:ea typeface="Atkinson Hyperlegible" pitchFamily="34" charset="-122"/>
                <a:cs typeface="Atkinson Hyperlegible" pitchFamily="34" charset="-120"/>
              </a:rPr>
              <a:t>08:00-09:30</a:t>
            </a:r>
            <a:endParaRPr lang="en-US" sz="700" dirty="0"/>
          </a:p>
        </p:txBody>
      </p:sp>
      <p:sp>
        <p:nvSpPr>
          <p:cNvPr id="52" name="Text 50"/>
          <p:cNvSpPr/>
          <p:nvPr/>
        </p:nvSpPr>
        <p:spPr>
          <a:xfrm>
            <a:off x="6163056" y="1883664"/>
            <a:ext cx="2404872" cy="25603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KPIs: CPI, SPI, RTI Rate, Retrabajo — cómo medir</a:t>
            </a:r>
            <a:endParaRPr lang="en-US" sz="750" dirty="0"/>
          </a:p>
        </p:txBody>
      </p:sp>
      <p:sp>
        <p:nvSpPr>
          <p:cNvPr id="53" name="Shape 51"/>
          <p:cNvSpPr/>
          <p:nvPr/>
        </p:nvSpPr>
        <p:spPr>
          <a:xfrm>
            <a:off x="6117336" y="2249424"/>
            <a:ext cx="2542032" cy="566928"/>
          </a:xfrm>
          <a:prstGeom prst="rect">
            <a:avLst>
              <a:gd name="adj" fmla="val 6452"/>
            </a:avLst>
          </a:prstGeom>
          <a:solidFill>
            <a:srgbClr val="FFFFFF"/>
          </a:solidFill>
          <a:ln w="6350">
            <a:solidFill>
              <a:srgbClr val="E5E5EA"/>
            </a:solidFill>
            <a:prstDash val="solid"/>
          </a:ln>
        </p:spPr>
      </p:sp>
      <p:sp>
        <p:nvSpPr>
          <p:cNvPr id="54" name="Text 52"/>
          <p:cNvSpPr/>
          <p:nvPr/>
        </p:nvSpPr>
        <p:spPr>
          <a:xfrm>
            <a:off x="6163056" y="2286000"/>
            <a:ext cx="1005840" cy="237744"/>
          </a:xfrm>
          <a:prstGeom prst="rect">
            <a:avLst/>
          </a:prstGeom>
          <a:noFill/>
          <a:ln/>
        </p:spPr>
        <p:txBody>
          <a:bodyPr wrap="square" rtlCol="0" anchor="ctr"/>
          <a:lstStyle/>
          <a:p>
            <a:pPr indent="0" marL="0">
              <a:buNone/>
            </a:pPr>
            <a:r>
              <a:rPr lang="en-US" sz="700" b="1" dirty="0">
                <a:solidFill>
                  <a:srgbClr val="27AE60"/>
                </a:solidFill>
                <a:latin typeface="Atkinson Hyperlegible" pitchFamily="34" charset="0"/>
                <a:ea typeface="Atkinson Hyperlegible" pitchFamily="34" charset="-122"/>
                <a:cs typeface="Atkinson Hyperlegible" pitchFamily="34" charset="-120"/>
              </a:rPr>
              <a:t>09:30-11:00</a:t>
            </a:r>
            <a:endParaRPr lang="en-US" sz="700" dirty="0"/>
          </a:p>
        </p:txBody>
      </p:sp>
      <p:sp>
        <p:nvSpPr>
          <p:cNvPr id="55" name="Text 53"/>
          <p:cNvSpPr/>
          <p:nvPr/>
        </p:nvSpPr>
        <p:spPr>
          <a:xfrm>
            <a:off x="6163056" y="2523744"/>
            <a:ext cx="2404872" cy="25603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Gestión del cambio y riesgos en AWP</a:t>
            </a:r>
            <a:endParaRPr lang="en-US" sz="750" dirty="0"/>
          </a:p>
        </p:txBody>
      </p:sp>
      <p:sp>
        <p:nvSpPr>
          <p:cNvPr id="56" name="Shape 54"/>
          <p:cNvSpPr/>
          <p:nvPr/>
        </p:nvSpPr>
        <p:spPr>
          <a:xfrm>
            <a:off x="6117336" y="2889504"/>
            <a:ext cx="2542032" cy="566928"/>
          </a:xfrm>
          <a:prstGeom prst="rect">
            <a:avLst>
              <a:gd name="adj" fmla="val 6452"/>
            </a:avLst>
          </a:prstGeom>
          <a:solidFill>
            <a:srgbClr val="F8F8FF"/>
          </a:solidFill>
          <a:ln w="6350">
            <a:solidFill>
              <a:srgbClr val="E5E5EA"/>
            </a:solidFill>
            <a:prstDash val="solid"/>
          </a:ln>
        </p:spPr>
      </p:sp>
      <p:sp>
        <p:nvSpPr>
          <p:cNvPr id="57" name="Text 55"/>
          <p:cNvSpPr/>
          <p:nvPr/>
        </p:nvSpPr>
        <p:spPr>
          <a:xfrm>
            <a:off x="6163056" y="2926080"/>
            <a:ext cx="1005840" cy="237744"/>
          </a:xfrm>
          <a:prstGeom prst="rect">
            <a:avLst/>
          </a:prstGeom>
          <a:noFill/>
          <a:ln/>
        </p:spPr>
        <p:txBody>
          <a:bodyPr wrap="square" rtlCol="0" anchor="ctr"/>
          <a:lstStyle/>
          <a:p>
            <a:pPr indent="0" marL="0">
              <a:buNone/>
            </a:pPr>
            <a:r>
              <a:rPr lang="en-US" sz="700" b="1" dirty="0">
                <a:solidFill>
                  <a:srgbClr val="27AE60"/>
                </a:solidFill>
                <a:latin typeface="Atkinson Hyperlegible" pitchFamily="34" charset="0"/>
                <a:ea typeface="Atkinson Hyperlegible" pitchFamily="34" charset="-122"/>
                <a:cs typeface="Atkinson Hyperlegible" pitchFamily="34" charset="-120"/>
              </a:rPr>
              <a:t>11:00-12:30</a:t>
            </a:r>
            <a:endParaRPr lang="en-US" sz="700" dirty="0"/>
          </a:p>
        </p:txBody>
      </p:sp>
      <p:sp>
        <p:nvSpPr>
          <p:cNvPr id="58" name="Text 56"/>
          <p:cNvSpPr/>
          <p:nvPr/>
        </p:nvSpPr>
        <p:spPr>
          <a:xfrm>
            <a:off x="6163056" y="3163824"/>
            <a:ext cx="2404872" cy="25603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Certificación CII: requisitos y programa</a:t>
            </a:r>
            <a:endParaRPr lang="en-US" sz="750" dirty="0"/>
          </a:p>
        </p:txBody>
      </p:sp>
      <p:sp>
        <p:nvSpPr>
          <p:cNvPr id="59" name="Shape 57"/>
          <p:cNvSpPr/>
          <p:nvPr/>
        </p:nvSpPr>
        <p:spPr>
          <a:xfrm>
            <a:off x="6117336" y="3529584"/>
            <a:ext cx="2542032" cy="566928"/>
          </a:xfrm>
          <a:prstGeom prst="rect">
            <a:avLst>
              <a:gd name="adj" fmla="val 6452"/>
            </a:avLst>
          </a:prstGeom>
          <a:solidFill>
            <a:srgbClr val="FFFFFF"/>
          </a:solidFill>
          <a:ln w="6350">
            <a:solidFill>
              <a:srgbClr val="E5E5EA"/>
            </a:solidFill>
            <a:prstDash val="solid"/>
          </a:ln>
        </p:spPr>
      </p:sp>
      <p:sp>
        <p:nvSpPr>
          <p:cNvPr id="60" name="Text 58"/>
          <p:cNvSpPr/>
          <p:nvPr/>
        </p:nvSpPr>
        <p:spPr>
          <a:xfrm>
            <a:off x="6163056" y="3566160"/>
            <a:ext cx="1005840" cy="237744"/>
          </a:xfrm>
          <a:prstGeom prst="rect">
            <a:avLst/>
          </a:prstGeom>
          <a:noFill/>
          <a:ln/>
        </p:spPr>
        <p:txBody>
          <a:bodyPr wrap="square" rtlCol="0" anchor="ctr"/>
          <a:lstStyle/>
          <a:p>
            <a:pPr indent="0" marL="0">
              <a:buNone/>
            </a:pPr>
            <a:r>
              <a:rPr lang="en-US" sz="700" b="1" dirty="0">
                <a:solidFill>
                  <a:srgbClr val="27AE60"/>
                </a:solidFill>
                <a:latin typeface="Atkinson Hyperlegible" pitchFamily="34" charset="0"/>
                <a:ea typeface="Atkinson Hyperlegible" pitchFamily="34" charset="-122"/>
                <a:cs typeface="Atkinson Hyperlegible" pitchFamily="34" charset="-120"/>
              </a:rPr>
              <a:t>14:00-16:00</a:t>
            </a:r>
            <a:endParaRPr lang="en-US" sz="700" dirty="0"/>
          </a:p>
        </p:txBody>
      </p:sp>
      <p:sp>
        <p:nvSpPr>
          <p:cNvPr id="61" name="Text 59"/>
          <p:cNvSpPr/>
          <p:nvPr/>
        </p:nvSpPr>
        <p:spPr>
          <a:xfrm>
            <a:off x="6163056" y="3803904"/>
            <a:ext cx="2404872" cy="25603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Plan de acción individual 90 días</a:t>
            </a:r>
            <a:endParaRPr lang="en-US" sz="750" dirty="0"/>
          </a:p>
        </p:txBody>
      </p:sp>
      <p:sp>
        <p:nvSpPr>
          <p:cNvPr id="62" name="Shape 60"/>
          <p:cNvSpPr/>
          <p:nvPr/>
        </p:nvSpPr>
        <p:spPr>
          <a:xfrm>
            <a:off x="6117336" y="4169664"/>
            <a:ext cx="2542032" cy="566928"/>
          </a:xfrm>
          <a:prstGeom prst="rect">
            <a:avLst>
              <a:gd name="adj" fmla="val 6452"/>
            </a:avLst>
          </a:prstGeom>
          <a:solidFill>
            <a:srgbClr val="F8F8FF"/>
          </a:solidFill>
          <a:ln w="6350">
            <a:solidFill>
              <a:srgbClr val="E5E5EA"/>
            </a:solidFill>
            <a:prstDash val="solid"/>
          </a:ln>
        </p:spPr>
      </p:sp>
      <p:sp>
        <p:nvSpPr>
          <p:cNvPr id="63" name="Text 61"/>
          <p:cNvSpPr/>
          <p:nvPr/>
        </p:nvSpPr>
        <p:spPr>
          <a:xfrm>
            <a:off x="6163056" y="4206240"/>
            <a:ext cx="1005840" cy="237744"/>
          </a:xfrm>
          <a:prstGeom prst="rect">
            <a:avLst/>
          </a:prstGeom>
          <a:noFill/>
          <a:ln/>
        </p:spPr>
        <p:txBody>
          <a:bodyPr wrap="square" rtlCol="0" anchor="ctr"/>
          <a:lstStyle/>
          <a:p>
            <a:pPr indent="0" marL="0">
              <a:buNone/>
            </a:pPr>
            <a:r>
              <a:rPr lang="en-US" sz="700" b="1" dirty="0">
                <a:solidFill>
                  <a:srgbClr val="27AE60"/>
                </a:solidFill>
                <a:latin typeface="Atkinson Hyperlegible" pitchFamily="34" charset="0"/>
                <a:ea typeface="Atkinson Hyperlegible" pitchFamily="34" charset="-122"/>
                <a:cs typeface="Atkinson Hyperlegible" pitchFamily="34" charset="-120"/>
              </a:rPr>
              <a:t>16:00-17:30</a:t>
            </a:r>
            <a:endParaRPr lang="en-US" sz="700" dirty="0"/>
          </a:p>
        </p:txBody>
      </p:sp>
      <p:sp>
        <p:nvSpPr>
          <p:cNvPr id="64" name="Text 62"/>
          <p:cNvSpPr/>
          <p:nvPr/>
        </p:nvSpPr>
        <p:spPr>
          <a:xfrm>
            <a:off x="6163056" y="4443984"/>
            <a:ext cx="2404872" cy="256032"/>
          </a:xfrm>
          <a:prstGeom prst="rect">
            <a:avLst/>
          </a:prstGeom>
          <a:noFill/>
          <a:ln/>
        </p:spPr>
        <p:txBody>
          <a:bodyPr wrap="square" rtlCol="0" anchor="ctr"/>
          <a:lstStyle/>
          <a:p>
            <a:pPr indent="0" marL="0">
              <a:buNone/>
            </a:pPr>
            <a:r>
              <a:rPr lang="en-US" sz="750" dirty="0">
                <a:solidFill>
                  <a:srgbClr val="1D1D1F"/>
                </a:solidFill>
                <a:latin typeface="Atkinson Hyperlegible" pitchFamily="34" charset="0"/>
                <a:ea typeface="Atkinson Hyperlegible" pitchFamily="34" charset="-122"/>
                <a:cs typeface="Atkinson Hyperlegible" pitchFamily="34" charset="-120"/>
              </a:rPr>
              <a:t>Evaluación y cierre del taller</a:t>
            </a:r>
            <a:endParaRPr lang="en-US" sz="7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4E3"/>
          </a:solidFill>
          <a:ln w="12700">
            <a:solidFill>
              <a:srgbClr val="0A74E3"/>
            </a:solidFill>
            <a:prstDash val="solid"/>
          </a:ln>
        </p:spPr>
      </p:sp>
      <p:sp>
        <p:nvSpPr>
          <p:cNvPr id="3" name="Shape 1"/>
          <p:cNvSpPr/>
          <p:nvPr/>
        </p:nvSpPr>
        <p:spPr>
          <a:xfrm>
            <a:off x="164592" y="4956048"/>
            <a:ext cx="8979408" cy="182880"/>
          </a:xfrm>
          <a:prstGeom prst="rect">
            <a:avLst/>
          </a:prstGeom>
          <a:solidFill>
            <a:srgbClr val="0A74E3"/>
          </a:solidFill>
          <a:ln w="12700">
            <a:solidFill>
              <a:srgbClr val="0A74E3"/>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121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Próximos Pasos — Compromisos del Equipo</a:t>
            </a:r>
            <a:endParaRPr lang="en-US" sz="1800" dirty="0"/>
          </a:p>
        </p:txBody>
      </p:sp>
      <p:sp>
        <p:nvSpPr>
          <p:cNvPr id="6" name="Shape 4"/>
          <p:cNvSpPr/>
          <p:nvPr/>
        </p:nvSpPr>
        <p:spPr>
          <a:xfrm>
            <a:off x="320040" y="621792"/>
            <a:ext cx="8503920" cy="41148"/>
          </a:xfrm>
          <a:prstGeom prst="rect">
            <a:avLst/>
          </a:prstGeom>
          <a:solidFill>
            <a:srgbClr val="0A74E3"/>
          </a:solidFill>
          <a:ln w="12700">
            <a:solidFill>
              <a:srgbClr val="0A74E3"/>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A74E3"/>
                </a:solidFill>
                <a:latin typeface="Atkinson Hyperlegible" pitchFamily="34" charset="0"/>
                <a:ea typeface="Atkinson Hyperlegible" pitchFamily="34" charset="-122"/>
                <a:cs typeface="Atkinson Hyperlegible" pitchFamily="34" charset="-120"/>
              </a:rPr>
              <a:t>Acuerdos concretos para iniciar la implementación a partir de esta sesión</a:t>
            </a:r>
            <a:endParaRPr lang="en-US" sz="900" dirty="0"/>
          </a:p>
        </p:txBody>
      </p:sp>
      <p:sp>
        <p:nvSpPr>
          <p:cNvPr id="8" name="Shape 6"/>
          <p:cNvSpPr/>
          <p:nvPr/>
        </p:nvSpPr>
        <p:spPr>
          <a:xfrm>
            <a:off x="320040" y="960120"/>
            <a:ext cx="8503920" cy="640080"/>
          </a:xfrm>
          <a:prstGeom prst="rect">
            <a:avLst>
              <a:gd name="adj" fmla="val 10000"/>
            </a:avLst>
          </a:prstGeom>
          <a:solidFill>
            <a:srgbClr val="0A74E3"/>
          </a:solidFill>
          <a:ln w="12700">
            <a:solidFill>
              <a:srgbClr val="0A74E3"/>
            </a:solidFill>
            <a:prstDash val="solid"/>
          </a:ln>
        </p:spPr>
      </p:sp>
      <p:sp>
        <p:nvSpPr>
          <p:cNvPr id="9" name="Text 7"/>
          <p:cNvSpPr/>
          <p:nvPr/>
        </p:nvSpPr>
        <p:spPr>
          <a:xfrm>
            <a:off x="502920" y="1051560"/>
            <a:ext cx="8138160" cy="457200"/>
          </a:xfrm>
          <a:prstGeom prst="rect">
            <a:avLst/>
          </a:prstGeom>
          <a:noFill/>
          <a:ln/>
        </p:spPr>
        <p:txBody>
          <a:bodyPr wrap="square"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Compromisos que acordamos HOY en este taller</a:t>
            </a:r>
            <a:endParaRPr lang="en-US" sz="1300" dirty="0"/>
          </a:p>
        </p:txBody>
      </p:sp>
      <p:sp>
        <p:nvSpPr>
          <p:cNvPr id="10" name="Shape 8"/>
          <p:cNvSpPr/>
          <p:nvPr/>
        </p:nvSpPr>
        <p:spPr>
          <a:xfrm>
            <a:off x="320040" y="1719072"/>
            <a:ext cx="8503920" cy="493776"/>
          </a:xfrm>
          <a:prstGeom prst="rect">
            <a:avLst>
              <a:gd name="adj" fmla="val 7407"/>
            </a:avLst>
          </a:prstGeom>
          <a:solidFill>
            <a:srgbClr val="FFFFFF"/>
          </a:solidFill>
          <a:ln w="6350">
            <a:solidFill>
              <a:srgbClr val="E5E5EA"/>
            </a:solidFill>
            <a:prstDash val="solid"/>
          </a:ln>
        </p:spPr>
      </p:sp>
      <p:sp>
        <p:nvSpPr>
          <p:cNvPr id="11" name="Shape 9"/>
          <p:cNvSpPr/>
          <p:nvPr/>
        </p:nvSpPr>
        <p:spPr>
          <a:xfrm>
            <a:off x="384048" y="1810512"/>
            <a:ext cx="310896" cy="310896"/>
          </a:xfrm>
          <a:prstGeom prst="ellipse">
            <a:avLst/>
          </a:prstGeom>
          <a:solidFill>
            <a:srgbClr val="0A74E3"/>
          </a:solidFill>
          <a:ln w="12700">
            <a:solidFill>
              <a:srgbClr val="0A74E3"/>
            </a:solidFill>
            <a:prstDash val="solid"/>
          </a:ln>
        </p:spPr>
      </p:sp>
      <p:sp>
        <p:nvSpPr>
          <p:cNvPr id="12" name="Text 10"/>
          <p:cNvSpPr/>
          <p:nvPr/>
        </p:nvSpPr>
        <p:spPr>
          <a:xfrm>
            <a:off x="384048" y="1810512"/>
            <a:ext cx="310896" cy="310896"/>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1</a:t>
            </a:r>
            <a:endParaRPr lang="en-US" sz="850" dirty="0"/>
          </a:p>
        </p:txBody>
      </p:sp>
      <p:sp>
        <p:nvSpPr>
          <p:cNvPr id="13" name="Text 11"/>
          <p:cNvSpPr/>
          <p:nvPr/>
        </p:nvSpPr>
        <p:spPr>
          <a:xfrm>
            <a:off x="777240" y="1755648"/>
            <a:ext cx="2286000" cy="219456"/>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Designar AWP Champion</a:t>
            </a:r>
            <a:endParaRPr lang="en-US" sz="900" dirty="0"/>
          </a:p>
        </p:txBody>
      </p:sp>
      <p:sp>
        <p:nvSpPr>
          <p:cNvPr id="14" name="Text 12"/>
          <p:cNvSpPr/>
          <p:nvPr/>
        </p:nvSpPr>
        <p:spPr>
          <a:xfrm>
            <a:off x="777240" y="1975104"/>
            <a:ext cx="5486400" cy="201168"/>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Nombrar un responsable de implementación con dedicación mínima del 50% al programa de constructabilidad</a:t>
            </a:r>
            <a:endParaRPr lang="en-US" sz="750" dirty="0"/>
          </a:p>
        </p:txBody>
      </p:sp>
      <p:sp>
        <p:nvSpPr>
          <p:cNvPr id="15" name="Shape 13"/>
          <p:cNvSpPr/>
          <p:nvPr/>
        </p:nvSpPr>
        <p:spPr>
          <a:xfrm>
            <a:off x="6583680" y="1810512"/>
            <a:ext cx="2176272" cy="310896"/>
          </a:xfrm>
          <a:prstGeom prst="roundRect">
            <a:avLst>
              <a:gd name="adj" fmla="val 11765"/>
            </a:avLst>
          </a:prstGeom>
          <a:solidFill>
            <a:srgbClr val="0E9E9E"/>
          </a:solidFill>
          <a:ln w="12700">
            <a:solidFill>
              <a:srgbClr val="0E9E9E"/>
            </a:solidFill>
            <a:prstDash val="solid"/>
          </a:ln>
        </p:spPr>
      </p:sp>
      <p:sp>
        <p:nvSpPr>
          <p:cNvPr id="16" name="Text 14"/>
          <p:cNvSpPr/>
          <p:nvPr/>
        </p:nvSpPr>
        <p:spPr>
          <a:xfrm>
            <a:off x="6583680" y="1810512"/>
            <a:ext cx="2176272" cy="310896"/>
          </a:xfrm>
          <a:prstGeom prst="rect">
            <a:avLst/>
          </a:prstGeom>
          <a:noFill/>
          <a:ln/>
        </p:spPr>
        <p:txBody>
          <a:bodyPr wrap="square" rtlCol="0" anchor="ctr"/>
          <a:lstStyle/>
          <a:p>
            <a:pPr algn="ctr" indent="0" marL="0">
              <a:buNone/>
            </a:pPr>
            <a:r>
              <a:rPr lang="en-US" sz="800" b="1" dirty="0">
                <a:solidFill>
                  <a:srgbClr val="0E9E9E"/>
                </a:solidFill>
                <a:latin typeface="Atkinson Hyperlegible" pitchFamily="34" charset="0"/>
                <a:ea typeface="Atkinson Hyperlegible" pitchFamily="34" charset="-122"/>
                <a:cs typeface="Atkinson Hyperlegible" pitchFamily="34" charset="-120"/>
              </a:rPr>
              <a:t>Esta semana</a:t>
            </a:r>
            <a:endParaRPr lang="en-US" sz="800" dirty="0"/>
          </a:p>
        </p:txBody>
      </p:sp>
      <p:sp>
        <p:nvSpPr>
          <p:cNvPr id="17" name="Shape 15"/>
          <p:cNvSpPr/>
          <p:nvPr/>
        </p:nvSpPr>
        <p:spPr>
          <a:xfrm>
            <a:off x="320040" y="2267712"/>
            <a:ext cx="8503920" cy="493776"/>
          </a:xfrm>
          <a:prstGeom prst="rect">
            <a:avLst>
              <a:gd name="adj" fmla="val 7407"/>
            </a:avLst>
          </a:prstGeom>
          <a:solidFill>
            <a:srgbClr val="F8F8FA"/>
          </a:solidFill>
          <a:ln w="6350">
            <a:solidFill>
              <a:srgbClr val="E5E5EA"/>
            </a:solidFill>
            <a:prstDash val="solid"/>
          </a:ln>
        </p:spPr>
      </p:sp>
      <p:sp>
        <p:nvSpPr>
          <p:cNvPr id="18" name="Shape 16"/>
          <p:cNvSpPr/>
          <p:nvPr/>
        </p:nvSpPr>
        <p:spPr>
          <a:xfrm>
            <a:off x="384048" y="2359152"/>
            <a:ext cx="310896" cy="310896"/>
          </a:xfrm>
          <a:prstGeom prst="ellipse">
            <a:avLst/>
          </a:prstGeom>
          <a:solidFill>
            <a:srgbClr val="0A74E3"/>
          </a:solidFill>
          <a:ln w="12700">
            <a:solidFill>
              <a:srgbClr val="0A74E3"/>
            </a:solidFill>
            <a:prstDash val="solid"/>
          </a:ln>
        </p:spPr>
      </p:sp>
      <p:sp>
        <p:nvSpPr>
          <p:cNvPr id="19" name="Text 17"/>
          <p:cNvSpPr/>
          <p:nvPr/>
        </p:nvSpPr>
        <p:spPr>
          <a:xfrm>
            <a:off x="384048" y="2359152"/>
            <a:ext cx="310896" cy="310896"/>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2</a:t>
            </a:r>
            <a:endParaRPr lang="en-US" sz="850" dirty="0"/>
          </a:p>
        </p:txBody>
      </p:sp>
      <p:sp>
        <p:nvSpPr>
          <p:cNvPr id="20" name="Text 18"/>
          <p:cNvSpPr/>
          <p:nvPr/>
        </p:nvSpPr>
        <p:spPr>
          <a:xfrm>
            <a:off x="777240" y="2304288"/>
            <a:ext cx="2286000" cy="219456"/>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Seleccionar Proyecto Piloto</a:t>
            </a:r>
            <a:endParaRPr lang="en-US" sz="900" dirty="0"/>
          </a:p>
        </p:txBody>
      </p:sp>
      <p:sp>
        <p:nvSpPr>
          <p:cNvPr id="21" name="Text 19"/>
          <p:cNvSpPr/>
          <p:nvPr/>
        </p:nvSpPr>
        <p:spPr>
          <a:xfrm>
            <a:off x="777240" y="2523744"/>
            <a:ext cx="5486400" cy="201168"/>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Identificar el proyecto con mejor relación riesgo/aprendizaje para aplicar AWP completo (presupuesto, plazo, equipo)</a:t>
            </a:r>
            <a:endParaRPr lang="en-US" sz="750" dirty="0"/>
          </a:p>
        </p:txBody>
      </p:sp>
      <p:sp>
        <p:nvSpPr>
          <p:cNvPr id="22" name="Shape 20"/>
          <p:cNvSpPr/>
          <p:nvPr/>
        </p:nvSpPr>
        <p:spPr>
          <a:xfrm>
            <a:off x="6583680" y="2359152"/>
            <a:ext cx="2176272" cy="310896"/>
          </a:xfrm>
          <a:prstGeom prst="roundRect">
            <a:avLst>
              <a:gd name="adj" fmla="val 11765"/>
            </a:avLst>
          </a:prstGeom>
          <a:solidFill>
            <a:srgbClr val="0E9E9E"/>
          </a:solidFill>
          <a:ln w="12700">
            <a:solidFill>
              <a:srgbClr val="0E9E9E"/>
            </a:solidFill>
            <a:prstDash val="solid"/>
          </a:ln>
        </p:spPr>
      </p:sp>
      <p:sp>
        <p:nvSpPr>
          <p:cNvPr id="23" name="Text 21"/>
          <p:cNvSpPr/>
          <p:nvPr/>
        </p:nvSpPr>
        <p:spPr>
          <a:xfrm>
            <a:off x="6583680" y="2359152"/>
            <a:ext cx="2176272" cy="310896"/>
          </a:xfrm>
          <a:prstGeom prst="rect">
            <a:avLst/>
          </a:prstGeom>
          <a:noFill/>
          <a:ln/>
        </p:spPr>
        <p:txBody>
          <a:bodyPr wrap="square" rtlCol="0" anchor="ctr"/>
          <a:lstStyle/>
          <a:p>
            <a:pPr algn="ctr" indent="0" marL="0">
              <a:buNone/>
            </a:pPr>
            <a:r>
              <a:rPr lang="en-US" sz="800" b="1" dirty="0">
                <a:solidFill>
                  <a:srgbClr val="0E9E9E"/>
                </a:solidFill>
                <a:latin typeface="Atkinson Hyperlegible" pitchFamily="34" charset="0"/>
                <a:ea typeface="Atkinson Hyperlegible" pitchFamily="34" charset="-122"/>
                <a:cs typeface="Atkinson Hyperlegible" pitchFamily="34" charset="-120"/>
              </a:rPr>
              <a:t>2 semanas</a:t>
            </a:r>
            <a:endParaRPr lang="en-US" sz="800" dirty="0"/>
          </a:p>
        </p:txBody>
      </p:sp>
      <p:sp>
        <p:nvSpPr>
          <p:cNvPr id="24" name="Shape 22"/>
          <p:cNvSpPr/>
          <p:nvPr/>
        </p:nvSpPr>
        <p:spPr>
          <a:xfrm>
            <a:off x="320040" y="2816352"/>
            <a:ext cx="8503920" cy="493776"/>
          </a:xfrm>
          <a:prstGeom prst="rect">
            <a:avLst>
              <a:gd name="adj" fmla="val 7407"/>
            </a:avLst>
          </a:prstGeom>
          <a:solidFill>
            <a:srgbClr val="FFFFFF"/>
          </a:solidFill>
          <a:ln w="6350">
            <a:solidFill>
              <a:srgbClr val="E5E5EA"/>
            </a:solidFill>
            <a:prstDash val="solid"/>
          </a:ln>
        </p:spPr>
      </p:sp>
      <p:sp>
        <p:nvSpPr>
          <p:cNvPr id="25" name="Shape 23"/>
          <p:cNvSpPr/>
          <p:nvPr/>
        </p:nvSpPr>
        <p:spPr>
          <a:xfrm>
            <a:off x="384048" y="2907792"/>
            <a:ext cx="310896" cy="310896"/>
          </a:xfrm>
          <a:prstGeom prst="ellipse">
            <a:avLst/>
          </a:prstGeom>
          <a:solidFill>
            <a:srgbClr val="0A74E3"/>
          </a:solidFill>
          <a:ln w="12700">
            <a:solidFill>
              <a:srgbClr val="0A74E3"/>
            </a:solidFill>
            <a:prstDash val="solid"/>
          </a:ln>
        </p:spPr>
      </p:sp>
      <p:sp>
        <p:nvSpPr>
          <p:cNvPr id="26" name="Text 24"/>
          <p:cNvSpPr/>
          <p:nvPr/>
        </p:nvSpPr>
        <p:spPr>
          <a:xfrm>
            <a:off x="384048" y="2907792"/>
            <a:ext cx="310896" cy="310896"/>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3</a:t>
            </a:r>
            <a:endParaRPr lang="en-US" sz="850" dirty="0"/>
          </a:p>
        </p:txBody>
      </p:sp>
      <p:sp>
        <p:nvSpPr>
          <p:cNvPr id="27" name="Text 25"/>
          <p:cNvSpPr/>
          <p:nvPr/>
        </p:nvSpPr>
        <p:spPr>
          <a:xfrm>
            <a:off x="777240" y="2852928"/>
            <a:ext cx="2286000" cy="219456"/>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Aplicar Diagnóstico CII</a:t>
            </a:r>
            <a:endParaRPr lang="en-US" sz="900" dirty="0"/>
          </a:p>
        </p:txBody>
      </p:sp>
      <p:sp>
        <p:nvSpPr>
          <p:cNvPr id="28" name="Text 26"/>
          <p:cNvSpPr/>
          <p:nvPr/>
        </p:nvSpPr>
        <p:spPr>
          <a:xfrm>
            <a:off x="777240" y="3072384"/>
            <a:ext cx="5486400" cy="201168"/>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Completar el scorecard de madurez de 64 puntos con el equipo de gestión de proyectos para baseline</a:t>
            </a:r>
            <a:endParaRPr lang="en-US" sz="750" dirty="0"/>
          </a:p>
        </p:txBody>
      </p:sp>
      <p:sp>
        <p:nvSpPr>
          <p:cNvPr id="29" name="Shape 27"/>
          <p:cNvSpPr/>
          <p:nvPr/>
        </p:nvSpPr>
        <p:spPr>
          <a:xfrm>
            <a:off x="6583680" y="2907792"/>
            <a:ext cx="2176272" cy="310896"/>
          </a:xfrm>
          <a:prstGeom prst="roundRect">
            <a:avLst>
              <a:gd name="adj" fmla="val 11765"/>
            </a:avLst>
          </a:prstGeom>
          <a:solidFill>
            <a:srgbClr val="0E9E9E"/>
          </a:solidFill>
          <a:ln w="12700">
            <a:solidFill>
              <a:srgbClr val="0E9E9E"/>
            </a:solidFill>
            <a:prstDash val="solid"/>
          </a:ln>
        </p:spPr>
      </p:sp>
      <p:sp>
        <p:nvSpPr>
          <p:cNvPr id="30" name="Text 28"/>
          <p:cNvSpPr/>
          <p:nvPr/>
        </p:nvSpPr>
        <p:spPr>
          <a:xfrm>
            <a:off x="6583680" y="2907792"/>
            <a:ext cx="2176272" cy="310896"/>
          </a:xfrm>
          <a:prstGeom prst="rect">
            <a:avLst/>
          </a:prstGeom>
          <a:noFill/>
          <a:ln/>
        </p:spPr>
        <p:txBody>
          <a:bodyPr wrap="square" rtlCol="0" anchor="ctr"/>
          <a:lstStyle/>
          <a:p>
            <a:pPr algn="ctr" indent="0" marL="0">
              <a:buNone/>
            </a:pPr>
            <a:r>
              <a:rPr lang="en-US" sz="800" b="1" dirty="0">
                <a:solidFill>
                  <a:srgbClr val="0E9E9E"/>
                </a:solidFill>
                <a:latin typeface="Atkinson Hyperlegible" pitchFamily="34" charset="0"/>
                <a:ea typeface="Atkinson Hyperlegible" pitchFamily="34" charset="-122"/>
                <a:cs typeface="Atkinson Hyperlegible" pitchFamily="34" charset="-120"/>
              </a:rPr>
              <a:t>1 mes</a:t>
            </a:r>
            <a:endParaRPr lang="en-US" sz="800" dirty="0"/>
          </a:p>
        </p:txBody>
      </p:sp>
      <p:sp>
        <p:nvSpPr>
          <p:cNvPr id="31" name="Shape 29"/>
          <p:cNvSpPr/>
          <p:nvPr/>
        </p:nvSpPr>
        <p:spPr>
          <a:xfrm>
            <a:off x="320040" y="3364992"/>
            <a:ext cx="8503920" cy="493776"/>
          </a:xfrm>
          <a:prstGeom prst="rect">
            <a:avLst>
              <a:gd name="adj" fmla="val 7407"/>
            </a:avLst>
          </a:prstGeom>
          <a:solidFill>
            <a:srgbClr val="F8F8FA"/>
          </a:solidFill>
          <a:ln w="6350">
            <a:solidFill>
              <a:srgbClr val="E5E5EA"/>
            </a:solidFill>
            <a:prstDash val="solid"/>
          </a:ln>
        </p:spPr>
      </p:sp>
      <p:sp>
        <p:nvSpPr>
          <p:cNvPr id="32" name="Shape 30"/>
          <p:cNvSpPr/>
          <p:nvPr/>
        </p:nvSpPr>
        <p:spPr>
          <a:xfrm>
            <a:off x="384048" y="3456432"/>
            <a:ext cx="310896" cy="310896"/>
          </a:xfrm>
          <a:prstGeom prst="ellipse">
            <a:avLst/>
          </a:prstGeom>
          <a:solidFill>
            <a:srgbClr val="0A74E3"/>
          </a:solidFill>
          <a:ln w="12700">
            <a:solidFill>
              <a:srgbClr val="0A74E3"/>
            </a:solidFill>
            <a:prstDash val="solid"/>
          </a:ln>
        </p:spPr>
      </p:sp>
      <p:sp>
        <p:nvSpPr>
          <p:cNvPr id="33" name="Text 31"/>
          <p:cNvSpPr/>
          <p:nvPr/>
        </p:nvSpPr>
        <p:spPr>
          <a:xfrm>
            <a:off x="384048" y="3456432"/>
            <a:ext cx="310896" cy="310896"/>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4</a:t>
            </a:r>
            <a:endParaRPr lang="en-US" sz="850" dirty="0"/>
          </a:p>
        </p:txBody>
      </p:sp>
      <p:sp>
        <p:nvSpPr>
          <p:cNvPr id="34" name="Text 32"/>
          <p:cNvSpPr/>
          <p:nvPr/>
        </p:nvSpPr>
        <p:spPr>
          <a:xfrm>
            <a:off x="777240" y="3401568"/>
            <a:ext cx="2286000" cy="219456"/>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Programar Capacitación</a:t>
            </a:r>
            <a:endParaRPr lang="en-US" sz="900" dirty="0"/>
          </a:p>
        </p:txBody>
      </p:sp>
      <p:sp>
        <p:nvSpPr>
          <p:cNvPr id="35" name="Text 33"/>
          <p:cNvSpPr/>
          <p:nvPr/>
        </p:nvSpPr>
        <p:spPr>
          <a:xfrm>
            <a:off x="777240" y="3621024"/>
            <a:ext cx="5486400" cy="201168"/>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Agendar el programa de 24 horas CII AWP para el equipo núcleo del proyecto piloto</a:t>
            </a:r>
            <a:endParaRPr lang="en-US" sz="750" dirty="0"/>
          </a:p>
        </p:txBody>
      </p:sp>
      <p:sp>
        <p:nvSpPr>
          <p:cNvPr id="36" name="Shape 34"/>
          <p:cNvSpPr/>
          <p:nvPr/>
        </p:nvSpPr>
        <p:spPr>
          <a:xfrm>
            <a:off x="6583680" y="3456432"/>
            <a:ext cx="2176272" cy="310896"/>
          </a:xfrm>
          <a:prstGeom prst="roundRect">
            <a:avLst>
              <a:gd name="adj" fmla="val 11765"/>
            </a:avLst>
          </a:prstGeom>
          <a:solidFill>
            <a:srgbClr val="0E9E9E"/>
          </a:solidFill>
          <a:ln w="12700">
            <a:solidFill>
              <a:srgbClr val="0E9E9E"/>
            </a:solidFill>
            <a:prstDash val="solid"/>
          </a:ln>
        </p:spPr>
      </p:sp>
      <p:sp>
        <p:nvSpPr>
          <p:cNvPr id="37" name="Text 35"/>
          <p:cNvSpPr/>
          <p:nvPr/>
        </p:nvSpPr>
        <p:spPr>
          <a:xfrm>
            <a:off x="6583680" y="3456432"/>
            <a:ext cx="2176272" cy="310896"/>
          </a:xfrm>
          <a:prstGeom prst="rect">
            <a:avLst/>
          </a:prstGeom>
          <a:noFill/>
          <a:ln/>
        </p:spPr>
        <p:txBody>
          <a:bodyPr wrap="square" rtlCol="0" anchor="ctr"/>
          <a:lstStyle/>
          <a:p>
            <a:pPr algn="ctr" indent="0" marL="0">
              <a:buNone/>
            </a:pPr>
            <a:r>
              <a:rPr lang="en-US" sz="800" b="1" dirty="0">
                <a:solidFill>
                  <a:srgbClr val="0E9E9E"/>
                </a:solidFill>
                <a:latin typeface="Atkinson Hyperlegible" pitchFamily="34" charset="0"/>
                <a:ea typeface="Atkinson Hyperlegible" pitchFamily="34" charset="-122"/>
                <a:cs typeface="Atkinson Hyperlegible" pitchFamily="34" charset="-120"/>
              </a:rPr>
              <a:t>1 mes</a:t>
            </a:r>
            <a:endParaRPr lang="en-US" sz="800" dirty="0"/>
          </a:p>
        </p:txBody>
      </p:sp>
      <p:sp>
        <p:nvSpPr>
          <p:cNvPr id="38" name="Shape 36"/>
          <p:cNvSpPr/>
          <p:nvPr/>
        </p:nvSpPr>
        <p:spPr>
          <a:xfrm>
            <a:off x="320040" y="3913632"/>
            <a:ext cx="8503920" cy="493776"/>
          </a:xfrm>
          <a:prstGeom prst="rect">
            <a:avLst>
              <a:gd name="adj" fmla="val 7407"/>
            </a:avLst>
          </a:prstGeom>
          <a:solidFill>
            <a:srgbClr val="FFFFFF"/>
          </a:solidFill>
          <a:ln w="6350">
            <a:solidFill>
              <a:srgbClr val="E5E5EA"/>
            </a:solidFill>
            <a:prstDash val="solid"/>
          </a:ln>
        </p:spPr>
      </p:sp>
      <p:sp>
        <p:nvSpPr>
          <p:cNvPr id="39" name="Shape 37"/>
          <p:cNvSpPr/>
          <p:nvPr/>
        </p:nvSpPr>
        <p:spPr>
          <a:xfrm>
            <a:off x="384048" y="4005072"/>
            <a:ext cx="310896" cy="310896"/>
          </a:xfrm>
          <a:prstGeom prst="ellipse">
            <a:avLst/>
          </a:prstGeom>
          <a:solidFill>
            <a:srgbClr val="0A74E3"/>
          </a:solidFill>
          <a:ln w="12700">
            <a:solidFill>
              <a:srgbClr val="0A74E3"/>
            </a:solidFill>
            <a:prstDash val="solid"/>
          </a:ln>
        </p:spPr>
      </p:sp>
      <p:sp>
        <p:nvSpPr>
          <p:cNvPr id="40" name="Text 38"/>
          <p:cNvSpPr/>
          <p:nvPr/>
        </p:nvSpPr>
        <p:spPr>
          <a:xfrm>
            <a:off x="384048" y="4005072"/>
            <a:ext cx="310896" cy="310896"/>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5</a:t>
            </a:r>
            <a:endParaRPr lang="en-US" sz="850" dirty="0"/>
          </a:p>
        </p:txBody>
      </p:sp>
      <p:sp>
        <p:nvSpPr>
          <p:cNvPr id="41" name="Text 39"/>
          <p:cNvSpPr/>
          <p:nvPr/>
        </p:nvSpPr>
        <p:spPr>
          <a:xfrm>
            <a:off x="777240" y="3950208"/>
            <a:ext cx="2286000" cy="219456"/>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Definir KPIs de Base</a:t>
            </a:r>
            <a:endParaRPr lang="en-US" sz="900" dirty="0"/>
          </a:p>
        </p:txBody>
      </p:sp>
      <p:sp>
        <p:nvSpPr>
          <p:cNvPr id="42" name="Text 40"/>
          <p:cNvSpPr/>
          <p:nvPr/>
        </p:nvSpPr>
        <p:spPr>
          <a:xfrm>
            <a:off x="777240" y="4169664"/>
            <a:ext cx="5486400" cy="201168"/>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Establecer CPI, SPI, RTI Rate y retrabajo actuales (sin AWP) como línea base para medir mejora</a:t>
            </a:r>
            <a:endParaRPr lang="en-US" sz="750" dirty="0"/>
          </a:p>
        </p:txBody>
      </p:sp>
      <p:sp>
        <p:nvSpPr>
          <p:cNvPr id="43" name="Shape 41"/>
          <p:cNvSpPr/>
          <p:nvPr/>
        </p:nvSpPr>
        <p:spPr>
          <a:xfrm>
            <a:off x="6583680" y="4005072"/>
            <a:ext cx="2176272" cy="310896"/>
          </a:xfrm>
          <a:prstGeom prst="roundRect">
            <a:avLst>
              <a:gd name="adj" fmla="val 11765"/>
            </a:avLst>
          </a:prstGeom>
          <a:solidFill>
            <a:srgbClr val="0E9E9E"/>
          </a:solidFill>
          <a:ln w="12700">
            <a:solidFill>
              <a:srgbClr val="0E9E9E"/>
            </a:solidFill>
            <a:prstDash val="solid"/>
          </a:ln>
        </p:spPr>
      </p:sp>
      <p:sp>
        <p:nvSpPr>
          <p:cNvPr id="44" name="Text 42"/>
          <p:cNvSpPr/>
          <p:nvPr/>
        </p:nvSpPr>
        <p:spPr>
          <a:xfrm>
            <a:off x="6583680" y="4005072"/>
            <a:ext cx="2176272" cy="310896"/>
          </a:xfrm>
          <a:prstGeom prst="rect">
            <a:avLst/>
          </a:prstGeom>
          <a:noFill/>
          <a:ln/>
        </p:spPr>
        <p:txBody>
          <a:bodyPr wrap="square" rtlCol="0" anchor="ctr"/>
          <a:lstStyle/>
          <a:p>
            <a:pPr algn="ctr" indent="0" marL="0">
              <a:buNone/>
            </a:pPr>
            <a:r>
              <a:rPr lang="en-US" sz="800" b="1" dirty="0">
                <a:solidFill>
                  <a:srgbClr val="0E9E9E"/>
                </a:solidFill>
                <a:latin typeface="Atkinson Hyperlegible" pitchFamily="34" charset="0"/>
                <a:ea typeface="Atkinson Hyperlegible" pitchFamily="34" charset="-122"/>
                <a:cs typeface="Atkinson Hyperlegible" pitchFamily="34" charset="-120"/>
              </a:rPr>
              <a:t>1 mes</a:t>
            </a:r>
            <a:endParaRPr lang="en-US" sz="800" dirty="0"/>
          </a:p>
        </p:txBody>
      </p:sp>
      <p:sp>
        <p:nvSpPr>
          <p:cNvPr id="45" name="Shape 43"/>
          <p:cNvSpPr/>
          <p:nvPr/>
        </p:nvSpPr>
        <p:spPr>
          <a:xfrm>
            <a:off x="320040" y="4462272"/>
            <a:ext cx="8503920" cy="493776"/>
          </a:xfrm>
          <a:prstGeom prst="rect">
            <a:avLst>
              <a:gd name="adj" fmla="val 7407"/>
            </a:avLst>
          </a:prstGeom>
          <a:solidFill>
            <a:srgbClr val="F8F8FA"/>
          </a:solidFill>
          <a:ln w="6350">
            <a:solidFill>
              <a:srgbClr val="E5E5EA"/>
            </a:solidFill>
            <a:prstDash val="solid"/>
          </a:ln>
        </p:spPr>
      </p:sp>
      <p:sp>
        <p:nvSpPr>
          <p:cNvPr id="46" name="Shape 44"/>
          <p:cNvSpPr/>
          <p:nvPr/>
        </p:nvSpPr>
        <p:spPr>
          <a:xfrm>
            <a:off x="384048" y="4553712"/>
            <a:ext cx="310896" cy="310896"/>
          </a:xfrm>
          <a:prstGeom prst="ellipse">
            <a:avLst/>
          </a:prstGeom>
          <a:solidFill>
            <a:srgbClr val="0A74E3"/>
          </a:solidFill>
          <a:ln w="12700">
            <a:solidFill>
              <a:srgbClr val="0A74E3"/>
            </a:solidFill>
            <a:prstDash val="solid"/>
          </a:ln>
        </p:spPr>
      </p:sp>
      <p:sp>
        <p:nvSpPr>
          <p:cNvPr id="47" name="Text 45"/>
          <p:cNvSpPr/>
          <p:nvPr/>
        </p:nvSpPr>
        <p:spPr>
          <a:xfrm>
            <a:off x="384048" y="4553712"/>
            <a:ext cx="310896" cy="310896"/>
          </a:xfrm>
          <a:prstGeom prst="rect">
            <a:avLst/>
          </a:prstGeom>
          <a:noFill/>
          <a:ln/>
        </p:spPr>
        <p:txBody>
          <a:bodyPr wrap="square"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6</a:t>
            </a:r>
            <a:endParaRPr lang="en-US" sz="850" dirty="0"/>
          </a:p>
        </p:txBody>
      </p:sp>
      <p:sp>
        <p:nvSpPr>
          <p:cNvPr id="48" name="Text 46"/>
          <p:cNvSpPr/>
          <p:nvPr/>
        </p:nvSpPr>
        <p:spPr>
          <a:xfrm>
            <a:off x="777240" y="4498848"/>
            <a:ext cx="2286000" cy="219456"/>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Conectar con CII</a:t>
            </a:r>
            <a:endParaRPr lang="en-US" sz="900" dirty="0"/>
          </a:p>
        </p:txBody>
      </p:sp>
      <p:sp>
        <p:nvSpPr>
          <p:cNvPr id="49" name="Text 47"/>
          <p:cNvSpPr/>
          <p:nvPr/>
        </p:nvSpPr>
        <p:spPr>
          <a:xfrm>
            <a:off x="777240" y="4718304"/>
            <a:ext cx="5486400" cy="201168"/>
          </a:xfrm>
          <a:prstGeom prst="rect">
            <a:avLst/>
          </a:prstGeom>
          <a:noFill/>
          <a:ln/>
        </p:spPr>
        <p:txBody>
          <a:bodyPr wrap="square" rtlCol="0" anchor="ctr"/>
          <a:lstStyle/>
          <a:p>
            <a:pPr indent="0" marL="0">
              <a:buNone/>
            </a:pPr>
            <a:r>
              <a:rPr lang="en-US" sz="750" dirty="0">
                <a:solidFill>
                  <a:srgbClr val="444444"/>
                </a:solidFill>
                <a:latin typeface="Atkinson Hyperlegible" pitchFamily="34" charset="0"/>
                <a:ea typeface="Atkinson Hyperlegible" pitchFamily="34" charset="-122"/>
                <a:cs typeface="Atkinson Hyperlegible" pitchFamily="34" charset="-120"/>
              </a:rPr>
              <a:t>Contactar CII Latinoamérica para inscripción, recursos y red de practitioners en la región</a:t>
            </a:r>
            <a:endParaRPr lang="en-US" sz="750" dirty="0"/>
          </a:p>
        </p:txBody>
      </p:sp>
      <p:sp>
        <p:nvSpPr>
          <p:cNvPr id="50" name="Shape 48"/>
          <p:cNvSpPr/>
          <p:nvPr/>
        </p:nvSpPr>
        <p:spPr>
          <a:xfrm>
            <a:off x="6583680" y="4553712"/>
            <a:ext cx="2176272" cy="310896"/>
          </a:xfrm>
          <a:prstGeom prst="roundRect">
            <a:avLst>
              <a:gd name="adj" fmla="val 11765"/>
            </a:avLst>
          </a:prstGeom>
          <a:solidFill>
            <a:srgbClr val="0E9E9E"/>
          </a:solidFill>
          <a:ln w="12700">
            <a:solidFill>
              <a:srgbClr val="0E9E9E"/>
            </a:solidFill>
            <a:prstDash val="solid"/>
          </a:ln>
        </p:spPr>
      </p:sp>
      <p:sp>
        <p:nvSpPr>
          <p:cNvPr id="51" name="Text 49"/>
          <p:cNvSpPr/>
          <p:nvPr/>
        </p:nvSpPr>
        <p:spPr>
          <a:xfrm>
            <a:off x="6583680" y="4553712"/>
            <a:ext cx="2176272" cy="310896"/>
          </a:xfrm>
          <a:prstGeom prst="rect">
            <a:avLst/>
          </a:prstGeom>
          <a:noFill/>
          <a:ln/>
        </p:spPr>
        <p:txBody>
          <a:bodyPr wrap="square" rtlCol="0" anchor="ctr"/>
          <a:lstStyle/>
          <a:p>
            <a:pPr algn="ctr" indent="0" marL="0">
              <a:buNone/>
            </a:pPr>
            <a:r>
              <a:rPr lang="en-US" sz="800" b="1" dirty="0">
                <a:solidFill>
                  <a:srgbClr val="0E9E9E"/>
                </a:solidFill>
                <a:latin typeface="Atkinson Hyperlegible" pitchFamily="34" charset="0"/>
                <a:ea typeface="Atkinson Hyperlegible" pitchFamily="34" charset="-122"/>
                <a:cs typeface="Atkinson Hyperlegible" pitchFamily="34" charset="-120"/>
              </a:rPr>
              <a:t>2 semanas</a:t>
            </a:r>
            <a:endParaRPr lang="en-US" sz="8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74E3"/>
          </a:solidFill>
          <a:ln w="12700">
            <a:solidFill>
              <a:srgbClr val="0A74E3"/>
            </a:solidFill>
            <a:prstDash val="solid"/>
          </a:ln>
        </p:spPr>
      </p:sp>
      <p:sp>
        <p:nvSpPr>
          <p:cNvPr id="3" name="Shape 1"/>
          <p:cNvSpPr/>
          <p:nvPr/>
        </p:nvSpPr>
        <p:spPr>
          <a:xfrm>
            <a:off x="0" y="0"/>
            <a:ext cx="9144000" cy="5143500"/>
          </a:xfrm>
          <a:prstGeom prst="rect">
            <a:avLst/>
          </a:prstGeom>
          <a:solidFill>
            <a:srgbClr val="000000"/>
          </a:solidFill>
          <a:ln w="12700">
            <a:solidFill>
              <a:srgbClr val="000000"/>
            </a:solidFill>
            <a:prstDash val="solid"/>
          </a:ln>
        </p:spPr>
      </p:sp>
      <p:sp>
        <p:nvSpPr>
          <p:cNvPr id="4" name="Shape 2"/>
          <p:cNvSpPr/>
          <p:nvPr/>
        </p:nvSpPr>
        <p:spPr>
          <a:xfrm>
            <a:off x="3291840" y="822960"/>
            <a:ext cx="2560320" cy="2560320"/>
          </a:xfrm>
          <a:prstGeom prst="ellipse">
            <a:avLst/>
          </a:prstGeom>
          <a:solidFill>
            <a:srgbClr val="FFFFFF"/>
          </a:solidFill>
          <a:ln w="12700">
            <a:solidFill>
              <a:srgbClr val="FFFFFF"/>
            </a:solidFill>
            <a:prstDash val="solid"/>
          </a:ln>
        </p:spPr>
      </p:sp>
      <p:sp>
        <p:nvSpPr>
          <p:cNvPr id="5" name="Text 3"/>
          <p:cNvSpPr/>
          <p:nvPr/>
        </p:nvSpPr>
        <p:spPr>
          <a:xfrm>
            <a:off x="3291840" y="822960"/>
            <a:ext cx="2560320" cy="2560320"/>
          </a:xfrm>
          <a:prstGeom prst="rect">
            <a:avLst/>
          </a:prstGeom>
          <a:noFill/>
          <a:ln/>
        </p:spPr>
        <p:txBody>
          <a:bodyPr wrap="square" rtlCol="0" anchor="ctr"/>
          <a:lstStyle/>
          <a:p>
            <a:pPr algn="ctr" indent="0" marL="0">
              <a:buNone/>
            </a:pPr>
            <a:r>
              <a:rPr lang="en-US" sz="9600" b="1" dirty="0">
                <a:solidFill>
                  <a:srgbClr val="FFFFFF">
                    <a:alpha val="60000"/>
                  </a:srgbClr>
                </a:solidFill>
                <a:latin typeface="Atkinson Hyperlegible" pitchFamily="34" charset="0"/>
                <a:ea typeface="Atkinson Hyperlegible" pitchFamily="34" charset="-122"/>
                <a:cs typeface="Atkinson Hyperlegible" pitchFamily="34" charset="-120"/>
              </a:rPr>
              <a:t>?</a:t>
            </a:r>
            <a:endParaRPr lang="en-US" sz="9600" dirty="0"/>
          </a:p>
        </p:txBody>
      </p:sp>
      <p:sp>
        <p:nvSpPr>
          <p:cNvPr id="6" name="Text 4"/>
          <p:cNvSpPr/>
          <p:nvPr/>
        </p:nvSpPr>
        <p:spPr>
          <a:xfrm>
            <a:off x="914400" y="3520440"/>
            <a:ext cx="7315200" cy="658368"/>
          </a:xfrm>
          <a:prstGeom prst="rect">
            <a:avLst/>
          </a:prstGeom>
          <a:noFill/>
          <a:ln/>
        </p:spPr>
        <p:txBody>
          <a:bodyPr wrap="square" rtlCol="0" anchor="ctr"/>
          <a:lstStyle/>
          <a:p>
            <a:pPr algn="ctr"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Preguntas y Discusión</a:t>
            </a:r>
            <a:endParaRPr lang="en-US" sz="2800" dirty="0"/>
          </a:p>
        </p:txBody>
      </p:sp>
      <p:sp>
        <p:nvSpPr>
          <p:cNvPr id="7" name="Text 5"/>
          <p:cNvSpPr/>
          <p:nvPr/>
        </p:nvSpPr>
        <p:spPr>
          <a:xfrm>
            <a:off x="914400" y="4224528"/>
            <a:ext cx="7315200" cy="512064"/>
          </a:xfrm>
          <a:prstGeom prst="rect">
            <a:avLst/>
          </a:prstGeom>
          <a:noFill/>
          <a:ln/>
        </p:spPr>
        <p:txBody>
          <a:bodyPr wrap="square" rtlCol="0" anchor="ctr"/>
          <a:lstStyle/>
          <a:p>
            <a:pPr algn="ctr" indent="0" marL="0">
              <a:buNone/>
            </a:pPr>
            <a:r>
              <a:rPr lang="en-US" sz="1100" i="1" dirty="0">
                <a:solidFill>
                  <a:srgbClr val="FFFFFF">
                    <a:alpha val="80000"/>
                  </a:srgbClr>
                </a:solidFill>
                <a:latin typeface="Atkinson Hyperlegible" pitchFamily="34" charset="0"/>
                <a:ea typeface="Atkinson Hyperlegible" pitchFamily="34" charset="-122"/>
                <a:cs typeface="Atkinson Hyperlegible" pitchFamily="34" charset="-120"/>
              </a:rPr>
              <a:t>¿Cuáles son los principales retos que ven en la implementación de constructabilidad en sus proyectos?</a:t>
            </a:r>
            <a:endParaRPr lang="en-US" sz="1100" dirty="0"/>
          </a:p>
        </p:txBody>
      </p:sp>
      <p:sp>
        <p:nvSpPr>
          <p:cNvPr id="8" name="Text 6"/>
          <p:cNvSpPr/>
          <p:nvPr/>
        </p:nvSpPr>
        <p:spPr>
          <a:xfrm>
            <a:off x="7772400" y="4892040"/>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122 / 126</a:t>
            </a:r>
            <a:endParaRPr lang="en-US" sz="7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4E3"/>
          </a:solidFill>
          <a:ln w="12700">
            <a:solidFill>
              <a:srgbClr val="0A74E3"/>
            </a:solidFill>
            <a:prstDash val="solid"/>
          </a:ln>
        </p:spPr>
      </p:sp>
      <p:sp>
        <p:nvSpPr>
          <p:cNvPr id="3" name="Shape 1"/>
          <p:cNvSpPr/>
          <p:nvPr/>
        </p:nvSpPr>
        <p:spPr>
          <a:xfrm>
            <a:off x="164592" y="4956048"/>
            <a:ext cx="8979408" cy="182880"/>
          </a:xfrm>
          <a:prstGeom prst="rect">
            <a:avLst/>
          </a:prstGeom>
          <a:solidFill>
            <a:srgbClr val="0A74E3"/>
          </a:solidFill>
          <a:ln w="12700">
            <a:solidFill>
              <a:srgbClr val="0A74E3"/>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123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Contacto y Recursos para Continuar</a:t>
            </a:r>
            <a:endParaRPr lang="en-US" sz="1800" dirty="0"/>
          </a:p>
        </p:txBody>
      </p:sp>
      <p:sp>
        <p:nvSpPr>
          <p:cNvPr id="6" name="Shape 4"/>
          <p:cNvSpPr/>
          <p:nvPr/>
        </p:nvSpPr>
        <p:spPr>
          <a:xfrm>
            <a:off x="320040" y="621792"/>
            <a:ext cx="8503920" cy="41148"/>
          </a:xfrm>
          <a:prstGeom prst="rect">
            <a:avLst/>
          </a:prstGeom>
          <a:solidFill>
            <a:srgbClr val="0A74E3"/>
          </a:solidFill>
          <a:ln w="12700">
            <a:solidFill>
              <a:srgbClr val="0A74E3"/>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A74E3"/>
                </a:solidFill>
                <a:latin typeface="Atkinson Hyperlegible" pitchFamily="34" charset="0"/>
                <a:ea typeface="Atkinson Hyperlegible" pitchFamily="34" charset="-122"/>
                <a:cs typeface="Atkinson Hyperlegible" pitchFamily="34" charset="-120"/>
              </a:rPr>
              <a:t>Dónde encontrar apoyo para la implementación de AWP en su organización</a:t>
            </a:r>
            <a:endParaRPr lang="en-US" sz="900" dirty="0"/>
          </a:p>
        </p:txBody>
      </p:sp>
      <p:sp>
        <p:nvSpPr>
          <p:cNvPr id="8" name="Shape 6"/>
          <p:cNvSpPr/>
          <p:nvPr/>
        </p:nvSpPr>
        <p:spPr>
          <a:xfrm>
            <a:off x="320040" y="960120"/>
            <a:ext cx="4023360" cy="1810512"/>
          </a:xfrm>
          <a:prstGeom prst="rect">
            <a:avLst>
              <a:gd name="adj" fmla="val 4040"/>
            </a:avLst>
          </a:prstGeom>
          <a:solidFill>
            <a:srgbClr val="FFFFFF"/>
          </a:solidFill>
          <a:ln w="15240">
            <a:solidFill>
              <a:srgbClr val="0A74E3"/>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7200" y="1097280"/>
            <a:ext cx="457200" cy="457200"/>
          </a:xfrm>
          <a:prstGeom prst="rect">
            <a:avLst/>
          </a:prstGeom>
        </p:spPr>
      </p:pic>
      <p:sp>
        <p:nvSpPr>
          <p:cNvPr id="10" name="Text 7"/>
          <p:cNvSpPr/>
          <p:nvPr/>
        </p:nvSpPr>
        <p:spPr>
          <a:xfrm>
            <a:off x="978408" y="1051560"/>
            <a:ext cx="3200400" cy="475488"/>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CII — Construction Industry Institute</a:t>
            </a:r>
            <a:endParaRPr lang="en-US" sz="900" dirty="0"/>
          </a:p>
        </p:txBody>
      </p:sp>
      <p:sp>
        <p:nvSpPr>
          <p:cNvPr id="11" name="Text 8"/>
          <p:cNvSpPr/>
          <p:nvPr/>
        </p:nvSpPr>
        <p:spPr>
          <a:xfrm>
            <a:off x="457200" y="1618488"/>
            <a:ext cx="3749040" cy="1078992"/>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cii.utexas.edu</a:t>
            </a:r>
            <a:endParaRPr lang="en-US" sz="800" dirty="0"/>
          </a:p>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Austin, TX — Capítulo Latinoamérica disponible</a:t>
            </a:r>
            <a:endParaRPr lang="en-US" sz="800" dirty="0"/>
          </a:p>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Publicaciones, certificaciones, benchmarking</a:t>
            </a:r>
            <a:endParaRPr lang="en-US" sz="800" dirty="0"/>
          </a:p>
        </p:txBody>
      </p:sp>
      <p:sp>
        <p:nvSpPr>
          <p:cNvPr id="12" name="Shape 9"/>
          <p:cNvSpPr/>
          <p:nvPr/>
        </p:nvSpPr>
        <p:spPr>
          <a:xfrm>
            <a:off x="4663440" y="960120"/>
            <a:ext cx="4023360" cy="1810512"/>
          </a:xfrm>
          <a:prstGeom prst="rect">
            <a:avLst>
              <a:gd name="adj" fmla="val 4040"/>
            </a:avLst>
          </a:prstGeom>
          <a:solidFill>
            <a:srgbClr val="FFFFFF"/>
          </a:solidFill>
          <a:ln w="15240">
            <a:solidFill>
              <a:srgbClr val="0E9E9E"/>
            </a:solidFill>
            <a:prstDash val="solid"/>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00600" y="1097280"/>
            <a:ext cx="457200" cy="457200"/>
          </a:xfrm>
          <a:prstGeom prst="rect">
            <a:avLst/>
          </a:prstGeom>
        </p:spPr>
      </p:pic>
      <p:sp>
        <p:nvSpPr>
          <p:cNvPr id="14" name="Text 10"/>
          <p:cNvSpPr/>
          <p:nvPr/>
        </p:nvSpPr>
        <p:spPr>
          <a:xfrm>
            <a:off x="5321808" y="1051560"/>
            <a:ext cx="3200400" cy="475488"/>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AACE International</a:t>
            </a:r>
            <a:endParaRPr lang="en-US" sz="900" dirty="0"/>
          </a:p>
        </p:txBody>
      </p:sp>
      <p:sp>
        <p:nvSpPr>
          <p:cNvPr id="15" name="Text 11"/>
          <p:cNvSpPr/>
          <p:nvPr/>
        </p:nvSpPr>
        <p:spPr>
          <a:xfrm>
            <a:off x="4800600" y="1618488"/>
            <a:ext cx="3749040" cy="1078992"/>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aacei.org</a:t>
            </a:r>
            <a:endParaRPr lang="en-US" sz="800" dirty="0"/>
          </a:p>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Standards, certificaciones CCE/CCP</a:t>
            </a:r>
            <a:endParaRPr lang="en-US" sz="800" dirty="0"/>
          </a:p>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Conferencia anual: Total Cost Management</a:t>
            </a:r>
            <a:endParaRPr lang="en-US" sz="800" dirty="0"/>
          </a:p>
        </p:txBody>
      </p:sp>
      <p:sp>
        <p:nvSpPr>
          <p:cNvPr id="16" name="Shape 12"/>
          <p:cNvSpPr/>
          <p:nvPr/>
        </p:nvSpPr>
        <p:spPr>
          <a:xfrm>
            <a:off x="320040" y="2898648"/>
            <a:ext cx="4023360" cy="1810512"/>
          </a:xfrm>
          <a:prstGeom prst="rect">
            <a:avLst>
              <a:gd name="adj" fmla="val 4040"/>
            </a:avLst>
          </a:prstGeom>
          <a:solidFill>
            <a:srgbClr val="FFFFFF"/>
          </a:solidFill>
          <a:ln w="15240">
            <a:solidFill>
              <a:srgbClr val="27AE60"/>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7200" y="3035808"/>
            <a:ext cx="457200" cy="457200"/>
          </a:xfrm>
          <a:prstGeom prst="rect">
            <a:avLst/>
          </a:prstGeom>
        </p:spPr>
      </p:pic>
      <p:sp>
        <p:nvSpPr>
          <p:cNvPr id="18" name="Text 13"/>
          <p:cNvSpPr/>
          <p:nvPr/>
        </p:nvSpPr>
        <p:spPr>
          <a:xfrm>
            <a:off x="978408" y="2990088"/>
            <a:ext cx="3200400" cy="475488"/>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PMI — Project Management Institute</a:t>
            </a:r>
            <a:endParaRPr lang="en-US" sz="900" dirty="0"/>
          </a:p>
        </p:txBody>
      </p:sp>
      <p:sp>
        <p:nvSpPr>
          <p:cNvPr id="19" name="Text 14"/>
          <p:cNvSpPr/>
          <p:nvPr/>
        </p:nvSpPr>
        <p:spPr>
          <a:xfrm>
            <a:off x="457200" y="3557016"/>
            <a:ext cx="3749040" cy="1078992"/>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pmi.org/latam</a:t>
            </a:r>
            <a:endParaRPr lang="en-US" sz="800" dirty="0"/>
          </a:p>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PMP-CP: Construction Professional</a:t>
            </a:r>
            <a:endParaRPr lang="en-US" sz="800" dirty="0"/>
          </a:p>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Capítulos locales en todas las capitales</a:t>
            </a:r>
            <a:endParaRPr lang="en-US" sz="800" dirty="0"/>
          </a:p>
        </p:txBody>
      </p:sp>
      <p:sp>
        <p:nvSpPr>
          <p:cNvPr id="20" name="Shape 15"/>
          <p:cNvSpPr/>
          <p:nvPr/>
        </p:nvSpPr>
        <p:spPr>
          <a:xfrm>
            <a:off x="4663440" y="2898648"/>
            <a:ext cx="4023360" cy="1810512"/>
          </a:xfrm>
          <a:prstGeom prst="rect">
            <a:avLst>
              <a:gd name="adj" fmla="val 4040"/>
            </a:avLst>
          </a:prstGeom>
          <a:solidFill>
            <a:srgbClr val="FFFFFF"/>
          </a:solidFill>
          <a:ln w="15240">
            <a:solidFill>
              <a:srgbClr val="D4620A"/>
            </a:solidFill>
            <a:prstDash val="solid"/>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00600" y="3035808"/>
            <a:ext cx="457200" cy="457200"/>
          </a:xfrm>
          <a:prstGeom prst="rect">
            <a:avLst/>
          </a:prstGeom>
        </p:spPr>
      </p:pic>
      <p:sp>
        <p:nvSpPr>
          <p:cNvPr id="22" name="Text 16"/>
          <p:cNvSpPr/>
          <p:nvPr/>
        </p:nvSpPr>
        <p:spPr>
          <a:xfrm>
            <a:off x="5321808" y="2990088"/>
            <a:ext cx="3200400" cy="475488"/>
          </a:xfrm>
          <a:prstGeom prst="rect">
            <a:avLst/>
          </a:prstGeom>
          <a:noFill/>
          <a:ln/>
        </p:spPr>
        <p:txBody>
          <a:bodyPr wrap="square" rtlCol="0" anchor="ctr"/>
          <a:lstStyle/>
          <a:p>
            <a:pPr indent="0" marL="0">
              <a:buNone/>
            </a:pPr>
            <a:r>
              <a:rPr lang="en-US" sz="900" b="1" dirty="0">
                <a:solidFill>
                  <a:srgbClr val="1D1D1F"/>
                </a:solidFill>
                <a:latin typeface="Atkinson Hyperlegible" pitchFamily="34" charset="0"/>
                <a:ea typeface="Atkinson Hyperlegible" pitchFamily="34" charset="-122"/>
                <a:cs typeface="Atkinson Hyperlegible" pitchFamily="34" charset="-120"/>
              </a:rPr>
              <a:t>Cosapi — Gestión de Proyectos</a:t>
            </a:r>
            <a:endParaRPr lang="en-US" sz="900" dirty="0"/>
          </a:p>
        </p:txBody>
      </p:sp>
      <p:sp>
        <p:nvSpPr>
          <p:cNvPr id="23" name="Text 17"/>
          <p:cNvSpPr/>
          <p:nvPr/>
        </p:nvSpPr>
        <p:spPr>
          <a:xfrm>
            <a:off x="4800600" y="3557016"/>
            <a:ext cx="3749040" cy="1078992"/>
          </a:xfrm>
          <a:prstGeom prst="rect">
            <a:avLst/>
          </a:prstGeom>
          <a:noFill/>
          <a:ln/>
        </p:spPr>
        <p:txBody>
          <a:bodyPr wrap="square" rtlCol="0" anchor="ctr"/>
          <a:lstStyle/>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cosapi.com.pe</a:t>
            </a:r>
            <a:endParaRPr lang="en-US" sz="800" dirty="0"/>
          </a:p>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Consultas sobre implementación AWP</a:t>
            </a:r>
            <a:endParaRPr lang="en-US" sz="800" dirty="0"/>
          </a:p>
          <a:p>
            <a:pPr indent="0" marL="0">
              <a:buNone/>
            </a:pPr>
            <a:r>
              <a:rPr lang="en-US" sz="800" dirty="0">
                <a:solidFill>
                  <a:srgbClr val="444444"/>
                </a:solidFill>
                <a:latin typeface="Atkinson Hyperlegible" pitchFamily="34" charset="0"/>
                <a:ea typeface="Atkinson Hyperlegible" pitchFamily="34" charset="-122"/>
                <a:cs typeface="Atkinson Hyperlegible" pitchFamily="34" charset="-120"/>
              </a:rPr>
              <a:t>evolucion1@cosapi.com.pe</a:t>
            </a:r>
            <a:endParaRPr lang="en-US" sz="8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4E3"/>
          </a:solidFill>
          <a:ln w="12700">
            <a:solidFill>
              <a:srgbClr val="0A74E3"/>
            </a:solidFill>
            <a:prstDash val="solid"/>
          </a:ln>
        </p:spPr>
      </p:sp>
      <p:sp>
        <p:nvSpPr>
          <p:cNvPr id="3" name="Shape 1"/>
          <p:cNvSpPr/>
          <p:nvPr/>
        </p:nvSpPr>
        <p:spPr>
          <a:xfrm>
            <a:off x="164592" y="4956048"/>
            <a:ext cx="8979408" cy="182880"/>
          </a:xfrm>
          <a:prstGeom prst="rect">
            <a:avLst/>
          </a:prstGeom>
          <a:solidFill>
            <a:srgbClr val="0A74E3"/>
          </a:solidFill>
          <a:ln w="12700">
            <a:solidFill>
              <a:srgbClr val="0A74E3"/>
            </a:solidFill>
            <a:prstDash val="solid"/>
          </a:ln>
        </p:spPr>
      </p:sp>
      <p:sp>
        <p:nvSpPr>
          <p:cNvPr id="4" name="Text 2"/>
          <p:cNvSpPr/>
          <p:nvPr/>
        </p:nvSpPr>
        <p:spPr>
          <a:xfrm>
            <a:off x="7772400" y="4956048"/>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124 / 126</a:t>
            </a:r>
            <a:endParaRPr lang="en-US" sz="700" dirty="0"/>
          </a:p>
        </p:txBody>
      </p:sp>
      <p:sp>
        <p:nvSpPr>
          <p:cNvPr id="5" name="Text 3"/>
          <p:cNvSpPr/>
          <p:nvPr/>
        </p:nvSpPr>
        <p:spPr>
          <a:xfrm>
            <a:off x="320040" y="73152"/>
            <a:ext cx="8503920" cy="530352"/>
          </a:xfrm>
          <a:prstGeom prst="rect">
            <a:avLst/>
          </a:prstGeom>
          <a:noFill/>
          <a:ln/>
        </p:spPr>
        <p:txBody>
          <a:bodyPr wrap="square" rtlCol="0" anchor="ctr"/>
          <a:lstStyle/>
          <a:p>
            <a:pPr indent="0" marL="0">
              <a:buNone/>
            </a:pPr>
            <a:r>
              <a:rPr lang="en-US" sz="1800" b="1" dirty="0">
                <a:solidFill>
                  <a:srgbClr val="1D1D1F"/>
                </a:solidFill>
                <a:latin typeface="Atkinson Hyperlegible" pitchFamily="34" charset="0"/>
                <a:ea typeface="Atkinson Hyperlegible" pitchFamily="34" charset="-122"/>
                <a:cs typeface="Atkinson Hyperlegible" pitchFamily="34" charset="-120"/>
              </a:rPr>
              <a:t>Síntesis: Lo Más Importante de Esta Presentación</a:t>
            </a:r>
            <a:endParaRPr lang="en-US" sz="1800" dirty="0"/>
          </a:p>
        </p:txBody>
      </p:sp>
      <p:sp>
        <p:nvSpPr>
          <p:cNvPr id="6" name="Shape 4"/>
          <p:cNvSpPr/>
          <p:nvPr/>
        </p:nvSpPr>
        <p:spPr>
          <a:xfrm>
            <a:off x="320040" y="621792"/>
            <a:ext cx="8503920" cy="41148"/>
          </a:xfrm>
          <a:prstGeom prst="rect">
            <a:avLst/>
          </a:prstGeom>
          <a:solidFill>
            <a:srgbClr val="0A74E3"/>
          </a:solidFill>
          <a:ln w="12700">
            <a:solidFill>
              <a:srgbClr val="0A74E3"/>
            </a:solidFill>
            <a:prstDash val="solid"/>
          </a:ln>
        </p:spPr>
      </p:sp>
      <p:sp>
        <p:nvSpPr>
          <p:cNvPr id="7" name="Text 5"/>
          <p:cNvSpPr/>
          <p:nvPr/>
        </p:nvSpPr>
        <p:spPr>
          <a:xfrm>
            <a:off x="320040" y="676656"/>
            <a:ext cx="8503920" cy="237744"/>
          </a:xfrm>
          <a:prstGeom prst="rect">
            <a:avLst/>
          </a:prstGeom>
          <a:noFill/>
          <a:ln/>
        </p:spPr>
        <p:txBody>
          <a:bodyPr wrap="square" rtlCol="0" anchor="ctr"/>
          <a:lstStyle/>
          <a:p>
            <a:pPr indent="0" marL="0">
              <a:buNone/>
            </a:pPr>
            <a:r>
              <a:rPr lang="en-US" sz="900" i="1" dirty="0">
                <a:solidFill>
                  <a:srgbClr val="0A74E3"/>
                </a:solidFill>
                <a:latin typeface="Atkinson Hyperlegible" pitchFamily="34" charset="0"/>
                <a:ea typeface="Atkinson Hyperlegible" pitchFamily="34" charset="-122"/>
                <a:cs typeface="Atkinson Hyperlegible" pitchFamily="34" charset="-120"/>
              </a:rPr>
              <a:t>Los 7 mensajes clave sobre constructabilidad y AWP que debe llevarse hoy</a:t>
            </a:r>
            <a:endParaRPr lang="en-US" sz="900" dirty="0"/>
          </a:p>
        </p:txBody>
      </p:sp>
      <p:sp>
        <p:nvSpPr>
          <p:cNvPr id="8" name="Shape 6"/>
          <p:cNvSpPr/>
          <p:nvPr/>
        </p:nvSpPr>
        <p:spPr>
          <a:xfrm>
            <a:off x="320040" y="960120"/>
            <a:ext cx="8503920" cy="530352"/>
          </a:xfrm>
          <a:prstGeom prst="rect">
            <a:avLst>
              <a:gd name="adj" fmla="val 8621"/>
            </a:avLst>
          </a:prstGeom>
          <a:solidFill>
            <a:srgbClr val="FFFFFF"/>
          </a:solidFill>
          <a:ln w="10160">
            <a:solidFill>
              <a:srgbClr val="0A74E3"/>
            </a:solidFill>
            <a:prstDash val="solid"/>
          </a:ln>
        </p:spPr>
      </p:sp>
      <p:sp>
        <p:nvSpPr>
          <p:cNvPr id="9" name="Shape 7"/>
          <p:cNvSpPr/>
          <p:nvPr/>
        </p:nvSpPr>
        <p:spPr>
          <a:xfrm>
            <a:off x="384048" y="1033272"/>
            <a:ext cx="347472" cy="347472"/>
          </a:xfrm>
          <a:prstGeom prst="ellipse">
            <a:avLst/>
          </a:prstGeom>
          <a:solidFill>
            <a:srgbClr val="0A74E3"/>
          </a:solidFill>
          <a:ln w="12700">
            <a:solidFill>
              <a:srgbClr val="0A74E3"/>
            </a:solidFill>
            <a:prstDash val="solid"/>
          </a:ln>
        </p:spPr>
      </p:sp>
      <p:sp>
        <p:nvSpPr>
          <p:cNvPr id="10" name="Text 8"/>
          <p:cNvSpPr/>
          <p:nvPr/>
        </p:nvSpPr>
        <p:spPr>
          <a:xfrm>
            <a:off x="384048" y="1033272"/>
            <a:ext cx="347472" cy="347472"/>
          </a:xfrm>
          <a:prstGeom prst="rect">
            <a:avLst/>
          </a:prstGeom>
          <a:noFill/>
          <a:ln/>
        </p:spPr>
        <p:txBody>
          <a:bodyPr wrap="square"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1</a:t>
            </a:r>
            <a:endParaRPr lang="en-US" sz="1000" dirty="0"/>
          </a:p>
        </p:txBody>
      </p:sp>
      <p:sp>
        <p:nvSpPr>
          <p:cNvPr id="11" name="Text 9"/>
          <p:cNvSpPr/>
          <p:nvPr/>
        </p:nvSpPr>
        <p:spPr>
          <a:xfrm>
            <a:off x="841248" y="1014984"/>
            <a:ext cx="2926080" cy="237744"/>
          </a:xfrm>
          <a:prstGeom prst="rect">
            <a:avLst/>
          </a:prstGeom>
          <a:noFill/>
          <a:ln/>
        </p:spPr>
        <p:txBody>
          <a:bodyPr wrap="square" rtlCol="0" anchor="ctr"/>
          <a:lstStyle/>
          <a:p>
            <a:pPr indent="0" marL="0">
              <a:buNone/>
            </a:pPr>
            <a:r>
              <a:rPr lang="en-US" sz="900" b="1" dirty="0">
                <a:solidFill>
                  <a:srgbClr val="0A74E3"/>
                </a:solidFill>
                <a:latin typeface="Atkinson Hyperlegible" pitchFamily="34" charset="0"/>
                <a:ea typeface="Atkinson Hyperlegible" pitchFamily="34" charset="-122"/>
                <a:cs typeface="Atkinson Hyperlegible" pitchFamily="34" charset="-120"/>
              </a:rPr>
              <a:t>Constructabilidad = Ventaja Competitiva</a:t>
            </a:r>
            <a:endParaRPr lang="en-US" sz="900" dirty="0"/>
          </a:p>
        </p:txBody>
      </p:sp>
      <p:sp>
        <p:nvSpPr>
          <p:cNvPr id="12" name="Text 10"/>
          <p:cNvSpPr/>
          <p:nvPr/>
        </p:nvSpPr>
        <p:spPr>
          <a:xfrm>
            <a:off x="841248" y="1252728"/>
            <a:ext cx="7818120" cy="219456"/>
          </a:xfrm>
          <a:prstGeom prst="rect">
            <a:avLst/>
          </a:prstGeom>
          <a:noFill/>
          <a:ln/>
        </p:spPr>
        <p:txBody>
          <a:bodyPr wrap="square" rtlCol="0" anchor="ctr"/>
          <a:lstStyle/>
          <a:p>
            <a:pPr indent="0" marL="0">
              <a:buNone/>
            </a:pPr>
            <a:r>
              <a:rPr lang="en-US" sz="800" dirty="0">
                <a:solidFill>
                  <a:srgbClr val="333333"/>
                </a:solidFill>
                <a:latin typeface="Atkinson Hyperlegible" pitchFamily="34" charset="0"/>
                <a:ea typeface="Atkinson Hyperlegible" pitchFamily="34" charset="-122"/>
                <a:cs typeface="Atkinson Hyperlegible" pitchFamily="34" charset="-120"/>
              </a:rPr>
              <a:t>No es un costo adicional: es una inversión con ROI demostrado de 20-32:1 en proyectos de capital.</a:t>
            </a:r>
            <a:endParaRPr lang="en-US" sz="800" dirty="0"/>
          </a:p>
        </p:txBody>
      </p:sp>
      <p:sp>
        <p:nvSpPr>
          <p:cNvPr id="13" name="Shape 11"/>
          <p:cNvSpPr/>
          <p:nvPr/>
        </p:nvSpPr>
        <p:spPr>
          <a:xfrm>
            <a:off x="320040" y="1554480"/>
            <a:ext cx="8503920" cy="530352"/>
          </a:xfrm>
          <a:prstGeom prst="rect">
            <a:avLst>
              <a:gd name="adj" fmla="val 8621"/>
            </a:avLst>
          </a:prstGeom>
          <a:solidFill>
            <a:srgbClr val="F0F4FF"/>
          </a:solidFill>
          <a:ln w="10160">
            <a:solidFill>
              <a:srgbClr val="0A74E3"/>
            </a:solidFill>
            <a:prstDash val="solid"/>
          </a:ln>
        </p:spPr>
      </p:sp>
      <p:sp>
        <p:nvSpPr>
          <p:cNvPr id="14" name="Shape 12"/>
          <p:cNvSpPr/>
          <p:nvPr/>
        </p:nvSpPr>
        <p:spPr>
          <a:xfrm>
            <a:off x="384048" y="1627632"/>
            <a:ext cx="347472" cy="347472"/>
          </a:xfrm>
          <a:prstGeom prst="ellipse">
            <a:avLst/>
          </a:prstGeom>
          <a:solidFill>
            <a:srgbClr val="0A74E3"/>
          </a:solidFill>
          <a:ln w="12700">
            <a:solidFill>
              <a:srgbClr val="0A74E3"/>
            </a:solidFill>
            <a:prstDash val="solid"/>
          </a:ln>
        </p:spPr>
      </p:sp>
      <p:sp>
        <p:nvSpPr>
          <p:cNvPr id="15" name="Text 13"/>
          <p:cNvSpPr/>
          <p:nvPr/>
        </p:nvSpPr>
        <p:spPr>
          <a:xfrm>
            <a:off x="384048" y="1627632"/>
            <a:ext cx="347472" cy="347472"/>
          </a:xfrm>
          <a:prstGeom prst="rect">
            <a:avLst/>
          </a:prstGeom>
          <a:noFill/>
          <a:ln/>
        </p:spPr>
        <p:txBody>
          <a:bodyPr wrap="square"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2</a:t>
            </a:r>
            <a:endParaRPr lang="en-US" sz="1000" dirty="0"/>
          </a:p>
        </p:txBody>
      </p:sp>
      <p:sp>
        <p:nvSpPr>
          <p:cNvPr id="16" name="Text 14"/>
          <p:cNvSpPr/>
          <p:nvPr/>
        </p:nvSpPr>
        <p:spPr>
          <a:xfrm>
            <a:off x="841248" y="1609344"/>
            <a:ext cx="2926080" cy="237744"/>
          </a:xfrm>
          <a:prstGeom prst="rect">
            <a:avLst/>
          </a:prstGeom>
          <a:noFill/>
          <a:ln/>
        </p:spPr>
        <p:txBody>
          <a:bodyPr wrap="square" rtlCol="0" anchor="ctr"/>
          <a:lstStyle/>
          <a:p>
            <a:pPr indent="0" marL="0">
              <a:buNone/>
            </a:pPr>
            <a:r>
              <a:rPr lang="en-US" sz="900" b="1" dirty="0">
                <a:solidFill>
                  <a:srgbClr val="0A74E3"/>
                </a:solidFill>
                <a:latin typeface="Atkinson Hyperlegible" pitchFamily="34" charset="0"/>
                <a:ea typeface="Atkinson Hyperlegible" pitchFamily="34" charset="-122"/>
                <a:cs typeface="Atkinson Hyperlegible" pitchFamily="34" charset="-120"/>
              </a:rPr>
              <a:t>AWP es la Práctica Más Madura</a:t>
            </a:r>
            <a:endParaRPr lang="en-US" sz="900" dirty="0"/>
          </a:p>
        </p:txBody>
      </p:sp>
      <p:sp>
        <p:nvSpPr>
          <p:cNvPr id="17" name="Text 15"/>
          <p:cNvSpPr/>
          <p:nvPr/>
        </p:nvSpPr>
        <p:spPr>
          <a:xfrm>
            <a:off x="841248" y="1847088"/>
            <a:ext cx="7818120" cy="219456"/>
          </a:xfrm>
          <a:prstGeom prst="rect">
            <a:avLst/>
          </a:prstGeom>
          <a:noFill/>
          <a:ln/>
        </p:spPr>
        <p:txBody>
          <a:bodyPr wrap="square" rtlCol="0" anchor="ctr"/>
          <a:lstStyle/>
          <a:p>
            <a:pPr indent="0" marL="0">
              <a:buNone/>
            </a:pPr>
            <a:r>
              <a:rPr lang="en-US" sz="800" dirty="0">
                <a:solidFill>
                  <a:srgbClr val="333333"/>
                </a:solidFill>
                <a:latin typeface="Atkinson Hyperlegible" pitchFamily="34" charset="0"/>
                <a:ea typeface="Atkinson Hyperlegible" pitchFamily="34" charset="-122"/>
                <a:cs typeface="Atkinson Hyperlegible" pitchFamily="34" charset="-120"/>
              </a:rPr>
              <a:t>60+ años de investigación CII validan: CPI 1.04, SPI 1.03, retrabajo &lt;2% son alcanzables sistemáticamente.</a:t>
            </a:r>
            <a:endParaRPr lang="en-US" sz="800" dirty="0"/>
          </a:p>
        </p:txBody>
      </p:sp>
      <p:sp>
        <p:nvSpPr>
          <p:cNvPr id="18" name="Shape 16"/>
          <p:cNvSpPr/>
          <p:nvPr/>
        </p:nvSpPr>
        <p:spPr>
          <a:xfrm>
            <a:off x="320040" y="2148840"/>
            <a:ext cx="8503920" cy="530352"/>
          </a:xfrm>
          <a:prstGeom prst="rect">
            <a:avLst>
              <a:gd name="adj" fmla="val 8621"/>
            </a:avLst>
          </a:prstGeom>
          <a:solidFill>
            <a:srgbClr val="FFFFFF"/>
          </a:solidFill>
          <a:ln w="10160">
            <a:solidFill>
              <a:srgbClr val="0A74E3"/>
            </a:solidFill>
            <a:prstDash val="solid"/>
          </a:ln>
        </p:spPr>
      </p:sp>
      <p:sp>
        <p:nvSpPr>
          <p:cNvPr id="19" name="Shape 17"/>
          <p:cNvSpPr/>
          <p:nvPr/>
        </p:nvSpPr>
        <p:spPr>
          <a:xfrm>
            <a:off x="384048" y="2221992"/>
            <a:ext cx="347472" cy="347472"/>
          </a:xfrm>
          <a:prstGeom prst="ellipse">
            <a:avLst/>
          </a:prstGeom>
          <a:solidFill>
            <a:srgbClr val="0A74E3"/>
          </a:solidFill>
          <a:ln w="12700">
            <a:solidFill>
              <a:srgbClr val="0A74E3"/>
            </a:solidFill>
            <a:prstDash val="solid"/>
          </a:ln>
        </p:spPr>
      </p:sp>
      <p:sp>
        <p:nvSpPr>
          <p:cNvPr id="20" name="Text 18"/>
          <p:cNvSpPr/>
          <p:nvPr/>
        </p:nvSpPr>
        <p:spPr>
          <a:xfrm>
            <a:off x="384048" y="2221992"/>
            <a:ext cx="347472" cy="347472"/>
          </a:xfrm>
          <a:prstGeom prst="rect">
            <a:avLst/>
          </a:prstGeom>
          <a:noFill/>
          <a:ln/>
        </p:spPr>
        <p:txBody>
          <a:bodyPr wrap="square"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3</a:t>
            </a:r>
            <a:endParaRPr lang="en-US" sz="1000" dirty="0"/>
          </a:p>
        </p:txBody>
      </p:sp>
      <p:sp>
        <p:nvSpPr>
          <p:cNvPr id="21" name="Text 19"/>
          <p:cNvSpPr/>
          <p:nvPr/>
        </p:nvSpPr>
        <p:spPr>
          <a:xfrm>
            <a:off x="841248" y="2203704"/>
            <a:ext cx="2926080" cy="237744"/>
          </a:xfrm>
          <a:prstGeom prst="rect">
            <a:avLst/>
          </a:prstGeom>
          <a:noFill/>
          <a:ln/>
        </p:spPr>
        <p:txBody>
          <a:bodyPr wrap="square" rtlCol="0" anchor="ctr"/>
          <a:lstStyle/>
          <a:p>
            <a:pPr indent="0" marL="0">
              <a:buNone/>
            </a:pPr>
            <a:r>
              <a:rPr lang="en-US" sz="900" b="1" dirty="0">
                <a:solidFill>
                  <a:srgbClr val="0A74E3"/>
                </a:solidFill>
                <a:latin typeface="Atkinson Hyperlegible" pitchFamily="34" charset="0"/>
                <a:ea typeface="Atkinson Hyperlegible" pitchFamily="34" charset="-122"/>
                <a:cs typeface="Atkinson Hyperlegible" pitchFamily="34" charset="-120"/>
              </a:rPr>
              <a:t>El IWP es el Átomo Ejecutable</a:t>
            </a:r>
            <a:endParaRPr lang="en-US" sz="900" dirty="0"/>
          </a:p>
        </p:txBody>
      </p:sp>
      <p:sp>
        <p:nvSpPr>
          <p:cNvPr id="22" name="Text 20"/>
          <p:cNvSpPr/>
          <p:nvPr/>
        </p:nvSpPr>
        <p:spPr>
          <a:xfrm>
            <a:off x="841248" y="2441448"/>
            <a:ext cx="7818120" cy="219456"/>
          </a:xfrm>
          <a:prstGeom prst="rect">
            <a:avLst/>
          </a:prstGeom>
          <a:noFill/>
          <a:ln/>
        </p:spPr>
        <p:txBody>
          <a:bodyPr wrap="square" rtlCol="0" anchor="ctr"/>
          <a:lstStyle/>
          <a:p>
            <a:pPr indent="0" marL="0">
              <a:buNone/>
            </a:pPr>
            <a:r>
              <a:rPr lang="en-US" sz="800" dirty="0">
                <a:solidFill>
                  <a:srgbClr val="333333"/>
                </a:solidFill>
                <a:latin typeface="Atkinson Hyperlegible" pitchFamily="34" charset="0"/>
                <a:ea typeface="Atkinson Hyperlegible" pitchFamily="34" charset="-122"/>
                <a:cs typeface="Atkinson Hyperlegible" pitchFamily="34" charset="-120"/>
              </a:rPr>
              <a:t>≤1,000 HH, RTI verificado, documentación completa: el IWP transforma la planificación en acción controlable.</a:t>
            </a:r>
            <a:endParaRPr lang="en-US" sz="800" dirty="0"/>
          </a:p>
        </p:txBody>
      </p:sp>
      <p:sp>
        <p:nvSpPr>
          <p:cNvPr id="23" name="Shape 21"/>
          <p:cNvSpPr/>
          <p:nvPr/>
        </p:nvSpPr>
        <p:spPr>
          <a:xfrm>
            <a:off x="320040" y="2743200"/>
            <a:ext cx="8503920" cy="530352"/>
          </a:xfrm>
          <a:prstGeom prst="rect">
            <a:avLst>
              <a:gd name="adj" fmla="val 8621"/>
            </a:avLst>
          </a:prstGeom>
          <a:solidFill>
            <a:srgbClr val="F0F4FF"/>
          </a:solidFill>
          <a:ln w="10160">
            <a:solidFill>
              <a:srgbClr val="0A74E3"/>
            </a:solidFill>
            <a:prstDash val="solid"/>
          </a:ln>
        </p:spPr>
      </p:sp>
      <p:sp>
        <p:nvSpPr>
          <p:cNvPr id="24" name="Shape 22"/>
          <p:cNvSpPr/>
          <p:nvPr/>
        </p:nvSpPr>
        <p:spPr>
          <a:xfrm>
            <a:off x="384048" y="2816352"/>
            <a:ext cx="347472" cy="347472"/>
          </a:xfrm>
          <a:prstGeom prst="ellipse">
            <a:avLst/>
          </a:prstGeom>
          <a:solidFill>
            <a:srgbClr val="0A74E3"/>
          </a:solidFill>
          <a:ln w="12700">
            <a:solidFill>
              <a:srgbClr val="0A74E3"/>
            </a:solidFill>
            <a:prstDash val="solid"/>
          </a:ln>
        </p:spPr>
      </p:sp>
      <p:sp>
        <p:nvSpPr>
          <p:cNvPr id="25" name="Text 23"/>
          <p:cNvSpPr/>
          <p:nvPr/>
        </p:nvSpPr>
        <p:spPr>
          <a:xfrm>
            <a:off x="384048" y="2816352"/>
            <a:ext cx="347472" cy="347472"/>
          </a:xfrm>
          <a:prstGeom prst="rect">
            <a:avLst/>
          </a:prstGeom>
          <a:noFill/>
          <a:ln/>
        </p:spPr>
        <p:txBody>
          <a:bodyPr wrap="square"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4</a:t>
            </a:r>
            <a:endParaRPr lang="en-US" sz="1000" dirty="0"/>
          </a:p>
        </p:txBody>
      </p:sp>
      <p:sp>
        <p:nvSpPr>
          <p:cNvPr id="26" name="Text 24"/>
          <p:cNvSpPr/>
          <p:nvPr/>
        </p:nvSpPr>
        <p:spPr>
          <a:xfrm>
            <a:off x="841248" y="2798064"/>
            <a:ext cx="2926080" cy="237744"/>
          </a:xfrm>
          <a:prstGeom prst="rect">
            <a:avLst/>
          </a:prstGeom>
          <a:noFill/>
          <a:ln/>
        </p:spPr>
        <p:txBody>
          <a:bodyPr wrap="square" rtlCol="0" anchor="ctr"/>
          <a:lstStyle/>
          <a:p>
            <a:pPr indent="0" marL="0">
              <a:buNone/>
            </a:pPr>
            <a:r>
              <a:rPr lang="en-US" sz="900" b="1" dirty="0">
                <a:solidFill>
                  <a:srgbClr val="0A74E3"/>
                </a:solidFill>
                <a:latin typeface="Atkinson Hyperlegible" pitchFamily="34" charset="0"/>
                <a:ea typeface="Atkinson Hyperlegible" pitchFamily="34" charset="-122"/>
                <a:cs typeface="Atkinson Hyperlegible" pitchFamily="34" charset="-120"/>
              </a:rPr>
              <a:t>Tecnología es Habilitadora, No Fin</a:t>
            </a:r>
            <a:endParaRPr lang="en-US" sz="900" dirty="0"/>
          </a:p>
        </p:txBody>
      </p:sp>
      <p:sp>
        <p:nvSpPr>
          <p:cNvPr id="27" name="Text 25"/>
          <p:cNvSpPr/>
          <p:nvPr/>
        </p:nvSpPr>
        <p:spPr>
          <a:xfrm>
            <a:off x="841248" y="3035808"/>
            <a:ext cx="7818120" cy="219456"/>
          </a:xfrm>
          <a:prstGeom prst="rect">
            <a:avLst/>
          </a:prstGeom>
          <a:noFill/>
          <a:ln/>
        </p:spPr>
        <p:txBody>
          <a:bodyPr wrap="square" rtlCol="0" anchor="ctr"/>
          <a:lstStyle/>
          <a:p>
            <a:pPr indent="0" marL="0">
              <a:buNone/>
            </a:pPr>
            <a:r>
              <a:rPr lang="en-US" sz="800" dirty="0">
                <a:solidFill>
                  <a:srgbClr val="333333"/>
                </a:solidFill>
                <a:latin typeface="Atkinson Hyperlegible" pitchFamily="34" charset="0"/>
                <a:ea typeface="Atkinson Hyperlegible" pitchFamily="34" charset="-122"/>
                <a:cs typeface="Atkinson Hyperlegible" pitchFamily="34" charset="-120"/>
              </a:rPr>
              <a:t>BIM, plataformas AWP e IA amplifican el valor — pero sin el proceso y la cultura, no funcionan.</a:t>
            </a:r>
            <a:endParaRPr lang="en-US" sz="800" dirty="0"/>
          </a:p>
        </p:txBody>
      </p:sp>
      <p:sp>
        <p:nvSpPr>
          <p:cNvPr id="28" name="Shape 26"/>
          <p:cNvSpPr/>
          <p:nvPr/>
        </p:nvSpPr>
        <p:spPr>
          <a:xfrm>
            <a:off x="320040" y="3337560"/>
            <a:ext cx="8503920" cy="530352"/>
          </a:xfrm>
          <a:prstGeom prst="rect">
            <a:avLst>
              <a:gd name="adj" fmla="val 8621"/>
            </a:avLst>
          </a:prstGeom>
          <a:solidFill>
            <a:srgbClr val="FFFFFF"/>
          </a:solidFill>
          <a:ln w="10160">
            <a:solidFill>
              <a:srgbClr val="0A74E3"/>
            </a:solidFill>
            <a:prstDash val="solid"/>
          </a:ln>
        </p:spPr>
      </p:sp>
      <p:sp>
        <p:nvSpPr>
          <p:cNvPr id="29" name="Shape 27"/>
          <p:cNvSpPr/>
          <p:nvPr/>
        </p:nvSpPr>
        <p:spPr>
          <a:xfrm>
            <a:off x="384048" y="3410712"/>
            <a:ext cx="347472" cy="347472"/>
          </a:xfrm>
          <a:prstGeom prst="ellipse">
            <a:avLst/>
          </a:prstGeom>
          <a:solidFill>
            <a:srgbClr val="0A74E3"/>
          </a:solidFill>
          <a:ln w="12700">
            <a:solidFill>
              <a:srgbClr val="0A74E3"/>
            </a:solidFill>
            <a:prstDash val="solid"/>
          </a:ln>
        </p:spPr>
      </p:sp>
      <p:sp>
        <p:nvSpPr>
          <p:cNvPr id="30" name="Text 28"/>
          <p:cNvSpPr/>
          <p:nvPr/>
        </p:nvSpPr>
        <p:spPr>
          <a:xfrm>
            <a:off x="384048" y="3410712"/>
            <a:ext cx="347472" cy="347472"/>
          </a:xfrm>
          <a:prstGeom prst="rect">
            <a:avLst/>
          </a:prstGeom>
          <a:noFill/>
          <a:ln/>
        </p:spPr>
        <p:txBody>
          <a:bodyPr wrap="square"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5</a:t>
            </a:r>
            <a:endParaRPr lang="en-US" sz="1000" dirty="0"/>
          </a:p>
        </p:txBody>
      </p:sp>
      <p:sp>
        <p:nvSpPr>
          <p:cNvPr id="31" name="Text 29"/>
          <p:cNvSpPr/>
          <p:nvPr/>
        </p:nvSpPr>
        <p:spPr>
          <a:xfrm>
            <a:off x="841248" y="3392424"/>
            <a:ext cx="2926080" cy="237744"/>
          </a:xfrm>
          <a:prstGeom prst="rect">
            <a:avLst/>
          </a:prstGeom>
          <a:noFill/>
          <a:ln/>
        </p:spPr>
        <p:txBody>
          <a:bodyPr wrap="square" rtlCol="0" anchor="ctr"/>
          <a:lstStyle/>
          <a:p>
            <a:pPr indent="0" marL="0">
              <a:buNone/>
            </a:pPr>
            <a:r>
              <a:rPr lang="en-US" sz="900" b="1" dirty="0">
                <a:solidFill>
                  <a:srgbClr val="0A74E3"/>
                </a:solidFill>
                <a:latin typeface="Atkinson Hyperlegible" pitchFamily="34" charset="0"/>
                <a:ea typeface="Atkinson Hyperlegible" pitchFamily="34" charset="-122"/>
                <a:cs typeface="Atkinson Hyperlegible" pitchFamily="34" charset="-120"/>
              </a:rPr>
              <a:t>Early Involvement es No Negociable</a:t>
            </a:r>
            <a:endParaRPr lang="en-US" sz="900" dirty="0"/>
          </a:p>
        </p:txBody>
      </p:sp>
      <p:sp>
        <p:nvSpPr>
          <p:cNvPr id="32" name="Text 30"/>
          <p:cNvSpPr/>
          <p:nvPr/>
        </p:nvSpPr>
        <p:spPr>
          <a:xfrm>
            <a:off x="841248" y="3630168"/>
            <a:ext cx="7818120" cy="219456"/>
          </a:xfrm>
          <a:prstGeom prst="rect">
            <a:avLst/>
          </a:prstGeom>
          <a:noFill/>
          <a:ln/>
        </p:spPr>
        <p:txBody>
          <a:bodyPr wrap="square" rtlCol="0" anchor="ctr"/>
          <a:lstStyle/>
          <a:p>
            <a:pPr indent="0" marL="0">
              <a:buNone/>
            </a:pPr>
            <a:r>
              <a:rPr lang="en-US" sz="800" dirty="0">
                <a:solidFill>
                  <a:srgbClr val="333333"/>
                </a:solidFill>
                <a:latin typeface="Atkinson Hyperlegible" pitchFamily="34" charset="0"/>
                <a:ea typeface="Atkinson Hyperlegible" pitchFamily="34" charset="-122"/>
                <a:cs typeface="Atkinson Hyperlegible" pitchFamily="34" charset="-120"/>
              </a:rPr>
              <a:t>85% del potencial de ahorro se pierde si la constructabilidad empieza después del diseño básico.</a:t>
            </a:r>
            <a:endParaRPr lang="en-US" sz="800" dirty="0"/>
          </a:p>
        </p:txBody>
      </p:sp>
      <p:sp>
        <p:nvSpPr>
          <p:cNvPr id="33" name="Shape 31"/>
          <p:cNvSpPr/>
          <p:nvPr/>
        </p:nvSpPr>
        <p:spPr>
          <a:xfrm>
            <a:off x="320040" y="3931920"/>
            <a:ext cx="8503920" cy="530352"/>
          </a:xfrm>
          <a:prstGeom prst="rect">
            <a:avLst>
              <a:gd name="adj" fmla="val 8621"/>
            </a:avLst>
          </a:prstGeom>
          <a:solidFill>
            <a:srgbClr val="F0F4FF"/>
          </a:solidFill>
          <a:ln w="10160">
            <a:solidFill>
              <a:srgbClr val="0A74E3"/>
            </a:solidFill>
            <a:prstDash val="solid"/>
          </a:ln>
        </p:spPr>
      </p:sp>
      <p:sp>
        <p:nvSpPr>
          <p:cNvPr id="34" name="Shape 32"/>
          <p:cNvSpPr/>
          <p:nvPr/>
        </p:nvSpPr>
        <p:spPr>
          <a:xfrm>
            <a:off x="384048" y="4005072"/>
            <a:ext cx="347472" cy="347472"/>
          </a:xfrm>
          <a:prstGeom prst="ellipse">
            <a:avLst/>
          </a:prstGeom>
          <a:solidFill>
            <a:srgbClr val="0A74E3"/>
          </a:solidFill>
          <a:ln w="12700">
            <a:solidFill>
              <a:srgbClr val="0A74E3"/>
            </a:solidFill>
            <a:prstDash val="solid"/>
          </a:ln>
        </p:spPr>
      </p:sp>
      <p:sp>
        <p:nvSpPr>
          <p:cNvPr id="35" name="Text 33"/>
          <p:cNvSpPr/>
          <p:nvPr/>
        </p:nvSpPr>
        <p:spPr>
          <a:xfrm>
            <a:off x="384048" y="4005072"/>
            <a:ext cx="347472" cy="347472"/>
          </a:xfrm>
          <a:prstGeom prst="rect">
            <a:avLst/>
          </a:prstGeom>
          <a:noFill/>
          <a:ln/>
        </p:spPr>
        <p:txBody>
          <a:bodyPr wrap="square"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6</a:t>
            </a:r>
            <a:endParaRPr lang="en-US" sz="1000" dirty="0"/>
          </a:p>
        </p:txBody>
      </p:sp>
      <p:sp>
        <p:nvSpPr>
          <p:cNvPr id="36" name="Text 34"/>
          <p:cNvSpPr/>
          <p:nvPr/>
        </p:nvSpPr>
        <p:spPr>
          <a:xfrm>
            <a:off x="841248" y="3986784"/>
            <a:ext cx="2926080" cy="237744"/>
          </a:xfrm>
          <a:prstGeom prst="rect">
            <a:avLst/>
          </a:prstGeom>
          <a:noFill/>
          <a:ln/>
        </p:spPr>
        <p:txBody>
          <a:bodyPr wrap="square" rtlCol="0" anchor="ctr"/>
          <a:lstStyle/>
          <a:p>
            <a:pPr indent="0" marL="0">
              <a:buNone/>
            </a:pPr>
            <a:r>
              <a:rPr lang="en-US" sz="900" b="1" dirty="0">
                <a:solidFill>
                  <a:srgbClr val="0A74E3"/>
                </a:solidFill>
                <a:latin typeface="Atkinson Hyperlegible" pitchFamily="34" charset="0"/>
                <a:ea typeface="Atkinson Hyperlegible" pitchFamily="34" charset="-122"/>
                <a:cs typeface="Atkinson Hyperlegible" pitchFamily="34" charset="-120"/>
              </a:rPr>
              <a:t>Medir es Mejorar</a:t>
            </a:r>
            <a:endParaRPr lang="en-US" sz="900" dirty="0"/>
          </a:p>
        </p:txBody>
      </p:sp>
      <p:sp>
        <p:nvSpPr>
          <p:cNvPr id="37" name="Text 35"/>
          <p:cNvSpPr/>
          <p:nvPr/>
        </p:nvSpPr>
        <p:spPr>
          <a:xfrm>
            <a:off x="841248" y="4224528"/>
            <a:ext cx="7818120" cy="219456"/>
          </a:xfrm>
          <a:prstGeom prst="rect">
            <a:avLst/>
          </a:prstGeom>
          <a:noFill/>
          <a:ln/>
        </p:spPr>
        <p:txBody>
          <a:bodyPr wrap="square" rtlCol="0" anchor="ctr"/>
          <a:lstStyle/>
          <a:p>
            <a:pPr indent="0" marL="0">
              <a:buNone/>
            </a:pPr>
            <a:r>
              <a:rPr lang="en-US" sz="800" dirty="0">
                <a:solidFill>
                  <a:srgbClr val="333333"/>
                </a:solidFill>
                <a:latin typeface="Atkinson Hyperlegible" pitchFamily="34" charset="0"/>
                <a:ea typeface="Atkinson Hyperlegible" pitchFamily="34" charset="-122"/>
                <a:cs typeface="Atkinson Hyperlegible" pitchFamily="34" charset="-120"/>
              </a:rPr>
              <a:t>KPIs desde el día 1: CPI, SPI, RTI Rate y retrabajo son los cuatro indicadores que no pueden faltar.</a:t>
            </a:r>
            <a:endParaRPr lang="en-US" sz="800" dirty="0"/>
          </a:p>
        </p:txBody>
      </p:sp>
      <p:sp>
        <p:nvSpPr>
          <p:cNvPr id="38" name="Shape 36"/>
          <p:cNvSpPr/>
          <p:nvPr/>
        </p:nvSpPr>
        <p:spPr>
          <a:xfrm>
            <a:off x="320040" y="4526280"/>
            <a:ext cx="8503920" cy="530352"/>
          </a:xfrm>
          <a:prstGeom prst="rect">
            <a:avLst>
              <a:gd name="adj" fmla="val 8621"/>
            </a:avLst>
          </a:prstGeom>
          <a:solidFill>
            <a:srgbClr val="FFFFFF"/>
          </a:solidFill>
          <a:ln w="10160">
            <a:solidFill>
              <a:srgbClr val="0A74E3"/>
            </a:solidFill>
            <a:prstDash val="solid"/>
          </a:ln>
        </p:spPr>
      </p:sp>
      <p:sp>
        <p:nvSpPr>
          <p:cNvPr id="39" name="Shape 37"/>
          <p:cNvSpPr/>
          <p:nvPr/>
        </p:nvSpPr>
        <p:spPr>
          <a:xfrm>
            <a:off x="384048" y="4599432"/>
            <a:ext cx="347472" cy="347472"/>
          </a:xfrm>
          <a:prstGeom prst="ellipse">
            <a:avLst/>
          </a:prstGeom>
          <a:solidFill>
            <a:srgbClr val="0A74E3"/>
          </a:solidFill>
          <a:ln w="12700">
            <a:solidFill>
              <a:srgbClr val="0A74E3"/>
            </a:solidFill>
            <a:prstDash val="solid"/>
          </a:ln>
        </p:spPr>
      </p:sp>
      <p:sp>
        <p:nvSpPr>
          <p:cNvPr id="40" name="Text 38"/>
          <p:cNvSpPr/>
          <p:nvPr/>
        </p:nvSpPr>
        <p:spPr>
          <a:xfrm>
            <a:off x="384048" y="4599432"/>
            <a:ext cx="347472" cy="347472"/>
          </a:xfrm>
          <a:prstGeom prst="rect">
            <a:avLst/>
          </a:prstGeom>
          <a:noFill/>
          <a:ln/>
        </p:spPr>
        <p:txBody>
          <a:bodyPr wrap="square"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7</a:t>
            </a:r>
            <a:endParaRPr lang="en-US" sz="1000" dirty="0"/>
          </a:p>
        </p:txBody>
      </p:sp>
      <p:sp>
        <p:nvSpPr>
          <p:cNvPr id="41" name="Text 39"/>
          <p:cNvSpPr/>
          <p:nvPr/>
        </p:nvSpPr>
        <p:spPr>
          <a:xfrm>
            <a:off x="841248" y="4581144"/>
            <a:ext cx="2926080" cy="237744"/>
          </a:xfrm>
          <a:prstGeom prst="rect">
            <a:avLst/>
          </a:prstGeom>
          <a:noFill/>
          <a:ln/>
        </p:spPr>
        <p:txBody>
          <a:bodyPr wrap="square" rtlCol="0" anchor="ctr"/>
          <a:lstStyle/>
          <a:p>
            <a:pPr indent="0" marL="0">
              <a:buNone/>
            </a:pPr>
            <a:r>
              <a:rPr lang="en-US" sz="900" b="1" dirty="0">
                <a:solidFill>
                  <a:srgbClr val="0A74E3"/>
                </a:solidFill>
                <a:latin typeface="Atkinson Hyperlegible" pitchFamily="34" charset="0"/>
                <a:ea typeface="Atkinson Hyperlegible" pitchFamily="34" charset="-122"/>
                <a:cs typeface="Atkinson Hyperlegible" pitchFamily="34" charset="-120"/>
              </a:rPr>
              <a:t>El Momento es Ahora</a:t>
            </a:r>
            <a:endParaRPr lang="en-US" sz="900" dirty="0"/>
          </a:p>
        </p:txBody>
      </p:sp>
      <p:sp>
        <p:nvSpPr>
          <p:cNvPr id="42" name="Text 40"/>
          <p:cNvSpPr/>
          <p:nvPr/>
        </p:nvSpPr>
        <p:spPr>
          <a:xfrm>
            <a:off x="841248" y="4818888"/>
            <a:ext cx="7818120" cy="219456"/>
          </a:xfrm>
          <a:prstGeom prst="rect">
            <a:avLst/>
          </a:prstGeom>
          <a:noFill/>
          <a:ln/>
        </p:spPr>
        <p:txBody>
          <a:bodyPr wrap="square" rtlCol="0" anchor="ctr"/>
          <a:lstStyle/>
          <a:p>
            <a:pPr indent="0" marL="0">
              <a:buNone/>
            </a:pPr>
            <a:r>
              <a:rPr lang="en-US" sz="800" dirty="0">
                <a:solidFill>
                  <a:srgbClr val="333333"/>
                </a:solidFill>
                <a:latin typeface="Atkinson Hyperlegible" pitchFamily="34" charset="0"/>
                <a:ea typeface="Atkinson Hyperlegible" pitchFamily="34" charset="-122"/>
                <a:cs typeface="Atkinson Hyperlegible" pitchFamily="34" charset="-120"/>
              </a:rPr>
              <a:t>Con US$180B en pipeline latinoamericano, quien implemente AWP primero capturará una ventaja duradera.</a:t>
            </a:r>
            <a:endParaRPr lang="en-US" sz="8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8FA"/>
          </a:solidFill>
          <a:ln w="12700">
            <a:solidFill>
              <a:srgbClr val="F8F8FA"/>
            </a:solidFill>
            <a:prstDash val="solid"/>
          </a:ln>
        </p:spPr>
      </p:sp>
      <p:sp>
        <p:nvSpPr>
          <p:cNvPr id="3" name="Shape 1"/>
          <p:cNvSpPr/>
          <p:nvPr/>
        </p:nvSpPr>
        <p:spPr>
          <a:xfrm>
            <a:off x="0" y="0"/>
            <a:ext cx="9144000" cy="1828800"/>
          </a:xfrm>
          <a:prstGeom prst="rect">
            <a:avLst/>
          </a:prstGeom>
          <a:solidFill>
            <a:srgbClr val="0A74E3"/>
          </a:solidFill>
          <a:ln w="12700">
            <a:solidFill>
              <a:srgbClr val="0A74E3"/>
            </a:solidFill>
            <a:prstDash val="solid"/>
          </a:ln>
        </p:spPr>
      </p:sp>
      <p:sp>
        <p:nvSpPr>
          <p:cNvPr id="4" name="Text 2"/>
          <p:cNvSpPr/>
          <p:nvPr/>
        </p:nvSpPr>
        <p:spPr>
          <a:xfrm>
            <a:off x="457200" y="274320"/>
            <a:ext cx="8229600" cy="1280160"/>
          </a:xfrm>
          <a:prstGeom prst="rect">
            <a:avLst/>
          </a:prstGeom>
          <a:noFill/>
          <a:ln/>
        </p:spPr>
        <p:txBody>
          <a:bodyPr wrap="square" rtlCol="0" anchor="ctr"/>
          <a:lstStyle/>
          <a:p>
            <a:pPr algn="ctr" indent="0" marL="0">
              <a:buNone/>
            </a:pPr>
            <a:r>
              <a:rPr lang="en-US" sz="5400" b="1" dirty="0">
                <a:solidFill>
                  <a:srgbClr val="FFFFFF"/>
                </a:solidFill>
                <a:latin typeface="Atkinson Hyperlegible" pitchFamily="34" charset="0"/>
                <a:ea typeface="Atkinson Hyperlegible" pitchFamily="34" charset="-122"/>
                <a:cs typeface="Atkinson Hyperlegible" pitchFamily="34" charset="-120"/>
              </a:rPr>
              <a:t>¡Gracias!</a:t>
            </a:r>
            <a:endParaRPr lang="en-US" sz="5400" dirty="0"/>
          </a:p>
        </p:txBody>
      </p:sp>
      <p:sp>
        <p:nvSpPr>
          <p:cNvPr id="5" name="Shape 3"/>
          <p:cNvSpPr/>
          <p:nvPr/>
        </p:nvSpPr>
        <p:spPr>
          <a:xfrm>
            <a:off x="457200" y="2011680"/>
            <a:ext cx="3657600" cy="1280160"/>
          </a:xfrm>
          <a:prstGeom prst="rect">
            <a:avLst>
              <a:gd name="adj" fmla="val 5714"/>
            </a:avLst>
          </a:prstGeom>
          <a:solidFill>
            <a:srgbClr val="FFFFFF"/>
          </a:solidFill>
          <a:ln w="12700">
            <a:solidFill>
              <a:srgbClr val="0A74E3"/>
            </a:solidFill>
            <a:prstDash val="solid"/>
          </a:ln>
        </p:spPr>
      </p:sp>
      <p:sp>
        <p:nvSpPr>
          <p:cNvPr id="6" name="Text 4"/>
          <p:cNvSpPr/>
          <p:nvPr/>
        </p:nvSpPr>
        <p:spPr>
          <a:xfrm>
            <a:off x="548640" y="2084832"/>
            <a:ext cx="3474720" cy="274320"/>
          </a:xfrm>
          <a:prstGeom prst="rect">
            <a:avLst/>
          </a:prstGeom>
          <a:noFill/>
          <a:ln/>
        </p:spPr>
        <p:txBody>
          <a:bodyPr wrap="square" rtlCol="0" anchor="ctr"/>
          <a:lstStyle/>
          <a:p>
            <a:pPr indent="0" marL="0">
              <a:buNone/>
            </a:pPr>
            <a:r>
              <a:rPr lang="en-US" sz="900" b="1" dirty="0">
                <a:solidFill>
                  <a:srgbClr val="0A74E3"/>
                </a:solidFill>
                <a:latin typeface="Atkinson Hyperlegible" pitchFamily="34" charset="0"/>
                <a:ea typeface="Atkinson Hyperlegible" pitchFamily="34" charset="-122"/>
                <a:cs typeface="Atkinson Hyperlegible" pitchFamily="34" charset="-120"/>
              </a:rPr>
              <a:t>Presentación</a:t>
            </a:r>
            <a:endParaRPr lang="en-US" sz="900" dirty="0"/>
          </a:p>
        </p:txBody>
      </p:sp>
      <p:sp>
        <p:nvSpPr>
          <p:cNvPr id="7" name="Text 5"/>
          <p:cNvSpPr/>
          <p:nvPr/>
        </p:nvSpPr>
        <p:spPr>
          <a:xfrm>
            <a:off x="548640" y="2359152"/>
            <a:ext cx="3474720" cy="640080"/>
          </a:xfrm>
          <a:prstGeom prst="rect">
            <a:avLst/>
          </a:prstGeom>
          <a:noFill/>
          <a:ln/>
        </p:spPr>
        <p:txBody>
          <a:bodyPr wrap="square" rtlCol="0" anchor="ctr"/>
          <a:lstStyle/>
          <a:p>
            <a:pPr indent="0" marL="0">
              <a:buNone/>
            </a:pPr>
            <a:r>
              <a:rPr lang="en-US" sz="1000" dirty="0">
                <a:solidFill>
                  <a:srgbClr val="1D1D1F"/>
                </a:solidFill>
                <a:latin typeface="Atkinson Hyperlegible" pitchFamily="34" charset="0"/>
                <a:ea typeface="Atkinson Hyperlegible" pitchFamily="34" charset="-122"/>
                <a:cs typeface="Atkinson Hyperlegible" pitchFamily="34" charset="-120"/>
              </a:rPr>
              <a:t>Constructabilidad Avanzada</a:t>
            </a:r>
            <a:endParaRPr lang="en-US" sz="1000" dirty="0"/>
          </a:p>
          <a:p>
            <a:pPr indent="0" marL="0">
              <a:buNone/>
            </a:pPr>
            <a:r>
              <a:rPr lang="en-US" sz="1000" dirty="0">
                <a:solidFill>
                  <a:srgbClr val="1D1D1F"/>
                </a:solidFill>
                <a:latin typeface="Atkinson Hyperlegible" pitchFamily="34" charset="0"/>
                <a:ea typeface="Atkinson Hyperlegible" pitchFamily="34" charset="-122"/>
                <a:cs typeface="Atkinson Hyperlegible" pitchFamily="34" charset="-120"/>
              </a:rPr>
              <a:t>Advanced Work Packaging — Marco CII</a:t>
            </a:r>
            <a:endParaRPr lang="en-US" sz="1000" dirty="0"/>
          </a:p>
        </p:txBody>
      </p:sp>
      <p:sp>
        <p:nvSpPr>
          <p:cNvPr id="8" name="Text 6"/>
          <p:cNvSpPr/>
          <p:nvPr/>
        </p:nvSpPr>
        <p:spPr>
          <a:xfrm>
            <a:off x="548640" y="2999232"/>
            <a:ext cx="3474720" cy="256032"/>
          </a:xfrm>
          <a:prstGeom prst="rect">
            <a:avLst/>
          </a:prstGeom>
          <a:noFill/>
          <a:ln/>
        </p:spPr>
        <p:txBody>
          <a:bodyPr wrap="square" rtlCol="0" anchor="ctr"/>
          <a:lstStyle/>
          <a:p>
            <a:pPr indent="0" marL="0">
              <a:buNone/>
            </a:pPr>
            <a:r>
              <a:rPr lang="en-US" sz="850" i="1" dirty="0">
                <a:solidFill>
                  <a:srgbClr val="666666"/>
                </a:solidFill>
                <a:latin typeface="Atkinson Hyperlegible" pitchFamily="34" charset="0"/>
                <a:ea typeface="Atkinson Hyperlegible" pitchFamily="34" charset="-122"/>
                <a:cs typeface="Atkinson Hyperlegible" pitchFamily="34" charset="-120"/>
              </a:rPr>
              <a:t>Versión 5.0 | 2025</a:t>
            </a:r>
            <a:endParaRPr lang="en-US" sz="850" dirty="0"/>
          </a:p>
        </p:txBody>
      </p:sp>
      <p:sp>
        <p:nvSpPr>
          <p:cNvPr id="9" name="Shape 7"/>
          <p:cNvSpPr/>
          <p:nvPr/>
        </p:nvSpPr>
        <p:spPr>
          <a:xfrm>
            <a:off x="5029200" y="2011680"/>
            <a:ext cx="3657600" cy="1280160"/>
          </a:xfrm>
          <a:prstGeom prst="rect">
            <a:avLst>
              <a:gd name="adj" fmla="val 5714"/>
            </a:avLst>
          </a:prstGeom>
          <a:solidFill>
            <a:srgbClr val="FFFFFF"/>
          </a:solidFill>
          <a:ln w="12700">
            <a:solidFill>
              <a:srgbClr val="0E9E9E"/>
            </a:solidFill>
            <a:prstDash val="solid"/>
          </a:ln>
        </p:spPr>
      </p:sp>
      <p:sp>
        <p:nvSpPr>
          <p:cNvPr id="10" name="Text 8"/>
          <p:cNvSpPr/>
          <p:nvPr/>
        </p:nvSpPr>
        <p:spPr>
          <a:xfrm>
            <a:off x="5120640" y="2084832"/>
            <a:ext cx="3474720" cy="274320"/>
          </a:xfrm>
          <a:prstGeom prst="rect">
            <a:avLst/>
          </a:prstGeom>
          <a:noFill/>
          <a:ln/>
        </p:spPr>
        <p:txBody>
          <a:bodyPr wrap="square" rtlCol="0" anchor="ctr"/>
          <a:lstStyle/>
          <a:p>
            <a:pPr indent="0" marL="0">
              <a:buNone/>
            </a:pPr>
            <a:r>
              <a:rPr lang="en-US" sz="900" b="1" dirty="0">
                <a:solidFill>
                  <a:srgbClr val="0E9E9E"/>
                </a:solidFill>
                <a:latin typeface="Atkinson Hyperlegible" pitchFamily="34" charset="0"/>
                <a:ea typeface="Atkinson Hyperlegible" pitchFamily="34" charset="-122"/>
                <a:cs typeface="Atkinson Hyperlegible" pitchFamily="34" charset="-120"/>
              </a:rPr>
              <a:t>Contacto</a:t>
            </a:r>
            <a:endParaRPr lang="en-US" sz="900" dirty="0"/>
          </a:p>
        </p:txBody>
      </p:sp>
      <p:sp>
        <p:nvSpPr>
          <p:cNvPr id="11" name="Text 9"/>
          <p:cNvSpPr/>
          <p:nvPr/>
        </p:nvSpPr>
        <p:spPr>
          <a:xfrm>
            <a:off x="5120640" y="2359152"/>
            <a:ext cx="3474720" cy="877824"/>
          </a:xfrm>
          <a:prstGeom prst="rect">
            <a:avLst/>
          </a:prstGeom>
          <a:noFill/>
          <a:ln/>
        </p:spPr>
        <p:txBody>
          <a:bodyPr wrap="square" rtlCol="0" anchor="ctr"/>
          <a:lstStyle/>
          <a:p>
            <a:pPr indent="0" marL="0">
              <a:buNone/>
            </a:pPr>
            <a:r>
              <a:rPr lang="en-US" sz="950" dirty="0">
                <a:solidFill>
                  <a:srgbClr val="1D1D1F"/>
                </a:solidFill>
                <a:latin typeface="Atkinson Hyperlegible" pitchFamily="34" charset="0"/>
                <a:ea typeface="Atkinson Hyperlegible" pitchFamily="34" charset="-122"/>
                <a:cs typeface="Atkinson Hyperlegible" pitchFamily="34" charset="-120"/>
              </a:rPr>
              <a:t>Área de Gestión de Proyectos</a:t>
            </a:r>
            <a:endParaRPr lang="en-US" sz="950" dirty="0"/>
          </a:p>
          <a:p>
            <a:pPr indent="0" marL="0">
              <a:buNone/>
            </a:pPr>
            <a:r>
              <a:rPr lang="en-US" sz="950" dirty="0">
                <a:solidFill>
                  <a:srgbClr val="1D1D1F"/>
                </a:solidFill>
                <a:latin typeface="Atkinson Hyperlegible" pitchFamily="34" charset="0"/>
                <a:ea typeface="Atkinson Hyperlegible" pitchFamily="34" charset="-122"/>
                <a:cs typeface="Atkinson Hyperlegible" pitchFamily="34" charset="-120"/>
              </a:rPr>
              <a:t>Cosapi S.A.</a:t>
            </a:r>
            <a:endParaRPr lang="en-US" sz="950" dirty="0"/>
          </a:p>
          <a:p>
            <a:pPr indent="0" marL="0">
              <a:buNone/>
            </a:pPr>
            <a:r>
              <a:rPr lang="en-US" sz="950" dirty="0">
                <a:solidFill>
                  <a:srgbClr val="1D1D1F"/>
                </a:solidFill>
                <a:latin typeface="Atkinson Hyperlegible" pitchFamily="34" charset="0"/>
                <a:ea typeface="Atkinson Hyperlegible" pitchFamily="34" charset="-122"/>
                <a:cs typeface="Atkinson Hyperlegible" pitchFamily="34" charset="-120"/>
              </a:rPr>
              <a:t>evolucion1@cosapi.com.pe</a:t>
            </a:r>
            <a:endParaRPr lang="en-US" sz="950" dirty="0"/>
          </a:p>
        </p:txBody>
      </p:sp>
      <p:sp>
        <p:nvSpPr>
          <p:cNvPr id="12" name="Shape 10"/>
          <p:cNvSpPr/>
          <p:nvPr/>
        </p:nvSpPr>
        <p:spPr>
          <a:xfrm>
            <a:off x="457200" y="3520440"/>
            <a:ext cx="8229600" cy="1371600"/>
          </a:xfrm>
          <a:prstGeom prst="rect">
            <a:avLst>
              <a:gd name="adj" fmla="val 5333"/>
            </a:avLst>
          </a:prstGeom>
          <a:solidFill>
            <a:srgbClr val="FFFFFF"/>
          </a:solidFill>
          <a:ln w="10160">
            <a:solidFill>
              <a:srgbClr val="E5E5EA"/>
            </a:solidFill>
            <a:prstDash val="solid"/>
          </a:ln>
        </p:spPr>
      </p:sp>
      <p:sp>
        <p:nvSpPr>
          <p:cNvPr id="13" name="Text 11"/>
          <p:cNvSpPr/>
          <p:nvPr/>
        </p:nvSpPr>
        <p:spPr>
          <a:xfrm>
            <a:off x="640080" y="3611880"/>
            <a:ext cx="7863840" cy="1170432"/>
          </a:xfrm>
          <a:prstGeom prst="rect">
            <a:avLst/>
          </a:prstGeom>
          <a:noFill/>
          <a:ln/>
        </p:spPr>
        <p:txBody>
          <a:bodyPr wrap="square" rtlCol="0" anchor="ctr"/>
          <a:lstStyle/>
          <a:p>
            <a:pPr algn="ctr" indent="0" marL="0">
              <a:buNone/>
            </a:pPr>
            <a:r>
              <a:rPr lang="en-US" sz="1200" i="1" dirty="0">
                <a:solidFill>
                  <a:srgbClr val="1D1D1F"/>
                </a:solidFill>
                <a:latin typeface="Atkinson Hyperlegible" pitchFamily="34" charset="0"/>
                <a:ea typeface="Atkinson Hyperlegible" pitchFamily="34" charset="-122"/>
                <a:cs typeface="Atkinson Hyperlegible" pitchFamily="34" charset="-120"/>
              </a:rPr>
              <a:t>"La constructabilidad no es una técnica adicional — es una manera de pensar el proyecto desde su concepción."</a:t>
            </a:r>
            <a:endParaRPr lang="en-US" sz="1200" dirty="0"/>
          </a:p>
        </p:txBody>
      </p:sp>
      <p:sp>
        <p:nvSpPr>
          <p:cNvPr id="14" name="Text 12"/>
          <p:cNvSpPr/>
          <p:nvPr/>
        </p:nvSpPr>
        <p:spPr>
          <a:xfrm>
            <a:off x="7772400" y="4919472"/>
            <a:ext cx="1188720" cy="182880"/>
          </a:xfrm>
          <a:prstGeom prst="rect">
            <a:avLst/>
          </a:prstGeom>
          <a:noFill/>
          <a:ln/>
        </p:spPr>
        <p:txBody>
          <a:bodyPr wrap="square" rtlCol="0" anchor="ctr"/>
          <a:lstStyle/>
          <a:p>
            <a:pPr algn="r" indent="0" marL="0">
              <a:buNone/>
            </a:pPr>
            <a:r>
              <a:rPr lang="en-US" sz="700" dirty="0">
                <a:solidFill>
                  <a:srgbClr val="1D1D1F"/>
                </a:solidFill>
                <a:latin typeface="Atkinson Hyperlegible" pitchFamily="34" charset="0"/>
                <a:ea typeface="Atkinson Hyperlegible" pitchFamily="34" charset="-122"/>
                <a:cs typeface="Atkinson Hyperlegible" pitchFamily="34" charset="-120"/>
              </a:rPr>
              <a:t>125 / 126</a:t>
            </a:r>
            <a:endParaRPr lang="en-US" sz="7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74E3"/>
          </a:solidFill>
          <a:ln w="12700">
            <a:solidFill>
              <a:srgbClr val="0A74E3"/>
            </a:solidFill>
            <a:prstDash val="solid"/>
          </a:ln>
        </p:spPr>
      </p:sp>
      <p:sp>
        <p:nvSpPr>
          <p:cNvPr id="3" name="Shape 1"/>
          <p:cNvSpPr/>
          <p:nvPr/>
        </p:nvSpPr>
        <p:spPr>
          <a:xfrm>
            <a:off x="0" y="0"/>
            <a:ext cx="3657600" cy="5143500"/>
          </a:xfrm>
          <a:prstGeom prst="rect">
            <a:avLst/>
          </a:prstGeom>
          <a:solidFill>
            <a:srgbClr val="000000"/>
          </a:solidFill>
          <a:ln w="12700">
            <a:solidFill>
              <a:srgbClr val="000000"/>
            </a:solidFill>
            <a:prstDash val="solid"/>
          </a:ln>
        </p:spPr>
      </p:sp>
      <p:sp>
        <p:nvSpPr>
          <p:cNvPr id="4" name="Shape 2"/>
          <p:cNvSpPr/>
          <p:nvPr/>
        </p:nvSpPr>
        <p:spPr>
          <a:xfrm>
            <a:off x="548640" y="3143807"/>
            <a:ext cx="256032" cy="1999693"/>
          </a:xfrm>
          <a:prstGeom prst="rect">
            <a:avLst/>
          </a:prstGeom>
          <a:solidFill>
            <a:srgbClr val="0E9E9E"/>
          </a:solidFill>
          <a:ln w="12700">
            <a:solidFill>
              <a:srgbClr val="0E9E9E"/>
            </a:solidFill>
            <a:prstDash val="solid"/>
          </a:ln>
        </p:spPr>
      </p:sp>
      <p:sp>
        <p:nvSpPr>
          <p:cNvPr id="5" name="Shape 3"/>
          <p:cNvSpPr/>
          <p:nvPr/>
        </p:nvSpPr>
        <p:spPr>
          <a:xfrm>
            <a:off x="868680" y="3691622"/>
            <a:ext cx="256032" cy="1451878"/>
          </a:xfrm>
          <a:prstGeom prst="rect">
            <a:avLst/>
          </a:prstGeom>
          <a:solidFill>
            <a:srgbClr val="27AE60"/>
          </a:solidFill>
          <a:ln w="12700">
            <a:solidFill>
              <a:srgbClr val="27AE60"/>
            </a:solidFill>
            <a:prstDash val="solid"/>
          </a:ln>
        </p:spPr>
      </p:sp>
      <p:sp>
        <p:nvSpPr>
          <p:cNvPr id="6" name="Shape 4"/>
          <p:cNvSpPr/>
          <p:nvPr/>
        </p:nvSpPr>
        <p:spPr>
          <a:xfrm>
            <a:off x="1188720" y="2261530"/>
            <a:ext cx="256032" cy="2881970"/>
          </a:xfrm>
          <a:prstGeom prst="rect">
            <a:avLst/>
          </a:prstGeom>
          <a:solidFill>
            <a:srgbClr val="D4620A"/>
          </a:solidFill>
          <a:ln w="12700">
            <a:solidFill>
              <a:srgbClr val="D4620A"/>
            </a:solidFill>
            <a:prstDash val="solid"/>
          </a:ln>
        </p:spPr>
      </p:sp>
      <p:sp>
        <p:nvSpPr>
          <p:cNvPr id="7" name="Shape 5"/>
          <p:cNvSpPr/>
          <p:nvPr/>
        </p:nvSpPr>
        <p:spPr>
          <a:xfrm>
            <a:off x="1508760" y="4225224"/>
            <a:ext cx="256032" cy="918276"/>
          </a:xfrm>
          <a:prstGeom prst="rect">
            <a:avLst/>
          </a:prstGeom>
          <a:solidFill>
            <a:srgbClr val="8E44AD"/>
          </a:solidFill>
          <a:ln w="12700">
            <a:solidFill>
              <a:srgbClr val="8E44AD"/>
            </a:solidFill>
            <a:prstDash val="solid"/>
          </a:ln>
        </p:spPr>
      </p:sp>
      <p:sp>
        <p:nvSpPr>
          <p:cNvPr id="8" name="Shape 6"/>
          <p:cNvSpPr/>
          <p:nvPr/>
        </p:nvSpPr>
        <p:spPr>
          <a:xfrm>
            <a:off x="1828800" y="2212914"/>
            <a:ext cx="256032" cy="2930586"/>
          </a:xfrm>
          <a:prstGeom prst="rect">
            <a:avLst/>
          </a:prstGeom>
          <a:solidFill>
            <a:srgbClr val="C0392B"/>
          </a:solidFill>
          <a:ln w="12700">
            <a:solidFill>
              <a:srgbClr val="C0392B"/>
            </a:solidFill>
            <a:prstDash val="solid"/>
          </a:ln>
        </p:spPr>
      </p:sp>
      <p:sp>
        <p:nvSpPr>
          <p:cNvPr id="9" name="Shape 7"/>
          <p:cNvSpPr/>
          <p:nvPr/>
        </p:nvSpPr>
        <p:spPr>
          <a:xfrm>
            <a:off x="2148840" y="2273988"/>
            <a:ext cx="256032" cy="2869512"/>
          </a:xfrm>
          <a:prstGeom prst="rect">
            <a:avLst/>
          </a:prstGeom>
          <a:solidFill>
            <a:srgbClr val="2C3E8C"/>
          </a:solidFill>
          <a:ln w="12700">
            <a:solidFill>
              <a:srgbClr val="2C3E8C"/>
            </a:solidFill>
            <a:prstDash val="solid"/>
          </a:ln>
        </p:spPr>
      </p:sp>
      <p:sp>
        <p:nvSpPr>
          <p:cNvPr id="10" name="Text 8"/>
          <p:cNvSpPr/>
          <p:nvPr/>
        </p:nvSpPr>
        <p:spPr>
          <a:xfrm>
            <a:off x="3840480" y="914400"/>
            <a:ext cx="4937760" cy="658368"/>
          </a:xfrm>
          <a:prstGeom prst="rect">
            <a:avLst/>
          </a:prstGeom>
          <a:noFill/>
          <a:ln/>
        </p:spPr>
        <p:txBody>
          <a:bodyPr wrap="square" rtlCol="0" anchor="ctr"/>
          <a:lstStyle/>
          <a:p>
            <a:pPr indent="0" marL="0">
              <a:buNone/>
            </a:pPr>
            <a:r>
              <a:rPr lang="en-US" sz="2400" b="1" dirty="0">
                <a:solidFill>
                  <a:srgbClr val="FFFFFF"/>
                </a:solidFill>
                <a:latin typeface="Atkinson Hyperlegible" pitchFamily="34" charset="0"/>
                <a:ea typeface="Atkinson Hyperlegible" pitchFamily="34" charset="-122"/>
                <a:cs typeface="Atkinson Hyperlegible" pitchFamily="34" charset="-120"/>
              </a:rPr>
              <a:t>Constructabilidad Avanzada</a:t>
            </a:r>
            <a:endParaRPr lang="en-US" sz="2400" dirty="0"/>
          </a:p>
        </p:txBody>
      </p:sp>
      <p:sp>
        <p:nvSpPr>
          <p:cNvPr id="11" name="Text 9"/>
          <p:cNvSpPr/>
          <p:nvPr/>
        </p:nvSpPr>
        <p:spPr>
          <a:xfrm>
            <a:off x="3840480" y="1609344"/>
            <a:ext cx="4937760" cy="475488"/>
          </a:xfrm>
          <a:prstGeom prst="rect">
            <a:avLst/>
          </a:prstGeom>
          <a:noFill/>
          <a:ln/>
        </p:spPr>
        <p:txBody>
          <a:bodyPr wrap="square" rtlCol="0" anchor="ctr"/>
          <a:lstStyle/>
          <a:p>
            <a:pPr indent="0" marL="0">
              <a:buNone/>
            </a:pPr>
            <a:r>
              <a:rPr lang="en-US" sz="1800" i="1" dirty="0">
                <a:solidFill>
                  <a:srgbClr val="FFFFFF">
                    <a:alpha val="80000"/>
                  </a:srgbClr>
                </a:solidFill>
                <a:latin typeface="Atkinson Hyperlegible" pitchFamily="34" charset="0"/>
                <a:ea typeface="Atkinson Hyperlegible" pitchFamily="34" charset="-122"/>
                <a:cs typeface="Atkinson Hyperlegible" pitchFamily="34" charset="-120"/>
              </a:rPr>
              <a:t>Advanced Work Packaging</a:t>
            </a:r>
            <a:endParaRPr lang="en-US" sz="1800" dirty="0"/>
          </a:p>
        </p:txBody>
      </p:sp>
      <p:sp>
        <p:nvSpPr>
          <p:cNvPr id="12" name="Shape 10"/>
          <p:cNvSpPr/>
          <p:nvPr/>
        </p:nvSpPr>
        <p:spPr>
          <a:xfrm>
            <a:off x="3840480" y="2176272"/>
            <a:ext cx="4937760" cy="41148"/>
          </a:xfrm>
          <a:prstGeom prst="rect">
            <a:avLst/>
          </a:prstGeom>
          <a:solidFill>
            <a:srgbClr val="FFFFFF"/>
          </a:solidFill>
          <a:ln w="12700">
            <a:solidFill>
              <a:srgbClr val="FFFFFF"/>
            </a:solidFill>
            <a:prstDash val="solid"/>
          </a:ln>
        </p:spPr>
      </p:sp>
      <p:sp>
        <p:nvSpPr>
          <p:cNvPr id="13" name="Text 11"/>
          <p:cNvSpPr/>
          <p:nvPr/>
        </p:nvSpPr>
        <p:spPr>
          <a:xfrm>
            <a:off x="3840480" y="2249424"/>
            <a:ext cx="4937760" cy="329184"/>
          </a:xfrm>
          <a:prstGeom prst="rect">
            <a:avLst/>
          </a:prstGeom>
          <a:noFill/>
          <a:ln/>
        </p:spPr>
        <p:txBody>
          <a:bodyPr wrap="square" rtlCol="0" anchor="ctr"/>
          <a:lstStyle/>
          <a:p>
            <a:pPr indent="0" marL="0">
              <a:buNone/>
            </a:pPr>
            <a:r>
              <a:rPr lang="en-US" sz="1200" dirty="0">
                <a:solidFill>
                  <a:srgbClr val="FFFFFF">
                    <a:alpha val="80000"/>
                  </a:srgbClr>
                </a:solidFill>
                <a:latin typeface="Atkinson Hyperlegible" pitchFamily="34" charset="0"/>
                <a:ea typeface="Atkinson Hyperlegible" pitchFamily="34" charset="-122"/>
                <a:cs typeface="Atkinson Hyperlegible" pitchFamily="34" charset="-120"/>
              </a:rPr>
              <a:t>Marco CII para Proyectos de Capital</a:t>
            </a:r>
            <a:endParaRPr lang="en-US" sz="1200" dirty="0"/>
          </a:p>
        </p:txBody>
      </p:sp>
      <p:sp>
        <p:nvSpPr>
          <p:cNvPr id="14" name="Text 12"/>
          <p:cNvSpPr/>
          <p:nvPr/>
        </p:nvSpPr>
        <p:spPr>
          <a:xfrm>
            <a:off x="3840480" y="4389120"/>
            <a:ext cx="4937760" cy="274320"/>
          </a:xfrm>
          <a:prstGeom prst="rect">
            <a:avLst/>
          </a:prstGeom>
          <a:noFill/>
          <a:ln/>
        </p:spPr>
        <p:txBody>
          <a:bodyPr wrap="square" rtlCol="0" anchor="ctr"/>
          <a:lstStyle/>
          <a:p>
            <a:pPr indent="0" marL="0">
              <a:buNone/>
            </a:pPr>
            <a:r>
              <a:rPr lang="en-US" sz="900" i="1" dirty="0">
                <a:solidFill>
                  <a:srgbClr val="FFFFFF">
                    <a:alpha val="70000"/>
                  </a:srgbClr>
                </a:solidFill>
                <a:latin typeface="Atkinson Hyperlegible" pitchFamily="34" charset="0"/>
                <a:ea typeface="Atkinson Hyperlegible" pitchFamily="34" charset="-122"/>
                <a:cs typeface="Atkinson Hyperlegible" pitchFamily="34" charset="-120"/>
              </a:rPr>
              <a:t>Cosapi S.A. | Gerencia de Proyectos | 2025</a:t>
            </a:r>
            <a:endParaRPr lang="en-US" sz="900" dirty="0"/>
          </a:p>
        </p:txBody>
      </p:sp>
      <p:sp>
        <p:nvSpPr>
          <p:cNvPr id="15" name="Text 13"/>
          <p:cNvSpPr/>
          <p:nvPr/>
        </p:nvSpPr>
        <p:spPr>
          <a:xfrm>
            <a:off x="7772400" y="4892040"/>
            <a:ext cx="1188720" cy="182880"/>
          </a:xfrm>
          <a:prstGeom prst="rect">
            <a:avLst/>
          </a:prstGeom>
          <a:noFill/>
          <a:ln/>
        </p:spPr>
        <p:txBody>
          <a:bodyPr wrap="square" rtlCol="0" anchor="ctr"/>
          <a:lstStyle/>
          <a:p>
            <a:pPr algn="r" indent="0" marL="0">
              <a:buNone/>
            </a:pPr>
            <a:r>
              <a:rPr lang="en-US" sz="700" dirty="0">
                <a:solidFill>
                  <a:srgbClr val="FFFFFF"/>
                </a:solidFill>
                <a:latin typeface="Atkinson Hyperlegible" pitchFamily="34" charset="0"/>
                <a:ea typeface="Atkinson Hyperlegible" pitchFamily="34" charset="-122"/>
                <a:cs typeface="Atkinson Hyperlegible" pitchFamily="34" charset="-120"/>
              </a:rPr>
              <a:t>126 / 126</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2026-10-01T16:28:16Z</dcterms:created>
  <dcterms:modified xsi:type="dcterms:W3CDTF">2026-10-01T16:28:16Z</dcterms:modified>
</cp:coreProperties>
</file>