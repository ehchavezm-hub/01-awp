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</p:sldIdLst>
  <p:notesMasterIdLst>
    <p:notesMasterId r:id="rId1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notesMaster" Target="notesMasters/notesMaster1.xml"/><Relationship Id="rId129" Type="http://schemas.openxmlformats.org/officeDocument/2006/relationships/presProps" Target="presProps.xml"/><Relationship Id="rId130" Type="http://schemas.openxmlformats.org/officeDocument/2006/relationships/viewProps" Target="viewProps.xml"/><Relationship Id="rId131" Type="http://schemas.openxmlformats.org/officeDocument/2006/relationships/theme" Target="theme/theme1.xml"/><Relationship Id="rId1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560320"/>
            <a:ext cx="2011680" cy="20116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CII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Principios, Conceptos e Implementación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publicaciones del Construction Industry Institute (CII)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34-1 · SD-4 · SD-5 · SD-25 · SD-34 · Publication 3-1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Tabla de Contenidos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3977640" cy="822960"/>
          </a:xfrm>
          <a:prstGeom prst="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058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88720" y="1115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Definición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17720" y="914400"/>
            <a:ext cx="3977640" cy="822960"/>
          </a:xfrm>
          <a:prstGeom prst="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49240" y="11155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CII — Publicaciones Clave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847088"/>
            <a:ext cx="3977640" cy="822960"/>
          </a:xfrm>
          <a:prstGeom prst="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93852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88720" y="20482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Fase I: Planificación Conceptual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847088"/>
            <a:ext cx="3977640" cy="822960"/>
          </a:xfrm>
          <a:prstGeom prst="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3852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49240" y="20482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Fase II: Diseño y Procura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79776"/>
            <a:ext cx="3977640" cy="822960"/>
          </a:xfrm>
          <a:prstGeom prst="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7121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88720" y="29809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Fase III: Operaciones de Campo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779776"/>
            <a:ext cx="3977640" cy="822960"/>
          </a:xfrm>
          <a:prstGeom prst="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87121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49240" y="298094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del Programa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3977640" cy="822960"/>
          </a:xfrm>
          <a:prstGeom prst="rect">
            <a:avLst>
              <a:gd name="adj" fmla="val 8889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80390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188720" y="39136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Estudio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la Constructabilidad?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463040"/>
          </a:xfrm>
          <a:prstGeom prst="rect">
            <a:avLst>
              <a:gd name="adj" fmla="val 5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"El uso óptimo del conocimiento y experiencia de construcción en la planificación, el diseño, las adquisiciones y las operaciones de campo, para alcanzar los objetivos generales del proyecto."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Construction Industry Institute (CII), 1986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977640" cy="804672"/>
          </a:xfrm>
          <a:prstGeom prst="rect">
            <a:avLst>
              <a:gd name="adj" fmla="val 6818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9260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Integración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diseño y construcción, disciplinas separadas desde ~1750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880360"/>
            <a:ext cx="3977640" cy="804672"/>
          </a:xfrm>
          <a:prstGeom prst="rect">
            <a:avLst>
              <a:gd name="adj" fmla="val 6818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9260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Anticipación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conocimiento constructivo ANTES de completar diseños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3977640" cy="804672"/>
          </a:xfrm>
          <a:prstGeom prst="rect">
            <a:avLst>
              <a:gd name="adj" fmla="val 6818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8404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Proactividad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revisión; es co-creación del diseño con criterio constructivo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794760"/>
            <a:ext cx="3977640" cy="804672"/>
          </a:xfrm>
          <a:prstGeom prst="rect">
            <a:avLst>
              <a:gd name="adj" fmla="val 6818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38404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Retorno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documentados de hasta 15:1 sobre la inversión en el programa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de la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8229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0437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10842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~1750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y C separados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108421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Rev. Industrial separa formalmente diseño y construcción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56094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78577" y="960120"/>
            <a:ext cx="10842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1960s-70s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78577" y="132588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Primeras iniciativas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78577" y="2697480"/>
            <a:ext cx="108421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Propietarios notan pérdidas de eficiencia por falta de coordinación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31751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4234" y="960120"/>
            <a:ext cx="10842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54234" y="132588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Fundación CII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54234" y="2697480"/>
            <a:ext cx="108421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fundado en The University of Texas at Austin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0740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9891" y="960120"/>
            <a:ext cx="10842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1984-86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9891" y="132588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Force CII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29891" y="2697480"/>
            <a:ext cx="108421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Task Force conduce 4 estudios fundamentales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583065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05549" y="960120"/>
            <a:ext cx="10842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05549" y="132588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3-1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05549" y="2697480"/>
            <a:ext cx="108421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publica "Constructability: A Primer"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758722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1206" y="960120"/>
            <a:ext cx="10842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1206" y="132588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 34-1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81206" y="2697480"/>
            <a:ext cx="108421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publica la Implementation Guide con 19 herramientas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934379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56863" y="960120"/>
            <a:ext cx="108421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56863" y="1325880"/>
            <a:ext cx="10842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2da Edición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56863" y="2697480"/>
            <a:ext cx="1084217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edición incorpora 17 conceptos formales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la Constructabilidad no ocurre naturalmente?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Especialización extrema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Organizaciones formadas por especialistas en "silos aislados". Ingenieros, procuradores y constructores raramente colaboran en tiempo real.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Retroalimentación negada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del campo raramente se captura y lleva de vuelta al equipo de diseño. No existen bases de datos de lecciones aprendidas.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Costo front-end mal entendido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propietarios perciben que la participación temprana de constructores incrementa el costo. La inversión front-end genera retornos de 10:1 a 15:1.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Tecnología no aprovechada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BIM, 4D, GIS y simulación no se usan sistemáticamente para evaluar constructabilidad en fases tempranas.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Causas Estructurales de la Separación D&amp;C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vs. Ingeniería de Valor (VE)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2706624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868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Dimensión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2706624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868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868680"/>
            <a:ext cx="2706624" cy="3657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752" y="868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 Valor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261872"/>
            <a:ext cx="270662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261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principal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261872"/>
            <a:ext cx="270662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261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conocimiento constructivo en el diseño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0" y="1261872"/>
            <a:ext cx="270662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1261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funcional y ciclo de vida del activo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1645920"/>
            <a:ext cx="2706624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principal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1645920"/>
            <a:ext cx="2706624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construcción actual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1645920"/>
            <a:ext cx="2706624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1645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funcional multidisciplinario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2029968"/>
            <a:ext cx="270662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2029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óptimo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2029968"/>
            <a:ext cx="270662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73552" y="2029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factibilidad hasta inicio de obra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43600" y="2029968"/>
            <a:ext cx="270662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2029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conceptual y básico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2414016"/>
            <a:ext cx="2706624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241401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lidera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2414016"/>
            <a:ext cx="2706624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241401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apoyado por constructores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943600" y="2414016"/>
            <a:ext cx="2706624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241401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 externo especializado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2798064"/>
            <a:ext cx="270662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27980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típico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0" y="2798064"/>
            <a:ext cx="270662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73552" y="27980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más "construible", menor labor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43600" y="2798064"/>
            <a:ext cx="2706624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16752" y="27980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o cambio de funciones costosas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3182112"/>
            <a:ext cx="2706624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3182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0" y="3182112"/>
            <a:ext cx="2706624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73552" y="3182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 a la VE — no la reemplaza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0" y="3182112"/>
            <a:ext cx="2706624" cy="365760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3182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coexistir con Constructabilidad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CII: Propietarios con programas VE activos creen que la Constructabilidad se obtiene automáticamente. Improbable si no se involucra experiencia constructiva actual.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Contexto: Las "Abilities" del Proyecto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Biddability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para licitar y cotizar el proyecto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para construir el proyecto eficientemente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para adquirir materiales y equipos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para operar el activo terminado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es parte de un sistema de capacidades.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También: Maintainability, Expandability, Sustainability.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Documentados de la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6–23%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costo total instalado del proyecto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documentado CII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promedio en duración del proyecto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CII (62 empresas)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beneficio / costo típica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industria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15:1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208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B/C máxima documentada por CII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excelencia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1371600"/>
          </a:xfrm>
          <a:prstGeom prst="rect">
            <a:avLst>
              <a:gd name="adj" fmla="val 4000"/>
            </a:avLst>
          </a:prstGeom>
          <a:solidFill>
            <a:srgbClr val="E8F4FD"/>
          </a:solidFill>
          <a:ln w="12700">
            <a:solidFill>
              <a:srgbClr val="C3D9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930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 propietario y el contratista comprometidos con la efectividad de costo de TODO el proyecto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constructabilidad se incorpora con personal experimentado desde las fases tempranas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09651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Los diseñadores evalúan el aporte constructivo objetivamente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de Influencia de Costos del Proyecto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 de mejorar constructabilidad es inversamente proporcional al costo del cambio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1129937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23360"/>
            <a:ext cx="11299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32857" y="4023360"/>
            <a:ext cx="1129937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32857" y="4023360"/>
            <a:ext cx="11299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 Conceptual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08514" y="4023360"/>
            <a:ext cx="1129937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08514" y="4023360"/>
            <a:ext cx="11299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Básica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984171" y="4023360"/>
            <a:ext cx="1129937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84171" y="4023360"/>
            <a:ext cx="11299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Detalle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159829" y="4023360"/>
            <a:ext cx="1129937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9829" y="4023360"/>
            <a:ext cx="11299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335486" y="4023360"/>
            <a:ext cx="1129937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5486" y="4023360"/>
            <a:ext cx="11299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511143" y="4023360"/>
            <a:ext cx="1129937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1143" y="4023360"/>
            <a:ext cx="112993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07869" y="1645920"/>
            <a:ext cx="274320" cy="2377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83526" y="2011680"/>
            <a:ext cx="274320" cy="20116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59183" y="2560320"/>
            <a:ext cx="274320" cy="146304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108960"/>
            <a:ext cx="274320" cy="91440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10497" y="3429000"/>
            <a:ext cx="274320" cy="59436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86154" y="3703320"/>
            <a:ext cx="274320" cy="32004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61811" y="3840480"/>
            <a:ext cx="27432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 rot="16200000">
            <a:off x="91440" y="1371600"/>
            <a:ext cx="365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Influencia sobre costos totales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MÁXIMA OPORTUNIDAD = PLANIFICACIÓN TEMPRANA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y Lean Construction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 Planner®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incorporan al planificador final en la programación real. "Queremos Hacer" debe coincidir con lo que "Podemos Hacer" en campo.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Eliminación de Desperdicios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reduce retrabajo, esperas y transporte innecesario a través de diseño que facilita la ejecución eficiente.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Pull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cronograma orientado a construcción (Concepto I-4) es análogo al "pull scheduling" de Lean — tiempos reales de obra definen secuencias de diseño.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Estándar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estandarización de diseño (Concepto II-3) genera condiciones para trabajo repetitivo y productividades predecibles.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Sinergias clave entre ambas filosofías. También: Mejora Continua y Colaboración Temprana.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CII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Publicaciones Clave y Marco Conceptual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Publicaciones CII de Constructabilidad — Documentos Guía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3-1 (1986) · Constructability: A Primer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introductorio para ejecutivos. Presenta el concepto, beneficios y mini-casos de estudio. Base conceptual del movimiento de constructabilidad.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3-3 (1987) · Constructability Concepts 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y describe los 14 conceptos originales fundamentales. Base sobre la que se construye cualquier programa formal.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SD-4 / SD-5 (1986-87) · Stanford University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 prácticas de mejora durante planificación conceptual e ingeniería. Estandarización, modularización y diseño para eficiencia constructiva.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 34-1 (1993/2006) ⭐ DOCUMENTO PRINCIPAL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herramientas, hoja de ruta, matrices de conceptos, 4 casos de estudio completos. 17 conceptos formales de constructabilidad.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17 Conceptos Formales de Constructabilidad CII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2670048" cy="384048"/>
          </a:xfrm>
          <a:prstGeom prst="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686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I — Planificación Conceptual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670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9844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I-1: PEP Constructabilidad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2670048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3736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I-2: Factibilidad temprana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76272"/>
            <a:ext cx="2670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7627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I-3: Estrategia de contratación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2670048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61518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I-4: Cronograma orientado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2670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5409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I-5: Métodos constructivos mayores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93008"/>
            <a:ext cx="2670048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49300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I-6: Distribución del sitio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2670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3192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I-7: Tecnologías de información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18688" y="868680"/>
            <a:ext cx="2670048" cy="384048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8686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II — Diseño y Procura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18688" y="1298448"/>
            <a:ext cx="2670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129844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II-1: Cronogramas D&amp;P orientados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8688" y="1737360"/>
            <a:ext cx="2670048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173736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II-2: Diseños para eficiencia constructiva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18688" y="2176272"/>
            <a:ext cx="2670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17627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II-3: Estandarización de elementos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18688" y="2615184"/>
            <a:ext cx="2670048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261518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II-4: Eficiencia en documentos de contrato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18688" y="3054096"/>
            <a:ext cx="2670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05409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II-5: Diseños PPMOF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18688" y="3493008"/>
            <a:ext cx="2670048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49300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II-6: Accesibilidad en campo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18688" y="3931920"/>
            <a:ext cx="2670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3931920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II-7: Construcción bajo clima adverso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18688" y="4370832"/>
            <a:ext cx="2670048" cy="40233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10128" y="4370832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II-8: Seguridad del proyecto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980176" y="868680"/>
            <a:ext cx="2670048" cy="384048"/>
          </a:xfrm>
          <a:prstGeom prst="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71616" y="86868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III — Operaciones de Campo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80176" y="1298448"/>
            <a:ext cx="2670048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71616" y="1298448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III-1: Métodos innovadores de gestión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Estadística — Investigación CII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62 empresas con programa formal comprehensivo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CII Task Force 1993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promedio en costo total del proyecto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6634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promedio en duración total del proyecto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7208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promedio sobre la inversión en constructabilidad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08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industria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1371600"/>
          </a:xfrm>
          <a:prstGeom prst="rect">
            <a:avLst>
              <a:gd name="adj" fmla="val 4000"/>
            </a:avLst>
          </a:prstGeom>
          <a:solidFill>
            <a:srgbClr val="E8F4FD"/>
          </a:solidFill>
          <a:ln w="12700">
            <a:solidFill>
              <a:srgbClr val="C3D9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930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implementación a nivel de industria progresa LENTAMENTE y carece de estructura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Los esfuerzos en fases tempranas son una INVERSIÓN con retorno sustancial cuando se implementan metódicamente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CII SP 34-1: Estructura de la Guía de Implementación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 — Programa Corporativo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1 y 2. Compromiso e instalación del programa en la organización. Políticas, estructura, evaluación de barreras.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II — Programa de Proyecto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3-6. Capacidades, planificación, implementación y actualización. Enfoque en el director de proyecto.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III — 19 Herramientas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ruta, glosario, matrices de evaluación, checklists de barreras, documentos modelo, matrices de conceptos por fase.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IV — Casos de Estudio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casos documentados: edificio comercial, planta manufacturera, petroquímica, gas industrial. Análisis de beneficios cuantificados.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Fase 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Conceptual — 7 Conceptos CII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I — Planificación Conceptual: Visión General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fase es cuando las decisiones tienen la MAYOR influencia sobre el costo total del proyecto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15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I-1 · Plan de Ejecución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Constructabilidad integrada al PEP formal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15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I-2 · Factibilidad Temprana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constructivo en etapa de factibilidad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115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I-3 · Estrategia de Contratación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8076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constructivo en la estrategia de contratación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07208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169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I-4 · Cronograma Orientado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26440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master construction-sensitive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807208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9169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I-5 · Métodos Constructivos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7560" y="326440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Modularización, izajes, métodos de alto impacto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807208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9169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I-6 / I-7 · Sitio y TI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80760" y="326440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eficiente + BIM, GIS, 3D/4D CAD, simulación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I-1: Constructabilidad en el Plan de Ejecución (PEP)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¿QUÉ? Descripción del programa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programa de constructabilidad del proyecto y sus objetivos cuantificados: reducción de costo, cronograma y ratio B/C esperado.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¿QUIÉN? Roles y responsabilidades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Constructabilidad, campeones por área, responsabilidades de ingeniería y construcción.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¿CUÁNDO? Timing de actividades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actividades de constructabilidad por fase del proyecto.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¿CÓMO? Proceso y herramientas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Proceso, herramientas, base de datos de Lecciones Aprendidas y sistema de seguimiento.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planes de implementación de constructabilidad son parte integral del Plan de Ejecución del Proyecto." — CII SP 34-1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I-1: Beneficios del PEP con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Disciplina de Planificación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Impone una metodología rigurosa y anticipada para resolver problemas constructivos antes de que sean costosos de cambiar en diseño o campo.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 de Comunicación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la integración entre ingeniería, procura y construcción. Los nuevos miembros tienen un punto de referencia claro.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Compromiso del Equipo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buy-in explícito de todos los actores del proyecto con los objetivos de constructabilidad. Alinea incentivos.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Continuidad entre Fases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que las decisiones de constructabilidad tomadas en conceptual se transfieran a las fases de diseño detallado y campo.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disciplina de planificación formal genera tres tipos de beneficios sistémicos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I-2: Conocimiento Constructivo en Factibilidad Temprana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 de Sitio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accesos, condiciones geotécnicas, servicios disponibles, distancias a centros de fabricación y mano de obra calificada.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Prioridades del Proyecto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la jerarquía real de objetivos: ¿costo, cronograma, calidad o seguridad es primero?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de Presupuesto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estimados con datos reales de productividad de campo — no solo con costos de ingeniería.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Proveedores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disponibilidad de mano de obra, equipos especiales y fabricantes estratégicos.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El problema más frecuente: la construcción es típicamente EXCLUIDA de la etapa de factibilidad.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I-3: Estrategia de Contratación con Input Constructivo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Design-Build / EPC Llave en Mano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 diseño y construcción en un solo contratista. Máxima constructabilidad inherente si el EPC la gestiona.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 at Risk / Fast-Track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participa en el diseño. Fast-track con múltiples primos requiere coordinación intensiva.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Unitario / Incentivos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gain-share alinean intereses de propietario y contratista con los objetivos de constructabilidad.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Alianzas Estratégicas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de largo plazo permiten acumular lecciones aprendidas entre proyectos. Mayor madurez del programa.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desarrollo de la estrategia de contratación del proyecto involucra conocimiento y experiencia de construcción." — CII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I-4: Cronogramas Orientados a la Construcción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cronogramas del proyecto son sensibles a la construcción y al arranque." — CII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670048" cy="365760"/>
          </a:xfrm>
          <a:prstGeom prst="rect">
            <a:avLst>
              <a:gd name="adj" fmla="val 15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Clave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6700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0876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es clave para alcanzar objetivos de cronograma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2670048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0312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natural de diseño puede requerir alteración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97480"/>
            <a:ext cx="26700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974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Conciencia sobre lead times de equipos especiales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2670048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9184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desarrollo temprano del cronograma master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18688" y="1097280"/>
            <a:ext cx="2670048" cy="365760"/>
          </a:xfrm>
          <a:prstGeom prst="rect">
            <a:avLst>
              <a:gd name="adj" fmla="val 15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0972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Comunes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18688" y="1508760"/>
            <a:ext cx="26700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50876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condicionada a aceptación pasiva del plan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18688" y="2103120"/>
            <a:ext cx="2670048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10312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de temporadas de construcción climáticas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18688" y="2697480"/>
            <a:ext cx="26700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26974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plan de control de tráfico en proyectos viales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18688" y="3291840"/>
            <a:ext cx="2670048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329184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times de procura no considerados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80176" y="1097280"/>
            <a:ext cx="2670048" cy="365760"/>
          </a:xfrm>
          <a:prstGeom prst="rect">
            <a:avLst>
              <a:gd name="adj" fmla="val 15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71616" y="109728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Temas Críticos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80176" y="1508760"/>
            <a:ext cx="26700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71616" y="150876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óptima de construcción (path of construction)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80176" y="2103120"/>
            <a:ext cx="2670048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71616" y="210312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D&amp;P basado en cronograma de construcción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80176" y="2697480"/>
            <a:ext cx="267004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71616" y="269748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de procura que apoyen los paquetes de obra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0176" y="3291840"/>
            <a:ext cx="2670048" cy="566928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71616" y="3291840"/>
            <a:ext cx="24871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"backward pass" desde fechas de arranque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I-5: Métodos de Construcción Mayores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 Modularización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qué porcentaje del proyecto se construirá en taller vs. campo. Impacto enorme en costo y cronograma.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Izajes Pesados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Típicamente de alto costo y en ruta crítica. Tamaño de izaje, accesibilidad de grúa, cargas sobre UG, swing space.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Subterráneo y Estructural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Excavaciones, cimentaciones, túneles; concreto colado vs. prefabricado vs. acero estructural.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Cimbrado y Automatización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Flying forms, tilt-up, cimbra deslizante. Soldadura automatizada, robótica, prefabricación especial.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importantes de diseño temprano deben considerar modularización, automatización y opciones de métodos constructivos mayores.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I-5: Planificación de Izajes Pesados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izajes pesados típicamente están en la ruta crítica — requieren planificación integral: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1155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Tamaño del Izaje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15361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equipo puede levantarse de un solo golpe? ¿Es más económico dividir? Implicaciones en capacidad de grúa necesaria.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05840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08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03320" y="11155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 de Grúa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03320" y="15361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12,000 ton en tierra, 3,000 ton offshore. Grúas camión (hasta 60 ton) son las más económicas para la mayoría de proyectos.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005840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508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11155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 de Grúa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15361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sobre estructuras subterráneas, radio de giro libre, rutas de acceso con restricciones de carga.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07208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10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291693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Detalles de Soporte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3756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izaje en el equipo, ubicación del centro de gravedad, estructura temporal de rigidez para el izaje.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807208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310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03320" y="291693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"Área Estéril"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03320" y="333756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"Area sterilization": evacuar el área bajo la trayectoria del izaje. Protocolo de seguridad crítico.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807208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310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46520" y="291693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Cimentación de Grúa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46520" y="333756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cargas de grúa sobre el suelo pueden requerir fundaciones temporales especiales o plateas de concreto.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I-6: Distribución Eficiente del Sitio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Ubicaciones y Adyacencias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instalaciones permanentes y zonas de trabajo temporal. Impacto en movimientos de personal y material.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H vs. 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horizontales vs. verticales tienen requisitos radicalmente distintos de acceso y secuenciación.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 de Trabajo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Excesiva densidad reduce productividad y aumenta riesgos de seguridad. Análisis de congestión de zonas de trabajo.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Secuenciamiento de Áreas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"Area sterilization": zonas que se vuelven inaccesibles durante ciertas fases requieren planificación anticipada.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Beneficios: eliminar trabajo duplicado, aumentar productividad unitaria, reducir riesgo. Herramienta: análisis GIS para routing de vehículos.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I-7: Tecnologías de Información para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Facilidad de Uso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más fácil, menos tedioso. Interfaz amigable que el campo puede adoptar sin capacitación extensa.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Duplicación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única de datos. La información creada en diseño fluye directamente a campo sin re-ingreso.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Precisión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y oportunidad mejoradas. Errores de transcripción eliminados en documentos críticos.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permanente para beneficio futuro. Base de datos de lecciones aprendidas del proyecto.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IT: BIM 3D/4D, e-Commerce, ERP, GIS, comunicación web, código de barras, simulación, RFID, computación en campo, DB de LL.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 y Constructabilidad — La Intersección Tecnológica Clave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CAD / BIM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interferencias antes de llegar a campo. Reduce retrabajo en 50-80% en proyectos bien modelados.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4D (BIM + Tiempo)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visual del proceso constructivo. Identifica problemas de acceso y secuenciación anticipadamente.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5D (BIM + Costo)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metrados y estimados directamente del modelo. Actualización automática al cambiar diseño.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de Izajes y Routing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movimientos de grúa en modelo 3D. GIS + BIM para routing de vehículos pesados en sitio.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potencia todos los conceptos de constructabilidad de la Fase I.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Fase II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Procura — 8 Conceptos CII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II — Diseño y Procura: Visión General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industriales: Diseño de detalle + procura de largo plazo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15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II-1 · Cronogramas D&amp;P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Sensibles a la construcción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115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II-2 · Diseños para eficiencia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Configurados para la constructabilidad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005840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1155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II-3 · Estandarización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80760" y="146304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diseño estandarizados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07208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169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II-4 · Documentos de contrato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26440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y especificaciones eficientes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2807208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9169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II-5 · Diseños PPMOF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37560" y="326440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Prefab, preassembly, modularización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807208"/>
            <a:ext cx="26517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9169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II-6 a II-8 · Campo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80760" y="3264408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Accesibilidad, clima, seguridad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II-1: Cronogramas de Diseño y Procura Orientados a Construcción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Master de Construcción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cronograma semi-detallado de construcción DEFINE los cronogramas de procura e ingeniería — no al revés.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Secuenciación de Paquetes JIT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Just-in-Time de módulos y prefabricados. Requiere coordinación exacta entre fabricadores y cronograma de campo.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Numeración de Sistemas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números de sistema de arranque deben aparecer en TODOS los entregables de ingeniería. Facilita el handover.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Estrategia 70% / Lean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spools de tubería en secuencia óptima. PPC (Porcentaje Plan Cumplido) como métrica de confiabilidad.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"Los cronogramas de diseño y procura son sensibles a la construcción." — CII. Construir "top-down" o fast-track requiere secuencia de diseño no convencional.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II-2: Configuración del Diseño para Eficiencia Constructiva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"Litmus Test" para diseño simplificado — 12 preguntas para cada componente del diseño: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795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795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0972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¿Mínimo número de componentes?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795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795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0972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¿Fácilmente manejable en campo?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554480"/>
            <a:ext cx="40690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6367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6367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15544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¿Componentes fácilmente disponibles?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1554480"/>
            <a:ext cx="40690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16367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6367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15544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¿Fácilmente transportable al sitio?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011680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20939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0939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20116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¿Tamaños estándar de mercado?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17720" y="2011680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09160" y="20939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20939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20116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conexión es la más sencilla posible?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2468880"/>
            <a:ext cx="40690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25511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" y="24688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¿Tolerancias alcanzables y compatibles?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468880"/>
            <a:ext cx="40690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25511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5511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83480" y="24688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¿Requiere habilidades altamente especializadas?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2926080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30083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008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" y="29260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¿Alineación fácilmente ajustable?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17720" y="2926080"/>
            <a:ext cx="40690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09160" y="30083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0083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83480" y="29260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¿Accesible para inspección y prueba?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3383280"/>
            <a:ext cx="40690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34655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34655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" y="33832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¿Independiente de otras secuencias?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17720" y="3383280"/>
            <a:ext cx="4069080" cy="420624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09160" y="3465576"/>
            <a:ext cx="201168" cy="201168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34655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983480" y="3383280"/>
            <a:ext cx="3611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¿Sin restricciones ambientales especiales?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II-3: Estandarización de Elementos de Diseño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Componentes Familiares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acelerada. Mayor productividad por repetición de trabajos.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Compras por Volumen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por volumen de compra en proveedores. Poder de negociación consolidado.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Menor Inventario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simplificada de materiales. Menor warehouse y costo de repuestos.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Menores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Soportes, herramientas y equipos más baratos al ser compatibles con dimensiones estándar.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 documenta 10% de ahorro en costo total del proyecto. ¿Qué estandarizar? Válvulas, juntas, pernos de anclaje, cimbra, dimensiones modulares.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II-3: Barreras a la Estandarización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barreras a la estandarización son principalmente organizacionales, no técnicas: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 de Decisión No Gestionada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ingenieros tienen autoridad de selección de componentes sin coordinación. Cada uno optimiza su parte sin considerar el sistema.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Mentalidad de Sub-optimización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"Todos los proyectos son únicos" — paradigma que impide aplicar soluciones probadas. Sobreestimación de los requisitos especiales.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Esfuerzo para Establecer el Estándar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trabajo inicial para determinar la mejor opción estándar. ¿A quién involucrar? ¿Cómo modificar los procesos de trabajo?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 Competitiva No Reconocida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que logran estandarizar obtienen ventaja competitiva sustancial. IPA documenta 10% de ahorro en costo total.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II-4: Eficiencia en Documentos de Contrato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Nielsen 1981 — 200 Reclamaciones por Problemas en Especificaciones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152144"/>
            <a:ext cx="2286000" cy="292608"/>
          </a:xfrm>
          <a:prstGeom prst="rect">
            <a:avLst>
              <a:gd name="adj" fmla="val 125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5214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1097280"/>
            <a:ext cx="57607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igual" — cláusulas de substitución ambiguas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81912"/>
            <a:ext cx="1188720" cy="292608"/>
          </a:xfrm>
          <a:prstGeom prst="rect">
            <a:avLst>
              <a:gd name="adj" fmla="val 12500"/>
            </a:avLst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8191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1527048"/>
            <a:ext cx="6858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Ambigüedades de redacción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1097280" cy="292608"/>
          </a:xfrm>
          <a:prstGeom prst="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1168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1956816"/>
            <a:ext cx="6949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entre planos y especificaciones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441448"/>
            <a:ext cx="1097280" cy="292608"/>
          </a:xfrm>
          <a:prstGeom prst="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41448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2386584"/>
            <a:ext cx="69494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técnicos inexactos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548640" cy="292608"/>
          </a:xfrm>
          <a:prstGeom prst="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871216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2816352"/>
            <a:ext cx="7498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inspección poco claros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00984"/>
            <a:ext cx="457200" cy="292608"/>
          </a:xfrm>
          <a:prstGeom prst="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009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246120"/>
            <a:ext cx="75895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 seguridad e higiene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2468880" cy="292608"/>
          </a:xfrm>
          <a:prstGeom prst="rect">
            <a:avLst>
              <a:gd name="adj" fmla="val 12500"/>
            </a:avLst>
          </a:prstGeom>
          <a:solidFill>
            <a:srgbClr val="0F34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30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63240" y="3675888"/>
            <a:ext cx="557784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problemas de comunicación técnica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Oportunidad: Separar planos de encofrado de planos de fierro. CAD ofrece nuevas formas de comunicación más eficiente.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II-5: Modularización, Pre-ensamble y Prefabricación (PPMOF)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2670048" cy="384048"/>
          </a:xfrm>
          <a:prstGeom prst="rect">
            <a:avLst>
              <a:gd name="adj" fmla="val 1428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91440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44168"/>
            <a:ext cx="26700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44168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 fabricación en taller: ¿qué hacer fuera del sitio?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2670048" cy="53949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911096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pre-embarque y grado de terminación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26700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78024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Aislamiento, revestimientos y acabados en taller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044952"/>
            <a:ext cx="2670048" cy="53949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44952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 económicas y estandarización dimensional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26700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11880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y monitoreo del fabricador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18688" y="914400"/>
            <a:ext cx="2670048" cy="384048"/>
          </a:xfrm>
          <a:prstGeom prst="rect">
            <a:avLst>
              <a:gd name="adj" fmla="val 14286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91440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18688" y="1344168"/>
            <a:ext cx="26700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344168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de transporte y límites dimensionales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18688" y="1911096"/>
            <a:ext cx="2670048" cy="53949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911096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rutas y accesibilidad (alturas, pesos)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18688" y="2478024"/>
            <a:ext cx="26700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478024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 40': 93"×474"×106"h, 30 ton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18688" y="3044952"/>
            <a:ext cx="2670048" cy="53949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044952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Pallet estándar: 96"×104"×84"h, 5 ton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18688" y="3611880"/>
            <a:ext cx="26700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611880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temporal de rigidez para el transporte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80176" y="914400"/>
            <a:ext cx="2670048" cy="384048"/>
          </a:xfrm>
          <a:prstGeom prst="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1616" y="91440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0176" y="1344168"/>
            <a:ext cx="26700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1344168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trabajo en campo (conexiones, ajuste)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0176" y="1911096"/>
            <a:ext cx="2670048" cy="53949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71616" y="1911096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erección y secuencia de entrega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0176" y="2478024"/>
            <a:ext cx="26700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71616" y="2478024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estándar: 42'×8'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80176" y="3044952"/>
            <a:ext cx="2670048" cy="539496"/>
          </a:xfrm>
          <a:prstGeom prst="rect">
            <a:avLst/>
          </a:prstGeom>
          <a:solidFill>
            <a:srgbClr val="EBF4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3044952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 conexión de sistemas y tolerancias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980176" y="3611880"/>
            <a:ext cx="2670048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71616" y="3611880"/>
            <a:ext cx="2487168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Grúa camión: económica hasta 60 ton de capacidad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II-6: Accesibilidad en el Diseño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Retrasos — proyectos entregados tarde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Sitios remotos o congestionados, cargas grandes o pesadas, restricciones de altura en carreteras, pendientes pronunciadas.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Productividad disminuida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concurrentes de la planta, líneas eléctricas aéreas, tabla freática alta o suelos débiles.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Doble manejo de materiales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ambientales (flora, fauna), secuencias de entrega mal coordinadas, acopio inadecuado.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Demolición y retrabajo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espacio para grúas, rutas de acceso no planificadas, zonas congestionadas sin salida.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Soluciones: selección de componentes, secuenciamiento de actividades, análisis de logística, visualización 3D.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II-7: Diseño para Condiciones Climáticas Adversas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temprana + Trabajo en taller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el cierre perimetral en una temporada. Modularización y pre-ensamble fuera del sitio para instalación rápida.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sensibles + Losas selladas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sistemas sensibles a temperatura en zonas expuestas hasta que la estructura esté cerrada. Sellar losas tempranamente.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Pavimento y drenaje tempranos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Pavimentación temprana de accesos reduce barro. Sistema de drenaje instalado en primeras fases previene inundaciones.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Concreto especial + Iluminación permanente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Aditivos para condiciones extremas. Usar instalaciones permanentes para construcción temporal — reduce costos.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"¿Cómo puede el clima afectar adversamente tu proyecto? ¿Qué se puede hacer en diseño o procura para contrarrestarlo?" — CII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II-8: Seguridad del Proyecto en el Diseño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 Vulnerabilidades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vulnerabilidades ante amenazas físicas, cibernéticas y humanas. Análisis de riesgo estructurado antes de comenzar el diseño.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del Sitio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Cerco perimetral, control de accesos, iluminación de seguridad, sistemas CCTV. Planificado desde el inicio del diseño del sitio.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Investigación de Personal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antecedentes del personal, especialmente en infraestructura crítica. Gestión de identificación en campo.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IT y Documentos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planos, especificaciones y datos del proyecto. Ciberseguridad en sistemas de diseño y comunicación.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Tácticas adicionales: selección del sitio, "endurecimiento" del diseño, protección de componentes vulnerables, detalles a prueba de sabotaje.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Fase III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de Campo — Innovaciones del Constructor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III-1: Métodos Innovadores de Gestión y Construcción en Campo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Secuenciación Detallada de Tareas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microdetallada de actividades: orden de operaciones, frentes de trabajo, interdependencias de cuadrillas. "Workface Planning".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 y Sistemas Temporales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óptima de materiales de construcción temporal: encofrados reutilizables, estructuras desmontables, protecciones de trabajo en altura.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Equipos de Construcción Optimizados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correcta de equipo pesado y liviano. Mini-excavadoras, brazos articulados, plataformas especiales.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Pre-ensamble y Logística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pre-ensamble en campo no contempladas en el diseño. Instalaciones temporales en localización estratégica.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constructores, actuando solos, pueden mejorar la constructabilidad mediante pequeñas ideas que se acumulan.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Productividad de Campo y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Porcentaje de Trabajo Directo (PTD)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% de tiempo que las cuadrillas realizan trabajo directo vs. espera, traslados o retrabajo. Meta: &gt;50% PTD.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Minutos Nominales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muestreo de trabajo para medir actividad vs. inactividad. Identifica cuellos de botella sistemáticos.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 de Retrabajo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trabajo que debe rehacerse por errores o conflictos de diseño. Meta CII: &lt;2% del costo total.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Rotación de Personal (Turnover)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rotación reduce productividad por pérdida de curva de aprendizaje. Programas de incentivos reducen turnover.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"Tucker's Tidbits" — publicación CII por y para trabajadores de oficio que compartía innovaciones de campo.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del Frente de Trabajo (Workface Planning)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Paquetes de Trabajo de Campo (IWPs)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cuadrilla recibe un paquete completo: planos, materiales, herramientas, secuencia y criterios de calidad — todo disponible ANTES de comenzar.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Restricciones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levantar proactivamente las restricciones. Las 7 Restricciones del Last Planner.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Lookahead de 3-6 Semanas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intermedia que conecta el cronograma master con la programación semanal. Anticipa recursos y materiales.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Retroalimentación a Diseño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problemas en campo se capturan en la LLDB para retroalimentar el diseño de futuros proyectos.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PPC (Porcentaje Plan Cumplido): compromisos semanales de la cuadrilla miden confiabilidad del sistema de planificación.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Implementación del Programa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CII — 6 Hitos para el Éxito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 de Implementación de Constructabilidad CII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enfoque comprehensivo-integrado organizado en 6 hitos progresivos: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1155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1: Compromiso para Implementar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15361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beneficios. Evaluar estado actual. Desarrollar política.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005840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508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03320" y="11155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2: Programa Corporativo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03320" y="15361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organizacional. Capacitación. Herramientas corporativas.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1005840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005840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5087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1115568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3: Capacidades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6520" y="1536192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Contratar/desarrollar al Gerente de Constructabilidad. Fuentes de mejora.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07208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310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291693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4: Planificar Implementación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33756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concepto por concepto. Taller de planificación. Metas cuantitativas.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807208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310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03320" y="291693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5: Implementar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03320" y="333756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plan. Registrar ideas. Actualizar log. Reportar trimestralmente.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2807208"/>
            <a:ext cx="265176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2807208"/>
            <a:ext cx="411480" cy="16916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31012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446520" y="2916936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6: Actualizar Programa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46520" y="333756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aprendidas. Retroalimentar al nivel corporativo. Mejora continua.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1: Compromiso para Implementar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"Sin un compromiso bien desarrollado, generalizado y comprehensivo, el programa no tendrá sustento." — CII SP 34-1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Evaluar y Reconocer Beneficios: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casos de estudio CII. Cuantificar el ahorro potencial. Calcular el ROI potencial del programa.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Comprender Métodos, Conceptos y Barreras: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los 17 conceptos CII. Identificar cuáles son más aplicables. Evaluar las barreras internas.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 Política de Implementación: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una declaración formal de la dirección comprometiendo a la organización con la constructabilidad como práctica estándar.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Designar Campeón de Constructabilidad: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Nombrar al Gerente de Constructabilidad corporativo. Definir su autoridad, recursos y reporte directo a la alta dirección.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2: Establecer el Programa Corporativo de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Organizacional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Gerente Corporativo, Campeón de Constructabilidad por proyecto, Especialistas técnicos de apoyo.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del Equipo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formal para ingenieros de diseño, directores de proyecto y personal de campo.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de 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la LLDB — el pegamento de constructabilidad entre proyectos. Sistema de captura y recuperación.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Documentos Modelo y Matrices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Política, formulario de sugerencias, log de ideas, reporte trimestral, cláusulas contractuales estándar.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corporativo es la infraestructura permanente que soporta la constructabilidad en todos los proyectos.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Barreras más Comunes a la Constructabilidad — CII Research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Compromiso de la Alta Dirección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soporte visible de los líderes, los esfuerzos son marginales. Es la barrera #1.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Separación Organizacional D&amp;C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258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y culturas que separan diseñadores de constructores. Comunicación limitada a revisiones formales tardías.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Percepción de Costo Front-End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constructabilidad cuesta más en la fase temprana." Falso — el retorno promedio es 10:1.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402336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4688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Personal con Doble Experiencia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260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personas tienen experiencia real tanto en diseño/ingeniería como en construcción. Perfil crítico para el programa.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6405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 en entrevistas con 62 empresas. También: Ausencia de LLDB y mentalidad "Todos los proyectos son únicos".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Rompedores de Barreras — Tool 10 CII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específicas para combatir cada barrera identificada: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falta de compromiso: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 casos de estudio CII con datos específicos del sector. Cuantificar el costo de NO tener constructabilidad.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separación organizacional: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que incentiven la colaboración temprana (gain-sharing). Workshops conjuntos de planificación E+P+C.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percepción de costo: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ROI potencial usando los factores CII (10:1). Presentar business case claro con datos del proyecto.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ausencia de LLDB: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un sistema simple de captura desde el primer proyecto. No esperar el sistema perfecto.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Organizacional de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debe existir tanto a nivel corporativo como a nivel de proyecto: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1051560"/>
            <a:ext cx="5486400" cy="502920"/>
          </a:xfrm>
          <a:prstGeom prst="rect">
            <a:avLst>
              <a:gd name="adj" fmla="val 14545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051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Dirección / Alta Gerencia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54864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011680"/>
            <a:ext cx="4572000" cy="502920"/>
          </a:xfrm>
          <a:prstGeom prst="rect">
            <a:avLst>
              <a:gd name="adj" fmla="val 14545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20116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Gerente Corporativo de Constructabilidad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514600"/>
            <a:ext cx="54864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8229600" cy="1828800"/>
          </a:xfrm>
          <a:prstGeom prst="rect">
            <a:avLst>
              <a:gd name="adj" fmla="val 4000"/>
            </a:avLst>
          </a:prstGeom>
          <a:solidFill>
            <a:srgbClr val="EBF4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DE PROYECTO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8640" y="3200400"/>
            <a:ext cx="2011680" cy="502920"/>
          </a:xfrm>
          <a:prstGeom prst="rect">
            <a:avLst>
              <a:gd name="adj" fmla="val 1090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 Proyecto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651760" y="3200400"/>
            <a:ext cx="2011680" cy="502920"/>
          </a:xfrm>
          <a:prstGeom prst="rect">
            <a:avLst>
              <a:gd name="adj" fmla="val 1090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Constructabilidad del Proyecto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3200400"/>
            <a:ext cx="2011680" cy="502920"/>
          </a:xfrm>
          <a:prstGeom prst="rect">
            <a:avLst>
              <a:gd name="adj" fmla="val 1090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Campeones por Especialidad (Estructuras, Mec., Elec.)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0" y="3200400"/>
            <a:ext cx="2011680" cy="502920"/>
          </a:xfrm>
          <a:prstGeom prst="rect">
            <a:avLst>
              <a:gd name="adj" fmla="val 1090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Campo (Superintendentes, Capataces)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3: Obtener Capacidades de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requiere capacidades específicas para ejecutar el programa: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Gerente de Constructabilidad del Proyecto: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experiencia combinada en ingeniería Y construcción. Ex-director de obra con base de ingeniería.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de Diseño con Sensibilidad de Campo: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Ingenieros de diseño que han pasado tiempo en obra. Entienden las consecuencias de sus decisiones de diseño.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Campeones de Constructabilidad: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campeón por especialidad técnica. Responsables de capturar y propagar buenas prácticas.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Constructores Participando Temprano: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 campo involucrado desde la fase de diseño. Deben ser experimentados y comprometidos — no solo disponibles.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mejora: experiencia del equipo, LLDB corporativa, literatura CII, consultores de constructabilidad, programas de intercambio.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4: Planificar la Implementación del Proyecto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planificación transforma los conceptos CII en acciones específicas: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Taller de Planificación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estructurado con todo el equipo EPC. Agenda formal (Tool 13 CII). Revisar matrices de aplicación.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Cuantitativas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metas de ahorro en costo (%), reducción de cronograma (%) y ratio B/C objetivo con presupuesto dedicado.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Conceptos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uno de los 17 conceptos CII: ¿aplica? ¿cuándo? ¿quién es responsable? ¿qué entregable produce?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 al PEP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constructabilidad debe quedar formalmente integrado al Plan de Ejecución del Proyecto — no como apéndice.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5: Herramientas Operativas CII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CII para documentar y gestionar la implementación: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13: Formulario de Sugerencias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miembro del equipo documenta una sugerencia. Incluye: descripción, concepto, fase, beneficio estimado y autor.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14: Log de Ideas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maestro de todas las sugerencias. Columnas: ID, descripción, concepto, fecha, propietario, estado, ahorro.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15: Reporte Trimestral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formal al Director del Proyecto: ideas generadas, implementadas, costo del programa, ahorro logrado, B/C actualizado.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16: Cláusulas Contractuales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 modelo para incluir en contratos: establece responsabilidad del contratista de participar activamente.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de Lecciones Aprendidas — El Motor del Programa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CLAVE para no repetir errores ni reinventar ruedas. Es el pegamento de constructabilidad entre proyectos." — CII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la Base de Datos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por lección: concepto CII, fase, tipo de proyecto, descripción del problema, solución aplicada, ahorro estimado y real, condiciones de aplicabilidad.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de Captura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sistemática al cerrar cada fase. Responsable: Gerente de Constructabilidad. Revisión y validación por experto técnico.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Matrices de Aplicación de Conceptos — Tools 18 y 19 CII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matrices indican la significancia de cada concepto CII en las distintas fases del proyecto: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9260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383280" y="960120"/>
            <a:ext cx="8229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60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06240" y="960120"/>
            <a:ext cx="8229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960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29200" y="960120"/>
            <a:ext cx="8229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960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Dis.Bas.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52160" y="960120"/>
            <a:ext cx="8229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960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Dis.Det.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75120" y="960120"/>
            <a:ext cx="8229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960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498080" y="960120"/>
            <a:ext cx="8229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9601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1252728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1252728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I-1: PEP Constructabilidad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83280" y="1252728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25272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1252728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125272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0" y="1252728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125272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52160" y="1252728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0" y="125272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1252728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125272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98080" y="1252728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25272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1591056"/>
            <a:ext cx="292608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1591056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I-2: Factibilidad temprana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383280" y="1591056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159105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06240" y="1591056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159105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029200" y="1591056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159105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852160" y="1591056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159105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75120" y="1591056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159105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498080" y="1591056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159105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1929384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1929384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I-4: Cronograma orientado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383280" y="1929384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83280" y="1929384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206240" y="1929384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06240" y="1929384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029200" y="1929384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1929384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5852160" y="1929384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52160" y="1929384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675120" y="1929384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75120" y="1929384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498080" y="1929384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0" y="1929384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57200" y="2267712"/>
            <a:ext cx="292608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2267712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II-2: Diseño eficiente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383280" y="2267712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83280" y="2267712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206240" y="2267712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206240" y="2267712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5029200" y="2267712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29200" y="2267712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852160" y="2267712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0" y="2267712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675120" y="2267712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75120" y="2267712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7498080" y="2267712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498080" y="2267712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57200" y="2606040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57200" y="2606040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II-3: Estandarización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3383280" y="2606040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83280" y="2606040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4206240" y="2606040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06240" y="2606040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5029200" y="2606040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29200" y="2606040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5852160" y="2606040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852160" y="2606040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6675120" y="2606040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675120" y="2606040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7498080" y="2606040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498080" y="2606040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457200" y="2944368"/>
            <a:ext cx="292608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2944368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II-5: PPMOF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3383280" y="2944368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83280" y="294436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4206240" y="2944368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0" y="294436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5029200" y="2944368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029200" y="294436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5852160" y="2944368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852160" y="294436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6675120" y="2944368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75120" y="294436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103" name="Shape 101"/>
          <p:cNvSpPr/>
          <p:nvPr/>
        </p:nvSpPr>
        <p:spPr>
          <a:xfrm>
            <a:off x="7498080" y="2944368"/>
            <a:ext cx="822960" cy="33832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498080" y="2944368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457200" y="3282696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57200" y="3282696"/>
            <a:ext cx="29260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III-1: Innovaciones campo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3383280" y="3282696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383280" y="328269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4206240" y="3282696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4206240" y="328269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5029200" y="3282696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029200" y="328269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5852160" y="3282696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852160" y="328269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115" name="Shape 113"/>
          <p:cNvSpPr/>
          <p:nvPr/>
        </p:nvSpPr>
        <p:spPr>
          <a:xfrm>
            <a:off x="6675120" y="3282696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675120" y="328269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○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7498080" y="3282696"/>
            <a:ext cx="8229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98080" y="3282696"/>
            <a:ext cx="822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●</a:t>
            </a:r>
            <a:endParaRPr lang="en-US" sz="1200" dirty="0"/>
          </a:p>
        </p:txBody>
      </p:sp>
      <p:sp>
        <p:nvSpPr>
          <p:cNvPr id="119" name="Text 117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= Alta significancia     ○ = Baja o no aplica     Matrices completas: Tools 18 (Comercial) y 19 (Industrial) CII SP 34-1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Hito 6: Actualizar el Programa Corporativo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 cada proyecto, las lecciones aprendidas alimentan el programa corporativo: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8229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reporte final: ideas generadas vs. implementadas, costo, ahorro total, ratio B/C real.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6148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169164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Matriz de Evaluación (Tool 5 CII): ¿qué conceptos fueron más efectivos? ¿cuáles necesitan más atención?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40740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169164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lecciones más valiosas en la Base de Datos corporativa con contexto y cuantificación del beneficio.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5332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0680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169164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nuevas lecciones a la LLDB accesible para todos los proyectos. Retirar o actualizar lecciones obsoletas.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9924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960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86600" y="1691640"/>
            <a:ext cx="1554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aspectos del programa corporativo deben ajustarse? ¿Se necesitan nuevas herramientas o capacitación?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Niveles de Madurez del Programa Corporativo (5 Niveles)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777240"/>
            <a:ext cx="1664208" cy="914400"/>
          </a:xfrm>
          <a:prstGeom prst="rect">
            <a:avLst>
              <a:gd name="adj" fmla="val 8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" y="77724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9728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" y="1737360"/>
            <a:ext cx="1664208" cy="2423160"/>
          </a:xfrm>
          <a:prstGeom prst="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1783080"/>
            <a:ext cx="151790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programa formal. Algunos individuos aplican conceptos intuitivamente. Sin documentación ni seguimiento.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92808" y="777240"/>
            <a:ext cx="1664208" cy="914400"/>
          </a:xfrm>
          <a:prstGeom prst="rect">
            <a:avLst>
              <a:gd name="adj" fmla="val 8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92808" y="77724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92808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Iniciando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92808" y="1737360"/>
            <a:ext cx="1664208" cy="2423160"/>
          </a:xfrm>
          <a:prstGeom prst="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1783080"/>
            <a:ext cx="151790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liderazgo reconoce los beneficios. Se desarrolla una política. Hay un campeón identificado sin recursos formales.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75888" y="777240"/>
            <a:ext cx="1664208" cy="914400"/>
          </a:xfrm>
          <a:prstGeom prst="rect">
            <a:avLst>
              <a:gd name="adj" fmla="val 8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75888" y="77724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75888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75888" y="1737360"/>
            <a:ext cx="1664208" cy="2423160"/>
          </a:xfrm>
          <a:prstGeom prst="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1783080"/>
            <a:ext cx="151790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formal con política escrita, Gerente designado, herramientas CII adoptadas, primeras lecciones capturadas.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58968" y="777240"/>
            <a:ext cx="1664208" cy="914400"/>
          </a:xfrm>
          <a:prstGeom prst="rect">
            <a:avLst>
              <a:gd name="adj" fmla="val 8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58968" y="77724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58968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Avanzado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58968" y="1737360"/>
            <a:ext cx="1664208" cy="2423160"/>
          </a:xfrm>
          <a:prstGeom prst="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32120" y="1783080"/>
            <a:ext cx="151790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implementado en la mayoría de proyectos. LLDB activa. Métricas documentadas. Capacitación formal.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242048" y="777240"/>
            <a:ext cx="1664208" cy="914400"/>
          </a:xfrm>
          <a:prstGeom prst="rect">
            <a:avLst>
              <a:gd name="adj" fmla="val 8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42048" y="777240"/>
            <a:ext cx="16642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242048" y="1188720"/>
            <a:ext cx="16642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 Industria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42048" y="1737360"/>
            <a:ext cx="1664208" cy="2423160"/>
          </a:xfrm>
          <a:prstGeom prst="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0" y="1783080"/>
            <a:ext cx="1517904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comprehensivo. Alta ratio B/C. Reconocido externamente. Contribuye activamente a investigación CII.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del Programa — Tools 3 y 4 CII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parámetros evaluados en 5 niveles (1-5). La suma total indica el nivel de madurez: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Compromiso de la Dirección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1: sin compromiso. Nivel 5: alta dirección lidera activamente el programa con recursos y atención permanente.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Organizacional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1: sin roles definidos. Nivel 5: Gerentes de Constructabilidad en todos los proyectos con soporte corporativo.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y Procesos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1: sin herramientas. Nivel 5: las 19 herramientas CII implementadas y personalizadas para la organización.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1: sin base de datos. Nivel 5: LLDB activa, completa, accesible y con alta tasa de uso en nuevos proyectos.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Cláusulas Contractuales para Constructabilidad — Tool 16 CII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 modelo para incluir en contratos EPC y de diseño: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Obligación del Contratista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Contratista participará activamente en el programa y asignará personal calificado para dicho fin.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de Ideas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Contratista reportará mensualmente todas las ideas de constructabilidad identificadas, incluyendo el beneficio estimado.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Lecciones Aprendidas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cierre del proyecto, el Contratista entregará informe formal de Lecciones Aprendidas según el formato del Propietario.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Gain-Share por Ahorros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gain-sharing donde ahorros de constructabilidad documentados se distribuirán según fórmula acordada.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Clave del Programa de Constructabilidad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indicadores para medir y gestionar el programa a lo largo del proyecto: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Generadas / Implementadas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sugerencias por mes y fase. Meta: mínimo 2 ideas por concepto por fase. % implementadas: meta &gt;70%.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vs. Ahorro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 programa: 0.5-1% del TIC. Ahorro documentado en costo y cronograma — debe ser verificado objetivamente.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 B/C Acumulado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total dividido entre costo del programa. Meta: &gt;10:1. Reportar trimestralmente al Director del Proyecto.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Madurez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usando la matriz de 15 parámetros. Reportar al inicio, a mitad y al cierre del proyecto.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en Pequeños Proyectos Inmobiliarios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Pablo Orihuela — Motiva S.A. | Aplicación a proyectos de pequeña y mediana escala: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Paradigma a Romper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mayores oportunidades de mejora NO se dan durante la construcción — se dan en el diseño, la planificación y sobre todo en el anteproyecto."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Coordinación Arquitecto-Estructural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frecuente que el arquitecto diseñe sin coordinar con el ingeniero estructural. Al diseñador no se le comunican los procesos operativos que se usarán en obra.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F34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0972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Estudio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Real del Retorno de la Constructabilidad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Casos de Estudio Documentados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ha documentado múltiples casos con datos cuantificados de beneficios: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987552"/>
            <a:ext cx="274320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987552"/>
            <a:ext cx="2743200" cy="384048"/>
          </a:xfrm>
          <a:prstGeom prst="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87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389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Planta de Gas Bajo Sulfuro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Christi, TX | $145M TIC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9% bajo presupuesto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18688" y="987552"/>
            <a:ext cx="274320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987552"/>
            <a:ext cx="2743200" cy="384048"/>
          </a:xfrm>
          <a:prstGeom prst="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987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0128" y="1389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Planta de Aluminio Fjardaál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310128" y="1773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Islandia oriental | 320K ton/año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~10% reducción costos campo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71616" y="987552"/>
            <a:ext cx="274320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987552"/>
            <a:ext cx="2743200" cy="384048"/>
          </a:xfrm>
          <a:prstGeom prst="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98755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63056" y="138988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Edificio Comercial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63056" y="17739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CII | Comercial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63056" y="2048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1.1% ahorro TIC, B/C = 10:1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274320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651760"/>
            <a:ext cx="2743200" cy="384048"/>
          </a:xfrm>
          <a:prstGeom prst="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517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30540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Planta Petroquímica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CII | Industrial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6-23% reducción TIC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18688" y="2651760"/>
            <a:ext cx="274320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2651760"/>
            <a:ext cx="2743200" cy="384048"/>
          </a:xfrm>
          <a:prstGeom prst="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26517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10128" y="30540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Planta Fertilizante Indonesia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10128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ton/día | Asia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310128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 meses adelanto cronograma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071616" y="2651760"/>
            <a:ext cx="2743200" cy="1508760"/>
          </a:xfrm>
          <a:prstGeom prst="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71616" y="2651760"/>
            <a:ext cx="2743200" cy="384048"/>
          </a:xfrm>
          <a:prstGeom prst="rect">
            <a:avLst>
              <a:gd name="adj" fmla="val 1904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71616" y="265176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163056" y="30540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Planta de Gas Industrial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63056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CII | Industrial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63056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Reducción 10% duración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CS-1: Planta de Gas de Bajo Sulfuro — Corpus Christi, TX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4023360" cy="3931920"/>
          </a:xfrm>
          <a:prstGeom prst="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49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PROYECTO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42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Planta para combustibles limpios (mandato EPA)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3441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Capacidad: 63,000 barriles/día en 3 unidades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Nueva tecnología de proceso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947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Presupuesto TIC: $145 millones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24942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Sitio: Corpus Christi, Texas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5511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Escasez de soldadores y electricistas (20% turnover)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Fast-track, orientado al cronograma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154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Contrato EPC: 15 meses diseño, procura, construcción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456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Movilización al campo al 30% de avance de ingeniería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713232"/>
            <a:ext cx="4023360" cy="3931920"/>
          </a:xfrm>
          <a:prstGeom prst="rect">
            <a:avLst>
              <a:gd name="adj" fmla="val 186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749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0424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217920" y="1042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accidentes en 1.6 MM horas-hombre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5453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15453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 MM (9%) BAJO presupuesto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204825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217920" y="20482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 (1.8%) sobre cronograma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5511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Productividad: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0" y="25511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mejor que lo planeado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05409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Retrabajo: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0" y="30540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Reducido a ~2% del costo total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754880" y="35570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Rotación: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17920" y="35570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Reducida a la mitad del promedio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4023360"/>
            <a:ext cx="4023360" cy="530352"/>
          </a:xfrm>
          <a:prstGeom prst="rect">
            <a:avLst>
              <a:gd name="adj" fmla="val 1034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0233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Inversión en Constructabilidad: ~$1M (0.7% TIC)  |  B/C implícito &gt; 13:1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CS-1: Modularización en la Planta de Gas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modularización fue el elemento de constructabilidad de mayor impacto en este proyecto: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Cubos Modulares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74,000 horas pico transferidas a Charleston, SC (taller). Equivale al 5.7% del total de horas de campo.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 de Rutas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detallada para líneas eléctricas a lo largo de la ruta de transporte. Coordinación con autoridades viales.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Pre-ensamble en Sitio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de toda la tubería del proyecto ensamblada en tierra antes del izaje. Racks de tubería cargados en sitio.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Electrónico PDS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3D CAD para toda la tubería. Usado para planeamiento del sitio, izajes y routing en campo.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CS-1: Gestión de Personal, Calidad y Cronograma Agresivo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ejes de innovación que hicieron posible los resultados del proyecto: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Personal — Innovaciones Clave: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del pico de mano de obra en 100 personas. Cuadrillas con carga frontal para maximizar curva de aprendizaje. Multi-skilling y programas de incentivos para fuerza laboral local.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Calidad y Retrabajo: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Retrabajo controlado al ~2% (vs. 10-15% sin programa). Paquetes de trabajo "shrink-wrapped": materiales + instrucciones + planos por cuadrilla.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Agresiva del Cronograma: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2 turnos con oficina satelital en Mumbai, India. Movilización temprana al campo al 30% de avance de ingeniería. Planificación interactiva para abordar retrasos en tiempo real.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clave: Mobilizar al equipo de campo durante el diseño (3-5 meses antes) genera coordinación E-C que vale millones.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CS-2: Planta de Aluminio Fjardaál — Islandia Oriental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13232"/>
            <a:ext cx="4023360" cy="3931920"/>
          </a:xfrm>
          <a:prstGeom prst="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49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05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Primera planta del propietario en 20 años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13075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Capacidad: 320,000 ton/año + planta 500 MW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60934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Sitio remoto en el este de Islandia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9110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Fuerza laboral importada (local mínima)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2128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Puerto de aguas profundas cercano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 prioridad de sostenibilidad ambiental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281635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 planta comenzó operaciones en 2007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311810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Fuerza laboral diversa: múltiples nacionalidades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4198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Clima ártico: temperaturas extremas, vientos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Proyecto de escala masiva: miles de trabajadores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713232"/>
            <a:ext cx="4023360" cy="3931920"/>
          </a:xfrm>
          <a:prstGeom prst="rect">
            <a:avLst>
              <a:gd name="adj" fmla="val 186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7498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CONSTRUCTABILIDAD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Mejorar integración E-P-C desde planificación inicial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0" y="138988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Desarrollar camino óptimo de construcción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0" y="17739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Incorporar seguridad en el diseño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754880" y="215798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Incorporar LLs y BPs del equipo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25420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Reducir subproductos y establecer estándar sostenibilidad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2926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Reducir complejidad mediante planificación del frente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754880" y="3310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Optimizar indirectos mediante servicios comunes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754880" y="36941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Construir trabajo en equipo y expectativas EPC compartidas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CS-2: Temas Comunes de los Talleres de Constructabilidad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talleres EPC de Fjardaál produjeron 6 temas recurrentes que guiaron las decisiones: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Simplicidad y Estandarización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repetibles mejoran la eficiencia. Menos ensambles en campo = menos horas-hombre. El sistema de construcción debe ser "simple de ejecutar".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en el Suelo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Trabajar en tierra es más seguro, eficiente y económico. Diseñar para maximizar el trabajo pre-armado al nivel del suelo antes de izar.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Fuera del Sitio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de mano de obra en Islandia son altos. Condiciones adversas. La fabricación controlada en taller es preferible cuando es posible.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Materiales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eficiente de materiales es crítico para el éxito, especialmente en sitios remotos. Sistema robusto de logística y almacenamiento.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CS-2: Las 12 Iniciativas de Valor Más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Permanente para Construcción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1247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Force para reducir costos indirectos usando instalaciones permanentes.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82296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868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Instalación de Servicios Paralela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337560" y="11247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óptimo para instalar servicios en paralelo con movimientos de tierra.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868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Revestimiento de Cubas (Pot Lining)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217920" y="112471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de trabajo altamente repetitivo para mejoras de tiempo de ciclo.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874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Integración de Pre-ensamble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1305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para pre-ensamble en lugar de añadir una capa sobre prácticas estándar.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46120" y="182880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874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Transportador de Poder y Libre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37560" y="21305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la instalación de sistema de conveyance de materiales.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126480" y="182880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87452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Guía de Constructabilidad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213055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sobre cómo incorporar valor sin interrumpir la producción.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Instalación de Recubrimientos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31363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roofing y siding que minimizan trabajo en altura.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46120" y="283464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Proceso de Trabajo en Concreto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37560" y="31363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visión del colado de concreto para maximizar eficiencia laboral.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283464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8803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 Especificación de Recubrimientos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17920" y="313639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productos que minimicen mano de obra en sitio.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84048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 Paquetes Hidráulicos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414223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Estandarizar diseño de unidades de potencia hidráulica.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384048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 Estandarización de Ductos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37560" y="414223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costo de instalación a través de la repetición.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126480" y="3840480"/>
            <a:ext cx="2743200" cy="914400"/>
          </a:xfrm>
          <a:prstGeom prst="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8862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 Constructabilidad en Requisiciones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17920" y="4142232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expectativas en el proceso de compras.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CS-2: Resultados del Programa de Constructabilidad Fjardaál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del programa de constructabilidad del proyecto Fjardaál fueron excepcionales: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costos directos de campo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$1M/día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interrupción evitado en pico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Sugerencias de constructabilidad implementadas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On-Time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208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de instalaciones en fecha del plan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371600"/>
          </a:xfrm>
          <a:prstGeom prst="rect">
            <a:avLst>
              <a:gd name="adj" fmla="val 4000"/>
            </a:avLst>
          </a:prstGeom>
          <a:solidFill>
            <a:srgbClr val="E8F4FD"/>
          </a:solidFill>
          <a:ln w="12700">
            <a:solidFill>
              <a:srgbClr val="C3D9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930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La planificación temprana y la revisión de procesos contuvieron la exposición a riesgos de seguridad y protegieron las contingencias del presupuesto.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Históricos CII — Mini-Cases del Primer Estudio (1986)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2743200" cy="1737360"/>
          </a:xfrm>
          <a:prstGeom prst="rect">
            <a:avLst>
              <a:gd name="adj" fmla="val 42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9144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Planta Fertilizante Indonesia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307592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ton/día. Completada 2 meses antes. Modularización de hornos de reforming. Cronograma fast-track.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2743200" cy="1737360"/>
          </a:xfrm>
          <a:prstGeom prst="rect">
            <a:avLst>
              <a:gd name="adj" fmla="val 4211"/>
            </a:avLst>
          </a:prstGeom>
          <a:solidFill>
            <a:srgbClr val="0F346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9144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 de Refinería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55848" y="1307592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constructivo desde propuesta. Distribución de sitio optimizada. B/C = 10:1 documentado.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26480" y="804672"/>
            <a:ext cx="2743200" cy="1737360"/>
          </a:xfrm>
          <a:prstGeom prst="rect">
            <a:avLst>
              <a:gd name="adj" fmla="val 42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91440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 Residencial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6208" y="1307592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redujo tiempo de construcción. Pre-ensamble de módulos de baño y cocina.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679192"/>
            <a:ext cx="2743200" cy="1737360"/>
          </a:xfrm>
          <a:prstGeom prst="rect">
            <a:avLst>
              <a:gd name="adj" fmla="val 4211"/>
            </a:avLst>
          </a:prstGeom>
          <a:solidFill>
            <a:srgbClr val="0F346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889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Jet Engine Overhaul Facility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182112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Restauración en tiempo récord. Pre-planeamiento extenso de secuencia y logística.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2679192"/>
            <a:ext cx="2743200" cy="1737360"/>
          </a:xfrm>
          <a:prstGeom prst="rect">
            <a:avLst>
              <a:gd name="adj" fmla="val 42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7889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Pulpería de Mercado Blanqueada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55848" y="3182112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Modularización para sitio remoto. Lay-flat de tuberías. 6% reducción en TIC.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26480" y="2679192"/>
            <a:ext cx="2743200" cy="1737360"/>
          </a:xfrm>
          <a:prstGeom prst="rect">
            <a:avLst>
              <a:gd name="adj" fmla="val 4211"/>
            </a:avLst>
          </a:prstGeom>
          <a:solidFill>
            <a:srgbClr val="0F346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27889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Ártica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6208" y="3182112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para condiciones extremas. Modularización extensiva. Construcción en temporada corta.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Comparativo de los Casos de Estudio CII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04672"/>
            <a:ext cx="28346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804672"/>
            <a:ext cx="109728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8046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804672"/>
            <a:ext cx="13716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804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 Costo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804672"/>
            <a:ext cx="18288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8046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Reduc. Cronograma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589520" y="804672"/>
            <a:ext cx="137160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8046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 B/C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1152144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15214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Edificio Comercial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91840" y="1152144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15214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1152144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115214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1152144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115214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1152144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15214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1536192"/>
            <a:ext cx="283464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53619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Manufacturera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91840" y="1536192"/>
            <a:ext cx="109728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153619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0" y="1536192"/>
            <a:ext cx="13716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15361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60720" y="1536192"/>
            <a:ext cx="18288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15361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89520" y="1536192"/>
            <a:ext cx="13716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153619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12:1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1920240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1920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Petroquímica (expansión)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920240"/>
            <a:ext cx="10972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19202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389120" y="192024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0" y="1920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60720" y="1920240"/>
            <a:ext cx="1828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60720" y="1920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589520" y="192024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19202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9:1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2304288"/>
            <a:ext cx="283464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3042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Industrial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91840" y="2304288"/>
            <a:ext cx="109728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91840" y="2304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389120" y="2304288"/>
            <a:ext cx="13716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60720" y="2304288"/>
            <a:ext cx="18288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230428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589520" y="2304288"/>
            <a:ext cx="1371600" cy="38404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2304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11:1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2688336"/>
            <a:ext cx="28346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6883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CII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291840" y="2688336"/>
            <a:ext cx="10972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0" y="26883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389120" y="2688336"/>
            <a:ext cx="13716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0" y="2688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60720" y="2688336"/>
            <a:ext cx="18288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0" y="268833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589520" y="2688336"/>
            <a:ext cx="13716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9520" y="2688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7200" y="3200400"/>
            <a:ext cx="8229600" cy="1508760"/>
          </a:xfrm>
          <a:prstGeom prst="rect">
            <a:avLst>
              <a:gd name="adj" fmla="val 484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" y="3273552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Todos los casos mostraron beneficios positivos independientemente del tipo, tamaño o ubicación del proyecto.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ratio B/C promedio de 10:1 es consistente con la predicción de la investigación CII.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funciona en proyectos comerciales e industriales por igual.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para Construcción — Ejemplos de Aplicación Real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documentadas del Concepto II-2 en proyectos industriales y comerciales: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Piping en Sleepers vs. Rack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shale oil: tubería en sleepers nivel suelo vs. rack elevado. Ahorro de 1 mes en entrega de acero, valor de $550K.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Posición de Centros de Control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ubicado cerca de las cargas eléctricas reduce longitud de cables. $400K de ahorro documentado por optimización de layout.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Zanja Común Firewater-Eléctrico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instalaciones subterráneas en una sola excavación. Ahorro: $66K en trabajo de zanjeado y relleno.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Conexiones Estructurales Precalificadas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conexiones aprobadas por fabricantes de acero. Reduce tiempo de fabricación y costo de inspección en campo.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y Seguridad — Safety by Design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temprana reduce el riesgo de accidentes al eliminar condiciones inseguras antes del campo: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en Altura Reducido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para que el máximo trabajo posible se realice al nivel del suelo. Pre-ensamble de estructuras antes del izaje.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Temprana de Interferencias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clash detection identifica interferencias que en campo requieren trabajo en espacios confinados o en altura.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Planes de Izaje Formales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izaje pesado requiere un plan formal revisado por ingeniería. Área estéril, capacidad verificada, clima y señalización.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Secuenciación para Evitar Exposición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el trabajo para que las cuadrillas no estén expuestas a peligros simultáneos (izajes, trabajos en caliente, espacios confinados).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en Proyectos de Carreteras e Infraestructura Vial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SD-4 documenta conceptos específicos para proyectos de carreteras y obras lineales: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Control de Tráfico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TCP es crítico en proyectos de carreteras activas. TCP mal planificado puede duplicar el costo de mano de obra.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Terraplenes y Cortes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de movimiento de tierras define el cronograma. El diseño debe considerar estabilidad de taludes y balance de corte-relleno.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Puentes y Pasos a Nivel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elementos de puente tienen secuencias constructivas que deben integrarse al cronograma general. Prefabricación vs. in situ.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Pavimentación y Señalización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operaciones de pavimentación requieren análisis de productividad de tren de trabajo. Secuencias de bases, sub-bases y capas de rodadura.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en Proyectos de Concreto Reforzado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los conceptos CII en el diseño de elementos de concreto reforzado: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Densidad del Refuerzo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espaciamiento mínimo entre barras debe permitir el paso del vibrador. Barras demasiado juntas impiden la correcta compactación del concreto.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de Cimbrado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selección temprana del sistema de cimbrado (convencional, tablero, trepante, deslizante) define el cronograma y costo de encofrado.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Tolerancias Alcanzables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tolerancias que el campo puede lograr razonablemente. Tolerancias exageradas aumentan el costo sin mejorar el desempeño.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Prefabricado vs. CIP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elección entre concreto prefabricado y vaciado en sitio es una decisión de Concepto I-5. El prefabricado acelera el cronograma.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y Operabilidad — El Vínculo con las Abilities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y la operabilidad son "abilities" complementarias. Un proyecto que se construye eficientemente DEBE también ser fácil de operar y mantener.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para Operación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Válvulas, instrumentos y equipos accesibles para el operador. No solo accesibles para la construcción — también para la operación diaria.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Mantenibilidad Integrada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suficiente para reemplazo de equipos, acceso para mantenimiento preventivo. Grúas permanentes o rieles de mantenimiento donde se necesitan.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en la Era Digital — Industry 4.0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tecnologías digitales modernas potencian la constructabilidad de maneras que no eran posibles antes: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gemelo digital permite simular la construcción antes de ejecutarla. Detecta conflictos, optimiza secuencias y valida la constructabilidad.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Drones y Realidad Aumentada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drones permiten monitorear el avance y verificar constructabilidad en tiempo real. La RA superpone el diseño sobre el campo.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Prefabricación Digital (CNC)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numérico computarizado permite prefabricación de alta precisión. Los datos del modelo BIM van directo a las máquinas de fabricación.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en Campo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en equipos y materiales permiten seguimiento en tiempo real. RFID para gestión de materiales. Datos de productividad capturados automáticamente.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del Cambio para Implementar Constructabilidad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constructabilidad es un cambio cultural, no solo un cambio de proceso: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Liderazgo Visible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líderes deben demostrar su compromiso participando activamente en los talleres. "Management by Walking Around" aplicado a constructabilidad.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Efectiva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formación teórica — casos de estudio reales, visitas a proyectos con programas maduros, intercambio con empresas líderes.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de Reconocimiento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y recompensar contribuciones al programa. El proyecto Fjardaál implementó reconocimientos periódicos para el equipo.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Comunicación Continua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los ahorros logrados. Celebrar los éxitos para mantener el momentum. Mantener al equipo informado sobre los beneficios del programa.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Procura Estratégica y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avanzadas de implementación en procura: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Identificación de Long-Lead Items: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equipos de largo plazo de entrega (HFUs, transformadores, turbinas) deben identificarse en la fase conceptual. Su lead time define la ruta crítica de la ingeniería.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Participación de Proveedores en Diseño: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Involucrar a proveedores estratégicos en las revisiones de constructabilidad. Aportarán conocimiento sobre fabricación, transporte e instalación.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Paquetes de Ingeniería Alineados con Procura: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paquetes de ingeniería para licitar deben estar alineados con los paquetes de construcción. La misma zona geográfica y temporal debe ser un paquete cohesivo.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Requisiciones con Criterios de Constructabilidad: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solicitudes de cotización deben incluir criterios: dimensiones máximas de transporte, puntos de izaje, secuencia de instalación, interface de conexión.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Revisiones Formales de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avanzadas de implementación: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una Revisión de Constructabilidad?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evaluación sistemática del diseño por parte de expertos con experiencia de campo. NO es solo "que construcción revise los planos" — es un proceso estructurado con metodología formal.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Realizarlas: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30%, 60% y 90% de avance del diseño básico. En cada entrega de documentos clave de diseño detallado.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las Realiza: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Constructabilidad + campeones por especialidad + constructores con experiencia en el tipo de proyecto. Opcionalmente: consultor externo.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 de la Revisión: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comentarios con número de concepto CII, descripción del problema, solución propuesta, responsable y fecha de respuesta requerida.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y Gestión de Riesgos del Proyecto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avanzadas de implementación: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de Constructabilidad: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tempranamente los riesgos que afectan la ejecutabilidad: suelos contaminados, interferencias con operaciones existentes, escasez de mano de obra especializada.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Mitigación a través del Diseño: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riesgos de construcción pueden mitigarse a través de decisiones de diseño tempranas. El riesgo de campo restringido se mitiga con más pre-ensamble en taller.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Cuantificación de Riesgos: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 constructabilidad debe cuantificar el costo potencial de los riesgos identificados. Esto permite tomar decisiones informadas sobre las inversiones en mitigación.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Contingencias Inteligentes: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contingencias del presupuesto deben ser proporcionales a los riesgos de constructabilidad identificados. Un análisis cuantitativo de riesgos respaldado por constructabilidad.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Taller de Planificación de Constructabilidad — Agenda y Metodología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avanzadas de implementación: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del Taller: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los 17 conceptos CII y determinar cuáles son aplicables al proyecto. Asignar responsables. Establecer el plan de aplicación. Generar buy-in del equipo.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Participantes Requeridos: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del Proyecto, Gerente de Constructabilidad, Jefes de Disciplina de Ingeniería, Gerente de Procura, Superintendente General, Gerentes de Subcontratistas clave.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Dinámica del Taller: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concepto: ¿Qué significa para ESTE proyecto? ¿Cuándo aplicarse? ¿Quién lo liderará? ¿Qué entregable producirá? Documentar acuerdos en tiempo real.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 Post-Taller: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Aplicación de Conceptos formalizado, Log de Ideas iniciado, primera reunión de seguimiento agendada para 30 días. Resultados integrados al PEP.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Medir el Éxito del Programa de Constructabilidad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2697480" cy="347472"/>
          </a:xfrm>
          <a:prstGeom prst="rect">
            <a:avLst>
              <a:gd name="adj" fmla="val 15789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 PROCESO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1115568"/>
            <a:ext cx="2697480" cy="3566160"/>
          </a:xfrm>
          <a:prstGeom prst="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234440"/>
            <a:ext cx="164592" cy="16459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18872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ideas de constructabilidad generadas por millón de dólares de TIC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" y="2057400"/>
            <a:ext cx="164592" cy="16459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1168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ideas aprobadas que se implementaron efectivamente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2880360"/>
            <a:ext cx="164592" cy="16459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del programa de constructabilidad vs. horas totales del proyecto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3703320"/>
            <a:ext cx="164592" cy="16459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5760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 revisiones de constructabilidad realizadas por fase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0" y="749808"/>
            <a:ext cx="2697480" cy="347472"/>
          </a:xfrm>
          <a:prstGeom prst="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7498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 RESULTADO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1115568"/>
            <a:ext cx="2697480" cy="3566160"/>
          </a:xfrm>
          <a:prstGeom prst="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123444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18872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costo TIC atribuible a constructabilidad (%)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10128" y="205740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201168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cronograma atribuible a constructabilidad (%)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10128" y="28803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83464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Beneficio/Costo acumulado del programa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370332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65760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retrabajo vs. proyectos sin programa formal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749808"/>
            <a:ext cx="2697480" cy="347472"/>
          </a:xfrm>
          <a:prstGeom prst="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74980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 APRENDIZAJE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035040" y="1115568"/>
            <a:ext cx="2697480" cy="3566160"/>
          </a:xfrm>
          <a:prstGeom prst="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44768" y="123444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18872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 lecciones aprendidas capturadas en la LLDB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44768" y="205740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201168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 lecciones de proyectos anteriores aplicadas en este proyecto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44768" y="288036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283464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madurez del programa (1-5) al inicio, mitad y cierre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44768" y="370332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3657600"/>
            <a:ext cx="23042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competencias del equipo de constructabilidad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de Constructabilidad en la Empresa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diagnóstico para evaluar el estado actual (basada en investigación CII):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Compromiso y Liderazgo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¿La alta dirección menciona explícitamente la constructabilidad en sus objetivos?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¿Existe un Gerente de Constructabilidad designado con recursos?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¿El PEP de todos los proyectos incluye un plan de constructabilidad?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Capacidades del Equipo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¿El equipo de diseño tiene experiencia de campo real?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¿Existen "campeones de constructabilidad" por especialidad técnica?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¿Los ingenieros reciben capacitación formal en los conceptos CII?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y el Propietario — El Rol Central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CII identifica al PROPIETARIO como el actor clave para implementar constructabilidad. Sin su liderazgo, el programa no puede tener el alcance ni el impacto necesarios.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el Propietario?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propietario tiene autoridad sobre TODO el proyecto — diseño, procura y construcción. Puede requerir constructabilidad en contratos. Los contratistas no pueden hacer esto por sí solos.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en Diseño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Requerir que el diseñador integre input constructivo. Facilitar el acceso de constructores al equipo de diseño. Financiar el programa de constructabilidad.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vs. "Revisión de Diseño" — La Trampa Común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confusión más común en la industria: creer que la constructabilidad es sinónimo de la revisión de documentos de diseño por el constructor. Este es solo un componente menor.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"Revisión" como Componente Parcial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revisión de documentos es importante, pero llega tarde en la curva de influencia de costos. Para ese momento, muchas decisiones fundamentales ya están tomadas.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es Constructabilidad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determinar métodos de construcción más eficientes después de la movilización. No es solo asignar personal de construcción a la oficina de diseño.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10 Mandamientos de la Constructabilidad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"/>
            <a:ext cx="13716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85800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85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658368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empieza en la FACTIBILIDAD, no en el diseño de detalle.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148132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453896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PROPIETARIO lidera — sin su compromiso, no hay programa real.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76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249424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en constructabilidad tiene retorno de 10:1 — no es un gasto, es una inversión.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72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044952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diseñador DEBE escuchar al constructor — su resistencia es la barrera #1.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86791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867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840480"/>
            <a:ext cx="3337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 lo que puedas — la variación innecesaria cuesta dinero y tiempo.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685800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6858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658368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el izaje ANTES de diseñar — los izajes pesados son ruta crítica.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1481328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4813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1453896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 cuando el sitio sea adverso, la mano de obra escasa o el cronograma apretado.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2276856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276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2249424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cronograma del CAMPO define el cronograma de DISEÑO, no al revés.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3072384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0723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304495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las lecciones aprendidas — sin ellas, repites errores y reinventas ruedas.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867912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867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74920" y="3840480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el programa — lo que no se mide, no se mejora.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Beneficios de la Constructabilidad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consolidada de los beneficios documentados por el CII y la industria: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6-23%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costo total del proyecto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promedio en duración total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beneficio/costo del programa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208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Retrabajo en proyectos maduros vs. 10-15% sin programa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371600"/>
          </a:xfrm>
          <a:prstGeom prst="rect">
            <a:avLst>
              <a:gd name="adj" fmla="val 4000"/>
            </a:avLst>
          </a:prstGeom>
          <a:solidFill>
            <a:srgbClr val="E8F4FD"/>
          </a:solidFill>
          <a:ln w="12700">
            <a:solidFill>
              <a:srgbClr val="C3D9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930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Safety by Design reduce exposición a riesgos. Caso Corpus Christi: 0 accidentes en 1.6 millones de horas-hombre.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463040"/>
          </a:xfrm>
          <a:prstGeom prst="rect">
            <a:avLst>
              <a:gd name="adj" fmla="val 5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""La constructabilidad bien implementada es una de las herramientas más poderosas que los propietarios pueden utilizar en sus proyectos.""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CII Publication 3-1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977640" cy="804672"/>
          </a:xfrm>
          <a:prstGeom prst="rect">
            <a:avLst>
              <a:gd name="adj" fmla="val 6818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9260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undefined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planificación conceptual y el diseño básico son las fases donde el impacto es máximo y el costo del cambio mínimo. Actuar tarde reduce exponencialmente los beneficios.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880360"/>
            <a:ext cx="3977640" cy="804672"/>
          </a:xfrm>
          <a:prstGeom prst="rect">
            <a:avLst>
              <a:gd name="adj" fmla="val 6818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9260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undefined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compromiso formal de la alta dirección y un Gerente de Constructabilidad designado, el programa no puede generar beneficios sistémicos. Es un cambio cultural.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3977640" cy="804672"/>
          </a:xfrm>
          <a:prstGeom prst="rect">
            <a:avLst>
              <a:gd name="adj" fmla="val 6818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8404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undefined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CII de 40 años muestra retornos consistentes: 10:1 en promedio. La pregunta no es si funciona — es cómo implementarlo efectivamente.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794760"/>
            <a:ext cx="3977640" cy="804672"/>
          </a:xfrm>
          <a:prstGeom prst="rect">
            <a:avLst>
              <a:gd name="adj" fmla="val 6818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3840480"/>
            <a:ext cx="37947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 undefined
</a:t>
            </a:r>
            <a:endParaRPr lang="en-US" sz="110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verdadero poder está en la LLDB. Cada proyecto mejora el siguiente. Sin ella, el conocimiento se pierde con la rotación del personal.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Recomendaciones para Iniciar el Programa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2724912" cy="384048"/>
          </a:xfrm>
          <a:prstGeom prst="rect">
            <a:avLst>
              <a:gd name="adj" fmla="val 1904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INMEDIATO (0-3 meses)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152144"/>
            <a:ext cx="2724912" cy="3611880"/>
          </a:xfrm>
          <a:prstGeom prst="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261872"/>
            <a:ext cx="201168" cy="201168"/>
          </a:xfrm>
          <a:prstGeom prst="rect">
            <a:avLst>
              <a:gd name="adj" fmla="val 1818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23444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CII Publication 3-1 con el equipo de liderazgo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" y="2103120"/>
            <a:ext cx="201168" cy="201168"/>
          </a:xfrm>
          <a:prstGeom prst="rect">
            <a:avLst>
              <a:gd name="adj" fmla="val 1818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075688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casos de estudio de SP 34-1 con datos de retorno (10:1)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" y="2944368"/>
            <a:ext cx="201168" cy="201168"/>
          </a:xfrm>
          <a:prstGeom prst="rect">
            <a:avLst>
              <a:gd name="adj" fmla="val 1818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916936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un Campeón de Constructabilidad provisional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" y="3785616"/>
            <a:ext cx="201168" cy="201168"/>
          </a:xfrm>
          <a:prstGeom prst="rect">
            <a:avLst>
              <a:gd name="adj" fmla="val 18182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758184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nivel de madurez actual usando la Matriz de Evaluación (Tool 3)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18688" y="749808"/>
            <a:ext cx="2724912" cy="384048"/>
          </a:xfrm>
          <a:prstGeom prst="rect">
            <a:avLst>
              <a:gd name="adj" fmla="val 1904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8688" y="749808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CORTO PLAZO (3-12 meses)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18688" y="1152144"/>
            <a:ext cx="2724912" cy="3611880"/>
          </a:xfrm>
          <a:prstGeom prst="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8416" y="1261872"/>
            <a:ext cx="201168" cy="201168"/>
          </a:xfrm>
          <a:prstGeom prst="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02736" y="123444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el programa corporativo formal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28416" y="2103120"/>
            <a:ext cx="201168" cy="201168"/>
          </a:xfrm>
          <a:prstGeom prst="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2736" y="2075688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política de implementación y la estructura organizacional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328416" y="2944368"/>
            <a:ext cx="201168" cy="201168"/>
          </a:xfrm>
          <a:prstGeom prst="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2916936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Capacitar al equipo en los 17 conceptos CII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28416" y="3785616"/>
            <a:ext cx="201168" cy="201168"/>
          </a:xfrm>
          <a:prstGeom prst="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2736" y="3758184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la Base de Datos de Lecciones Aprendidas en el próximo proyecto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71616" y="749808"/>
            <a:ext cx="2724912" cy="384048"/>
          </a:xfrm>
          <a:prstGeom prst="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71616" y="749808"/>
            <a:ext cx="2724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MEDIANO PLAZO (1-3 años)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71616" y="1152144"/>
            <a:ext cx="2724912" cy="3611880"/>
          </a:xfrm>
          <a:prstGeom prst="rect">
            <a:avLst>
              <a:gd name="adj" fmla="val 2013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1261872"/>
            <a:ext cx="201168" cy="201168"/>
          </a:xfrm>
          <a:prstGeom prst="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55664" y="1234440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programa en todos los proyectos de capital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81344" y="2103120"/>
            <a:ext cx="201168" cy="201168"/>
          </a:xfrm>
          <a:prstGeom prst="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5664" y="2075688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y reportar los beneficios del programa sistemáticamente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81344" y="2944368"/>
            <a:ext cx="201168" cy="201168"/>
          </a:xfrm>
          <a:prstGeom prst="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916936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la LLDB con lecciones de múltiples proyectos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81344" y="3785616"/>
            <a:ext cx="201168" cy="201168"/>
          </a:xfrm>
          <a:prstGeom prst="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3758184"/>
            <a:ext cx="22677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y buscar reconocimiento como programa maduro (Nivel 4-5)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en Proyectos con Restricciones de Sitio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detallado de constructabilidad en sitios complejos: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Sitios Urbanos Congestionados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en sitios urbanos requiere análisis especial: acceso restringido, sin espacio de acopio, operaciones de terceros adyacentes, restricciones de horario y ruido.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en Sitio Operativo (Brownfield)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ejecuta mientras la planta sigue operando. Máxima complejidad de constructabilidad. Permisos de trabajo, aislamientos, HAZOPs, planes de interfaz.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para Megaproyectos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detallado de constructabilidad en proyectos de más de $1B: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 y Complejidad Única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megaproyectos (&gt;$1B) tienen una constructabilidad de mayor complejidad. La interfaz entre múltiples contratistas se convierte en la principal fuente de problemas constructivos.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Interfaces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de interfaz entre contratistas. Definición clara de "battery limits". Coordinación de cronogramas de diferentes frentes de trabajo. Arbitraje de conflictos de acceso.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y Sostenibilidad — Proyectos Verdes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y la sostenibilidad comparten el objetivo de optimizar el uso de recursos: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Sinergia Natural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bien construible genera menos desperdicios y consume menos energía durante la construcción. El programa de constructabilidad debe incluir indicadores de minimización de desperdicios.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 de Desperdicios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debe incluir indicadores de minimización de desperdicios de construcción. El proyecto Fjardaál estableció un nuevo estándar de minimización de residuos.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Futuro de la Constructabilidad — Tendencias Emergentes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detallado de las tendencias que transformarán la constructabilidad: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Digital (DfMA)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Manufacture and Assembly (DfMA) con soporte de BIM. La integración del modelo digital con el proceso de fabricación permite prefabricación de alta precisión a menor costo.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 en Constructabilidad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a la detección automática de problemas de constructabilidad en modelos BIM. Sistemas que aprenden de la base de datos de lecciones aprendidas de la empresa.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Final: ¿Está su Empresa Lista para la Constructabilidad?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detallado para evaluar la preparación organizacional: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de Comprensión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equipo directivo entiende la diferencia entre constructabilidad y revisión de diseño? ¿Conocen los datos CII sobre retorno de la inversión? Primer paso: educación del liderazgo.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de Compromiso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voluntad de asignar recursos al programa? ¿Existe un campeón con autoridad real? ¿La dirección está dispuesta a cambiar contratos para incluir constructabilidad?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Publicaciones CII que Todo Director de Proyecto Debe Conocer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esencial de publicaciones del Construction Industry Institute: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Constructability: A Primer (3-1)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documento introductorio. Para ejecutivos y directores. 15 páginas que resumen el concepto y presentan 7 mini-casos con beneficios cuantificados. Lectura obligatoria.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Constructability Implementation Guide (SP 34-1)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guía completa. 19 herramientas, hoja de ruta, 4 casos de estudio detallados. Para el Gerente de Proyecto y el Gerente de Constructabilidad. La biblia del programa.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Adicionales para Profundizar en Constructabilidad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conocimiento y capacitación recomendadas: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CII Website (construction-institute.org)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completa de publicaciones CII. Membresía para propietarios, diseñadores y constructores. Acceso a herramientas, talleres y benchmarking.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Universidad de Texas at Austin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capacitación en Constructabilidad con Dr. James T. O'Connor. Curso CIV 1278: Pre-Project Planning &amp; Constructability Analysis.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de Términos de Constructabilidad — Parte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clave del vocabulario de constructabilidad CII: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uso óptimo del conocimiento y experiencia de construcción en la planificación, el diseño, las adquisiciones y las operaciones de campo, para alcanzar los objetivos generales del proyecto." — CII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PEP (Project Execution Plan)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maestro del proyecto que formaliza objetivos, estrategias, organización y planes de implementación de todas las áreas clave, incluyendo constructabilidad.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Glosario de Términos de Constructabilidad — Parte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Definiciones clave continuadas: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Fast-Track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proyecto donde la construcción se inicia antes de completar el diseño. Requiere constructabilidad avanzada para gestionar el traslape entre fases.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of Construction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secuencia óptima de actividades de construcción que maximiza la productividad, minimiza interferencias y respeta las restricciones de sitio y clima.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 Madurez de la Constructabilidad — Cuadro de Mando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para evaluar y gestionar el programa corporativo de constructabilidad: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Madurez del Programa (1-5)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Evaluado con la Matriz de 15 parámetros CII. Meta de primer año: pasar de Nivel 1-2 a Nivel 3. Meta a 3 años: Nivel 4 o superior.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por Millón de Dólares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≥5 ideas por millón de dólares de TIC. Proyectos maduros generan 10-15 ideas/M$. Indicador de cultura de constructabilidad del equipo.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1097280"/>
            <a:ext cx="3657600" cy="3657600"/>
          </a:xfrm>
          <a:prstGeom prst="ellipse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560320"/>
            <a:ext cx="2011680" cy="201168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137160" cy="1371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Camino hacia Proyectos más Eficientes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"Constructabilidad significa mejores proyectos — menores costos, mejor productividad, terminaciones anticipadas e inicios de operación más tempranos." — CII Publication 3-1, 1986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publicaciones del Construction Industry Institute (CII)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34-1  ·  Publication 3-1  ·  SD-4  ·  SD-5  ·  SD-25  ·  SD-34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CII SP 34-1: T-1 a T-5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49808"/>
            <a:ext cx="640080" cy="658368"/>
          </a:xfrm>
          <a:prstGeom prst="rect">
            <a:avLst>
              <a:gd name="adj" fmla="val 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70432" y="749808"/>
            <a:ext cx="7516368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76809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Temprana de Constructabilidad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el proyecto en etapa conceptual antes de comprometer el 15% del costo total.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640080" cy="658368"/>
          </a:xfrm>
          <a:prstGeom prst="rect">
            <a:avLst>
              <a:gd name="adj" fmla="val 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5448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1554480"/>
            <a:ext cx="7516368" cy="658368"/>
          </a:xfrm>
          <a:prstGeom prst="rect">
            <a:avLst>
              <a:gd name="adj" fmla="val 8333"/>
            </a:avLst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15727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 Constructabilidad Multidisciplinario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98448" y="1883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 CM, PM, ingenieros, constructores desde el inicio del proyecto.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359152"/>
            <a:ext cx="640080" cy="658368"/>
          </a:xfrm>
          <a:prstGeom prst="rect">
            <a:avLst>
              <a:gd name="adj" fmla="val 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915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70432" y="2359152"/>
            <a:ext cx="7516368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23774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Simplificación del Diseño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98448" y="2688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complejidad sin afectar función: menos juntas, interfaces y piezas.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640080" cy="658368"/>
          </a:xfrm>
          <a:prstGeom prst="rect">
            <a:avLst>
              <a:gd name="adj" fmla="val 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6382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63824"/>
            <a:ext cx="7516368" cy="658368"/>
          </a:xfrm>
          <a:prstGeom prst="rect">
            <a:avLst>
              <a:gd name="adj" fmla="val 8333"/>
            </a:avLst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8448" y="3182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Estandarización de Componentes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98448" y="3493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 soluciones probadas; reduce curva de aprendizaje en campo.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640080" cy="658368"/>
          </a:xfrm>
          <a:prstGeom prst="rect">
            <a:avLst>
              <a:gd name="adj" fmla="val 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6849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70432" y="3968496"/>
            <a:ext cx="7516368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39867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Modularización / Pre-ensamble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98448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Traslada trabajo del campo a taller controlado; hasta 40% reducción horas-campo.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CII SP 34-1: T-6 a T-10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49808"/>
            <a:ext cx="640080" cy="658368"/>
          </a:xfrm>
          <a:prstGeom prst="rect">
            <a:avLst>
              <a:gd name="adj" fmla="val 8571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70432" y="749808"/>
            <a:ext cx="7516368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76809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Accesibilidad en Diseño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0789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 rutas de acceso para construcción, mantenimiento y retiro de equipos.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640080" cy="658368"/>
          </a:xfrm>
          <a:prstGeom prst="rect">
            <a:avLst>
              <a:gd name="adj" fmla="val 8571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54480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170432" y="1554480"/>
            <a:ext cx="7516368" cy="658368"/>
          </a:xfrm>
          <a:prstGeom prst="rect">
            <a:avLst>
              <a:gd name="adj" fmla="val 8333"/>
            </a:avLst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8448" y="157276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Secuenciación Constructiva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98448" y="1883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la lógica de construcción desde diseño; evita conflictos de interferencias.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359152"/>
            <a:ext cx="640080" cy="658368"/>
          </a:xfrm>
          <a:prstGeom prst="rect">
            <a:avLst>
              <a:gd name="adj" fmla="val 8571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9152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T-8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70432" y="2359152"/>
            <a:ext cx="7516368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98448" y="23774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para Condiciones Climáticas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98448" y="2688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 clima local; techos provisionales, orientación, estaciones lluviosas.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640080" cy="658368"/>
          </a:xfrm>
          <a:prstGeom prst="rect">
            <a:avLst>
              <a:gd name="adj" fmla="val 8571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63824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63824"/>
            <a:ext cx="7516368" cy="658368"/>
          </a:xfrm>
          <a:prstGeom prst="rect">
            <a:avLst>
              <a:gd name="adj" fmla="val 8333"/>
            </a:avLst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8448" y="3182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Diseño-Campo Temprana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98448" y="34930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 al superintendente de campo en revisiones de diseño.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968496"/>
            <a:ext cx="640080" cy="658368"/>
          </a:xfrm>
          <a:prstGeom prst="rect">
            <a:avLst>
              <a:gd name="adj" fmla="val 8571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68496"/>
            <a:ext cx="640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70432" y="3968496"/>
            <a:ext cx="7516368" cy="658368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98448" y="39867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Revisión de Especificaciones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98448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requisitos innecesariamente restrictivos que aumentan costo sin valor.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9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CII SP 34-1: T-11 a T-19 (Resumen)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9 herramientas restantes cubren procura, operaciones de campo y medición del programa: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T-11 Plan de Procura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de compra alineados con secuencia constructiva.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T-12 EWP (Empaque de Trabajo)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de diseño que alimentan AWP directamente.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T-13 Zonas de Construcción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el sitio en zonas manejables para asignación de cuadrillas.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T-14 Manejo de Materiales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doble manejo; define áreas de almacenamiento y logística en sitio.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9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Cuantificación del ROI de Constructabilidad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SP 34-1 provee metodología de medición basada en datos reales de 50+ proyectos: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0.2-0.5%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del programa sobre TIC total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3-8%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típico documentado sobre TIC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10:1-40:1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beneficio/costo del programa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29400" y="868680"/>
            <a:ext cx="1965960" cy="2377440"/>
          </a:xfrm>
          <a:prstGeom prst="rect">
            <a:avLst>
              <a:gd name="adj" fmla="val 372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0058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20840" y="196596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duración del cronograma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371600"/>
          </a:xfrm>
          <a:prstGeom prst="rect">
            <a:avLst>
              <a:gd name="adj" fmla="val 4000"/>
            </a:avLst>
          </a:prstGeom>
          <a:solidFill>
            <a:srgbClr val="E8F4FD"/>
          </a:solidFill>
          <a:ln w="12700">
            <a:solidFill>
              <a:srgbClr val="C3D9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493008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ROI Constructabilidad = (Ahorro Total - Costo del Programa) / Costo del Programa × 100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9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en Contratos EPC / EPCM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contratos EPC, la constructabilidad es responsabilidad compartida entre owner y contratista principal: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Licitación / FEL: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incluye requerimientos en documentos de licitación. Contratistas EPC proponen su plan constructabilidad en la oferta técnica. Evaluación incluye criterio de madurez.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Básica (FEED):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constructabilidad inicia revisiones en IFC inicial. Estudios de modularización y pre-ensamble se definen en FEED. Se establecen zonas de construcción y acceso temprano.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Ingeniería Detalle: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formales T-15 en 30%, 60%, 90%. EWP / AWP integrados con constructabilidad. Especificaciones revisadas para eliminar restricciones innecesarias.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AWP basada en constructabilidad. WFP alineada con IWP derivados de diseño constructible. Métricas T-16 de seguimiento mensual.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9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Work Packaging (AWP) y Constructabilidad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AWP es la metodología de ejecución que implementa los principios de constructabilidad en campo: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(Principios y Diseño)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Secuencia lógica de construcción definida desde diseño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Zonas de trabajo delimitadas en planos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Modularización planificada para fabricación en taller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Acceso y grúas considerados en diseño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IWPs derivados del modelo de diseño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914400"/>
            <a:ext cx="406908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914400"/>
            <a:ext cx="40690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69264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AWP (Ejecución en Campo)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3794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EWP → CWP → IWP (jerarquía de paquetes)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Paquete de trabajo instalable (IWP) = unidad de planificación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Constraint management antes de liberar IWP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WFP: asignación diaria de cuadrillas por IWP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Medición de progreso por IWP completados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undefined</a:t>
            </a:r>
            <a:endParaRPr lang="en-US" sz="9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en Proyectos de Infraestructura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CII aplican directamente a carreteras, puentes, túneles, presas y ferrocarriles: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Carreteras y Autopistas: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Traslapes de subbase/base/pavimento optimizados. Alineamiento que minimiza movimiento de tierras neto. Prefabricación de alcantarillas y muros de contención.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Puentes y Viaductos: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Dovelas prefabricadas vs. concreto in situ: análisis constructabilidad. Secuencia de izado y colocación de vigas definida en diseño. Acceso de equipos de montaje planificado.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Túneles: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excavación (NATM, TBM, cut-and-cover) define diseño. Logística de extracción de material considerada. Segmentos de revestimiento estandarizados para velocidad.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9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en Plantas Industriales y Process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específicas por sector industrial: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&amp; Gas / Petroquímica: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Modularización offshore/onshore (topside modules, compressor skids). Secuencia de montaje de estructuras metálicas pesadas. Tie-ins planificados para minimizar paradas de planta.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Minería y Procesamiento: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remoto: equipos de gran porte, logística de transporte. Fundaciones de molinos y equipos críticos: secuencia detallada. Pre-ensamble de subestaciones eléctricas en taller.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Energía (Plantas Power):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de montaje de turbinas y generadores. Sistemas de enfriamiento: obra civil + mecánica integradas. Comisionamiento por fases considerado en diseño de sistemas.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9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del Conocimiento: Base de Datos LLDB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Lessons Learned Database (LLDB) es el corazón del aprendizaje organizacional en constructabilidad: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74320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2743200" cy="457200"/>
          </a:xfrm>
          <a:prstGeom prst="rect">
            <a:avLst>
              <a:gd name="adj" fmla="val 16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05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508760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y observaciones se registran en campo y diseño mediante formularios estándar (Tool 13 CII).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82112" y="1005840"/>
            <a:ext cx="274320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005840"/>
            <a:ext cx="2743200" cy="457200"/>
          </a:xfrm>
          <a:prstGeom prst="rect">
            <a:avLst>
              <a:gd name="adj" fmla="val 16000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005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22192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1508760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lección se categoriza por fase (I/II/III), concepto CII, tipo de proyecto y sector industrial.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9904" y="1005840"/>
            <a:ext cx="274320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1005840"/>
            <a:ext cx="2743200" cy="457200"/>
          </a:xfrm>
          <a:prstGeom prst="rect">
            <a:avLst>
              <a:gd name="adj" fmla="val 16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0058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29984" y="100584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99632" y="1508760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constructabilidad revisa, valida y cuantifica el ahorro/beneficio de cada lección.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852928"/>
            <a:ext cx="274320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852928"/>
            <a:ext cx="2743200" cy="457200"/>
          </a:xfrm>
          <a:prstGeom prst="rect">
            <a:avLst>
              <a:gd name="adj" fmla="val 16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852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4400" y="28529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Diseminación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3355848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aprobadas se comparten en talleres, boletines técnicos y plataformas digitales internas.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182112" y="2852928"/>
            <a:ext cx="274320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82112" y="2852928"/>
            <a:ext cx="2743200" cy="457200"/>
          </a:xfrm>
          <a:prstGeom prst="rect">
            <a:avLst>
              <a:gd name="adj" fmla="val 16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82112" y="2852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822192" y="28529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3355848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proyectos nuevos, el equipo consulta LLDB durante revisiones de constructabilidad y FEL.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89904" y="2852928"/>
            <a:ext cx="2743200" cy="1691640"/>
          </a:xfrm>
          <a:prstGeom prst="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9904" y="2852928"/>
            <a:ext cx="2743200" cy="457200"/>
          </a:xfrm>
          <a:prstGeom prst="rect">
            <a:avLst>
              <a:gd name="adj" fmla="val 16000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9904" y="28529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29984" y="285292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Medición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99632" y="3355848"/>
            <a:ext cx="2523744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la tasa de reutilización y el ahorro acumulado para justificar el programa corporativo.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9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Críticos de Éxito del Programa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SP 34-1 identifica 8 factores que determinan si un programa de constructabilidad prospera o fracasa: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084832" cy="1737360"/>
          </a:xfrm>
          <a:prstGeom prst="rect">
            <a:avLst>
              <a:gd name="adj" fmla="val 42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0789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Patrocinio Ejecutivo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92024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CEO / Project Director debe creer, defender y financiar activamente el programa. Sin esto, todo esfuerzo es frágil.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560320" y="1005840"/>
            <a:ext cx="2084832" cy="1737360"/>
          </a:xfrm>
          <a:prstGeom prst="rect">
            <a:avLst>
              <a:gd name="adj" fmla="val 42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0789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15544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desde FEL-1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192024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Constructabilidad en etapa de factibilidad captura el mayor potencial de ahorro (curva de influencia de costos).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2084832" cy="1737360"/>
          </a:xfrm>
          <a:prstGeom prst="rect">
            <a:avLst>
              <a:gd name="adj" fmla="val 42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0789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15544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Dedicados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92024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Construction Manager de tiempo completo asignado al equipo de ingeniería, no solo disponible cuando se le llama.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949440" y="1005840"/>
            <a:ext cx="2084832" cy="1737360"/>
          </a:xfrm>
          <a:prstGeom prst="rect">
            <a:avLst>
              <a:gd name="adj" fmla="val 421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0" y="10789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155448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 Formal Documentado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92024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Procedimientos, checklists y criterios de revisión escritos, no solo reuniones informales.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65760" y="2926080"/>
            <a:ext cx="2084832" cy="1737360"/>
          </a:xfrm>
          <a:prstGeom prst="rect">
            <a:avLst>
              <a:gd name="adj" fmla="val 4211"/>
            </a:avLst>
          </a:prstGeom>
          <a:solidFill>
            <a:srgbClr val="0F346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88720" y="29992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34747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y Reporte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84048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del programa reportados mensualmente con beneficios cuantificados para mantener la justificación.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60320" y="2926080"/>
            <a:ext cx="2084832" cy="1737360"/>
          </a:xfrm>
          <a:prstGeom prst="rect">
            <a:avLst>
              <a:gd name="adj" fmla="val 4211"/>
            </a:avLst>
          </a:prstGeom>
          <a:solidFill>
            <a:srgbClr val="0F346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29992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651760" y="34747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Lecciones Aprendidas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51760" y="384048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LLDB activa, accesible y actualizada; tasa de reutilización medida por proyecto.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754880" y="2926080"/>
            <a:ext cx="2084832" cy="1737360"/>
          </a:xfrm>
          <a:prstGeom prst="rect">
            <a:avLst>
              <a:gd name="adj" fmla="val 4211"/>
            </a:avLst>
          </a:prstGeom>
          <a:solidFill>
            <a:srgbClr val="0F346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29992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7784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846320" y="34747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Continua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84048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 anuales de constructabilidad para nuevos integrantes de equipos de proyecto.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949440" y="2926080"/>
            <a:ext cx="2084832" cy="1737360"/>
          </a:xfrm>
          <a:prstGeom prst="rect">
            <a:avLst>
              <a:gd name="adj" fmla="val 4211"/>
            </a:avLst>
          </a:prstGeom>
          <a:solidFill>
            <a:srgbClr val="0F346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72400" y="299923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040880" y="347472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en Contratos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0880" y="3840480"/>
            <a:ext cx="190195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Cláusulas contractuales que exigen plan constructabilidad a contratistas EPC/EPCm.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en Programas de Constructabilidad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49808"/>
            <a:ext cx="1371600" cy="731520"/>
          </a:xfrm>
          <a:prstGeom prst="rect">
            <a:avLst>
              <a:gd name="adj" fmla="val 75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4980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Iniciativa tardía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1952" y="749808"/>
            <a:ext cx="3017520" cy="731520"/>
          </a:xfrm>
          <a:prstGeom prst="rect">
            <a:avLst>
              <a:gd name="adj" fmla="val 7500"/>
            </a:avLst>
          </a:prstGeom>
          <a:solidFill>
            <a:srgbClr val="FEF3F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7955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Incorporar constructabilidad en diseño detalle (&gt;30%) en lugar de desde FEED o antes.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992624" y="749808"/>
            <a:ext cx="3694176" cy="731520"/>
          </a:xfrm>
          <a:prstGeom prst="rect">
            <a:avLst>
              <a:gd name="adj" fmla="val 7500"/>
            </a:avLst>
          </a:prstGeom>
          <a:solidFill>
            <a:srgbClr val="F0FB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4064" y="795528"/>
            <a:ext cx="3511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Agendar primer taller de constructabilidad durante FEL-2, antes de IFR de ingeniería básica.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591056"/>
            <a:ext cx="1371600" cy="731520"/>
          </a:xfrm>
          <a:prstGeom prst="rect">
            <a:avLst>
              <a:gd name="adj" fmla="val 75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591056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 sin autoridad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901952" y="1591056"/>
            <a:ext cx="3017520" cy="731520"/>
          </a:xfrm>
          <a:prstGeom prst="rect">
            <a:avLst>
              <a:gd name="adj" fmla="val 7500"/>
            </a:avLst>
          </a:prstGeom>
          <a:solidFill>
            <a:srgbClr val="FEF3F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1636776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CM de constructabilidad es consultor opcional sin poder de decisión en el equipo.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92624" y="1591056"/>
            <a:ext cx="3694176" cy="731520"/>
          </a:xfrm>
          <a:prstGeom prst="rect">
            <a:avLst>
              <a:gd name="adj" fmla="val 7500"/>
            </a:avLst>
          </a:prstGeom>
          <a:solidFill>
            <a:srgbClr val="F0FB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1636776"/>
            <a:ext cx="3511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CM de constructabilidad tiene voto en revisiones de diseño y acceso directo al PM.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2432304"/>
            <a:ext cx="1371600" cy="731520"/>
          </a:xfrm>
          <a:prstGeom prst="rect">
            <a:avLst>
              <a:gd name="adj" fmla="val 75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32304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métricas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901952" y="2432304"/>
            <a:ext cx="3017520" cy="731520"/>
          </a:xfrm>
          <a:prstGeom prst="rect">
            <a:avLst>
              <a:gd name="adj" fmla="val 7500"/>
            </a:avLst>
          </a:prstGeom>
          <a:solidFill>
            <a:srgbClr val="FEF3F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3392" y="2478024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se mide cuántas ideas se generan, implementan ni cuánto ahorran; el programa muere en austeridad.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92624" y="2432304"/>
            <a:ext cx="3694176" cy="731520"/>
          </a:xfrm>
          <a:prstGeom prst="rect">
            <a:avLst>
              <a:gd name="adj" fmla="val 7500"/>
            </a:avLst>
          </a:prstGeom>
          <a:solidFill>
            <a:srgbClr val="F0FB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2478024"/>
            <a:ext cx="3511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KPI mensual: # ideas → implementadas → $ ahorrados; reportado al sponsor ejecutivo.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3273552"/>
            <a:ext cx="1371600" cy="731520"/>
          </a:xfrm>
          <a:prstGeom prst="rect">
            <a:avLst>
              <a:gd name="adj" fmla="val 75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73552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Silos de información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01952" y="3273552"/>
            <a:ext cx="3017520" cy="731520"/>
          </a:xfrm>
          <a:prstGeom prst="rect">
            <a:avLst>
              <a:gd name="adj" fmla="val 7500"/>
            </a:avLst>
          </a:prstGeom>
          <a:solidFill>
            <a:srgbClr val="FEF3F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93392" y="331927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Ingeniería y construcción no comparten modelos, planos actualizados ni información a tiempo.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992624" y="3273552"/>
            <a:ext cx="3694176" cy="731520"/>
          </a:xfrm>
          <a:prstGeom prst="rect">
            <a:avLst>
              <a:gd name="adj" fmla="val 7500"/>
            </a:avLst>
          </a:prstGeom>
          <a:solidFill>
            <a:srgbClr val="F0FB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3319272"/>
            <a:ext cx="3511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BIM 3D/4D compartido con constructores desde ingeniería básica; modelo único de referencia.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1371600" cy="731520"/>
          </a:xfrm>
          <a:prstGeom prst="rect">
            <a:avLst>
              <a:gd name="adj" fmla="val 75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14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única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901952" y="4114800"/>
            <a:ext cx="3017520" cy="731520"/>
          </a:xfrm>
          <a:prstGeom prst="rect">
            <a:avLst>
              <a:gd name="adj" fmla="val 7500"/>
            </a:avLst>
          </a:prstGeom>
          <a:solidFill>
            <a:srgbClr val="FEF3F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93392" y="41605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 solo taller inicial y luego el equipo cambia sin transferir conocimiento al nuevo personal.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992624" y="4114800"/>
            <a:ext cx="3694176" cy="731520"/>
          </a:xfrm>
          <a:prstGeom prst="rect">
            <a:avLst>
              <a:gd name="adj" fmla="val 7500"/>
            </a:avLst>
          </a:prstGeom>
          <a:solidFill>
            <a:srgbClr val="F0FB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4160520"/>
            <a:ext cx="35112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Programa de inducción de constructabilidad para cada nuevo miembro del equipo de proyecto.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9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y Sostenibilidad: Sinergia Natural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diseño constructible es también más sostenible: menos desperdicios, menos energía, menos tiempo.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2743200" cy="438912"/>
          </a:xfrm>
          <a:prstGeom prst="rect">
            <a:avLst>
              <a:gd name="adj" fmla="val 125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8755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♻ Reducción de Desperdicios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2743200" cy="3273552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572768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153619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Prefabricación → reduce scrap en campo 60-80%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304288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→ menos material sobrante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" y="3072384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de trabajo precisos → menos over-ordering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877056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84048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retrabajo → menos material desperdiciado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27832" y="987552"/>
            <a:ext cx="2743200" cy="438912"/>
          </a:xfrm>
          <a:prstGeom prst="rect">
            <a:avLst>
              <a:gd name="adj" fmla="val 125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98755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Eficiencia Energética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27832" y="1444752"/>
            <a:ext cx="2743200" cy="3273552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157276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75304" y="153619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horas-hombre = menos energía consumida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64992" y="2340864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75304" y="2304288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duración = menos equipos activos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64992" y="31089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75304" y="3072384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eficiente = menor huella de carbono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364992" y="3877056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75304" y="384048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= fabricación en talleres con energía renovable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35624" y="987552"/>
            <a:ext cx="2743200" cy="438912"/>
          </a:xfrm>
          <a:prstGeom prst="rect">
            <a:avLst>
              <a:gd name="adj" fmla="val 125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5624" y="98755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 Construcción Segura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35624" y="1444752"/>
            <a:ext cx="2743200" cy="3273552"/>
          </a:xfrm>
          <a:prstGeom prst="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2784" y="1572768"/>
            <a:ext cx="164592" cy="16459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3096" y="1536192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para seguridad reduce incidentes en campo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72784" y="2340864"/>
            <a:ext cx="164592" cy="16459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2304288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altura minimizado con pre-ensamble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72784" y="3108960"/>
            <a:ext cx="164592" cy="16459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83096" y="3072384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planificados evitan maniobras improvisadas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72784" y="3877056"/>
            <a:ext cx="164592" cy="16459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3096" y="3840480"/>
            <a:ext cx="2331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en campo = menos exposición al riesgo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9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Madurez del Programa de Constructabilidad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define 5 niveles de madurez para evaluar y mejorar progresivamente el programa: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1371600" cy="640080"/>
          </a:xfrm>
          <a:prstGeom prst="rect">
            <a:avLst>
              <a:gd name="adj" fmla="val 8571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144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1: Inicial / Ad-hoc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65960" y="960120"/>
            <a:ext cx="6217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proceso formal. Constructabilidad ocurre por casualidad o iniciativa personal. No hay métricas ni documentación.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737360" cy="640080"/>
          </a:xfrm>
          <a:prstGeom prst="rect">
            <a:avLst>
              <a:gd name="adj" fmla="val 8571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916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2: Repetible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737360"/>
            <a:ext cx="5852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básico documentado. Se realizan revisiones formales pero no en todos los proyectos. LLDB incipiente.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468880"/>
            <a:ext cx="2103120" cy="640080"/>
          </a:xfrm>
          <a:prstGeom prst="rect">
            <a:avLst>
              <a:gd name="adj" fmla="val 857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3: Definido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97480" y="25146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estándar aplicado en todos los proyectos mayores. CM de constructabilidad asignado. LLDB activa.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2468880" cy="640080"/>
          </a:xfrm>
          <a:prstGeom prst="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4: Gestionado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63240" y="32918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medidos mensualmente. Beneficios cuantificados por proyecto. Capacitación formal. Cláusulas contractuales.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2834640" cy="640080"/>
          </a:xfrm>
          <a:prstGeom prst="rect">
            <a:avLst>
              <a:gd name="adj" fmla="val 8571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233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5: Optimizando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4069080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basada en datos. Benchmarking con industria. Integración total con BIM/AWP/WFP. Innovación.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9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 Digital: BIM, Digital Twin e 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transformación digital amplifica el alcance y velocidad de los principios de constructabilidad CII: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BIM 3D/4D/5D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3D: detección de interferencias 100x más rápido. 4D: simulación de secuencia constructiva visualizada. 5D: integración de costos y cronograma con el modelo.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Gemelo digital del proyecto desde diseño hasta operación. Simulación de constructibilidad en entorno virtual antes de campo. Actualización en tiempo real con IoT.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para predecir problemas de constructabilidad en nuevos proyectos. NLP para extraer lecciones aprendidas automáticamente. Optimización automática de secuencias.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Realidad Aumentada / VR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Walkthroughs virtuales de constructabilidad con el equipo. Operarios en campo con AR para instrucciones de IWP. Entrenamiento de constructabilidad en simulador inmersivo.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9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Avanzados del Programa de Constructabilidad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04672"/>
            <a:ext cx="182880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0" y="804672"/>
            <a:ext cx="38404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804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 / Definición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109728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804672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223760" y="804672"/>
            <a:ext cx="192024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0" y="8046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CII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097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 de Ideas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0" y="109728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097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Ideas implementadas / # Ideas generadas × 100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126480" y="10972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097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23760" y="10972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60%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1554480"/>
            <a:ext cx="18288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1554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 por Idea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0" y="1554480"/>
            <a:ext cx="38404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total ($) / Ideas implementadas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26480" y="1554480"/>
            <a:ext cx="10972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5544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$/idea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223760" y="1554480"/>
            <a:ext cx="192024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011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Programa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286000" y="201168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31720" y="2011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(Ahorro - Costo programa) / Costo programa × 100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126480" y="20116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011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223760" y="20116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1,000%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2468880"/>
            <a:ext cx="18288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24688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Fases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0" y="2468880"/>
            <a:ext cx="38404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3172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con constructabilidad FEL-2 / Total proyectos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126480" y="2468880"/>
            <a:ext cx="10972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4688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223760" y="2468880"/>
            <a:ext cx="192024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2468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57200" y="29260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29260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 Revisión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86000" y="292608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31720" y="2926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promedio desde solicitud a revisión completada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26480" y="29260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2926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223760" y="29260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2926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días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3383280"/>
            <a:ext cx="18288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Satisfacción Equipo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286000" y="3383280"/>
            <a:ext cx="38404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33832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del programa entre PMs e ingenieros de proyecto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126480" y="3383280"/>
            <a:ext cx="10972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72200" y="33832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223760" y="3383280"/>
            <a:ext cx="192024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6948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57200" y="384048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" y="38404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Reutilización LLDB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2286000" y="3840480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31720" y="3840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de LLDB usadas / Total ideas revisadas × 100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126480" y="384048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72200" y="38404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223760" y="3840480"/>
            <a:ext cx="1920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6948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40%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57200" y="4297680"/>
            <a:ext cx="182880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2920" y="4297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 Proyectos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286000" y="4297680"/>
            <a:ext cx="38404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331720" y="4297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Performance Index de proyectos con vs. sin programa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126480" y="4297680"/>
            <a:ext cx="109728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72200" y="4297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223760" y="4297680"/>
            <a:ext cx="1920240" cy="457200"/>
          </a:xfrm>
          <a:prstGeom prst="rect">
            <a:avLst/>
          </a:prstGeom>
          <a:solidFill>
            <a:srgbClr val="EBF4FA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269480" y="4297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1.05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9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Acción: Primeros 90 Días del Programa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práctica para establecer un programa de constructabilidad desde cero: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1-30: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del estado actual: entrevistas a PMs, CMs e ingenieros. Análisis de 3-5 proyectos recientes: identificar pérdidas no-constructibles. Propuesta al CEO: caso de negocio con ROI esperado.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31-60: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procedimiento del programa (estándar corporativo). Desarrollar checklist de revisión por fase. Seleccionar proyecto piloto: ideal mid-size, en FEED, con CM receptivo. Capacitación inicial del equipo piloto (taller 8 horas).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Días 61-90: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revisión formal de constructabilidad en proyecto piloto. Documentar 10-15 primeras lecciones aprendidas en LLDB. Reporte de avance al sponsor ejecutivo con primeros beneficios identificados.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9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vs. Constructabilidad: La Diferencia Clave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"Construcción es hacer. Constructabilidad es pensar antes de hacer."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22860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Dimensión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0" y="1005840"/>
            <a:ext cx="2971800" cy="320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00584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15000" y="1005840"/>
            <a:ext cx="34290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0058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1325880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325880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0" y="1325880"/>
            <a:ext cx="2971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1325880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de ejecución en campo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715000" y="1325880"/>
            <a:ext cx="3429000" cy="521208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88152" y="1325880"/>
            <a:ext cx="3337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factibilidad hasta campo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1847088"/>
            <a:ext cx="2286000" cy="52120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1847088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¿Quién?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0" y="1847088"/>
            <a:ext cx="2971800" cy="52120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1847088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 y supervisores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15000" y="1847088"/>
            <a:ext cx="3429000" cy="521208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88152" y="1847088"/>
            <a:ext cx="3337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integrado (ingeniería + campo)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2368296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368296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resuelve?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0" y="2368296"/>
            <a:ext cx="2971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16352" y="2368296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lo que se diseñó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15000" y="2368296"/>
            <a:ext cx="3429000" cy="521208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88152" y="2368296"/>
            <a:ext cx="3337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que lo diseñado sea ejecutable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889504"/>
            <a:ext cx="2286000" cy="52120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2889504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ve el diseño?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0" y="2889504"/>
            <a:ext cx="2971800" cy="52120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16352" y="2889504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llega al campo (tarde)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715000" y="2889504"/>
            <a:ext cx="3429000" cy="521208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8152" y="2889504"/>
            <a:ext cx="3337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que se genera (temprano)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3410712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410712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¿Impacto en costo?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0" y="3410712"/>
            <a:ext cx="2971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16352" y="3410712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al costo del diseño dado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15000" y="3410712"/>
            <a:ext cx="3429000" cy="521208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88152" y="3410712"/>
            <a:ext cx="3337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el costo total del proyecto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3931920"/>
            <a:ext cx="2286000" cy="52120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" y="3931920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 principal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0" y="3931920"/>
            <a:ext cx="2971800" cy="521208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816352" y="3931920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y recursos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715000" y="3931920"/>
            <a:ext cx="3429000" cy="521208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88152" y="3931920"/>
            <a:ext cx="3337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Revisiones tempranas + BIM + LLDB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57200" y="4453128"/>
            <a:ext cx="22860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" y="4453128"/>
            <a:ext cx="2194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si falla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0" y="4453128"/>
            <a:ext cx="297180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16352" y="4453128"/>
            <a:ext cx="28803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Re-trabajo caro y tardío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715000" y="4453128"/>
            <a:ext cx="3429000" cy="521208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88152" y="4453128"/>
            <a:ext cx="333756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evitados proactivamente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9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Construyendo una Cultura de Constructabilidad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 barrera no es técnica — es cultural. CII SP 34-1 aborda el cambio cultural explícitamente: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 Común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hablan de "constructabilidad" con la misma definición. Los 17 conceptos CII son el vocabulario estándar del equipo.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6868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86868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784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 Constructiva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132588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"¿Cómo se va a construir esto?" es la pregunta que todo ingeniero de diseño se hace antes de emitir cualquier plano.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Respeto al Conocimiento de Campo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del constructor se valora tanto como el análisis del ingeniero. No hay jerarquía en las revisiones de constructabilidad.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023360" cy="1828800"/>
          </a:xfrm>
          <a:prstGeom prst="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8986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Reconocimiento de Ideas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24612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ideas implementadas se celebran y atribuyen. El aportador ve su lección en la LLDB con su nombre. Celebrar el "error evitado".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9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Ejecutivo: 20 Preguntas de Constructabilidad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PM debe poder responder SÍ a estas 20 preguntas para confirmar que el proyecto es constructible: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6012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86384" y="960120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realizó revisión de constructabilidad en FEL-2 o antes?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57200" y="1362456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6245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86384" y="1362456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CM de constructabilidad tiene voto en revisiones de diseño?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1764792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6479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6384" y="1764792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 plan documentado de constructabilidad aprobado por el PM?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57200" y="2167128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6712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86384" y="2167128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diseño considera la secuencia de construcción lógica?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2569464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56946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" y="2569464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identificaron oportunidades de modularización / pre-ensamble?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7180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86384" y="2971800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accesos de construcción y grúas están definidos en el diseño?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3374136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7413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" y="3374136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especificaciones se revisaron para eliminar restricciones innecesarias?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3776472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77647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" y="3776472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plan de procura está alineado con la secuencia constructiva?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57200" y="4178808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7880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" y="4178808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usa BIM 3D para detección de interferencias constructivas?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4581144"/>
            <a:ext cx="274320" cy="310896"/>
          </a:xfrm>
          <a:prstGeom prst="rect">
            <a:avLst>
              <a:gd name="adj" fmla="val 13333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8114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" y="4581144"/>
            <a:ext cx="35112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programa (cronograma) refleja la lógica constructiva real?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81728" y="960120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96012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10912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¿Existe una LLDB con lecciones de proyectos similares consultada?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681728" y="1362456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136245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10912" y="136245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subcontratistas conocen los requisitos de constructabilidad?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681728" y="1764792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81728" y="176479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10912" y="17647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realizaron talleres de constructabilidad con el equipo de campo?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81728" y="2167128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216712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10912" y="2167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plan de workface planning está integrado con constructabilidad?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681728" y="2569464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81728" y="256946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10912" y="25694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miden KPIs del programa mensualmente y se reportan al PM?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681728" y="2971800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81728" y="2971800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10912" y="2971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contrato EPC incluye cláusulas de constructabilidad?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681728" y="3374136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81728" y="3374136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10912" y="33741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revisiones formales en 30-60-90% de diseño están programadas?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681728" y="3776472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81728" y="3776472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10912" y="37764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plan de comisionamiento fue considerado en el diseño de sistemas?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681728" y="4178808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81728" y="4178808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10912" y="41788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seguridad durante la construcción fue revisada en diseño?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681728" y="4581144"/>
            <a:ext cx="274320" cy="310896"/>
          </a:xfrm>
          <a:prstGeom prst="rect">
            <a:avLst>
              <a:gd name="adj" fmla="val 1333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681728" y="4581144"/>
            <a:ext cx="274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010912" y="45811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¿Hay un plan de post-project review de constructabilidad al final?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17 Conceptos CII: Síntesis Visual Completa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594360"/>
            <a:ext cx="8412480" cy="292608"/>
          </a:xfrm>
          <a:prstGeom prst="rect">
            <a:avLst>
              <a:gd name="adj" fmla="val 1875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I: Planificación Conceptual (I-1 a I-7)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932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I-1 Objetivos Corp.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932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I-2 Equipo Temprano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0" y="914400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932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I-3 Planif. Avanzada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75120" y="914400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93268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I-4 Experiencia Contrat.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1389888"/>
            <a:ext cx="275844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1408176"/>
            <a:ext cx="2694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I-5 Factibilidad Métodos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69920" y="1389888"/>
            <a:ext cx="275844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6496" y="1408176"/>
            <a:ext cx="2694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I-6 Distribución Sitio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974080" y="1389888"/>
            <a:ext cx="275844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0656" y="1408176"/>
            <a:ext cx="26944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I-7 Tecnol. Información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1938528"/>
            <a:ext cx="8412480" cy="292608"/>
          </a:xfrm>
          <a:prstGeom prst="rect">
            <a:avLst>
              <a:gd name="adj" fmla="val 1875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938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II: Diseño y Procura (II-1 a II-8)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258568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227685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II-1 Cronogramas D&amp;P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468880" y="2258568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227685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II-2 Config. Diseño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2258568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8576" y="227685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II-3 Estandarización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675120" y="2258568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11696" y="2276856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II-4 Eficiencia Docs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2734056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27523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II-5 PPMOF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468880" y="2734056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05456" y="27523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II-6 Accesibilidad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572000" y="2734056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08576" y="27523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II-7 Clima Adverso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675120" y="2734056"/>
            <a:ext cx="205740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1696" y="2752344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II-8 Seguridad en Diseño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" y="3282696"/>
            <a:ext cx="8412480" cy="292608"/>
          </a:xfrm>
          <a:prstGeom prst="rect">
            <a:avLst>
              <a:gd name="adj" fmla="val 1875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28269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III: Campo (III-1)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602736"/>
            <a:ext cx="8366760" cy="438912"/>
          </a:xfrm>
          <a:prstGeom prst="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3621024"/>
            <a:ext cx="8302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III-1 Innovaciones Proceso de Campo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9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Evolución Histórica de la Constructabilidad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constructabilidad formal nació de la necesidad de reducir el enorme desperdicio de los proyectos de los 70s: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8229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60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Army Corps of Engineers publica primeros estudios de "buildability" como concepto técnico formal.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5000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960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74520" y="169164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CIRIA (UK) publica "Buildability: an assessment" — primera guía práctica sobre constructabilidad en Europa.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2160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960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9164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publica la definición canónica de Constructabilidad en Publication 3-1 (CII Primer).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9320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960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17720" y="169164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lanza SP 34-1 — la guía de implementación más completa jamás publicada (19 herramientas).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6480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960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89320" y="169164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BIM: los modelos 3D permiten revisiones visuales constructivas. AWP emerge como metodología de ejecución.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836408" y="2221992"/>
            <a:ext cx="329184" cy="329184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60920" y="9601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60920" y="1691640"/>
            <a:ext cx="1280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IA, Digital Twin y AR transforman constructabilidad: simulaciones en tiempo real y ML predictivo.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9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Frecuentes sobre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Respuestas a las consultas más comunes del sector: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es la diferencia entre constructabilidad y Value Engineering?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elimina costo sin perder función — puede aplicarse a cualquier etapa. Constructabilidad optimiza cómo se ejecuta el proyecto. Son complementarias, pero constructabilidad influye más en el costo total.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¿Cuánto cuesta implementar un programa de constructabilidad?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Típicamente 0.2 a 0.5% del costo total del proyecto. Con un ROI documentado por CII de 10:1 a 40:1, es una de las inversiones de mayor retorno disponibles en gestión de proyectos.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¿Aplica constructabilidad a proyectos pequeños?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aunque con herramientas simplificadas. CII documenta constructabilidad para proyectos desde $5M. Para proyectos menores, checklists y una revisión informal por CM experimentado capturan el 80% del valor.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50545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pasa si el contratista de construcción no es conocido en diseño?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contratar a un Independent Construction Reviewer o usar el historial de LLDB corporativa. CII también ofrece benchmarks por tipo de proyecto para el Owner.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46863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medir si una revisión de constructabilidad fue exitosa? Por número de ideas generadas, % implementadas, ahorro documentado y tiempo de revisión.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9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Benchmarking: Promedio Industria vs. Mejores Prácticas CII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85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de CII muestran la brecha entre proyectos típicos y proyectos con constructabilidad madura: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987552"/>
            <a:ext cx="256032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017520" y="987552"/>
            <a:ext cx="219456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987552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Promedio Industria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212080" y="987552"/>
            <a:ext cx="237744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9875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Constructabilidad CII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589520" y="987552"/>
            <a:ext cx="1554480" cy="31089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9875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12984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1298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Desviación de Costo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17520" y="1298448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72384" y="12984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a +35%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1298448"/>
            <a:ext cx="2377440" cy="457200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6944" y="1298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a +10%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89520" y="1298448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44384" y="12984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755648"/>
            <a:ext cx="256032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Desviación de Plazo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17520" y="1755648"/>
            <a:ext cx="219456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72384" y="17556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a +50%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12080" y="1755648"/>
            <a:ext cx="2377440" cy="457200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6944" y="1755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a +15%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89520" y="1755648"/>
            <a:ext cx="155448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44384" y="1755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2128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Re-trabajo (%)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017520" y="2212848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72384" y="22128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5 - 15% de horas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2212848"/>
            <a:ext cx="2377440" cy="457200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66944" y="22128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3% de horas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589520" y="2212848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44384" y="22128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2670048"/>
            <a:ext cx="256032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" y="26700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CPI (Cost Perf. Index)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017520" y="2670048"/>
            <a:ext cx="219456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72384" y="26700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0.78 - 0.92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212080" y="2670048"/>
            <a:ext cx="2377440" cy="457200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66944" y="26700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0.95 - 1.05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89520" y="2670048"/>
            <a:ext cx="155448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44384" y="26700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31272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 (Schedule Perf. Index)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017520" y="3127248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72384" y="31272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0.72 - 0.88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12080" y="3127248"/>
            <a:ext cx="2377440" cy="457200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66944" y="31272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0.92 - 1.02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3127248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44384" y="31272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3584448"/>
            <a:ext cx="256032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" y="35844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Horas-hombre por unidad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017520" y="3584448"/>
            <a:ext cx="219456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72384" y="35844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1.0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212080" y="3584448"/>
            <a:ext cx="2377440" cy="457200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66944" y="35844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0.75 - 0.88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589520" y="3584448"/>
            <a:ext cx="155448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44384" y="35844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 a 25%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4041648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Incidentes (TRIR)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017520" y="4041648"/>
            <a:ext cx="2194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72384" y="40416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1.0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212080" y="4041648"/>
            <a:ext cx="2377440" cy="457200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66944" y="4041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0.6 - 0.8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589520" y="4041648"/>
            <a:ext cx="1554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44384" y="40416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 a 40%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57200" y="4498848"/>
            <a:ext cx="256032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2064" y="4498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Satisfacción del Cliente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3017520" y="4498848"/>
            <a:ext cx="219456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072384" y="449884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65 - 75 NPS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5212080" y="4498848"/>
            <a:ext cx="2377440" cy="457200"/>
          </a:xfrm>
          <a:prstGeom prst="rect">
            <a:avLst/>
          </a:prstGeom>
          <a:solidFill>
            <a:srgbClr val="F0FBF5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266944" y="44988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80 - 92 NPS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589520" y="4498848"/>
            <a:ext cx="1554480" cy="457200"/>
          </a:xfrm>
          <a:prstGeom prst="rect">
            <a:avLst/>
          </a:prstGeom>
          <a:solidFill>
            <a:srgbClr val="E8F4FB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44384" y="44988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9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 w="12700">
            <a:solidFill>
              <a:srgbClr val="F0F4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Formación y Certificaciones en Constructabilidad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713232"/>
            <a:ext cx="10972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conocimiento formal de constructabilidad se adquiere a través de CII, universidades y programas corporativos: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078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CII (Construction Industry Institute):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CII Best Practices Training: cursos online 4-8 horas por práctica. Annual CII Conference: talleres con líderes globales. CII Benchmarking &amp; Metrics: herramienta comparativa para programas.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AACE International: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Construction Project Manager (CCPM): incluye módulo de constructabilidad. Total Cost Management Framework: sección de constructabilidad en FEED.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048256"/>
            <a:ext cx="256032" cy="256032"/>
          </a:xfrm>
          <a:prstGeom prst="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0299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PMI / Universidades: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PMI-CP (Capital Projects): nueva credencial con módulo de constructabilidad. UT Austin: cursos de posgrado en Project Management con énfasis CII. Universidad de Calgary: formación en AWP/WFP.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Constructabilidad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Compromiso de Construir Mejor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8229600" cy="1280160"/>
          </a:xfrm>
          <a:prstGeom prst="rect">
            <a:avLst>
              <a:gd name="adj" fmla="val 5714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146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""La constructabilidad no es una técnica especial ni una habilidad mística — es simplemente sentido común aplicado de manera sistemática desde el inicio del proyecto." — CII, Construction Industry Institute"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CII SP 34-1  ·  Publication 3-1  ·  SD-4  ·  SD-5  ·  SD-25  ·  SD-34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95360" y="47777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structabilidad CII">
  <a:themeElements>
    <a:clrScheme name="Constructabilidad CII">
      <a:dk1>
        <a:srgbClr val="0A1628"/>
      </a:dk1>
      <a:lt1>
        <a:srgbClr val="FFFFFF"/>
      </a:lt1>
      <a:dk2>
        <a:srgbClr val="0F3460"/>
      </a:dk2>
      <a:lt2>
        <a:srgbClr val="F0F4F8"/>
      </a:lt2>
      <a:accent1>
        <a:srgbClr val="00B4D8"/>
      </a:accent1>
      <a:accent2>
        <a:srgbClr val="FF6B35"/>
      </a:accent2>
      <a:accent3>
        <a:srgbClr val="059669"/>
      </a:accent3>
      <a:accent4>
        <a:srgbClr val="64748B"/>
      </a:accent4>
      <a:accent5>
        <a:srgbClr val="1E293B"/>
      </a:accent5>
      <a:accent6>
        <a:srgbClr val="E3EDF7"/>
      </a:accent6>
      <a:hlink>
        <a:srgbClr val="00B4D8"/>
      </a:hlink>
      <a:folHlink>
        <a:srgbClr val="0F3460"/>
      </a:folHlink>
    </a:clrScheme>
    <a:fontScheme name="Constructabilidad CII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126</Slides>
  <Notes>126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126</vt:i4>
      </vt:variant>
    </vt:vector>
  </HeadingPairs>
  <TitlesOfParts>
    <vt:vector size="1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2026-10-14T01:45:54Z</dcterms:created>
  <dcterms:modified xsi:type="dcterms:W3CDTF">2026-10-14T01:45:54Z</dcterms:modified>
</cp:coreProperties>
</file>