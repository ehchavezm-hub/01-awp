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Lst>
  <p:notesMasterIdLst>
    <p:notesMasterId r:id="rId1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notesMaster" Target="notesMasters/notes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1005840"/>
          </a:xfrm>
          <a:prstGeom prst="rect">
            <a:avLst/>
          </a:prstGeom>
          <a:noFill/>
          <a:ln/>
        </p:spPr>
        <p:txBody>
          <a:bodyPr wrap="square" lIns="0" tIns="0" rIns="0" bIns="0" rtlCol="0" anchor="ctr"/>
          <a:lstStyle/>
          <a:p>
            <a:pPr algn="l" indent="0" marL="0">
              <a:buNone/>
            </a:pPr>
            <a:r>
              <a:rPr lang="en-US" sz="520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5200" dirty="0"/>
          </a:p>
        </p:txBody>
      </p:sp>
      <p:sp>
        <p:nvSpPr>
          <p:cNvPr id="5" name="Text 3"/>
          <p:cNvSpPr txBox="1"/>
          <p:nvPr/>
        </p:nvSpPr>
        <p:spPr>
          <a:xfrm>
            <a:off x="502920" y="1691640"/>
            <a:ext cx="8138160" cy="594360"/>
          </a:xfrm>
          <a:prstGeom prst="rect">
            <a:avLst/>
          </a:prstGeom>
          <a:noFill/>
          <a:ln/>
        </p:spPr>
        <p:txBody>
          <a:bodyPr wrap="square" lIns="0" tIns="0" rIns="0" bIns="0" rtlCol="0" anchor="ctr"/>
          <a:lstStyle/>
          <a:p>
            <a:pPr algn="l" indent="0" marL="0">
              <a:buNone/>
            </a:pPr>
            <a:r>
              <a:rPr lang="en-US" sz="2400" dirty="0">
                <a:solidFill>
                  <a:srgbClr val="0A84FF"/>
                </a:solidFill>
                <a:latin typeface="Atkinson Hyperlegible" pitchFamily="34" charset="0"/>
                <a:ea typeface="Atkinson Hyperlegible" pitchFamily="34" charset="-122"/>
                <a:cs typeface="Atkinson Hyperlegible" pitchFamily="34" charset="-120"/>
              </a:rPr>
              <a:t>Principios, Conceptos e Implementación</a:t>
            </a:r>
            <a:endParaRPr lang="en-US" sz="2400" dirty="0"/>
          </a:p>
        </p:txBody>
      </p:sp>
      <p:sp>
        <p:nvSpPr>
          <p:cNvPr id="6" name="Shape 4"/>
          <p:cNvSpPr/>
          <p:nvPr/>
        </p:nvSpPr>
        <p:spPr>
          <a:xfrm>
            <a:off x="502920" y="2377440"/>
            <a:ext cx="5029200" cy="27432"/>
          </a:xfrm>
          <a:prstGeom prst="rect">
            <a:avLst/>
          </a:prstGeom>
          <a:solidFill>
            <a:srgbClr val="3A3A3C"/>
          </a:solidFill>
          <a:ln/>
        </p:spPr>
      </p:sp>
      <p:sp>
        <p:nvSpPr>
          <p:cNvPr id="7" name="Text 5"/>
          <p:cNvSpPr txBox="1"/>
          <p:nvPr/>
        </p:nvSpPr>
        <p:spPr>
          <a:xfrm>
            <a:off x="502920" y="2514600"/>
            <a:ext cx="8138160" cy="320040"/>
          </a:xfrm>
          <a:prstGeom prst="rect">
            <a:avLst/>
          </a:prstGeom>
          <a:noFill/>
          <a:ln/>
        </p:spPr>
        <p:txBody>
          <a:bodyPr wrap="square" lIns="0" tIns="0" rIns="0" bIns="0" rtlCol="0" anchor="ctr"/>
          <a:lstStyle/>
          <a:p>
            <a:pPr algn="l"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400" dirty="0"/>
          </a:p>
        </p:txBody>
      </p:sp>
      <p:sp>
        <p:nvSpPr>
          <p:cNvPr id="8" name="Text 6"/>
          <p:cNvSpPr txBox="1"/>
          <p:nvPr/>
        </p:nvSpPr>
        <p:spPr>
          <a:xfrm>
            <a:off x="502920" y="2880360"/>
            <a:ext cx="8138160" cy="320040"/>
          </a:xfrm>
          <a:prstGeom prst="rect">
            <a:avLst/>
          </a:prstGeom>
          <a:noFill/>
          <a:ln/>
        </p:spPr>
        <p:txBody>
          <a:bodyPr wrap="square" lIns="0" tIns="0" rIns="0" bIns="0" rtlCol="0" anchor="ctr"/>
          <a:lstStyle/>
          <a:p>
            <a:pPr algn="l"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SP 34-1 · SD-4 · SD-5 · SD-25 · SD-34 · Publication 3-1</a:t>
            </a:r>
            <a:endParaRPr lang="en-US" sz="1300" dirty="0"/>
          </a:p>
        </p:txBody>
      </p:sp>
      <p:sp>
        <p:nvSpPr>
          <p:cNvPr id="9" name="Shape 7"/>
          <p:cNvSpPr/>
          <p:nvPr/>
        </p:nvSpPr>
        <p:spPr>
          <a:xfrm>
            <a:off x="6858000" y="457200"/>
            <a:ext cx="2103120" cy="4389120"/>
          </a:xfrm>
          <a:prstGeom prst="rect">
            <a:avLst/>
          </a:prstGeom>
          <a:solidFill>
            <a:srgbClr val="2C2C2E"/>
          </a:solidFill>
          <a:ln/>
        </p:spPr>
      </p:sp>
      <p:sp>
        <p:nvSpPr>
          <p:cNvPr id="10" name="Text 8"/>
          <p:cNvSpPr txBox="1"/>
          <p:nvPr/>
        </p:nvSpPr>
        <p:spPr>
          <a:xfrm>
            <a:off x="6858000" y="1645920"/>
            <a:ext cx="2103120" cy="1645920"/>
          </a:xfrm>
          <a:prstGeom prst="rect">
            <a:avLst/>
          </a:prstGeom>
          <a:noFill/>
          <a:ln/>
        </p:spPr>
        <p:txBody>
          <a:bodyPr wrap="square" lIns="0" tIns="0" rIns="0" bIns="0" rtlCol="0" anchor="ctr"/>
          <a:lstStyle/>
          <a:p>
            <a:pPr algn="ctr" indent="0" marL="0">
              <a:buNone/>
            </a:pPr>
            <a:r>
              <a:rPr lang="en-US" sz="7200" b="1" dirty="0">
                <a:solidFill>
                  <a:srgbClr val="3A3A3C"/>
                </a:solidFill>
                <a:latin typeface="Atkinson Hyperlegible" pitchFamily="34" charset="0"/>
                <a:ea typeface="Atkinson Hyperlegible" pitchFamily="34" charset="-122"/>
                <a:cs typeface="Atkinson Hyperlegible" pitchFamily="34" charset="-120"/>
              </a:rPr>
              <a:t>CII</a:t>
            </a:r>
            <a:endParaRPr lang="en-US" sz="72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Tabla de Contenidos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457200" y="1005840"/>
            <a:ext cx="4114800" cy="1005840"/>
          </a:xfrm>
          <a:prstGeom prst="roundRect">
            <a:avLst>
              <a:gd name="adj" fmla="val 9091"/>
            </a:avLst>
          </a:prstGeom>
          <a:solidFill>
            <a:srgbClr val="2C2C2E"/>
          </a:solidFill>
          <a:ln w="12700">
            <a:solidFill>
              <a:srgbClr val="3A3A3C"/>
            </a:solidFill>
            <a:prstDash val="solid"/>
          </a:ln>
        </p:spPr>
      </p:sp>
      <p:sp>
        <p:nvSpPr>
          <p:cNvPr id="6" name="Text 4"/>
          <p:cNvSpPr txBox="1"/>
          <p:nvPr/>
        </p:nvSpPr>
        <p:spPr>
          <a:xfrm>
            <a:off x="594360" y="1115568"/>
            <a:ext cx="548640" cy="457200"/>
          </a:xfrm>
          <a:prstGeom prst="rect">
            <a:avLst/>
          </a:prstGeom>
          <a:noFill/>
          <a:ln/>
        </p:spPr>
        <p:txBody>
          <a:bodyPr wrap="square" lIns="0" tIns="0" rIns="0" bIns="0" rtlCol="0" anchor="ctr"/>
          <a:lstStyle/>
          <a:p>
            <a:pPr indent="0" marL="0">
              <a:buNone/>
            </a:pPr>
            <a:r>
              <a:rPr lang="en-US" sz="2400" b="1" dirty="0">
                <a:solidFill>
                  <a:srgbClr val="0A84FF"/>
                </a:solidFill>
                <a:latin typeface="Atkinson Hyperlegible" pitchFamily="34" charset="0"/>
                <a:ea typeface="Atkinson Hyperlegible" pitchFamily="34" charset="-122"/>
                <a:cs typeface="Atkinson Hyperlegible" pitchFamily="34" charset="-120"/>
              </a:rPr>
              <a:t>01</a:t>
            </a:r>
            <a:endParaRPr lang="en-US" sz="2400" dirty="0"/>
          </a:p>
        </p:txBody>
      </p:sp>
      <p:sp>
        <p:nvSpPr>
          <p:cNvPr id="7" name="Text 5"/>
          <p:cNvSpPr txBox="1"/>
          <p:nvPr/>
        </p:nvSpPr>
        <p:spPr>
          <a:xfrm>
            <a:off x="1234440" y="1188720"/>
            <a:ext cx="3200400" cy="548640"/>
          </a:xfrm>
          <a:prstGeom prst="rect">
            <a:avLst/>
          </a:prstGeom>
          <a:noFill/>
          <a:ln/>
        </p:spPr>
        <p:txBody>
          <a:bodyPr wrap="square" lIns="0" tIns="0" rIns="0" bIns="0" rtlCol="0" anchor="ctr"/>
          <a:lstStyle/>
          <a:p>
            <a:pPr indent="0" marL="0">
              <a:buNone/>
            </a:pPr>
            <a:r>
              <a:rPr lang="en-US" sz="1300" dirty="0">
                <a:solidFill>
                  <a:srgbClr val="FFFFFF"/>
                </a:solidFill>
                <a:latin typeface="Atkinson Hyperlegible" pitchFamily="34" charset="0"/>
                <a:ea typeface="Atkinson Hyperlegible" pitchFamily="34" charset="-122"/>
                <a:cs typeface="Atkinson Hyperlegible" pitchFamily="34" charset="-120"/>
              </a:rPr>
              <a:t>Introducción y Definición</a:t>
            </a:r>
            <a:endParaRPr lang="en-US" sz="1300" dirty="0"/>
          </a:p>
        </p:txBody>
      </p:sp>
      <p:sp>
        <p:nvSpPr>
          <p:cNvPr id="8" name="Shape 6"/>
          <p:cNvSpPr/>
          <p:nvPr/>
        </p:nvSpPr>
        <p:spPr>
          <a:xfrm>
            <a:off x="457200" y="1956816"/>
            <a:ext cx="4114800" cy="54864"/>
          </a:xfrm>
          <a:prstGeom prst="rect">
            <a:avLst/>
          </a:prstGeom>
          <a:solidFill>
            <a:srgbClr val="0A84FF"/>
          </a:solidFill>
          <a:ln/>
        </p:spPr>
      </p:sp>
      <p:sp>
        <p:nvSpPr>
          <p:cNvPr id="9" name="Shape 7"/>
          <p:cNvSpPr/>
          <p:nvPr/>
        </p:nvSpPr>
        <p:spPr>
          <a:xfrm>
            <a:off x="4800600" y="1005840"/>
            <a:ext cx="4114800" cy="1005840"/>
          </a:xfrm>
          <a:prstGeom prst="roundRect">
            <a:avLst>
              <a:gd name="adj" fmla="val 9091"/>
            </a:avLst>
          </a:prstGeom>
          <a:solidFill>
            <a:srgbClr val="2C2C2E"/>
          </a:solidFill>
          <a:ln w="12700">
            <a:solidFill>
              <a:srgbClr val="3A3A3C"/>
            </a:solidFill>
            <a:prstDash val="solid"/>
          </a:ln>
        </p:spPr>
      </p:sp>
      <p:sp>
        <p:nvSpPr>
          <p:cNvPr id="10" name="Text 8"/>
          <p:cNvSpPr txBox="1"/>
          <p:nvPr/>
        </p:nvSpPr>
        <p:spPr>
          <a:xfrm>
            <a:off x="4937760" y="1115568"/>
            <a:ext cx="548640" cy="457200"/>
          </a:xfrm>
          <a:prstGeom prst="rect">
            <a:avLst/>
          </a:prstGeom>
          <a:noFill/>
          <a:ln/>
        </p:spPr>
        <p:txBody>
          <a:bodyPr wrap="square" lIns="0" tIns="0" rIns="0" bIns="0" rtlCol="0" anchor="ctr"/>
          <a:lstStyle/>
          <a:p>
            <a:pPr indent="0" marL="0">
              <a:buNone/>
            </a:pPr>
            <a:r>
              <a:rPr lang="en-US" sz="2400" b="1" dirty="0">
                <a:solidFill>
                  <a:srgbClr val="64D2FF"/>
                </a:solidFill>
                <a:latin typeface="Atkinson Hyperlegible" pitchFamily="34" charset="0"/>
                <a:ea typeface="Atkinson Hyperlegible" pitchFamily="34" charset="-122"/>
                <a:cs typeface="Atkinson Hyperlegible" pitchFamily="34" charset="-120"/>
              </a:rPr>
              <a:t>02</a:t>
            </a:r>
            <a:endParaRPr lang="en-US" sz="2400" dirty="0"/>
          </a:p>
        </p:txBody>
      </p:sp>
      <p:sp>
        <p:nvSpPr>
          <p:cNvPr id="11" name="Text 9"/>
          <p:cNvSpPr txBox="1"/>
          <p:nvPr/>
        </p:nvSpPr>
        <p:spPr>
          <a:xfrm>
            <a:off x="5577840" y="1188720"/>
            <a:ext cx="3200400" cy="548640"/>
          </a:xfrm>
          <a:prstGeom prst="rect">
            <a:avLst/>
          </a:prstGeom>
          <a:noFill/>
          <a:ln/>
        </p:spPr>
        <p:txBody>
          <a:bodyPr wrap="square" lIns="0" tIns="0" rIns="0" bIns="0" rtlCol="0" anchor="ctr"/>
          <a:lstStyle/>
          <a:p>
            <a:pPr indent="0" marL="0">
              <a:buNone/>
            </a:pPr>
            <a:r>
              <a:rPr lang="en-US" sz="1300" dirty="0">
                <a:solidFill>
                  <a:srgbClr val="FFFFFF"/>
                </a:solidFill>
                <a:latin typeface="Atkinson Hyperlegible" pitchFamily="34" charset="0"/>
                <a:ea typeface="Atkinson Hyperlegible" pitchFamily="34" charset="-122"/>
                <a:cs typeface="Atkinson Hyperlegible" pitchFamily="34" charset="-120"/>
              </a:rPr>
              <a:t>Fundamentos CII — Publicaciones Clave</a:t>
            </a:r>
            <a:endParaRPr lang="en-US" sz="1300" dirty="0"/>
          </a:p>
        </p:txBody>
      </p:sp>
      <p:sp>
        <p:nvSpPr>
          <p:cNvPr id="12" name="Shape 10"/>
          <p:cNvSpPr/>
          <p:nvPr/>
        </p:nvSpPr>
        <p:spPr>
          <a:xfrm>
            <a:off x="4800600" y="1956816"/>
            <a:ext cx="4114800" cy="54864"/>
          </a:xfrm>
          <a:prstGeom prst="rect">
            <a:avLst/>
          </a:prstGeom>
          <a:solidFill>
            <a:srgbClr val="64D2FF"/>
          </a:solidFill>
          <a:ln/>
        </p:spPr>
      </p:sp>
      <p:sp>
        <p:nvSpPr>
          <p:cNvPr id="13" name="Shape 11"/>
          <p:cNvSpPr/>
          <p:nvPr/>
        </p:nvSpPr>
        <p:spPr>
          <a:xfrm>
            <a:off x="457200" y="2194560"/>
            <a:ext cx="4114800" cy="1005840"/>
          </a:xfrm>
          <a:prstGeom prst="roundRect">
            <a:avLst>
              <a:gd name="adj" fmla="val 9091"/>
            </a:avLst>
          </a:prstGeom>
          <a:solidFill>
            <a:srgbClr val="2C2C2E"/>
          </a:solidFill>
          <a:ln w="12700">
            <a:solidFill>
              <a:srgbClr val="3A3A3C"/>
            </a:solidFill>
            <a:prstDash val="solid"/>
          </a:ln>
        </p:spPr>
      </p:sp>
      <p:sp>
        <p:nvSpPr>
          <p:cNvPr id="14" name="Text 12"/>
          <p:cNvSpPr txBox="1"/>
          <p:nvPr/>
        </p:nvSpPr>
        <p:spPr>
          <a:xfrm>
            <a:off x="594360" y="2304288"/>
            <a:ext cx="548640" cy="457200"/>
          </a:xfrm>
          <a:prstGeom prst="rect">
            <a:avLst/>
          </a:prstGeom>
          <a:noFill/>
          <a:ln/>
        </p:spPr>
        <p:txBody>
          <a:bodyPr wrap="square" lIns="0" tIns="0" rIns="0" bIns="0" rtlCol="0" anchor="ctr"/>
          <a:lstStyle/>
          <a:p>
            <a:pPr indent="0" marL="0">
              <a:buNone/>
            </a:pPr>
            <a:r>
              <a:rPr lang="en-US" sz="2400" b="1" dirty="0">
                <a:solidFill>
                  <a:srgbClr val="30D158"/>
                </a:solidFill>
                <a:latin typeface="Atkinson Hyperlegible" pitchFamily="34" charset="0"/>
                <a:ea typeface="Atkinson Hyperlegible" pitchFamily="34" charset="-122"/>
                <a:cs typeface="Atkinson Hyperlegible" pitchFamily="34" charset="-120"/>
              </a:rPr>
              <a:t>03</a:t>
            </a:r>
            <a:endParaRPr lang="en-US" sz="2400" dirty="0"/>
          </a:p>
        </p:txBody>
      </p:sp>
      <p:sp>
        <p:nvSpPr>
          <p:cNvPr id="15" name="Text 13"/>
          <p:cNvSpPr txBox="1"/>
          <p:nvPr/>
        </p:nvSpPr>
        <p:spPr>
          <a:xfrm>
            <a:off x="1234440" y="2377440"/>
            <a:ext cx="3200400" cy="548640"/>
          </a:xfrm>
          <a:prstGeom prst="rect">
            <a:avLst/>
          </a:prstGeom>
          <a:noFill/>
          <a:ln/>
        </p:spPr>
        <p:txBody>
          <a:bodyPr wrap="square" lIns="0" tIns="0" rIns="0" bIns="0" rtlCol="0" anchor="ctr"/>
          <a:lstStyle/>
          <a:p>
            <a:pPr indent="0" marL="0">
              <a:buNone/>
            </a:pPr>
            <a:r>
              <a:rPr lang="en-US" sz="1300" dirty="0">
                <a:solidFill>
                  <a:srgbClr val="FFFFFF"/>
                </a:solidFill>
                <a:latin typeface="Atkinson Hyperlegible" pitchFamily="34" charset="0"/>
                <a:ea typeface="Atkinson Hyperlegible" pitchFamily="34" charset="-122"/>
                <a:cs typeface="Atkinson Hyperlegible" pitchFamily="34" charset="-120"/>
              </a:rPr>
              <a:t>Conceptos Fase I: Planificación Conceptual</a:t>
            </a:r>
            <a:endParaRPr lang="en-US" sz="1300" dirty="0"/>
          </a:p>
        </p:txBody>
      </p:sp>
      <p:sp>
        <p:nvSpPr>
          <p:cNvPr id="16" name="Shape 14"/>
          <p:cNvSpPr/>
          <p:nvPr/>
        </p:nvSpPr>
        <p:spPr>
          <a:xfrm>
            <a:off x="457200" y="3145536"/>
            <a:ext cx="4114800" cy="54864"/>
          </a:xfrm>
          <a:prstGeom prst="rect">
            <a:avLst/>
          </a:prstGeom>
          <a:solidFill>
            <a:srgbClr val="30D158"/>
          </a:solidFill>
          <a:ln/>
        </p:spPr>
      </p:sp>
      <p:sp>
        <p:nvSpPr>
          <p:cNvPr id="17" name="Shape 15"/>
          <p:cNvSpPr/>
          <p:nvPr/>
        </p:nvSpPr>
        <p:spPr>
          <a:xfrm>
            <a:off x="4800600" y="2194560"/>
            <a:ext cx="4114800" cy="1005840"/>
          </a:xfrm>
          <a:prstGeom prst="roundRect">
            <a:avLst>
              <a:gd name="adj" fmla="val 9091"/>
            </a:avLst>
          </a:prstGeom>
          <a:solidFill>
            <a:srgbClr val="2C2C2E"/>
          </a:solidFill>
          <a:ln w="12700">
            <a:solidFill>
              <a:srgbClr val="3A3A3C"/>
            </a:solidFill>
            <a:prstDash val="solid"/>
          </a:ln>
        </p:spPr>
      </p:sp>
      <p:sp>
        <p:nvSpPr>
          <p:cNvPr id="18" name="Text 16"/>
          <p:cNvSpPr txBox="1"/>
          <p:nvPr/>
        </p:nvSpPr>
        <p:spPr>
          <a:xfrm>
            <a:off x="4937760" y="2304288"/>
            <a:ext cx="548640" cy="457200"/>
          </a:xfrm>
          <a:prstGeom prst="rect">
            <a:avLst/>
          </a:prstGeom>
          <a:noFill/>
          <a:ln/>
        </p:spPr>
        <p:txBody>
          <a:bodyPr wrap="square" lIns="0" tIns="0" rIns="0" bIns="0" rtlCol="0" anchor="ctr"/>
          <a:lstStyle/>
          <a:p>
            <a:pPr indent="0" marL="0">
              <a:buNone/>
            </a:pPr>
            <a:r>
              <a:rPr lang="en-US" sz="2400" b="1" dirty="0">
                <a:solidFill>
                  <a:srgbClr val="FF9500"/>
                </a:solidFill>
                <a:latin typeface="Atkinson Hyperlegible" pitchFamily="34" charset="0"/>
                <a:ea typeface="Atkinson Hyperlegible" pitchFamily="34" charset="-122"/>
                <a:cs typeface="Atkinson Hyperlegible" pitchFamily="34" charset="-120"/>
              </a:rPr>
              <a:t>04</a:t>
            </a:r>
            <a:endParaRPr lang="en-US" sz="2400" dirty="0"/>
          </a:p>
        </p:txBody>
      </p:sp>
      <p:sp>
        <p:nvSpPr>
          <p:cNvPr id="19" name="Text 17"/>
          <p:cNvSpPr txBox="1"/>
          <p:nvPr/>
        </p:nvSpPr>
        <p:spPr>
          <a:xfrm>
            <a:off x="5577840" y="2377440"/>
            <a:ext cx="3200400" cy="548640"/>
          </a:xfrm>
          <a:prstGeom prst="rect">
            <a:avLst/>
          </a:prstGeom>
          <a:noFill/>
          <a:ln/>
        </p:spPr>
        <p:txBody>
          <a:bodyPr wrap="square" lIns="0" tIns="0" rIns="0" bIns="0" rtlCol="0" anchor="ctr"/>
          <a:lstStyle/>
          <a:p>
            <a:pPr indent="0" marL="0">
              <a:buNone/>
            </a:pPr>
            <a:r>
              <a:rPr lang="en-US" sz="1300" dirty="0">
                <a:solidFill>
                  <a:srgbClr val="FFFFFF"/>
                </a:solidFill>
                <a:latin typeface="Atkinson Hyperlegible" pitchFamily="34" charset="0"/>
                <a:ea typeface="Atkinson Hyperlegible" pitchFamily="34" charset="-122"/>
                <a:cs typeface="Atkinson Hyperlegible" pitchFamily="34" charset="-120"/>
              </a:rPr>
              <a:t>Conceptos Fase II: Diseño y Procura</a:t>
            </a:r>
            <a:endParaRPr lang="en-US" sz="1300" dirty="0"/>
          </a:p>
        </p:txBody>
      </p:sp>
      <p:sp>
        <p:nvSpPr>
          <p:cNvPr id="20" name="Shape 18"/>
          <p:cNvSpPr/>
          <p:nvPr/>
        </p:nvSpPr>
        <p:spPr>
          <a:xfrm>
            <a:off x="4800600" y="3145536"/>
            <a:ext cx="4114800" cy="54864"/>
          </a:xfrm>
          <a:prstGeom prst="rect">
            <a:avLst/>
          </a:prstGeom>
          <a:solidFill>
            <a:srgbClr val="FF9500"/>
          </a:solidFill>
          <a:ln/>
        </p:spPr>
      </p:sp>
      <p:sp>
        <p:nvSpPr>
          <p:cNvPr id="21" name="Shape 19"/>
          <p:cNvSpPr/>
          <p:nvPr/>
        </p:nvSpPr>
        <p:spPr>
          <a:xfrm>
            <a:off x="457200" y="3383280"/>
            <a:ext cx="4114800" cy="1005840"/>
          </a:xfrm>
          <a:prstGeom prst="roundRect">
            <a:avLst>
              <a:gd name="adj" fmla="val 9091"/>
            </a:avLst>
          </a:prstGeom>
          <a:solidFill>
            <a:srgbClr val="2C2C2E"/>
          </a:solidFill>
          <a:ln w="12700">
            <a:solidFill>
              <a:srgbClr val="3A3A3C"/>
            </a:solidFill>
            <a:prstDash val="solid"/>
          </a:ln>
        </p:spPr>
      </p:sp>
      <p:sp>
        <p:nvSpPr>
          <p:cNvPr id="22" name="Text 20"/>
          <p:cNvSpPr txBox="1"/>
          <p:nvPr/>
        </p:nvSpPr>
        <p:spPr>
          <a:xfrm>
            <a:off x="594360" y="3493008"/>
            <a:ext cx="548640" cy="457200"/>
          </a:xfrm>
          <a:prstGeom prst="rect">
            <a:avLst/>
          </a:prstGeom>
          <a:noFill/>
          <a:ln/>
        </p:spPr>
        <p:txBody>
          <a:bodyPr wrap="square" lIns="0" tIns="0" rIns="0" bIns="0" rtlCol="0" anchor="ctr"/>
          <a:lstStyle/>
          <a:p>
            <a:pPr indent="0" marL="0">
              <a:buNone/>
            </a:pPr>
            <a:r>
              <a:rPr lang="en-US" sz="2400" b="1" dirty="0">
                <a:solidFill>
                  <a:srgbClr val="AF52DE"/>
                </a:solidFill>
                <a:latin typeface="Atkinson Hyperlegible" pitchFamily="34" charset="0"/>
                <a:ea typeface="Atkinson Hyperlegible" pitchFamily="34" charset="-122"/>
                <a:cs typeface="Atkinson Hyperlegible" pitchFamily="34" charset="-120"/>
              </a:rPr>
              <a:t>05</a:t>
            </a:r>
            <a:endParaRPr lang="en-US" sz="2400" dirty="0"/>
          </a:p>
        </p:txBody>
      </p:sp>
      <p:sp>
        <p:nvSpPr>
          <p:cNvPr id="23" name="Text 21"/>
          <p:cNvSpPr txBox="1"/>
          <p:nvPr/>
        </p:nvSpPr>
        <p:spPr>
          <a:xfrm>
            <a:off x="1234440" y="3566160"/>
            <a:ext cx="3200400" cy="548640"/>
          </a:xfrm>
          <a:prstGeom prst="rect">
            <a:avLst/>
          </a:prstGeom>
          <a:noFill/>
          <a:ln/>
        </p:spPr>
        <p:txBody>
          <a:bodyPr wrap="square" lIns="0" tIns="0" rIns="0" bIns="0" rtlCol="0" anchor="ctr"/>
          <a:lstStyle/>
          <a:p>
            <a:pPr indent="0" marL="0">
              <a:buNone/>
            </a:pPr>
            <a:r>
              <a:rPr lang="en-US" sz="1300" dirty="0">
                <a:solidFill>
                  <a:srgbClr val="FFFFFF"/>
                </a:solidFill>
                <a:latin typeface="Atkinson Hyperlegible" pitchFamily="34" charset="0"/>
                <a:ea typeface="Atkinson Hyperlegible" pitchFamily="34" charset="-122"/>
                <a:cs typeface="Atkinson Hyperlegible" pitchFamily="34" charset="-120"/>
              </a:rPr>
              <a:t>Conceptos Fase III: Operaciones de Campo</a:t>
            </a:r>
            <a:endParaRPr lang="en-US" sz="1300" dirty="0"/>
          </a:p>
        </p:txBody>
      </p:sp>
      <p:sp>
        <p:nvSpPr>
          <p:cNvPr id="24" name="Shape 22"/>
          <p:cNvSpPr/>
          <p:nvPr/>
        </p:nvSpPr>
        <p:spPr>
          <a:xfrm>
            <a:off x="457200" y="4334256"/>
            <a:ext cx="4114800" cy="54864"/>
          </a:xfrm>
          <a:prstGeom prst="rect">
            <a:avLst/>
          </a:prstGeom>
          <a:solidFill>
            <a:srgbClr val="AF52DE"/>
          </a:solidFill>
          <a:ln/>
        </p:spPr>
      </p:sp>
      <p:sp>
        <p:nvSpPr>
          <p:cNvPr id="25" name="Shape 23"/>
          <p:cNvSpPr/>
          <p:nvPr/>
        </p:nvSpPr>
        <p:spPr>
          <a:xfrm>
            <a:off x="4800600" y="3383280"/>
            <a:ext cx="4114800" cy="1005840"/>
          </a:xfrm>
          <a:prstGeom prst="roundRect">
            <a:avLst>
              <a:gd name="adj" fmla="val 9091"/>
            </a:avLst>
          </a:prstGeom>
          <a:solidFill>
            <a:srgbClr val="2C2C2E"/>
          </a:solidFill>
          <a:ln w="12700">
            <a:solidFill>
              <a:srgbClr val="3A3A3C"/>
            </a:solidFill>
            <a:prstDash val="solid"/>
          </a:ln>
        </p:spPr>
      </p:sp>
      <p:sp>
        <p:nvSpPr>
          <p:cNvPr id="26" name="Text 24"/>
          <p:cNvSpPr txBox="1"/>
          <p:nvPr/>
        </p:nvSpPr>
        <p:spPr>
          <a:xfrm>
            <a:off x="4937760" y="3493008"/>
            <a:ext cx="548640" cy="457200"/>
          </a:xfrm>
          <a:prstGeom prst="rect">
            <a:avLst/>
          </a:prstGeom>
          <a:noFill/>
          <a:ln/>
        </p:spPr>
        <p:txBody>
          <a:bodyPr wrap="square" lIns="0" tIns="0" rIns="0" bIns="0" rtlCol="0" anchor="ctr"/>
          <a:lstStyle/>
          <a:p>
            <a:pPr indent="0" marL="0">
              <a:buNone/>
            </a:pPr>
            <a:r>
              <a:rPr lang="en-US" sz="2400" b="1" dirty="0">
                <a:solidFill>
                  <a:srgbClr val="FFD60A"/>
                </a:solidFill>
                <a:latin typeface="Atkinson Hyperlegible" pitchFamily="34" charset="0"/>
                <a:ea typeface="Atkinson Hyperlegible" pitchFamily="34" charset="-122"/>
                <a:cs typeface="Atkinson Hyperlegible" pitchFamily="34" charset="-120"/>
              </a:rPr>
              <a:t>06</a:t>
            </a:r>
            <a:endParaRPr lang="en-US" sz="2400" dirty="0"/>
          </a:p>
        </p:txBody>
      </p:sp>
      <p:sp>
        <p:nvSpPr>
          <p:cNvPr id="27" name="Text 25"/>
          <p:cNvSpPr txBox="1"/>
          <p:nvPr/>
        </p:nvSpPr>
        <p:spPr>
          <a:xfrm>
            <a:off x="5577840" y="3566160"/>
            <a:ext cx="3200400" cy="548640"/>
          </a:xfrm>
          <a:prstGeom prst="rect">
            <a:avLst/>
          </a:prstGeom>
          <a:noFill/>
          <a:ln/>
        </p:spPr>
        <p:txBody>
          <a:bodyPr wrap="square" lIns="0" tIns="0" rIns="0" bIns="0" rtlCol="0" anchor="ctr"/>
          <a:lstStyle/>
          <a:p>
            <a:pPr indent="0" marL="0">
              <a:buNone/>
            </a:pPr>
            <a:r>
              <a:rPr lang="en-US" sz="1300" dirty="0">
                <a:solidFill>
                  <a:srgbClr val="FFFFFF"/>
                </a:solidFill>
                <a:latin typeface="Atkinson Hyperlegible" pitchFamily="34" charset="0"/>
                <a:ea typeface="Atkinson Hyperlegible" pitchFamily="34" charset="-122"/>
                <a:cs typeface="Atkinson Hyperlegible" pitchFamily="34" charset="-120"/>
              </a:rPr>
              <a:t>Implementación del Programa</a:t>
            </a:r>
            <a:endParaRPr lang="en-US" sz="1300" dirty="0"/>
          </a:p>
        </p:txBody>
      </p:sp>
      <p:sp>
        <p:nvSpPr>
          <p:cNvPr id="28" name="Shape 26"/>
          <p:cNvSpPr/>
          <p:nvPr/>
        </p:nvSpPr>
        <p:spPr>
          <a:xfrm>
            <a:off x="4800600" y="4334256"/>
            <a:ext cx="4114800" cy="54864"/>
          </a:xfrm>
          <a:prstGeom prst="rect">
            <a:avLst/>
          </a:prstGeom>
          <a:solidFill>
            <a:srgbClr val="FFD60A"/>
          </a:solidFill>
          <a:ln/>
        </p:spPr>
      </p:sp>
      <p:sp>
        <p:nvSpPr>
          <p:cNvPr id="29" name="Shape 27"/>
          <p:cNvSpPr/>
          <p:nvPr/>
        </p:nvSpPr>
        <p:spPr>
          <a:xfrm>
            <a:off x="457200" y="4572000"/>
            <a:ext cx="4114800" cy="1005840"/>
          </a:xfrm>
          <a:prstGeom prst="roundRect">
            <a:avLst>
              <a:gd name="adj" fmla="val 9091"/>
            </a:avLst>
          </a:prstGeom>
          <a:solidFill>
            <a:srgbClr val="2C2C2E"/>
          </a:solidFill>
          <a:ln w="12700">
            <a:solidFill>
              <a:srgbClr val="3A3A3C"/>
            </a:solidFill>
            <a:prstDash val="solid"/>
          </a:ln>
        </p:spPr>
      </p:sp>
      <p:sp>
        <p:nvSpPr>
          <p:cNvPr id="30" name="Text 28"/>
          <p:cNvSpPr txBox="1"/>
          <p:nvPr/>
        </p:nvSpPr>
        <p:spPr>
          <a:xfrm>
            <a:off x="594360" y="4681728"/>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1" name="Text 29"/>
          <p:cNvSpPr txBox="1"/>
          <p:nvPr/>
        </p:nvSpPr>
        <p:spPr>
          <a:xfrm>
            <a:off x="1234440" y="4754880"/>
            <a:ext cx="3200400" cy="548640"/>
          </a:xfrm>
          <a:prstGeom prst="rect">
            <a:avLst/>
          </a:prstGeom>
          <a:noFill/>
          <a:ln/>
        </p:spPr>
        <p:txBody>
          <a:bodyPr wrap="square" lIns="0" tIns="0" rIns="0" bIns="0" rtlCol="0" anchor="ctr"/>
          <a:lstStyle/>
          <a:p>
            <a:pPr indent="0" marL="0">
              <a:buNone/>
            </a:pPr>
            <a:r>
              <a:rPr lang="en-US" sz="1300" dirty="0">
                <a:solidFill>
                  <a:srgbClr val="FFFFFF"/>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2" name="Shape 30"/>
          <p:cNvSpPr/>
          <p:nvPr/>
        </p:nvSpPr>
        <p:spPr>
          <a:xfrm>
            <a:off x="457200" y="5522976"/>
            <a:ext cx="4114800" cy="54864"/>
          </a:xfrm>
          <a:prstGeom prst="rect">
            <a:avLst/>
          </a:prstGeom>
          <a:solidFill>
            <a:srgbClr val="FF453A"/>
          </a:solidFill>
          <a:ln/>
        </p:spPr>
      </p:sp>
      <p:sp>
        <p:nvSpPr>
          <p:cNvPr id="33" name="Shape 31"/>
          <p:cNvSpPr/>
          <p:nvPr/>
        </p:nvSpPr>
        <p:spPr>
          <a:xfrm>
            <a:off x="457200" y="4526280"/>
            <a:ext cx="4114800" cy="1005840"/>
          </a:xfrm>
          <a:prstGeom prst="roundRect">
            <a:avLst>
              <a:gd name="adj" fmla="val 9091"/>
            </a:avLst>
          </a:prstGeom>
          <a:solidFill>
            <a:srgbClr val="2C2C2E"/>
          </a:solidFill>
          <a:ln w="12700">
            <a:solidFill>
              <a:srgbClr val="3A3A3C"/>
            </a:solidFill>
            <a:prstDash val="solid"/>
          </a:ln>
        </p:spPr>
      </p:sp>
      <p:sp>
        <p:nvSpPr>
          <p:cNvPr id="34" name="Text 32"/>
          <p:cNvSpPr txBox="1"/>
          <p:nvPr/>
        </p:nvSpPr>
        <p:spPr>
          <a:xfrm>
            <a:off x="594360" y="4636008"/>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5" name="Text 33"/>
          <p:cNvSpPr txBox="1"/>
          <p:nvPr/>
        </p:nvSpPr>
        <p:spPr>
          <a:xfrm>
            <a:off x="1371600" y="4709160"/>
            <a:ext cx="3200400" cy="548640"/>
          </a:xfrm>
          <a:prstGeom prst="rect">
            <a:avLst/>
          </a:prstGeom>
          <a:noFill/>
          <a:ln/>
        </p:spPr>
        <p:txBody>
          <a:bodyPr wrap="square" lIns="0" tIns="0" rIns="0" bIns="0" rtlCol="0" anchor="ctr"/>
          <a:lstStyle/>
          <a:p>
            <a:pPr indent="0" marL="0">
              <a:buNone/>
            </a:pPr>
            <a:r>
              <a:rPr lang="en-US" sz="1300" dirty="0">
                <a:solidFill>
                  <a:srgbClr val="FFFFFF"/>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¿Qué es la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457200" y="960120"/>
            <a:ext cx="8229600" cy="1234440"/>
          </a:xfrm>
          <a:prstGeom prst="roundRect">
            <a:avLst>
              <a:gd name="adj" fmla="val 10370"/>
            </a:avLst>
          </a:prstGeom>
          <a:solidFill>
            <a:srgbClr val="2C2C2E"/>
          </a:solidFill>
          <a:ln w="25400">
            <a:solidFill>
              <a:srgbClr val="0A84FF"/>
            </a:solidFill>
            <a:prstDash val="solid"/>
          </a:ln>
        </p:spPr>
      </p:sp>
      <p:sp>
        <p:nvSpPr>
          <p:cNvPr id="6" name="Text 4"/>
          <p:cNvSpPr txBox="1"/>
          <p:nvPr/>
        </p:nvSpPr>
        <p:spPr>
          <a:xfrm>
            <a:off x="685800" y="1024128"/>
            <a:ext cx="7772400" cy="1097280"/>
          </a:xfrm>
          <a:prstGeom prst="rect">
            <a:avLst/>
          </a:prstGeom>
          <a:noFill/>
          <a:ln/>
        </p:spPr>
        <p:txBody>
          <a:bodyPr wrap="square" lIns="0" tIns="0" rIns="0" bIns="0" rtlCol="0" anchor="ctr"/>
          <a:lstStyle/>
          <a:p>
            <a:pPr algn="ctr" indent="0" marL="0">
              <a:buNone/>
            </a:pPr>
            <a:r>
              <a:rPr lang="en-US" sz="1700" i="1" dirty="0">
                <a:solidFill>
                  <a:srgbClr val="FFFFFF"/>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a:t>
            </a:r>
            <a:endParaRPr lang="en-US" sz="1700" dirty="0"/>
          </a:p>
        </p:txBody>
      </p:sp>
      <p:sp>
        <p:nvSpPr>
          <p:cNvPr id="7" name="Text 5"/>
          <p:cNvSpPr txBox="1"/>
          <p:nvPr/>
        </p:nvSpPr>
        <p:spPr>
          <a:xfrm>
            <a:off x="685800" y="2148840"/>
            <a:ext cx="7772400" cy="274320"/>
          </a:xfrm>
          <a:prstGeom prst="rect">
            <a:avLst/>
          </a:prstGeom>
          <a:noFill/>
          <a:ln/>
        </p:spPr>
        <p:txBody>
          <a:bodyPr wrap="square" lIns="0" tIns="0" rIns="0" bIns="0" rtlCol="0" anchor="ctr"/>
          <a:lstStyle/>
          <a:p>
            <a:pPr algn="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 Construction Industry Institute (CII), 1986</a:t>
            </a:r>
            <a:endParaRPr lang="en-US" sz="1200" dirty="0"/>
          </a:p>
        </p:txBody>
      </p:sp>
      <p:sp>
        <p:nvSpPr>
          <p:cNvPr id="8" name="Shape 6"/>
          <p:cNvSpPr/>
          <p:nvPr/>
        </p:nvSpPr>
        <p:spPr>
          <a:xfrm>
            <a:off x="457200" y="2514600"/>
            <a:ext cx="4114800" cy="1051560"/>
          </a:xfrm>
          <a:prstGeom prst="roundRect">
            <a:avLst>
              <a:gd name="adj" fmla="val 10435"/>
            </a:avLst>
          </a:prstGeom>
          <a:solidFill>
            <a:srgbClr val="2C2C2E"/>
          </a:solidFill>
          <a:ln w="12700">
            <a:solidFill>
              <a:srgbClr val="3A3A3C"/>
            </a:solidFill>
            <a:prstDash val="solid"/>
          </a:ln>
        </p:spPr>
      </p:sp>
      <p:sp>
        <p:nvSpPr>
          <p:cNvPr id="9" name="Shape 7"/>
          <p:cNvSpPr/>
          <p:nvPr/>
        </p:nvSpPr>
        <p:spPr>
          <a:xfrm>
            <a:off x="621792" y="2670048"/>
            <a:ext cx="420624" cy="420624"/>
          </a:xfrm>
          <a:prstGeom prst="ellipse">
            <a:avLst/>
          </a:prstGeom>
          <a:solidFill>
            <a:srgbClr val="0A84FF">
              <a:alpha val="20000"/>
            </a:srgbClr>
          </a:solidFill>
          <a:ln/>
        </p:spPr>
      </p:sp>
      <p:sp>
        <p:nvSpPr>
          <p:cNvPr id="10" name="Text 8"/>
          <p:cNvSpPr txBox="1"/>
          <p:nvPr/>
        </p:nvSpPr>
        <p:spPr>
          <a:xfrm>
            <a:off x="621792" y="2670048"/>
            <a:ext cx="420624" cy="420624"/>
          </a:xfrm>
          <a:prstGeom prst="rect">
            <a:avLst/>
          </a:prstGeom>
          <a:noFill/>
          <a:ln/>
        </p:spPr>
        <p:txBody>
          <a:bodyPr wrap="square" lIns="0" tIns="0" rIns="0" bIns="0" rtlCol="0" anchor="ctr"/>
          <a:lstStyle/>
          <a:p>
            <a:pPr algn="ctr" indent="0" marL="0">
              <a:buNone/>
            </a:pPr>
            <a:r>
              <a:rPr lang="en-US" sz="1800" dirty="0">
                <a:solidFill>
                  <a:srgbClr val="0A84FF"/>
                </a:solidFill>
                <a:latin typeface="Atkinson Hyperlegible" pitchFamily="34" charset="0"/>
                <a:ea typeface="Atkinson Hyperlegible" pitchFamily="34" charset="-122"/>
                <a:cs typeface="Atkinson Hyperlegible" pitchFamily="34" charset="-120"/>
              </a:rPr>
              <a:t>◆</a:t>
            </a:r>
            <a:endParaRPr lang="en-US" sz="1800" dirty="0"/>
          </a:p>
        </p:txBody>
      </p:sp>
      <p:sp>
        <p:nvSpPr>
          <p:cNvPr id="11" name="Text 9"/>
          <p:cNvSpPr txBox="1"/>
          <p:nvPr/>
        </p:nvSpPr>
        <p:spPr>
          <a:xfrm>
            <a:off x="1143000" y="2679192"/>
            <a:ext cx="329184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Integración</a:t>
            </a:r>
            <a:endParaRPr lang="en-US" sz="1400" dirty="0"/>
          </a:p>
        </p:txBody>
      </p:sp>
      <p:sp>
        <p:nvSpPr>
          <p:cNvPr id="12" name="Text 10"/>
          <p:cNvSpPr txBox="1"/>
          <p:nvPr/>
        </p:nvSpPr>
        <p:spPr>
          <a:xfrm>
            <a:off x="621792" y="3154680"/>
            <a:ext cx="3822192" cy="27432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Une diseño y construcción, disciplinas tradicionalmente separadas desde ~1750</a:t>
            </a:r>
            <a:endParaRPr lang="en-US" sz="1200" dirty="0"/>
          </a:p>
        </p:txBody>
      </p:sp>
      <p:sp>
        <p:nvSpPr>
          <p:cNvPr id="13" name="Shape 11"/>
          <p:cNvSpPr/>
          <p:nvPr/>
        </p:nvSpPr>
        <p:spPr>
          <a:xfrm>
            <a:off x="4800600" y="2514600"/>
            <a:ext cx="4114800" cy="1051560"/>
          </a:xfrm>
          <a:prstGeom prst="roundRect">
            <a:avLst>
              <a:gd name="adj" fmla="val 10435"/>
            </a:avLst>
          </a:prstGeom>
          <a:solidFill>
            <a:srgbClr val="2C2C2E"/>
          </a:solidFill>
          <a:ln w="12700">
            <a:solidFill>
              <a:srgbClr val="3A3A3C"/>
            </a:solidFill>
            <a:prstDash val="solid"/>
          </a:ln>
        </p:spPr>
      </p:sp>
      <p:sp>
        <p:nvSpPr>
          <p:cNvPr id="14" name="Shape 12"/>
          <p:cNvSpPr/>
          <p:nvPr/>
        </p:nvSpPr>
        <p:spPr>
          <a:xfrm>
            <a:off x="4965192" y="2670048"/>
            <a:ext cx="420624" cy="420624"/>
          </a:xfrm>
          <a:prstGeom prst="ellipse">
            <a:avLst/>
          </a:prstGeom>
          <a:solidFill>
            <a:srgbClr val="0A84FF">
              <a:alpha val="20000"/>
            </a:srgbClr>
          </a:solidFill>
          <a:ln/>
        </p:spPr>
      </p:sp>
      <p:sp>
        <p:nvSpPr>
          <p:cNvPr id="15" name="Text 13"/>
          <p:cNvSpPr txBox="1"/>
          <p:nvPr/>
        </p:nvSpPr>
        <p:spPr>
          <a:xfrm>
            <a:off x="4965192" y="2670048"/>
            <a:ext cx="420624" cy="420624"/>
          </a:xfrm>
          <a:prstGeom prst="rect">
            <a:avLst/>
          </a:prstGeom>
          <a:noFill/>
          <a:ln/>
        </p:spPr>
        <p:txBody>
          <a:bodyPr wrap="square" lIns="0" tIns="0" rIns="0" bIns="0" rtlCol="0" anchor="ctr"/>
          <a:lstStyle/>
          <a:p>
            <a:pPr algn="ctr" indent="0" marL="0">
              <a:buNone/>
            </a:pPr>
            <a:r>
              <a:rPr lang="en-US" sz="1800" dirty="0">
                <a:solidFill>
                  <a:srgbClr val="0A84FF"/>
                </a:solidFill>
                <a:latin typeface="Atkinson Hyperlegible" pitchFamily="34" charset="0"/>
                <a:ea typeface="Atkinson Hyperlegible" pitchFamily="34" charset="-122"/>
                <a:cs typeface="Atkinson Hyperlegible" pitchFamily="34" charset="-120"/>
              </a:rPr>
              <a:t>◆</a:t>
            </a:r>
            <a:endParaRPr lang="en-US" sz="1800" dirty="0"/>
          </a:p>
        </p:txBody>
      </p:sp>
      <p:sp>
        <p:nvSpPr>
          <p:cNvPr id="16" name="Text 14"/>
          <p:cNvSpPr txBox="1"/>
          <p:nvPr/>
        </p:nvSpPr>
        <p:spPr>
          <a:xfrm>
            <a:off x="5486400" y="2679192"/>
            <a:ext cx="329184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Anticipación</a:t>
            </a:r>
            <a:endParaRPr lang="en-US" sz="1400" dirty="0"/>
          </a:p>
        </p:txBody>
      </p:sp>
      <p:sp>
        <p:nvSpPr>
          <p:cNvPr id="17" name="Text 15"/>
          <p:cNvSpPr txBox="1"/>
          <p:nvPr/>
        </p:nvSpPr>
        <p:spPr>
          <a:xfrm>
            <a:off x="4965192" y="3154680"/>
            <a:ext cx="3822192" cy="27432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Incorpora conocimiento constructivo ANTES de que se completen los diseños</a:t>
            </a:r>
            <a:endParaRPr lang="en-US" sz="1200" dirty="0"/>
          </a:p>
        </p:txBody>
      </p:sp>
      <p:sp>
        <p:nvSpPr>
          <p:cNvPr id="18" name="Shape 16"/>
          <p:cNvSpPr/>
          <p:nvPr/>
        </p:nvSpPr>
        <p:spPr>
          <a:xfrm>
            <a:off x="457200" y="3703320"/>
            <a:ext cx="4114800" cy="1051560"/>
          </a:xfrm>
          <a:prstGeom prst="roundRect">
            <a:avLst>
              <a:gd name="adj" fmla="val 10435"/>
            </a:avLst>
          </a:prstGeom>
          <a:solidFill>
            <a:srgbClr val="2C2C2E"/>
          </a:solidFill>
          <a:ln w="12700">
            <a:solidFill>
              <a:srgbClr val="3A3A3C"/>
            </a:solidFill>
            <a:prstDash val="solid"/>
          </a:ln>
        </p:spPr>
      </p:sp>
      <p:sp>
        <p:nvSpPr>
          <p:cNvPr id="19" name="Shape 17"/>
          <p:cNvSpPr/>
          <p:nvPr/>
        </p:nvSpPr>
        <p:spPr>
          <a:xfrm>
            <a:off x="621792" y="3858768"/>
            <a:ext cx="420624" cy="420624"/>
          </a:xfrm>
          <a:prstGeom prst="ellipse">
            <a:avLst/>
          </a:prstGeom>
          <a:solidFill>
            <a:srgbClr val="0A84FF">
              <a:alpha val="20000"/>
            </a:srgbClr>
          </a:solidFill>
          <a:ln/>
        </p:spPr>
      </p:sp>
      <p:sp>
        <p:nvSpPr>
          <p:cNvPr id="20" name="Text 18"/>
          <p:cNvSpPr txBox="1"/>
          <p:nvPr/>
        </p:nvSpPr>
        <p:spPr>
          <a:xfrm>
            <a:off x="621792" y="3858768"/>
            <a:ext cx="420624" cy="420624"/>
          </a:xfrm>
          <a:prstGeom prst="rect">
            <a:avLst/>
          </a:prstGeom>
          <a:noFill/>
          <a:ln/>
        </p:spPr>
        <p:txBody>
          <a:bodyPr wrap="square" lIns="0" tIns="0" rIns="0" bIns="0" rtlCol="0" anchor="ctr"/>
          <a:lstStyle/>
          <a:p>
            <a:pPr algn="ctr" indent="0" marL="0">
              <a:buNone/>
            </a:pPr>
            <a:r>
              <a:rPr lang="en-US" sz="1800" dirty="0">
                <a:solidFill>
                  <a:srgbClr val="0A84FF"/>
                </a:solidFill>
                <a:latin typeface="Atkinson Hyperlegible" pitchFamily="34" charset="0"/>
                <a:ea typeface="Atkinson Hyperlegible" pitchFamily="34" charset="-122"/>
                <a:cs typeface="Atkinson Hyperlegible" pitchFamily="34" charset="-120"/>
              </a:rPr>
              <a:t>◆</a:t>
            </a:r>
            <a:endParaRPr lang="en-US" sz="1800" dirty="0"/>
          </a:p>
        </p:txBody>
      </p:sp>
      <p:sp>
        <p:nvSpPr>
          <p:cNvPr id="21" name="Text 19"/>
          <p:cNvSpPr txBox="1"/>
          <p:nvPr/>
        </p:nvSpPr>
        <p:spPr>
          <a:xfrm>
            <a:off x="1143000" y="3867912"/>
            <a:ext cx="329184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Proactividad</a:t>
            </a:r>
            <a:endParaRPr lang="en-US" sz="1400" dirty="0"/>
          </a:p>
        </p:txBody>
      </p:sp>
      <p:sp>
        <p:nvSpPr>
          <p:cNvPr id="22" name="Text 20"/>
          <p:cNvSpPr txBox="1"/>
          <p:nvPr/>
        </p:nvSpPr>
        <p:spPr>
          <a:xfrm>
            <a:off x="621792" y="4343400"/>
            <a:ext cx="3822192" cy="27432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No es solo revisión; es co-creación del diseño con criterio constructivo</a:t>
            </a:r>
            <a:endParaRPr lang="en-US" sz="1200" dirty="0"/>
          </a:p>
        </p:txBody>
      </p:sp>
      <p:sp>
        <p:nvSpPr>
          <p:cNvPr id="23" name="Shape 21"/>
          <p:cNvSpPr/>
          <p:nvPr/>
        </p:nvSpPr>
        <p:spPr>
          <a:xfrm>
            <a:off x="4800600" y="3703320"/>
            <a:ext cx="4114800" cy="1051560"/>
          </a:xfrm>
          <a:prstGeom prst="roundRect">
            <a:avLst>
              <a:gd name="adj" fmla="val 10435"/>
            </a:avLst>
          </a:prstGeom>
          <a:solidFill>
            <a:srgbClr val="2C2C2E"/>
          </a:solidFill>
          <a:ln w="12700">
            <a:solidFill>
              <a:srgbClr val="3A3A3C"/>
            </a:solidFill>
            <a:prstDash val="solid"/>
          </a:ln>
        </p:spPr>
      </p:sp>
      <p:sp>
        <p:nvSpPr>
          <p:cNvPr id="24" name="Shape 22"/>
          <p:cNvSpPr/>
          <p:nvPr/>
        </p:nvSpPr>
        <p:spPr>
          <a:xfrm>
            <a:off x="4965192" y="3858768"/>
            <a:ext cx="420624" cy="420624"/>
          </a:xfrm>
          <a:prstGeom prst="ellipse">
            <a:avLst/>
          </a:prstGeom>
          <a:solidFill>
            <a:srgbClr val="0A84FF">
              <a:alpha val="20000"/>
            </a:srgbClr>
          </a:solidFill>
          <a:ln/>
        </p:spPr>
      </p:sp>
      <p:sp>
        <p:nvSpPr>
          <p:cNvPr id="25" name="Text 23"/>
          <p:cNvSpPr txBox="1"/>
          <p:nvPr/>
        </p:nvSpPr>
        <p:spPr>
          <a:xfrm>
            <a:off x="4965192" y="3858768"/>
            <a:ext cx="420624" cy="420624"/>
          </a:xfrm>
          <a:prstGeom prst="rect">
            <a:avLst/>
          </a:prstGeom>
          <a:noFill/>
          <a:ln/>
        </p:spPr>
        <p:txBody>
          <a:bodyPr wrap="square" lIns="0" tIns="0" rIns="0" bIns="0" rtlCol="0" anchor="ctr"/>
          <a:lstStyle/>
          <a:p>
            <a:pPr algn="ctr" indent="0" marL="0">
              <a:buNone/>
            </a:pPr>
            <a:r>
              <a:rPr lang="en-US" sz="1800" dirty="0">
                <a:solidFill>
                  <a:srgbClr val="0A84FF"/>
                </a:solidFill>
                <a:latin typeface="Atkinson Hyperlegible" pitchFamily="34" charset="0"/>
                <a:ea typeface="Atkinson Hyperlegible" pitchFamily="34" charset="-122"/>
                <a:cs typeface="Atkinson Hyperlegible" pitchFamily="34" charset="-120"/>
              </a:rPr>
              <a:t>◆</a:t>
            </a:r>
            <a:endParaRPr lang="en-US" sz="1800" dirty="0"/>
          </a:p>
        </p:txBody>
      </p:sp>
      <p:sp>
        <p:nvSpPr>
          <p:cNvPr id="26" name="Text 24"/>
          <p:cNvSpPr txBox="1"/>
          <p:nvPr/>
        </p:nvSpPr>
        <p:spPr>
          <a:xfrm>
            <a:off x="5486400" y="3867912"/>
            <a:ext cx="329184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Retorno</a:t>
            </a:r>
            <a:endParaRPr lang="en-US" sz="1400" dirty="0"/>
          </a:p>
        </p:txBody>
      </p:sp>
      <p:sp>
        <p:nvSpPr>
          <p:cNvPr id="27" name="Text 25"/>
          <p:cNvSpPr txBox="1"/>
          <p:nvPr/>
        </p:nvSpPr>
        <p:spPr>
          <a:xfrm>
            <a:off x="4965192" y="4343400"/>
            <a:ext cx="3822192" cy="27432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Retornos documentados de hasta 15:1 sobre la inversión en el programa</a:t>
            </a:r>
            <a:endParaRPr lang="en-US" sz="12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Historia de la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274320" y="960120"/>
            <a:ext cx="1280160" cy="457200"/>
          </a:xfrm>
          <a:prstGeom prst="roundRect">
            <a:avLst>
              <a:gd name="adj" fmla="val 16000"/>
            </a:avLst>
          </a:prstGeom>
          <a:solidFill>
            <a:srgbClr val="0A84FF">
              <a:alpha val="20000"/>
            </a:srgbClr>
          </a:solidFill>
          <a:ln w="12700">
            <a:solidFill>
              <a:srgbClr val="0A84FF"/>
            </a:solidFill>
            <a:prstDash val="solid"/>
          </a:ln>
        </p:spPr>
      </p:sp>
      <p:sp>
        <p:nvSpPr>
          <p:cNvPr id="6" name="Text 4"/>
          <p:cNvSpPr txBox="1"/>
          <p:nvPr/>
        </p:nvSpPr>
        <p:spPr>
          <a:xfrm>
            <a:off x="274320" y="96012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~1750</a:t>
            </a:r>
            <a:endParaRPr lang="en-US" sz="1300" dirty="0"/>
          </a:p>
        </p:txBody>
      </p:sp>
      <p:sp>
        <p:nvSpPr>
          <p:cNvPr id="7" name="Text 5"/>
          <p:cNvSpPr txBox="1"/>
          <p:nvPr/>
        </p:nvSpPr>
        <p:spPr>
          <a:xfrm>
            <a:off x="1691640" y="996696"/>
            <a:ext cx="1645920" cy="20116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D y C separados</a:t>
            </a:r>
            <a:endParaRPr lang="en-US" sz="1200" dirty="0"/>
          </a:p>
        </p:txBody>
      </p:sp>
      <p:sp>
        <p:nvSpPr>
          <p:cNvPr id="8" name="Text 6"/>
          <p:cNvSpPr txBox="1"/>
          <p:nvPr/>
        </p:nvSpPr>
        <p:spPr>
          <a:xfrm>
            <a:off x="1691640" y="1197864"/>
            <a:ext cx="70408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La Revolución Industrial separa formalmente las funciones de diseño y construcción en disciplinas independientes</a:t>
            </a:r>
            <a:endParaRPr lang="en-US" sz="1050" dirty="0"/>
          </a:p>
        </p:txBody>
      </p:sp>
      <p:sp>
        <p:nvSpPr>
          <p:cNvPr id="9" name="Shape 7"/>
          <p:cNvSpPr/>
          <p:nvPr/>
        </p:nvSpPr>
        <p:spPr>
          <a:xfrm>
            <a:off x="896112" y="1417320"/>
            <a:ext cx="36576" cy="128016"/>
          </a:xfrm>
          <a:prstGeom prst="rect">
            <a:avLst/>
          </a:prstGeom>
          <a:solidFill>
            <a:srgbClr val="3A3A3C"/>
          </a:solidFill>
          <a:ln/>
        </p:spPr>
      </p:sp>
      <p:sp>
        <p:nvSpPr>
          <p:cNvPr id="10" name="Shape 8"/>
          <p:cNvSpPr/>
          <p:nvPr/>
        </p:nvSpPr>
        <p:spPr>
          <a:xfrm>
            <a:off x="274320" y="1545336"/>
            <a:ext cx="1280160" cy="457200"/>
          </a:xfrm>
          <a:prstGeom prst="roundRect">
            <a:avLst>
              <a:gd name="adj" fmla="val 16000"/>
            </a:avLst>
          </a:prstGeom>
          <a:solidFill>
            <a:srgbClr val="0A84FF">
              <a:alpha val="20000"/>
            </a:srgbClr>
          </a:solidFill>
          <a:ln w="12700">
            <a:solidFill>
              <a:srgbClr val="0A84FF"/>
            </a:solidFill>
            <a:prstDash val="solid"/>
          </a:ln>
        </p:spPr>
      </p:sp>
      <p:sp>
        <p:nvSpPr>
          <p:cNvPr id="11" name="Text 9"/>
          <p:cNvSpPr txBox="1"/>
          <p:nvPr/>
        </p:nvSpPr>
        <p:spPr>
          <a:xfrm>
            <a:off x="274320" y="154533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1960s-70s</a:t>
            </a:r>
            <a:endParaRPr lang="en-US" sz="1300" dirty="0"/>
          </a:p>
        </p:txBody>
      </p:sp>
      <p:sp>
        <p:nvSpPr>
          <p:cNvPr id="12" name="Text 10"/>
          <p:cNvSpPr txBox="1"/>
          <p:nvPr/>
        </p:nvSpPr>
        <p:spPr>
          <a:xfrm>
            <a:off x="1691640" y="1581912"/>
            <a:ext cx="1645920" cy="20116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Primeras iniciativas</a:t>
            </a:r>
            <a:endParaRPr lang="en-US" sz="1200" dirty="0"/>
          </a:p>
        </p:txBody>
      </p:sp>
      <p:sp>
        <p:nvSpPr>
          <p:cNvPr id="13" name="Text 11"/>
          <p:cNvSpPr txBox="1"/>
          <p:nvPr/>
        </p:nvSpPr>
        <p:spPr>
          <a:xfrm>
            <a:off x="1691640" y="1783080"/>
            <a:ext cx="70408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Propietarios comienzan a notar pérdidas de eficiencia por la falta de coordinación entre diseño y construcción en proyectos industriales</a:t>
            </a:r>
            <a:endParaRPr lang="en-US" sz="1050" dirty="0"/>
          </a:p>
        </p:txBody>
      </p:sp>
      <p:sp>
        <p:nvSpPr>
          <p:cNvPr id="14" name="Shape 12"/>
          <p:cNvSpPr/>
          <p:nvPr/>
        </p:nvSpPr>
        <p:spPr>
          <a:xfrm>
            <a:off x="896112" y="2002536"/>
            <a:ext cx="36576" cy="128016"/>
          </a:xfrm>
          <a:prstGeom prst="rect">
            <a:avLst/>
          </a:prstGeom>
          <a:solidFill>
            <a:srgbClr val="3A3A3C"/>
          </a:solidFill>
          <a:ln/>
        </p:spPr>
      </p:sp>
      <p:sp>
        <p:nvSpPr>
          <p:cNvPr id="15" name="Shape 13"/>
          <p:cNvSpPr/>
          <p:nvPr/>
        </p:nvSpPr>
        <p:spPr>
          <a:xfrm>
            <a:off x="274320" y="2130552"/>
            <a:ext cx="1280160" cy="457200"/>
          </a:xfrm>
          <a:prstGeom prst="roundRect">
            <a:avLst>
              <a:gd name="adj" fmla="val 16000"/>
            </a:avLst>
          </a:prstGeom>
          <a:solidFill>
            <a:srgbClr val="0A84FF">
              <a:alpha val="20000"/>
            </a:srgbClr>
          </a:solidFill>
          <a:ln w="12700">
            <a:solidFill>
              <a:srgbClr val="0A84FF"/>
            </a:solidFill>
            <a:prstDash val="solid"/>
          </a:ln>
        </p:spPr>
      </p:sp>
      <p:sp>
        <p:nvSpPr>
          <p:cNvPr id="16" name="Text 14"/>
          <p:cNvSpPr txBox="1"/>
          <p:nvPr/>
        </p:nvSpPr>
        <p:spPr>
          <a:xfrm>
            <a:off x="274320" y="2130552"/>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1982</a:t>
            </a:r>
            <a:endParaRPr lang="en-US" sz="1300" dirty="0"/>
          </a:p>
        </p:txBody>
      </p:sp>
      <p:sp>
        <p:nvSpPr>
          <p:cNvPr id="17" name="Text 15"/>
          <p:cNvSpPr txBox="1"/>
          <p:nvPr/>
        </p:nvSpPr>
        <p:spPr>
          <a:xfrm>
            <a:off x="1691640" y="2167128"/>
            <a:ext cx="1645920" cy="20116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Fundación CII</a:t>
            </a:r>
            <a:endParaRPr lang="en-US" sz="1200" dirty="0"/>
          </a:p>
        </p:txBody>
      </p:sp>
      <p:sp>
        <p:nvSpPr>
          <p:cNvPr id="18" name="Text 16"/>
          <p:cNvSpPr txBox="1"/>
          <p:nvPr/>
        </p:nvSpPr>
        <p:spPr>
          <a:xfrm>
            <a:off x="1691640" y="2368296"/>
            <a:ext cx="70408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El Construction Industry Institute es fundado en The University of Texas at Austin para mejorar la efectividad de la industria</a:t>
            </a:r>
            <a:endParaRPr lang="en-US" sz="1050" dirty="0"/>
          </a:p>
        </p:txBody>
      </p:sp>
      <p:sp>
        <p:nvSpPr>
          <p:cNvPr id="19" name="Shape 17"/>
          <p:cNvSpPr/>
          <p:nvPr/>
        </p:nvSpPr>
        <p:spPr>
          <a:xfrm>
            <a:off x="896112" y="2587752"/>
            <a:ext cx="36576" cy="128016"/>
          </a:xfrm>
          <a:prstGeom prst="rect">
            <a:avLst/>
          </a:prstGeom>
          <a:solidFill>
            <a:srgbClr val="3A3A3C"/>
          </a:solidFill>
          <a:ln/>
        </p:spPr>
      </p:sp>
      <p:sp>
        <p:nvSpPr>
          <p:cNvPr id="20" name="Shape 18"/>
          <p:cNvSpPr/>
          <p:nvPr/>
        </p:nvSpPr>
        <p:spPr>
          <a:xfrm>
            <a:off x="274320" y="2715768"/>
            <a:ext cx="1280160" cy="457200"/>
          </a:xfrm>
          <a:prstGeom prst="roundRect">
            <a:avLst>
              <a:gd name="adj" fmla="val 16000"/>
            </a:avLst>
          </a:prstGeom>
          <a:solidFill>
            <a:srgbClr val="0A84FF">
              <a:alpha val="20000"/>
            </a:srgbClr>
          </a:solidFill>
          <a:ln w="12700">
            <a:solidFill>
              <a:srgbClr val="0A84FF"/>
            </a:solidFill>
            <a:prstDash val="solid"/>
          </a:ln>
        </p:spPr>
      </p:sp>
      <p:sp>
        <p:nvSpPr>
          <p:cNvPr id="21" name="Text 19"/>
          <p:cNvSpPr txBox="1"/>
          <p:nvPr/>
        </p:nvSpPr>
        <p:spPr>
          <a:xfrm>
            <a:off x="274320" y="2715768"/>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1984-86</a:t>
            </a:r>
            <a:endParaRPr lang="en-US" sz="1300" dirty="0"/>
          </a:p>
        </p:txBody>
      </p:sp>
      <p:sp>
        <p:nvSpPr>
          <p:cNvPr id="22" name="Text 20"/>
          <p:cNvSpPr txBox="1"/>
          <p:nvPr/>
        </p:nvSpPr>
        <p:spPr>
          <a:xfrm>
            <a:off x="1691640" y="2752344"/>
            <a:ext cx="1645920" cy="20116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Task Force CII</a:t>
            </a:r>
            <a:endParaRPr lang="en-US" sz="1200" dirty="0"/>
          </a:p>
        </p:txBody>
      </p:sp>
      <p:sp>
        <p:nvSpPr>
          <p:cNvPr id="23" name="Text 21"/>
          <p:cNvSpPr txBox="1"/>
          <p:nvPr/>
        </p:nvSpPr>
        <p:spPr>
          <a:xfrm>
            <a:off x="1691640" y="2953512"/>
            <a:ext cx="70408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Primera Task Force de Constructabilidad del CII conduce 4 estudios fundamentales entre 1984 y 1987</a:t>
            </a:r>
            <a:endParaRPr lang="en-US" sz="1050" dirty="0"/>
          </a:p>
        </p:txBody>
      </p:sp>
      <p:sp>
        <p:nvSpPr>
          <p:cNvPr id="24" name="Shape 22"/>
          <p:cNvSpPr/>
          <p:nvPr/>
        </p:nvSpPr>
        <p:spPr>
          <a:xfrm>
            <a:off x="896112" y="3172968"/>
            <a:ext cx="36576" cy="128016"/>
          </a:xfrm>
          <a:prstGeom prst="rect">
            <a:avLst/>
          </a:prstGeom>
          <a:solidFill>
            <a:srgbClr val="3A3A3C"/>
          </a:solidFill>
          <a:ln/>
        </p:spPr>
      </p:sp>
      <p:sp>
        <p:nvSpPr>
          <p:cNvPr id="25" name="Shape 23"/>
          <p:cNvSpPr/>
          <p:nvPr/>
        </p:nvSpPr>
        <p:spPr>
          <a:xfrm>
            <a:off x="274320" y="3300984"/>
            <a:ext cx="1280160" cy="457200"/>
          </a:xfrm>
          <a:prstGeom prst="roundRect">
            <a:avLst>
              <a:gd name="adj" fmla="val 16000"/>
            </a:avLst>
          </a:prstGeom>
          <a:solidFill>
            <a:srgbClr val="0A84FF">
              <a:alpha val="20000"/>
            </a:srgbClr>
          </a:solidFill>
          <a:ln w="12700">
            <a:solidFill>
              <a:srgbClr val="0A84FF"/>
            </a:solidFill>
            <a:prstDash val="solid"/>
          </a:ln>
        </p:spPr>
      </p:sp>
      <p:sp>
        <p:nvSpPr>
          <p:cNvPr id="26" name="Text 24"/>
          <p:cNvSpPr txBox="1"/>
          <p:nvPr/>
        </p:nvSpPr>
        <p:spPr>
          <a:xfrm>
            <a:off x="274320" y="3300984"/>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1986</a:t>
            </a:r>
            <a:endParaRPr lang="en-US" sz="1300" dirty="0"/>
          </a:p>
        </p:txBody>
      </p:sp>
      <p:sp>
        <p:nvSpPr>
          <p:cNvPr id="27" name="Text 25"/>
          <p:cNvSpPr txBox="1"/>
          <p:nvPr/>
        </p:nvSpPr>
        <p:spPr>
          <a:xfrm>
            <a:off x="1691640" y="3337560"/>
            <a:ext cx="1645920" cy="20116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Publication 3-1</a:t>
            </a:r>
            <a:endParaRPr lang="en-US" sz="1200" dirty="0"/>
          </a:p>
        </p:txBody>
      </p:sp>
      <p:sp>
        <p:nvSpPr>
          <p:cNvPr id="28" name="Text 26"/>
          <p:cNvSpPr txBox="1"/>
          <p:nvPr/>
        </p:nvSpPr>
        <p:spPr>
          <a:xfrm>
            <a:off x="1691640" y="3538728"/>
            <a:ext cx="70408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CII publica "Constructability: A Primer" — el primer documento formal de marketing del concepto para ejecutivos</a:t>
            </a:r>
            <a:endParaRPr lang="en-US" sz="1050" dirty="0"/>
          </a:p>
        </p:txBody>
      </p:sp>
      <p:sp>
        <p:nvSpPr>
          <p:cNvPr id="29" name="Shape 27"/>
          <p:cNvSpPr/>
          <p:nvPr/>
        </p:nvSpPr>
        <p:spPr>
          <a:xfrm>
            <a:off x="896112" y="3758184"/>
            <a:ext cx="36576" cy="128016"/>
          </a:xfrm>
          <a:prstGeom prst="rect">
            <a:avLst/>
          </a:prstGeom>
          <a:solidFill>
            <a:srgbClr val="3A3A3C"/>
          </a:solidFill>
          <a:ln/>
        </p:spPr>
      </p:sp>
      <p:sp>
        <p:nvSpPr>
          <p:cNvPr id="30" name="Shape 28"/>
          <p:cNvSpPr/>
          <p:nvPr/>
        </p:nvSpPr>
        <p:spPr>
          <a:xfrm>
            <a:off x="274320" y="3886200"/>
            <a:ext cx="1280160" cy="457200"/>
          </a:xfrm>
          <a:prstGeom prst="roundRect">
            <a:avLst>
              <a:gd name="adj" fmla="val 16000"/>
            </a:avLst>
          </a:prstGeom>
          <a:solidFill>
            <a:srgbClr val="0A84FF">
              <a:alpha val="20000"/>
            </a:srgbClr>
          </a:solidFill>
          <a:ln w="12700">
            <a:solidFill>
              <a:srgbClr val="0A84FF"/>
            </a:solidFill>
            <a:prstDash val="solid"/>
          </a:ln>
        </p:spPr>
      </p:sp>
      <p:sp>
        <p:nvSpPr>
          <p:cNvPr id="31" name="Text 29"/>
          <p:cNvSpPr txBox="1"/>
          <p:nvPr/>
        </p:nvSpPr>
        <p:spPr>
          <a:xfrm>
            <a:off x="274320" y="388620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1993</a:t>
            </a:r>
            <a:endParaRPr lang="en-US" sz="1300" dirty="0"/>
          </a:p>
        </p:txBody>
      </p:sp>
      <p:sp>
        <p:nvSpPr>
          <p:cNvPr id="32" name="Text 30"/>
          <p:cNvSpPr txBox="1"/>
          <p:nvPr/>
        </p:nvSpPr>
        <p:spPr>
          <a:xfrm>
            <a:off x="1691640" y="3922776"/>
            <a:ext cx="1645920" cy="20116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3" name="Text 31"/>
          <p:cNvSpPr txBox="1"/>
          <p:nvPr/>
        </p:nvSpPr>
        <p:spPr>
          <a:xfrm>
            <a:off x="1691640" y="4123944"/>
            <a:ext cx="70408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CII publica la "Constructability Implementation Guide" con 19 herramientas de implementación</a:t>
            </a:r>
            <a:endParaRPr lang="en-US" sz="1050" dirty="0"/>
          </a:p>
        </p:txBody>
      </p:sp>
      <p:sp>
        <p:nvSpPr>
          <p:cNvPr id="34" name="Shape 32"/>
          <p:cNvSpPr/>
          <p:nvPr/>
        </p:nvSpPr>
        <p:spPr>
          <a:xfrm>
            <a:off x="896112" y="4343400"/>
            <a:ext cx="36576" cy="128016"/>
          </a:xfrm>
          <a:prstGeom prst="rect">
            <a:avLst/>
          </a:prstGeom>
          <a:solidFill>
            <a:srgbClr val="3A3A3C"/>
          </a:solidFill>
          <a:ln/>
        </p:spPr>
      </p:sp>
      <p:sp>
        <p:nvSpPr>
          <p:cNvPr id="35" name="Shape 33"/>
          <p:cNvSpPr/>
          <p:nvPr/>
        </p:nvSpPr>
        <p:spPr>
          <a:xfrm>
            <a:off x="274320" y="4471416"/>
            <a:ext cx="1280160" cy="457200"/>
          </a:xfrm>
          <a:prstGeom prst="roundRect">
            <a:avLst>
              <a:gd name="adj" fmla="val 16000"/>
            </a:avLst>
          </a:prstGeom>
          <a:solidFill>
            <a:srgbClr val="0A84FF">
              <a:alpha val="20000"/>
            </a:srgbClr>
          </a:solidFill>
          <a:ln w="12700">
            <a:solidFill>
              <a:srgbClr val="0A84FF"/>
            </a:solidFill>
            <a:prstDash val="solid"/>
          </a:ln>
        </p:spPr>
      </p:sp>
      <p:sp>
        <p:nvSpPr>
          <p:cNvPr id="36" name="Text 34"/>
          <p:cNvSpPr txBox="1"/>
          <p:nvPr/>
        </p:nvSpPr>
        <p:spPr>
          <a:xfrm>
            <a:off x="274320" y="447141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2006</a:t>
            </a:r>
            <a:endParaRPr lang="en-US" sz="1300" dirty="0"/>
          </a:p>
        </p:txBody>
      </p:sp>
      <p:sp>
        <p:nvSpPr>
          <p:cNvPr id="37" name="Text 35"/>
          <p:cNvSpPr txBox="1"/>
          <p:nvPr/>
        </p:nvSpPr>
        <p:spPr>
          <a:xfrm>
            <a:off x="1691640" y="4507992"/>
            <a:ext cx="1645920" cy="20116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2da Edición</a:t>
            </a:r>
            <a:endParaRPr lang="en-US" sz="1200" dirty="0"/>
          </a:p>
        </p:txBody>
      </p:sp>
      <p:sp>
        <p:nvSpPr>
          <p:cNvPr id="38" name="Text 36"/>
          <p:cNvSpPr txBox="1"/>
          <p:nvPr/>
        </p:nvSpPr>
        <p:spPr>
          <a:xfrm>
            <a:off x="1691640" y="4709160"/>
            <a:ext cx="70408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Segunda edición revisada del Implementation Guide incorpora 17 conceptos formales y nuevos casos de estudio</a:t>
            </a:r>
            <a:endParaRPr lang="en-US" sz="1050" dirty="0"/>
          </a:p>
        </p:txBody>
      </p:sp>
      <p:sp>
        <p:nvSpPr>
          <p:cNvPr id="39" name="Text 3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¿Por qué la Constructabilidad no ocurre naturalmente?</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500" dirty="0">
                <a:solidFill>
                  <a:srgbClr val="8E8E93"/>
                </a:solidFill>
                <a:latin typeface="Atkinson Hyperlegible" pitchFamily="34" charset="0"/>
                <a:ea typeface="Atkinson Hyperlegible" pitchFamily="34" charset="-122"/>
                <a:cs typeface="Atkinson Hyperlegible" pitchFamily="34" charset="-120"/>
              </a:rPr>
              <a:t>4 Causas Estructurales de la Separación D&amp;C</a:t>
            </a:r>
            <a:endParaRPr lang="en-US" sz="1500" dirty="0"/>
          </a:p>
        </p:txBody>
      </p:sp>
      <p:sp>
        <p:nvSpPr>
          <p:cNvPr id="6" name="Shape 4"/>
          <p:cNvSpPr/>
          <p:nvPr/>
        </p:nvSpPr>
        <p:spPr>
          <a:xfrm>
            <a:off x="457200" y="1325880"/>
            <a:ext cx="4114800" cy="1645920"/>
          </a:xfrm>
          <a:prstGeom prst="roundRect">
            <a:avLst>
              <a:gd name="adj" fmla="val 6667"/>
            </a:avLst>
          </a:prstGeom>
          <a:solidFill>
            <a:srgbClr val="2C2C2E"/>
          </a:solidFill>
          <a:ln w="12700">
            <a:solidFill>
              <a:srgbClr val="3A3A3C"/>
            </a:solidFill>
            <a:prstDash val="solid"/>
          </a:ln>
        </p:spPr>
      </p:sp>
      <p:sp>
        <p:nvSpPr>
          <p:cNvPr id="7" name="Text 5"/>
          <p:cNvSpPr txBox="1"/>
          <p:nvPr/>
        </p:nvSpPr>
        <p:spPr>
          <a:xfrm>
            <a:off x="640080" y="1417320"/>
            <a:ext cx="548640" cy="502920"/>
          </a:xfrm>
          <a:prstGeom prst="rect">
            <a:avLst/>
          </a:prstGeom>
          <a:noFill/>
          <a:ln/>
        </p:spPr>
        <p:txBody>
          <a:bodyPr wrap="square" lIns="0" tIns="0" rIns="0" bIns="0" rtlCol="0" anchor="ctr"/>
          <a:lstStyle/>
          <a:p>
            <a:pPr indent="0" marL="0">
              <a:buNone/>
            </a:pPr>
            <a:r>
              <a:rPr lang="en-US" sz="2800" b="1" dirty="0">
                <a:solidFill>
                  <a:srgbClr val="FF9500"/>
                </a:solidFill>
                <a:latin typeface="Atkinson Hyperlegible" pitchFamily="34" charset="0"/>
                <a:ea typeface="Atkinson Hyperlegible" pitchFamily="34" charset="-122"/>
                <a:cs typeface="Atkinson Hyperlegible" pitchFamily="34" charset="-120"/>
              </a:rPr>
              <a:t>01</a:t>
            </a:r>
            <a:endParaRPr lang="en-US" sz="2800" dirty="0"/>
          </a:p>
        </p:txBody>
      </p:sp>
      <p:sp>
        <p:nvSpPr>
          <p:cNvPr id="8" name="Text 6"/>
          <p:cNvSpPr txBox="1"/>
          <p:nvPr/>
        </p:nvSpPr>
        <p:spPr>
          <a:xfrm>
            <a:off x="1234440" y="1417320"/>
            <a:ext cx="3200400" cy="41148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Especialización extrema</a:t>
            </a:r>
            <a:endParaRPr lang="en-US" sz="1400" dirty="0"/>
          </a:p>
        </p:txBody>
      </p:sp>
      <p:sp>
        <p:nvSpPr>
          <p:cNvPr id="9" name="Text 7"/>
          <p:cNvSpPr txBox="1"/>
          <p:nvPr/>
        </p:nvSpPr>
        <p:spPr>
          <a:xfrm>
            <a:off x="640080" y="1920240"/>
            <a:ext cx="3749040" cy="960120"/>
          </a:xfrm>
          <a:prstGeom prst="rect">
            <a:avLst/>
          </a:prstGeom>
          <a:noFill/>
          <a:ln/>
        </p:spPr>
        <p:txBody>
          <a:bodyPr wrap="square" lIns="0" tIns="0" rIns="0" bIns="0" rtlCol="0" anchor="ctr"/>
          <a:lstStyle/>
          <a:p>
            <a:pPr indent="0" marL="0">
              <a:buNone/>
            </a:pPr>
            <a:r>
              <a:rPr lang="en-US" sz="1150" dirty="0">
                <a:solidFill>
                  <a:srgbClr val="8E8E93"/>
                </a:solidFill>
                <a:latin typeface="Atkinson Hyperlegible" pitchFamily="34" charset="0"/>
                <a:ea typeface="Atkinson Hyperlegible" pitchFamily="34" charset="-122"/>
                <a:cs typeface="Atkinson Hyperlegible" pitchFamily="34" charset="-120"/>
              </a:rPr>
              <a:t>Las organizaciones de proyecto están formadas por especialistas en "silos aislados" (stovepipes). Ingenieros, procuradores y constructores raramente colaboran en tiempo real.</a:t>
            </a:r>
            <a:endParaRPr lang="en-US" sz="1150" dirty="0"/>
          </a:p>
        </p:txBody>
      </p:sp>
      <p:sp>
        <p:nvSpPr>
          <p:cNvPr id="10" name="Shape 8"/>
          <p:cNvSpPr/>
          <p:nvPr/>
        </p:nvSpPr>
        <p:spPr>
          <a:xfrm>
            <a:off x="4800600" y="1325880"/>
            <a:ext cx="4114800" cy="1645920"/>
          </a:xfrm>
          <a:prstGeom prst="roundRect">
            <a:avLst>
              <a:gd name="adj" fmla="val 6667"/>
            </a:avLst>
          </a:prstGeom>
          <a:solidFill>
            <a:srgbClr val="2C2C2E"/>
          </a:solidFill>
          <a:ln w="12700">
            <a:solidFill>
              <a:srgbClr val="3A3A3C"/>
            </a:solidFill>
            <a:prstDash val="solid"/>
          </a:ln>
        </p:spPr>
      </p:sp>
      <p:sp>
        <p:nvSpPr>
          <p:cNvPr id="11" name="Text 9"/>
          <p:cNvSpPr txBox="1"/>
          <p:nvPr/>
        </p:nvSpPr>
        <p:spPr>
          <a:xfrm>
            <a:off x="4983480" y="1417320"/>
            <a:ext cx="548640" cy="502920"/>
          </a:xfrm>
          <a:prstGeom prst="rect">
            <a:avLst/>
          </a:prstGeom>
          <a:noFill/>
          <a:ln/>
        </p:spPr>
        <p:txBody>
          <a:bodyPr wrap="square" lIns="0" tIns="0" rIns="0" bIns="0" rtlCol="0" anchor="ctr"/>
          <a:lstStyle/>
          <a:p>
            <a:pPr indent="0" marL="0">
              <a:buNone/>
            </a:pPr>
            <a:r>
              <a:rPr lang="en-US" sz="2800" b="1" dirty="0">
                <a:solidFill>
                  <a:srgbClr val="FF453A"/>
                </a:solidFill>
                <a:latin typeface="Atkinson Hyperlegible" pitchFamily="34" charset="0"/>
                <a:ea typeface="Atkinson Hyperlegible" pitchFamily="34" charset="-122"/>
                <a:cs typeface="Atkinson Hyperlegible" pitchFamily="34" charset="-120"/>
              </a:rPr>
              <a:t>02</a:t>
            </a:r>
            <a:endParaRPr lang="en-US" sz="2800" dirty="0"/>
          </a:p>
        </p:txBody>
      </p:sp>
      <p:sp>
        <p:nvSpPr>
          <p:cNvPr id="12" name="Text 10"/>
          <p:cNvSpPr txBox="1"/>
          <p:nvPr/>
        </p:nvSpPr>
        <p:spPr>
          <a:xfrm>
            <a:off x="5577840" y="1417320"/>
            <a:ext cx="3200400" cy="41148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Retroalimentación negada</a:t>
            </a:r>
            <a:endParaRPr lang="en-US" sz="1400" dirty="0"/>
          </a:p>
        </p:txBody>
      </p:sp>
      <p:sp>
        <p:nvSpPr>
          <p:cNvPr id="13" name="Text 11"/>
          <p:cNvSpPr txBox="1"/>
          <p:nvPr/>
        </p:nvSpPr>
        <p:spPr>
          <a:xfrm>
            <a:off x="4983480" y="1920240"/>
            <a:ext cx="3749040" cy="960120"/>
          </a:xfrm>
          <a:prstGeom prst="rect">
            <a:avLst/>
          </a:prstGeom>
          <a:noFill/>
          <a:ln/>
        </p:spPr>
        <p:txBody>
          <a:bodyPr wrap="square" lIns="0" tIns="0" rIns="0" bIns="0" rtlCol="0" anchor="ctr"/>
          <a:lstStyle/>
          <a:p>
            <a:pPr indent="0" marL="0">
              <a:buNone/>
            </a:pPr>
            <a:r>
              <a:rPr lang="en-US" sz="1150" dirty="0">
                <a:solidFill>
                  <a:srgbClr val="8E8E93"/>
                </a:solidFill>
                <a:latin typeface="Atkinson Hyperlegible" pitchFamily="34" charset="0"/>
                <a:ea typeface="Atkinson Hyperlegible" pitchFamily="34" charset="-122"/>
                <a:cs typeface="Atkinson Hyperlegible" pitchFamily="34" charset="-120"/>
              </a:rPr>
              <a:t>La experiencia del campo raramente es capturada y llevada de vuelta a los equipos de diseño. No existen bases de datos sistemáticas de lecciones aprendidas.</a:t>
            </a:r>
            <a:endParaRPr lang="en-US" sz="1150" dirty="0"/>
          </a:p>
        </p:txBody>
      </p:sp>
      <p:sp>
        <p:nvSpPr>
          <p:cNvPr id="14" name="Shape 12"/>
          <p:cNvSpPr/>
          <p:nvPr/>
        </p:nvSpPr>
        <p:spPr>
          <a:xfrm>
            <a:off x="457200" y="3108960"/>
            <a:ext cx="4114800" cy="1645920"/>
          </a:xfrm>
          <a:prstGeom prst="roundRect">
            <a:avLst>
              <a:gd name="adj" fmla="val 6667"/>
            </a:avLst>
          </a:prstGeom>
          <a:solidFill>
            <a:srgbClr val="2C2C2E"/>
          </a:solidFill>
          <a:ln w="12700">
            <a:solidFill>
              <a:srgbClr val="3A3A3C"/>
            </a:solidFill>
            <a:prstDash val="solid"/>
          </a:ln>
        </p:spPr>
      </p:sp>
      <p:sp>
        <p:nvSpPr>
          <p:cNvPr id="15" name="Text 13"/>
          <p:cNvSpPr txBox="1"/>
          <p:nvPr/>
        </p:nvSpPr>
        <p:spPr>
          <a:xfrm>
            <a:off x="640080" y="3200400"/>
            <a:ext cx="548640" cy="502920"/>
          </a:xfrm>
          <a:prstGeom prst="rect">
            <a:avLst/>
          </a:prstGeom>
          <a:noFill/>
          <a:ln/>
        </p:spPr>
        <p:txBody>
          <a:bodyPr wrap="square" lIns="0" tIns="0" rIns="0" bIns="0" rtlCol="0" anchor="ctr"/>
          <a:lstStyle/>
          <a:p>
            <a:pPr indent="0" marL="0">
              <a:buNone/>
            </a:pPr>
            <a:r>
              <a:rPr lang="en-US" sz="2800" b="1" dirty="0">
                <a:solidFill>
                  <a:srgbClr val="FFD60A"/>
                </a:solidFill>
                <a:latin typeface="Atkinson Hyperlegible" pitchFamily="34" charset="0"/>
                <a:ea typeface="Atkinson Hyperlegible" pitchFamily="34" charset="-122"/>
                <a:cs typeface="Atkinson Hyperlegible" pitchFamily="34" charset="-120"/>
              </a:rPr>
              <a:t>03</a:t>
            </a:r>
            <a:endParaRPr lang="en-US" sz="2800" dirty="0"/>
          </a:p>
        </p:txBody>
      </p:sp>
      <p:sp>
        <p:nvSpPr>
          <p:cNvPr id="16" name="Text 14"/>
          <p:cNvSpPr txBox="1"/>
          <p:nvPr/>
        </p:nvSpPr>
        <p:spPr>
          <a:xfrm>
            <a:off x="1234440" y="3200400"/>
            <a:ext cx="3200400" cy="41148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Costo front-end mal entendido</a:t>
            </a:r>
            <a:endParaRPr lang="en-US" sz="1400" dirty="0"/>
          </a:p>
        </p:txBody>
      </p:sp>
      <p:sp>
        <p:nvSpPr>
          <p:cNvPr id="17" name="Text 15"/>
          <p:cNvSpPr txBox="1"/>
          <p:nvPr/>
        </p:nvSpPr>
        <p:spPr>
          <a:xfrm>
            <a:off x="640080" y="3703320"/>
            <a:ext cx="3749040" cy="960120"/>
          </a:xfrm>
          <a:prstGeom prst="rect">
            <a:avLst/>
          </a:prstGeom>
          <a:noFill/>
          <a:ln/>
        </p:spPr>
        <p:txBody>
          <a:bodyPr wrap="square" lIns="0" tIns="0" rIns="0" bIns="0" rtlCol="0" anchor="ctr"/>
          <a:lstStyle/>
          <a:p>
            <a:pPr indent="0" marL="0">
              <a:buNone/>
            </a:pPr>
            <a:r>
              <a:rPr lang="en-US" sz="1150" dirty="0">
                <a:solidFill>
                  <a:srgbClr val="8E8E93"/>
                </a:solidFill>
                <a:latin typeface="Atkinson Hyperlegible" pitchFamily="34" charset="0"/>
                <a:ea typeface="Atkinson Hyperlegible" pitchFamily="34" charset="-122"/>
                <a:cs typeface="Atkinson Hyperlegible" pitchFamily="34" charset="-120"/>
              </a:rPr>
              <a:t>Los propietarios perciben que la participación temprana de constructores incrementa el costo. En realidad, la inversión front-end genera retornos de 10:1 a 15:1.</a:t>
            </a:r>
            <a:endParaRPr lang="en-US" sz="1150" dirty="0"/>
          </a:p>
        </p:txBody>
      </p:sp>
      <p:sp>
        <p:nvSpPr>
          <p:cNvPr id="18" name="Shape 16"/>
          <p:cNvSpPr/>
          <p:nvPr/>
        </p:nvSpPr>
        <p:spPr>
          <a:xfrm>
            <a:off x="4800600" y="3108960"/>
            <a:ext cx="4114800" cy="1645920"/>
          </a:xfrm>
          <a:prstGeom prst="roundRect">
            <a:avLst>
              <a:gd name="adj" fmla="val 6667"/>
            </a:avLst>
          </a:prstGeom>
          <a:solidFill>
            <a:srgbClr val="2C2C2E"/>
          </a:solidFill>
          <a:ln w="12700">
            <a:solidFill>
              <a:srgbClr val="3A3A3C"/>
            </a:solidFill>
            <a:prstDash val="solid"/>
          </a:ln>
        </p:spPr>
      </p:sp>
      <p:sp>
        <p:nvSpPr>
          <p:cNvPr id="19" name="Text 17"/>
          <p:cNvSpPr txBox="1"/>
          <p:nvPr/>
        </p:nvSpPr>
        <p:spPr>
          <a:xfrm>
            <a:off x="4983480" y="3200400"/>
            <a:ext cx="548640" cy="502920"/>
          </a:xfrm>
          <a:prstGeom prst="rect">
            <a:avLst/>
          </a:prstGeom>
          <a:noFill/>
          <a:ln/>
        </p:spPr>
        <p:txBody>
          <a:bodyPr wrap="square" lIns="0" tIns="0" rIns="0" bIns="0" rtlCol="0" anchor="ctr"/>
          <a:lstStyle/>
          <a:p>
            <a:pPr indent="0" marL="0">
              <a:buNone/>
            </a:pPr>
            <a:r>
              <a:rPr lang="en-US" sz="2800" b="1" dirty="0">
                <a:solidFill>
                  <a:srgbClr val="AF52DE"/>
                </a:solidFill>
                <a:latin typeface="Atkinson Hyperlegible" pitchFamily="34" charset="0"/>
                <a:ea typeface="Atkinson Hyperlegible" pitchFamily="34" charset="-122"/>
                <a:cs typeface="Atkinson Hyperlegible" pitchFamily="34" charset="-120"/>
              </a:rPr>
              <a:t>04</a:t>
            </a:r>
            <a:endParaRPr lang="en-US" sz="2800" dirty="0"/>
          </a:p>
        </p:txBody>
      </p:sp>
      <p:sp>
        <p:nvSpPr>
          <p:cNvPr id="20" name="Text 18"/>
          <p:cNvSpPr txBox="1"/>
          <p:nvPr/>
        </p:nvSpPr>
        <p:spPr>
          <a:xfrm>
            <a:off x="5577840" y="3200400"/>
            <a:ext cx="3200400" cy="41148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Tecnología no aprovechada</a:t>
            </a:r>
            <a:endParaRPr lang="en-US" sz="1400" dirty="0"/>
          </a:p>
        </p:txBody>
      </p:sp>
      <p:sp>
        <p:nvSpPr>
          <p:cNvPr id="21" name="Text 19"/>
          <p:cNvSpPr txBox="1"/>
          <p:nvPr/>
        </p:nvSpPr>
        <p:spPr>
          <a:xfrm>
            <a:off x="4983480" y="3703320"/>
            <a:ext cx="3749040" cy="960120"/>
          </a:xfrm>
          <a:prstGeom prst="rect">
            <a:avLst/>
          </a:prstGeom>
          <a:noFill/>
          <a:ln/>
        </p:spPr>
        <p:txBody>
          <a:bodyPr wrap="square" lIns="0" tIns="0" rIns="0" bIns="0" rtlCol="0" anchor="ctr"/>
          <a:lstStyle/>
          <a:p>
            <a:pPr indent="0" marL="0">
              <a:buNone/>
            </a:pPr>
            <a:r>
              <a:rPr lang="en-US" sz="1150" dirty="0">
                <a:solidFill>
                  <a:srgbClr val="8E8E93"/>
                </a:solidFill>
                <a:latin typeface="Atkinson Hyperlegible" pitchFamily="34" charset="0"/>
                <a:ea typeface="Atkinson Hyperlegible" pitchFamily="34" charset="-122"/>
                <a:cs typeface="Atkinson Hyperlegible" pitchFamily="34" charset="-120"/>
              </a:rPr>
              <a:t>Las soluciones tecnológicas emergentes (BIM, 4D, GIS, simulación) no se usan sistemáticamente para evaluar constructabilidad en las fases tempranas.</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vs. Ingeniería de Valor (VE)</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2103120" cy="384048"/>
          </a:xfrm>
          <a:prstGeom prst="rect">
            <a:avLst/>
          </a:prstGeom>
          <a:solidFill>
            <a:srgbClr val="3A3A3C"/>
          </a:solidFill>
          <a:ln/>
        </p:spPr>
      </p:sp>
      <p:sp>
        <p:nvSpPr>
          <p:cNvPr id="6" name="Text 4"/>
          <p:cNvSpPr txBox="1"/>
          <p:nvPr/>
        </p:nvSpPr>
        <p:spPr>
          <a:xfrm>
            <a:off x="457200" y="960120"/>
            <a:ext cx="2011680" cy="38404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Dimensión</a:t>
            </a:r>
            <a:endParaRPr lang="en-US" sz="1300" dirty="0"/>
          </a:p>
        </p:txBody>
      </p:sp>
      <p:sp>
        <p:nvSpPr>
          <p:cNvPr id="7" name="Shape 5"/>
          <p:cNvSpPr/>
          <p:nvPr/>
        </p:nvSpPr>
        <p:spPr>
          <a:xfrm>
            <a:off x="2514600" y="960120"/>
            <a:ext cx="3017520" cy="384048"/>
          </a:xfrm>
          <a:prstGeom prst="rect">
            <a:avLst/>
          </a:prstGeom>
          <a:solidFill>
            <a:srgbClr val="30D158"/>
          </a:solidFill>
          <a:ln/>
        </p:spPr>
      </p:sp>
      <p:sp>
        <p:nvSpPr>
          <p:cNvPr id="8" name="Text 6"/>
          <p:cNvSpPr txBox="1"/>
          <p:nvPr/>
        </p:nvSpPr>
        <p:spPr>
          <a:xfrm>
            <a:off x="2606040" y="960120"/>
            <a:ext cx="2926080" cy="38404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1300" dirty="0"/>
          </a:p>
        </p:txBody>
      </p:sp>
      <p:sp>
        <p:nvSpPr>
          <p:cNvPr id="9" name="Shape 7"/>
          <p:cNvSpPr/>
          <p:nvPr/>
        </p:nvSpPr>
        <p:spPr>
          <a:xfrm>
            <a:off x="5577840" y="960120"/>
            <a:ext cx="3017520" cy="384048"/>
          </a:xfrm>
          <a:prstGeom prst="rect">
            <a:avLst/>
          </a:prstGeom>
          <a:solidFill>
            <a:srgbClr val="30D158"/>
          </a:solidFill>
          <a:ln/>
        </p:spPr>
      </p:sp>
      <p:sp>
        <p:nvSpPr>
          <p:cNvPr id="10" name="Text 8"/>
          <p:cNvSpPr txBox="1"/>
          <p:nvPr/>
        </p:nvSpPr>
        <p:spPr>
          <a:xfrm>
            <a:off x="5669280" y="960120"/>
            <a:ext cx="2926080" cy="38404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Ingeniería de Valor</a:t>
            </a:r>
            <a:endParaRPr lang="en-US" sz="1300" dirty="0"/>
          </a:p>
        </p:txBody>
      </p:sp>
      <p:sp>
        <p:nvSpPr>
          <p:cNvPr id="11" name="Shape 9"/>
          <p:cNvSpPr/>
          <p:nvPr/>
        </p:nvSpPr>
        <p:spPr>
          <a:xfrm>
            <a:off x="365760" y="1389888"/>
            <a:ext cx="2103120" cy="566928"/>
          </a:xfrm>
          <a:prstGeom prst="rect">
            <a:avLst/>
          </a:prstGeom>
          <a:solidFill>
            <a:srgbClr val="2C2C2E"/>
          </a:solidFill>
          <a:ln/>
        </p:spPr>
      </p:sp>
      <p:sp>
        <p:nvSpPr>
          <p:cNvPr id="12" name="Text 10"/>
          <p:cNvSpPr txBox="1"/>
          <p:nvPr/>
        </p:nvSpPr>
        <p:spPr>
          <a:xfrm>
            <a:off x="457200" y="142646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Enfoque principal</a:t>
            </a:r>
            <a:endParaRPr lang="en-US" sz="1100" dirty="0"/>
          </a:p>
        </p:txBody>
      </p:sp>
      <p:sp>
        <p:nvSpPr>
          <p:cNvPr id="13" name="Shape 11"/>
          <p:cNvSpPr/>
          <p:nvPr/>
        </p:nvSpPr>
        <p:spPr>
          <a:xfrm>
            <a:off x="2514600" y="1389888"/>
            <a:ext cx="3017520" cy="566928"/>
          </a:xfrm>
          <a:prstGeom prst="rect">
            <a:avLst/>
          </a:prstGeom>
          <a:solidFill>
            <a:srgbClr val="2C2C2E"/>
          </a:solidFill>
          <a:ln/>
        </p:spPr>
      </p:sp>
      <p:sp>
        <p:nvSpPr>
          <p:cNvPr id="14" name="Text 12"/>
          <p:cNvSpPr txBox="1"/>
          <p:nvPr/>
        </p:nvSpPr>
        <p:spPr>
          <a:xfrm>
            <a:off x="2606040" y="1426464"/>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Integrar conocimiento constructivo en el diseño</a:t>
            </a:r>
            <a:endParaRPr lang="en-US" sz="1100" dirty="0"/>
          </a:p>
        </p:txBody>
      </p:sp>
      <p:sp>
        <p:nvSpPr>
          <p:cNvPr id="15" name="Shape 13"/>
          <p:cNvSpPr/>
          <p:nvPr/>
        </p:nvSpPr>
        <p:spPr>
          <a:xfrm>
            <a:off x="5577840" y="1389888"/>
            <a:ext cx="3017520" cy="566928"/>
          </a:xfrm>
          <a:prstGeom prst="rect">
            <a:avLst/>
          </a:prstGeom>
          <a:solidFill>
            <a:srgbClr val="2C2C2E"/>
          </a:solidFill>
          <a:ln/>
        </p:spPr>
      </p:sp>
      <p:sp>
        <p:nvSpPr>
          <p:cNvPr id="16" name="Text 14"/>
          <p:cNvSpPr txBox="1"/>
          <p:nvPr/>
        </p:nvSpPr>
        <p:spPr>
          <a:xfrm>
            <a:off x="5669280" y="1426464"/>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Análisis funcional y ciclo de vida del activo</a:t>
            </a:r>
            <a:endParaRPr lang="en-US" sz="1100" dirty="0"/>
          </a:p>
        </p:txBody>
      </p:sp>
      <p:sp>
        <p:nvSpPr>
          <p:cNvPr id="17" name="Shape 15"/>
          <p:cNvSpPr/>
          <p:nvPr/>
        </p:nvSpPr>
        <p:spPr>
          <a:xfrm>
            <a:off x="365760" y="1975104"/>
            <a:ext cx="2103120" cy="566928"/>
          </a:xfrm>
          <a:prstGeom prst="rect">
            <a:avLst/>
          </a:prstGeom>
          <a:solidFill>
            <a:srgbClr val="1C1C1E"/>
          </a:solidFill>
          <a:ln/>
        </p:spPr>
      </p:sp>
      <p:sp>
        <p:nvSpPr>
          <p:cNvPr id="18" name="Text 16"/>
          <p:cNvSpPr txBox="1"/>
          <p:nvPr/>
        </p:nvSpPr>
        <p:spPr>
          <a:xfrm>
            <a:off x="457200" y="2011680"/>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Motor principal</a:t>
            </a:r>
            <a:endParaRPr lang="en-US" sz="1100" dirty="0"/>
          </a:p>
        </p:txBody>
      </p:sp>
      <p:sp>
        <p:nvSpPr>
          <p:cNvPr id="19" name="Shape 17"/>
          <p:cNvSpPr/>
          <p:nvPr/>
        </p:nvSpPr>
        <p:spPr>
          <a:xfrm>
            <a:off x="2514600" y="1975104"/>
            <a:ext cx="3017520" cy="566928"/>
          </a:xfrm>
          <a:prstGeom prst="rect">
            <a:avLst/>
          </a:prstGeom>
          <a:solidFill>
            <a:srgbClr val="1C1C1E"/>
          </a:solidFill>
          <a:ln/>
        </p:spPr>
      </p:sp>
      <p:sp>
        <p:nvSpPr>
          <p:cNvPr id="20" name="Text 18"/>
          <p:cNvSpPr txBox="1"/>
          <p:nvPr/>
        </p:nvSpPr>
        <p:spPr>
          <a:xfrm>
            <a:off x="2606040" y="2011680"/>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Experiencia de construcción actual</a:t>
            </a:r>
            <a:endParaRPr lang="en-US" sz="1100" dirty="0"/>
          </a:p>
        </p:txBody>
      </p:sp>
      <p:sp>
        <p:nvSpPr>
          <p:cNvPr id="21" name="Shape 19"/>
          <p:cNvSpPr/>
          <p:nvPr/>
        </p:nvSpPr>
        <p:spPr>
          <a:xfrm>
            <a:off x="5577840" y="1975104"/>
            <a:ext cx="3017520" cy="566928"/>
          </a:xfrm>
          <a:prstGeom prst="rect">
            <a:avLst/>
          </a:prstGeom>
          <a:solidFill>
            <a:srgbClr val="1C1C1E"/>
          </a:solidFill>
          <a:ln/>
        </p:spPr>
      </p:sp>
      <p:sp>
        <p:nvSpPr>
          <p:cNvPr id="22" name="Text 20"/>
          <p:cNvSpPr txBox="1"/>
          <p:nvPr/>
        </p:nvSpPr>
        <p:spPr>
          <a:xfrm>
            <a:off x="5669280" y="2011680"/>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Análisis funcional multidisciplinario</a:t>
            </a:r>
            <a:endParaRPr lang="en-US" sz="1100" dirty="0"/>
          </a:p>
        </p:txBody>
      </p:sp>
      <p:sp>
        <p:nvSpPr>
          <p:cNvPr id="23" name="Shape 21"/>
          <p:cNvSpPr/>
          <p:nvPr/>
        </p:nvSpPr>
        <p:spPr>
          <a:xfrm>
            <a:off x="365760" y="2560320"/>
            <a:ext cx="2103120" cy="566928"/>
          </a:xfrm>
          <a:prstGeom prst="rect">
            <a:avLst/>
          </a:prstGeom>
          <a:solidFill>
            <a:srgbClr val="2C2C2E"/>
          </a:solidFill>
          <a:ln/>
        </p:spPr>
      </p:sp>
      <p:sp>
        <p:nvSpPr>
          <p:cNvPr id="24" name="Text 22"/>
          <p:cNvSpPr txBox="1"/>
          <p:nvPr/>
        </p:nvSpPr>
        <p:spPr>
          <a:xfrm>
            <a:off x="457200" y="2596896"/>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Timing óptimo</a:t>
            </a:r>
            <a:endParaRPr lang="en-US" sz="1100" dirty="0"/>
          </a:p>
        </p:txBody>
      </p:sp>
      <p:sp>
        <p:nvSpPr>
          <p:cNvPr id="25" name="Shape 23"/>
          <p:cNvSpPr/>
          <p:nvPr/>
        </p:nvSpPr>
        <p:spPr>
          <a:xfrm>
            <a:off x="2514600" y="2560320"/>
            <a:ext cx="3017520" cy="566928"/>
          </a:xfrm>
          <a:prstGeom prst="rect">
            <a:avLst/>
          </a:prstGeom>
          <a:solidFill>
            <a:srgbClr val="2C2C2E"/>
          </a:solidFill>
          <a:ln/>
        </p:spPr>
      </p:sp>
      <p:sp>
        <p:nvSpPr>
          <p:cNvPr id="26" name="Text 24"/>
          <p:cNvSpPr txBox="1"/>
          <p:nvPr/>
        </p:nvSpPr>
        <p:spPr>
          <a:xfrm>
            <a:off x="2606040" y="2596896"/>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Desde factibilidad hasta inicio de obra</a:t>
            </a:r>
            <a:endParaRPr lang="en-US" sz="1100" dirty="0"/>
          </a:p>
        </p:txBody>
      </p:sp>
      <p:sp>
        <p:nvSpPr>
          <p:cNvPr id="27" name="Shape 25"/>
          <p:cNvSpPr/>
          <p:nvPr/>
        </p:nvSpPr>
        <p:spPr>
          <a:xfrm>
            <a:off x="5577840" y="2560320"/>
            <a:ext cx="3017520" cy="566928"/>
          </a:xfrm>
          <a:prstGeom prst="rect">
            <a:avLst/>
          </a:prstGeom>
          <a:solidFill>
            <a:srgbClr val="2C2C2E"/>
          </a:solidFill>
          <a:ln/>
        </p:spPr>
      </p:sp>
      <p:sp>
        <p:nvSpPr>
          <p:cNvPr id="28" name="Text 26"/>
          <p:cNvSpPr txBox="1"/>
          <p:nvPr/>
        </p:nvSpPr>
        <p:spPr>
          <a:xfrm>
            <a:off x="5669280" y="2596896"/>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Diseño conceptual y básico</a:t>
            </a:r>
            <a:endParaRPr lang="en-US" sz="1100" dirty="0"/>
          </a:p>
        </p:txBody>
      </p:sp>
      <p:sp>
        <p:nvSpPr>
          <p:cNvPr id="29" name="Shape 27"/>
          <p:cNvSpPr/>
          <p:nvPr/>
        </p:nvSpPr>
        <p:spPr>
          <a:xfrm>
            <a:off x="365760" y="3145536"/>
            <a:ext cx="2103120" cy="566928"/>
          </a:xfrm>
          <a:prstGeom prst="rect">
            <a:avLst/>
          </a:prstGeom>
          <a:solidFill>
            <a:srgbClr val="1C1C1E"/>
          </a:solidFill>
          <a:ln/>
        </p:spPr>
      </p:sp>
      <p:sp>
        <p:nvSpPr>
          <p:cNvPr id="30" name="Text 28"/>
          <p:cNvSpPr txBox="1"/>
          <p:nvPr/>
        </p:nvSpPr>
        <p:spPr>
          <a:xfrm>
            <a:off x="457200" y="3182112"/>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Quien lidera</a:t>
            </a:r>
            <a:endParaRPr lang="en-US" sz="1100" dirty="0"/>
          </a:p>
        </p:txBody>
      </p:sp>
      <p:sp>
        <p:nvSpPr>
          <p:cNvPr id="31" name="Shape 29"/>
          <p:cNvSpPr/>
          <p:nvPr/>
        </p:nvSpPr>
        <p:spPr>
          <a:xfrm>
            <a:off x="2514600" y="3145536"/>
            <a:ext cx="3017520" cy="566928"/>
          </a:xfrm>
          <a:prstGeom prst="rect">
            <a:avLst/>
          </a:prstGeom>
          <a:solidFill>
            <a:srgbClr val="1C1C1E"/>
          </a:solidFill>
          <a:ln/>
        </p:spPr>
      </p:sp>
      <p:sp>
        <p:nvSpPr>
          <p:cNvPr id="32" name="Text 30"/>
          <p:cNvSpPr txBox="1"/>
          <p:nvPr/>
        </p:nvSpPr>
        <p:spPr>
          <a:xfrm>
            <a:off x="2606040" y="3182112"/>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Propietario apoyado por constructores</a:t>
            </a:r>
            <a:endParaRPr lang="en-US" sz="1100" dirty="0"/>
          </a:p>
        </p:txBody>
      </p:sp>
      <p:sp>
        <p:nvSpPr>
          <p:cNvPr id="33" name="Shape 31"/>
          <p:cNvSpPr/>
          <p:nvPr/>
        </p:nvSpPr>
        <p:spPr>
          <a:xfrm>
            <a:off x="5577840" y="3145536"/>
            <a:ext cx="3017520" cy="566928"/>
          </a:xfrm>
          <a:prstGeom prst="rect">
            <a:avLst/>
          </a:prstGeom>
          <a:solidFill>
            <a:srgbClr val="1C1C1E"/>
          </a:solidFill>
          <a:ln/>
        </p:spPr>
      </p:sp>
      <p:sp>
        <p:nvSpPr>
          <p:cNvPr id="34" name="Text 32"/>
          <p:cNvSpPr txBox="1"/>
          <p:nvPr/>
        </p:nvSpPr>
        <p:spPr>
          <a:xfrm>
            <a:off x="5669280" y="3182112"/>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Facilitador externo especializado</a:t>
            </a:r>
            <a:endParaRPr lang="en-US" sz="1100" dirty="0"/>
          </a:p>
        </p:txBody>
      </p:sp>
      <p:sp>
        <p:nvSpPr>
          <p:cNvPr id="35" name="Shape 33"/>
          <p:cNvSpPr/>
          <p:nvPr/>
        </p:nvSpPr>
        <p:spPr>
          <a:xfrm>
            <a:off x="365760" y="3730752"/>
            <a:ext cx="2103120" cy="566928"/>
          </a:xfrm>
          <a:prstGeom prst="rect">
            <a:avLst/>
          </a:prstGeom>
          <a:solidFill>
            <a:srgbClr val="2C2C2E"/>
          </a:solidFill>
          <a:ln/>
        </p:spPr>
      </p:sp>
      <p:sp>
        <p:nvSpPr>
          <p:cNvPr id="36" name="Text 34"/>
          <p:cNvSpPr txBox="1"/>
          <p:nvPr/>
        </p:nvSpPr>
        <p:spPr>
          <a:xfrm>
            <a:off x="457200" y="3767328"/>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Resultado típico</a:t>
            </a:r>
            <a:endParaRPr lang="en-US" sz="1100" dirty="0"/>
          </a:p>
        </p:txBody>
      </p:sp>
      <p:sp>
        <p:nvSpPr>
          <p:cNvPr id="37" name="Shape 35"/>
          <p:cNvSpPr/>
          <p:nvPr/>
        </p:nvSpPr>
        <p:spPr>
          <a:xfrm>
            <a:off x="2514600" y="3730752"/>
            <a:ext cx="3017520" cy="566928"/>
          </a:xfrm>
          <a:prstGeom prst="rect">
            <a:avLst/>
          </a:prstGeom>
          <a:solidFill>
            <a:srgbClr val="2C2C2E"/>
          </a:solidFill>
          <a:ln/>
        </p:spPr>
      </p:sp>
      <p:sp>
        <p:nvSpPr>
          <p:cNvPr id="38" name="Text 36"/>
          <p:cNvSpPr txBox="1"/>
          <p:nvPr/>
        </p:nvSpPr>
        <p:spPr>
          <a:xfrm>
            <a:off x="2606040" y="3767328"/>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Diseño más "construible", menor labor</a:t>
            </a:r>
            <a:endParaRPr lang="en-US" sz="1100" dirty="0"/>
          </a:p>
        </p:txBody>
      </p:sp>
      <p:sp>
        <p:nvSpPr>
          <p:cNvPr id="39" name="Shape 37"/>
          <p:cNvSpPr/>
          <p:nvPr/>
        </p:nvSpPr>
        <p:spPr>
          <a:xfrm>
            <a:off x="5577840" y="3730752"/>
            <a:ext cx="3017520" cy="566928"/>
          </a:xfrm>
          <a:prstGeom prst="rect">
            <a:avLst/>
          </a:prstGeom>
          <a:solidFill>
            <a:srgbClr val="2C2C2E"/>
          </a:solidFill>
          <a:ln/>
        </p:spPr>
      </p:sp>
      <p:sp>
        <p:nvSpPr>
          <p:cNvPr id="40" name="Text 38"/>
          <p:cNvSpPr txBox="1"/>
          <p:nvPr/>
        </p:nvSpPr>
        <p:spPr>
          <a:xfrm>
            <a:off x="5669280" y="3767328"/>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Eliminación o cambio de funciones costosas</a:t>
            </a:r>
            <a:endParaRPr lang="en-US" sz="1100" dirty="0"/>
          </a:p>
        </p:txBody>
      </p:sp>
      <p:sp>
        <p:nvSpPr>
          <p:cNvPr id="41" name="Shape 39"/>
          <p:cNvSpPr/>
          <p:nvPr/>
        </p:nvSpPr>
        <p:spPr>
          <a:xfrm>
            <a:off x="365760" y="4315968"/>
            <a:ext cx="2103120" cy="566928"/>
          </a:xfrm>
          <a:prstGeom prst="rect">
            <a:avLst/>
          </a:prstGeom>
          <a:solidFill>
            <a:srgbClr val="1C1C1E"/>
          </a:solidFill>
          <a:ln/>
        </p:spPr>
      </p:sp>
      <p:sp>
        <p:nvSpPr>
          <p:cNvPr id="42" name="Text 40"/>
          <p:cNvSpPr txBox="1"/>
          <p:nvPr/>
        </p:nvSpPr>
        <p:spPr>
          <a:xfrm>
            <a:off x="457200" y="435254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Compatibilidad</a:t>
            </a:r>
            <a:endParaRPr lang="en-US" sz="1100" dirty="0"/>
          </a:p>
        </p:txBody>
      </p:sp>
      <p:sp>
        <p:nvSpPr>
          <p:cNvPr id="43" name="Shape 41"/>
          <p:cNvSpPr/>
          <p:nvPr/>
        </p:nvSpPr>
        <p:spPr>
          <a:xfrm>
            <a:off x="2514600" y="4315968"/>
            <a:ext cx="3017520" cy="566928"/>
          </a:xfrm>
          <a:prstGeom prst="rect">
            <a:avLst/>
          </a:prstGeom>
          <a:solidFill>
            <a:srgbClr val="1C1C1E"/>
          </a:solidFill>
          <a:ln/>
        </p:spPr>
      </p:sp>
      <p:sp>
        <p:nvSpPr>
          <p:cNvPr id="44" name="Text 42"/>
          <p:cNvSpPr txBox="1"/>
          <p:nvPr/>
        </p:nvSpPr>
        <p:spPr>
          <a:xfrm>
            <a:off x="2606040" y="4352544"/>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Complementa a la VE — no la reemplaza</a:t>
            </a:r>
            <a:endParaRPr lang="en-US" sz="1100" dirty="0"/>
          </a:p>
        </p:txBody>
      </p:sp>
      <p:sp>
        <p:nvSpPr>
          <p:cNvPr id="45" name="Shape 43"/>
          <p:cNvSpPr/>
          <p:nvPr/>
        </p:nvSpPr>
        <p:spPr>
          <a:xfrm>
            <a:off x="5577840" y="4315968"/>
            <a:ext cx="3017520" cy="566928"/>
          </a:xfrm>
          <a:prstGeom prst="rect">
            <a:avLst/>
          </a:prstGeom>
          <a:solidFill>
            <a:srgbClr val="1C1C1E"/>
          </a:solidFill>
          <a:ln/>
        </p:spPr>
      </p:sp>
      <p:sp>
        <p:nvSpPr>
          <p:cNvPr id="46" name="Text 44"/>
          <p:cNvSpPr txBox="1"/>
          <p:nvPr/>
        </p:nvSpPr>
        <p:spPr>
          <a:xfrm>
            <a:off x="5669280" y="4352544"/>
            <a:ext cx="2889504" cy="493776"/>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Puede coexistir con Constructabilidad</a:t>
            </a:r>
            <a:endParaRPr lang="en-US" sz="1100" dirty="0"/>
          </a:p>
        </p:txBody>
      </p:sp>
      <p:sp>
        <p:nvSpPr>
          <p:cNvPr id="47" name="Text 45"/>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FFD60A"/>
                </a:solidFill>
                <a:latin typeface="Atkinson Hyperlegible" pitchFamily="34" charset="0"/>
                <a:ea typeface="Atkinson Hyperlegible" pitchFamily="34" charset="-122"/>
                <a:cs typeface="Atkinson Hyperlegible" pitchFamily="34" charset="-120"/>
              </a:rPr>
              <a:t>⚠ Advertencia CII: Propietarios con programas VE activos creen que la Constructabilidad se obtiene automáticamente. Esto es improbable si no se involucra experiencia constructiva actual.</a:t>
            </a:r>
            <a:endParaRPr lang="en-US" sz="1000" dirty="0"/>
          </a:p>
        </p:txBody>
      </p:sp>
      <p:sp>
        <p:nvSpPr>
          <p:cNvPr id="48" name="Text 4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Contexto: Las "Abilities" del Proyecto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Constructabilidad es parte de un sistema de capacidades que garantizan el éxito del proyecto:</a:t>
            </a:r>
            <a:endParaRPr lang="en-US" sz="1400" dirty="0"/>
          </a:p>
        </p:txBody>
      </p:sp>
      <p:sp>
        <p:nvSpPr>
          <p:cNvPr id="6" name="Shape 4"/>
          <p:cNvSpPr/>
          <p:nvPr/>
        </p:nvSpPr>
        <p:spPr>
          <a:xfrm>
            <a:off x="457200" y="1280160"/>
            <a:ext cx="4114800" cy="822960"/>
          </a:xfrm>
          <a:prstGeom prst="roundRect">
            <a:avLst>
              <a:gd name="adj" fmla="val 11111"/>
            </a:avLst>
          </a:prstGeom>
          <a:solidFill>
            <a:srgbClr val="2C2C2E"/>
          </a:solidFill>
          <a:ln w="12700">
            <a:solidFill>
              <a:srgbClr val="0A84FF"/>
            </a:solidFill>
            <a:prstDash val="solid"/>
          </a:ln>
        </p:spPr>
      </p:sp>
      <p:sp>
        <p:nvSpPr>
          <p:cNvPr id="7" name="Shape 5"/>
          <p:cNvSpPr/>
          <p:nvPr/>
        </p:nvSpPr>
        <p:spPr>
          <a:xfrm>
            <a:off x="457200" y="1280160"/>
            <a:ext cx="73152" cy="822960"/>
          </a:xfrm>
          <a:prstGeom prst="roundRect">
            <a:avLst>
              <a:gd name="adj" fmla="val 50000"/>
            </a:avLst>
          </a:prstGeom>
          <a:solidFill>
            <a:srgbClr val="0A84FF"/>
          </a:solidFill>
          <a:ln/>
        </p:spPr>
      </p:sp>
      <p:sp>
        <p:nvSpPr>
          <p:cNvPr id="8" name="Text 6"/>
          <p:cNvSpPr txBox="1"/>
          <p:nvPr/>
        </p:nvSpPr>
        <p:spPr>
          <a:xfrm>
            <a:off x="658368" y="1353312"/>
            <a:ext cx="3657600" cy="320040"/>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Biddability</a:t>
            </a:r>
            <a:endParaRPr lang="en-US" sz="1400" dirty="0"/>
          </a:p>
        </p:txBody>
      </p:sp>
      <p:sp>
        <p:nvSpPr>
          <p:cNvPr id="9" name="Text 7"/>
          <p:cNvSpPr txBox="1"/>
          <p:nvPr/>
        </p:nvSpPr>
        <p:spPr>
          <a:xfrm>
            <a:off x="658368" y="1682496"/>
            <a:ext cx="3749040" cy="3200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Facilidad para licitar y cotizar el proyecto</a:t>
            </a:r>
            <a:endParaRPr lang="en-US" sz="1100" dirty="0"/>
          </a:p>
        </p:txBody>
      </p:sp>
      <p:sp>
        <p:nvSpPr>
          <p:cNvPr id="10" name="Shape 8"/>
          <p:cNvSpPr/>
          <p:nvPr/>
        </p:nvSpPr>
        <p:spPr>
          <a:xfrm>
            <a:off x="4800600" y="1280160"/>
            <a:ext cx="4114800" cy="822960"/>
          </a:xfrm>
          <a:prstGeom prst="roundRect">
            <a:avLst>
              <a:gd name="adj" fmla="val 11111"/>
            </a:avLst>
          </a:prstGeom>
          <a:solidFill>
            <a:srgbClr val="2C2C2E"/>
          </a:solidFill>
          <a:ln w="12700">
            <a:solidFill>
              <a:srgbClr val="30D158"/>
            </a:solidFill>
            <a:prstDash val="solid"/>
          </a:ln>
        </p:spPr>
      </p:sp>
      <p:sp>
        <p:nvSpPr>
          <p:cNvPr id="11" name="Shape 9"/>
          <p:cNvSpPr/>
          <p:nvPr/>
        </p:nvSpPr>
        <p:spPr>
          <a:xfrm>
            <a:off x="4800600" y="1280160"/>
            <a:ext cx="73152" cy="822960"/>
          </a:xfrm>
          <a:prstGeom prst="roundRect">
            <a:avLst>
              <a:gd name="adj" fmla="val 50000"/>
            </a:avLst>
          </a:prstGeom>
          <a:solidFill>
            <a:srgbClr val="30D158"/>
          </a:solidFill>
          <a:ln/>
        </p:spPr>
      </p:sp>
      <p:sp>
        <p:nvSpPr>
          <p:cNvPr id="12" name="Text 10"/>
          <p:cNvSpPr txBox="1"/>
          <p:nvPr/>
        </p:nvSpPr>
        <p:spPr>
          <a:xfrm>
            <a:off x="5001768" y="1353312"/>
            <a:ext cx="3657600" cy="320040"/>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Constructability</a:t>
            </a:r>
            <a:endParaRPr lang="en-US" sz="1400" dirty="0"/>
          </a:p>
        </p:txBody>
      </p:sp>
      <p:sp>
        <p:nvSpPr>
          <p:cNvPr id="13" name="Text 11"/>
          <p:cNvSpPr txBox="1"/>
          <p:nvPr/>
        </p:nvSpPr>
        <p:spPr>
          <a:xfrm>
            <a:off x="5001768" y="1682496"/>
            <a:ext cx="3749040" cy="3200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Facilidad para construir el proyecto eficientemente</a:t>
            </a:r>
            <a:endParaRPr lang="en-US" sz="1100" dirty="0"/>
          </a:p>
        </p:txBody>
      </p:sp>
      <p:sp>
        <p:nvSpPr>
          <p:cNvPr id="14" name="Shape 12"/>
          <p:cNvSpPr/>
          <p:nvPr/>
        </p:nvSpPr>
        <p:spPr>
          <a:xfrm>
            <a:off x="457200" y="2221992"/>
            <a:ext cx="4114800" cy="822960"/>
          </a:xfrm>
          <a:prstGeom prst="roundRect">
            <a:avLst>
              <a:gd name="adj" fmla="val 11111"/>
            </a:avLst>
          </a:prstGeom>
          <a:solidFill>
            <a:srgbClr val="2C2C2E"/>
          </a:solidFill>
          <a:ln w="12700">
            <a:solidFill>
              <a:srgbClr val="FF9500"/>
            </a:solidFill>
            <a:prstDash val="solid"/>
          </a:ln>
        </p:spPr>
      </p:sp>
      <p:sp>
        <p:nvSpPr>
          <p:cNvPr id="15" name="Shape 13"/>
          <p:cNvSpPr/>
          <p:nvPr/>
        </p:nvSpPr>
        <p:spPr>
          <a:xfrm>
            <a:off x="457200" y="2221992"/>
            <a:ext cx="73152" cy="822960"/>
          </a:xfrm>
          <a:prstGeom prst="roundRect">
            <a:avLst>
              <a:gd name="adj" fmla="val 50000"/>
            </a:avLst>
          </a:prstGeom>
          <a:solidFill>
            <a:srgbClr val="FF9500"/>
          </a:solidFill>
          <a:ln/>
        </p:spPr>
      </p:sp>
      <p:sp>
        <p:nvSpPr>
          <p:cNvPr id="16" name="Text 14"/>
          <p:cNvSpPr txBox="1"/>
          <p:nvPr/>
        </p:nvSpPr>
        <p:spPr>
          <a:xfrm>
            <a:off x="658368" y="2295144"/>
            <a:ext cx="3657600" cy="320040"/>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Procurability</a:t>
            </a:r>
            <a:endParaRPr lang="en-US" sz="1400" dirty="0"/>
          </a:p>
        </p:txBody>
      </p:sp>
      <p:sp>
        <p:nvSpPr>
          <p:cNvPr id="17" name="Text 15"/>
          <p:cNvSpPr txBox="1"/>
          <p:nvPr/>
        </p:nvSpPr>
        <p:spPr>
          <a:xfrm>
            <a:off x="658368" y="2624328"/>
            <a:ext cx="3749040" cy="3200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Facilidad para adquirir materiales y equipos</a:t>
            </a:r>
            <a:endParaRPr lang="en-US" sz="1100" dirty="0"/>
          </a:p>
        </p:txBody>
      </p:sp>
      <p:sp>
        <p:nvSpPr>
          <p:cNvPr id="18" name="Shape 16"/>
          <p:cNvSpPr/>
          <p:nvPr/>
        </p:nvSpPr>
        <p:spPr>
          <a:xfrm>
            <a:off x="4800600" y="2221992"/>
            <a:ext cx="4114800" cy="822960"/>
          </a:xfrm>
          <a:prstGeom prst="roundRect">
            <a:avLst>
              <a:gd name="adj" fmla="val 11111"/>
            </a:avLst>
          </a:prstGeom>
          <a:solidFill>
            <a:srgbClr val="2C2C2E"/>
          </a:solidFill>
          <a:ln w="12700">
            <a:solidFill>
              <a:srgbClr val="64D2FF"/>
            </a:solidFill>
            <a:prstDash val="solid"/>
          </a:ln>
        </p:spPr>
      </p:sp>
      <p:sp>
        <p:nvSpPr>
          <p:cNvPr id="19" name="Shape 17"/>
          <p:cNvSpPr/>
          <p:nvPr/>
        </p:nvSpPr>
        <p:spPr>
          <a:xfrm>
            <a:off x="4800600" y="2221992"/>
            <a:ext cx="73152" cy="822960"/>
          </a:xfrm>
          <a:prstGeom prst="roundRect">
            <a:avLst>
              <a:gd name="adj" fmla="val 50000"/>
            </a:avLst>
          </a:prstGeom>
          <a:solidFill>
            <a:srgbClr val="64D2FF"/>
          </a:solidFill>
          <a:ln/>
        </p:spPr>
      </p:sp>
      <p:sp>
        <p:nvSpPr>
          <p:cNvPr id="20" name="Text 18"/>
          <p:cNvSpPr txBox="1"/>
          <p:nvPr/>
        </p:nvSpPr>
        <p:spPr>
          <a:xfrm>
            <a:off x="5001768" y="2295144"/>
            <a:ext cx="3657600" cy="320040"/>
          </a:xfrm>
          <a:prstGeom prst="rect">
            <a:avLst/>
          </a:prstGeom>
          <a:noFill/>
          <a:ln/>
        </p:spPr>
        <p:txBody>
          <a:bodyPr wrap="square" lIns="0" tIns="0" rIns="0" bIns="0" rtlCol="0" anchor="ctr"/>
          <a:lstStyle/>
          <a:p>
            <a:pPr indent="0" marL="0">
              <a:buNone/>
            </a:pPr>
            <a:r>
              <a:rPr lang="en-US" sz="1400" b="1" dirty="0">
                <a:solidFill>
                  <a:srgbClr val="64D2FF"/>
                </a:solidFill>
                <a:latin typeface="Atkinson Hyperlegible" pitchFamily="34" charset="0"/>
                <a:ea typeface="Atkinson Hyperlegible" pitchFamily="34" charset="-122"/>
                <a:cs typeface="Atkinson Hyperlegible" pitchFamily="34" charset="-120"/>
              </a:rPr>
              <a:t>Operability</a:t>
            </a:r>
            <a:endParaRPr lang="en-US" sz="1400" dirty="0"/>
          </a:p>
        </p:txBody>
      </p:sp>
      <p:sp>
        <p:nvSpPr>
          <p:cNvPr id="21" name="Text 19"/>
          <p:cNvSpPr txBox="1"/>
          <p:nvPr/>
        </p:nvSpPr>
        <p:spPr>
          <a:xfrm>
            <a:off x="5001768" y="2624328"/>
            <a:ext cx="3749040" cy="3200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Facilidad para operar el activo terminado</a:t>
            </a:r>
            <a:endParaRPr lang="en-US" sz="1100" dirty="0"/>
          </a:p>
        </p:txBody>
      </p:sp>
      <p:sp>
        <p:nvSpPr>
          <p:cNvPr id="22" name="Shape 20"/>
          <p:cNvSpPr/>
          <p:nvPr/>
        </p:nvSpPr>
        <p:spPr>
          <a:xfrm>
            <a:off x="457200" y="3163824"/>
            <a:ext cx="4114800" cy="822960"/>
          </a:xfrm>
          <a:prstGeom prst="roundRect">
            <a:avLst>
              <a:gd name="adj" fmla="val 11111"/>
            </a:avLst>
          </a:prstGeom>
          <a:solidFill>
            <a:srgbClr val="2C2C2E"/>
          </a:solidFill>
          <a:ln w="12700">
            <a:solidFill>
              <a:srgbClr val="AF52DE"/>
            </a:solidFill>
            <a:prstDash val="solid"/>
          </a:ln>
        </p:spPr>
      </p:sp>
      <p:sp>
        <p:nvSpPr>
          <p:cNvPr id="23" name="Shape 21"/>
          <p:cNvSpPr/>
          <p:nvPr/>
        </p:nvSpPr>
        <p:spPr>
          <a:xfrm>
            <a:off x="457200" y="3163824"/>
            <a:ext cx="73152" cy="822960"/>
          </a:xfrm>
          <a:prstGeom prst="roundRect">
            <a:avLst>
              <a:gd name="adj" fmla="val 50000"/>
            </a:avLst>
          </a:prstGeom>
          <a:solidFill>
            <a:srgbClr val="AF52DE"/>
          </a:solidFill>
          <a:ln/>
        </p:spPr>
      </p:sp>
      <p:sp>
        <p:nvSpPr>
          <p:cNvPr id="24" name="Text 22"/>
          <p:cNvSpPr txBox="1"/>
          <p:nvPr/>
        </p:nvSpPr>
        <p:spPr>
          <a:xfrm>
            <a:off x="658368" y="3236976"/>
            <a:ext cx="3657600" cy="320040"/>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Maintainability</a:t>
            </a:r>
            <a:endParaRPr lang="en-US" sz="1400" dirty="0"/>
          </a:p>
        </p:txBody>
      </p:sp>
      <p:sp>
        <p:nvSpPr>
          <p:cNvPr id="25" name="Text 23"/>
          <p:cNvSpPr txBox="1"/>
          <p:nvPr/>
        </p:nvSpPr>
        <p:spPr>
          <a:xfrm>
            <a:off x="658368" y="3566160"/>
            <a:ext cx="3749040" cy="3200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Facilidad para mantener el activo a lo largo del tiempo</a:t>
            </a:r>
            <a:endParaRPr lang="en-US" sz="1100" dirty="0"/>
          </a:p>
        </p:txBody>
      </p:sp>
      <p:sp>
        <p:nvSpPr>
          <p:cNvPr id="26" name="Shape 24"/>
          <p:cNvSpPr/>
          <p:nvPr/>
        </p:nvSpPr>
        <p:spPr>
          <a:xfrm>
            <a:off x="4800600" y="3163824"/>
            <a:ext cx="4114800" cy="822960"/>
          </a:xfrm>
          <a:prstGeom prst="roundRect">
            <a:avLst>
              <a:gd name="adj" fmla="val 11111"/>
            </a:avLst>
          </a:prstGeom>
          <a:solidFill>
            <a:srgbClr val="2C2C2E"/>
          </a:solidFill>
          <a:ln w="12700">
            <a:solidFill>
              <a:srgbClr val="FFD60A"/>
            </a:solidFill>
            <a:prstDash val="solid"/>
          </a:ln>
        </p:spPr>
      </p:sp>
      <p:sp>
        <p:nvSpPr>
          <p:cNvPr id="27" name="Shape 25"/>
          <p:cNvSpPr/>
          <p:nvPr/>
        </p:nvSpPr>
        <p:spPr>
          <a:xfrm>
            <a:off x="4800600" y="3163824"/>
            <a:ext cx="73152" cy="822960"/>
          </a:xfrm>
          <a:prstGeom prst="roundRect">
            <a:avLst>
              <a:gd name="adj" fmla="val 50000"/>
            </a:avLst>
          </a:prstGeom>
          <a:solidFill>
            <a:srgbClr val="FFD60A"/>
          </a:solidFill>
          <a:ln/>
        </p:spPr>
      </p:sp>
      <p:sp>
        <p:nvSpPr>
          <p:cNvPr id="28" name="Text 26"/>
          <p:cNvSpPr txBox="1"/>
          <p:nvPr/>
        </p:nvSpPr>
        <p:spPr>
          <a:xfrm>
            <a:off x="5001768" y="3236976"/>
            <a:ext cx="3657600" cy="320040"/>
          </a:xfrm>
          <a:prstGeom prst="rect">
            <a:avLst/>
          </a:prstGeom>
          <a:noFill/>
          <a:ln/>
        </p:spPr>
        <p:txBody>
          <a:bodyPr wrap="square" lIns="0" tIns="0" rIns="0" bIns="0" rtlCol="0" anchor="ctr"/>
          <a:lstStyle/>
          <a:p>
            <a:pPr indent="0" marL="0">
              <a:buNone/>
            </a:pPr>
            <a:r>
              <a:rPr lang="en-US" sz="1400" b="1" dirty="0">
                <a:solidFill>
                  <a:srgbClr val="FFD60A"/>
                </a:solidFill>
                <a:latin typeface="Atkinson Hyperlegible" pitchFamily="34" charset="0"/>
                <a:ea typeface="Atkinson Hyperlegible" pitchFamily="34" charset="-122"/>
                <a:cs typeface="Atkinson Hyperlegible" pitchFamily="34" charset="-120"/>
              </a:rPr>
              <a:t>Expandability</a:t>
            </a:r>
            <a:endParaRPr lang="en-US" sz="1400" dirty="0"/>
          </a:p>
        </p:txBody>
      </p:sp>
      <p:sp>
        <p:nvSpPr>
          <p:cNvPr id="29" name="Text 27"/>
          <p:cNvSpPr txBox="1"/>
          <p:nvPr/>
        </p:nvSpPr>
        <p:spPr>
          <a:xfrm>
            <a:off x="5001768" y="3566160"/>
            <a:ext cx="3749040" cy="3200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Facilidad para expandir o modificar el activo</a:t>
            </a:r>
            <a:endParaRPr lang="en-US" sz="1100" dirty="0"/>
          </a:p>
        </p:txBody>
      </p:sp>
      <p:sp>
        <p:nvSpPr>
          <p:cNvPr id="30" name="Shape 28"/>
          <p:cNvSpPr/>
          <p:nvPr/>
        </p:nvSpPr>
        <p:spPr>
          <a:xfrm>
            <a:off x="457200" y="4114800"/>
            <a:ext cx="8229600" cy="777240"/>
          </a:xfrm>
          <a:prstGeom prst="roundRect">
            <a:avLst>
              <a:gd name="adj" fmla="val 11765"/>
            </a:avLst>
          </a:prstGeom>
          <a:solidFill>
            <a:srgbClr val="2C2C2E"/>
          </a:solidFill>
          <a:ln w="12700">
            <a:solidFill>
              <a:srgbClr val="FF453A"/>
            </a:solidFill>
            <a:prstDash val="solid"/>
          </a:ln>
        </p:spPr>
      </p:sp>
      <p:sp>
        <p:nvSpPr>
          <p:cNvPr id="31" name="Text 29"/>
          <p:cNvSpPr txBox="1"/>
          <p:nvPr/>
        </p:nvSpPr>
        <p:spPr>
          <a:xfrm>
            <a:off x="640080" y="4187952"/>
            <a:ext cx="2286000" cy="365760"/>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Sustainability</a:t>
            </a:r>
            <a:endParaRPr lang="en-US" sz="1400" dirty="0"/>
          </a:p>
        </p:txBody>
      </p:sp>
      <p:sp>
        <p:nvSpPr>
          <p:cNvPr id="32" name="Text 30"/>
          <p:cNvSpPr txBox="1"/>
          <p:nvPr/>
        </p:nvSpPr>
        <p:spPr>
          <a:xfrm>
            <a:off x="640080" y="4572000"/>
            <a:ext cx="7772400" cy="256032"/>
          </a:xfrm>
          <a:prstGeom prst="rect">
            <a:avLst/>
          </a:prstGeom>
          <a:noFill/>
          <a:ln/>
        </p:spPr>
        <p:txBody>
          <a:bodyPr wrap="square" lIns="0" tIns="0" rIns="0" bIns="0" rtlCol="0" anchor="ctr"/>
          <a:lstStyle/>
          <a:p>
            <a:pPr indent="0" marL="0">
              <a:buNone/>
            </a:pPr>
            <a:r>
              <a:rPr lang="en-US" sz="1150" dirty="0">
                <a:solidFill>
                  <a:srgbClr val="8E8E93"/>
                </a:solidFill>
                <a:latin typeface="Atkinson Hyperlegible" pitchFamily="34" charset="0"/>
                <a:ea typeface="Atkinson Hyperlegible" pitchFamily="34" charset="-122"/>
                <a:cs typeface="Atkinson Hyperlegible" pitchFamily="34" charset="-120"/>
              </a:rPr>
              <a:t>Facilidad para salvaguardar o demoler al final de vida útil</a:t>
            </a:r>
            <a:endParaRPr lang="en-US" sz="1150" dirty="0"/>
          </a:p>
        </p:txBody>
      </p:sp>
      <p:sp>
        <p:nvSpPr>
          <p:cNvPr id="33" name="Text 3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Beneficios Documentados de la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1005840"/>
            <a:ext cx="1920240" cy="1737360"/>
          </a:xfrm>
          <a:prstGeom prst="roundRect">
            <a:avLst>
              <a:gd name="adj" fmla="val 6316"/>
            </a:avLst>
          </a:prstGeom>
          <a:solidFill>
            <a:srgbClr val="2C2C2E"/>
          </a:solidFill>
          <a:ln w="25400">
            <a:solidFill>
              <a:srgbClr val="30D158"/>
            </a:solidFill>
            <a:prstDash val="solid"/>
          </a:ln>
        </p:spPr>
      </p:sp>
      <p:sp>
        <p:nvSpPr>
          <p:cNvPr id="6" name="Text 4"/>
          <p:cNvSpPr txBox="1"/>
          <p:nvPr/>
        </p:nvSpPr>
        <p:spPr>
          <a:xfrm>
            <a:off x="365760" y="1170432"/>
            <a:ext cx="1920240" cy="955548"/>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6–23%</a:t>
            </a:r>
            <a:endParaRPr lang="en-US" sz="4800" dirty="0"/>
          </a:p>
        </p:txBody>
      </p:sp>
      <p:sp>
        <p:nvSpPr>
          <p:cNvPr id="7" name="Text 5"/>
          <p:cNvSpPr txBox="1"/>
          <p:nvPr/>
        </p:nvSpPr>
        <p:spPr>
          <a:xfrm>
            <a:off x="457200" y="2135124"/>
            <a:ext cx="1737360" cy="555955"/>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Reducción en costo total</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instalado del proyecto</a:t>
            </a:r>
            <a:endParaRPr lang="en-US" sz="1200" dirty="0"/>
          </a:p>
        </p:txBody>
      </p:sp>
      <p:sp>
        <p:nvSpPr>
          <p:cNvPr id="8" name="Shape 6"/>
          <p:cNvSpPr/>
          <p:nvPr/>
        </p:nvSpPr>
        <p:spPr>
          <a:xfrm>
            <a:off x="2468880" y="1005840"/>
            <a:ext cx="1920240" cy="1737360"/>
          </a:xfrm>
          <a:prstGeom prst="roundRect">
            <a:avLst>
              <a:gd name="adj" fmla="val 6316"/>
            </a:avLst>
          </a:prstGeom>
          <a:solidFill>
            <a:srgbClr val="2C2C2E"/>
          </a:solidFill>
          <a:ln w="25400">
            <a:solidFill>
              <a:srgbClr val="0A84FF"/>
            </a:solidFill>
            <a:prstDash val="solid"/>
          </a:ln>
        </p:spPr>
      </p:sp>
      <p:sp>
        <p:nvSpPr>
          <p:cNvPr id="9" name="Text 7"/>
          <p:cNvSpPr txBox="1"/>
          <p:nvPr/>
        </p:nvSpPr>
        <p:spPr>
          <a:xfrm>
            <a:off x="2468880" y="1170432"/>
            <a:ext cx="1920240" cy="955548"/>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7.5%</a:t>
            </a:r>
            <a:endParaRPr lang="en-US" sz="4800" dirty="0"/>
          </a:p>
        </p:txBody>
      </p:sp>
      <p:sp>
        <p:nvSpPr>
          <p:cNvPr id="10" name="Text 8"/>
          <p:cNvSpPr txBox="1"/>
          <p:nvPr/>
        </p:nvSpPr>
        <p:spPr>
          <a:xfrm>
            <a:off x="2560320" y="2135124"/>
            <a:ext cx="1737360" cy="555955"/>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Reducción promedio</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en duración del proyecto</a:t>
            </a:r>
            <a:endParaRPr lang="en-US" sz="1200" dirty="0"/>
          </a:p>
        </p:txBody>
      </p:sp>
      <p:sp>
        <p:nvSpPr>
          <p:cNvPr id="11" name="Shape 9"/>
          <p:cNvSpPr/>
          <p:nvPr/>
        </p:nvSpPr>
        <p:spPr>
          <a:xfrm>
            <a:off x="4572000" y="1005840"/>
            <a:ext cx="1920240" cy="1737360"/>
          </a:xfrm>
          <a:prstGeom prst="roundRect">
            <a:avLst>
              <a:gd name="adj" fmla="val 6316"/>
            </a:avLst>
          </a:prstGeom>
          <a:solidFill>
            <a:srgbClr val="2C2C2E"/>
          </a:solidFill>
          <a:ln w="25400">
            <a:solidFill>
              <a:srgbClr val="FF9500"/>
            </a:solidFill>
            <a:prstDash val="solid"/>
          </a:ln>
        </p:spPr>
      </p:sp>
      <p:sp>
        <p:nvSpPr>
          <p:cNvPr id="12" name="Text 10"/>
          <p:cNvSpPr txBox="1"/>
          <p:nvPr/>
        </p:nvSpPr>
        <p:spPr>
          <a:xfrm>
            <a:off x="4572000" y="1170432"/>
            <a:ext cx="1920240" cy="955548"/>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10:1</a:t>
            </a:r>
            <a:endParaRPr lang="en-US" sz="4800" dirty="0"/>
          </a:p>
        </p:txBody>
      </p:sp>
      <p:sp>
        <p:nvSpPr>
          <p:cNvPr id="13" name="Text 11"/>
          <p:cNvSpPr txBox="1"/>
          <p:nvPr/>
        </p:nvSpPr>
        <p:spPr>
          <a:xfrm>
            <a:off x="4663440" y="2135124"/>
            <a:ext cx="1737360" cy="555955"/>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Relación</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beneficio / costo típica</a:t>
            </a:r>
            <a:endParaRPr lang="en-US" sz="1200" dirty="0"/>
          </a:p>
        </p:txBody>
      </p:sp>
      <p:sp>
        <p:nvSpPr>
          <p:cNvPr id="14" name="Shape 12"/>
          <p:cNvSpPr/>
          <p:nvPr/>
        </p:nvSpPr>
        <p:spPr>
          <a:xfrm>
            <a:off x="6675120" y="1005840"/>
            <a:ext cx="1920240" cy="1737360"/>
          </a:xfrm>
          <a:prstGeom prst="roundRect">
            <a:avLst>
              <a:gd name="adj" fmla="val 6316"/>
            </a:avLst>
          </a:prstGeom>
          <a:solidFill>
            <a:srgbClr val="2C2C2E"/>
          </a:solidFill>
          <a:ln w="25400">
            <a:solidFill>
              <a:srgbClr val="AF52DE"/>
            </a:solidFill>
            <a:prstDash val="solid"/>
          </a:ln>
        </p:spPr>
      </p:sp>
      <p:sp>
        <p:nvSpPr>
          <p:cNvPr id="15" name="Text 13"/>
          <p:cNvSpPr txBox="1"/>
          <p:nvPr/>
        </p:nvSpPr>
        <p:spPr>
          <a:xfrm>
            <a:off x="6675120" y="1170432"/>
            <a:ext cx="1920240" cy="955548"/>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15:1</a:t>
            </a:r>
            <a:endParaRPr lang="en-US" sz="4800" dirty="0"/>
          </a:p>
        </p:txBody>
      </p:sp>
      <p:sp>
        <p:nvSpPr>
          <p:cNvPr id="16" name="Text 14"/>
          <p:cNvSpPr txBox="1"/>
          <p:nvPr/>
        </p:nvSpPr>
        <p:spPr>
          <a:xfrm>
            <a:off x="6766560" y="2135124"/>
            <a:ext cx="1737360" cy="555955"/>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Relación B/C máxima</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documentada por CII</a:t>
            </a:r>
            <a:endParaRPr lang="en-US" sz="1200" dirty="0"/>
          </a:p>
        </p:txBody>
      </p:sp>
      <p:sp>
        <p:nvSpPr>
          <p:cNvPr id="17" name="Text 15"/>
          <p:cNvSpPr txBox="1"/>
          <p:nvPr/>
        </p:nvSpPr>
        <p:spPr>
          <a:xfrm>
            <a:off x="365760" y="2880360"/>
            <a:ext cx="8412480" cy="320040"/>
          </a:xfrm>
          <a:prstGeom prst="rect">
            <a:avLst/>
          </a:prstGeom>
          <a:noFill/>
          <a:ln/>
        </p:spPr>
        <p:txBody>
          <a:bodyPr wrap="square" lIns="0" tIns="0" rIns="0" bIns="0" rtlCol="0" anchor="ctr"/>
          <a:lstStyle/>
          <a:p>
            <a:pP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Condiciones para Maximizar Beneficios</a:t>
            </a:r>
            <a:endParaRPr lang="en-US" sz="1600" dirty="0"/>
          </a:p>
        </p:txBody>
      </p:sp>
      <p:sp>
        <p:nvSpPr>
          <p:cNvPr id="18" name="Shape 16"/>
          <p:cNvSpPr/>
          <p:nvPr/>
        </p:nvSpPr>
        <p:spPr>
          <a:xfrm>
            <a:off x="365760" y="3291840"/>
            <a:ext cx="8412480" cy="347472"/>
          </a:xfrm>
          <a:prstGeom prst="roundRect">
            <a:avLst>
              <a:gd name="adj" fmla="val 21053"/>
            </a:avLst>
          </a:prstGeom>
          <a:solidFill>
            <a:srgbClr val="2C2C2E"/>
          </a:solidFill>
          <a:ln w="12700">
            <a:solidFill>
              <a:srgbClr val="3A3A3C"/>
            </a:solidFill>
            <a:prstDash val="solid"/>
          </a:ln>
        </p:spPr>
      </p:sp>
      <p:sp>
        <p:nvSpPr>
          <p:cNvPr id="19" name="Text 17"/>
          <p:cNvSpPr txBox="1"/>
          <p:nvPr/>
        </p:nvSpPr>
        <p:spPr>
          <a:xfrm>
            <a:off x="548640" y="3328416"/>
            <a:ext cx="8046720" cy="274320"/>
          </a:xfrm>
          <a:prstGeom prst="rect">
            <a:avLst/>
          </a:prstGeom>
          <a:noFill/>
          <a:ln/>
        </p:spPr>
        <p:txBody>
          <a:bodyPr wrap="square" lIns="0" tIns="0" rIns="0" bIns="0" rtlCol="0" anchor="ctr"/>
          <a:lstStyle/>
          <a:p>
            <a:pPr indent="0" marL="0">
              <a:buNone/>
            </a:pPr>
            <a:r>
              <a:rPr lang="en-US" sz="1250" dirty="0">
                <a:solidFill>
                  <a:srgbClr val="FFFFFF"/>
                </a:solidFill>
                <a:latin typeface="Atkinson Hyperlegible" pitchFamily="34" charset="0"/>
                <a:ea typeface="Atkinson Hyperlegible" pitchFamily="34" charset="-122"/>
                <a:cs typeface="Atkinson Hyperlegible" pitchFamily="34" charset="-120"/>
              </a:rPr>
              <a:t>✓  El propietario y el contratista están comprometidos con la efectividad de costo de TODO el proyecto</a:t>
            </a:r>
            <a:endParaRPr lang="en-US" sz="1250" dirty="0"/>
          </a:p>
        </p:txBody>
      </p:sp>
      <p:sp>
        <p:nvSpPr>
          <p:cNvPr id="20" name="Shape 18"/>
          <p:cNvSpPr/>
          <p:nvPr/>
        </p:nvSpPr>
        <p:spPr>
          <a:xfrm>
            <a:off x="365760" y="3703320"/>
            <a:ext cx="8412480" cy="347472"/>
          </a:xfrm>
          <a:prstGeom prst="roundRect">
            <a:avLst>
              <a:gd name="adj" fmla="val 21053"/>
            </a:avLst>
          </a:prstGeom>
          <a:solidFill>
            <a:srgbClr val="2C2C2E"/>
          </a:solidFill>
          <a:ln w="12700">
            <a:solidFill>
              <a:srgbClr val="3A3A3C"/>
            </a:solidFill>
            <a:prstDash val="solid"/>
          </a:ln>
        </p:spPr>
      </p:sp>
      <p:sp>
        <p:nvSpPr>
          <p:cNvPr id="21" name="Text 19"/>
          <p:cNvSpPr txBox="1"/>
          <p:nvPr/>
        </p:nvSpPr>
        <p:spPr>
          <a:xfrm>
            <a:off x="548640" y="3739896"/>
            <a:ext cx="8046720" cy="274320"/>
          </a:xfrm>
          <a:prstGeom prst="rect">
            <a:avLst/>
          </a:prstGeom>
          <a:noFill/>
          <a:ln/>
        </p:spPr>
        <p:txBody>
          <a:bodyPr wrap="square" lIns="0" tIns="0" rIns="0" bIns="0" rtlCol="0" anchor="ctr"/>
          <a:lstStyle/>
          <a:p>
            <a:pPr indent="0" marL="0">
              <a:buNone/>
            </a:pPr>
            <a:r>
              <a:rPr lang="en-US" sz="1250" dirty="0">
                <a:solidFill>
                  <a:srgbClr val="FFFFFF"/>
                </a:solidFill>
                <a:latin typeface="Atkinson Hyperlegible" pitchFamily="34" charset="0"/>
                <a:ea typeface="Atkinson Hyperlegible" pitchFamily="34" charset="-122"/>
                <a:cs typeface="Atkinson Hyperlegible" pitchFamily="34" charset="-120"/>
              </a:rPr>
              <a:t>✓  La constructabilidad se usa como herramienta principal para cumplir objetivos de costo y cronograma</a:t>
            </a:r>
            <a:endParaRPr lang="en-US" sz="1250" dirty="0"/>
          </a:p>
        </p:txBody>
      </p:sp>
      <p:sp>
        <p:nvSpPr>
          <p:cNvPr id="22" name="Shape 20"/>
          <p:cNvSpPr/>
          <p:nvPr/>
        </p:nvSpPr>
        <p:spPr>
          <a:xfrm>
            <a:off x="365760" y="4114800"/>
            <a:ext cx="8412480" cy="347472"/>
          </a:xfrm>
          <a:prstGeom prst="roundRect">
            <a:avLst>
              <a:gd name="adj" fmla="val 21053"/>
            </a:avLst>
          </a:prstGeom>
          <a:solidFill>
            <a:srgbClr val="2C2C2E"/>
          </a:solidFill>
          <a:ln w="12700">
            <a:solidFill>
              <a:srgbClr val="3A3A3C"/>
            </a:solidFill>
            <a:prstDash val="solid"/>
          </a:ln>
        </p:spPr>
      </p:sp>
      <p:sp>
        <p:nvSpPr>
          <p:cNvPr id="23" name="Text 21"/>
          <p:cNvSpPr txBox="1"/>
          <p:nvPr/>
        </p:nvSpPr>
        <p:spPr>
          <a:xfrm>
            <a:off x="548640" y="4151376"/>
            <a:ext cx="8046720" cy="274320"/>
          </a:xfrm>
          <a:prstGeom prst="rect">
            <a:avLst/>
          </a:prstGeom>
          <a:noFill/>
          <a:ln/>
        </p:spPr>
        <p:txBody>
          <a:bodyPr wrap="square" lIns="0" tIns="0" rIns="0" bIns="0" rtlCol="0" anchor="ctr"/>
          <a:lstStyle/>
          <a:p>
            <a:pPr indent="0" marL="0">
              <a:buNone/>
            </a:pPr>
            <a:r>
              <a:rPr lang="en-US" sz="1250" dirty="0">
                <a:solidFill>
                  <a:srgbClr val="FFFFFF"/>
                </a:solidFill>
                <a:latin typeface="Atkinson Hyperlegible" pitchFamily="34" charset="0"/>
                <a:ea typeface="Atkinson Hyperlegible" pitchFamily="34" charset="-122"/>
                <a:cs typeface="Atkinson Hyperlegible" pitchFamily="34" charset="-120"/>
              </a:rPr>
              <a:t>✓  Se incorpora al campo temprano — con personal experimentado, no solo disponible</a:t>
            </a:r>
            <a:endParaRPr lang="en-US" sz="1250" dirty="0"/>
          </a:p>
        </p:txBody>
      </p:sp>
      <p:sp>
        <p:nvSpPr>
          <p:cNvPr id="24" name="Shape 22"/>
          <p:cNvSpPr/>
          <p:nvPr/>
        </p:nvSpPr>
        <p:spPr>
          <a:xfrm>
            <a:off x="365760" y="4526280"/>
            <a:ext cx="8412480" cy="347472"/>
          </a:xfrm>
          <a:prstGeom prst="roundRect">
            <a:avLst>
              <a:gd name="adj" fmla="val 21053"/>
            </a:avLst>
          </a:prstGeom>
          <a:solidFill>
            <a:srgbClr val="2C2C2E"/>
          </a:solidFill>
          <a:ln w="12700">
            <a:solidFill>
              <a:srgbClr val="3A3A3C"/>
            </a:solidFill>
            <a:prstDash val="solid"/>
          </a:ln>
        </p:spPr>
      </p:sp>
      <p:sp>
        <p:nvSpPr>
          <p:cNvPr id="25" name="Text 23"/>
          <p:cNvSpPr txBox="1"/>
          <p:nvPr/>
        </p:nvSpPr>
        <p:spPr>
          <a:xfrm>
            <a:off x="548640" y="4562856"/>
            <a:ext cx="8046720" cy="274320"/>
          </a:xfrm>
          <a:prstGeom prst="rect">
            <a:avLst/>
          </a:prstGeom>
          <a:noFill/>
          <a:ln/>
        </p:spPr>
        <p:txBody>
          <a:bodyPr wrap="square" lIns="0" tIns="0" rIns="0" bIns="0" rtlCol="0" anchor="ctr"/>
          <a:lstStyle/>
          <a:p>
            <a:pPr indent="0" marL="0">
              <a:buNone/>
            </a:pPr>
            <a:r>
              <a:rPr lang="en-US" sz="1250" dirty="0">
                <a:solidFill>
                  <a:srgbClr val="FFFFFF"/>
                </a:solidFill>
                <a:latin typeface="Atkinson Hyperlegible" pitchFamily="34" charset="0"/>
                <a:ea typeface="Atkinson Hyperlegible" pitchFamily="34" charset="-122"/>
                <a:cs typeface="Atkinson Hyperlegible" pitchFamily="34" charset="-120"/>
              </a:rPr>
              <a:t>✓  Los diseñadores son receptivos y evalúan el aporte constructivo objetivamente</a:t>
            </a:r>
            <a:endParaRPr lang="en-US" sz="12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Curva de Influencia de Costos del Proyecto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oportunidad de mejorar constructabilidad es inversamente proporcional al costo del cambio:</a:t>
            </a:r>
            <a:endParaRPr lang="en-US" sz="1400" dirty="0"/>
          </a:p>
        </p:txBody>
      </p:sp>
      <p:sp>
        <p:nvSpPr>
          <p:cNvPr id="6" name="Shape 4"/>
          <p:cNvSpPr/>
          <p:nvPr/>
        </p:nvSpPr>
        <p:spPr>
          <a:xfrm>
            <a:off x="822960" y="2331720"/>
            <a:ext cx="1005840" cy="1645920"/>
          </a:xfrm>
          <a:prstGeom prst="rect">
            <a:avLst/>
          </a:prstGeom>
          <a:solidFill>
            <a:srgbClr val="0A84FF"/>
          </a:solidFill>
          <a:ln/>
        </p:spPr>
      </p:sp>
      <p:sp>
        <p:nvSpPr>
          <p:cNvPr id="7" name="Text 5"/>
          <p:cNvSpPr txBox="1"/>
          <p:nvPr/>
        </p:nvSpPr>
        <p:spPr>
          <a:xfrm>
            <a:off x="777240" y="4041648"/>
            <a:ext cx="1097280" cy="548640"/>
          </a:xfrm>
          <a:prstGeom prst="rect">
            <a:avLst/>
          </a:prstGeom>
          <a:noFill/>
          <a:ln/>
        </p:spPr>
        <p:txBody>
          <a:bodyPr wrap="square" lIns="0" tIns="0" rIns="0" bIns="0" rtlCol="0" anchor="ctr"/>
          <a:lstStyle/>
          <a:p>
            <a:pPr algn="ct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Factibilidad</a:t>
            </a:r>
            <a:endParaRPr lang="en-US" sz="900" dirty="0"/>
          </a:p>
        </p:txBody>
      </p:sp>
      <p:sp>
        <p:nvSpPr>
          <p:cNvPr id="8" name="Text 6"/>
          <p:cNvSpPr txBox="1"/>
          <p:nvPr/>
        </p:nvSpPr>
        <p:spPr>
          <a:xfrm>
            <a:off x="822960" y="2423160"/>
            <a:ext cx="1005840" cy="502920"/>
          </a:xfrm>
          <a:prstGeom prst="rect">
            <a:avLst/>
          </a:prstGeom>
          <a:noFill/>
          <a:ln/>
        </p:spPr>
        <p:txBody>
          <a:bodyPr wrap="square" lIns="0" tIns="0" rIns="0" bIns="0"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9" name="Shape 7"/>
          <p:cNvSpPr/>
          <p:nvPr/>
        </p:nvSpPr>
        <p:spPr>
          <a:xfrm>
            <a:off x="1920240" y="2560320"/>
            <a:ext cx="1005840" cy="1417320"/>
          </a:xfrm>
          <a:prstGeom prst="rect">
            <a:avLst/>
          </a:prstGeom>
          <a:solidFill>
            <a:srgbClr val="0A84FF"/>
          </a:solidFill>
          <a:ln/>
        </p:spPr>
      </p:sp>
      <p:sp>
        <p:nvSpPr>
          <p:cNvPr id="10" name="Text 8"/>
          <p:cNvSpPr txBox="1"/>
          <p:nvPr/>
        </p:nvSpPr>
        <p:spPr>
          <a:xfrm>
            <a:off x="1874520" y="4041648"/>
            <a:ext cx="1097280" cy="548640"/>
          </a:xfrm>
          <a:prstGeom prst="rect">
            <a:avLst/>
          </a:prstGeom>
          <a:noFill/>
          <a:ln/>
        </p:spPr>
        <p:txBody>
          <a:bodyPr wrap="square" lIns="0" tIns="0" rIns="0" bIns="0" rtlCol="0" anchor="ctr"/>
          <a:lstStyle/>
          <a:p>
            <a:pPr algn="ct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Plan. Conceptual</a:t>
            </a:r>
            <a:endParaRPr lang="en-US" sz="900" dirty="0"/>
          </a:p>
        </p:txBody>
      </p:sp>
      <p:sp>
        <p:nvSpPr>
          <p:cNvPr id="11" name="Text 9"/>
          <p:cNvSpPr txBox="1"/>
          <p:nvPr/>
        </p:nvSpPr>
        <p:spPr>
          <a:xfrm>
            <a:off x="1920240" y="2651760"/>
            <a:ext cx="1005840" cy="502920"/>
          </a:xfrm>
          <a:prstGeom prst="rect">
            <a:avLst/>
          </a:prstGeom>
          <a:noFill/>
          <a:ln/>
        </p:spPr>
        <p:txBody>
          <a:bodyPr wrap="square" lIns="0" tIns="0" rIns="0" bIns="0" rtlCol="0" anchor="ctr"/>
          <a:lstStyle/>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FFFFFF"/>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12" name="Shape 10"/>
          <p:cNvSpPr/>
          <p:nvPr/>
        </p:nvSpPr>
        <p:spPr>
          <a:xfrm>
            <a:off x="3017520" y="2880360"/>
            <a:ext cx="1005840" cy="1097280"/>
          </a:xfrm>
          <a:prstGeom prst="rect">
            <a:avLst/>
          </a:prstGeom>
          <a:solidFill>
            <a:srgbClr val="FF9500">
              <a:alpha val="70000"/>
            </a:srgbClr>
          </a:solidFill>
          <a:ln/>
        </p:spPr>
      </p:sp>
      <p:sp>
        <p:nvSpPr>
          <p:cNvPr id="13" name="Text 11"/>
          <p:cNvSpPr txBox="1"/>
          <p:nvPr/>
        </p:nvSpPr>
        <p:spPr>
          <a:xfrm>
            <a:off x="2971800" y="4041648"/>
            <a:ext cx="1097280" cy="548640"/>
          </a:xfrm>
          <a:prstGeom prst="rect">
            <a:avLst/>
          </a:prstGeom>
          <a:noFill/>
          <a:ln/>
        </p:spPr>
        <p:txBody>
          <a:bodyPr wrap="square" lIns="0" tIns="0" rIns="0" bIns="0" rtlCol="0" anchor="ctr"/>
          <a:lstStyle/>
          <a:p>
            <a:pPr algn="ct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Ingeniería Básica</a:t>
            </a:r>
            <a:endParaRPr lang="en-US" sz="900" dirty="0"/>
          </a:p>
        </p:txBody>
      </p:sp>
      <p:sp>
        <p:nvSpPr>
          <p:cNvPr id="14" name="Shape 12"/>
          <p:cNvSpPr/>
          <p:nvPr/>
        </p:nvSpPr>
        <p:spPr>
          <a:xfrm>
            <a:off x="4114800" y="3200400"/>
            <a:ext cx="1005840" cy="777240"/>
          </a:xfrm>
          <a:prstGeom prst="rect">
            <a:avLst/>
          </a:prstGeom>
          <a:solidFill>
            <a:srgbClr val="FF9500">
              <a:alpha val="70000"/>
            </a:srgbClr>
          </a:solidFill>
          <a:ln/>
        </p:spPr>
      </p:sp>
      <p:sp>
        <p:nvSpPr>
          <p:cNvPr id="15" name="Text 13"/>
          <p:cNvSpPr txBox="1"/>
          <p:nvPr/>
        </p:nvSpPr>
        <p:spPr>
          <a:xfrm>
            <a:off x="4069080" y="4041648"/>
            <a:ext cx="1097280" cy="548640"/>
          </a:xfrm>
          <a:prstGeom prst="rect">
            <a:avLst/>
          </a:prstGeom>
          <a:noFill/>
          <a:ln/>
        </p:spPr>
        <p:txBody>
          <a:bodyPr wrap="square" lIns="0" tIns="0" rIns="0" bIns="0" rtlCol="0" anchor="ctr"/>
          <a:lstStyle/>
          <a:p>
            <a:pPr algn="ct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Ingeniería Detalle</a:t>
            </a:r>
            <a:endParaRPr lang="en-US" sz="900" dirty="0"/>
          </a:p>
        </p:txBody>
      </p:sp>
      <p:sp>
        <p:nvSpPr>
          <p:cNvPr id="16" name="Shape 14"/>
          <p:cNvSpPr/>
          <p:nvPr/>
        </p:nvSpPr>
        <p:spPr>
          <a:xfrm>
            <a:off x="5212080" y="3474720"/>
            <a:ext cx="1005840" cy="502920"/>
          </a:xfrm>
          <a:prstGeom prst="rect">
            <a:avLst/>
          </a:prstGeom>
          <a:solidFill>
            <a:srgbClr val="FF453A">
              <a:alpha val="70000"/>
            </a:srgbClr>
          </a:solidFill>
          <a:ln/>
        </p:spPr>
      </p:sp>
      <p:sp>
        <p:nvSpPr>
          <p:cNvPr id="17" name="Text 15"/>
          <p:cNvSpPr txBox="1"/>
          <p:nvPr/>
        </p:nvSpPr>
        <p:spPr>
          <a:xfrm>
            <a:off x="5166360" y="4041648"/>
            <a:ext cx="1097280" cy="548640"/>
          </a:xfrm>
          <a:prstGeom prst="rect">
            <a:avLst/>
          </a:prstGeom>
          <a:noFill/>
          <a:ln/>
        </p:spPr>
        <p:txBody>
          <a:bodyPr wrap="square" lIns="0" tIns="0" rIns="0" bIns="0" rtlCol="0" anchor="ctr"/>
          <a:lstStyle/>
          <a:p>
            <a:pPr algn="ct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Procura</a:t>
            </a:r>
            <a:endParaRPr lang="en-US" sz="900" dirty="0"/>
          </a:p>
        </p:txBody>
      </p:sp>
      <p:sp>
        <p:nvSpPr>
          <p:cNvPr id="18" name="Shape 16"/>
          <p:cNvSpPr/>
          <p:nvPr/>
        </p:nvSpPr>
        <p:spPr>
          <a:xfrm>
            <a:off x="6309360" y="3703320"/>
            <a:ext cx="1005840" cy="274320"/>
          </a:xfrm>
          <a:prstGeom prst="rect">
            <a:avLst/>
          </a:prstGeom>
          <a:solidFill>
            <a:srgbClr val="FF453A">
              <a:alpha val="70000"/>
            </a:srgbClr>
          </a:solidFill>
          <a:ln/>
        </p:spPr>
      </p:sp>
      <p:sp>
        <p:nvSpPr>
          <p:cNvPr id="19" name="Text 17"/>
          <p:cNvSpPr txBox="1"/>
          <p:nvPr/>
        </p:nvSpPr>
        <p:spPr>
          <a:xfrm>
            <a:off x="6263640" y="4041648"/>
            <a:ext cx="1097280" cy="548640"/>
          </a:xfrm>
          <a:prstGeom prst="rect">
            <a:avLst/>
          </a:prstGeom>
          <a:noFill/>
          <a:ln/>
        </p:spPr>
        <p:txBody>
          <a:bodyPr wrap="square" lIns="0" tIns="0" rIns="0" bIns="0" rtlCol="0" anchor="ctr"/>
          <a:lstStyle/>
          <a:p>
            <a:pPr algn="ct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Construcción</a:t>
            </a:r>
            <a:endParaRPr lang="en-US" sz="900" dirty="0"/>
          </a:p>
        </p:txBody>
      </p:sp>
      <p:sp>
        <p:nvSpPr>
          <p:cNvPr id="20" name="Shape 18"/>
          <p:cNvSpPr/>
          <p:nvPr/>
        </p:nvSpPr>
        <p:spPr>
          <a:xfrm>
            <a:off x="7406640" y="3840480"/>
            <a:ext cx="1005840" cy="137160"/>
          </a:xfrm>
          <a:prstGeom prst="rect">
            <a:avLst/>
          </a:prstGeom>
          <a:solidFill>
            <a:srgbClr val="FF453A">
              <a:alpha val="70000"/>
            </a:srgbClr>
          </a:solidFill>
          <a:ln/>
        </p:spPr>
      </p:sp>
      <p:sp>
        <p:nvSpPr>
          <p:cNvPr id="21" name="Text 19"/>
          <p:cNvSpPr txBox="1"/>
          <p:nvPr/>
        </p:nvSpPr>
        <p:spPr>
          <a:xfrm>
            <a:off x="7360920" y="4041648"/>
            <a:ext cx="1097280" cy="548640"/>
          </a:xfrm>
          <a:prstGeom prst="rect">
            <a:avLst/>
          </a:prstGeom>
          <a:noFill/>
          <a:ln/>
        </p:spPr>
        <p:txBody>
          <a:bodyPr wrap="square" lIns="0" tIns="0" rIns="0" bIns="0" rtlCol="0" anchor="ctr"/>
          <a:lstStyle/>
          <a:p>
            <a:pPr algn="ct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Arranque</a:t>
            </a:r>
            <a:endParaRPr lang="en-US" sz="900" dirty="0"/>
          </a:p>
        </p:txBody>
      </p:sp>
      <p:sp>
        <p:nvSpPr>
          <p:cNvPr id="22" name="Text 20"/>
          <p:cNvSpPr txBox="1"/>
          <p:nvPr/>
        </p:nvSpPr>
        <p:spPr>
          <a:xfrm rot="16200000">
            <a:off x="365760" y="1417320"/>
            <a:ext cx="320040" cy="2560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Influencia sobre costos totales del proyecto</a:t>
            </a:r>
            <a:endParaRPr lang="en-US" sz="1000" dirty="0"/>
          </a:p>
        </p:txBody>
      </p:sp>
      <p:sp>
        <p:nvSpPr>
          <p:cNvPr id="23" name="Shape 21"/>
          <p:cNvSpPr/>
          <p:nvPr/>
        </p:nvSpPr>
        <p:spPr>
          <a:xfrm>
            <a:off x="685800" y="1371600"/>
            <a:ext cx="27432" cy="2606040"/>
          </a:xfrm>
          <a:prstGeom prst="rect">
            <a:avLst/>
          </a:prstGeom>
          <a:solidFill>
            <a:srgbClr val="3A3A3C"/>
          </a:solidFill>
          <a:ln/>
        </p:spPr>
      </p:sp>
      <p:sp>
        <p:nvSpPr>
          <p:cNvPr id="24" name="Text 22"/>
          <p:cNvSpPr txBox="1"/>
          <p:nvPr/>
        </p:nvSpPr>
        <p:spPr>
          <a:xfrm>
            <a:off x="457200" y="4773168"/>
            <a:ext cx="8229600" cy="256032"/>
          </a:xfrm>
          <a:prstGeom prst="rect">
            <a:avLst/>
          </a:prstGeom>
          <a:noFill/>
          <a:ln/>
        </p:spPr>
        <p:txBody>
          <a:bodyPr wrap="square" lIns="0" tIns="0" rIns="0" bIns="0" rtlCol="0" anchor="ctr"/>
          <a:lstStyle/>
          <a:p>
            <a:pPr algn="ct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MÁXIMA OPORTUNIDAD = PLANIFICACIÓN TEMPRANA</a:t>
            </a:r>
            <a:endParaRPr lang="en-US" sz="12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y Lean Construction</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Sinergias clave entre ambas filosofías de gestión de proyectos:</a:t>
            </a:r>
            <a:endParaRPr lang="en-US" sz="1400" dirty="0"/>
          </a:p>
        </p:txBody>
      </p:sp>
      <p:sp>
        <p:nvSpPr>
          <p:cNvPr id="6" name="Shape 4"/>
          <p:cNvSpPr/>
          <p:nvPr/>
        </p:nvSpPr>
        <p:spPr>
          <a:xfrm>
            <a:off x="365760" y="1280160"/>
            <a:ext cx="4206240" cy="1115568"/>
          </a:xfrm>
          <a:prstGeom prst="roundRect">
            <a:avLst>
              <a:gd name="adj" fmla="val 8197"/>
            </a:avLst>
          </a:prstGeom>
          <a:solidFill>
            <a:srgbClr val="2C2C2E"/>
          </a:solidFill>
          <a:ln w="12700">
            <a:solidFill>
              <a:srgbClr val="3A3A3C"/>
            </a:solidFill>
            <a:prstDash val="solid"/>
          </a:ln>
        </p:spPr>
      </p:sp>
      <p:sp>
        <p:nvSpPr>
          <p:cNvPr id="7" name="Shape 5"/>
          <p:cNvSpPr/>
          <p:nvPr/>
        </p:nvSpPr>
        <p:spPr>
          <a:xfrm>
            <a:off x="365760" y="1280160"/>
            <a:ext cx="73152" cy="1115568"/>
          </a:xfrm>
          <a:prstGeom prst="rect">
            <a:avLst/>
          </a:prstGeom>
          <a:solidFill>
            <a:srgbClr val="30D158"/>
          </a:solidFill>
          <a:ln/>
        </p:spPr>
      </p:sp>
      <p:sp>
        <p:nvSpPr>
          <p:cNvPr id="8" name="Text 6"/>
          <p:cNvSpPr txBox="1"/>
          <p:nvPr/>
        </p:nvSpPr>
        <p:spPr>
          <a:xfrm>
            <a:off x="566928" y="1353312"/>
            <a:ext cx="3749040" cy="347472"/>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Last Planner®</a:t>
            </a:r>
            <a:endParaRPr lang="en-US" sz="1400" dirty="0"/>
          </a:p>
        </p:txBody>
      </p:sp>
      <p:sp>
        <p:nvSpPr>
          <p:cNvPr id="9" name="Text 7"/>
          <p:cNvSpPr txBox="1"/>
          <p:nvPr/>
        </p:nvSpPr>
        <p:spPr>
          <a:xfrm>
            <a:off x="566928" y="1709928"/>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Ambas incorporan al planificador final (capataz, residente) en la programación real — lo que "Queremos Hacer" debe coincidir con lo que "Podemos Hacer" en campo.</a:t>
            </a:r>
            <a:endParaRPr lang="en-US" sz="1050" dirty="0"/>
          </a:p>
        </p:txBody>
      </p:sp>
      <p:sp>
        <p:nvSpPr>
          <p:cNvPr id="10" name="Shape 8"/>
          <p:cNvSpPr/>
          <p:nvPr/>
        </p:nvSpPr>
        <p:spPr>
          <a:xfrm>
            <a:off x="4754880" y="1280160"/>
            <a:ext cx="4206240" cy="1115568"/>
          </a:xfrm>
          <a:prstGeom prst="roundRect">
            <a:avLst>
              <a:gd name="adj" fmla="val 8197"/>
            </a:avLst>
          </a:prstGeom>
          <a:solidFill>
            <a:srgbClr val="2C2C2E"/>
          </a:solidFill>
          <a:ln w="12700">
            <a:solidFill>
              <a:srgbClr val="3A3A3C"/>
            </a:solidFill>
            <a:prstDash val="solid"/>
          </a:ln>
        </p:spPr>
      </p:sp>
      <p:sp>
        <p:nvSpPr>
          <p:cNvPr id="11" name="Shape 9"/>
          <p:cNvSpPr/>
          <p:nvPr/>
        </p:nvSpPr>
        <p:spPr>
          <a:xfrm>
            <a:off x="4754880" y="1280160"/>
            <a:ext cx="73152" cy="1115568"/>
          </a:xfrm>
          <a:prstGeom prst="rect">
            <a:avLst/>
          </a:prstGeom>
          <a:solidFill>
            <a:srgbClr val="0A84FF"/>
          </a:solidFill>
          <a:ln/>
        </p:spPr>
      </p:sp>
      <p:sp>
        <p:nvSpPr>
          <p:cNvPr id="12" name="Text 10"/>
          <p:cNvSpPr txBox="1"/>
          <p:nvPr/>
        </p:nvSpPr>
        <p:spPr>
          <a:xfrm>
            <a:off x="4956048" y="1353312"/>
            <a:ext cx="3749040" cy="347472"/>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Eliminación de Desperdicios</a:t>
            </a:r>
            <a:endParaRPr lang="en-US" sz="1400" dirty="0"/>
          </a:p>
        </p:txBody>
      </p:sp>
      <p:sp>
        <p:nvSpPr>
          <p:cNvPr id="13" name="Text 11"/>
          <p:cNvSpPr txBox="1"/>
          <p:nvPr/>
        </p:nvSpPr>
        <p:spPr>
          <a:xfrm>
            <a:off x="4956048" y="1709928"/>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La constructabilidad reduce retrabajo, esperas y transporte innecesario a través de diseño que facilita la ejecución eficiente.</a:t>
            </a:r>
            <a:endParaRPr lang="en-US" sz="1050" dirty="0"/>
          </a:p>
        </p:txBody>
      </p:sp>
      <p:sp>
        <p:nvSpPr>
          <p:cNvPr id="14" name="Shape 12"/>
          <p:cNvSpPr/>
          <p:nvPr/>
        </p:nvSpPr>
        <p:spPr>
          <a:xfrm>
            <a:off x="365760" y="2514600"/>
            <a:ext cx="4206240" cy="1115568"/>
          </a:xfrm>
          <a:prstGeom prst="roundRect">
            <a:avLst>
              <a:gd name="adj" fmla="val 8197"/>
            </a:avLst>
          </a:prstGeom>
          <a:solidFill>
            <a:srgbClr val="2C2C2E"/>
          </a:solidFill>
          <a:ln w="12700">
            <a:solidFill>
              <a:srgbClr val="3A3A3C"/>
            </a:solidFill>
            <a:prstDash val="solid"/>
          </a:ln>
        </p:spPr>
      </p:sp>
      <p:sp>
        <p:nvSpPr>
          <p:cNvPr id="15" name="Shape 13"/>
          <p:cNvSpPr/>
          <p:nvPr/>
        </p:nvSpPr>
        <p:spPr>
          <a:xfrm>
            <a:off x="365760" y="2514600"/>
            <a:ext cx="73152" cy="1115568"/>
          </a:xfrm>
          <a:prstGeom prst="rect">
            <a:avLst/>
          </a:prstGeom>
          <a:solidFill>
            <a:srgbClr val="FF9500"/>
          </a:solidFill>
          <a:ln/>
        </p:spPr>
      </p:sp>
      <p:sp>
        <p:nvSpPr>
          <p:cNvPr id="16" name="Text 14"/>
          <p:cNvSpPr txBox="1"/>
          <p:nvPr/>
        </p:nvSpPr>
        <p:spPr>
          <a:xfrm>
            <a:off x="566928" y="2587752"/>
            <a:ext cx="3749040" cy="347472"/>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Planificación Pull</a:t>
            </a:r>
            <a:endParaRPr lang="en-US" sz="1400" dirty="0"/>
          </a:p>
        </p:txBody>
      </p:sp>
      <p:sp>
        <p:nvSpPr>
          <p:cNvPr id="17" name="Text 15"/>
          <p:cNvSpPr txBox="1"/>
          <p:nvPr/>
        </p:nvSpPr>
        <p:spPr>
          <a:xfrm>
            <a:off x="566928" y="2944368"/>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El cronograma orientado a construcción (Concepto I-4 CII) es análogo al "pull scheduling" de Lean — tiempos reales de obra definen secuencias de diseño.</a:t>
            </a:r>
            <a:endParaRPr lang="en-US" sz="1050" dirty="0"/>
          </a:p>
        </p:txBody>
      </p:sp>
      <p:sp>
        <p:nvSpPr>
          <p:cNvPr id="18" name="Shape 16"/>
          <p:cNvSpPr/>
          <p:nvPr/>
        </p:nvSpPr>
        <p:spPr>
          <a:xfrm>
            <a:off x="4754880" y="2514600"/>
            <a:ext cx="4206240" cy="1115568"/>
          </a:xfrm>
          <a:prstGeom prst="roundRect">
            <a:avLst>
              <a:gd name="adj" fmla="val 8197"/>
            </a:avLst>
          </a:prstGeom>
          <a:solidFill>
            <a:srgbClr val="2C2C2E"/>
          </a:solidFill>
          <a:ln w="12700">
            <a:solidFill>
              <a:srgbClr val="3A3A3C"/>
            </a:solidFill>
            <a:prstDash val="solid"/>
          </a:ln>
        </p:spPr>
      </p:sp>
      <p:sp>
        <p:nvSpPr>
          <p:cNvPr id="19" name="Shape 17"/>
          <p:cNvSpPr/>
          <p:nvPr/>
        </p:nvSpPr>
        <p:spPr>
          <a:xfrm>
            <a:off x="4754880" y="2514600"/>
            <a:ext cx="73152" cy="1115568"/>
          </a:xfrm>
          <a:prstGeom prst="rect">
            <a:avLst/>
          </a:prstGeom>
          <a:solidFill>
            <a:srgbClr val="AF52DE"/>
          </a:solidFill>
          <a:ln/>
        </p:spPr>
      </p:sp>
      <p:sp>
        <p:nvSpPr>
          <p:cNvPr id="20" name="Text 18"/>
          <p:cNvSpPr txBox="1"/>
          <p:nvPr/>
        </p:nvSpPr>
        <p:spPr>
          <a:xfrm>
            <a:off x="4956048" y="2587752"/>
            <a:ext cx="3749040" cy="347472"/>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Trabajo Estándar</a:t>
            </a:r>
            <a:endParaRPr lang="en-US" sz="1400" dirty="0"/>
          </a:p>
        </p:txBody>
      </p:sp>
      <p:sp>
        <p:nvSpPr>
          <p:cNvPr id="21" name="Text 19"/>
          <p:cNvSpPr txBox="1"/>
          <p:nvPr/>
        </p:nvSpPr>
        <p:spPr>
          <a:xfrm>
            <a:off x="4956048" y="2944368"/>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La estandarización de diseño (Concepto II-3) genera las condiciones para trabajo estándar repetitivo y productividades predecibles.</a:t>
            </a:r>
            <a:endParaRPr lang="en-US" sz="1050" dirty="0"/>
          </a:p>
        </p:txBody>
      </p:sp>
      <p:sp>
        <p:nvSpPr>
          <p:cNvPr id="22" name="Shape 20"/>
          <p:cNvSpPr/>
          <p:nvPr/>
        </p:nvSpPr>
        <p:spPr>
          <a:xfrm>
            <a:off x="365760" y="3749040"/>
            <a:ext cx="4206240" cy="1115568"/>
          </a:xfrm>
          <a:prstGeom prst="roundRect">
            <a:avLst>
              <a:gd name="adj" fmla="val 8197"/>
            </a:avLst>
          </a:prstGeom>
          <a:solidFill>
            <a:srgbClr val="2C2C2E"/>
          </a:solidFill>
          <a:ln w="12700">
            <a:solidFill>
              <a:srgbClr val="3A3A3C"/>
            </a:solidFill>
            <a:prstDash val="solid"/>
          </a:ln>
        </p:spPr>
      </p:sp>
      <p:sp>
        <p:nvSpPr>
          <p:cNvPr id="23" name="Shape 21"/>
          <p:cNvSpPr/>
          <p:nvPr/>
        </p:nvSpPr>
        <p:spPr>
          <a:xfrm>
            <a:off x="365760" y="3749040"/>
            <a:ext cx="73152" cy="1115568"/>
          </a:xfrm>
          <a:prstGeom prst="rect">
            <a:avLst/>
          </a:prstGeom>
          <a:solidFill>
            <a:srgbClr val="FFD60A"/>
          </a:solidFill>
          <a:ln/>
        </p:spPr>
      </p:sp>
      <p:sp>
        <p:nvSpPr>
          <p:cNvPr id="24" name="Text 22"/>
          <p:cNvSpPr txBox="1"/>
          <p:nvPr/>
        </p:nvSpPr>
        <p:spPr>
          <a:xfrm>
            <a:off x="566928" y="3822192"/>
            <a:ext cx="3749040" cy="347472"/>
          </a:xfrm>
          <a:prstGeom prst="rect">
            <a:avLst/>
          </a:prstGeom>
          <a:noFill/>
          <a:ln/>
        </p:spPr>
        <p:txBody>
          <a:bodyPr wrap="square" lIns="0" tIns="0" rIns="0" bIns="0" rtlCol="0" anchor="ctr"/>
          <a:lstStyle/>
          <a:p>
            <a:pPr indent="0" marL="0">
              <a:buNone/>
            </a:pPr>
            <a:r>
              <a:rPr lang="en-US" sz="1400" b="1" dirty="0">
                <a:solidFill>
                  <a:srgbClr val="FFD60A"/>
                </a:solidFill>
                <a:latin typeface="Atkinson Hyperlegible" pitchFamily="34" charset="0"/>
                <a:ea typeface="Atkinson Hyperlegible" pitchFamily="34" charset="-122"/>
                <a:cs typeface="Atkinson Hyperlegible" pitchFamily="34" charset="-120"/>
              </a:rPr>
              <a:t>Mejora Continua</a:t>
            </a:r>
            <a:endParaRPr lang="en-US" sz="1400" dirty="0"/>
          </a:p>
        </p:txBody>
      </p:sp>
      <p:sp>
        <p:nvSpPr>
          <p:cNvPr id="25" name="Text 23"/>
          <p:cNvSpPr txBox="1"/>
          <p:nvPr/>
        </p:nvSpPr>
        <p:spPr>
          <a:xfrm>
            <a:off x="566928" y="4178808"/>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La base de datos de Lecciones Aprendidas del programa de constructabilidad es el motor de mejora continua (Kaizen) entre proyectos.</a:t>
            </a:r>
            <a:endParaRPr lang="en-US" sz="1050" dirty="0"/>
          </a:p>
        </p:txBody>
      </p:sp>
      <p:sp>
        <p:nvSpPr>
          <p:cNvPr id="26" name="Shape 24"/>
          <p:cNvSpPr/>
          <p:nvPr/>
        </p:nvSpPr>
        <p:spPr>
          <a:xfrm>
            <a:off x="4754880" y="3749040"/>
            <a:ext cx="4206240" cy="1115568"/>
          </a:xfrm>
          <a:prstGeom prst="roundRect">
            <a:avLst>
              <a:gd name="adj" fmla="val 8197"/>
            </a:avLst>
          </a:prstGeom>
          <a:solidFill>
            <a:srgbClr val="2C2C2E"/>
          </a:solidFill>
          <a:ln w="12700">
            <a:solidFill>
              <a:srgbClr val="3A3A3C"/>
            </a:solidFill>
            <a:prstDash val="solid"/>
          </a:ln>
        </p:spPr>
      </p:sp>
      <p:sp>
        <p:nvSpPr>
          <p:cNvPr id="27" name="Shape 25"/>
          <p:cNvSpPr/>
          <p:nvPr/>
        </p:nvSpPr>
        <p:spPr>
          <a:xfrm>
            <a:off x="4754880" y="3749040"/>
            <a:ext cx="73152" cy="1115568"/>
          </a:xfrm>
          <a:prstGeom prst="rect">
            <a:avLst/>
          </a:prstGeom>
          <a:solidFill>
            <a:srgbClr val="FF453A"/>
          </a:solidFill>
          <a:ln/>
        </p:spPr>
      </p:sp>
      <p:sp>
        <p:nvSpPr>
          <p:cNvPr id="28" name="Text 26"/>
          <p:cNvSpPr txBox="1"/>
          <p:nvPr/>
        </p:nvSpPr>
        <p:spPr>
          <a:xfrm>
            <a:off x="4956048" y="3822192"/>
            <a:ext cx="3749040" cy="347472"/>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Colaboración Temprana</a:t>
            </a:r>
            <a:endParaRPr lang="en-US" sz="1400" dirty="0"/>
          </a:p>
        </p:txBody>
      </p:sp>
      <p:sp>
        <p:nvSpPr>
          <p:cNvPr id="29" name="Text 27"/>
          <p:cNvSpPr txBox="1"/>
          <p:nvPr/>
        </p:nvSpPr>
        <p:spPr>
          <a:xfrm>
            <a:off x="4956048" y="4178808"/>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Ambas requieren integración de los equipos EPC desde las fases tempranas — la separación tardía genera pérdidas en ambos enfoques.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2C2C2E"/>
                </a:solidFill>
                <a:latin typeface="Atkinson Hyperlegible" pitchFamily="34" charset="0"/>
                <a:ea typeface="Atkinson Hyperlegible" pitchFamily="34" charset="-122"/>
                <a:cs typeface="Atkinson Hyperlegible" pitchFamily="34" charset="-120"/>
              </a:rPr>
              <a:t>02</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Atkinson Hyperlegible" pitchFamily="34" charset="0"/>
                <a:ea typeface="Atkinson Hyperlegible" pitchFamily="34" charset="-122"/>
                <a:cs typeface="Atkinson Hyperlegible" pitchFamily="34" charset="-120"/>
              </a:rPr>
              <a:t>Fundamentos CII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8E8E93"/>
                </a:solidFill>
                <a:latin typeface="Atkinson Hyperlegible" pitchFamily="34" charset="0"/>
                <a:ea typeface="Atkinson Hyperlegible" pitchFamily="34" charset="-122"/>
                <a:cs typeface="Atkinson Hyperlegible" pitchFamily="34" charset="-120"/>
              </a:rPr>
              <a:t>Publicaciones Clave y Marco Conceptual</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Publicaciones CII de Constructabilidad — Documentos Guía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4206240" cy="1298448"/>
          </a:xfrm>
          <a:prstGeom prst="roundRect">
            <a:avLst>
              <a:gd name="adj" fmla="val 7042"/>
            </a:avLst>
          </a:prstGeom>
          <a:solidFill>
            <a:srgbClr val="2C2C2E"/>
          </a:solidFill>
          <a:ln w="12700">
            <a:solidFill>
              <a:srgbClr val="3A3A3C"/>
            </a:solidFill>
            <a:prstDash val="solid"/>
          </a:ln>
        </p:spPr>
      </p:sp>
      <p:sp>
        <p:nvSpPr>
          <p:cNvPr id="6" name="Text 4"/>
          <p:cNvSpPr txBox="1"/>
          <p:nvPr/>
        </p:nvSpPr>
        <p:spPr>
          <a:xfrm>
            <a:off x="493776" y="1069848"/>
            <a:ext cx="731520" cy="347472"/>
          </a:xfrm>
          <a:prstGeom prst="rect">
            <a:avLst/>
          </a:prstGeom>
          <a:noFill/>
          <a:ln/>
        </p:spPr>
        <p:txBody>
          <a:bodyPr wrap="square" lIns="0" tIns="0" rIns="0" bIns="0" rtlCol="0" anchor="ctr"/>
          <a:lstStyle/>
          <a:p>
            <a:pPr indent="0" marL="0">
              <a:buNone/>
            </a:pPr>
            <a:r>
              <a:rPr lang="en-US" sz="1600" b="1" dirty="0">
                <a:solidFill>
                  <a:srgbClr val="0A84FF"/>
                </a:solidFill>
                <a:latin typeface="Atkinson Hyperlegible" pitchFamily="34" charset="0"/>
                <a:ea typeface="Atkinson Hyperlegible" pitchFamily="34" charset="-122"/>
                <a:cs typeface="Atkinson Hyperlegible" pitchFamily="34" charset="-120"/>
              </a:rPr>
              <a:t>3-1</a:t>
            </a:r>
            <a:endParaRPr lang="en-US" sz="1600" dirty="0"/>
          </a:p>
        </p:txBody>
      </p:sp>
      <p:sp>
        <p:nvSpPr>
          <p:cNvPr id="7" name="Text 5"/>
          <p:cNvSpPr txBox="1"/>
          <p:nvPr/>
        </p:nvSpPr>
        <p:spPr>
          <a:xfrm>
            <a:off x="1261872" y="1097280"/>
            <a:ext cx="82296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1986</a:t>
            </a:r>
            <a:endParaRPr lang="en-US" sz="1100" dirty="0"/>
          </a:p>
        </p:txBody>
      </p:sp>
      <p:sp>
        <p:nvSpPr>
          <p:cNvPr id="8" name="Text 6"/>
          <p:cNvSpPr txBox="1"/>
          <p:nvPr/>
        </p:nvSpPr>
        <p:spPr>
          <a:xfrm>
            <a:off x="493776" y="1435608"/>
            <a:ext cx="39319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Constructability: A Primer</a:t>
            </a:r>
            <a:endParaRPr lang="en-US" sz="1200" dirty="0"/>
          </a:p>
        </p:txBody>
      </p:sp>
      <p:sp>
        <p:nvSpPr>
          <p:cNvPr id="9" name="Text 7"/>
          <p:cNvSpPr txBox="1"/>
          <p:nvPr/>
        </p:nvSpPr>
        <p:spPr>
          <a:xfrm>
            <a:off x="493776" y="1728216"/>
            <a:ext cx="3931920" cy="438912"/>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Documento introductorio para ejecutivos. Presenta el concepto, beneficios y mini-casos de estudio. Base conceptual del movimiento de constructabilidad en la industria.</a:t>
            </a:r>
            <a:endParaRPr lang="en-US" sz="950" dirty="0"/>
          </a:p>
        </p:txBody>
      </p:sp>
      <p:sp>
        <p:nvSpPr>
          <p:cNvPr id="10" name="Shape 8"/>
          <p:cNvSpPr/>
          <p:nvPr/>
        </p:nvSpPr>
        <p:spPr>
          <a:xfrm>
            <a:off x="4754880" y="960120"/>
            <a:ext cx="4206240" cy="1298448"/>
          </a:xfrm>
          <a:prstGeom prst="roundRect">
            <a:avLst>
              <a:gd name="adj" fmla="val 7042"/>
            </a:avLst>
          </a:prstGeom>
          <a:solidFill>
            <a:srgbClr val="2C2C2E"/>
          </a:solidFill>
          <a:ln w="12700">
            <a:solidFill>
              <a:srgbClr val="3A3A3C"/>
            </a:solidFill>
            <a:prstDash val="solid"/>
          </a:ln>
        </p:spPr>
      </p:sp>
      <p:sp>
        <p:nvSpPr>
          <p:cNvPr id="11" name="Text 9"/>
          <p:cNvSpPr txBox="1"/>
          <p:nvPr/>
        </p:nvSpPr>
        <p:spPr>
          <a:xfrm>
            <a:off x="4882896" y="1069848"/>
            <a:ext cx="731520" cy="347472"/>
          </a:xfrm>
          <a:prstGeom prst="rect">
            <a:avLst/>
          </a:prstGeom>
          <a:noFill/>
          <a:ln/>
        </p:spPr>
        <p:txBody>
          <a:bodyPr wrap="square" lIns="0" tIns="0" rIns="0" bIns="0" rtlCol="0" anchor="ctr"/>
          <a:lstStyle/>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3-3</a:t>
            </a:r>
            <a:endParaRPr lang="en-US" sz="1600" dirty="0"/>
          </a:p>
        </p:txBody>
      </p:sp>
      <p:sp>
        <p:nvSpPr>
          <p:cNvPr id="12" name="Text 10"/>
          <p:cNvSpPr txBox="1"/>
          <p:nvPr/>
        </p:nvSpPr>
        <p:spPr>
          <a:xfrm>
            <a:off x="5650992" y="1097280"/>
            <a:ext cx="82296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1987</a:t>
            </a:r>
            <a:endParaRPr lang="en-US" sz="1100" dirty="0"/>
          </a:p>
        </p:txBody>
      </p:sp>
      <p:sp>
        <p:nvSpPr>
          <p:cNvPr id="13" name="Text 11"/>
          <p:cNvSpPr txBox="1"/>
          <p:nvPr/>
        </p:nvSpPr>
        <p:spPr>
          <a:xfrm>
            <a:off x="4882896" y="1435608"/>
            <a:ext cx="39319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Constructability Concepts File</a:t>
            </a:r>
            <a:endParaRPr lang="en-US" sz="1200" dirty="0"/>
          </a:p>
        </p:txBody>
      </p:sp>
      <p:sp>
        <p:nvSpPr>
          <p:cNvPr id="14" name="Text 12"/>
          <p:cNvSpPr txBox="1"/>
          <p:nvPr/>
        </p:nvSpPr>
        <p:spPr>
          <a:xfrm>
            <a:off x="4882896" y="1728216"/>
            <a:ext cx="3931920" cy="438912"/>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Lista y describe los 14 conceptos originales fundamentales de constructabilidad. Base sobre la que se construye cualquier programa formal.</a:t>
            </a:r>
            <a:endParaRPr lang="en-US" sz="950" dirty="0"/>
          </a:p>
        </p:txBody>
      </p:sp>
      <p:sp>
        <p:nvSpPr>
          <p:cNvPr id="15" name="Shape 13"/>
          <p:cNvSpPr/>
          <p:nvPr/>
        </p:nvSpPr>
        <p:spPr>
          <a:xfrm>
            <a:off x="365760" y="2377440"/>
            <a:ext cx="4206240" cy="1298448"/>
          </a:xfrm>
          <a:prstGeom prst="roundRect">
            <a:avLst>
              <a:gd name="adj" fmla="val 7042"/>
            </a:avLst>
          </a:prstGeom>
          <a:solidFill>
            <a:srgbClr val="2C2C2E"/>
          </a:solidFill>
          <a:ln w="12700">
            <a:solidFill>
              <a:srgbClr val="3A3A3C"/>
            </a:solidFill>
            <a:prstDash val="solid"/>
          </a:ln>
        </p:spPr>
      </p:sp>
      <p:sp>
        <p:nvSpPr>
          <p:cNvPr id="16" name="Text 14"/>
          <p:cNvSpPr txBox="1"/>
          <p:nvPr/>
        </p:nvSpPr>
        <p:spPr>
          <a:xfrm>
            <a:off x="493776" y="2487168"/>
            <a:ext cx="731520" cy="347472"/>
          </a:xfrm>
          <a:prstGeom prst="rect">
            <a:avLst/>
          </a:prstGeom>
          <a:noFill/>
          <a:ln/>
        </p:spPr>
        <p:txBody>
          <a:bodyPr wrap="square" lIns="0" tIns="0" rIns="0" bIns="0" rtlCol="0" anchor="ctr"/>
          <a:lstStyle/>
          <a:p>
            <a:pPr indent="0" marL="0">
              <a:buNone/>
            </a:pPr>
            <a:r>
              <a:rPr lang="en-US" sz="1600" b="1" dirty="0">
                <a:solidFill>
                  <a:srgbClr val="FF9500"/>
                </a:solidFill>
                <a:latin typeface="Atkinson Hyperlegible" pitchFamily="34" charset="0"/>
                <a:ea typeface="Atkinson Hyperlegible" pitchFamily="34" charset="-122"/>
                <a:cs typeface="Atkinson Hyperlegible" pitchFamily="34" charset="-120"/>
              </a:rPr>
              <a:t>SD-4</a:t>
            </a:r>
            <a:endParaRPr lang="en-US" sz="1600" dirty="0"/>
          </a:p>
        </p:txBody>
      </p:sp>
      <p:sp>
        <p:nvSpPr>
          <p:cNvPr id="17" name="Text 15"/>
          <p:cNvSpPr txBox="1"/>
          <p:nvPr/>
        </p:nvSpPr>
        <p:spPr>
          <a:xfrm>
            <a:off x="1261872" y="2514600"/>
            <a:ext cx="82296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1986</a:t>
            </a:r>
            <a:endParaRPr lang="en-US" sz="1100" dirty="0"/>
          </a:p>
        </p:txBody>
      </p:sp>
      <p:sp>
        <p:nvSpPr>
          <p:cNvPr id="18" name="Text 16"/>
          <p:cNvSpPr txBox="1"/>
          <p:nvPr/>
        </p:nvSpPr>
        <p:spPr>
          <a:xfrm>
            <a:off x="493776" y="2852928"/>
            <a:ext cx="39319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Constructability Improvement — Conceptual Planning</a:t>
            </a:r>
            <a:endParaRPr lang="en-US" sz="1200" dirty="0"/>
          </a:p>
        </p:txBody>
      </p:sp>
      <p:sp>
        <p:nvSpPr>
          <p:cNvPr id="19" name="Text 17"/>
          <p:cNvSpPr txBox="1"/>
          <p:nvPr/>
        </p:nvSpPr>
        <p:spPr>
          <a:xfrm>
            <a:off x="493776" y="3145536"/>
            <a:ext cx="3931920" cy="438912"/>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Stanford University. Investiga prácticas de mejora durante la planificación conceptual. 15 proyectos analizados. 3 temas clave: plan, sitio y métodos constructivos.</a:t>
            </a:r>
            <a:endParaRPr lang="en-US" sz="950" dirty="0"/>
          </a:p>
        </p:txBody>
      </p:sp>
      <p:sp>
        <p:nvSpPr>
          <p:cNvPr id="20" name="Shape 18"/>
          <p:cNvSpPr/>
          <p:nvPr/>
        </p:nvSpPr>
        <p:spPr>
          <a:xfrm>
            <a:off x="4754880" y="2377440"/>
            <a:ext cx="4206240" cy="1298448"/>
          </a:xfrm>
          <a:prstGeom prst="roundRect">
            <a:avLst>
              <a:gd name="adj" fmla="val 7042"/>
            </a:avLst>
          </a:prstGeom>
          <a:solidFill>
            <a:srgbClr val="2C2C2E"/>
          </a:solidFill>
          <a:ln w="12700">
            <a:solidFill>
              <a:srgbClr val="3A3A3C"/>
            </a:solidFill>
            <a:prstDash val="solid"/>
          </a:ln>
        </p:spPr>
      </p:sp>
      <p:sp>
        <p:nvSpPr>
          <p:cNvPr id="21" name="Text 19"/>
          <p:cNvSpPr txBox="1"/>
          <p:nvPr/>
        </p:nvSpPr>
        <p:spPr>
          <a:xfrm>
            <a:off x="4882896" y="2487168"/>
            <a:ext cx="731520" cy="347472"/>
          </a:xfrm>
          <a:prstGeom prst="rect">
            <a:avLst/>
          </a:prstGeom>
          <a:noFill/>
          <a:ln/>
        </p:spPr>
        <p:txBody>
          <a:bodyPr wrap="square" lIns="0" tIns="0" rIns="0" bIns="0" rtlCol="0" anchor="ctr"/>
          <a:lstStyle/>
          <a:p>
            <a:pPr indent="0" marL="0">
              <a:buNone/>
            </a:pPr>
            <a:r>
              <a:rPr lang="en-US" sz="1600" b="1" dirty="0">
                <a:solidFill>
                  <a:srgbClr val="AF52DE"/>
                </a:solidFill>
                <a:latin typeface="Atkinson Hyperlegible" pitchFamily="34" charset="0"/>
                <a:ea typeface="Atkinson Hyperlegible" pitchFamily="34" charset="-122"/>
                <a:cs typeface="Atkinson Hyperlegible" pitchFamily="34" charset="-120"/>
              </a:rPr>
              <a:t>SD-5</a:t>
            </a:r>
            <a:endParaRPr lang="en-US" sz="1600" dirty="0"/>
          </a:p>
        </p:txBody>
      </p:sp>
      <p:sp>
        <p:nvSpPr>
          <p:cNvPr id="22" name="Text 20"/>
          <p:cNvSpPr txBox="1"/>
          <p:nvPr/>
        </p:nvSpPr>
        <p:spPr>
          <a:xfrm>
            <a:off x="5650992" y="2514600"/>
            <a:ext cx="82296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1987</a:t>
            </a:r>
            <a:endParaRPr lang="en-US" sz="1100" dirty="0"/>
          </a:p>
        </p:txBody>
      </p:sp>
      <p:sp>
        <p:nvSpPr>
          <p:cNvPr id="23" name="Text 21"/>
          <p:cNvSpPr txBox="1"/>
          <p:nvPr/>
        </p:nvSpPr>
        <p:spPr>
          <a:xfrm>
            <a:off x="4882896" y="2852928"/>
            <a:ext cx="39319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Constructability Improvement — Engineering &amp; Procurement</a:t>
            </a:r>
            <a:endParaRPr lang="en-US" sz="1200" dirty="0"/>
          </a:p>
        </p:txBody>
      </p:sp>
      <p:sp>
        <p:nvSpPr>
          <p:cNvPr id="24" name="Text 22"/>
          <p:cNvSpPr txBox="1"/>
          <p:nvPr/>
        </p:nvSpPr>
        <p:spPr>
          <a:xfrm>
            <a:off x="4882896" y="3145536"/>
            <a:ext cx="3931920" cy="438912"/>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Mejoras durante ingeniería y procura. Estandarización, modularización y diseño para eficiencia constructiva.</a:t>
            </a:r>
            <a:endParaRPr lang="en-US" sz="950" dirty="0"/>
          </a:p>
        </p:txBody>
      </p:sp>
      <p:sp>
        <p:nvSpPr>
          <p:cNvPr id="25" name="Shape 23"/>
          <p:cNvSpPr/>
          <p:nvPr/>
        </p:nvSpPr>
        <p:spPr>
          <a:xfrm>
            <a:off x="365760" y="3794760"/>
            <a:ext cx="4206240" cy="1298448"/>
          </a:xfrm>
          <a:prstGeom prst="roundRect">
            <a:avLst>
              <a:gd name="adj" fmla="val 7042"/>
            </a:avLst>
          </a:prstGeom>
          <a:solidFill>
            <a:srgbClr val="2C2C2E"/>
          </a:solidFill>
          <a:ln w="12700">
            <a:solidFill>
              <a:srgbClr val="3A3A3C"/>
            </a:solidFill>
            <a:prstDash val="solid"/>
          </a:ln>
        </p:spPr>
      </p:sp>
      <p:sp>
        <p:nvSpPr>
          <p:cNvPr id="26" name="Text 24"/>
          <p:cNvSpPr txBox="1"/>
          <p:nvPr/>
        </p:nvSpPr>
        <p:spPr>
          <a:xfrm>
            <a:off x="493776" y="3904488"/>
            <a:ext cx="731520" cy="347472"/>
          </a:xfrm>
          <a:prstGeom prst="rect">
            <a:avLst/>
          </a:prstGeom>
          <a:noFill/>
          <a:ln/>
        </p:spPr>
        <p:txBody>
          <a:bodyPr wrap="square" lIns="0" tIns="0" rIns="0" bIns="0" rtlCol="0" anchor="ctr"/>
          <a:lstStyle/>
          <a:p>
            <a:pPr indent="0" marL="0">
              <a:buNone/>
            </a:pPr>
            <a:r>
              <a:rPr lang="en-US" sz="1600" b="1" dirty="0">
                <a:solidFill>
                  <a:srgbClr val="FFD60A"/>
                </a:solidFill>
                <a:latin typeface="Atkinson Hyperlegible" pitchFamily="34" charset="0"/>
                <a:ea typeface="Atkinson Hyperlegible" pitchFamily="34" charset="-122"/>
                <a:cs typeface="Atkinson Hyperlegible" pitchFamily="34" charset="-120"/>
              </a:rPr>
              <a:t>SD-25</a:t>
            </a:r>
            <a:endParaRPr lang="en-US" sz="1600" dirty="0"/>
          </a:p>
        </p:txBody>
      </p:sp>
      <p:sp>
        <p:nvSpPr>
          <p:cNvPr id="27" name="Text 25"/>
          <p:cNvSpPr txBox="1"/>
          <p:nvPr/>
        </p:nvSpPr>
        <p:spPr>
          <a:xfrm>
            <a:off x="1261872" y="3931920"/>
            <a:ext cx="82296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1990</a:t>
            </a:r>
            <a:endParaRPr lang="en-US" sz="1100" dirty="0"/>
          </a:p>
        </p:txBody>
      </p:sp>
      <p:sp>
        <p:nvSpPr>
          <p:cNvPr id="28" name="Text 26"/>
          <p:cNvSpPr txBox="1"/>
          <p:nvPr/>
        </p:nvSpPr>
        <p:spPr>
          <a:xfrm>
            <a:off x="493776" y="4270248"/>
            <a:ext cx="39319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Constructability Using Prefab, Preassembly &amp; Modularization</a:t>
            </a:r>
            <a:endParaRPr lang="en-US" sz="1200" dirty="0"/>
          </a:p>
        </p:txBody>
      </p:sp>
      <p:sp>
        <p:nvSpPr>
          <p:cNvPr id="29" name="Text 27"/>
          <p:cNvSpPr txBox="1"/>
          <p:nvPr/>
        </p:nvSpPr>
        <p:spPr>
          <a:xfrm>
            <a:off x="493776" y="4562856"/>
            <a:ext cx="3931920" cy="438912"/>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Guía específica para proyectos con módulos, pre-ensambles y componentes prefabricados.</a:t>
            </a:r>
            <a:endParaRPr lang="en-US" sz="950" dirty="0"/>
          </a:p>
        </p:txBody>
      </p:sp>
      <p:sp>
        <p:nvSpPr>
          <p:cNvPr id="30" name="Shape 28"/>
          <p:cNvSpPr/>
          <p:nvPr/>
        </p:nvSpPr>
        <p:spPr>
          <a:xfrm>
            <a:off x="4754880" y="3794760"/>
            <a:ext cx="4206240" cy="1298448"/>
          </a:xfrm>
          <a:prstGeom prst="roundRect">
            <a:avLst>
              <a:gd name="adj" fmla="val 7042"/>
            </a:avLst>
          </a:prstGeom>
          <a:solidFill>
            <a:srgbClr val="2C2C2E"/>
          </a:solidFill>
          <a:ln w="12700">
            <a:solidFill>
              <a:srgbClr val="3A3A3C"/>
            </a:solidFill>
            <a:prstDash val="solid"/>
          </a:ln>
        </p:spPr>
      </p:sp>
      <p:sp>
        <p:nvSpPr>
          <p:cNvPr id="31" name="Text 29"/>
          <p:cNvSpPr txBox="1"/>
          <p:nvPr/>
        </p:nvSpPr>
        <p:spPr>
          <a:xfrm>
            <a:off x="4882896" y="3904488"/>
            <a:ext cx="731520" cy="347472"/>
          </a:xfrm>
          <a:prstGeom prst="rect">
            <a:avLst/>
          </a:prstGeom>
          <a:noFill/>
          <a:ln/>
        </p:spPr>
        <p:txBody>
          <a:bodyPr wrap="square" lIns="0" tIns="0" rIns="0" bIns="0" rtlCol="0" anchor="ctr"/>
          <a:lstStyle/>
          <a:p>
            <a:pPr indent="0" marL="0">
              <a:buNone/>
            </a:pPr>
            <a:r>
              <a:rPr lang="en-US" sz="1600" b="1" dirty="0">
                <a:solidFill>
                  <a:srgbClr val="FF453A"/>
                </a:solidFill>
                <a:latin typeface="Atkinson Hyperlegible" pitchFamily="34" charset="0"/>
                <a:ea typeface="Atkinson Hyperlegible" pitchFamily="34" charset="-122"/>
                <a:cs typeface="Atkinson Hyperlegible" pitchFamily="34" charset="-120"/>
              </a:rPr>
              <a:t>SP 34-1</a:t>
            </a:r>
            <a:endParaRPr lang="en-US" sz="1600" dirty="0"/>
          </a:p>
        </p:txBody>
      </p:sp>
      <p:sp>
        <p:nvSpPr>
          <p:cNvPr id="32" name="Text 30"/>
          <p:cNvSpPr txBox="1"/>
          <p:nvPr/>
        </p:nvSpPr>
        <p:spPr>
          <a:xfrm>
            <a:off x="5650992" y="3931920"/>
            <a:ext cx="82296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1993/2006</a:t>
            </a:r>
            <a:endParaRPr lang="en-US" sz="1100" dirty="0"/>
          </a:p>
        </p:txBody>
      </p:sp>
      <p:sp>
        <p:nvSpPr>
          <p:cNvPr id="33" name="Text 31"/>
          <p:cNvSpPr txBox="1"/>
          <p:nvPr/>
        </p:nvSpPr>
        <p:spPr>
          <a:xfrm>
            <a:off x="4882896" y="4270248"/>
            <a:ext cx="39319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Constructability Implementation Guide (2da Ed.)</a:t>
            </a:r>
            <a:endParaRPr lang="en-US" sz="1200" dirty="0"/>
          </a:p>
        </p:txBody>
      </p:sp>
      <p:sp>
        <p:nvSpPr>
          <p:cNvPr id="34" name="Text 32"/>
          <p:cNvSpPr txBox="1"/>
          <p:nvPr/>
        </p:nvSpPr>
        <p:spPr>
          <a:xfrm>
            <a:off x="4882896" y="4562856"/>
            <a:ext cx="3931920" cy="438912"/>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DOCUMENTO PRINCIPAL. 19 herramientas, hoja de ruta, matrices de conceptos, 4 casos de estudio completos. 17 conceptos formales de constructabilidad.</a:t>
            </a:r>
            <a:endParaRPr lang="en-US" sz="950" dirty="0"/>
          </a:p>
        </p:txBody>
      </p:sp>
      <p:sp>
        <p:nvSpPr>
          <p:cNvPr id="35" name="Text 3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Los 17 Conceptos Formales de Constructabilidad CII</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7432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Distribuidos en 3 fases del proyecto:</a:t>
            </a:r>
            <a:endParaRPr lang="en-US" sz="1400" dirty="0"/>
          </a:p>
        </p:txBody>
      </p:sp>
      <p:sp>
        <p:nvSpPr>
          <p:cNvPr id="6" name="Shape 4"/>
          <p:cNvSpPr/>
          <p:nvPr/>
        </p:nvSpPr>
        <p:spPr>
          <a:xfrm>
            <a:off x="274320" y="1261872"/>
            <a:ext cx="2834640" cy="3931920"/>
          </a:xfrm>
          <a:prstGeom prst="roundRect">
            <a:avLst>
              <a:gd name="adj" fmla="val 3871"/>
            </a:avLst>
          </a:prstGeom>
          <a:solidFill>
            <a:srgbClr val="2C2C2E"/>
          </a:solidFill>
          <a:ln w="12700">
            <a:solidFill>
              <a:srgbClr val="3A3A3C"/>
            </a:solidFill>
            <a:prstDash val="solid"/>
          </a:ln>
        </p:spPr>
      </p:sp>
      <p:sp>
        <p:nvSpPr>
          <p:cNvPr id="7" name="Shape 5"/>
          <p:cNvSpPr/>
          <p:nvPr/>
        </p:nvSpPr>
        <p:spPr>
          <a:xfrm>
            <a:off x="274320" y="1261872"/>
            <a:ext cx="2834640" cy="566928"/>
          </a:xfrm>
          <a:prstGeom prst="roundRect">
            <a:avLst>
              <a:gd name="adj" fmla="val 19355"/>
            </a:avLst>
          </a:prstGeom>
          <a:solidFill>
            <a:srgbClr val="0A84FF"/>
          </a:solidFill>
          <a:ln/>
        </p:spPr>
      </p:sp>
      <p:sp>
        <p:nvSpPr>
          <p:cNvPr id="8" name="Shape 6"/>
          <p:cNvSpPr/>
          <p:nvPr/>
        </p:nvSpPr>
        <p:spPr>
          <a:xfrm>
            <a:off x="274320" y="1536192"/>
            <a:ext cx="2834640" cy="292608"/>
          </a:xfrm>
          <a:prstGeom prst="rect">
            <a:avLst/>
          </a:prstGeom>
          <a:solidFill>
            <a:srgbClr val="0A84FF"/>
          </a:solidFill>
          <a:ln/>
        </p:spPr>
      </p:sp>
      <p:sp>
        <p:nvSpPr>
          <p:cNvPr id="9" name="Text 7"/>
          <p:cNvSpPr txBox="1"/>
          <p:nvPr/>
        </p:nvSpPr>
        <p:spPr>
          <a:xfrm>
            <a:off x="384048" y="1298448"/>
            <a:ext cx="2606040" cy="50292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Fase I  |  7 conceptos</a:t>
            </a:r>
            <a:endParaRPr lang="en-US" sz="1400" dirty="0"/>
          </a:p>
        </p:txBody>
      </p:sp>
      <p:sp>
        <p:nvSpPr>
          <p:cNvPr id="10" name="Text 8"/>
          <p:cNvSpPr txBox="1"/>
          <p:nvPr/>
        </p:nvSpPr>
        <p:spPr>
          <a:xfrm>
            <a:off x="384048" y="1874520"/>
            <a:ext cx="2606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Planificación Conceptual</a:t>
            </a:r>
            <a:endParaRPr lang="en-US" sz="1200" dirty="0"/>
          </a:p>
        </p:txBody>
      </p:sp>
      <p:sp>
        <p:nvSpPr>
          <p:cNvPr id="11" name="Text 9"/>
          <p:cNvSpPr txBox="1"/>
          <p:nvPr/>
        </p:nvSpPr>
        <p:spPr>
          <a:xfrm>
            <a:off x="384048" y="2286000"/>
            <a:ext cx="2606040" cy="365760"/>
          </a:xfrm>
          <a:prstGeom prst="rect">
            <a:avLst/>
          </a:prstGeom>
          <a:noFill/>
          <a:ln/>
        </p:spPr>
        <p:txBody>
          <a:bodyPr wrap="square" lIns="0" tIns="0" rIns="0" bIns="0" rtlCol="0" anchor="ctr"/>
          <a:lstStyle/>
          <a:p>
            <a:pPr indent="0" marL="0">
              <a:buNone/>
            </a:pPr>
            <a:r>
              <a:rPr lang="en-US" sz="950" dirty="0">
                <a:solidFill>
                  <a:srgbClr val="FFFFFF"/>
                </a:solidFill>
                <a:latin typeface="Atkinson Hyperlegible" pitchFamily="34" charset="0"/>
                <a:ea typeface="Atkinson Hyperlegible" pitchFamily="34" charset="-122"/>
                <a:cs typeface="Atkinson Hyperlegible" pitchFamily="34" charset="-120"/>
              </a:rPr>
              <a:t>I-1: Constructabilidad en el Plan de Ejecución del Proyecto</a:t>
            </a:r>
            <a:endParaRPr lang="en-US" sz="950" dirty="0"/>
          </a:p>
        </p:txBody>
      </p:sp>
      <p:sp>
        <p:nvSpPr>
          <p:cNvPr id="12" name="Text 10"/>
          <p:cNvSpPr txBox="1"/>
          <p:nvPr/>
        </p:nvSpPr>
        <p:spPr>
          <a:xfrm>
            <a:off x="384048" y="2688336"/>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I-2: Conocimiento constructivo en factibilidad temprana</a:t>
            </a:r>
            <a:endParaRPr lang="en-US" sz="950" dirty="0"/>
          </a:p>
        </p:txBody>
      </p:sp>
      <p:sp>
        <p:nvSpPr>
          <p:cNvPr id="13" name="Text 11"/>
          <p:cNvSpPr txBox="1"/>
          <p:nvPr/>
        </p:nvSpPr>
        <p:spPr>
          <a:xfrm>
            <a:off x="384048" y="309067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I-3: Estrategia de contratación con input constructivo</a:t>
            </a:r>
            <a:endParaRPr lang="en-US" sz="950" dirty="0"/>
          </a:p>
        </p:txBody>
      </p:sp>
      <p:sp>
        <p:nvSpPr>
          <p:cNvPr id="14" name="Text 12"/>
          <p:cNvSpPr txBox="1"/>
          <p:nvPr/>
        </p:nvSpPr>
        <p:spPr>
          <a:xfrm>
            <a:off x="384048" y="3493008"/>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I-4: Cronogramas orientados a construcción y arranque</a:t>
            </a:r>
            <a:endParaRPr lang="en-US" sz="950" dirty="0"/>
          </a:p>
        </p:txBody>
      </p:sp>
      <p:sp>
        <p:nvSpPr>
          <p:cNvPr id="15" name="Text 13"/>
          <p:cNvSpPr txBox="1"/>
          <p:nvPr/>
        </p:nvSpPr>
        <p:spPr>
          <a:xfrm>
            <a:off x="384048" y="3895344"/>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I-5: Métodos de construcción mayores en diseño básico</a:t>
            </a:r>
            <a:endParaRPr lang="en-US" sz="950" dirty="0"/>
          </a:p>
        </p:txBody>
      </p:sp>
      <p:sp>
        <p:nvSpPr>
          <p:cNvPr id="16" name="Text 14"/>
          <p:cNvSpPr txBox="1"/>
          <p:nvPr/>
        </p:nvSpPr>
        <p:spPr>
          <a:xfrm>
            <a:off x="384048" y="4297680"/>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I-6: Distribución de sitio eficiente para construcción</a:t>
            </a:r>
            <a:endParaRPr lang="en-US" sz="950" dirty="0"/>
          </a:p>
        </p:txBody>
      </p:sp>
      <p:sp>
        <p:nvSpPr>
          <p:cNvPr id="17" name="Text 15"/>
          <p:cNvSpPr txBox="1"/>
          <p:nvPr/>
        </p:nvSpPr>
        <p:spPr>
          <a:xfrm>
            <a:off x="384048" y="4700016"/>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I-7: Tecnologías de información aplicadas</a:t>
            </a:r>
            <a:endParaRPr lang="en-US" sz="950" dirty="0"/>
          </a:p>
        </p:txBody>
      </p:sp>
      <p:sp>
        <p:nvSpPr>
          <p:cNvPr id="18" name="Shape 16"/>
          <p:cNvSpPr/>
          <p:nvPr/>
        </p:nvSpPr>
        <p:spPr>
          <a:xfrm>
            <a:off x="3227832" y="1261872"/>
            <a:ext cx="2834640" cy="3931920"/>
          </a:xfrm>
          <a:prstGeom prst="roundRect">
            <a:avLst>
              <a:gd name="adj" fmla="val 3871"/>
            </a:avLst>
          </a:prstGeom>
          <a:solidFill>
            <a:srgbClr val="2C2C2E"/>
          </a:solidFill>
          <a:ln w="12700">
            <a:solidFill>
              <a:srgbClr val="3A3A3C"/>
            </a:solidFill>
            <a:prstDash val="solid"/>
          </a:ln>
        </p:spPr>
      </p:sp>
      <p:sp>
        <p:nvSpPr>
          <p:cNvPr id="19" name="Shape 17"/>
          <p:cNvSpPr/>
          <p:nvPr/>
        </p:nvSpPr>
        <p:spPr>
          <a:xfrm>
            <a:off x="3227832" y="1261872"/>
            <a:ext cx="2834640" cy="566928"/>
          </a:xfrm>
          <a:prstGeom prst="roundRect">
            <a:avLst>
              <a:gd name="adj" fmla="val 19355"/>
            </a:avLst>
          </a:prstGeom>
          <a:solidFill>
            <a:srgbClr val="FF9500"/>
          </a:solidFill>
          <a:ln/>
        </p:spPr>
      </p:sp>
      <p:sp>
        <p:nvSpPr>
          <p:cNvPr id="20" name="Shape 18"/>
          <p:cNvSpPr/>
          <p:nvPr/>
        </p:nvSpPr>
        <p:spPr>
          <a:xfrm>
            <a:off x="3227832" y="1536192"/>
            <a:ext cx="2834640" cy="292608"/>
          </a:xfrm>
          <a:prstGeom prst="rect">
            <a:avLst/>
          </a:prstGeom>
          <a:solidFill>
            <a:srgbClr val="FF9500"/>
          </a:solidFill>
          <a:ln/>
        </p:spPr>
      </p:sp>
      <p:sp>
        <p:nvSpPr>
          <p:cNvPr id="21" name="Text 19"/>
          <p:cNvSpPr txBox="1"/>
          <p:nvPr/>
        </p:nvSpPr>
        <p:spPr>
          <a:xfrm>
            <a:off x="3337560" y="1298448"/>
            <a:ext cx="2606040" cy="50292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Fase II  |  8 conceptos</a:t>
            </a:r>
            <a:endParaRPr lang="en-US" sz="1400" dirty="0"/>
          </a:p>
        </p:txBody>
      </p:sp>
      <p:sp>
        <p:nvSpPr>
          <p:cNvPr id="22" name="Text 20"/>
          <p:cNvSpPr txBox="1"/>
          <p:nvPr/>
        </p:nvSpPr>
        <p:spPr>
          <a:xfrm>
            <a:off x="3337560" y="1874520"/>
            <a:ext cx="2606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Diseño y Procura</a:t>
            </a:r>
            <a:endParaRPr lang="en-US" sz="1200" dirty="0"/>
          </a:p>
        </p:txBody>
      </p:sp>
      <p:sp>
        <p:nvSpPr>
          <p:cNvPr id="23" name="Text 21"/>
          <p:cNvSpPr txBox="1"/>
          <p:nvPr/>
        </p:nvSpPr>
        <p:spPr>
          <a:xfrm>
            <a:off x="3337560" y="2286000"/>
            <a:ext cx="2606040" cy="365760"/>
          </a:xfrm>
          <a:prstGeom prst="rect">
            <a:avLst/>
          </a:prstGeom>
          <a:noFill/>
          <a:ln/>
        </p:spPr>
        <p:txBody>
          <a:bodyPr wrap="square" lIns="0" tIns="0" rIns="0" bIns="0" rtlCol="0" anchor="ctr"/>
          <a:lstStyle/>
          <a:p>
            <a:pPr indent="0" marL="0">
              <a:buNone/>
            </a:pPr>
            <a:r>
              <a:rPr lang="en-US" sz="950" dirty="0">
                <a:solidFill>
                  <a:srgbClr val="FFFFFF"/>
                </a:solidFill>
                <a:latin typeface="Atkinson Hyperlegible" pitchFamily="34" charset="0"/>
                <a:ea typeface="Atkinson Hyperlegible" pitchFamily="34" charset="-122"/>
                <a:cs typeface="Atkinson Hyperlegible" pitchFamily="34" charset="-120"/>
              </a:rPr>
              <a:t>II-1: Cronogramas D&amp;P orientados a la construcción</a:t>
            </a:r>
            <a:endParaRPr lang="en-US" sz="950" dirty="0"/>
          </a:p>
        </p:txBody>
      </p:sp>
      <p:sp>
        <p:nvSpPr>
          <p:cNvPr id="24" name="Text 22"/>
          <p:cNvSpPr txBox="1"/>
          <p:nvPr/>
        </p:nvSpPr>
        <p:spPr>
          <a:xfrm>
            <a:off x="3337560" y="2688336"/>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II-2: Diseños configurados para eficiencia constructiva</a:t>
            </a:r>
            <a:endParaRPr lang="en-US" sz="950" dirty="0"/>
          </a:p>
        </p:txBody>
      </p:sp>
      <p:sp>
        <p:nvSpPr>
          <p:cNvPr id="25" name="Text 23"/>
          <p:cNvSpPr txBox="1"/>
          <p:nvPr/>
        </p:nvSpPr>
        <p:spPr>
          <a:xfrm>
            <a:off x="3337560" y="309067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II-3: Estandarización de elementos de diseño</a:t>
            </a:r>
            <a:endParaRPr lang="en-US" sz="950" dirty="0"/>
          </a:p>
        </p:txBody>
      </p:sp>
      <p:sp>
        <p:nvSpPr>
          <p:cNvPr id="26" name="Text 24"/>
          <p:cNvSpPr txBox="1"/>
          <p:nvPr/>
        </p:nvSpPr>
        <p:spPr>
          <a:xfrm>
            <a:off x="3337560" y="3493008"/>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II-4: Eficiencia en documentos de contrato</a:t>
            </a:r>
            <a:endParaRPr lang="en-US" sz="950" dirty="0"/>
          </a:p>
        </p:txBody>
      </p:sp>
      <p:sp>
        <p:nvSpPr>
          <p:cNvPr id="27" name="Text 25"/>
          <p:cNvSpPr txBox="1"/>
          <p:nvPr/>
        </p:nvSpPr>
        <p:spPr>
          <a:xfrm>
            <a:off x="3337560" y="3895344"/>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II-5: Diseños PPMOF para fabricación, transporte e instalación</a:t>
            </a:r>
            <a:endParaRPr lang="en-US" sz="950" dirty="0"/>
          </a:p>
        </p:txBody>
      </p:sp>
      <p:sp>
        <p:nvSpPr>
          <p:cNvPr id="28" name="Text 26"/>
          <p:cNvSpPr txBox="1"/>
          <p:nvPr/>
        </p:nvSpPr>
        <p:spPr>
          <a:xfrm>
            <a:off x="3337560" y="4297680"/>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II-6: Diseños promueven accesibilidad en campo</a:t>
            </a:r>
            <a:endParaRPr lang="en-US" sz="950" dirty="0"/>
          </a:p>
        </p:txBody>
      </p:sp>
      <p:sp>
        <p:nvSpPr>
          <p:cNvPr id="29" name="Text 27"/>
          <p:cNvSpPr txBox="1"/>
          <p:nvPr/>
        </p:nvSpPr>
        <p:spPr>
          <a:xfrm>
            <a:off x="3337560" y="4700016"/>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II-7: Diseños facilitan construcción bajo clima adverso</a:t>
            </a:r>
            <a:endParaRPr lang="en-US" sz="950" dirty="0"/>
          </a:p>
        </p:txBody>
      </p:sp>
      <p:sp>
        <p:nvSpPr>
          <p:cNvPr id="30" name="Text 28"/>
          <p:cNvSpPr txBox="1"/>
          <p:nvPr/>
        </p:nvSpPr>
        <p:spPr>
          <a:xfrm>
            <a:off x="3337560" y="510235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II-8: Planes del proyecto mejoran la seguridad</a:t>
            </a:r>
            <a:endParaRPr lang="en-US" sz="950" dirty="0"/>
          </a:p>
        </p:txBody>
      </p:sp>
      <p:sp>
        <p:nvSpPr>
          <p:cNvPr id="31" name="Shape 29"/>
          <p:cNvSpPr/>
          <p:nvPr/>
        </p:nvSpPr>
        <p:spPr>
          <a:xfrm>
            <a:off x="6181344" y="1261872"/>
            <a:ext cx="2834640" cy="3931920"/>
          </a:xfrm>
          <a:prstGeom prst="roundRect">
            <a:avLst>
              <a:gd name="adj" fmla="val 3871"/>
            </a:avLst>
          </a:prstGeom>
          <a:solidFill>
            <a:srgbClr val="2C2C2E"/>
          </a:solidFill>
          <a:ln w="12700">
            <a:solidFill>
              <a:srgbClr val="3A3A3C"/>
            </a:solidFill>
            <a:prstDash val="solid"/>
          </a:ln>
        </p:spPr>
      </p:sp>
      <p:sp>
        <p:nvSpPr>
          <p:cNvPr id="32" name="Shape 30"/>
          <p:cNvSpPr/>
          <p:nvPr/>
        </p:nvSpPr>
        <p:spPr>
          <a:xfrm>
            <a:off x="6181344" y="1261872"/>
            <a:ext cx="2834640" cy="566928"/>
          </a:xfrm>
          <a:prstGeom prst="roundRect">
            <a:avLst>
              <a:gd name="adj" fmla="val 19355"/>
            </a:avLst>
          </a:prstGeom>
          <a:solidFill>
            <a:srgbClr val="30D158"/>
          </a:solidFill>
          <a:ln/>
        </p:spPr>
      </p:sp>
      <p:sp>
        <p:nvSpPr>
          <p:cNvPr id="33" name="Shape 31"/>
          <p:cNvSpPr/>
          <p:nvPr/>
        </p:nvSpPr>
        <p:spPr>
          <a:xfrm>
            <a:off x="6181344" y="1536192"/>
            <a:ext cx="2834640" cy="292608"/>
          </a:xfrm>
          <a:prstGeom prst="rect">
            <a:avLst/>
          </a:prstGeom>
          <a:solidFill>
            <a:srgbClr val="30D158"/>
          </a:solidFill>
          <a:ln/>
        </p:spPr>
      </p:sp>
      <p:sp>
        <p:nvSpPr>
          <p:cNvPr id="34" name="Text 32"/>
          <p:cNvSpPr txBox="1"/>
          <p:nvPr/>
        </p:nvSpPr>
        <p:spPr>
          <a:xfrm>
            <a:off x="6291072" y="1298448"/>
            <a:ext cx="2606040" cy="50292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Fase III  |  1 concepto + innovaciones</a:t>
            </a:r>
            <a:endParaRPr lang="en-US" sz="1400" dirty="0"/>
          </a:p>
        </p:txBody>
      </p:sp>
      <p:sp>
        <p:nvSpPr>
          <p:cNvPr id="35" name="Text 33"/>
          <p:cNvSpPr txBox="1"/>
          <p:nvPr/>
        </p:nvSpPr>
        <p:spPr>
          <a:xfrm>
            <a:off x="6291072" y="1874520"/>
            <a:ext cx="2606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Operaciones de Campo</a:t>
            </a:r>
            <a:endParaRPr lang="en-US" sz="1200" dirty="0"/>
          </a:p>
        </p:txBody>
      </p:sp>
      <p:sp>
        <p:nvSpPr>
          <p:cNvPr id="36" name="Text 34"/>
          <p:cNvSpPr txBox="1"/>
          <p:nvPr/>
        </p:nvSpPr>
        <p:spPr>
          <a:xfrm>
            <a:off x="6291072" y="2286000"/>
            <a:ext cx="2606040" cy="365760"/>
          </a:xfrm>
          <a:prstGeom prst="rect">
            <a:avLst/>
          </a:prstGeom>
          <a:noFill/>
          <a:ln/>
        </p:spPr>
        <p:txBody>
          <a:bodyPr wrap="square" lIns="0" tIns="0" rIns="0" bIns="0" rtlCol="0" anchor="ctr"/>
          <a:lstStyle/>
          <a:p>
            <a:pPr indent="0" marL="0">
              <a:buNone/>
            </a:pPr>
            <a:r>
              <a:rPr lang="en-US" sz="950" dirty="0">
                <a:solidFill>
                  <a:srgbClr val="FFFFFF"/>
                </a:solidFill>
                <a:latin typeface="Atkinson Hyperlegible" pitchFamily="34" charset="0"/>
                <a:ea typeface="Atkinson Hyperlegible" pitchFamily="34" charset="-122"/>
                <a:cs typeface="Atkinson Hyperlegible" pitchFamily="34" charset="-120"/>
              </a:rPr>
              <a:t>III-1: Métodos innovadores de gestión de construcción</a:t>
            </a:r>
            <a:endParaRPr lang="en-US" sz="950" dirty="0"/>
          </a:p>
        </p:txBody>
      </p:sp>
      <p:sp>
        <p:nvSpPr>
          <p:cNvPr id="37" name="Text 35"/>
          <p:cNvSpPr txBox="1"/>
          <p:nvPr/>
        </p:nvSpPr>
        <p:spPr>
          <a:xfrm>
            <a:off x="6291072" y="2688336"/>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 Secuenciación detallada de tareas</a:t>
            </a:r>
            <a:endParaRPr lang="en-US" sz="950" dirty="0"/>
          </a:p>
        </p:txBody>
      </p:sp>
      <p:sp>
        <p:nvSpPr>
          <p:cNvPr id="38" name="Text 36"/>
          <p:cNvSpPr txBox="1"/>
          <p:nvPr/>
        </p:nvSpPr>
        <p:spPr>
          <a:xfrm>
            <a:off x="6291072" y="309067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 Materiales y sistemas de construcción temporales</a:t>
            </a:r>
            <a:endParaRPr lang="en-US" sz="950" dirty="0"/>
          </a:p>
        </p:txBody>
      </p:sp>
      <p:sp>
        <p:nvSpPr>
          <p:cNvPr id="39" name="Text 37"/>
          <p:cNvSpPr txBox="1"/>
          <p:nvPr/>
        </p:nvSpPr>
        <p:spPr>
          <a:xfrm>
            <a:off x="6291072" y="3493008"/>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 Herramientas manuales optimizadas</a:t>
            </a:r>
            <a:endParaRPr lang="en-US" sz="950" dirty="0"/>
          </a:p>
        </p:txBody>
      </p:sp>
      <p:sp>
        <p:nvSpPr>
          <p:cNvPr id="40" name="Text 38"/>
          <p:cNvSpPr txBox="1"/>
          <p:nvPr/>
        </p:nvSpPr>
        <p:spPr>
          <a:xfrm>
            <a:off x="6291072" y="3895344"/>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 Equipo de construcción optimizado</a:t>
            </a:r>
            <a:endParaRPr lang="en-US" sz="950" dirty="0"/>
          </a:p>
        </p:txBody>
      </p:sp>
      <p:sp>
        <p:nvSpPr>
          <p:cNvPr id="41" name="Text 39"/>
          <p:cNvSpPr txBox="1"/>
          <p:nvPr/>
        </p:nvSpPr>
        <p:spPr>
          <a:xfrm>
            <a:off x="6291072" y="4297680"/>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 Pre-ensamble por parte del constructor</a:t>
            </a:r>
            <a:endParaRPr lang="en-US" sz="950" dirty="0"/>
          </a:p>
        </p:txBody>
      </p:sp>
      <p:sp>
        <p:nvSpPr>
          <p:cNvPr id="42" name="Text 40"/>
          <p:cNvSpPr txBox="1"/>
          <p:nvPr/>
        </p:nvSpPr>
        <p:spPr>
          <a:xfrm>
            <a:off x="6291072" y="4700016"/>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 Instalaciones temporales estratégicas</a:t>
            </a:r>
            <a:endParaRPr lang="en-US" sz="950" dirty="0"/>
          </a:p>
        </p:txBody>
      </p:sp>
      <p:sp>
        <p:nvSpPr>
          <p:cNvPr id="43" name="Text 4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Evidencia Estadística — Investigación CII</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Análisis de 62 empresas con programas de constructabilidad (CII Task Force, 1993):</a:t>
            </a:r>
            <a:endParaRPr lang="en-US" sz="1400" dirty="0"/>
          </a:p>
        </p:txBody>
      </p:sp>
      <p:sp>
        <p:nvSpPr>
          <p:cNvPr id="6" name="Shape 4"/>
          <p:cNvSpPr/>
          <p:nvPr/>
        </p:nvSpPr>
        <p:spPr>
          <a:xfrm>
            <a:off x="274320" y="1298448"/>
            <a:ext cx="2011680" cy="1874520"/>
          </a:xfrm>
          <a:prstGeom prst="roundRect">
            <a:avLst>
              <a:gd name="adj" fmla="val 5854"/>
            </a:avLst>
          </a:prstGeom>
          <a:solidFill>
            <a:srgbClr val="2C2C2E"/>
          </a:solidFill>
          <a:ln w="25400">
            <a:solidFill>
              <a:srgbClr val="FF453A"/>
            </a:solidFill>
            <a:prstDash val="solid"/>
          </a:ln>
        </p:spPr>
      </p:sp>
      <p:sp>
        <p:nvSpPr>
          <p:cNvPr id="7" name="Text 5"/>
          <p:cNvSpPr txBox="1"/>
          <p:nvPr/>
        </p:nvSpPr>
        <p:spPr>
          <a:xfrm>
            <a:off x="274320" y="1371600"/>
            <a:ext cx="2011680" cy="822960"/>
          </a:xfrm>
          <a:prstGeom prst="rect">
            <a:avLst/>
          </a:prstGeom>
          <a:noFill/>
          <a:ln/>
        </p:spPr>
        <p:txBody>
          <a:bodyPr wrap="square" lIns="0" tIns="0" rIns="0" bIns="0" rtlCol="0" anchor="ctr"/>
          <a:lstStyle/>
          <a:p>
            <a:pPr algn="ctr" indent="0" marL="0">
              <a:buNone/>
            </a:pPr>
            <a:r>
              <a:rPr lang="en-US" sz="4200" b="1" dirty="0">
                <a:solidFill>
                  <a:srgbClr val="FF453A"/>
                </a:solidFill>
                <a:latin typeface="Atkinson Hyperlegible" pitchFamily="34" charset="0"/>
                <a:ea typeface="Atkinson Hyperlegible" pitchFamily="34" charset="-122"/>
                <a:cs typeface="Atkinson Hyperlegible" pitchFamily="34" charset="-120"/>
              </a:rPr>
              <a:t>2</a:t>
            </a:r>
            <a:endParaRPr lang="en-US" sz="4200" dirty="0"/>
          </a:p>
        </p:txBody>
      </p:sp>
      <p:sp>
        <p:nvSpPr>
          <p:cNvPr id="8" name="Text 6"/>
          <p:cNvSpPr txBox="1"/>
          <p:nvPr/>
        </p:nvSpPr>
        <p:spPr>
          <a:xfrm>
            <a:off x="365760" y="2240280"/>
            <a:ext cx="1828800" cy="32004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de 62 empresas</a:t>
            </a:r>
            <a:endParaRPr lang="en-US" sz="1100" dirty="0"/>
          </a:p>
        </p:txBody>
      </p:sp>
      <p:sp>
        <p:nvSpPr>
          <p:cNvPr id="9" name="Text 7"/>
          <p:cNvSpPr txBox="1"/>
          <p:nvPr/>
        </p:nvSpPr>
        <p:spPr>
          <a:xfrm>
            <a:off x="365760" y="2560320"/>
            <a:ext cx="18288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con programa formal</a:t>
            </a:r>
            <a:endParaRPr lang="en-US" sz="1100" dirty="0"/>
          </a:p>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comprehensivo</a:t>
            </a:r>
            <a:endParaRPr lang="en-US" sz="1100" dirty="0"/>
          </a:p>
        </p:txBody>
      </p:sp>
      <p:sp>
        <p:nvSpPr>
          <p:cNvPr id="10" name="Shape 8"/>
          <p:cNvSpPr/>
          <p:nvPr/>
        </p:nvSpPr>
        <p:spPr>
          <a:xfrm>
            <a:off x="2423160" y="1298448"/>
            <a:ext cx="2011680" cy="1874520"/>
          </a:xfrm>
          <a:prstGeom prst="roundRect">
            <a:avLst>
              <a:gd name="adj" fmla="val 5854"/>
            </a:avLst>
          </a:prstGeom>
          <a:solidFill>
            <a:srgbClr val="2C2C2E"/>
          </a:solidFill>
          <a:ln w="25400">
            <a:solidFill>
              <a:srgbClr val="30D158"/>
            </a:solidFill>
            <a:prstDash val="solid"/>
          </a:ln>
        </p:spPr>
      </p:sp>
      <p:sp>
        <p:nvSpPr>
          <p:cNvPr id="11" name="Text 9"/>
          <p:cNvSpPr txBox="1"/>
          <p:nvPr/>
        </p:nvSpPr>
        <p:spPr>
          <a:xfrm>
            <a:off x="2423160" y="1371600"/>
            <a:ext cx="2011680" cy="822960"/>
          </a:xfrm>
          <a:prstGeom prst="rect">
            <a:avLst/>
          </a:prstGeom>
          <a:noFill/>
          <a:ln/>
        </p:spPr>
        <p:txBody>
          <a:bodyPr wrap="square" lIns="0" tIns="0" rIns="0" bIns="0" rtlCol="0" anchor="ctr"/>
          <a:lstStyle/>
          <a:p>
            <a:pPr algn="ctr" indent="0" marL="0">
              <a:buNone/>
            </a:pPr>
            <a:r>
              <a:rPr lang="en-US" sz="4200" b="1" dirty="0">
                <a:solidFill>
                  <a:srgbClr val="30D158"/>
                </a:solidFill>
                <a:latin typeface="Atkinson Hyperlegible" pitchFamily="34" charset="0"/>
                <a:ea typeface="Atkinson Hyperlegible" pitchFamily="34" charset="-122"/>
                <a:cs typeface="Atkinson Hyperlegible" pitchFamily="34" charset="-120"/>
              </a:rPr>
              <a:t>4.3%</a:t>
            </a:r>
            <a:endParaRPr lang="en-US" sz="4200" dirty="0"/>
          </a:p>
        </p:txBody>
      </p:sp>
      <p:sp>
        <p:nvSpPr>
          <p:cNvPr id="12" name="Text 10"/>
          <p:cNvSpPr txBox="1"/>
          <p:nvPr/>
        </p:nvSpPr>
        <p:spPr>
          <a:xfrm>
            <a:off x="2514600" y="2240280"/>
            <a:ext cx="1828800" cy="32004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3" name="Text 11"/>
          <p:cNvSpPr txBox="1"/>
          <p:nvPr/>
        </p:nvSpPr>
        <p:spPr>
          <a:xfrm>
            <a:off x="2514600" y="2560320"/>
            <a:ext cx="18288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en costo total del</a:t>
            </a:r>
            <a:endParaRPr lang="en-US" sz="1100" dirty="0"/>
          </a:p>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14" name="Shape 12"/>
          <p:cNvSpPr/>
          <p:nvPr/>
        </p:nvSpPr>
        <p:spPr>
          <a:xfrm>
            <a:off x="4572000" y="1298448"/>
            <a:ext cx="2011680" cy="1874520"/>
          </a:xfrm>
          <a:prstGeom prst="roundRect">
            <a:avLst>
              <a:gd name="adj" fmla="val 5854"/>
            </a:avLst>
          </a:prstGeom>
          <a:solidFill>
            <a:srgbClr val="2C2C2E"/>
          </a:solidFill>
          <a:ln w="25400">
            <a:solidFill>
              <a:srgbClr val="0A84FF"/>
            </a:solidFill>
            <a:prstDash val="solid"/>
          </a:ln>
        </p:spPr>
      </p:sp>
      <p:sp>
        <p:nvSpPr>
          <p:cNvPr id="15" name="Text 13"/>
          <p:cNvSpPr txBox="1"/>
          <p:nvPr/>
        </p:nvSpPr>
        <p:spPr>
          <a:xfrm>
            <a:off x="4572000" y="1371600"/>
            <a:ext cx="2011680" cy="822960"/>
          </a:xfrm>
          <a:prstGeom prst="rect">
            <a:avLst/>
          </a:prstGeom>
          <a:noFill/>
          <a:ln/>
        </p:spPr>
        <p:txBody>
          <a:bodyPr wrap="square" lIns="0" tIns="0" rIns="0" bIns="0" rtlCol="0" anchor="ctr"/>
          <a:lstStyle/>
          <a:p>
            <a:pPr algn="ctr" indent="0" marL="0">
              <a:buNone/>
            </a:pPr>
            <a:r>
              <a:rPr lang="en-US" sz="4200" b="1" dirty="0">
                <a:solidFill>
                  <a:srgbClr val="0A84FF"/>
                </a:solidFill>
                <a:latin typeface="Atkinson Hyperlegible" pitchFamily="34" charset="0"/>
                <a:ea typeface="Atkinson Hyperlegible" pitchFamily="34" charset="-122"/>
                <a:cs typeface="Atkinson Hyperlegible" pitchFamily="34" charset="-120"/>
              </a:rPr>
              <a:t>7.5%</a:t>
            </a:r>
            <a:endParaRPr lang="en-US" sz="4200" dirty="0"/>
          </a:p>
        </p:txBody>
      </p:sp>
      <p:sp>
        <p:nvSpPr>
          <p:cNvPr id="16" name="Text 14"/>
          <p:cNvSpPr txBox="1"/>
          <p:nvPr/>
        </p:nvSpPr>
        <p:spPr>
          <a:xfrm>
            <a:off x="4663440" y="2240280"/>
            <a:ext cx="1828800" cy="32004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7" name="Text 15"/>
          <p:cNvSpPr txBox="1"/>
          <p:nvPr/>
        </p:nvSpPr>
        <p:spPr>
          <a:xfrm>
            <a:off x="4663440" y="2560320"/>
            <a:ext cx="18288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en duración total</a:t>
            </a:r>
            <a:endParaRPr lang="en-US" sz="1100" dirty="0"/>
          </a:p>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del proyecto</a:t>
            </a:r>
            <a:endParaRPr lang="en-US" sz="1100" dirty="0"/>
          </a:p>
        </p:txBody>
      </p:sp>
      <p:sp>
        <p:nvSpPr>
          <p:cNvPr id="18" name="Shape 16"/>
          <p:cNvSpPr/>
          <p:nvPr/>
        </p:nvSpPr>
        <p:spPr>
          <a:xfrm>
            <a:off x="6720840" y="1298448"/>
            <a:ext cx="2011680" cy="1874520"/>
          </a:xfrm>
          <a:prstGeom prst="roundRect">
            <a:avLst>
              <a:gd name="adj" fmla="val 5854"/>
            </a:avLst>
          </a:prstGeom>
          <a:solidFill>
            <a:srgbClr val="2C2C2E"/>
          </a:solidFill>
          <a:ln w="25400">
            <a:solidFill>
              <a:srgbClr val="FF9500"/>
            </a:solidFill>
            <a:prstDash val="solid"/>
          </a:ln>
        </p:spPr>
      </p:sp>
      <p:sp>
        <p:nvSpPr>
          <p:cNvPr id="19" name="Text 17"/>
          <p:cNvSpPr txBox="1"/>
          <p:nvPr/>
        </p:nvSpPr>
        <p:spPr>
          <a:xfrm>
            <a:off x="6720840" y="1371600"/>
            <a:ext cx="2011680" cy="822960"/>
          </a:xfrm>
          <a:prstGeom prst="rect">
            <a:avLst/>
          </a:prstGeom>
          <a:noFill/>
          <a:ln/>
        </p:spPr>
        <p:txBody>
          <a:bodyPr wrap="square" lIns="0" tIns="0" rIns="0" bIns="0" rtlCol="0" anchor="ctr"/>
          <a:lstStyle/>
          <a:p>
            <a:pPr algn="ctr" indent="0" marL="0">
              <a:buNone/>
            </a:pPr>
            <a:r>
              <a:rPr lang="en-US" sz="4200" b="1" dirty="0">
                <a:solidFill>
                  <a:srgbClr val="FF9500"/>
                </a:solidFill>
                <a:latin typeface="Atkinson Hyperlegible" pitchFamily="34" charset="0"/>
                <a:ea typeface="Atkinson Hyperlegible" pitchFamily="34" charset="-122"/>
                <a:cs typeface="Atkinson Hyperlegible" pitchFamily="34" charset="-120"/>
              </a:rPr>
              <a:t>10:1</a:t>
            </a:r>
            <a:endParaRPr lang="en-US" sz="4200" dirty="0"/>
          </a:p>
        </p:txBody>
      </p:sp>
      <p:sp>
        <p:nvSpPr>
          <p:cNvPr id="20" name="Text 18"/>
          <p:cNvSpPr txBox="1"/>
          <p:nvPr/>
        </p:nvSpPr>
        <p:spPr>
          <a:xfrm>
            <a:off x="6812280" y="2240280"/>
            <a:ext cx="1828800" cy="32004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retorno promedio</a:t>
            </a:r>
            <a:endParaRPr lang="en-US" sz="1100" dirty="0"/>
          </a:p>
        </p:txBody>
      </p:sp>
      <p:sp>
        <p:nvSpPr>
          <p:cNvPr id="21" name="Text 19"/>
          <p:cNvSpPr txBox="1"/>
          <p:nvPr/>
        </p:nvSpPr>
        <p:spPr>
          <a:xfrm>
            <a:off x="6812280" y="2560320"/>
            <a:ext cx="18288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sobre la inversión</a:t>
            </a:r>
            <a:endParaRPr lang="en-US" sz="1100" dirty="0"/>
          </a:p>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en constructabilidad</a:t>
            </a:r>
            <a:endParaRPr lang="en-US" sz="1100" dirty="0"/>
          </a:p>
        </p:txBody>
      </p:sp>
      <p:sp>
        <p:nvSpPr>
          <p:cNvPr id="22" name="Text 20"/>
          <p:cNvSpPr txBox="1"/>
          <p:nvPr/>
        </p:nvSpPr>
        <p:spPr>
          <a:xfrm>
            <a:off x="457200" y="3310128"/>
            <a:ext cx="82296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Conclusión clave de la investigación:</a:t>
            </a:r>
            <a:endParaRPr lang="en-US" sz="1400" dirty="0"/>
          </a:p>
        </p:txBody>
      </p:sp>
      <p:sp>
        <p:nvSpPr>
          <p:cNvPr id="23" name="Shape 21"/>
          <p:cNvSpPr/>
          <p:nvPr/>
        </p:nvSpPr>
        <p:spPr>
          <a:xfrm>
            <a:off x="457200" y="3657600"/>
            <a:ext cx="8229600" cy="1234440"/>
          </a:xfrm>
          <a:prstGeom prst="roundRect">
            <a:avLst>
              <a:gd name="adj" fmla="val 8889"/>
            </a:avLst>
          </a:prstGeom>
          <a:solidFill>
            <a:srgbClr val="2C2C2E"/>
          </a:solidFill>
          <a:ln w="12700">
            <a:solidFill>
              <a:srgbClr val="0A84FF"/>
            </a:solidFill>
            <a:prstDash val="solid"/>
          </a:ln>
        </p:spPr>
      </p:sp>
      <p:sp>
        <p:nvSpPr>
          <p:cNvPr id="24" name="Text 22"/>
          <p:cNvSpPr txBox="1"/>
          <p:nvPr/>
        </p:nvSpPr>
        <p:spPr>
          <a:xfrm>
            <a:off x="640080" y="3749040"/>
            <a:ext cx="7863840" cy="1051560"/>
          </a:xfrm>
          <a:prstGeom prst="rect">
            <a:avLst/>
          </a:prstGeom>
          <a:noFill/>
          <a:ln/>
        </p:spPr>
        <p:txBody>
          <a:bodyPr wrap="square" lIns="0" tIns="0" rIns="0" bIns="0" rtlCol="0" anchor="ctr"/>
          <a:lstStyle/>
          <a:p>
            <a:pPr indent="0" marL="0">
              <a:buNone/>
            </a:pPr>
            <a:r>
              <a:rPr lang="en-US" sz="1300" dirty="0">
                <a:solidFill>
                  <a:srgbClr val="FFFFFF"/>
                </a:solidFill>
                <a:latin typeface="Atkinson Hyperlegible" pitchFamily="34" charset="0"/>
                <a:ea typeface="Atkinson Hyperlegible" pitchFamily="34" charset="-122"/>
                <a:cs typeface="Atkinson Hyperlegible" pitchFamily="34" charset="-120"/>
              </a:rPr>
              <a:t>La implementación de constructabilidad a nivel de industria progresa LENTAMENTE y carece de estructura. Existe una necesidad clara de herramientas que faciliten su implementación. Los esfuerzos de constructabilidad en las fases tempranas son una INVERSIÓN que resulta en un retorno sustancial cuando se implementan metódicamente.</a:t>
            </a:r>
            <a:endParaRPr lang="en-US" sz="13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CII SP 34-1: Estructura de la Guía de Implementación</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1005840"/>
            <a:ext cx="8412480" cy="914400"/>
          </a:xfrm>
          <a:prstGeom prst="roundRect">
            <a:avLst>
              <a:gd name="adj" fmla="val 10000"/>
            </a:avLst>
          </a:prstGeom>
          <a:solidFill>
            <a:srgbClr val="2C2C2E"/>
          </a:solidFill>
          <a:ln w="12700">
            <a:solidFill>
              <a:srgbClr val="3A3A3C"/>
            </a:solidFill>
            <a:prstDash val="solid"/>
          </a:ln>
        </p:spPr>
      </p:sp>
      <p:sp>
        <p:nvSpPr>
          <p:cNvPr id="6" name="Shape 4"/>
          <p:cNvSpPr/>
          <p:nvPr/>
        </p:nvSpPr>
        <p:spPr>
          <a:xfrm>
            <a:off x="365760" y="1005840"/>
            <a:ext cx="1188720" cy="914400"/>
          </a:xfrm>
          <a:prstGeom prst="roundRect">
            <a:avLst>
              <a:gd name="adj" fmla="val 10000"/>
            </a:avLst>
          </a:prstGeom>
          <a:solidFill>
            <a:srgbClr val="0A84FF"/>
          </a:solidFill>
          <a:ln/>
        </p:spPr>
      </p:sp>
      <p:sp>
        <p:nvSpPr>
          <p:cNvPr id="7" name="Shape 5"/>
          <p:cNvSpPr/>
          <p:nvPr/>
        </p:nvSpPr>
        <p:spPr>
          <a:xfrm>
            <a:off x="1170432" y="1005840"/>
            <a:ext cx="384048" cy="914400"/>
          </a:xfrm>
          <a:prstGeom prst="rect">
            <a:avLst/>
          </a:prstGeom>
          <a:solidFill>
            <a:srgbClr val="0A84FF"/>
          </a:solidFill>
          <a:ln/>
        </p:spPr>
      </p:sp>
      <p:sp>
        <p:nvSpPr>
          <p:cNvPr id="8" name="Text 6"/>
          <p:cNvSpPr txBox="1"/>
          <p:nvPr/>
        </p:nvSpPr>
        <p:spPr>
          <a:xfrm>
            <a:off x="384048" y="1078992"/>
            <a:ext cx="11430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PARTE I</a:t>
            </a:r>
            <a:endParaRPr lang="en-US" sz="1300" dirty="0"/>
          </a:p>
        </p:txBody>
      </p:sp>
      <p:sp>
        <p:nvSpPr>
          <p:cNvPr id="9" name="Text 7"/>
          <p:cNvSpPr txBox="1"/>
          <p:nvPr/>
        </p:nvSpPr>
        <p:spPr>
          <a:xfrm>
            <a:off x="1664208" y="1060704"/>
            <a:ext cx="6949440" cy="329184"/>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Programa de Constructabilidad a Nivel Corporativo</a:t>
            </a:r>
            <a:endParaRPr lang="en-US" sz="1400" dirty="0"/>
          </a:p>
        </p:txBody>
      </p:sp>
      <p:sp>
        <p:nvSpPr>
          <p:cNvPr id="10" name="Text 8"/>
          <p:cNvSpPr txBox="1"/>
          <p:nvPr/>
        </p:nvSpPr>
        <p:spPr>
          <a:xfrm>
            <a:off x="1664208" y="1408176"/>
            <a:ext cx="6949440" cy="43891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Hitos 1 y 2. Compromiso e instalación del programa en la organización. Políticas, estructura, evaluación de barreras.</a:t>
            </a:r>
            <a:endParaRPr lang="en-US" sz="1100" dirty="0"/>
          </a:p>
        </p:txBody>
      </p:sp>
      <p:sp>
        <p:nvSpPr>
          <p:cNvPr id="11" name="Shape 9"/>
          <p:cNvSpPr/>
          <p:nvPr/>
        </p:nvSpPr>
        <p:spPr>
          <a:xfrm>
            <a:off x="365760" y="2029968"/>
            <a:ext cx="8412480" cy="914400"/>
          </a:xfrm>
          <a:prstGeom prst="roundRect">
            <a:avLst>
              <a:gd name="adj" fmla="val 10000"/>
            </a:avLst>
          </a:prstGeom>
          <a:solidFill>
            <a:srgbClr val="2C2C2E"/>
          </a:solidFill>
          <a:ln w="12700">
            <a:solidFill>
              <a:srgbClr val="3A3A3C"/>
            </a:solidFill>
            <a:prstDash val="solid"/>
          </a:ln>
        </p:spPr>
      </p:sp>
      <p:sp>
        <p:nvSpPr>
          <p:cNvPr id="12" name="Shape 10"/>
          <p:cNvSpPr/>
          <p:nvPr/>
        </p:nvSpPr>
        <p:spPr>
          <a:xfrm>
            <a:off x="365760" y="2029968"/>
            <a:ext cx="1188720" cy="914400"/>
          </a:xfrm>
          <a:prstGeom prst="roundRect">
            <a:avLst>
              <a:gd name="adj" fmla="val 10000"/>
            </a:avLst>
          </a:prstGeom>
          <a:solidFill>
            <a:srgbClr val="30D158"/>
          </a:solidFill>
          <a:ln/>
        </p:spPr>
      </p:sp>
      <p:sp>
        <p:nvSpPr>
          <p:cNvPr id="13" name="Shape 11"/>
          <p:cNvSpPr/>
          <p:nvPr/>
        </p:nvSpPr>
        <p:spPr>
          <a:xfrm>
            <a:off x="1170432" y="2029968"/>
            <a:ext cx="384048" cy="914400"/>
          </a:xfrm>
          <a:prstGeom prst="rect">
            <a:avLst/>
          </a:prstGeom>
          <a:solidFill>
            <a:srgbClr val="30D158"/>
          </a:solidFill>
          <a:ln/>
        </p:spPr>
      </p:sp>
      <p:sp>
        <p:nvSpPr>
          <p:cNvPr id="14" name="Text 12"/>
          <p:cNvSpPr txBox="1"/>
          <p:nvPr/>
        </p:nvSpPr>
        <p:spPr>
          <a:xfrm>
            <a:off x="384048" y="2103120"/>
            <a:ext cx="11430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PARTE II</a:t>
            </a:r>
            <a:endParaRPr lang="en-US" sz="1300" dirty="0"/>
          </a:p>
        </p:txBody>
      </p:sp>
      <p:sp>
        <p:nvSpPr>
          <p:cNvPr id="15" name="Text 13"/>
          <p:cNvSpPr txBox="1"/>
          <p:nvPr/>
        </p:nvSpPr>
        <p:spPr>
          <a:xfrm>
            <a:off x="1664208" y="2084832"/>
            <a:ext cx="6949440" cy="329184"/>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Programa de Constructabilidad a Nivel de Proyecto</a:t>
            </a:r>
            <a:endParaRPr lang="en-US" sz="1400" dirty="0"/>
          </a:p>
        </p:txBody>
      </p:sp>
      <p:sp>
        <p:nvSpPr>
          <p:cNvPr id="16" name="Text 14"/>
          <p:cNvSpPr txBox="1"/>
          <p:nvPr/>
        </p:nvSpPr>
        <p:spPr>
          <a:xfrm>
            <a:off x="1664208" y="2432304"/>
            <a:ext cx="6949440" cy="43891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Hitos 3-6. Capacidades, planificación, implementación y actualización. Enfoque en el director de proyecto.</a:t>
            </a:r>
            <a:endParaRPr lang="en-US" sz="1100" dirty="0"/>
          </a:p>
        </p:txBody>
      </p:sp>
      <p:sp>
        <p:nvSpPr>
          <p:cNvPr id="17" name="Shape 15"/>
          <p:cNvSpPr/>
          <p:nvPr/>
        </p:nvSpPr>
        <p:spPr>
          <a:xfrm>
            <a:off x="365760" y="3054096"/>
            <a:ext cx="8412480" cy="914400"/>
          </a:xfrm>
          <a:prstGeom prst="roundRect">
            <a:avLst>
              <a:gd name="adj" fmla="val 10000"/>
            </a:avLst>
          </a:prstGeom>
          <a:solidFill>
            <a:srgbClr val="2C2C2E"/>
          </a:solidFill>
          <a:ln w="12700">
            <a:solidFill>
              <a:srgbClr val="3A3A3C"/>
            </a:solidFill>
            <a:prstDash val="solid"/>
          </a:ln>
        </p:spPr>
      </p:sp>
      <p:sp>
        <p:nvSpPr>
          <p:cNvPr id="18" name="Shape 16"/>
          <p:cNvSpPr/>
          <p:nvPr/>
        </p:nvSpPr>
        <p:spPr>
          <a:xfrm>
            <a:off x="365760" y="3054096"/>
            <a:ext cx="1188720" cy="914400"/>
          </a:xfrm>
          <a:prstGeom prst="roundRect">
            <a:avLst>
              <a:gd name="adj" fmla="val 10000"/>
            </a:avLst>
          </a:prstGeom>
          <a:solidFill>
            <a:srgbClr val="FF9500"/>
          </a:solidFill>
          <a:ln/>
        </p:spPr>
      </p:sp>
      <p:sp>
        <p:nvSpPr>
          <p:cNvPr id="19" name="Shape 17"/>
          <p:cNvSpPr/>
          <p:nvPr/>
        </p:nvSpPr>
        <p:spPr>
          <a:xfrm>
            <a:off x="1170432" y="3054096"/>
            <a:ext cx="384048" cy="914400"/>
          </a:xfrm>
          <a:prstGeom prst="rect">
            <a:avLst/>
          </a:prstGeom>
          <a:solidFill>
            <a:srgbClr val="FF9500"/>
          </a:solidFill>
          <a:ln/>
        </p:spPr>
      </p:sp>
      <p:sp>
        <p:nvSpPr>
          <p:cNvPr id="20" name="Text 18"/>
          <p:cNvSpPr txBox="1"/>
          <p:nvPr/>
        </p:nvSpPr>
        <p:spPr>
          <a:xfrm>
            <a:off x="384048" y="3127248"/>
            <a:ext cx="11430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PARTE III</a:t>
            </a:r>
            <a:endParaRPr lang="en-US" sz="1300" dirty="0"/>
          </a:p>
        </p:txBody>
      </p:sp>
      <p:sp>
        <p:nvSpPr>
          <p:cNvPr id="21" name="Text 19"/>
          <p:cNvSpPr txBox="1"/>
          <p:nvPr/>
        </p:nvSpPr>
        <p:spPr>
          <a:xfrm>
            <a:off x="1664208" y="3108960"/>
            <a:ext cx="6949440" cy="329184"/>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19 Herramientas de Implementación</a:t>
            </a:r>
            <a:endParaRPr lang="en-US" sz="1400" dirty="0"/>
          </a:p>
        </p:txBody>
      </p:sp>
      <p:sp>
        <p:nvSpPr>
          <p:cNvPr id="22" name="Text 20"/>
          <p:cNvSpPr txBox="1"/>
          <p:nvPr/>
        </p:nvSpPr>
        <p:spPr>
          <a:xfrm>
            <a:off x="1664208" y="3456432"/>
            <a:ext cx="6949440" cy="43891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Hoja de ruta, glosario, matrices de evaluación, checklists de barreras, documentos modelo, matrices de conceptos por fase.</a:t>
            </a:r>
            <a:endParaRPr lang="en-US" sz="1100" dirty="0"/>
          </a:p>
        </p:txBody>
      </p:sp>
      <p:sp>
        <p:nvSpPr>
          <p:cNvPr id="23" name="Shape 21"/>
          <p:cNvSpPr/>
          <p:nvPr/>
        </p:nvSpPr>
        <p:spPr>
          <a:xfrm>
            <a:off x="365760" y="4078224"/>
            <a:ext cx="8412480" cy="914400"/>
          </a:xfrm>
          <a:prstGeom prst="roundRect">
            <a:avLst>
              <a:gd name="adj" fmla="val 10000"/>
            </a:avLst>
          </a:prstGeom>
          <a:solidFill>
            <a:srgbClr val="2C2C2E"/>
          </a:solidFill>
          <a:ln w="12700">
            <a:solidFill>
              <a:srgbClr val="3A3A3C"/>
            </a:solidFill>
            <a:prstDash val="solid"/>
          </a:ln>
        </p:spPr>
      </p:sp>
      <p:sp>
        <p:nvSpPr>
          <p:cNvPr id="24" name="Shape 22"/>
          <p:cNvSpPr/>
          <p:nvPr/>
        </p:nvSpPr>
        <p:spPr>
          <a:xfrm>
            <a:off x="365760" y="4078224"/>
            <a:ext cx="1188720" cy="914400"/>
          </a:xfrm>
          <a:prstGeom prst="roundRect">
            <a:avLst>
              <a:gd name="adj" fmla="val 10000"/>
            </a:avLst>
          </a:prstGeom>
          <a:solidFill>
            <a:srgbClr val="AF52DE"/>
          </a:solidFill>
          <a:ln/>
        </p:spPr>
      </p:sp>
      <p:sp>
        <p:nvSpPr>
          <p:cNvPr id="25" name="Shape 23"/>
          <p:cNvSpPr/>
          <p:nvPr/>
        </p:nvSpPr>
        <p:spPr>
          <a:xfrm>
            <a:off x="1170432" y="4078224"/>
            <a:ext cx="384048" cy="914400"/>
          </a:xfrm>
          <a:prstGeom prst="rect">
            <a:avLst/>
          </a:prstGeom>
          <a:solidFill>
            <a:srgbClr val="AF52DE"/>
          </a:solidFill>
          <a:ln/>
        </p:spPr>
      </p:sp>
      <p:sp>
        <p:nvSpPr>
          <p:cNvPr id="26" name="Text 24"/>
          <p:cNvSpPr txBox="1"/>
          <p:nvPr/>
        </p:nvSpPr>
        <p:spPr>
          <a:xfrm>
            <a:off x="384048" y="4151376"/>
            <a:ext cx="11430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PARTE IV</a:t>
            </a:r>
            <a:endParaRPr lang="en-US" sz="1300" dirty="0"/>
          </a:p>
        </p:txBody>
      </p:sp>
      <p:sp>
        <p:nvSpPr>
          <p:cNvPr id="27" name="Text 25"/>
          <p:cNvSpPr txBox="1"/>
          <p:nvPr/>
        </p:nvSpPr>
        <p:spPr>
          <a:xfrm>
            <a:off x="1664208" y="4133088"/>
            <a:ext cx="6949440" cy="329184"/>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Casos de Estudio y Análisis Comparativo</a:t>
            </a:r>
            <a:endParaRPr lang="en-US" sz="1400" dirty="0"/>
          </a:p>
        </p:txBody>
      </p:sp>
      <p:sp>
        <p:nvSpPr>
          <p:cNvPr id="28" name="Text 26"/>
          <p:cNvSpPr txBox="1"/>
          <p:nvPr/>
        </p:nvSpPr>
        <p:spPr>
          <a:xfrm>
            <a:off x="1664208" y="4480560"/>
            <a:ext cx="6949440" cy="43891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4 casos documentados: edificio comercial, planta manufacturera, petroquímica, gas industrial. Análisis de beneficios cuantificados.</a:t>
            </a:r>
            <a:endParaRPr lang="en-US" sz="1100" dirty="0"/>
          </a:p>
        </p:txBody>
      </p:sp>
      <p:sp>
        <p:nvSpPr>
          <p:cNvPr id="29" name="Text 2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2C2C2E"/>
                </a:solidFill>
                <a:latin typeface="Atkinson Hyperlegible" pitchFamily="34" charset="0"/>
                <a:ea typeface="Atkinson Hyperlegible" pitchFamily="34" charset="-122"/>
                <a:cs typeface="Atkinson Hyperlegible" pitchFamily="34" charset="-120"/>
              </a:rPr>
              <a:t>03</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Atkinson Hyperlegible" pitchFamily="34" charset="0"/>
                <a:ea typeface="Atkinson Hyperlegible" pitchFamily="34" charset="-122"/>
                <a:cs typeface="Atkinson Hyperlegible" pitchFamily="34" charset="-120"/>
              </a:rPr>
              <a:t>Conceptos Fase 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8E8E93"/>
                </a:solidFill>
                <a:latin typeface="Atkinson Hyperlegible" pitchFamily="34" charset="0"/>
                <a:ea typeface="Atkinson Hyperlegible" pitchFamily="34" charset="-122"/>
                <a:cs typeface="Atkinson Hyperlegible" pitchFamily="34" charset="-120"/>
              </a:rPr>
              <a:t>Planificación Conceptual — 7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Fase I — Planificación Conceptual: Visión General</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Esta fase es cuando las decisiones tienen la MAYOR influencia sobre el costo total del proyecto:</a:t>
            </a:r>
            <a:endParaRPr lang="en-US" sz="1400" dirty="0"/>
          </a:p>
        </p:txBody>
      </p:sp>
      <p:sp>
        <p:nvSpPr>
          <p:cNvPr id="6" name="Shape 4"/>
          <p:cNvSpPr/>
          <p:nvPr/>
        </p:nvSpPr>
        <p:spPr>
          <a:xfrm>
            <a:off x="365760" y="1298448"/>
            <a:ext cx="4206240" cy="914400"/>
          </a:xfrm>
          <a:prstGeom prst="roundRect">
            <a:avLst>
              <a:gd name="adj" fmla="val 10000"/>
            </a:avLst>
          </a:prstGeom>
          <a:solidFill>
            <a:srgbClr val="2C2C2E"/>
          </a:solidFill>
          <a:ln w="12700">
            <a:solidFill>
              <a:srgbClr val="3A3A3C"/>
            </a:solidFill>
            <a:prstDash val="solid"/>
          </a:ln>
        </p:spPr>
      </p:sp>
      <p:sp>
        <p:nvSpPr>
          <p:cNvPr id="7" name="Shape 5"/>
          <p:cNvSpPr/>
          <p:nvPr/>
        </p:nvSpPr>
        <p:spPr>
          <a:xfrm>
            <a:off x="365760" y="1298448"/>
            <a:ext cx="73152" cy="914400"/>
          </a:xfrm>
          <a:prstGeom prst="rect">
            <a:avLst/>
          </a:prstGeom>
          <a:solidFill>
            <a:srgbClr val="0A84FF"/>
          </a:solidFill>
          <a:ln/>
        </p:spPr>
      </p:sp>
      <p:sp>
        <p:nvSpPr>
          <p:cNvPr id="8" name="Text 6"/>
          <p:cNvSpPr txBox="1"/>
          <p:nvPr/>
        </p:nvSpPr>
        <p:spPr>
          <a:xfrm>
            <a:off x="566928" y="1371600"/>
            <a:ext cx="548640" cy="347472"/>
          </a:xfrm>
          <a:prstGeom prst="rect">
            <a:avLst/>
          </a:prstGeom>
          <a:noFill/>
          <a:ln/>
        </p:spPr>
        <p:txBody>
          <a:bodyPr wrap="square" lIns="0" tIns="0" rIns="0" bIns="0" rtlCol="0" anchor="ctr"/>
          <a:lstStyle/>
          <a:p>
            <a:pPr indent="0" marL="0">
              <a:buNone/>
            </a:pPr>
            <a:r>
              <a:rPr lang="en-US" sz="1600" b="1" dirty="0">
                <a:solidFill>
                  <a:srgbClr val="0A84FF"/>
                </a:solidFill>
                <a:latin typeface="Atkinson Hyperlegible" pitchFamily="34" charset="0"/>
                <a:ea typeface="Atkinson Hyperlegible" pitchFamily="34" charset="-122"/>
                <a:cs typeface="Atkinson Hyperlegible" pitchFamily="34" charset="-120"/>
              </a:rPr>
              <a:t>I-1</a:t>
            </a:r>
            <a:endParaRPr lang="en-US" sz="1600" dirty="0"/>
          </a:p>
        </p:txBody>
      </p:sp>
      <p:sp>
        <p:nvSpPr>
          <p:cNvPr id="9" name="Text 7"/>
          <p:cNvSpPr txBox="1"/>
          <p:nvPr/>
        </p:nvSpPr>
        <p:spPr>
          <a:xfrm>
            <a:off x="1170432" y="1371600"/>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Plan de Ejecución del Proyecto (PEP)</a:t>
            </a:r>
            <a:endParaRPr lang="en-US" sz="1300" dirty="0"/>
          </a:p>
        </p:txBody>
      </p:sp>
      <p:sp>
        <p:nvSpPr>
          <p:cNvPr id="10" name="Text 8"/>
          <p:cNvSpPr txBox="1"/>
          <p:nvPr/>
        </p:nvSpPr>
        <p:spPr>
          <a:xfrm>
            <a:off x="566928" y="1737360"/>
            <a:ext cx="38404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Constructabilidad integrada al PEP formal</a:t>
            </a:r>
            <a:endParaRPr lang="en-US" sz="1100" dirty="0"/>
          </a:p>
        </p:txBody>
      </p:sp>
      <p:sp>
        <p:nvSpPr>
          <p:cNvPr id="11" name="Shape 9"/>
          <p:cNvSpPr/>
          <p:nvPr/>
        </p:nvSpPr>
        <p:spPr>
          <a:xfrm>
            <a:off x="4754880" y="1298448"/>
            <a:ext cx="4206240" cy="914400"/>
          </a:xfrm>
          <a:prstGeom prst="roundRect">
            <a:avLst>
              <a:gd name="adj" fmla="val 10000"/>
            </a:avLst>
          </a:prstGeom>
          <a:solidFill>
            <a:srgbClr val="2C2C2E"/>
          </a:solidFill>
          <a:ln w="12700">
            <a:solidFill>
              <a:srgbClr val="3A3A3C"/>
            </a:solidFill>
            <a:prstDash val="solid"/>
          </a:ln>
        </p:spPr>
      </p:sp>
      <p:sp>
        <p:nvSpPr>
          <p:cNvPr id="12" name="Shape 10"/>
          <p:cNvSpPr/>
          <p:nvPr/>
        </p:nvSpPr>
        <p:spPr>
          <a:xfrm>
            <a:off x="4754880" y="1298448"/>
            <a:ext cx="73152" cy="914400"/>
          </a:xfrm>
          <a:prstGeom prst="rect">
            <a:avLst/>
          </a:prstGeom>
          <a:solidFill>
            <a:srgbClr val="64D2FF"/>
          </a:solidFill>
          <a:ln/>
        </p:spPr>
      </p:sp>
      <p:sp>
        <p:nvSpPr>
          <p:cNvPr id="13" name="Text 11"/>
          <p:cNvSpPr txBox="1"/>
          <p:nvPr/>
        </p:nvSpPr>
        <p:spPr>
          <a:xfrm>
            <a:off x="4956048" y="1371600"/>
            <a:ext cx="548640" cy="347472"/>
          </a:xfrm>
          <a:prstGeom prst="rect">
            <a:avLst/>
          </a:prstGeom>
          <a:noFill/>
          <a:ln/>
        </p:spPr>
        <p:txBody>
          <a:bodyPr wrap="square" lIns="0" tIns="0" rIns="0" bIns="0" rtlCol="0" anchor="ctr"/>
          <a:lstStyle/>
          <a:p>
            <a:pPr indent="0" marL="0">
              <a:buNone/>
            </a:pPr>
            <a:r>
              <a:rPr lang="en-US" sz="1600" b="1" dirty="0">
                <a:solidFill>
                  <a:srgbClr val="64D2FF"/>
                </a:solidFill>
                <a:latin typeface="Atkinson Hyperlegible" pitchFamily="34" charset="0"/>
                <a:ea typeface="Atkinson Hyperlegible" pitchFamily="34" charset="-122"/>
                <a:cs typeface="Atkinson Hyperlegible" pitchFamily="34" charset="-120"/>
              </a:rPr>
              <a:t>I-2</a:t>
            </a:r>
            <a:endParaRPr lang="en-US" sz="1600" dirty="0"/>
          </a:p>
        </p:txBody>
      </p:sp>
      <p:sp>
        <p:nvSpPr>
          <p:cNvPr id="14" name="Text 12"/>
          <p:cNvSpPr txBox="1"/>
          <p:nvPr/>
        </p:nvSpPr>
        <p:spPr>
          <a:xfrm>
            <a:off x="5559552" y="1371600"/>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Factibilidad Temprana</a:t>
            </a:r>
            <a:endParaRPr lang="en-US" sz="1300" dirty="0"/>
          </a:p>
        </p:txBody>
      </p:sp>
      <p:sp>
        <p:nvSpPr>
          <p:cNvPr id="15" name="Text 13"/>
          <p:cNvSpPr txBox="1"/>
          <p:nvPr/>
        </p:nvSpPr>
        <p:spPr>
          <a:xfrm>
            <a:off x="4956048" y="1737360"/>
            <a:ext cx="38404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Conocimiento constructivo en etapa de factibilidad</a:t>
            </a:r>
            <a:endParaRPr lang="en-US" sz="1100" dirty="0"/>
          </a:p>
        </p:txBody>
      </p:sp>
      <p:sp>
        <p:nvSpPr>
          <p:cNvPr id="16" name="Shape 14"/>
          <p:cNvSpPr/>
          <p:nvPr/>
        </p:nvSpPr>
        <p:spPr>
          <a:xfrm>
            <a:off x="365760" y="2322576"/>
            <a:ext cx="4206240" cy="914400"/>
          </a:xfrm>
          <a:prstGeom prst="roundRect">
            <a:avLst>
              <a:gd name="adj" fmla="val 10000"/>
            </a:avLst>
          </a:prstGeom>
          <a:solidFill>
            <a:srgbClr val="2C2C2E"/>
          </a:solidFill>
          <a:ln w="12700">
            <a:solidFill>
              <a:srgbClr val="3A3A3C"/>
            </a:solidFill>
            <a:prstDash val="solid"/>
          </a:ln>
        </p:spPr>
      </p:sp>
      <p:sp>
        <p:nvSpPr>
          <p:cNvPr id="17" name="Shape 15"/>
          <p:cNvSpPr/>
          <p:nvPr/>
        </p:nvSpPr>
        <p:spPr>
          <a:xfrm>
            <a:off x="365760" y="2322576"/>
            <a:ext cx="73152" cy="914400"/>
          </a:xfrm>
          <a:prstGeom prst="rect">
            <a:avLst/>
          </a:prstGeom>
          <a:solidFill>
            <a:srgbClr val="30D158"/>
          </a:solidFill>
          <a:ln/>
        </p:spPr>
      </p:sp>
      <p:sp>
        <p:nvSpPr>
          <p:cNvPr id="18" name="Text 16"/>
          <p:cNvSpPr txBox="1"/>
          <p:nvPr/>
        </p:nvSpPr>
        <p:spPr>
          <a:xfrm>
            <a:off x="566928" y="2395728"/>
            <a:ext cx="548640" cy="347472"/>
          </a:xfrm>
          <a:prstGeom prst="rect">
            <a:avLst/>
          </a:prstGeom>
          <a:noFill/>
          <a:ln/>
        </p:spPr>
        <p:txBody>
          <a:bodyPr wrap="square" lIns="0" tIns="0" rIns="0" bIns="0" rtlCol="0" anchor="ctr"/>
          <a:lstStyle/>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I-3</a:t>
            </a:r>
            <a:endParaRPr lang="en-US" sz="1600" dirty="0"/>
          </a:p>
        </p:txBody>
      </p:sp>
      <p:sp>
        <p:nvSpPr>
          <p:cNvPr id="19" name="Text 17"/>
          <p:cNvSpPr txBox="1"/>
          <p:nvPr/>
        </p:nvSpPr>
        <p:spPr>
          <a:xfrm>
            <a:off x="1170432" y="2395728"/>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Estrategia de Contratación</a:t>
            </a:r>
            <a:endParaRPr lang="en-US" sz="1300" dirty="0"/>
          </a:p>
        </p:txBody>
      </p:sp>
      <p:sp>
        <p:nvSpPr>
          <p:cNvPr id="20" name="Text 18"/>
          <p:cNvSpPr txBox="1"/>
          <p:nvPr/>
        </p:nvSpPr>
        <p:spPr>
          <a:xfrm>
            <a:off x="566928" y="2761488"/>
            <a:ext cx="38404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Input constructivo en la estrategia de contratación</a:t>
            </a:r>
            <a:endParaRPr lang="en-US" sz="1100" dirty="0"/>
          </a:p>
        </p:txBody>
      </p:sp>
      <p:sp>
        <p:nvSpPr>
          <p:cNvPr id="21" name="Shape 19"/>
          <p:cNvSpPr/>
          <p:nvPr/>
        </p:nvSpPr>
        <p:spPr>
          <a:xfrm>
            <a:off x="4754880" y="2322576"/>
            <a:ext cx="4206240" cy="914400"/>
          </a:xfrm>
          <a:prstGeom prst="roundRect">
            <a:avLst>
              <a:gd name="adj" fmla="val 10000"/>
            </a:avLst>
          </a:prstGeom>
          <a:solidFill>
            <a:srgbClr val="2C2C2E"/>
          </a:solidFill>
          <a:ln w="12700">
            <a:solidFill>
              <a:srgbClr val="3A3A3C"/>
            </a:solidFill>
            <a:prstDash val="solid"/>
          </a:ln>
        </p:spPr>
      </p:sp>
      <p:sp>
        <p:nvSpPr>
          <p:cNvPr id="22" name="Shape 20"/>
          <p:cNvSpPr/>
          <p:nvPr/>
        </p:nvSpPr>
        <p:spPr>
          <a:xfrm>
            <a:off x="4754880" y="2322576"/>
            <a:ext cx="73152" cy="914400"/>
          </a:xfrm>
          <a:prstGeom prst="rect">
            <a:avLst/>
          </a:prstGeom>
          <a:solidFill>
            <a:srgbClr val="FF9500"/>
          </a:solidFill>
          <a:ln/>
        </p:spPr>
      </p:sp>
      <p:sp>
        <p:nvSpPr>
          <p:cNvPr id="23" name="Text 21"/>
          <p:cNvSpPr txBox="1"/>
          <p:nvPr/>
        </p:nvSpPr>
        <p:spPr>
          <a:xfrm>
            <a:off x="4956048" y="2395728"/>
            <a:ext cx="548640" cy="347472"/>
          </a:xfrm>
          <a:prstGeom prst="rect">
            <a:avLst/>
          </a:prstGeom>
          <a:noFill/>
          <a:ln/>
        </p:spPr>
        <p:txBody>
          <a:bodyPr wrap="square" lIns="0" tIns="0" rIns="0" bIns="0" rtlCol="0" anchor="ctr"/>
          <a:lstStyle/>
          <a:p>
            <a:pPr indent="0" marL="0">
              <a:buNone/>
            </a:pPr>
            <a:r>
              <a:rPr lang="en-US" sz="1600" b="1" dirty="0">
                <a:solidFill>
                  <a:srgbClr val="FF9500"/>
                </a:solidFill>
                <a:latin typeface="Atkinson Hyperlegible" pitchFamily="34" charset="0"/>
                <a:ea typeface="Atkinson Hyperlegible" pitchFamily="34" charset="-122"/>
                <a:cs typeface="Atkinson Hyperlegible" pitchFamily="34" charset="-120"/>
              </a:rPr>
              <a:t>I-4</a:t>
            </a:r>
            <a:endParaRPr lang="en-US" sz="1600" dirty="0"/>
          </a:p>
        </p:txBody>
      </p:sp>
      <p:sp>
        <p:nvSpPr>
          <p:cNvPr id="24" name="Text 22"/>
          <p:cNvSpPr txBox="1"/>
          <p:nvPr/>
        </p:nvSpPr>
        <p:spPr>
          <a:xfrm>
            <a:off x="5559552" y="2395728"/>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Cronograma Orientado a Construcción</a:t>
            </a:r>
            <a:endParaRPr lang="en-US" sz="1300" dirty="0"/>
          </a:p>
        </p:txBody>
      </p:sp>
      <p:sp>
        <p:nvSpPr>
          <p:cNvPr id="25" name="Text 23"/>
          <p:cNvSpPr txBox="1"/>
          <p:nvPr/>
        </p:nvSpPr>
        <p:spPr>
          <a:xfrm>
            <a:off x="4956048" y="2761488"/>
            <a:ext cx="38404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Programas master construction-sensitive</a:t>
            </a:r>
            <a:endParaRPr lang="en-US" sz="1100" dirty="0"/>
          </a:p>
        </p:txBody>
      </p:sp>
      <p:sp>
        <p:nvSpPr>
          <p:cNvPr id="26" name="Shape 24"/>
          <p:cNvSpPr/>
          <p:nvPr/>
        </p:nvSpPr>
        <p:spPr>
          <a:xfrm>
            <a:off x="365760" y="3346704"/>
            <a:ext cx="4206240" cy="914400"/>
          </a:xfrm>
          <a:prstGeom prst="roundRect">
            <a:avLst>
              <a:gd name="adj" fmla="val 10000"/>
            </a:avLst>
          </a:prstGeom>
          <a:solidFill>
            <a:srgbClr val="2C2C2E"/>
          </a:solidFill>
          <a:ln w="12700">
            <a:solidFill>
              <a:srgbClr val="3A3A3C"/>
            </a:solidFill>
            <a:prstDash val="solid"/>
          </a:ln>
        </p:spPr>
      </p:sp>
      <p:sp>
        <p:nvSpPr>
          <p:cNvPr id="27" name="Shape 25"/>
          <p:cNvSpPr/>
          <p:nvPr/>
        </p:nvSpPr>
        <p:spPr>
          <a:xfrm>
            <a:off x="365760" y="3346704"/>
            <a:ext cx="73152" cy="914400"/>
          </a:xfrm>
          <a:prstGeom prst="rect">
            <a:avLst/>
          </a:prstGeom>
          <a:solidFill>
            <a:srgbClr val="FF453A"/>
          </a:solidFill>
          <a:ln/>
        </p:spPr>
      </p:sp>
      <p:sp>
        <p:nvSpPr>
          <p:cNvPr id="28" name="Text 26"/>
          <p:cNvSpPr txBox="1"/>
          <p:nvPr/>
        </p:nvSpPr>
        <p:spPr>
          <a:xfrm>
            <a:off x="566928" y="3419856"/>
            <a:ext cx="548640" cy="347472"/>
          </a:xfrm>
          <a:prstGeom prst="rect">
            <a:avLst/>
          </a:prstGeom>
          <a:noFill/>
          <a:ln/>
        </p:spPr>
        <p:txBody>
          <a:bodyPr wrap="square" lIns="0" tIns="0" rIns="0" bIns="0" rtlCol="0" anchor="ctr"/>
          <a:lstStyle/>
          <a:p>
            <a:pPr indent="0" marL="0">
              <a:buNone/>
            </a:pPr>
            <a:r>
              <a:rPr lang="en-US" sz="1600" b="1" dirty="0">
                <a:solidFill>
                  <a:srgbClr val="FF453A"/>
                </a:solidFill>
                <a:latin typeface="Atkinson Hyperlegible" pitchFamily="34" charset="0"/>
                <a:ea typeface="Atkinson Hyperlegible" pitchFamily="34" charset="-122"/>
                <a:cs typeface="Atkinson Hyperlegible" pitchFamily="34" charset="-120"/>
              </a:rPr>
              <a:t>I-5</a:t>
            </a:r>
            <a:endParaRPr lang="en-US" sz="1600" dirty="0"/>
          </a:p>
        </p:txBody>
      </p:sp>
      <p:sp>
        <p:nvSpPr>
          <p:cNvPr id="29" name="Text 27"/>
          <p:cNvSpPr txBox="1"/>
          <p:nvPr/>
        </p:nvSpPr>
        <p:spPr>
          <a:xfrm>
            <a:off x="1170432" y="3419856"/>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Métodos Constructivos Mayores</a:t>
            </a:r>
            <a:endParaRPr lang="en-US" sz="1300" dirty="0"/>
          </a:p>
        </p:txBody>
      </p:sp>
      <p:sp>
        <p:nvSpPr>
          <p:cNvPr id="30" name="Text 28"/>
          <p:cNvSpPr txBox="1"/>
          <p:nvPr/>
        </p:nvSpPr>
        <p:spPr>
          <a:xfrm>
            <a:off x="566928" y="3785616"/>
            <a:ext cx="38404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Modularización, izajes, métodos de alto impacto</a:t>
            </a:r>
            <a:endParaRPr lang="en-US" sz="1100" dirty="0"/>
          </a:p>
        </p:txBody>
      </p:sp>
      <p:sp>
        <p:nvSpPr>
          <p:cNvPr id="31" name="Shape 29"/>
          <p:cNvSpPr/>
          <p:nvPr/>
        </p:nvSpPr>
        <p:spPr>
          <a:xfrm>
            <a:off x="4754880" y="3346704"/>
            <a:ext cx="4206240" cy="914400"/>
          </a:xfrm>
          <a:prstGeom prst="roundRect">
            <a:avLst>
              <a:gd name="adj" fmla="val 10000"/>
            </a:avLst>
          </a:prstGeom>
          <a:solidFill>
            <a:srgbClr val="2C2C2E"/>
          </a:solidFill>
          <a:ln w="12700">
            <a:solidFill>
              <a:srgbClr val="3A3A3C"/>
            </a:solidFill>
            <a:prstDash val="solid"/>
          </a:ln>
        </p:spPr>
      </p:sp>
      <p:sp>
        <p:nvSpPr>
          <p:cNvPr id="32" name="Shape 30"/>
          <p:cNvSpPr/>
          <p:nvPr/>
        </p:nvSpPr>
        <p:spPr>
          <a:xfrm>
            <a:off x="4754880" y="3346704"/>
            <a:ext cx="73152" cy="914400"/>
          </a:xfrm>
          <a:prstGeom prst="rect">
            <a:avLst/>
          </a:prstGeom>
          <a:solidFill>
            <a:srgbClr val="AF52DE"/>
          </a:solidFill>
          <a:ln/>
        </p:spPr>
      </p:sp>
      <p:sp>
        <p:nvSpPr>
          <p:cNvPr id="33" name="Text 31"/>
          <p:cNvSpPr txBox="1"/>
          <p:nvPr/>
        </p:nvSpPr>
        <p:spPr>
          <a:xfrm>
            <a:off x="4956048" y="3419856"/>
            <a:ext cx="548640" cy="347472"/>
          </a:xfrm>
          <a:prstGeom prst="rect">
            <a:avLst/>
          </a:prstGeom>
          <a:noFill/>
          <a:ln/>
        </p:spPr>
        <p:txBody>
          <a:bodyPr wrap="square" lIns="0" tIns="0" rIns="0" bIns="0" rtlCol="0" anchor="ctr"/>
          <a:lstStyle/>
          <a:p>
            <a:pPr indent="0" marL="0">
              <a:buNone/>
            </a:pPr>
            <a:r>
              <a:rPr lang="en-US" sz="1600" b="1" dirty="0">
                <a:solidFill>
                  <a:srgbClr val="AF52DE"/>
                </a:solidFill>
                <a:latin typeface="Atkinson Hyperlegible" pitchFamily="34" charset="0"/>
                <a:ea typeface="Atkinson Hyperlegible" pitchFamily="34" charset="-122"/>
                <a:cs typeface="Atkinson Hyperlegible" pitchFamily="34" charset="-120"/>
              </a:rPr>
              <a:t>I-6</a:t>
            </a:r>
            <a:endParaRPr lang="en-US" sz="1600" dirty="0"/>
          </a:p>
        </p:txBody>
      </p:sp>
      <p:sp>
        <p:nvSpPr>
          <p:cNvPr id="34" name="Text 32"/>
          <p:cNvSpPr txBox="1"/>
          <p:nvPr/>
        </p:nvSpPr>
        <p:spPr>
          <a:xfrm>
            <a:off x="5559552" y="3419856"/>
            <a:ext cx="329184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Distribución del Sitio</a:t>
            </a:r>
            <a:endParaRPr lang="en-US" sz="1300" dirty="0"/>
          </a:p>
        </p:txBody>
      </p:sp>
      <p:sp>
        <p:nvSpPr>
          <p:cNvPr id="35" name="Text 33"/>
          <p:cNvSpPr txBox="1"/>
          <p:nvPr/>
        </p:nvSpPr>
        <p:spPr>
          <a:xfrm>
            <a:off x="4956048" y="3785616"/>
            <a:ext cx="38404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Layout eficiente para construcción y operación</a:t>
            </a:r>
            <a:endParaRPr lang="en-US" sz="1100" dirty="0"/>
          </a:p>
        </p:txBody>
      </p:sp>
      <p:sp>
        <p:nvSpPr>
          <p:cNvPr id="36" name="Shape 34"/>
          <p:cNvSpPr/>
          <p:nvPr/>
        </p:nvSpPr>
        <p:spPr>
          <a:xfrm>
            <a:off x="365760" y="4407408"/>
            <a:ext cx="8412480" cy="685800"/>
          </a:xfrm>
          <a:prstGeom prst="roundRect">
            <a:avLst>
              <a:gd name="adj" fmla="val 13333"/>
            </a:avLst>
          </a:prstGeom>
          <a:solidFill>
            <a:srgbClr val="2C2C2E"/>
          </a:solidFill>
          <a:ln w="12700">
            <a:solidFill>
              <a:srgbClr val="FFD60A"/>
            </a:solidFill>
            <a:prstDash val="solid"/>
          </a:ln>
        </p:spPr>
      </p:sp>
      <p:sp>
        <p:nvSpPr>
          <p:cNvPr id="37" name="Text 35"/>
          <p:cNvSpPr txBox="1"/>
          <p:nvPr/>
        </p:nvSpPr>
        <p:spPr>
          <a:xfrm>
            <a:off x="548640" y="4480560"/>
            <a:ext cx="548640" cy="365760"/>
          </a:xfrm>
          <a:prstGeom prst="rect">
            <a:avLst/>
          </a:prstGeom>
          <a:noFill/>
          <a:ln/>
        </p:spPr>
        <p:txBody>
          <a:bodyPr wrap="square" lIns="0" tIns="0" rIns="0" bIns="0" rtlCol="0" anchor="ctr"/>
          <a:lstStyle/>
          <a:p>
            <a:pPr indent="0" marL="0">
              <a:buNone/>
            </a:pPr>
            <a:r>
              <a:rPr lang="en-US" sz="1400" b="1" dirty="0">
                <a:solidFill>
                  <a:srgbClr val="FFD60A"/>
                </a:solidFill>
                <a:latin typeface="Atkinson Hyperlegible" pitchFamily="34" charset="0"/>
                <a:ea typeface="Atkinson Hyperlegible" pitchFamily="34" charset="-122"/>
                <a:cs typeface="Atkinson Hyperlegible" pitchFamily="34" charset="-120"/>
              </a:rPr>
              <a:t>I-7</a:t>
            </a:r>
            <a:endParaRPr lang="en-US" sz="1400" dirty="0"/>
          </a:p>
        </p:txBody>
      </p:sp>
      <p:sp>
        <p:nvSpPr>
          <p:cNvPr id="38" name="Text 36"/>
          <p:cNvSpPr txBox="1"/>
          <p:nvPr/>
        </p:nvSpPr>
        <p:spPr>
          <a:xfrm>
            <a:off x="1188720" y="4480560"/>
            <a:ext cx="2743200" cy="36576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Tecnologías de Información</a:t>
            </a:r>
            <a:endParaRPr lang="en-US" sz="1300" dirty="0"/>
          </a:p>
        </p:txBody>
      </p:sp>
      <p:sp>
        <p:nvSpPr>
          <p:cNvPr id="39" name="Text 37"/>
          <p:cNvSpPr txBox="1"/>
          <p:nvPr/>
        </p:nvSpPr>
        <p:spPr>
          <a:xfrm>
            <a:off x="4023360" y="4480560"/>
            <a:ext cx="4480560" cy="36576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BIM, GIS, 3D/4D CAD, simulación</a:t>
            </a:r>
            <a:endParaRPr lang="en-US" sz="120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I-1: Constructabilidad en el Plan de Ejecución (PEP)</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777240"/>
          </a:xfrm>
          <a:prstGeom prst="roundRect">
            <a:avLst>
              <a:gd name="adj" fmla="val 14118"/>
            </a:avLst>
          </a:prstGeom>
          <a:solidFill>
            <a:srgbClr val="0A84FF">
              <a:alpha val="15000"/>
            </a:srgbClr>
          </a:solidFill>
          <a:ln w="12700">
            <a:solidFill>
              <a:srgbClr val="0A84FF"/>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"Los planes de implementación de constructabilidad son parte integral del Plan de Ejecución del Proyecto (PEP)."</a:t>
            </a:r>
            <a:endParaRPr lang="en-US" sz="1500" dirty="0"/>
          </a:p>
        </p:txBody>
      </p:sp>
      <p:sp>
        <p:nvSpPr>
          <p:cNvPr id="7" name="Text 5"/>
          <p:cNvSpPr txBox="1"/>
          <p:nvPr/>
        </p:nvSpPr>
        <p:spPr>
          <a:xfrm>
            <a:off x="365760" y="1847088"/>
            <a:ext cx="841248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¿Qué debe incluir el PEP sobre Constructabilidad?</a:t>
            </a:r>
            <a:endParaRPr lang="en-US" sz="1400" dirty="0"/>
          </a:p>
        </p:txBody>
      </p:sp>
      <p:sp>
        <p:nvSpPr>
          <p:cNvPr id="8" name="Shape 6"/>
          <p:cNvSpPr/>
          <p:nvPr/>
        </p:nvSpPr>
        <p:spPr>
          <a:xfrm>
            <a:off x="365760" y="2240280"/>
            <a:ext cx="4206240" cy="1078992"/>
          </a:xfrm>
          <a:prstGeom prst="roundRect">
            <a:avLst>
              <a:gd name="adj" fmla="val 8475"/>
            </a:avLst>
          </a:prstGeom>
          <a:solidFill>
            <a:srgbClr val="2C2C2E"/>
          </a:solidFill>
          <a:ln w="12700">
            <a:solidFill>
              <a:srgbClr val="3A3A3C"/>
            </a:solidFill>
            <a:prstDash val="solid"/>
          </a:ln>
        </p:spPr>
      </p:sp>
      <p:sp>
        <p:nvSpPr>
          <p:cNvPr id="9" name="Text 7"/>
          <p:cNvSpPr txBox="1"/>
          <p:nvPr/>
        </p:nvSpPr>
        <p:spPr>
          <a:xfrm>
            <a:off x="548640" y="2313432"/>
            <a:ext cx="1097280" cy="41148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¿QUÉ?</a:t>
            </a:r>
            <a:endParaRPr lang="en-US" sz="1500" dirty="0"/>
          </a:p>
        </p:txBody>
      </p:sp>
      <p:sp>
        <p:nvSpPr>
          <p:cNvPr id="10" name="Text 8"/>
          <p:cNvSpPr txBox="1"/>
          <p:nvPr/>
        </p:nvSpPr>
        <p:spPr>
          <a:xfrm>
            <a:off x="548640" y="2724912"/>
            <a:ext cx="3840480" cy="50292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Descripción del programa de constructabilidad del proyecto</a:t>
            </a:r>
            <a:endParaRPr lang="en-US" sz="1100" dirty="0"/>
          </a:p>
        </p:txBody>
      </p:sp>
      <p:sp>
        <p:nvSpPr>
          <p:cNvPr id="11" name="Shape 9"/>
          <p:cNvSpPr/>
          <p:nvPr/>
        </p:nvSpPr>
        <p:spPr>
          <a:xfrm>
            <a:off x="4754880" y="2240280"/>
            <a:ext cx="4206240" cy="1078992"/>
          </a:xfrm>
          <a:prstGeom prst="roundRect">
            <a:avLst>
              <a:gd name="adj" fmla="val 8475"/>
            </a:avLst>
          </a:prstGeom>
          <a:solidFill>
            <a:srgbClr val="2C2C2E"/>
          </a:solidFill>
          <a:ln w="12700">
            <a:solidFill>
              <a:srgbClr val="3A3A3C"/>
            </a:solidFill>
            <a:prstDash val="solid"/>
          </a:ln>
        </p:spPr>
      </p:sp>
      <p:sp>
        <p:nvSpPr>
          <p:cNvPr id="12" name="Text 10"/>
          <p:cNvSpPr txBox="1"/>
          <p:nvPr/>
        </p:nvSpPr>
        <p:spPr>
          <a:xfrm>
            <a:off x="4937760" y="2313432"/>
            <a:ext cx="1097280" cy="41148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¿POR QUÉ?</a:t>
            </a:r>
            <a:endParaRPr lang="en-US" sz="1500" dirty="0"/>
          </a:p>
        </p:txBody>
      </p:sp>
      <p:sp>
        <p:nvSpPr>
          <p:cNvPr id="13" name="Text 11"/>
          <p:cNvSpPr txBox="1"/>
          <p:nvPr/>
        </p:nvSpPr>
        <p:spPr>
          <a:xfrm>
            <a:off x="4937760" y="2724912"/>
            <a:ext cx="3840480" cy="50292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Objetivos cuantificados: reducción de costo, cronograma y ratio B/C esperado</a:t>
            </a:r>
            <a:endParaRPr lang="en-US" sz="1100" dirty="0"/>
          </a:p>
        </p:txBody>
      </p:sp>
      <p:sp>
        <p:nvSpPr>
          <p:cNvPr id="14" name="Shape 12"/>
          <p:cNvSpPr/>
          <p:nvPr/>
        </p:nvSpPr>
        <p:spPr>
          <a:xfrm>
            <a:off x="365760" y="3429000"/>
            <a:ext cx="4206240" cy="1078992"/>
          </a:xfrm>
          <a:prstGeom prst="roundRect">
            <a:avLst>
              <a:gd name="adj" fmla="val 8475"/>
            </a:avLst>
          </a:prstGeom>
          <a:solidFill>
            <a:srgbClr val="2C2C2E"/>
          </a:solidFill>
          <a:ln w="12700">
            <a:solidFill>
              <a:srgbClr val="3A3A3C"/>
            </a:solidFill>
            <a:prstDash val="solid"/>
          </a:ln>
        </p:spPr>
      </p:sp>
      <p:sp>
        <p:nvSpPr>
          <p:cNvPr id="15" name="Text 13"/>
          <p:cNvSpPr txBox="1"/>
          <p:nvPr/>
        </p:nvSpPr>
        <p:spPr>
          <a:xfrm>
            <a:off x="548640" y="3502152"/>
            <a:ext cx="1097280" cy="41148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¿QUIÉN?</a:t>
            </a:r>
            <a:endParaRPr lang="en-US" sz="1500" dirty="0"/>
          </a:p>
        </p:txBody>
      </p:sp>
      <p:sp>
        <p:nvSpPr>
          <p:cNvPr id="16" name="Text 14"/>
          <p:cNvSpPr txBox="1"/>
          <p:nvPr/>
        </p:nvSpPr>
        <p:spPr>
          <a:xfrm>
            <a:off x="548640" y="3913632"/>
            <a:ext cx="3840480" cy="50292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Roles y responsabilidades: Gerente de Constructabilidad, campeones por área</a:t>
            </a:r>
            <a:endParaRPr lang="en-US" sz="1100" dirty="0"/>
          </a:p>
        </p:txBody>
      </p:sp>
      <p:sp>
        <p:nvSpPr>
          <p:cNvPr id="17" name="Shape 15"/>
          <p:cNvSpPr/>
          <p:nvPr/>
        </p:nvSpPr>
        <p:spPr>
          <a:xfrm>
            <a:off x="4754880" y="3429000"/>
            <a:ext cx="4206240" cy="1078992"/>
          </a:xfrm>
          <a:prstGeom prst="roundRect">
            <a:avLst>
              <a:gd name="adj" fmla="val 8475"/>
            </a:avLst>
          </a:prstGeom>
          <a:solidFill>
            <a:srgbClr val="2C2C2E"/>
          </a:solidFill>
          <a:ln w="12700">
            <a:solidFill>
              <a:srgbClr val="3A3A3C"/>
            </a:solidFill>
            <a:prstDash val="solid"/>
          </a:ln>
        </p:spPr>
      </p:sp>
      <p:sp>
        <p:nvSpPr>
          <p:cNvPr id="18" name="Text 16"/>
          <p:cNvSpPr txBox="1"/>
          <p:nvPr/>
        </p:nvSpPr>
        <p:spPr>
          <a:xfrm>
            <a:off x="4937760" y="3502152"/>
            <a:ext cx="1097280" cy="41148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¿CUÁNDO?</a:t>
            </a:r>
            <a:endParaRPr lang="en-US" sz="1500" dirty="0"/>
          </a:p>
        </p:txBody>
      </p:sp>
      <p:sp>
        <p:nvSpPr>
          <p:cNvPr id="19" name="Text 17"/>
          <p:cNvSpPr txBox="1"/>
          <p:nvPr/>
        </p:nvSpPr>
        <p:spPr>
          <a:xfrm>
            <a:off x="4937760" y="3913632"/>
            <a:ext cx="3840480" cy="50292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Timing de actividades de constructabilidad por fase del proyecto</a:t>
            </a:r>
            <a:endParaRPr lang="en-US" sz="1100" dirty="0"/>
          </a:p>
        </p:txBody>
      </p:sp>
      <p:sp>
        <p:nvSpPr>
          <p:cNvPr id="20" name="Shape 18"/>
          <p:cNvSpPr/>
          <p:nvPr/>
        </p:nvSpPr>
        <p:spPr>
          <a:xfrm>
            <a:off x="365760" y="4572000"/>
            <a:ext cx="8412480" cy="640080"/>
          </a:xfrm>
          <a:prstGeom prst="roundRect">
            <a:avLst>
              <a:gd name="adj" fmla="val 14286"/>
            </a:avLst>
          </a:prstGeom>
          <a:solidFill>
            <a:srgbClr val="2C2C2E"/>
          </a:solidFill>
          <a:ln w="12700">
            <a:solidFill>
              <a:srgbClr val="3A3A3C"/>
            </a:solidFill>
            <a:prstDash val="solid"/>
          </a:ln>
        </p:spPr>
      </p:sp>
      <p:sp>
        <p:nvSpPr>
          <p:cNvPr id="21" name="Text 19"/>
          <p:cNvSpPr txBox="1"/>
          <p:nvPr/>
        </p:nvSpPr>
        <p:spPr>
          <a:xfrm>
            <a:off x="548640" y="4645152"/>
            <a:ext cx="1005840" cy="36576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¿CÓMO?</a:t>
            </a:r>
            <a:endParaRPr lang="en-US" sz="1300" dirty="0"/>
          </a:p>
        </p:txBody>
      </p:sp>
      <p:sp>
        <p:nvSpPr>
          <p:cNvPr id="22" name="Text 20"/>
          <p:cNvSpPr txBox="1"/>
          <p:nvPr/>
        </p:nvSpPr>
        <p:spPr>
          <a:xfrm>
            <a:off x="1645920" y="4645152"/>
            <a:ext cx="6949440" cy="365760"/>
          </a:xfrm>
          <a:prstGeom prst="rect">
            <a:avLst/>
          </a:prstGeom>
          <a:noFill/>
          <a:ln/>
        </p:spPr>
        <p:txBody>
          <a:bodyPr wrap="square" lIns="0" tIns="0" rIns="0" bIns="0" rtlCol="0" anchor="ctr"/>
          <a:lstStyle/>
          <a:p>
            <a:pPr indent="0" marL="0">
              <a:buNone/>
            </a:pPr>
            <a:r>
              <a:rPr lang="en-US" sz="1200" dirty="0">
                <a:solidFill>
                  <a:srgbClr val="FFFFFF"/>
                </a:solidFill>
                <a:latin typeface="Atkinson Hyperlegible" pitchFamily="34" charset="0"/>
                <a:ea typeface="Atkinson Hyperlegible" pitchFamily="34" charset="-122"/>
                <a:cs typeface="Atkinson Hyperlegible" pitchFamily="34" charset="-120"/>
              </a:rPr>
              <a:t>Proceso, herramientas, base de datos de LL y sistema de seguimiento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I-1: Beneficios del PEP con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disciplina de planificación formal genera tres tipos de beneficios sistémicos:</a:t>
            </a:r>
            <a:endParaRPr lang="en-US" sz="1400" dirty="0"/>
          </a:p>
        </p:txBody>
      </p:sp>
      <p:sp>
        <p:nvSpPr>
          <p:cNvPr id="6" name="Shape 4"/>
          <p:cNvSpPr/>
          <p:nvPr/>
        </p:nvSpPr>
        <p:spPr>
          <a:xfrm>
            <a:off x="365760" y="1298448"/>
            <a:ext cx="4206240" cy="1691640"/>
          </a:xfrm>
          <a:prstGeom prst="roundRect">
            <a:avLst>
              <a:gd name="adj" fmla="val 6486"/>
            </a:avLst>
          </a:prstGeom>
          <a:solidFill>
            <a:srgbClr val="2C2C2E"/>
          </a:solidFill>
          <a:ln w="12700">
            <a:solidFill>
              <a:srgbClr val="0A84FF"/>
            </a:solidFill>
            <a:prstDash val="solid"/>
          </a:ln>
        </p:spPr>
      </p:sp>
      <p:sp>
        <p:nvSpPr>
          <p:cNvPr id="7" name="Text 5"/>
          <p:cNvSpPr txBox="1"/>
          <p:nvPr/>
        </p:nvSpPr>
        <p:spPr>
          <a:xfrm>
            <a:off x="457200" y="1389888"/>
            <a:ext cx="640080" cy="640080"/>
          </a:xfrm>
          <a:prstGeom prst="rect">
            <a:avLst/>
          </a:prstGeom>
          <a:noFill/>
          <a:ln/>
        </p:spPr>
        <p:txBody>
          <a:bodyPr wrap="square" lIns="0" tIns="0" rIns="0" bIns="0" rtlCol="0" anchor="ctr"/>
          <a:lstStyle/>
          <a:p>
            <a:pPr algn="ctr" indent="0" marL="0">
              <a:buNone/>
            </a:pPr>
            <a:r>
              <a:rPr lang="en-US" sz="2800" dirty="0">
                <a:solidFill>
                  <a:srgbClr val="000000"/>
                </a:solidFill>
                <a:latin typeface="Atkinson Hyperlegible" pitchFamily="34" charset="0"/>
                <a:ea typeface="Atkinson Hyperlegible" pitchFamily="34" charset="-122"/>
                <a:cs typeface="Atkinson Hyperlegible" pitchFamily="34" charset="-120"/>
              </a:rPr>
              <a:t>📋</a:t>
            </a:r>
            <a:endParaRPr lang="en-US" sz="2800" dirty="0"/>
          </a:p>
        </p:txBody>
      </p:sp>
      <p:sp>
        <p:nvSpPr>
          <p:cNvPr id="8" name="Text 6"/>
          <p:cNvSpPr txBox="1"/>
          <p:nvPr/>
        </p:nvSpPr>
        <p:spPr>
          <a:xfrm>
            <a:off x="1170432" y="1389888"/>
            <a:ext cx="3291840" cy="475488"/>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Disciplina de Planificación</a:t>
            </a:r>
            <a:endParaRPr lang="en-US" sz="1500" dirty="0"/>
          </a:p>
        </p:txBody>
      </p:sp>
      <p:sp>
        <p:nvSpPr>
          <p:cNvPr id="9" name="Text 7"/>
          <p:cNvSpPr txBox="1"/>
          <p:nvPr/>
        </p:nvSpPr>
        <p:spPr>
          <a:xfrm>
            <a:off x="548640" y="1920240"/>
            <a:ext cx="3840480" cy="960120"/>
          </a:xfrm>
          <a:prstGeom prst="rect">
            <a:avLst/>
          </a:prstGeom>
          <a:noFill/>
          <a:ln/>
        </p:spPr>
        <p:txBody>
          <a:bodyPr wrap="square" lIns="0" tIns="0" rIns="0" bIns="0" rtlCol="0" anchor="ctr"/>
          <a:lstStyle/>
          <a:p>
            <a:pPr indent="0" marL="0">
              <a:buNone/>
            </a:pPr>
            <a:r>
              <a:rPr lang="en-US" sz="1150" dirty="0">
                <a:solidFill>
                  <a:srgbClr val="8E8E93"/>
                </a:solidFill>
                <a:latin typeface="Atkinson Hyperlegible" pitchFamily="34" charset="0"/>
                <a:ea typeface="Atkinson Hyperlegible" pitchFamily="34" charset="-122"/>
                <a:cs typeface="Atkinson Hyperlegible" pitchFamily="34" charset="-120"/>
              </a:rPr>
              <a:t>Impone una metodología rigurosa y anticipada para resolver problemas constructivos antes de que sean costosos de cambiar en diseño o campo.</a:t>
            </a:r>
            <a:endParaRPr lang="en-US" sz="1150" dirty="0"/>
          </a:p>
        </p:txBody>
      </p:sp>
      <p:sp>
        <p:nvSpPr>
          <p:cNvPr id="10" name="Shape 8"/>
          <p:cNvSpPr/>
          <p:nvPr/>
        </p:nvSpPr>
        <p:spPr>
          <a:xfrm>
            <a:off x="4754880" y="1298448"/>
            <a:ext cx="4206240" cy="1691640"/>
          </a:xfrm>
          <a:prstGeom prst="roundRect">
            <a:avLst>
              <a:gd name="adj" fmla="val 6486"/>
            </a:avLst>
          </a:prstGeom>
          <a:solidFill>
            <a:srgbClr val="2C2C2E"/>
          </a:solidFill>
          <a:ln w="12700">
            <a:solidFill>
              <a:srgbClr val="30D158"/>
            </a:solidFill>
            <a:prstDash val="solid"/>
          </a:ln>
        </p:spPr>
      </p:sp>
      <p:sp>
        <p:nvSpPr>
          <p:cNvPr id="11" name="Text 9"/>
          <p:cNvSpPr txBox="1"/>
          <p:nvPr/>
        </p:nvSpPr>
        <p:spPr>
          <a:xfrm>
            <a:off x="4846320" y="1389888"/>
            <a:ext cx="640080" cy="640080"/>
          </a:xfrm>
          <a:prstGeom prst="rect">
            <a:avLst/>
          </a:prstGeom>
          <a:noFill/>
          <a:ln/>
        </p:spPr>
        <p:txBody>
          <a:bodyPr wrap="square" lIns="0" tIns="0" rIns="0" bIns="0" rtlCol="0" anchor="ctr"/>
          <a:lstStyle/>
          <a:p>
            <a:pPr algn="ctr" indent="0" marL="0">
              <a:buNone/>
            </a:pPr>
            <a:r>
              <a:rPr lang="en-US" sz="2800" dirty="0">
                <a:solidFill>
                  <a:srgbClr val="000000"/>
                </a:solidFill>
                <a:latin typeface="Atkinson Hyperlegible" pitchFamily="34" charset="0"/>
                <a:ea typeface="Atkinson Hyperlegible" pitchFamily="34" charset="-122"/>
                <a:cs typeface="Atkinson Hyperlegible" pitchFamily="34" charset="-120"/>
              </a:rPr>
              <a:t>🔗</a:t>
            </a:r>
            <a:endParaRPr lang="en-US" sz="2800" dirty="0"/>
          </a:p>
        </p:txBody>
      </p:sp>
      <p:sp>
        <p:nvSpPr>
          <p:cNvPr id="12" name="Text 10"/>
          <p:cNvSpPr txBox="1"/>
          <p:nvPr/>
        </p:nvSpPr>
        <p:spPr>
          <a:xfrm>
            <a:off x="5559552" y="1389888"/>
            <a:ext cx="3291840" cy="475488"/>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Herramienta de Comunicación</a:t>
            </a:r>
            <a:endParaRPr lang="en-US" sz="1500" dirty="0"/>
          </a:p>
        </p:txBody>
      </p:sp>
      <p:sp>
        <p:nvSpPr>
          <p:cNvPr id="13" name="Text 11"/>
          <p:cNvSpPr txBox="1"/>
          <p:nvPr/>
        </p:nvSpPr>
        <p:spPr>
          <a:xfrm>
            <a:off x="4937760" y="1920240"/>
            <a:ext cx="3840480" cy="960120"/>
          </a:xfrm>
          <a:prstGeom prst="rect">
            <a:avLst/>
          </a:prstGeom>
          <a:noFill/>
          <a:ln/>
        </p:spPr>
        <p:txBody>
          <a:bodyPr wrap="square" lIns="0" tIns="0" rIns="0" bIns="0" rtlCol="0" anchor="ctr"/>
          <a:lstStyle/>
          <a:p>
            <a:pPr indent="0" marL="0">
              <a:buNone/>
            </a:pPr>
            <a:r>
              <a:rPr lang="en-US" sz="1150" dirty="0">
                <a:solidFill>
                  <a:srgbClr val="8E8E93"/>
                </a:solidFill>
                <a:latin typeface="Atkinson Hyperlegible" pitchFamily="34" charset="0"/>
                <a:ea typeface="Atkinson Hyperlegible" pitchFamily="34" charset="-122"/>
                <a:cs typeface="Atkinson Hyperlegible" pitchFamily="34" charset="-120"/>
              </a:rPr>
              <a:t>Facilita la integración entre ingeniería, procura y construcción. Los nuevos miembros del equipo tienen un punto de referencia claro.</a:t>
            </a:r>
            <a:endParaRPr lang="en-US" sz="1150" dirty="0"/>
          </a:p>
        </p:txBody>
      </p:sp>
      <p:sp>
        <p:nvSpPr>
          <p:cNvPr id="14" name="Shape 12"/>
          <p:cNvSpPr/>
          <p:nvPr/>
        </p:nvSpPr>
        <p:spPr>
          <a:xfrm>
            <a:off x="365760" y="3127248"/>
            <a:ext cx="4206240" cy="1691640"/>
          </a:xfrm>
          <a:prstGeom prst="roundRect">
            <a:avLst>
              <a:gd name="adj" fmla="val 6486"/>
            </a:avLst>
          </a:prstGeom>
          <a:solidFill>
            <a:srgbClr val="2C2C2E"/>
          </a:solidFill>
          <a:ln w="12700">
            <a:solidFill>
              <a:srgbClr val="FF9500"/>
            </a:solidFill>
            <a:prstDash val="solid"/>
          </a:ln>
        </p:spPr>
      </p:sp>
      <p:sp>
        <p:nvSpPr>
          <p:cNvPr id="15" name="Text 13"/>
          <p:cNvSpPr txBox="1"/>
          <p:nvPr/>
        </p:nvSpPr>
        <p:spPr>
          <a:xfrm>
            <a:off x="457200" y="3218688"/>
            <a:ext cx="640080" cy="640080"/>
          </a:xfrm>
          <a:prstGeom prst="rect">
            <a:avLst/>
          </a:prstGeom>
          <a:noFill/>
          <a:ln/>
        </p:spPr>
        <p:txBody>
          <a:bodyPr wrap="square" lIns="0" tIns="0" rIns="0" bIns="0" rtlCol="0" anchor="ctr"/>
          <a:lstStyle/>
          <a:p>
            <a:pPr algn="ctr" indent="0" marL="0">
              <a:buNone/>
            </a:pPr>
            <a:r>
              <a:rPr lang="en-US" sz="2800" dirty="0">
                <a:solidFill>
                  <a:srgbClr val="000000"/>
                </a:solidFill>
                <a:latin typeface="Atkinson Hyperlegible" pitchFamily="34" charset="0"/>
                <a:ea typeface="Atkinson Hyperlegible" pitchFamily="34" charset="-122"/>
                <a:cs typeface="Atkinson Hyperlegible" pitchFamily="34" charset="-120"/>
              </a:rPr>
              <a:t>🤝</a:t>
            </a:r>
            <a:endParaRPr lang="en-US" sz="2800" dirty="0"/>
          </a:p>
        </p:txBody>
      </p:sp>
      <p:sp>
        <p:nvSpPr>
          <p:cNvPr id="16" name="Text 14"/>
          <p:cNvSpPr txBox="1"/>
          <p:nvPr/>
        </p:nvSpPr>
        <p:spPr>
          <a:xfrm>
            <a:off x="1170432" y="3218688"/>
            <a:ext cx="3291840" cy="475488"/>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Compromiso del Equipo</a:t>
            </a:r>
            <a:endParaRPr lang="en-US" sz="1500" dirty="0"/>
          </a:p>
        </p:txBody>
      </p:sp>
      <p:sp>
        <p:nvSpPr>
          <p:cNvPr id="17" name="Text 15"/>
          <p:cNvSpPr txBox="1"/>
          <p:nvPr/>
        </p:nvSpPr>
        <p:spPr>
          <a:xfrm>
            <a:off x="548640" y="3749040"/>
            <a:ext cx="3840480" cy="960120"/>
          </a:xfrm>
          <a:prstGeom prst="rect">
            <a:avLst/>
          </a:prstGeom>
          <a:noFill/>
          <a:ln/>
        </p:spPr>
        <p:txBody>
          <a:bodyPr wrap="square" lIns="0" tIns="0" rIns="0" bIns="0" rtlCol="0" anchor="ctr"/>
          <a:lstStyle/>
          <a:p>
            <a:pPr indent="0" marL="0">
              <a:buNone/>
            </a:pPr>
            <a:r>
              <a:rPr lang="en-US" sz="1150" dirty="0">
                <a:solidFill>
                  <a:srgbClr val="8E8E93"/>
                </a:solidFill>
                <a:latin typeface="Atkinson Hyperlegible" pitchFamily="34" charset="0"/>
                <a:ea typeface="Atkinson Hyperlegible" pitchFamily="34" charset="-122"/>
                <a:cs typeface="Atkinson Hyperlegible" pitchFamily="34" charset="-120"/>
              </a:rPr>
              <a:t>Genera buy-in explícito de todos los actores del proyecto con los objetivos de constructabilidad. Alinea incentivos.</a:t>
            </a:r>
            <a:endParaRPr lang="en-US" sz="1150" dirty="0"/>
          </a:p>
        </p:txBody>
      </p:sp>
      <p:sp>
        <p:nvSpPr>
          <p:cNvPr id="18" name="Shape 16"/>
          <p:cNvSpPr/>
          <p:nvPr/>
        </p:nvSpPr>
        <p:spPr>
          <a:xfrm>
            <a:off x="4754880" y="3127248"/>
            <a:ext cx="4206240" cy="1691640"/>
          </a:xfrm>
          <a:prstGeom prst="roundRect">
            <a:avLst>
              <a:gd name="adj" fmla="val 6486"/>
            </a:avLst>
          </a:prstGeom>
          <a:solidFill>
            <a:srgbClr val="2C2C2E"/>
          </a:solidFill>
          <a:ln w="12700">
            <a:solidFill>
              <a:srgbClr val="AF52DE"/>
            </a:solidFill>
            <a:prstDash val="solid"/>
          </a:ln>
        </p:spPr>
      </p:sp>
      <p:sp>
        <p:nvSpPr>
          <p:cNvPr id="19" name="Text 17"/>
          <p:cNvSpPr txBox="1"/>
          <p:nvPr/>
        </p:nvSpPr>
        <p:spPr>
          <a:xfrm>
            <a:off x="4846320" y="3218688"/>
            <a:ext cx="640080" cy="640080"/>
          </a:xfrm>
          <a:prstGeom prst="rect">
            <a:avLst/>
          </a:prstGeom>
          <a:noFill/>
          <a:ln/>
        </p:spPr>
        <p:txBody>
          <a:bodyPr wrap="square" lIns="0" tIns="0" rIns="0" bIns="0" rtlCol="0" anchor="ctr"/>
          <a:lstStyle/>
          <a:p>
            <a:pPr algn="ctr" indent="0" marL="0">
              <a:buNone/>
            </a:pPr>
            <a:r>
              <a:rPr lang="en-US" sz="2800" dirty="0">
                <a:solidFill>
                  <a:srgbClr val="000000"/>
                </a:solidFill>
                <a:latin typeface="Atkinson Hyperlegible" pitchFamily="34" charset="0"/>
                <a:ea typeface="Atkinson Hyperlegible" pitchFamily="34" charset="-122"/>
                <a:cs typeface="Atkinson Hyperlegible" pitchFamily="34" charset="-120"/>
              </a:rPr>
              <a:t>🔄</a:t>
            </a:r>
            <a:endParaRPr lang="en-US" sz="2800" dirty="0"/>
          </a:p>
        </p:txBody>
      </p:sp>
      <p:sp>
        <p:nvSpPr>
          <p:cNvPr id="20" name="Text 18"/>
          <p:cNvSpPr txBox="1"/>
          <p:nvPr/>
        </p:nvSpPr>
        <p:spPr>
          <a:xfrm>
            <a:off x="5559552" y="3218688"/>
            <a:ext cx="3291840" cy="475488"/>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Continuidad entre Fases</a:t>
            </a:r>
            <a:endParaRPr lang="en-US" sz="1500" dirty="0"/>
          </a:p>
        </p:txBody>
      </p:sp>
      <p:sp>
        <p:nvSpPr>
          <p:cNvPr id="21" name="Text 19"/>
          <p:cNvSpPr txBox="1"/>
          <p:nvPr/>
        </p:nvSpPr>
        <p:spPr>
          <a:xfrm>
            <a:off x="4937760" y="3749040"/>
            <a:ext cx="3840480" cy="960120"/>
          </a:xfrm>
          <a:prstGeom prst="rect">
            <a:avLst/>
          </a:prstGeom>
          <a:noFill/>
          <a:ln/>
        </p:spPr>
        <p:txBody>
          <a:bodyPr wrap="square" lIns="0" tIns="0" rIns="0" bIns="0" rtlCol="0" anchor="ctr"/>
          <a:lstStyle/>
          <a:p>
            <a:pPr indent="0" marL="0">
              <a:buNone/>
            </a:pPr>
            <a:r>
              <a:rPr lang="en-US" sz="1150" dirty="0">
                <a:solidFill>
                  <a:srgbClr val="8E8E93"/>
                </a:solidFill>
                <a:latin typeface="Atkinson Hyperlegible" pitchFamily="34" charset="0"/>
                <a:ea typeface="Atkinson Hyperlegible" pitchFamily="34" charset="-122"/>
                <a:cs typeface="Atkinson Hyperlegible" pitchFamily="34" charset="-120"/>
              </a:rPr>
              <a:t>Garantiza que las decisiones de constructabilidad tomadas en conceptual se mantengan y se transfieran a las fases de diseño detallado y campo.</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I-2: Conocimiento Constructivo en Factibilidad Temprana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"La planificación temprana de factibilidad aprovecha el conocimiento y experiencia de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El problema más frecuente:</a:t>
            </a:r>
            <a:endParaRPr lang="en-US" sz="1400" dirty="0"/>
          </a:p>
        </p:txBody>
      </p:sp>
      <p:sp>
        <p:nvSpPr>
          <p:cNvPr id="8" name="Shape 6"/>
          <p:cNvSpPr/>
          <p:nvPr/>
        </p:nvSpPr>
        <p:spPr>
          <a:xfrm>
            <a:off x="365760" y="2029968"/>
            <a:ext cx="4023360" cy="2651760"/>
          </a:xfrm>
          <a:prstGeom prst="roundRect">
            <a:avLst>
              <a:gd name="adj" fmla="val 4138"/>
            </a:avLst>
          </a:prstGeom>
          <a:solidFill>
            <a:srgbClr val="2C2C2E"/>
          </a:solidFill>
          <a:ln w="12700">
            <a:solidFill>
              <a:srgbClr val="FF453A"/>
            </a:solidFill>
            <a:prstDash val="solid"/>
          </a:ln>
        </p:spPr>
      </p:sp>
      <p:sp>
        <p:nvSpPr>
          <p:cNvPr id="9" name="Text 7"/>
          <p:cNvSpPr txBox="1"/>
          <p:nvPr/>
        </p:nvSpPr>
        <p:spPr>
          <a:xfrm>
            <a:off x="548640" y="2121408"/>
            <a:ext cx="3657600" cy="5486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 La construcción es típicamente EXCLUIDA de la etapa de factibilidad</a:t>
            </a:r>
            <a:endParaRPr lang="en-US" sz="1200" dirty="0"/>
          </a:p>
        </p:txBody>
      </p:sp>
      <p:sp>
        <p:nvSpPr>
          <p:cNvPr id="10" name="Text 8"/>
          <p:cNvSpPr txBox="1"/>
          <p:nvPr/>
        </p:nvSpPr>
        <p:spPr>
          <a:xfrm>
            <a:off x="548640" y="2724912"/>
            <a:ext cx="3657600" cy="1828800"/>
          </a:xfrm>
          <a:prstGeom prst="rect">
            <a:avLst/>
          </a:prstGeom>
          <a:noFill/>
          <a:ln/>
        </p:spPr>
        <p:txBody>
          <a:bodyPr wrap="square" lIns="0" tIns="0" rIns="0" bIns="0" rtlCol="0" anchor="ctr"/>
          <a:lstStyle/>
          <a:p>
            <a:pPr>
              <a:spcAft>
                <a:spcPts val="600"/>
              </a:spcAft>
            </a:pPr>
            <a:r>
              <a:rPr lang="en-US" sz="1100" dirty="0">
                <a:solidFill>
                  <a:srgbClr val="8E8E93"/>
                </a:solidFill>
                <a:latin typeface="Atkinson Hyperlegible" pitchFamily="34" charset="0"/>
                <a:ea typeface="Atkinson Hyperlegible" pitchFamily="34" charset="-122"/>
                <a:cs typeface="Atkinson Hyperlegible" pitchFamily="34" charset="-120"/>
              </a:rPr>
              <a:t>El equipo de planificación es restringido a especialistas técnicos/financieros</a:t>
            </a:r>
            <a:endParaRPr lang="en-US" sz="1100" dirty="0"/>
          </a:p>
          <a:p>
            <a:pPr>
              <a:spcAft>
                <a:spcPts val="600"/>
              </a:spcAft>
            </a:pPr>
            <a:r>
              <a:rPr lang="en-US" sz="1100" dirty="0">
                <a:solidFill>
                  <a:srgbClr val="8E8E93"/>
                </a:solidFill>
                <a:latin typeface="Atkinson Hyperlegible" pitchFamily="34" charset="0"/>
                <a:ea typeface="Atkinson Hyperlegible" pitchFamily="34" charset="-122"/>
                <a:cs typeface="Atkinson Hyperlegible" pitchFamily="34" charset="-120"/>
              </a:rPr>
              <a:t>Decisiones clave se toman sin considerar su impacto en la ejecución</a:t>
            </a:r>
            <a:endParaRPr lang="en-US" sz="1100" dirty="0"/>
          </a:p>
          <a:p>
            <a:pPr>
              <a:spcAft>
                <a:spcPts val="600"/>
              </a:spcAft>
            </a:pPr>
            <a:r>
              <a:rPr lang="en-US" sz="1100" dirty="0">
                <a:solidFill>
                  <a:srgbClr val="8E8E93"/>
                </a:solidFill>
                <a:latin typeface="Atkinson Hyperlegible" pitchFamily="34" charset="0"/>
                <a:ea typeface="Atkinson Hyperlegible" pitchFamily="34" charset="-122"/>
                <a:cs typeface="Atkinson Hyperlegible" pitchFamily="34" charset="-120"/>
              </a:rPr>
              <a:t>Los constructores llegan "tarde" cuando los cambios son costosos</a:t>
            </a:r>
            <a:endParaRPr lang="en-US" sz="1100" dirty="0"/>
          </a:p>
        </p:txBody>
      </p:sp>
      <p:sp>
        <p:nvSpPr>
          <p:cNvPr id="11" name="Text 9"/>
          <p:cNvSpPr txBox="1"/>
          <p:nvPr/>
        </p:nvSpPr>
        <p:spPr>
          <a:xfrm>
            <a:off x="4663440" y="1719072"/>
            <a:ext cx="4114800" cy="292608"/>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Temas clave donde aplica:</a:t>
            </a:r>
            <a:endParaRPr lang="en-US" sz="1400" dirty="0"/>
          </a:p>
        </p:txBody>
      </p:sp>
      <p:sp>
        <p:nvSpPr>
          <p:cNvPr id="12" name="Shape 10"/>
          <p:cNvSpPr/>
          <p:nvPr/>
        </p:nvSpPr>
        <p:spPr>
          <a:xfrm>
            <a:off x="4663440" y="2029968"/>
            <a:ext cx="4114800" cy="594360"/>
          </a:xfrm>
          <a:prstGeom prst="roundRect">
            <a:avLst>
              <a:gd name="adj" fmla="val 15385"/>
            </a:avLst>
          </a:prstGeom>
          <a:solidFill>
            <a:srgbClr val="2C2C2E"/>
          </a:solidFill>
          <a:ln w="12700">
            <a:solidFill>
              <a:srgbClr val="3A3A3C"/>
            </a:solidFill>
            <a:prstDash val="solid"/>
          </a:ln>
        </p:spPr>
      </p:sp>
      <p:sp>
        <p:nvSpPr>
          <p:cNvPr id="13" name="Text 11"/>
          <p:cNvSpPr txBox="1"/>
          <p:nvPr/>
        </p:nvSpPr>
        <p:spPr>
          <a:xfrm>
            <a:off x="4800600" y="2084832"/>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Selección de Sitio</a:t>
            </a:r>
            <a:endParaRPr lang="en-US" sz="1200" dirty="0"/>
          </a:p>
        </p:txBody>
      </p:sp>
      <p:sp>
        <p:nvSpPr>
          <p:cNvPr id="14" name="Text 12"/>
          <p:cNvSpPr txBox="1"/>
          <p:nvPr/>
        </p:nvSpPr>
        <p:spPr>
          <a:xfrm>
            <a:off x="4800600" y="2322576"/>
            <a:ext cx="38404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Evaluar accesos, condiciones geotécnicas, servicios disponibles, distancias a centros de fabricación y mano de obra calificada.</a:t>
            </a:r>
            <a:endParaRPr lang="en-US" sz="1050" dirty="0"/>
          </a:p>
        </p:txBody>
      </p:sp>
      <p:sp>
        <p:nvSpPr>
          <p:cNvPr id="15" name="Shape 13"/>
          <p:cNvSpPr/>
          <p:nvPr/>
        </p:nvSpPr>
        <p:spPr>
          <a:xfrm>
            <a:off x="4663440" y="2688336"/>
            <a:ext cx="4114800" cy="594360"/>
          </a:xfrm>
          <a:prstGeom prst="roundRect">
            <a:avLst>
              <a:gd name="adj" fmla="val 15385"/>
            </a:avLst>
          </a:prstGeom>
          <a:solidFill>
            <a:srgbClr val="2C2C2E"/>
          </a:solidFill>
          <a:ln w="12700">
            <a:solidFill>
              <a:srgbClr val="3A3A3C"/>
            </a:solidFill>
            <a:prstDash val="solid"/>
          </a:ln>
        </p:spPr>
      </p:sp>
      <p:sp>
        <p:nvSpPr>
          <p:cNvPr id="16" name="Text 14"/>
          <p:cNvSpPr txBox="1"/>
          <p:nvPr/>
        </p:nvSpPr>
        <p:spPr>
          <a:xfrm>
            <a:off x="4800600" y="2743200"/>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Prioridades del Proyecto</a:t>
            </a:r>
            <a:endParaRPr lang="en-US" sz="1200" dirty="0"/>
          </a:p>
        </p:txBody>
      </p:sp>
      <p:sp>
        <p:nvSpPr>
          <p:cNvPr id="17" name="Text 15"/>
          <p:cNvSpPr txBox="1"/>
          <p:nvPr/>
        </p:nvSpPr>
        <p:spPr>
          <a:xfrm>
            <a:off x="4800600" y="2980944"/>
            <a:ext cx="38404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Establecer la jerarquía real de objetivos: ¿costo, cronograma, calidad o seguridad es primero?</a:t>
            </a:r>
            <a:endParaRPr lang="en-US" sz="1050" dirty="0"/>
          </a:p>
        </p:txBody>
      </p:sp>
      <p:sp>
        <p:nvSpPr>
          <p:cNvPr id="18" name="Shape 16"/>
          <p:cNvSpPr/>
          <p:nvPr/>
        </p:nvSpPr>
        <p:spPr>
          <a:xfrm>
            <a:off x="4663440" y="3346704"/>
            <a:ext cx="4114800" cy="594360"/>
          </a:xfrm>
          <a:prstGeom prst="roundRect">
            <a:avLst>
              <a:gd name="adj" fmla="val 15385"/>
            </a:avLst>
          </a:prstGeom>
          <a:solidFill>
            <a:srgbClr val="2C2C2E"/>
          </a:solidFill>
          <a:ln w="12700">
            <a:solidFill>
              <a:srgbClr val="3A3A3C"/>
            </a:solidFill>
            <a:prstDash val="solid"/>
          </a:ln>
        </p:spPr>
      </p:sp>
      <p:sp>
        <p:nvSpPr>
          <p:cNvPr id="19" name="Text 17"/>
          <p:cNvSpPr txBox="1"/>
          <p:nvPr/>
        </p:nvSpPr>
        <p:spPr>
          <a:xfrm>
            <a:off x="4800600" y="3401568"/>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Factibilidad de Presupuesto</a:t>
            </a:r>
            <a:endParaRPr lang="en-US" sz="1200" dirty="0"/>
          </a:p>
        </p:txBody>
      </p:sp>
      <p:sp>
        <p:nvSpPr>
          <p:cNvPr id="20" name="Text 18"/>
          <p:cNvSpPr txBox="1"/>
          <p:nvPr/>
        </p:nvSpPr>
        <p:spPr>
          <a:xfrm>
            <a:off x="4800600" y="3639312"/>
            <a:ext cx="38404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Validar estimados con datos reales de productividad de campo — no solo con costos de ingeniería.</a:t>
            </a:r>
            <a:endParaRPr lang="en-US" sz="1050" dirty="0"/>
          </a:p>
        </p:txBody>
      </p:sp>
      <p:sp>
        <p:nvSpPr>
          <p:cNvPr id="21" name="Shape 19"/>
          <p:cNvSpPr/>
          <p:nvPr/>
        </p:nvSpPr>
        <p:spPr>
          <a:xfrm>
            <a:off x="4663440" y="4005072"/>
            <a:ext cx="4114800" cy="594360"/>
          </a:xfrm>
          <a:prstGeom prst="roundRect">
            <a:avLst>
              <a:gd name="adj" fmla="val 15385"/>
            </a:avLst>
          </a:prstGeom>
          <a:solidFill>
            <a:srgbClr val="2C2C2E"/>
          </a:solidFill>
          <a:ln w="12700">
            <a:solidFill>
              <a:srgbClr val="3A3A3C"/>
            </a:solidFill>
            <a:prstDash val="solid"/>
          </a:ln>
        </p:spPr>
      </p:sp>
      <p:sp>
        <p:nvSpPr>
          <p:cNvPr id="22" name="Text 20"/>
          <p:cNvSpPr txBox="1"/>
          <p:nvPr/>
        </p:nvSpPr>
        <p:spPr>
          <a:xfrm>
            <a:off x="4800600" y="4059936"/>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Recursos y Proveedores</a:t>
            </a:r>
            <a:endParaRPr lang="en-US" sz="1200" dirty="0"/>
          </a:p>
        </p:txBody>
      </p:sp>
      <p:sp>
        <p:nvSpPr>
          <p:cNvPr id="23" name="Text 21"/>
          <p:cNvSpPr txBox="1"/>
          <p:nvPr/>
        </p:nvSpPr>
        <p:spPr>
          <a:xfrm>
            <a:off x="4800600" y="4297680"/>
            <a:ext cx="3840480" cy="25603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Identificar disponibilidad de mano de obra, equipos especiales y fabricantes estratégicos.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I-3: Estrategia de Contratación con Input Constructivo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30D158"/>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"El desarrollo de la estrategia de contratación del proyecto involucra conocimiento y experiencia de construcción."</a:t>
            </a:r>
            <a:endParaRPr lang="en-US" sz="1500" dirty="0"/>
          </a:p>
        </p:txBody>
      </p:sp>
      <p:sp>
        <p:nvSpPr>
          <p:cNvPr id="7" name="Text 5"/>
          <p:cNvSpPr txBox="1"/>
          <p:nvPr/>
        </p:nvSpPr>
        <p:spPr>
          <a:xfrm>
            <a:off x="365760" y="1719072"/>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7 Opciones Básicas de Contratación</a:t>
            </a:r>
            <a:endParaRPr lang="en-US" sz="1400" dirty="0"/>
          </a:p>
        </p:txBody>
      </p:sp>
      <p:sp>
        <p:nvSpPr>
          <p:cNvPr id="8" name="Shape 6"/>
          <p:cNvSpPr/>
          <p:nvPr/>
        </p:nvSpPr>
        <p:spPr>
          <a:xfrm>
            <a:off x="365760" y="2103120"/>
            <a:ext cx="4206240" cy="502920"/>
          </a:xfrm>
          <a:prstGeom prst="roundRect">
            <a:avLst>
              <a:gd name="adj" fmla="val 14545"/>
            </a:avLst>
          </a:prstGeom>
          <a:solidFill>
            <a:srgbClr val="2C2C2E"/>
          </a:solidFill>
          <a:ln w="12700">
            <a:solidFill>
              <a:srgbClr val="0A84FF"/>
            </a:solidFill>
            <a:prstDash val="solid"/>
          </a:ln>
        </p:spPr>
      </p:sp>
      <p:sp>
        <p:nvSpPr>
          <p:cNvPr id="9" name="Text 7"/>
          <p:cNvSpPr txBox="1"/>
          <p:nvPr/>
        </p:nvSpPr>
        <p:spPr>
          <a:xfrm>
            <a:off x="548640" y="2176272"/>
            <a:ext cx="3840480" cy="347472"/>
          </a:xfrm>
          <a:prstGeom prst="rect">
            <a:avLst/>
          </a:prstGeom>
          <a:noFill/>
          <a:ln/>
        </p:spPr>
        <p:txBody>
          <a:bodyPr wrap="square" lIns="0" tIns="0" rIns="0" bIns="0" rtlCol="0" anchor="ctr"/>
          <a:lstStyle/>
          <a:p>
            <a:pPr indent="0" marL="0">
              <a:buNone/>
            </a:pPr>
            <a:r>
              <a:rPr lang="en-US" sz="1300" dirty="0">
                <a:solidFill>
                  <a:srgbClr val="0A84FF"/>
                </a:solidFill>
                <a:latin typeface="Atkinson Hyperlegible" pitchFamily="34" charset="0"/>
                <a:ea typeface="Atkinson Hyperlegible" pitchFamily="34" charset="-122"/>
                <a:cs typeface="Atkinson Hyperlegible" pitchFamily="34" charset="-120"/>
              </a:rPr>
              <a:t>1. Design-Build</a:t>
            </a:r>
            <a:endParaRPr lang="en-US" sz="1300" dirty="0"/>
          </a:p>
        </p:txBody>
      </p:sp>
      <p:sp>
        <p:nvSpPr>
          <p:cNvPr id="10" name="Shape 8"/>
          <p:cNvSpPr/>
          <p:nvPr/>
        </p:nvSpPr>
        <p:spPr>
          <a:xfrm>
            <a:off x="4754880" y="2103120"/>
            <a:ext cx="4206240" cy="502920"/>
          </a:xfrm>
          <a:prstGeom prst="roundRect">
            <a:avLst>
              <a:gd name="adj" fmla="val 14545"/>
            </a:avLst>
          </a:prstGeom>
          <a:solidFill>
            <a:srgbClr val="2C2C2E"/>
          </a:solidFill>
          <a:ln w="12700">
            <a:solidFill>
              <a:srgbClr val="30D158"/>
            </a:solidFill>
            <a:prstDash val="solid"/>
          </a:ln>
        </p:spPr>
      </p:sp>
      <p:sp>
        <p:nvSpPr>
          <p:cNvPr id="11" name="Text 9"/>
          <p:cNvSpPr txBox="1"/>
          <p:nvPr/>
        </p:nvSpPr>
        <p:spPr>
          <a:xfrm>
            <a:off x="4937760" y="2176272"/>
            <a:ext cx="3840480" cy="347472"/>
          </a:xfrm>
          <a:prstGeom prst="rect">
            <a:avLst/>
          </a:prstGeom>
          <a:noFill/>
          <a:ln/>
        </p:spPr>
        <p:txBody>
          <a:bodyPr wrap="square" lIns="0" tIns="0" rIns="0" bIns="0" rtlCol="0" anchor="ctr"/>
          <a:lstStyle/>
          <a:p>
            <a:pPr indent="0" marL="0">
              <a:buNone/>
            </a:pPr>
            <a:r>
              <a:rPr lang="en-US" sz="1300" dirty="0">
                <a:solidFill>
                  <a:srgbClr val="30D158"/>
                </a:solidFill>
                <a:latin typeface="Atkinson Hyperlegible" pitchFamily="34" charset="0"/>
                <a:ea typeface="Atkinson Hyperlegible" pitchFamily="34" charset="-122"/>
                <a:cs typeface="Atkinson Hyperlegible" pitchFamily="34" charset="-120"/>
              </a:rPr>
              <a:t>2. Llave en Mano (EPC)</a:t>
            </a:r>
            <a:endParaRPr lang="en-US" sz="1300" dirty="0"/>
          </a:p>
        </p:txBody>
      </p:sp>
      <p:sp>
        <p:nvSpPr>
          <p:cNvPr id="12" name="Shape 10"/>
          <p:cNvSpPr/>
          <p:nvPr/>
        </p:nvSpPr>
        <p:spPr>
          <a:xfrm>
            <a:off x="365760" y="2697480"/>
            <a:ext cx="4206240" cy="502920"/>
          </a:xfrm>
          <a:prstGeom prst="roundRect">
            <a:avLst>
              <a:gd name="adj" fmla="val 14545"/>
            </a:avLst>
          </a:prstGeom>
          <a:solidFill>
            <a:srgbClr val="2C2C2E"/>
          </a:solidFill>
          <a:ln w="12700">
            <a:solidFill>
              <a:srgbClr val="FF9500"/>
            </a:solidFill>
            <a:prstDash val="solid"/>
          </a:ln>
        </p:spPr>
      </p:sp>
      <p:sp>
        <p:nvSpPr>
          <p:cNvPr id="13" name="Text 11"/>
          <p:cNvSpPr txBox="1"/>
          <p:nvPr/>
        </p:nvSpPr>
        <p:spPr>
          <a:xfrm>
            <a:off x="548640" y="2770632"/>
            <a:ext cx="3840480" cy="347472"/>
          </a:xfrm>
          <a:prstGeom prst="rect">
            <a:avLst/>
          </a:prstGeom>
          <a:noFill/>
          <a:ln/>
        </p:spPr>
        <p:txBody>
          <a:bodyPr wrap="square" lIns="0" tIns="0" rIns="0" bIns="0" rtlCol="0" anchor="ctr"/>
          <a:lstStyle/>
          <a:p>
            <a:pPr indent="0" marL="0">
              <a:buNone/>
            </a:pPr>
            <a:r>
              <a:rPr lang="en-US" sz="1300" dirty="0">
                <a:solidFill>
                  <a:srgbClr val="FF9500"/>
                </a:solidFill>
                <a:latin typeface="Atkinson Hyperlegible" pitchFamily="34" charset="0"/>
                <a:ea typeface="Atkinson Hyperlegible" pitchFamily="34" charset="-122"/>
                <a:cs typeface="Atkinson Hyperlegible" pitchFamily="34" charset="-120"/>
              </a:rPr>
              <a:t>3. CM at Risk</a:t>
            </a:r>
            <a:endParaRPr lang="en-US" sz="1300" dirty="0"/>
          </a:p>
        </p:txBody>
      </p:sp>
      <p:sp>
        <p:nvSpPr>
          <p:cNvPr id="14" name="Shape 12"/>
          <p:cNvSpPr/>
          <p:nvPr/>
        </p:nvSpPr>
        <p:spPr>
          <a:xfrm>
            <a:off x="4754880" y="2697480"/>
            <a:ext cx="4206240" cy="502920"/>
          </a:xfrm>
          <a:prstGeom prst="roundRect">
            <a:avLst>
              <a:gd name="adj" fmla="val 14545"/>
            </a:avLst>
          </a:prstGeom>
          <a:solidFill>
            <a:srgbClr val="2C2C2E"/>
          </a:solidFill>
          <a:ln w="12700">
            <a:solidFill>
              <a:srgbClr val="AF52DE"/>
            </a:solidFill>
            <a:prstDash val="solid"/>
          </a:ln>
        </p:spPr>
      </p:sp>
      <p:sp>
        <p:nvSpPr>
          <p:cNvPr id="15" name="Text 13"/>
          <p:cNvSpPr txBox="1"/>
          <p:nvPr/>
        </p:nvSpPr>
        <p:spPr>
          <a:xfrm>
            <a:off x="4937760" y="2770632"/>
            <a:ext cx="3840480" cy="347472"/>
          </a:xfrm>
          <a:prstGeom prst="rect">
            <a:avLst/>
          </a:prstGeom>
          <a:noFill/>
          <a:ln/>
        </p:spPr>
        <p:txBody>
          <a:bodyPr wrap="square" lIns="0" tIns="0" rIns="0" bIns="0" rtlCol="0" anchor="ctr"/>
          <a:lstStyle/>
          <a:p>
            <a:pPr indent="0" marL="0">
              <a:buNone/>
            </a:pPr>
            <a:r>
              <a:rPr lang="en-US" sz="1300" dirty="0">
                <a:solidFill>
                  <a:srgbClr val="AF52DE"/>
                </a:solidFill>
                <a:latin typeface="Atkinson Hyperlegible" pitchFamily="34" charset="0"/>
                <a:ea typeface="Atkinson Hyperlegible" pitchFamily="34" charset="-122"/>
                <a:cs typeface="Atkinson Hyperlegible" pitchFamily="34" charset="-120"/>
              </a:rPr>
              <a:t>4. Fast-Track con múltiples primos</a:t>
            </a:r>
            <a:endParaRPr lang="en-US" sz="1300" dirty="0"/>
          </a:p>
        </p:txBody>
      </p:sp>
      <p:sp>
        <p:nvSpPr>
          <p:cNvPr id="16" name="Shape 14"/>
          <p:cNvSpPr/>
          <p:nvPr/>
        </p:nvSpPr>
        <p:spPr>
          <a:xfrm>
            <a:off x="365760" y="3291840"/>
            <a:ext cx="4206240" cy="502920"/>
          </a:xfrm>
          <a:prstGeom prst="roundRect">
            <a:avLst>
              <a:gd name="adj" fmla="val 14545"/>
            </a:avLst>
          </a:prstGeom>
          <a:solidFill>
            <a:srgbClr val="2C2C2E"/>
          </a:solidFill>
          <a:ln w="12700">
            <a:solidFill>
              <a:srgbClr val="8E8E93"/>
            </a:solidFill>
            <a:prstDash val="solid"/>
          </a:ln>
        </p:spPr>
      </p:sp>
      <p:sp>
        <p:nvSpPr>
          <p:cNvPr id="17" name="Text 15"/>
          <p:cNvSpPr txBox="1"/>
          <p:nvPr/>
        </p:nvSpPr>
        <p:spPr>
          <a:xfrm>
            <a:off x="548640" y="3364992"/>
            <a:ext cx="3840480" cy="347472"/>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5. Contrato unitario estándar</a:t>
            </a:r>
            <a:endParaRPr lang="en-US" sz="1300" dirty="0"/>
          </a:p>
        </p:txBody>
      </p:sp>
      <p:sp>
        <p:nvSpPr>
          <p:cNvPr id="18" name="Shape 16"/>
          <p:cNvSpPr/>
          <p:nvPr/>
        </p:nvSpPr>
        <p:spPr>
          <a:xfrm>
            <a:off x="4754880" y="3291840"/>
            <a:ext cx="4206240" cy="502920"/>
          </a:xfrm>
          <a:prstGeom prst="roundRect">
            <a:avLst>
              <a:gd name="adj" fmla="val 14545"/>
            </a:avLst>
          </a:prstGeom>
          <a:solidFill>
            <a:srgbClr val="2C2C2E"/>
          </a:solidFill>
          <a:ln w="12700">
            <a:solidFill>
              <a:srgbClr val="FFD60A"/>
            </a:solidFill>
            <a:prstDash val="solid"/>
          </a:ln>
        </p:spPr>
      </p:sp>
      <p:sp>
        <p:nvSpPr>
          <p:cNvPr id="19" name="Text 17"/>
          <p:cNvSpPr txBox="1"/>
          <p:nvPr/>
        </p:nvSpPr>
        <p:spPr>
          <a:xfrm>
            <a:off x="4937760" y="3364992"/>
            <a:ext cx="3840480" cy="347472"/>
          </a:xfrm>
          <a:prstGeom prst="rect">
            <a:avLst/>
          </a:prstGeom>
          <a:noFill/>
          <a:ln/>
        </p:spPr>
        <p:txBody>
          <a:bodyPr wrap="square" lIns="0" tIns="0" rIns="0" bIns="0" rtlCol="0" anchor="ctr"/>
          <a:lstStyle/>
          <a:p>
            <a:pPr indent="0" marL="0">
              <a:buNone/>
            </a:pPr>
            <a:r>
              <a:rPr lang="en-US" sz="1300" dirty="0">
                <a:solidFill>
                  <a:srgbClr val="FFD60A"/>
                </a:solidFill>
                <a:latin typeface="Atkinson Hyperlegible" pitchFamily="34" charset="0"/>
                <a:ea typeface="Atkinson Hyperlegible" pitchFamily="34" charset="-122"/>
                <a:cs typeface="Atkinson Hyperlegible" pitchFamily="34" charset="-120"/>
              </a:rPr>
              <a:t>6. Sistemas de incentivos (gain-share)</a:t>
            </a:r>
            <a:endParaRPr lang="en-US" sz="1300" dirty="0"/>
          </a:p>
        </p:txBody>
      </p:sp>
      <p:sp>
        <p:nvSpPr>
          <p:cNvPr id="20" name="Shape 18"/>
          <p:cNvSpPr/>
          <p:nvPr/>
        </p:nvSpPr>
        <p:spPr>
          <a:xfrm>
            <a:off x="365760" y="4572000"/>
            <a:ext cx="8412480" cy="548640"/>
          </a:xfrm>
          <a:prstGeom prst="roundRect">
            <a:avLst>
              <a:gd name="adj" fmla="val 13333"/>
            </a:avLst>
          </a:prstGeom>
          <a:solidFill>
            <a:srgbClr val="2C2C2E"/>
          </a:solidFill>
          <a:ln w="12700">
            <a:solidFill>
              <a:srgbClr val="FF453A"/>
            </a:solidFill>
            <a:prstDash val="solid"/>
          </a:ln>
        </p:spPr>
      </p:sp>
      <p:sp>
        <p:nvSpPr>
          <p:cNvPr id="21" name="Text 19"/>
          <p:cNvSpPr txBox="1"/>
          <p:nvPr/>
        </p:nvSpPr>
        <p:spPr>
          <a:xfrm>
            <a:off x="548640" y="4663440"/>
            <a:ext cx="8046720" cy="365760"/>
          </a:xfrm>
          <a:prstGeom prst="rect">
            <a:avLst/>
          </a:prstGeom>
          <a:noFill/>
          <a:ln/>
        </p:spPr>
        <p:txBody>
          <a:bodyPr wrap="square" lIns="0" tIns="0" rIns="0" bIns="0" rtlCol="0" anchor="ctr"/>
          <a:lstStyle/>
          <a:p>
            <a:pPr indent="0" marL="0">
              <a:buNone/>
            </a:pPr>
            <a:r>
              <a:rPr lang="en-US" sz="1300" dirty="0">
                <a:solidFill>
                  <a:srgbClr val="FF453A"/>
                </a:solidFill>
                <a:latin typeface="Atkinson Hyperlegible" pitchFamily="34" charset="0"/>
                <a:ea typeface="Atkinson Hyperlegible" pitchFamily="34" charset="-122"/>
                <a:cs typeface="Atkinson Hyperlegible" pitchFamily="34" charset="-120"/>
              </a:rPr>
              <a:t>7. Alianzas estratégicas (partnerships)</a:t>
            </a:r>
            <a:endParaRPr lang="en-US" sz="1300" dirty="0"/>
          </a:p>
        </p:txBody>
      </p:sp>
      <p:sp>
        <p:nvSpPr>
          <p:cNvPr id="22" name="Text 20"/>
          <p:cNvSpPr txBox="1"/>
          <p:nvPr/>
        </p:nvSpPr>
        <p:spPr>
          <a:xfrm>
            <a:off x="365760" y="4206240"/>
            <a:ext cx="8412480" cy="274320"/>
          </a:xfrm>
          <a:prstGeom prst="rect">
            <a:avLst/>
          </a:prstGeom>
          <a:noFill/>
          <a:ln/>
        </p:spPr>
        <p:txBody>
          <a:bodyPr wrap="square" lIns="0" tIns="0" rIns="0" bIns="0" rtlCol="0" anchor="ctr"/>
          <a:lstStyle/>
          <a:p>
            <a:pPr indent="0" marL="0">
              <a:buNone/>
            </a:pPr>
            <a:r>
              <a:rPr lang="en-US" sz="1200" b="1" dirty="0">
                <a:solidFill>
                  <a:srgbClr val="8E8E93"/>
                </a:solidFill>
                <a:latin typeface="Atkinson Hyperlegible" pitchFamily="34" charset="0"/>
                <a:ea typeface="Atkinson Hyperlegible" pitchFamily="34" charset="-122"/>
                <a:cs typeface="Atkinson Hyperlegible" pitchFamily="34" charset="-120"/>
              </a:rPr>
              <a:t>Métodos Innovadores que Maximizan el Aporte Constructivo: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I-4: Cronogramas Orientados a la Construcción</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FF9500"/>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"Los cronogramas del proyecto son sensibles a la construcción y al arranque."</a:t>
            </a:r>
            <a:endParaRPr lang="en-US" sz="1500" dirty="0"/>
          </a:p>
        </p:txBody>
      </p:sp>
      <p:sp>
        <p:nvSpPr>
          <p:cNvPr id="7" name="Shape 5"/>
          <p:cNvSpPr/>
          <p:nvPr/>
        </p:nvSpPr>
        <p:spPr>
          <a:xfrm>
            <a:off x="365760" y="1719072"/>
            <a:ext cx="2788920" cy="3429000"/>
          </a:xfrm>
          <a:prstGeom prst="roundRect">
            <a:avLst>
              <a:gd name="adj" fmla="val 3279"/>
            </a:avLst>
          </a:prstGeom>
          <a:solidFill>
            <a:srgbClr val="2C2C2E"/>
          </a:solidFill>
          <a:ln w="12700">
            <a:solidFill>
              <a:srgbClr val="3A3A3C"/>
            </a:solidFill>
            <a:prstDash val="solid"/>
          </a:ln>
        </p:spPr>
      </p:sp>
      <p:sp>
        <p:nvSpPr>
          <p:cNvPr id="8" name="Shape 6"/>
          <p:cNvSpPr/>
          <p:nvPr/>
        </p:nvSpPr>
        <p:spPr>
          <a:xfrm>
            <a:off x="365760" y="1719072"/>
            <a:ext cx="2788920" cy="411480"/>
          </a:xfrm>
          <a:prstGeom prst="roundRect">
            <a:avLst>
              <a:gd name="adj" fmla="val 22222"/>
            </a:avLst>
          </a:prstGeom>
          <a:solidFill>
            <a:srgbClr val="FF9500"/>
          </a:solidFill>
          <a:ln/>
        </p:spPr>
      </p:sp>
      <p:sp>
        <p:nvSpPr>
          <p:cNvPr id="9" name="Shape 7"/>
          <p:cNvSpPr/>
          <p:nvPr/>
        </p:nvSpPr>
        <p:spPr>
          <a:xfrm>
            <a:off x="365760" y="1938528"/>
            <a:ext cx="2788920" cy="192024"/>
          </a:xfrm>
          <a:prstGeom prst="rect">
            <a:avLst/>
          </a:prstGeom>
          <a:solidFill>
            <a:srgbClr val="FF9500"/>
          </a:solidFill>
          <a:ln/>
        </p:spPr>
      </p:sp>
      <p:sp>
        <p:nvSpPr>
          <p:cNvPr id="10" name="Text 8"/>
          <p:cNvSpPr txBox="1"/>
          <p:nvPr/>
        </p:nvSpPr>
        <p:spPr>
          <a:xfrm>
            <a:off x="475488" y="1755648"/>
            <a:ext cx="256032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Principios Clave</a:t>
            </a:r>
            <a:endParaRPr lang="en-US" sz="1300" dirty="0"/>
          </a:p>
        </p:txBody>
      </p:sp>
      <p:sp>
        <p:nvSpPr>
          <p:cNvPr id="11" name="Text 9"/>
          <p:cNvSpPr txBox="1"/>
          <p:nvPr/>
        </p:nvSpPr>
        <p:spPr>
          <a:xfrm>
            <a:off x="475488" y="2212848"/>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La constructabilidad es la clave para alcanzar objetivos de cronograma</a:t>
            </a:r>
            <a:endParaRPr lang="en-US" sz="1050" dirty="0"/>
          </a:p>
        </p:txBody>
      </p:sp>
      <p:sp>
        <p:nvSpPr>
          <p:cNvPr id="12" name="Text 10"/>
          <p:cNvSpPr txBox="1"/>
          <p:nvPr/>
        </p:nvSpPr>
        <p:spPr>
          <a:xfrm>
            <a:off x="475488" y="2779776"/>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Requiere desarrollo temprano del cronograma master</a:t>
            </a:r>
            <a:endParaRPr lang="en-US" sz="1050" dirty="0"/>
          </a:p>
        </p:txBody>
      </p:sp>
      <p:sp>
        <p:nvSpPr>
          <p:cNvPr id="13" name="Text 11"/>
          <p:cNvSpPr txBox="1"/>
          <p:nvPr/>
        </p:nvSpPr>
        <p:spPr>
          <a:xfrm>
            <a:off x="475488" y="3346704"/>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Asignación económica y realista de tiempo a cada fase</a:t>
            </a:r>
            <a:endParaRPr lang="en-US" sz="1050" dirty="0"/>
          </a:p>
        </p:txBody>
      </p:sp>
      <p:sp>
        <p:nvSpPr>
          <p:cNvPr id="14" name="Text 12"/>
          <p:cNvSpPr txBox="1"/>
          <p:nvPr/>
        </p:nvSpPr>
        <p:spPr>
          <a:xfrm>
            <a:off x="475488" y="3913632"/>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Cronograma de diseño y procura basado en el cronograma de construcción</a:t>
            </a:r>
            <a:endParaRPr lang="en-US" sz="1050" dirty="0"/>
          </a:p>
        </p:txBody>
      </p:sp>
      <p:sp>
        <p:nvSpPr>
          <p:cNvPr id="15" name="Text 13"/>
          <p:cNvSpPr txBox="1"/>
          <p:nvPr/>
        </p:nvSpPr>
        <p:spPr>
          <a:xfrm>
            <a:off x="475488" y="4480560"/>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Aplicar "backward pass": desde fechas de arranque hacia atrás</a:t>
            </a:r>
            <a:endParaRPr lang="en-US" sz="1050" dirty="0"/>
          </a:p>
        </p:txBody>
      </p:sp>
      <p:sp>
        <p:nvSpPr>
          <p:cNvPr id="16" name="Shape 14"/>
          <p:cNvSpPr/>
          <p:nvPr/>
        </p:nvSpPr>
        <p:spPr>
          <a:xfrm>
            <a:off x="3291840" y="1719072"/>
            <a:ext cx="2788920" cy="3429000"/>
          </a:xfrm>
          <a:prstGeom prst="roundRect">
            <a:avLst>
              <a:gd name="adj" fmla="val 3279"/>
            </a:avLst>
          </a:prstGeom>
          <a:solidFill>
            <a:srgbClr val="2C2C2E"/>
          </a:solidFill>
          <a:ln w="12700">
            <a:solidFill>
              <a:srgbClr val="3A3A3C"/>
            </a:solidFill>
            <a:prstDash val="solid"/>
          </a:ln>
        </p:spPr>
      </p:sp>
      <p:sp>
        <p:nvSpPr>
          <p:cNvPr id="17" name="Shape 15"/>
          <p:cNvSpPr/>
          <p:nvPr/>
        </p:nvSpPr>
        <p:spPr>
          <a:xfrm>
            <a:off x="3291840" y="1719072"/>
            <a:ext cx="2788920" cy="411480"/>
          </a:xfrm>
          <a:prstGeom prst="roundRect">
            <a:avLst>
              <a:gd name="adj" fmla="val 22222"/>
            </a:avLst>
          </a:prstGeom>
          <a:solidFill>
            <a:srgbClr val="FF453A"/>
          </a:solidFill>
          <a:ln/>
        </p:spPr>
      </p:sp>
      <p:sp>
        <p:nvSpPr>
          <p:cNvPr id="18" name="Shape 16"/>
          <p:cNvSpPr/>
          <p:nvPr/>
        </p:nvSpPr>
        <p:spPr>
          <a:xfrm>
            <a:off x="3291840" y="1938528"/>
            <a:ext cx="2788920" cy="192024"/>
          </a:xfrm>
          <a:prstGeom prst="rect">
            <a:avLst/>
          </a:prstGeom>
          <a:solidFill>
            <a:srgbClr val="FF453A"/>
          </a:solidFill>
          <a:ln/>
        </p:spPr>
      </p:sp>
      <p:sp>
        <p:nvSpPr>
          <p:cNvPr id="19" name="Text 17"/>
          <p:cNvSpPr txBox="1"/>
          <p:nvPr/>
        </p:nvSpPr>
        <p:spPr>
          <a:xfrm>
            <a:off x="3401568" y="1755648"/>
            <a:ext cx="256032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Problemas Comunes</a:t>
            </a:r>
            <a:endParaRPr lang="en-US" sz="1300" dirty="0"/>
          </a:p>
        </p:txBody>
      </p:sp>
      <p:sp>
        <p:nvSpPr>
          <p:cNvPr id="20" name="Text 18"/>
          <p:cNvSpPr txBox="1"/>
          <p:nvPr/>
        </p:nvSpPr>
        <p:spPr>
          <a:xfrm>
            <a:off x="3401568" y="2212848"/>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Secuencia natural de diseño puede requerir alteración por necesidades de campo</a:t>
            </a:r>
            <a:endParaRPr lang="en-US" sz="1050" dirty="0"/>
          </a:p>
        </p:txBody>
      </p:sp>
      <p:sp>
        <p:nvSpPr>
          <p:cNvPr id="21" name="Text 19"/>
          <p:cNvSpPr txBox="1"/>
          <p:nvPr/>
        </p:nvSpPr>
        <p:spPr>
          <a:xfrm>
            <a:off x="3401568" y="2779776"/>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Construcción condicionada a aceptación pasiva del plan impuesto</a:t>
            </a:r>
            <a:endParaRPr lang="en-US" sz="1050" dirty="0"/>
          </a:p>
        </p:txBody>
      </p:sp>
      <p:sp>
        <p:nvSpPr>
          <p:cNvPr id="22" name="Text 20"/>
          <p:cNvSpPr txBox="1"/>
          <p:nvPr/>
        </p:nvSpPr>
        <p:spPr>
          <a:xfrm>
            <a:off x="3401568" y="3346704"/>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Sin plan de control de tráfico (TCP) en proyectos de carreteras</a:t>
            </a:r>
            <a:endParaRPr lang="en-US" sz="1050" dirty="0"/>
          </a:p>
        </p:txBody>
      </p:sp>
      <p:sp>
        <p:nvSpPr>
          <p:cNvPr id="23" name="Text 21"/>
          <p:cNvSpPr txBox="1"/>
          <p:nvPr/>
        </p:nvSpPr>
        <p:spPr>
          <a:xfrm>
            <a:off x="3401568" y="3913632"/>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Lead times de procura no considerados en el cronograma de diseño</a:t>
            </a:r>
            <a:endParaRPr lang="en-US" sz="1050" dirty="0"/>
          </a:p>
        </p:txBody>
      </p:sp>
      <p:sp>
        <p:nvSpPr>
          <p:cNvPr id="24" name="Text 22"/>
          <p:cNvSpPr txBox="1"/>
          <p:nvPr/>
        </p:nvSpPr>
        <p:spPr>
          <a:xfrm>
            <a:off x="3401568" y="4480560"/>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"Crashing" de ingeniería es más barato que "crashing" de construcción</a:t>
            </a:r>
            <a:endParaRPr lang="en-US" sz="1050" dirty="0"/>
          </a:p>
        </p:txBody>
      </p:sp>
      <p:sp>
        <p:nvSpPr>
          <p:cNvPr id="25" name="Shape 23"/>
          <p:cNvSpPr/>
          <p:nvPr/>
        </p:nvSpPr>
        <p:spPr>
          <a:xfrm>
            <a:off x="6217920" y="1719072"/>
            <a:ext cx="2788920" cy="3429000"/>
          </a:xfrm>
          <a:prstGeom prst="roundRect">
            <a:avLst>
              <a:gd name="adj" fmla="val 3279"/>
            </a:avLst>
          </a:prstGeom>
          <a:solidFill>
            <a:srgbClr val="2C2C2E"/>
          </a:solidFill>
          <a:ln w="12700">
            <a:solidFill>
              <a:srgbClr val="3A3A3C"/>
            </a:solidFill>
            <a:prstDash val="solid"/>
          </a:ln>
        </p:spPr>
      </p:sp>
      <p:sp>
        <p:nvSpPr>
          <p:cNvPr id="26" name="Shape 24"/>
          <p:cNvSpPr/>
          <p:nvPr/>
        </p:nvSpPr>
        <p:spPr>
          <a:xfrm>
            <a:off x="6217920" y="1719072"/>
            <a:ext cx="2788920" cy="411480"/>
          </a:xfrm>
          <a:prstGeom prst="roundRect">
            <a:avLst>
              <a:gd name="adj" fmla="val 22222"/>
            </a:avLst>
          </a:prstGeom>
          <a:solidFill>
            <a:srgbClr val="30D158"/>
          </a:solidFill>
          <a:ln/>
        </p:spPr>
      </p:sp>
      <p:sp>
        <p:nvSpPr>
          <p:cNvPr id="27" name="Shape 25"/>
          <p:cNvSpPr/>
          <p:nvPr/>
        </p:nvSpPr>
        <p:spPr>
          <a:xfrm>
            <a:off x="6217920" y="1938528"/>
            <a:ext cx="2788920" cy="192024"/>
          </a:xfrm>
          <a:prstGeom prst="rect">
            <a:avLst/>
          </a:prstGeom>
          <a:solidFill>
            <a:srgbClr val="30D158"/>
          </a:solidFill>
          <a:ln/>
        </p:spPr>
      </p:sp>
      <p:sp>
        <p:nvSpPr>
          <p:cNvPr id="28" name="Text 26"/>
          <p:cNvSpPr txBox="1"/>
          <p:nvPr/>
        </p:nvSpPr>
        <p:spPr>
          <a:xfrm>
            <a:off x="6327648" y="1755648"/>
            <a:ext cx="256032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Temas Críticos de Arranque</a:t>
            </a:r>
            <a:endParaRPr lang="en-US" sz="1300" dirty="0"/>
          </a:p>
        </p:txBody>
      </p:sp>
      <p:sp>
        <p:nvSpPr>
          <p:cNvPr id="29" name="Text 27"/>
          <p:cNvSpPr txBox="1"/>
          <p:nvPr/>
        </p:nvSpPr>
        <p:spPr>
          <a:xfrm>
            <a:off x="6327648" y="2212848"/>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Conciencia sobre lead times de equipos especiales</a:t>
            </a:r>
            <a:endParaRPr lang="en-US" sz="1050" dirty="0"/>
          </a:p>
        </p:txBody>
      </p:sp>
      <p:sp>
        <p:nvSpPr>
          <p:cNvPr id="30" name="Text 28"/>
          <p:cNvSpPr txBox="1"/>
          <p:nvPr/>
        </p:nvSpPr>
        <p:spPr>
          <a:xfrm>
            <a:off x="6327648" y="2779776"/>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Impactos de "temporadas de construcción" climáticas</a:t>
            </a:r>
            <a:endParaRPr lang="en-US" sz="1050" dirty="0"/>
          </a:p>
        </p:txBody>
      </p:sp>
      <p:sp>
        <p:nvSpPr>
          <p:cNvPr id="31" name="Text 29"/>
          <p:cNvSpPr txBox="1"/>
          <p:nvPr/>
        </p:nvSpPr>
        <p:spPr>
          <a:xfrm>
            <a:off x="6327648" y="3346704"/>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Ruta óptima de construcción (path of construction)</a:t>
            </a:r>
            <a:endParaRPr lang="en-US" sz="1050" dirty="0"/>
          </a:p>
        </p:txBody>
      </p:sp>
      <p:sp>
        <p:nvSpPr>
          <p:cNvPr id="32" name="Text 30"/>
          <p:cNvSpPr txBox="1"/>
          <p:nvPr/>
        </p:nvSpPr>
        <p:spPr>
          <a:xfrm>
            <a:off x="6327648" y="3913632"/>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Paquetes de procura/contratación que apoyen los paquetes de obra</a:t>
            </a:r>
            <a:endParaRPr lang="en-US" sz="1050" dirty="0"/>
          </a:p>
        </p:txBody>
      </p:sp>
      <p:sp>
        <p:nvSpPr>
          <p:cNvPr id="33" name="Text 31"/>
          <p:cNvSpPr txBox="1"/>
          <p:nvPr/>
        </p:nvSpPr>
        <p:spPr>
          <a:xfrm>
            <a:off x="6327648" y="4480560"/>
            <a:ext cx="256032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Números de sistema de arranque en todos los entregables</a:t>
            </a:r>
            <a:endParaRPr lang="en-US" sz="105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I-5: Métodos de Construcción Mayores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FF453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400" i="1" dirty="0">
                <a:solidFill>
                  <a:srgbClr val="FFFFFF"/>
                </a:solidFill>
                <a:latin typeface="Atkinson Hyperlegible" pitchFamily="34" charset="0"/>
                <a:ea typeface="Atkinson Hyperlegible" pitchFamily="34" charset="-122"/>
                <a:cs typeface="Atkinson Hyperlegible" pitchFamily="34" charset="-120"/>
              </a:rPr>
              <a:t>"Las decisiones importantes de diseño temprano consideran la modularización/pre-ensamble, la automatización de la construcción y otras opciones de métodos de construcción mayores."</a:t>
            </a:r>
            <a:endParaRPr lang="en-US" sz="14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Métodos de Alto Impacto (deben evaluarse en Planificación Conceptual):</a:t>
            </a:r>
            <a:endParaRPr lang="en-US" sz="1300" dirty="0"/>
          </a:p>
        </p:txBody>
      </p:sp>
      <p:sp>
        <p:nvSpPr>
          <p:cNvPr id="8" name="Shape 6"/>
          <p:cNvSpPr/>
          <p:nvPr/>
        </p:nvSpPr>
        <p:spPr>
          <a:xfrm>
            <a:off x="365760" y="2084832"/>
            <a:ext cx="4206240" cy="877824"/>
          </a:xfrm>
          <a:prstGeom prst="roundRect">
            <a:avLst>
              <a:gd name="adj" fmla="val 10417"/>
            </a:avLst>
          </a:prstGeom>
          <a:solidFill>
            <a:srgbClr val="2C2C2E"/>
          </a:solidFill>
          <a:ln w="12700">
            <a:solidFill>
              <a:srgbClr val="3A3A3C"/>
            </a:solidFill>
            <a:prstDash val="solid"/>
          </a:ln>
        </p:spPr>
      </p:sp>
      <p:sp>
        <p:nvSpPr>
          <p:cNvPr id="9" name="Text 7"/>
          <p:cNvSpPr txBox="1"/>
          <p:nvPr/>
        </p:nvSpPr>
        <p:spPr>
          <a:xfrm>
            <a:off x="54864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Alcance de Modularización</a:t>
            </a:r>
            <a:endParaRPr lang="en-US" sz="1300" dirty="0"/>
          </a:p>
        </p:txBody>
      </p:sp>
      <p:sp>
        <p:nvSpPr>
          <p:cNvPr id="10" name="Text 8"/>
          <p:cNvSpPr txBox="1"/>
          <p:nvPr/>
        </p:nvSpPr>
        <p:spPr>
          <a:xfrm>
            <a:off x="548640" y="2450592"/>
            <a:ext cx="3840480" cy="43891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Definir qué porcentaje del proyecto se construirá en taller vs. campo. Impacto enorme en costo y cronograma.</a:t>
            </a:r>
            <a:endParaRPr lang="en-US" sz="1050" dirty="0"/>
          </a:p>
        </p:txBody>
      </p:sp>
      <p:sp>
        <p:nvSpPr>
          <p:cNvPr id="11" name="Shape 9"/>
          <p:cNvSpPr/>
          <p:nvPr/>
        </p:nvSpPr>
        <p:spPr>
          <a:xfrm>
            <a:off x="4754880" y="2084832"/>
            <a:ext cx="4206240" cy="877824"/>
          </a:xfrm>
          <a:prstGeom prst="roundRect">
            <a:avLst>
              <a:gd name="adj" fmla="val 10417"/>
            </a:avLst>
          </a:prstGeom>
          <a:solidFill>
            <a:srgbClr val="2C2C2E"/>
          </a:solidFill>
          <a:ln w="12700">
            <a:solidFill>
              <a:srgbClr val="3A3A3C"/>
            </a:solidFill>
            <a:prstDash val="solid"/>
          </a:ln>
        </p:spPr>
      </p:sp>
      <p:sp>
        <p:nvSpPr>
          <p:cNvPr id="12" name="Text 10"/>
          <p:cNvSpPr txBox="1"/>
          <p:nvPr/>
        </p:nvSpPr>
        <p:spPr>
          <a:xfrm>
            <a:off x="493776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Izajes Pesados</a:t>
            </a:r>
            <a:endParaRPr lang="en-US" sz="1300" dirty="0"/>
          </a:p>
        </p:txBody>
      </p:sp>
      <p:sp>
        <p:nvSpPr>
          <p:cNvPr id="13" name="Text 11"/>
          <p:cNvSpPr txBox="1"/>
          <p:nvPr/>
        </p:nvSpPr>
        <p:spPr>
          <a:xfrm>
            <a:off x="4937760" y="2450592"/>
            <a:ext cx="3840480" cy="43891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Big impacts: típicamente de alto costo y en ruta crítica. Tamaño de izaje, accesibilidad de grúa, cargas sobre UG, swing space.</a:t>
            </a:r>
            <a:endParaRPr lang="en-US" sz="1050" dirty="0"/>
          </a:p>
        </p:txBody>
      </p:sp>
      <p:sp>
        <p:nvSpPr>
          <p:cNvPr id="14" name="Shape 12"/>
          <p:cNvSpPr/>
          <p:nvPr/>
        </p:nvSpPr>
        <p:spPr>
          <a:xfrm>
            <a:off x="365760" y="3072384"/>
            <a:ext cx="4206240" cy="877824"/>
          </a:xfrm>
          <a:prstGeom prst="roundRect">
            <a:avLst>
              <a:gd name="adj" fmla="val 10417"/>
            </a:avLst>
          </a:prstGeom>
          <a:solidFill>
            <a:srgbClr val="2C2C2E"/>
          </a:solidFill>
          <a:ln w="12700">
            <a:solidFill>
              <a:srgbClr val="3A3A3C"/>
            </a:solidFill>
            <a:prstDash val="solid"/>
          </a:ln>
        </p:spPr>
      </p:sp>
      <p:sp>
        <p:nvSpPr>
          <p:cNvPr id="15" name="Text 13"/>
          <p:cNvSpPr txBox="1"/>
          <p:nvPr/>
        </p:nvSpPr>
        <p:spPr>
          <a:xfrm>
            <a:off x="54864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Subterráneo</a:t>
            </a:r>
            <a:endParaRPr lang="en-US" sz="1300" dirty="0"/>
          </a:p>
        </p:txBody>
      </p:sp>
      <p:sp>
        <p:nvSpPr>
          <p:cNvPr id="16" name="Text 14"/>
          <p:cNvSpPr txBox="1"/>
          <p:nvPr/>
        </p:nvSpPr>
        <p:spPr>
          <a:xfrm>
            <a:off x="548640" y="3438144"/>
            <a:ext cx="3840480" cy="43891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Excavaciones, cimentaciones, túneles. Condiciones geotécnicas definen métodos y cronograma.</a:t>
            </a:r>
            <a:endParaRPr lang="en-US" sz="1050" dirty="0"/>
          </a:p>
        </p:txBody>
      </p:sp>
      <p:sp>
        <p:nvSpPr>
          <p:cNvPr id="17" name="Shape 15"/>
          <p:cNvSpPr/>
          <p:nvPr/>
        </p:nvSpPr>
        <p:spPr>
          <a:xfrm>
            <a:off x="4754880" y="3072384"/>
            <a:ext cx="4206240" cy="877824"/>
          </a:xfrm>
          <a:prstGeom prst="roundRect">
            <a:avLst>
              <a:gd name="adj" fmla="val 10417"/>
            </a:avLst>
          </a:prstGeom>
          <a:solidFill>
            <a:srgbClr val="2C2C2E"/>
          </a:solidFill>
          <a:ln w="12700">
            <a:solidFill>
              <a:srgbClr val="3A3A3C"/>
            </a:solidFill>
            <a:prstDash val="solid"/>
          </a:ln>
        </p:spPr>
      </p:sp>
      <p:sp>
        <p:nvSpPr>
          <p:cNvPr id="18" name="Text 16"/>
          <p:cNvSpPr txBox="1"/>
          <p:nvPr/>
        </p:nvSpPr>
        <p:spPr>
          <a:xfrm>
            <a:off x="493776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 Estructural</a:t>
            </a:r>
            <a:endParaRPr lang="en-US" sz="1300" dirty="0"/>
          </a:p>
        </p:txBody>
      </p:sp>
      <p:sp>
        <p:nvSpPr>
          <p:cNvPr id="19" name="Text 17"/>
          <p:cNvSpPr txBox="1"/>
          <p:nvPr/>
        </p:nvSpPr>
        <p:spPr>
          <a:xfrm>
            <a:off x="4937760" y="3438144"/>
            <a:ext cx="3840480" cy="43891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Concreto colado en sitio vs. prefabricado, acero estructural. Cada opción tiene diferente impacto en duración y productividad.</a:t>
            </a:r>
            <a:endParaRPr lang="en-US" sz="1050" dirty="0"/>
          </a:p>
        </p:txBody>
      </p:sp>
      <p:sp>
        <p:nvSpPr>
          <p:cNvPr id="20" name="Shape 18"/>
          <p:cNvSpPr/>
          <p:nvPr/>
        </p:nvSpPr>
        <p:spPr>
          <a:xfrm>
            <a:off x="365760" y="4059936"/>
            <a:ext cx="4206240" cy="877824"/>
          </a:xfrm>
          <a:prstGeom prst="roundRect">
            <a:avLst>
              <a:gd name="adj" fmla="val 10417"/>
            </a:avLst>
          </a:prstGeom>
          <a:solidFill>
            <a:srgbClr val="2C2C2E"/>
          </a:solidFill>
          <a:ln w="12700">
            <a:solidFill>
              <a:srgbClr val="3A3A3C"/>
            </a:solidFill>
            <a:prstDash val="solid"/>
          </a:ln>
        </p:spPr>
      </p:sp>
      <p:sp>
        <p:nvSpPr>
          <p:cNvPr id="21" name="Text 19"/>
          <p:cNvSpPr txBox="1"/>
          <p:nvPr/>
        </p:nvSpPr>
        <p:spPr>
          <a:xfrm>
            <a:off x="54864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Sistemas de Cimbrado</a:t>
            </a:r>
            <a:endParaRPr lang="en-US" sz="1300" dirty="0"/>
          </a:p>
        </p:txBody>
      </p:sp>
      <p:sp>
        <p:nvSpPr>
          <p:cNvPr id="22" name="Text 20"/>
          <p:cNvSpPr txBox="1"/>
          <p:nvPr/>
        </p:nvSpPr>
        <p:spPr>
          <a:xfrm>
            <a:off x="548640" y="4425696"/>
            <a:ext cx="3840480" cy="43891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Flying forms, tilt-up, cimbra deslizante. Selección temprana define recursos y cronograma de concreto.</a:t>
            </a:r>
            <a:endParaRPr lang="en-US" sz="1050" dirty="0"/>
          </a:p>
        </p:txBody>
      </p:sp>
      <p:sp>
        <p:nvSpPr>
          <p:cNvPr id="23" name="Shape 21"/>
          <p:cNvSpPr/>
          <p:nvPr/>
        </p:nvSpPr>
        <p:spPr>
          <a:xfrm>
            <a:off x="4754880" y="4059936"/>
            <a:ext cx="4206240" cy="877824"/>
          </a:xfrm>
          <a:prstGeom prst="roundRect">
            <a:avLst>
              <a:gd name="adj" fmla="val 10417"/>
            </a:avLst>
          </a:prstGeom>
          <a:solidFill>
            <a:srgbClr val="2C2C2E"/>
          </a:solidFill>
          <a:ln w="12700">
            <a:solidFill>
              <a:srgbClr val="3A3A3C"/>
            </a:solidFill>
            <a:prstDash val="solid"/>
          </a:ln>
        </p:spPr>
      </p:sp>
      <p:sp>
        <p:nvSpPr>
          <p:cNvPr id="24" name="Text 22"/>
          <p:cNvSpPr txBox="1"/>
          <p:nvPr/>
        </p:nvSpPr>
        <p:spPr>
          <a:xfrm>
            <a:off x="493776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Automatización</a:t>
            </a:r>
            <a:endParaRPr lang="en-US" sz="1300" dirty="0"/>
          </a:p>
        </p:txBody>
      </p:sp>
      <p:sp>
        <p:nvSpPr>
          <p:cNvPr id="25" name="Text 23"/>
          <p:cNvSpPr txBox="1"/>
          <p:nvPr/>
        </p:nvSpPr>
        <p:spPr>
          <a:xfrm>
            <a:off x="4937760" y="4425696"/>
            <a:ext cx="3840480" cy="43891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Soldadura automatizada, robótica, prefabricación especial. Evaluar contra costo de mano de obra local.</a:t>
            </a:r>
            <a:endParaRPr lang="en-US" sz="10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I-5: Planificación de Izajes Pesados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Los izajes pesados típicamente son de alto costo y están en la ruta crítica — requieren planificación integral:</a:t>
            </a:r>
            <a:endParaRPr lang="en-US" sz="1400" dirty="0"/>
          </a:p>
        </p:txBody>
      </p:sp>
      <p:sp>
        <p:nvSpPr>
          <p:cNvPr id="6" name="Shape 4"/>
          <p:cNvSpPr/>
          <p:nvPr/>
        </p:nvSpPr>
        <p:spPr>
          <a:xfrm>
            <a:off x="365760" y="1325880"/>
            <a:ext cx="4206240" cy="1143000"/>
          </a:xfrm>
          <a:prstGeom prst="roundRect">
            <a:avLst>
              <a:gd name="adj" fmla="val 8000"/>
            </a:avLst>
          </a:prstGeom>
          <a:solidFill>
            <a:srgbClr val="2C2C2E"/>
          </a:solidFill>
          <a:ln w="12700">
            <a:solidFill>
              <a:srgbClr val="3A3A3C"/>
            </a:solidFill>
            <a:prstDash val="solid"/>
          </a:ln>
        </p:spPr>
      </p:sp>
      <p:sp>
        <p:nvSpPr>
          <p:cNvPr id="7" name="Shape 5"/>
          <p:cNvSpPr/>
          <p:nvPr/>
        </p:nvSpPr>
        <p:spPr>
          <a:xfrm>
            <a:off x="502920" y="1417320"/>
            <a:ext cx="411480" cy="411480"/>
          </a:xfrm>
          <a:prstGeom prst="ellipse">
            <a:avLst/>
          </a:prstGeom>
          <a:solidFill>
            <a:srgbClr val="0A84FF"/>
          </a:solidFill>
          <a:ln/>
        </p:spPr>
      </p:sp>
      <p:sp>
        <p:nvSpPr>
          <p:cNvPr id="8" name="Text 6"/>
          <p:cNvSpPr txBox="1"/>
          <p:nvPr/>
        </p:nvSpPr>
        <p:spPr>
          <a:xfrm>
            <a:off x="502920" y="14173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1</a:t>
            </a:r>
            <a:endParaRPr lang="en-US" sz="1400" dirty="0"/>
          </a:p>
        </p:txBody>
      </p:sp>
      <p:sp>
        <p:nvSpPr>
          <p:cNvPr id="9" name="Text 7"/>
          <p:cNvSpPr txBox="1"/>
          <p:nvPr/>
        </p:nvSpPr>
        <p:spPr>
          <a:xfrm>
            <a:off x="1005840" y="1417320"/>
            <a:ext cx="347472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Tamaño del Izaje</a:t>
            </a:r>
            <a:endParaRPr lang="en-US" sz="1300" dirty="0"/>
          </a:p>
        </p:txBody>
      </p:sp>
      <p:sp>
        <p:nvSpPr>
          <p:cNvPr id="10" name="Text 8"/>
          <p:cNvSpPr txBox="1"/>
          <p:nvPr/>
        </p:nvSpPr>
        <p:spPr>
          <a:xfrm>
            <a:off x="548640" y="1810512"/>
            <a:ext cx="3840480" cy="5486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¿El equipo puede levantarse de un solo golpe? ¿O es más económico dividir en múltiples izajes? Implicaciones en la capacidad de grúa necesaria.</a:t>
            </a:r>
            <a:endParaRPr lang="en-US" sz="1050" dirty="0"/>
          </a:p>
        </p:txBody>
      </p:sp>
      <p:sp>
        <p:nvSpPr>
          <p:cNvPr id="11" name="Shape 9"/>
          <p:cNvSpPr/>
          <p:nvPr/>
        </p:nvSpPr>
        <p:spPr>
          <a:xfrm>
            <a:off x="4754880" y="1325880"/>
            <a:ext cx="4206240" cy="1143000"/>
          </a:xfrm>
          <a:prstGeom prst="roundRect">
            <a:avLst>
              <a:gd name="adj" fmla="val 8000"/>
            </a:avLst>
          </a:prstGeom>
          <a:solidFill>
            <a:srgbClr val="2C2C2E"/>
          </a:solidFill>
          <a:ln w="12700">
            <a:solidFill>
              <a:srgbClr val="3A3A3C"/>
            </a:solidFill>
            <a:prstDash val="solid"/>
          </a:ln>
        </p:spPr>
      </p:sp>
      <p:sp>
        <p:nvSpPr>
          <p:cNvPr id="12" name="Shape 10"/>
          <p:cNvSpPr/>
          <p:nvPr/>
        </p:nvSpPr>
        <p:spPr>
          <a:xfrm>
            <a:off x="4892040" y="1417320"/>
            <a:ext cx="411480" cy="411480"/>
          </a:xfrm>
          <a:prstGeom prst="ellipse">
            <a:avLst/>
          </a:prstGeom>
          <a:solidFill>
            <a:srgbClr val="30D158"/>
          </a:solidFill>
          <a:ln/>
        </p:spPr>
      </p:sp>
      <p:sp>
        <p:nvSpPr>
          <p:cNvPr id="13" name="Text 11"/>
          <p:cNvSpPr txBox="1"/>
          <p:nvPr/>
        </p:nvSpPr>
        <p:spPr>
          <a:xfrm>
            <a:off x="4892040" y="14173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2</a:t>
            </a:r>
            <a:endParaRPr lang="en-US" sz="1400" dirty="0"/>
          </a:p>
        </p:txBody>
      </p:sp>
      <p:sp>
        <p:nvSpPr>
          <p:cNvPr id="14" name="Text 12"/>
          <p:cNvSpPr txBox="1"/>
          <p:nvPr/>
        </p:nvSpPr>
        <p:spPr>
          <a:xfrm>
            <a:off x="5394960" y="1417320"/>
            <a:ext cx="347472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Capacidad de Grúa</a:t>
            </a:r>
            <a:endParaRPr lang="en-US" sz="1300" dirty="0"/>
          </a:p>
        </p:txBody>
      </p:sp>
      <p:sp>
        <p:nvSpPr>
          <p:cNvPr id="15" name="Text 13"/>
          <p:cNvSpPr txBox="1"/>
          <p:nvPr/>
        </p:nvSpPr>
        <p:spPr>
          <a:xfrm>
            <a:off x="4937760" y="1810512"/>
            <a:ext cx="3840480" cy="5486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Capacidades actuales: hasta 12,000 ton en tierra, 3,000 ton en offshore. Las grúas de camión (hasta 60 ton) son las más económicas para la mayoría de proyectos.</a:t>
            </a:r>
            <a:endParaRPr lang="en-US" sz="1050" dirty="0"/>
          </a:p>
        </p:txBody>
      </p:sp>
      <p:sp>
        <p:nvSpPr>
          <p:cNvPr id="16" name="Shape 14"/>
          <p:cNvSpPr/>
          <p:nvPr/>
        </p:nvSpPr>
        <p:spPr>
          <a:xfrm>
            <a:off x="365760" y="2587752"/>
            <a:ext cx="4206240" cy="1143000"/>
          </a:xfrm>
          <a:prstGeom prst="roundRect">
            <a:avLst>
              <a:gd name="adj" fmla="val 8000"/>
            </a:avLst>
          </a:prstGeom>
          <a:solidFill>
            <a:srgbClr val="2C2C2E"/>
          </a:solidFill>
          <a:ln w="12700">
            <a:solidFill>
              <a:srgbClr val="3A3A3C"/>
            </a:solidFill>
            <a:prstDash val="solid"/>
          </a:ln>
        </p:spPr>
      </p:sp>
      <p:sp>
        <p:nvSpPr>
          <p:cNvPr id="17" name="Shape 15"/>
          <p:cNvSpPr/>
          <p:nvPr/>
        </p:nvSpPr>
        <p:spPr>
          <a:xfrm>
            <a:off x="502920" y="2679192"/>
            <a:ext cx="411480" cy="411480"/>
          </a:xfrm>
          <a:prstGeom prst="ellipse">
            <a:avLst/>
          </a:prstGeom>
          <a:solidFill>
            <a:srgbClr val="FF9500"/>
          </a:solidFill>
          <a:ln/>
        </p:spPr>
      </p:sp>
      <p:sp>
        <p:nvSpPr>
          <p:cNvPr id="18" name="Text 16"/>
          <p:cNvSpPr txBox="1"/>
          <p:nvPr/>
        </p:nvSpPr>
        <p:spPr>
          <a:xfrm>
            <a:off x="502920" y="26791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3</a:t>
            </a:r>
            <a:endParaRPr lang="en-US" sz="1400" dirty="0"/>
          </a:p>
        </p:txBody>
      </p:sp>
      <p:sp>
        <p:nvSpPr>
          <p:cNvPr id="19" name="Text 17"/>
          <p:cNvSpPr txBox="1"/>
          <p:nvPr/>
        </p:nvSpPr>
        <p:spPr>
          <a:xfrm>
            <a:off x="1005840" y="2679192"/>
            <a:ext cx="347472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Accesibilidad de Grúa</a:t>
            </a:r>
            <a:endParaRPr lang="en-US" sz="1300" dirty="0"/>
          </a:p>
        </p:txBody>
      </p:sp>
      <p:sp>
        <p:nvSpPr>
          <p:cNvPr id="20" name="Text 18"/>
          <p:cNvSpPr txBox="1"/>
          <p:nvPr/>
        </p:nvSpPr>
        <p:spPr>
          <a:xfrm>
            <a:off x="548640" y="3072384"/>
            <a:ext cx="3840480" cy="5486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Cargas sobre estructuras subterráneas (riesgo de colapso), radio de giro libre, rutas de acceso al sitio con restricciones de carga.</a:t>
            </a:r>
            <a:endParaRPr lang="en-US" sz="1050" dirty="0"/>
          </a:p>
        </p:txBody>
      </p:sp>
      <p:sp>
        <p:nvSpPr>
          <p:cNvPr id="21" name="Shape 19"/>
          <p:cNvSpPr/>
          <p:nvPr/>
        </p:nvSpPr>
        <p:spPr>
          <a:xfrm>
            <a:off x="4754880" y="2587752"/>
            <a:ext cx="4206240" cy="1143000"/>
          </a:xfrm>
          <a:prstGeom prst="roundRect">
            <a:avLst>
              <a:gd name="adj" fmla="val 8000"/>
            </a:avLst>
          </a:prstGeom>
          <a:solidFill>
            <a:srgbClr val="2C2C2E"/>
          </a:solidFill>
          <a:ln w="12700">
            <a:solidFill>
              <a:srgbClr val="3A3A3C"/>
            </a:solidFill>
            <a:prstDash val="solid"/>
          </a:ln>
        </p:spPr>
      </p:sp>
      <p:sp>
        <p:nvSpPr>
          <p:cNvPr id="22" name="Shape 20"/>
          <p:cNvSpPr/>
          <p:nvPr/>
        </p:nvSpPr>
        <p:spPr>
          <a:xfrm>
            <a:off x="4892040" y="2679192"/>
            <a:ext cx="411480" cy="411480"/>
          </a:xfrm>
          <a:prstGeom prst="ellipse">
            <a:avLst/>
          </a:prstGeom>
          <a:solidFill>
            <a:srgbClr val="AF52DE"/>
          </a:solidFill>
          <a:ln/>
        </p:spPr>
      </p:sp>
      <p:sp>
        <p:nvSpPr>
          <p:cNvPr id="23" name="Text 21"/>
          <p:cNvSpPr txBox="1"/>
          <p:nvPr/>
        </p:nvSpPr>
        <p:spPr>
          <a:xfrm>
            <a:off x="4892040" y="26791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4</a:t>
            </a:r>
            <a:endParaRPr lang="en-US" sz="1400" dirty="0"/>
          </a:p>
        </p:txBody>
      </p:sp>
      <p:sp>
        <p:nvSpPr>
          <p:cNvPr id="24" name="Text 22"/>
          <p:cNvSpPr txBox="1"/>
          <p:nvPr/>
        </p:nvSpPr>
        <p:spPr>
          <a:xfrm>
            <a:off x="5394960" y="2679192"/>
            <a:ext cx="347472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Detalles de Soporte</a:t>
            </a:r>
            <a:endParaRPr lang="en-US" sz="1300" dirty="0"/>
          </a:p>
        </p:txBody>
      </p:sp>
      <p:sp>
        <p:nvSpPr>
          <p:cNvPr id="25" name="Text 23"/>
          <p:cNvSpPr txBox="1"/>
          <p:nvPr/>
        </p:nvSpPr>
        <p:spPr>
          <a:xfrm>
            <a:off x="4937760" y="3072384"/>
            <a:ext cx="3840480" cy="5486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Puntos de izaje en el equipo, ubicación del centro de gravedad, estructura temporal de rigidez para el izaje.</a:t>
            </a:r>
            <a:endParaRPr lang="en-US" sz="1050" dirty="0"/>
          </a:p>
        </p:txBody>
      </p:sp>
      <p:sp>
        <p:nvSpPr>
          <p:cNvPr id="26" name="Shape 24"/>
          <p:cNvSpPr/>
          <p:nvPr/>
        </p:nvSpPr>
        <p:spPr>
          <a:xfrm>
            <a:off x="365760" y="3849624"/>
            <a:ext cx="4206240" cy="1143000"/>
          </a:xfrm>
          <a:prstGeom prst="roundRect">
            <a:avLst>
              <a:gd name="adj" fmla="val 8000"/>
            </a:avLst>
          </a:prstGeom>
          <a:solidFill>
            <a:srgbClr val="2C2C2E"/>
          </a:solidFill>
          <a:ln w="12700">
            <a:solidFill>
              <a:srgbClr val="3A3A3C"/>
            </a:solidFill>
            <a:prstDash val="solid"/>
          </a:ln>
        </p:spPr>
      </p:sp>
      <p:sp>
        <p:nvSpPr>
          <p:cNvPr id="27" name="Shape 25"/>
          <p:cNvSpPr/>
          <p:nvPr/>
        </p:nvSpPr>
        <p:spPr>
          <a:xfrm>
            <a:off x="502920" y="3941064"/>
            <a:ext cx="411480" cy="411480"/>
          </a:xfrm>
          <a:prstGeom prst="ellipse">
            <a:avLst/>
          </a:prstGeom>
          <a:solidFill>
            <a:srgbClr val="FF453A"/>
          </a:solidFill>
          <a:ln/>
        </p:spPr>
      </p:sp>
      <p:sp>
        <p:nvSpPr>
          <p:cNvPr id="28" name="Text 26"/>
          <p:cNvSpPr txBox="1"/>
          <p:nvPr/>
        </p:nvSpPr>
        <p:spPr>
          <a:xfrm>
            <a:off x="502920" y="39410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5</a:t>
            </a:r>
            <a:endParaRPr lang="en-US" sz="1400" dirty="0"/>
          </a:p>
        </p:txBody>
      </p:sp>
      <p:sp>
        <p:nvSpPr>
          <p:cNvPr id="29" name="Text 27"/>
          <p:cNvSpPr txBox="1"/>
          <p:nvPr/>
        </p:nvSpPr>
        <p:spPr>
          <a:xfrm>
            <a:off x="1005840" y="3941064"/>
            <a:ext cx="347472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Seguridad y "Area Estéril"</a:t>
            </a:r>
            <a:endParaRPr lang="en-US" sz="1300" dirty="0"/>
          </a:p>
        </p:txBody>
      </p:sp>
      <p:sp>
        <p:nvSpPr>
          <p:cNvPr id="30" name="Text 28"/>
          <p:cNvSpPr txBox="1"/>
          <p:nvPr/>
        </p:nvSpPr>
        <p:spPr>
          <a:xfrm>
            <a:off x="548640" y="4334256"/>
            <a:ext cx="3840480" cy="5486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"Area sterilization": evacuar el área bajo la trayectoria del izaje. Protocolo de seguridad crítico.</a:t>
            </a:r>
            <a:endParaRPr lang="en-US" sz="1050" dirty="0"/>
          </a:p>
        </p:txBody>
      </p:sp>
      <p:sp>
        <p:nvSpPr>
          <p:cNvPr id="31" name="Shape 29"/>
          <p:cNvSpPr/>
          <p:nvPr/>
        </p:nvSpPr>
        <p:spPr>
          <a:xfrm>
            <a:off x="4754880" y="3849624"/>
            <a:ext cx="4206240" cy="1143000"/>
          </a:xfrm>
          <a:prstGeom prst="roundRect">
            <a:avLst>
              <a:gd name="adj" fmla="val 8000"/>
            </a:avLst>
          </a:prstGeom>
          <a:solidFill>
            <a:srgbClr val="2C2C2E"/>
          </a:solidFill>
          <a:ln w="12700">
            <a:solidFill>
              <a:srgbClr val="3A3A3C"/>
            </a:solidFill>
            <a:prstDash val="solid"/>
          </a:ln>
        </p:spPr>
      </p:sp>
      <p:sp>
        <p:nvSpPr>
          <p:cNvPr id="32" name="Shape 30"/>
          <p:cNvSpPr/>
          <p:nvPr/>
        </p:nvSpPr>
        <p:spPr>
          <a:xfrm>
            <a:off x="4892040" y="3941064"/>
            <a:ext cx="411480" cy="411480"/>
          </a:xfrm>
          <a:prstGeom prst="ellipse">
            <a:avLst/>
          </a:prstGeom>
          <a:solidFill>
            <a:srgbClr val="FFD60A"/>
          </a:solidFill>
          <a:ln/>
        </p:spPr>
      </p:sp>
      <p:sp>
        <p:nvSpPr>
          <p:cNvPr id="33" name="Text 31"/>
          <p:cNvSpPr txBox="1"/>
          <p:nvPr/>
        </p:nvSpPr>
        <p:spPr>
          <a:xfrm>
            <a:off x="4892040" y="39410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6</a:t>
            </a:r>
            <a:endParaRPr lang="en-US" sz="1400" dirty="0"/>
          </a:p>
        </p:txBody>
      </p:sp>
      <p:sp>
        <p:nvSpPr>
          <p:cNvPr id="34" name="Text 32"/>
          <p:cNvSpPr txBox="1"/>
          <p:nvPr/>
        </p:nvSpPr>
        <p:spPr>
          <a:xfrm>
            <a:off x="5394960" y="3941064"/>
            <a:ext cx="347472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Detalles de Cimentación de Grúa</a:t>
            </a:r>
            <a:endParaRPr lang="en-US" sz="1300" dirty="0"/>
          </a:p>
        </p:txBody>
      </p:sp>
      <p:sp>
        <p:nvSpPr>
          <p:cNvPr id="35" name="Text 33"/>
          <p:cNvSpPr txBox="1"/>
          <p:nvPr/>
        </p:nvSpPr>
        <p:spPr>
          <a:xfrm>
            <a:off x="4937760" y="4334256"/>
            <a:ext cx="3840480" cy="5486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Las cargas de grúa sobre el suelo pueden requerir fundaciones temporales especiales o plateas de concreto.</a:t>
            </a:r>
            <a:endParaRPr lang="en-US" sz="105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I-6: Distribución Eficiente del Sitio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AF52DE"/>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"La distribución de instalaciones permanentes y temporales promueve la eficiencia de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Problemas Estratégicos de Distribución:</a:t>
            </a:r>
            <a:endParaRPr lang="en-US" sz="1300" dirty="0"/>
          </a:p>
        </p:txBody>
      </p:sp>
      <p:sp>
        <p:nvSpPr>
          <p:cNvPr id="8" name="Shape 6"/>
          <p:cNvSpPr/>
          <p:nvPr/>
        </p:nvSpPr>
        <p:spPr>
          <a:xfrm>
            <a:off x="365760" y="2084832"/>
            <a:ext cx="8412480" cy="621792"/>
          </a:xfrm>
          <a:prstGeom prst="roundRect">
            <a:avLst>
              <a:gd name="adj" fmla="val 14706"/>
            </a:avLst>
          </a:prstGeom>
          <a:solidFill>
            <a:srgbClr val="2C2C2E"/>
          </a:solidFill>
          <a:ln w="12700">
            <a:solidFill>
              <a:srgbClr val="3A3A3C"/>
            </a:solidFill>
            <a:prstDash val="solid"/>
          </a:ln>
        </p:spPr>
      </p:sp>
      <p:sp>
        <p:nvSpPr>
          <p:cNvPr id="9" name="Shape 7"/>
          <p:cNvSpPr/>
          <p:nvPr/>
        </p:nvSpPr>
        <p:spPr>
          <a:xfrm>
            <a:off x="365760" y="2084832"/>
            <a:ext cx="73152" cy="621792"/>
          </a:xfrm>
          <a:prstGeom prst="rect">
            <a:avLst/>
          </a:prstGeom>
          <a:solidFill>
            <a:srgbClr val="AF52DE"/>
          </a:solidFill>
          <a:ln/>
        </p:spPr>
      </p:sp>
      <p:sp>
        <p:nvSpPr>
          <p:cNvPr id="10" name="Text 8"/>
          <p:cNvSpPr txBox="1"/>
          <p:nvPr/>
        </p:nvSpPr>
        <p:spPr>
          <a:xfrm>
            <a:off x="566928" y="2139696"/>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Ubicaciones y Adyacencias</a:t>
            </a:r>
            <a:endParaRPr lang="en-US" sz="1300" dirty="0"/>
          </a:p>
        </p:txBody>
      </p:sp>
      <p:sp>
        <p:nvSpPr>
          <p:cNvPr id="11" name="Text 9"/>
          <p:cNvSpPr txBox="1"/>
          <p:nvPr/>
        </p:nvSpPr>
        <p:spPr>
          <a:xfrm>
            <a:off x="3200400" y="2139696"/>
            <a:ext cx="548640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Relaciones entre instalaciones permanentes y zonas de trabajo temporal. Impacto en movimientos de personal y material.</a:t>
            </a:r>
            <a:endParaRPr lang="en-US" sz="1100" dirty="0"/>
          </a:p>
        </p:txBody>
      </p:sp>
      <p:sp>
        <p:nvSpPr>
          <p:cNvPr id="12" name="Shape 10"/>
          <p:cNvSpPr/>
          <p:nvPr/>
        </p:nvSpPr>
        <p:spPr>
          <a:xfrm>
            <a:off x="365760" y="2798064"/>
            <a:ext cx="8412480" cy="621792"/>
          </a:xfrm>
          <a:prstGeom prst="roundRect">
            <a:avLst>
              <a:gd name="adj" fmla="val 14706"/>
            </a:avLst>
          </a:prstGeom>
          <a:solidFill>
            <a:srgbClr val="2C2C2E"/>
          </a:solidFill>
          <a:ln w="12700">
            <a:solidFill>
              <a:srgbClr val="3A3A3C"/>
            </a:solidFill>
            <a:prstDash val="solid"/>
          </a:ln>
        </p:spPr>
      </p:sp>
      <p:sp>
        <p:nvSpPr>
          <p:cNvPr id="13" name="Shape 11"/>
          <p:cNvSpPr/>
          <p:nvPr/>
        </p:nvSpPr>
        <p:spPr>
          <a:xfrm>
            <a:off x="365760" y="2798064"/>
            <a:ext cx="73152" cy="621792"/>
          </a:xfrm>
          <a:prstGeom prst="rect">
            <a:avLst/>
          </a:prstGeom>
          <a:solidFill>
            <a:srgbClr val="AF52DE"/>
          </a:solidFill>
          <a:ln/>
        </p:spPr>
      </p:sp>
      <p:sp>
        <p:nvSpPr>
          <p:cNvPr id="14" name="Text 12"/>
          <p:cNvSpPr txBox="1"/>
          <p:nvPr/>
        </p:nvSpPr>
        <p:spPr>
          <a:xfrm>
            <a:off x="566928" y="2852928"/>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Layout H vs. V</a:t>
            </a:r>
            <a:endParaRPr lang="en-US" sz="1300" dirty="0"/>
          </a:p>
        </p:txBody>
      </p:sp>
      <p:sp>
        <p:nvSpPr>
          <p:cNvPr id="15" name="Text 13"/>
          <p:cNvSpPr txBox="1"/>
          <p:nvPr/>
        </p:nvSpPr>
        <p:spPr>
          <a:xfrm>
            <a:off x="3200400" y="2852928"/>
            <a:ext cx="548640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Instalaciones horizontales (plantas) vs. verticales (edificios) tienen requisitos radicalmente distintos de acceso y secuenciación.</a:t>
            </a:r>
            <a:endParaRPr lang="en-US" sz="1100" dirty="0"/>
          </a:p>
        </p:txBody>
      </p:sp>
      <p:sp>
        <p:nvSpPr>
          <p:cNvPr id="16" name="Shape 14"/>
          <p:cNvSpPr/>
          <p:nvPr/>
        </p:nvSpPr>
        <p:spPr>
          <a:xfrm>
            <a:off x="365760" y="3511296"/>
            <a:ext cx="8412480" cy="621792"/>
          </a:xfrm>
          <a:prstGeom prst="roundRect">
            <a:avLst>
              <a:gd name="adj" fmla="val 14706"/>
            </a:avLst>
          </a:prstGeom>
          <a:solidFill>
            <a:srgbClr val="2C2C2E"/>
          </a:solidFill>
          <a:ln w="12700">
            <a:solidFill>
              <a:srgbClr val="3A3A3C"/>
            </a:solidFill>
            <a:prstDash val="solid"/>
          </a:ln>
        </p:spPr>
      </p:sp>
      <p:sp>
        <p:nvSpPr>
          <p:cNvPr id="17" name="Shape 15"/>
          <p:cNvSpPr/>
          <p:nvPr/>
        </p:nvSpPr>
        <p:spPr>
          <a:xfrm>
            <a:off x="365760" y="3511296"/>
            <a:ext cx="73152" cy="621792"/>
          </a:xfrm>
          <a:prstGeom prst="rect">
            <a:avLst/>
          </a:prstGeom>
          <a:solidFill>
            <a:srgbClr val="AF52DE"/>
          </a:solidFill>
          <a:ln/>
        </p:spPr>
      </p:sp>
      <p:sp>
        <p:nvSpPr>
          <p:cNvPr id="18" name="Text 16"/>
          <p:cNvSpPr txBox="1"/>
          <p:nvPr/>
        </p:nvSpPr>
        <p:spPr>
          <a:xfrm>
            <a:off x="566928" y="3566160"/>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Densidad de Trabajo</a:t>
            </a:r>
            <a:endParaRPr lang="en-US" sz="1300" dirty="0"/>
          </a:p>
        </p:txBody>
      </p:sp>
      <p:sp>
        <p:nvSpPr>
          <p:cNvPr id="19" name="Text 17"/>
          <p:cNvSpPr txBox="1"/>
          <p:nvPr/>
        </p:nvSpPr>
        <p:spPr>
          <a:xfrm>
            <a:off x="3200400" y="3566160"/>
            <a:ext cx="548640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Niveles de congestión de la zona de trabajo. Excesiva densidad reduce productividad y aumenta riesgos de seguridad.</a:t>
            </a:r>
            <a:endParaRPr lang="en-US" sz="1100" dirty="0"/>
          </a:p>
        </p:txBody>
      </p:sp>
      <p:sp>
        <p:nvSpPr>
          <p:cNvPr id="20" name="Shape 18"/>
          <p:cNvSpPr/>
          <p:nvPr/>
        </p:nvSpPr>
        <p:spPr>
          <a:xfrm>
            <a:off x="365760" y="4224528"/>
            <a:ext cx="8412480" cy="621792"/>
          </a:xfrm>
          <a:prstGeom prst="roundRect">
            <a:avLst>
              <a:gd name="adj" fmla="val 14706"/>
            </a:avLst>
          </a:prstGeom>
          <a:solidFill>
            <a:srgbClr val="2C2C2E"/>
          </a:solidFill>
          <a:ln w="12700">
            <a:solidFill>
              <a:srgbClr val="3A3A3C"/>
            </a:solidFill>
            <a:prstDash val="solid"/>
          </a:ln>
        </p:spPr>
      </p:sp>
      <p:sp>
        <p:nvSpPr>
          <p:cNvPr id="21" name="Shape 19"/>
          <p:cNvSpPr/>
          <p:nvPr/>
        </p:nvSpPr>
        <p:spPr>
          <a:xfrm>
            <a:off x="365760" y="4224528"/>
            <a:ext cx="73152" cy="621792"/>
          </a:xfrm>
          <a:prstGeom prst="rect">
            <a:avLst/>
          </a:prstGeom>
          <a:solidFill>
            <a:srgbClr val="AF52DE"/>
          </a:solidFill>
          <a:ln/>
        </p:spPr>
      </p:sp>
      <p:sp>
        <p:nvSpPr>
          <p:cNvPr id="22" name="Text 20"/>
          <p:cNvSpPr txBox="1"/>
          <p:nvPr/>
        </p:nvSpPr>
        <p:spPr>
          <a:xfrm>
            <a:off x="566928" y="4279392"/>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Secuenciamiento de Áreas</a:t>
            </a:r>
            <a:endParaRPr lang="en-US" sz="1300" dirty="0"/>
          </a:p>
        </p:txBody>
      </p:sp>
      <p:sp>
        <p:nvSpPr>
          <p:cNvPr id="23" name="Text 21"/>
          <p:cNvSpPr txBox="1"/>
          <p:nvPr/>
        </p:nvSpPr>
        <p:spPr>
          <a:xfrm>
            <a:off x="3200400" y="4279392"/>
            <a:ext cx="548640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"Area sterilization": zonas que se vuelven inaccesibles durante ciertas fases requieren planificación de acceso anticipada.</a:t>
            </a:r>
            <a:endParaRPr lang="en-US" sz="1100" dirty="0"/>
          </a:p>
        </p:txBody>
      </p:sp>
      <p:sp>
        <p:nvSpPr>
          <p:cNvPr id="24" name="Text 22"/>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Beneficios del planeamiento estratégico de distribución: eliminar trabajo duplicado, aumentar productividad unitaria, reducir riesgo y pérdidas. Herramienta: análisis GIS para routing de vehículos pesados.</a:t>
            </a:r>
            <a:endParaRPr lang="en-US" sz="10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I-7: Tecnologías de Información para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"Las tecnologías de información avanzadas se aplican para facilitar la construcción eficiente."</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Beneficios clave de la Tecnología de Información:</a:t>
            </a:r>
            <a:endParaRPr lang="en-US" sz="1300" dirty="0"/>
          </a:p>
        </p:txBody>
      </p:sp>
      <p:sp>
        <p:nvSpPr>
          <p:cNvPr id="8" name="Shape 6"/>
          <p:cNvSpPr/>
          <p:nvPr/>
        </p:nvSpPr>
        <p:spPr>
          <a:xfrm>
            <a:off x="365760" y="2084832"/>
            <a:ext cx="4206240" cy="914400"/>
          </a:xfrm>
          <a:prstGeom prst="roundRect">
            <a:avLst>
              <a:gd name="adj" fmla="val 10000"/>
            </a:avLst>
          </a:prstGeom>
          <a:solidFill>
            <a:srgbClr val="2C2C2E"/>
          </a:solidFill>
          <a:ln w="12700">
            <a:solidFill>
              <a:srgbClr val="0A84FF"/>
            </a:solidFill>
            <a:prstDash val="solid"/>
          </a:ln>
        </p:spPr>
      </p:sp>
      <p:sp>
        <p:nvSpPr>
          <p:cNvPr id="9" name="Text 7"/>
          <p:cNvSpPr txBox="1"/>
          <p:nvPr/>
        </p:nvSpPr>
        <p:spPr>
          <a:xfrm>
            <a:off x="548640" y="2157984"/>
            <a:ext cx="3840480" cy="320040"/>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Facilidad de Uso</a:t>
            </a:r>
            <a:endParaRPr lang="en-US" sz="1400" dirty="0"/>
          </a:p>
        </p:txBody>
      </p:sp>
      <p:sp>
        <p:nvSpPr>
          <p:cNvPr id="10" name="Text 8"/>
          <p:cNvSpPr txBox="1"/>
          <p:nvPr/>
        </p:nvSpPr>
        <p:spPr>
          <a:xfrm>
            <a:off x="548640" y="2487168"/>
            <a:ext cx="384048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Trabajo más fácil, menos tedioso. Interfaz amigable que el campo puede adoptar sin capacitación extensa.</a:t>
            </a:r>
            <a:endParaRPr lang="en-US" sz="1100" dirty="0"/>
          </a:p>
        </p:txBody>
      </p:sp>
      <p:sp>
        <p:nvSpPr>
          <p:cNvPr id="11" name="Shape 9"/>
          <p:cNvSpPr/>
          <p:nvPr/>
        </p:nvSpPr>
        <p:spPr>
          <a:xfrm>
            <a:off x="4754880" y="2084832"/>
            <a:ext cx="4206240" cy="914400"/>
          </a:xfrm>
          <a:prstGeom prst="roundRect">
            <a:avLst>
              <a:gd name="adj" fmla="val 10000"/>
            </a:avLst>
          </a:prstGeom>
          <a:solidFill>
            <a:srgbClr val="2C2C2E"/>
          </a:solidFill>
          <a:ln w="12700">
            <a:solidFill>
              <a:srgbClr val="30D158"/>
            </a:solidFill>
            <a:prstDash val="solid"/>
          </a:ln>
        </p:spPr>
      </p:sp>
      <p:sp>
        <p:nvSpPr>
          <p:cNvPr id="12" name="Text 10"/>
          <p:cNvSpPr txBox="1"/>
          <p:nvPr/>
        </p:nvSpPr>
        <p:spPr>
          <a:xfrm>
            <a:off x="4937760" y="2157984"/>
            <a:ext cx="3840480" cy="320040"/>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Menos Duplicación</a:t>
            </a:r>
            <a:endParaRPr lang="en-US" sz="1400" dirty="0"/>
          </a:p>
        </p:txBody>
      </p:sp>
      <p:sp>
        <p:nvSpPr>
          <p:cNvPr id="13" name="Text 11"/>
          <p:cNvSpPr txBox="1"/>
          <p:nvPr/>
        </p:nvSpPr>
        <p:spPr>
          <a:xfrm>
            <a:off x="4937760" y="2487168"/>
            <a:ext cx="384048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Entrada única de datos. La información creada en diseño fluye directamente a campo sin re-ingreso.</a:t>
            </a:r>
            <a:endParaRPr lang="en-US" sz="1100" dirty="0"/>
          </a:p>
        </p:txBody>
      </p:sp>
      <p:sp>
        <p:nvSpPr>
          <p:cNvPr id="14" name="Shape 12"/>
          <p:cNvSpPr/>
          <p:nvPr/>
        </p:nvSpPr>
        <p:spPr>
          <a:xfrm>
            <a:off x="365760" y="3108960"/>
            <a:ext cx="4206240" cy="914400"/>
          </a:xfrm>
          <a:prstGeom prst="roundRect">
            <a:avLst>
              <a:gd name="adj" fmla="val 10000"/>
            </a:avLst>
          </a:prstGeom>
          <a:solidFill>
            <a:srgbClr val="2C2C2E"/>
          </a:solidFill>
          <a:ln w="12700">
            <a:solidFill>
              <a:srgbClr val="FF9500"/>
            </a:solidFill>
            <a:prstDash val="solid"/>
          </a:ln>
        </p:spPr>
      </p:sp>
      <p:sp>
        <p:nvSpPr>
          <p:cNvPr id="15" name="Text 13"/>
          <p:cNvSpPr txBox="1"/>
          <p:nvPr/>
        </p:nvSpPr>
        <p:spPr>
          <a:xfrm>
            <a:off x="548640" y="3182112"/>
            <a:ext cx="3840480" cy="320040"/>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Mayor Precisión</a:t>
            </a:r>
            <a:endParaRPr lang="en-US" sz="1400" dirty="0"/>
          </a:p>
        </p:txBody>
      </p:sp>
      <p:sp>
        <p:nvSpPr>
          <p:cNvPr id="16" name="Text 14"/>
          <p:cNvSpPr txBox="1"/>
          <p:nvPr/>
        </p:nvSpPr>
        <p:spPr>
          <a:xfrm>
            <a:off x="548640" y="3511296"/>
            <a:ext cx="384048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Exactitud y oportunidad mejoradas. Errores de transcripción eliminados en documentos críticos.</a:t>
            </a:r>
            <a:endParaRPr lang="en-US" sz="1100" dirty="0"/>
          </a:p>
        </p:txBody>
      </p:sp>
      <p:sp>
        <p:nvSpPr>
          <p:cNvPr id="17" name="Shape 15"/>
          <p:cNvSpPr/>
          <p:nvPr/>
        </p:nvSpPr>
        <p:spPr>
          <a:xfrm>
            <a:off x="4754880" y="3108960"/>
            <a:ext cx="4206240" cy="914400"/>
          </a:xfrm>
          <a:prstGeom prst="roundRect">
            <a:avLst>
              <a:gd name="adj" fmla="val 10000"/>
            </a:avLst>
          </a:prstGeom>
          <a:solidFill>
            <a:srgbClr val="2C2C2E"/>
          </a:solidFill>
          <a:ln w="12700">
            <a:solidFill>
              <a:srgbClr val="AF52DE"/>
            </a:solidFill>
            <a:prstDash val="solid"/>
          </a:ln>
        </p:spPr>
      </p:sp>
      <p:sp>
        <p:nvSpPr>
          <p:cNvPr id="18" name="Text 16"/>
          <p:cNvSpPr txBox="1"/>
          <p:nvPr/>
        </p:nvSpPr>
        <p:spPr>
          <a:xfrm>
            <a:off x="4937760" y="3182112"/>
            <a:ext cx="3840480" cy="320040"/>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Documentación</a:t>
            </a:r>
            <a:endParaRPr lang="en-US" sz="1400" dirty="0"/>
          </a:p>
        </p:txBody>
      </p:sp>
      <p:sp>
        <p:nvSpPr>
          <p:cNvPr id="19" name="Text 17"/>
          <p:cNvSpPr txBox="1"/>
          <p:nvPr/>
        </p:nvSpPr>
        <p:spPr>
          <a:xfrm>
            <a:off x="4937760" y="3511296"/>
            <a:ext cx="384048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Registro permanente para beneficio futuro. Base de datos de lecciones aprendidas del proyecto.</a:t>
            </a:r>
            <a:endParaRPr lang="en-US" sz="1100" dirty="0"/>
          </a:p>
        </p:txBody>
      </p:sp>
      <p:sp>
        <p:nvSpPr>
          <p:cNvPr id="20" name="Text 18"/>
          <p:cNvSpPr txBox="1"/>
          <p:nvPr/>
        </p:nvSpPr>
        <p:spPr>
          <a:xfrm>
            <a:off x="365760" y="4160520"/>
            <a:ext cx="841248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Herramientas IT aplicables: BIM 3D/4D, modelos IFC, e-Commerce, ERP, GIS, comunicación web, código de barras, simulación de procesos, planificación de izajes, RFID en equipos, computación en campo, DB de lecciones aprendidas.</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BIM y Constructabilidad — La Intersección Tecnológica Clave</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BIM (Building Information Modeling) potencia todos los conceptos de constructabilidad de la Fase I:</a:t>
            </a:r>
            <a:endParaRPr lang="en-US" sz="1400" dirty="0"/>
          </a:p>
        </p:txBody>
      </p:sp>
      <p:sp>
        <p:nvSpPr>
          <p:cNvPr id="6" name="Shape 4"/>
          <p:cNvSpPr/>
          <p:nvPr/>
        </p:nvSpPr>
        <p:spPr>
          <a:xfrm>
            <a:off x="365760" y="1298448"/>
            <a:ext cx="4206240" cy="1115568"/>
          </a:xfrm>
          <a:prstGeom prst="roundRect">
            <a:avLst>
              <a:gd name="adj" fmla="val 8197"/>
            </a:avLst>
          </a:prstGeom>
          <a:solidFill>
            <a:srgbClr val="2C2C2E"/>
          </a:solidFill>
          <a:ln w="12700">
            <a:solidFill>
              <a:srgbClr val="3A3A3C"/>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3D CAD / BIM</a:t>
            </a:r>
            <a:endParaRPr lang="en-US" sz="1400" dirty="0"/>
          </a:p>
        </p:txBody>
      </p:sp>
      <p:sp>
        <p:nvSpPr>
          <p:cNvPr id="9" name="Text 7"/>
          <p:cNvSpPr txBox="1"/>
          <p:nvPr/>
        </p:nvSpPr>
        <p:spPr>
          <a:xfrm>
            <a:off x="566928" y="1728216"/>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Detección de interferencias entre sistemas antes de llegar a campo. Reduce el retrabajo en un 50-80% en proyectos bien modelados.</a:t>
            </a:r>
            <a:endParaRPr lang="en-US" sz="1050" dirty="0"/>
          </a:p>
        </p:txBody>
      </p:sp>
      <p:sp>
        <p:nvSpPr>
          <p:cNvPr id="10" name="Shape 8"/>
          <p:cNvSpPr/>
          <p:nvPr/>
        </p:nvSpPr>
        <p:spPr>
          <a:xfrm>
            <a:off x="4754880" y="1298448"/>
            <a:ext cx="4206240" cy="1115568"/>
          </a:xfrm>
          <a:prstGeom prst="roundRect">
            <a:avLst>
              <a:gd name="adj" fmla="val 8197"/>
            </a:avLst>
          </a:prstGeom>
          <a:solidFill>
            <a:srgbClr val="2C2C2E"/>
          </a:solidFill>
          <a:ln w="12700">
            <a:solidFill>
              <a:srgbClr val="3A3A3C"/>
            </a:solidFill>
            <a:prstDash val="solid"/>
          </a:ln>
        </p:spPr>
      </p:sp>
      <p:sp>
        <p:nvSpPr>
          <p:cNvPr id="11" name="Shape 9"/>
          <p:cNvSpPr/>
          <p:nvPr/>
        </p:nvSpPr>
        <p:spPr>
          <a:xfrm>
            <a:off x="4754880" y="1298448"/>
            <a:ext cx="73152" cy="1115568"/>
          </a:xfrm>
          <a:prstGeom prst="rect">
            <a:avLst/>
          </a:prstGeom>
          <a:solidFill>
            <a:srgbClr val="64D2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400" b="1" dirty="0">
                <a:solidFill>
                  <a:srgbClr val="64D2FF"/>
                </a:solidFill>
                <a:latin typeface="Atkinson Hyperlegible" pitchFamily="34" charset="0"/>
                <a:ea typeface="Atkinson Hyperlegible" pitchFamily="34" charset="-122"/>
                <a:cs typeface="Atkinson Hyperlegible" pitchFamily="34" charset="-120"/>
              </a:rPr>
              <a:t>4D (BIM + Tiempo)</a:t>
            </a:r>
            <a:endParaRPr lang="en-US" sz="1400" dirty="0"/>
          </a:p>
        </p:txBody>
      </p:sp>
      <p:sp>
        <p:nvSpPr>
          <p:cNvPr id="13" name="Text 11"/>
          <p:cNvSpPr txBox="1"/>
          <p:nvPr/>
        </p:nvSpPr>
        <p:spPr>
          <a:xfrm>
            <a:off x="4956048" y="1728216"/>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Simulación visual del proceso constructivo. Permite visualizar la secuencia de trabajo e identificar problemas de acceso y secuenciación anticipadamente.</a:t>
            </a:r>
            <a:endParaRPr lang="en-US" sz="1050" dirty="0"/>
          </a:p>
        </p:txBody>
      </p:sp>
      <p:sp>
        <p:nvSpPr>
          <p:cNvPr id="14" name="Shape 12"/>
          <p:cNvSpPr/>
          <p:nvPr/>
        </p:nvSpPr>
        <p:spPr>
          <a:xfrm>
            <a:off x="365760" y="2532888"/>
            <a:ext cx="4206240" cy="1115568"/>
          </a:xfrm>
          <a:prstGeom prst="roundRect">
            <a:avLst>
              <a:gd name="adj" fmla="val 8197"/>
            </a:avLst>
          </a:prstGeom>
          <a:solidFill>
            <a:srgbClr val="2C2C2E"/>
          </a:solidFill>
          <a:ln w="12700">
            <a:solidFill>
              <a:srgbClr val="3A3A3C"/>
            </a:solidFill>
            <a:prstDash val="solid"/>
          </a:ln>
        </p:spPr>
      </p:sp>
      <p:sp>
        <p:nvSpPr>
          <p:cNvPr id="15" name="Shape 13"/>
          <p:cNvSpPr/>
          <p:nvPr/>
        </p:nvSpPr>
        <p:spPr>
          <a:xfrm>
            <a:off x="365760" y="2532888"/>
            <a:ext cx="73152" cy="1115568"/>
          </a:xfrm>
          <a:prstGeom prst="rect">
            <a:avLst/>
          </a:prstGeom>
          <a:solidFill>
            <a:srgbClr val="30D158"/>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5D (BIM + Costo)</a:t>
            </a:r>
            <a:endParaRPr lang="en-US" sz="1400" dirty="0"/>
          </a:p>
        </p:txBody>
      </p:sp>
      <p:sp>
        <p:nvSpPr>
          <p:cNvPr id="17" name="Text 15"/>
          <p:cNvSpPr txBox="1"/>
          <p:nvPr/>
        </p:nvSpPr>
        <p:spPr>
          <a:xfrm>
            <a:off x="566928" y="2962656"/>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Extracción de metrados y estimados directamente del modelo. Actualización automática al cambiar diseño.</a:t>
            </a:r>
            <a:endParaRPr lang="en-US" sz="1050" dirty="0"/>
          </a:p>
        </p:txBody>
      </p:sp>
      <p:sp>
        <p:nvSpPr>
          <p:cNvPr id="18" name="Shape 16"/>
          <p:cNvSpPr/>
          <p:nvPr/>
        </p:nvSpPr>
        <p:spPr>
          <a:xfrm>
            <a:off x="4754880" y="2532888"/>
            <a:ext cx="4206240" cy="1115568"/>
          </a:xfrm>
          <a:prstGeom prst="roundRect">
            <a:avLst>
              <a:gd name="adj" fmla="val 8197"/>
            </a:avLst>
          </a:prstGeom>
          <a:solidFill>
            <a:srgbClr val="2C2C2E"/>
          </a:solidFill>
          <a:ln w="12700">
            <a:solidFill>
              <a:srgbClr val="3A3A3C"/>
            </a:solidFill>
            <a:prstDash val="solid"/>
          </a:ln>
        </p:spPr>
      </p:sp>
      <p:sp>
        <p:nvSpPr>
          <p:cNvPr id="19" name="Shape 17"/>
          <p:cNvSpPr/>
          <p:nvPr/>
        </p:nvSpPr>
        <p:spPr>
          <a:xfrm>
            <a:off x="4754880" y="2532888"/>
            <a:ext cx="73152" cy="1115568"/>
          </a:xfrm>
          <a:prstGeom prst="rect">
            <a:avLst/>
          </a:prstGeom>
          <a:solidFill>
            <a:srgbClr val="FF9500"/>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Detección de Interferencias</a:t>
            </a:r>
            <a:endParaRPr lang="en-US" sz="1400" dirty="0"/>
          </a:p>
        </p:txBody>
      </p:sp>
      <p:sp>
        <p:nvSpPr>
          <p:cNvPr id="21" name="Text 19"/>
          <p:cNvSpPr txBox="1"/>
          <p:nvPr/>
        </p:nvSpPr>
        <p:spPr>
          <a:xfrm>
            <a:off x="4956048" y="2962656"/>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Clash detection automático entre estructuras, tuberías, eléctricas, HVAC. Crítico para plantas industriales.</a:t>
            </a:r>
            <a:endParaRPr lang="en-US" sz="1050" dirty="0"/>
          </a:p>
        </p:txBody>
      </p:sp>
      <p:sp>
        <p:nvSpPr>
          <p:cNvPr id="22" name="Shape 20"/>
          <p:cNvSpPr/>
          <p:nvPr/>
        </p:nvSpPr>
        <p:spPr>
          <a:xfrm>
            <a:off x="365760" y="3767328"/>
            <a:ext cx="4206240" cy="1115568"/>
          </a:xfrm>
          <a:prstGeom prst="roundRect">
            <a:avLst>
              <a:gd name="adj" fmla="val 8197"/>
            </a:avLst>
          </a:prstGeom>
          <a:solidFill>
            <a:srgbClr val="2C2C2E"/>
          </a:solidFill>
          <a:ln w="12700">
            <a:solidFill>
              <a:srgbClr val="3A3A3C"/>
            </a:solidFill>
            <a:prstDash val="solid"/>
          </a:ln>
        </p:spPr>
      </p:sp>
      <p:sp>
        <p:nvSpPr>
          <p:cNvPr id="23" name="Shape 21"/>
          <p:cNvSpPr/>
          <p:nvPr/>
        </p:nvSpPr>
        <p:spPr>
          <a:xfrm>
            <a:off x="365760" y="3767328"/>
            <a:ext cx="73152" cy="1115568"/>
          </a:xfrm>
          <a:prstGeom prst="rect">
            <a:avLst/>
          </a:prstGeom>
          <a:solidFill>
            <a:srgbClr val="FF453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Planificación de Izajes</a:t>
            </a:r>
            <a:endParaRPr lang="en-US" sz="1400" dirty="0"/>
          </a:p>
        </p:txBody>
      </p:sp>
      <p:sp>
        <p:nvSpPr>
          <p:cNvPr id="25" name="Text 23"/>
          <p:cNvSpPr txBox="1"/>
          <p:nvPr/>
        </p:nvSpPr>
        <p:spPr>
          <a:xfrm>
            <a:off x="566928" y="4197096"/>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Simulación de movimientos de grúa en el modelo 3D. Verificación de accesos y alcances antes de la ejecución.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2C2C2E"/>
          </a:solidFill>
          <a:ln w="12700">
            <a:solidFill>
              <a:srgbClr val="3A3A3C"/>
            </a:solidFill>
            <a:prstDash val="solid"/>
          </a:ln>
        </p:spPr>
      </p:sp>
      <p:sp>
        <p:nvSpPr>
          <p:cNvPr id="27" name="Shape 25"/>
          <p:cNvSpPr/>
          <p:nvPr/>
        </p:nvSpPr>
        <p:spPr>
          <a:xfrm>
            <a:off x="4754880" y="3767328"/>
            <a:ext cx="73152" cy="1115568"/>
          </a:xfrm>
          <a:prstGeom prst="rect">
            <a:avLst/>
          </a:prstGeom>
          <a:solidFill>
            <a:srgbClr val="AF52DE"/>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Routing en Sitio</a:t>
            </a:r>
            <a:endParaRPr lang="en-US" sz="1400" dirty="0"/>
          </a:p>
        </p:txBody>
      </p:sp>
      <p:sp>
        <p:nvSpPr>
          <p:cNvPr id="29" name="Text 27"/>
          <p:cNvSpPr txBox="1"/>
          <p:nvPr/>
        </p:nvSpPr>
        <p:spPr>
          <a:xfrm>
            <a:off x="4956048" y="4197096"/>
            <a:ext cx="374904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GIS + BIM para planificar el movimiento de vehículos pesados y equipos especiales en el sitio de construcción.</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2C2C2E"/>
                </a:solidFill>
                <a:latin typeface="Atkinson Hyperlegible" pitchFamily="34" charset="0"/>
                <a:ea typeface="Atkinson Hyperlegible" pitchFamily="34" charset="-122"/>
                <a:cs typeface="Atkinson Hyperlegible" pitchFamily="34" charset="-120"/>
              </a:rPr>
              <a:t>04</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Atkinson Hyperlegible" pitchFamily="34" charset="0"/>
                <a:ea typeface="Atkinson Hyperlegible" pitchFamily="34" charset="-122"/>
                <a:cs typeface="Atkinson Hyperlegible" pitchFamily="34" charset="-120"/>
              </a:rPr>
              <a:t>Conceptos Fase 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8E8E93"/>
                </a:solidFill>
                <a:latin typeface="Atkinson Hyperlegible" pitchFamily="34" charset="0"/>
                <a:ea typeface="Atkinson Hyperlegible" pitchFamily="34" charset="-122"/>
                <a:cs typeface="Atkinson Hyperlegible" pitchFamily="34" charset="-120"/>
              </a:rPr>
              <a:t>Diseño y Procura — 8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Fase II — Diseño y Procura: Visión General</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Proyectos industriales: Diseño de detalle + procura de largo plazo. Proyectos comerciales: Desarrollo del diseño + planos de trabajo.</a:t>
            </a:r>
            <a:endParaRPr lang="en-US" sz="1300" dirty="0"/>
          </a:p>
        </p:txBody>
      </p:sp>
      <p:sp>
        <p:nvSpPr>
          <p:cNvPr id="6" name="Shape 4"/>
          <p:cNvSpPr/>
          <p:nvPr/>
        </p:nvSpPr>
        <p:spPr>
          <a:xfrm>
            <a:off x="365760" y="1325880"/>
            <a:ext cx="4206240" cy="804672"/>
          </a:xfrm>
          <a:prstGeom prst="roundRect">
            <a:avLst>
              <a:gd name="adj" fmla="val 11364"/>
            </a:avLst>
          </a:prstGeom>
          <a:solidFill>
            <a:srgbClr val="2C2C2E"/>
          </a:solidFill>
          <a:ln w="12700">
            <a:solidFill>
              <a:srgbClr val="3A3A3C"/>
            </a:solidFill>
            <a:prstDash val="solid"/>
          </a:ln>
        </p:spPr>
      </p:sp>
      <p:sp>
        <p:nvSpPr>
          <p:cNvPr id="7" name="Shape 5"/>
          <p:cNvSpPr/>
          <p:nvPr/>
        </p:nvSpPr>
        <p:spPr>
          <a:xfrm>
            <a:off x="365760" y="1325880"/>
            <a:ext cx="73152" cy="804672"/>
          </a:xfrm>
          <a:prstGeom prst="rect">
            <a:avLst/>
          </a:prstGeom>
          <a:solidFill>
            <a:srgbClr val="0A84FF"/>
          </a:solidFill>
          <a:ln/>
        </p:spPr>
      </p:sp>
      <p:sp>
        <p:nvSpPr>
          <p:cNvPr id="8" name="Text 6"/>
          <p:cNvSpPr txBox="1"/>
          <p:nvPr/>
        </p:nvSpPr>
        <p:spPr>
          <a:xfrm>
            <a:off x="566928" y="1389888"/>
            <a:ext cx="54864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II-1</a:t>
            </a:r>
            <a:endParaRPr lang="en-US" sz="1500" dirty="0"/>
          </a:p>
        </p:txBody>
      </p:sp>
      <p:sp>
        <p:nvSpPr>
          <p:cNvPr id="9" name="Text 7"/>
          <p:cNvSpPr txBox="1"/>
          <p:nvPr/>
        </p:nvSpPr>
        <p:spPr>
          <a:xfrm>
            <a:off x="1170432" y="1389888"/>
            <a:ext cx="3291840" cy="548640"/>
          </a:xfrm>
          <a:prstGeom prst="rect">
            <a:avLst/>
          </a:prstGeom>
          <a:noFill/>
          <a:ln/>
        </p:spPr>
        <p:txBody>
          <a:bodyPr wrap="square" lIns="0" tIns="0" rIns="0" bIns="0" rtlCol="0" anchor="ctr"/>
          <a:lstStyle/>
          <a:p>
            <a:pPr indent="0" marL="0">
              <a:buNone/>
            </a:pPr>
            <a:r>
              <a:rPr lang="en-US" sz="1200" dirty="0">
                <a:solidFill>
                  <a:srgbClr val="FFFFFF"/>
                </a:solidFill>
                <a:latin typeface="Atkinson Hyperlegible" pitchFamily="34" charset="0"/>
                <a:ea typeface="Atkinson Hyperlegible" pitchFamily="34" charset="-122"/>
                <a:cs typeface="Atkinson Hyperlegible" pitchFamily="34" charset="-120"/>
              </a:rPr>
              <a:t>Cronogramas D&amp;P orientados a construcción</a:t>
            </a:r>
            <a:endParaRPr lang="en-US" sz="1200" dirty="0"/>
          </a:p>
        </p:txBody>
      </p:sp>
      <p:sp>
        <p:nvSpPr>
          <p:cNvPr id="10" name="Shape 8"/>
          <p:cNvSpPr/>
          <p:nvPr/>
        </p:nvSpPr>
        <p:spPr>
          <a:xfrm>
            <a:off x="4754880" y="1325880"/>
            <a:ext cx="4206240" cy="804672"/>
          </a:xfrm>
          <a:prstGeom prst="roundRect">
            <a:avLst>
              <a:gd name="adj" fmla="val 11364"/>
            </a:avLst>
          </a:prstGeom>
          <a:solidFill>
            <a:srgbClr val="2C2C2E"/>
          </a:solidFill>
          <a:ln w="12700">
            <a:solidFill>
              <a:srgbClr val="3A3A3C"/>
            </a:solidFill>
            <a:prstDash val="solid"/>
          </a:ln>
        </p:spPr>
      </p:sp>
      <p:sp>
        <p:nvSpPr>
          <p:cNvPr id="11" name="Shape 9"/>
          <p:cNvSpPr/>
          <p:nvPr/>
        </p:nvSpPr>
        <p:spPr>
          <a:xfrm>
            <a:off x="4754880" y="1325880"/>
            <a:ext cx="73152" cy="804672"/>
          </a:xfrm>
          <a:prstGeom prst="rect">
            <a:avLst/>
          </a:prstGeom>
          <a:solidFill>
            <a:srgbClr val="FF9500"/>
          </a:solidFill>
          <a:ln/>
        </p:spPr>
      </p:sp>
      <p:sp>
        <p:nvSpPr>
          <p:cNvPr id="12" name="Text 10"/>
          <p:cNvSpPr txBox="1"/>
          <p:nvPr/>
        </p:nvSpPr>
        <p:spPr>
          <a:xfrm>
            <a:off x="4956048" y="1389888"/>
            <a:ext cx="54864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II-2</a:t>
            </a:r>
            <a:endParaRPr lang="en-US" sz="1500" dirty="0"/>
          </a:p>
        </p:txBody>
      </p:sp>
      <p:sp>
        <p:nvSpPr>
          <p:cNvPr id="13" name="Text 11"/>
          <p:cNvSpPr txBox="1"/>
          <p:nvPr/>
        </p:nvSpPr>
        <p:spPr>
          <a:xfrm>
            <a:off x="5559552" y="1389888"/>
            <a:ext cx="3291840" cy="548640"/>
          </a:xfrm>
          <a:prstGeom prst="rect">
            <a:avLst/>
          </a:prstGeom>
          <a:noFill/>
          <a:ln/>
        </p:spPr>
        <p:txBody>
          <a:bodyPr wrap="square" lIns="0" tIns="0" rIns="0" bIns="0" rtlCol="0" anchor="ctr"/>
          <a:lstStyle/>
          <a:p>
            <a:pPr indent="0" marL="0">
              <a:buNone/>
            </a:pPr>
            <a:r>
              <a:rPr lang="en-US" sz="1200" dirty="0">
                <a:solidFill>
                  <a:srgbClr val="FFFFFF"/>
                </a:solidFill>
                <a:latin typeface="Atkinson Hyperlegible" pitchFamily="34" charset="0"/>
                <a:ea typeface="Atkinson Hyperlegible" pitchFamily="34" charset="-122"/>
                <a:cs typeface="Atkinson Hyperlegible" pitchFamily="34" charset="-120"/>
              </a:rPr>
              <a:t>Diseños configurados para eficiencia constructiva</a:t>
            </a:r>
            <a:endParaRPr lang="en-US" sz="1200" dirty="0"/>
          </a:p>
        </p:txBody>
      </p:sp>
      <p:sp>
        <p:nvSpPr>
          <p:cNvPr id="14" name="Shape 12"/>
          <p:cNvSpPr/>
          <p:nvPr/>
        </p:nvSpPr>
        <p:spPr>
          <a:xfrm>
            <a:off x="365760" y="2240280"/>
            <a:ext cx="4206240" cy="804672"/>
          </a:xfrm>
          <a:prstGeom prst="roundRect">
            <a:avLst>
              <a:gd name="adj" fmla="val 11364"/>
            </a:avLst>
          </a:prstGeom>
          <a:solidFill>
            <a:srgbClr val="2C2C2E"/>
          </a:solidFill>
          <a:ln w="12700">
            <a:solidFill>
              <a:srgbClr val="3A3A3C"/>
            </a:solidFill>
            <a:prstDash val="solid"/>
          </a:ln>
        </p:spPr>
      </p:sp>
      <p:sp>
        <p:nvSpPr>
          <p:cNvPr id="15" name="Shape 13"/>
          <p:cNvSpPr/>
          <p:nvPr/>
        </p:nvSpPr>
        <p:spPr>
          <a:xfrm>
            <a:off x="365760" y="2240280"/>
            <a:ext cx="73152" cy="804672"/>
          </a:xfrm>
          <a:prstGeom prst="rect">
            <a:avLst/>
          </a:prstGeom>
          <a:solidFill>
            <a:srgbClr val="30D158"/>
          </a:solidFill>
          <a:ln/>
        </p:spPr>
      </p:sp>
      <p:sp>
        <p:nvSpPr>
          <p:cNvPr id="16" name="Text 14"/>
          <p:cNvSpPr txBox="1"/>
          <p:nvPr/>
        </p:nvSpPr>
        <p:spPr>
          <a:xfrm>
            <a:off x="566928" y="2304288"/>
            <a:ext cx="54864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II-3</a:t>
            </a:r>
            <a:endParaRPr lang="en-US" sz="1500" dirty="0"/>
          </a:p>
        </p:txBody>
      </p:sp>
      <p:sp>
        <p:nvSpPr>
          <p:cNvPr id="17" name="Text 15"/>
          <p:cNvSpPr txBox="1"/>
          <p:nvPr/>
        </p:nvSpPr>
        <p:spPr>
          <a:xfrm>
            <a:off x="1170432" y="2304288"/>
            <a:ext cx="3291840" cy="548640"/>
          </a:xfrm>
          <a:prstGeom prst="rect">
            <a:avLst/>
          </a:prstGeom>
          <a:noFill/>
          <a:ln/>
        </p:spPr>
        <p:txBody>
          <a:bodyPr wrap="square" lIns="0" tIns="0" rIns="0" bIns="0" rtlCol="0" anchor="ctr"/>
          <a:lstStyle/>
          <a:p>
            <a:pPr indent="0" marL="0">
              <a:buNone/>
            </a:pPr>
            <a:r>
              <a:rPr lang="en-US" sz="1200" dirty="0">
                <a:solidFill>
                  <a:srgbClr val="FFFFFF"/>
                </a:solidFill>
                <a:latin typeface="Atkinson Hyperlegible" pitchFamily="34" charset="0"/>
                <a:ea typeface="Atkinson Hyperlegible" pitchFamily="34" charset="-122"/>
                <a:cs typeface="Atkinson Hyperlegible" pitchFamily="34" charset="-120"/>
              </a:rPr>
              <a:t>Estandarización de elementos de diseño</a:t>
            </a:r>
            <a:endParaRPr lang="en-US" sz="1200" dirty="0"/>
          </a:p>
        </p:txBody>
      </p:sp>
      <p:sp>
        <p:nvSpPr>
          <p:cNvPr id="18" name="Shape 16"/>
          <p:cNvSpPr/>
          <p:nvPr/>
        </p:nvSpPr>
        <p:spPr>
          <a:xfrm>
            <a:off x="4754880" y="2240280"/>
            <a:ext cx="4206240" cy="804672"/>
          </a:xfrm>
          <a:prstGeom prst="roundRect">
            <a:avLst>
              <a:gd name="adj" fmla="val 11364"/>
            </a:avLst>
          </a:prstGeom>
          <a:solidFill>
            <a:srgbClr val="2C2C2E"/>
          </a:solidFill>
          <a:ln w="12700">
            <a:solidFill>
              <a:srgbClr val="3A3A3C"/>
            </a:solidFill>
            <a:prstDash val="solid"/>
          </a:ln>
        </p:spPr>
      </p:sp>
      <p:sp>
        <p:nvSpPr>
          <p:cNvPr id="19" name="Shape 17"/>
          <p:cNvSpPr/>
          <p:nvPr/>
        </p:nvSpPr>
        <p:spPr>
          <a:xfrm>
            <a:off x="4754880" y="2240280"/>
            <a:ext cx="73152" cy="804672"/>
          </a:xfrm>
          <a:prstGeom prst="rect">
            <a:avLst/>
          </a:prstGeom>
          <a:solidFill>
            <a:srgbClr val="AF52DE"/>
          </a:solidFill>
          <a:ln/>
        </p:spPr>
      </p:sp>
      <p:sp>
        <p:nvSpPr>
          <p:cNvPr id="20" name="Text 18"/>
          <p:cNvSpPr txBox="1"/>
          <p:nvPr/>
        </p:nvSpPr>
        <p:spPr>
          <a:xfrm>
            <a:off x="4956048" y="2304288"/>
            <a:ext cx="54864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II-4</a:t>
            </a:r>
            <a:endParaRPr lang="en-US" sz="1500" dirty="0"/>
          </a:p>
        </p:txBody>
      </p:sp>
      <p:sp>
        <p:nvSpPr>
          <p:cNvPr id="21" name="Text 19"/>
          <p:cNvSpPr txBox="1"/>
          <p:nvPr/>
        </p:nvSpPr>
        <p:spPr>
          <a:xfrm>
            <a:off x="5559552" y="2304288"/>
            <a:ext cx="3291840" cy="548640"/>
          </a:xfrm>
          <a:prstGeom prst="rect">
            <a:avLst/>
          </a:prstGeom>
          <a:noFill/>
          <a:ln/>
        </p:spPr>
        <p:txBody>
          <a:bodyPr wrap="square" lIns="0" tIns="0" rIns="0" bIns="0" rtlCol="0" anchor="ctr"/>
          <a:lstStyle/>
          <a:p>
            <a:pPr indent="0" marL="0">
              <a:buNone/>
            </a:pPr>
            <a:r>
              <a:rPr lang="en-US" sz="1200" dirty="0">
                <a:solidFill>
                  <a:srgbClr val="FFFFFF"/>
                </a:solidFill>
                <a:latin typeface="Atkinson Hyperlegible" pitchFamily="34" charset="0"/>
                <a:ea typeface="Atkinson Hyperlegible" pitchFamily="34" charset="-122"/>
                <a:cs typeface="Atkinson Hyperlegible" pitchFamily="34" charset="-120"/>
              </a:rPr>
              <a:t>Eficiencia en documentos de contrato (planos y specs)</a:t>
            </a:r>
            <a:endParaRPr lang="en-US" sz="1200" dirty="0"/>
          </a:p>
        </p:txBody>
      </p:sp>
      <p:sp>
        <p:nvSpPr>
          <p:cNvPr id="22" name="Shape 20"/>
          <p:cNvSpPr/>
          <p:nvPr/>
        </p:nvSpPr>
        <p:spPr>
          <a:xfrm>
            <a:off x="365760" y="3154680"/>
            <a:ext cx="4206240" cy="804672"/>
          </a:xfrm>
          <a:prstGeom prst="roundRect">
            <a:avLst>
              <a:gd name="adj" fmla="val 11364"/>
            </a:avLst>
          </a:prstGeom>
          <a:solidFill>
            <a:srgbClr val="2C2C2E"/>
          </a:solidFill>
          <a:ln w="12700">
            <a:solidFill>
              <a:srgbClr val="3A3A3C"/>
            </a:solidFill>
            <a:prstDash val="solid"/>
          </a:ln>
        </p:spPr>
      </p:sp>
      <p:sp>
        <p:nvSpPr>
          <p:cNvPr id="23" name="Shape 21"/>
          <p:cNvSpPr/>
          <p:nvPr/>
        </p:nvSpPr>
        <p:spPr>
          <a:xfrm>
            <a:off x="365760" y="3154680"/>
            <a:ext cx="73152" cy="804672"/>
          </a:xfrm>
          <a:prstGeom prst="rect">
            <a:avLst/>
          </a:prstGeom>
          <a:solidFill>
            <a:srgbClr val="FF453A"/>
          </a:solidFill>
          <a:ln/>
        </p:spPr>
      </p:sp>
      <p:sp>
        <p:nvSpPr>
          <p:cNvPr id="24" name="Text 22"/>
          <p:cNvSpPr txBox="1"/>
          <p:nvPr/>
        </p:nvSpPr>
        <p:spPr>
          <a:xfrm>
            <a:off x="566928" y="3218688"/>
            <a:ext cx="54864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II-5</a:t>
            </a:r>
            <a:endParaRPr lang="en-US" sz="1500" dirty="0"/>
          </a:p>
        </p:txBody>
      </p:sp>
      <p:sp>
        <p:nvSpPr>
          <p:cNvPr id="25" name="Text 23"/>
          <p:cNvSpPr txBox="1"/>
          <p:nvPr/>
        </p:nvSpPr>
        <p:spPr>
          <a:xfrm>
            <a:off x="1170432" y="3218688"/>
            <a:ext cx="3291840" cy="548640"/>
          </a:xfrm>
          <a:prstGeom prst="rect">
            <a:avLst/>
          </a:prstGeom>
          <a:noFill/>
          <a:ln/>
        </p:spPr>
        <p:txBody>
          <a:bodyPr wrap="square" lIns="0" tIns="0" rIns="0" bIns="0" rtlCol="0" anchor="ctr"/>
          <a:lstStyle/>
          <a:p>
            <a:pPr indent="0" marL="0">
              <a:buNone/>
            </a:pPr>
            <a:r>
              <a:rPr lang="en-US" sz="1200" dirty="0">
                <a:solidFill>
                  <a:srgbClr val="FFFFFF"/>
                </a:solidFill>
                <a:latin typeface="Atkinson Hyperlegible" pitchFamily="34" charset="0"/>
                <a:ea typeface="Atkinson Hyperlegible" pitchFamily="34" charset="-122"/>
                <a:cs typeface="Atkinson Hyperlegible" pitchFamily="34" charset="-120"/>
              </a:rPr>
              <a:t>Diseños PPMOF (Prefab, Preassembly, Modularización)</a:t>
            </a:r>
            <a:endParaRPr lang="en-US" sz="1200" dirty="0"/>
          </a:p>
        </p:txBody>
      </p:sp>
      <p:sp>
        <p:nvSpPr>
          <p:cNvPr id="26" name="Shape 24"/>
          <p:cNvSpPr/>
          <p:nvPr/>
        </p:nvSpPr>
        <p:spPr>
          <a:xfrm>
            <a:off x="4754880" y="3154680"/>
            <a:ext cx="4206240" cy="804672"/>
          </a:xfrm>
          <a:prstGeom prst="roundRect">
            <a:avLst>
              <a:gd name="adj" fmla="val 11364"/>
            </a:avLst>
          </a:prstGeom>
          <a:solidFill>
            <a:srgbClr val="2C2C2E"/>
          </a:solidFill>
          <a:ln w="12700">
            <a:solidFill>
              <a:srgbClr val="3A3A3C"/>
            </a:solidFill>
            <a:prstDash val="solid"/>
          </a:ln>
        </p:spPr>
      </p:sp>
      <p:sp>
        <p:nvSpPr>
          <p:cNvPr id="27" name="Shape 25"/>
          <p:cNvSpPr/>
          <p:nvPr/>
        </p:nvSpPr>
        <p:spPr>
          <a:xfrm>
            <a:off x="4754880" y="3154680"/>
            <a:ext cx="73152" cy="804672"/>
          </a:xfrm>
          <a:prstGeom prst="rect">
            <a:avLst/>
          </a:prstGeom>
          <a:solidFill>
            <a:srgbClr val="FFD60A"/>
          </a:solidFill>
          <a:ln/>
        </p:spPr>
      </p:sp>
      <p:sp>
        <p:nvSpPr>
          <p:cNvPr id="28" name="Text 26"/>
          <p:cNvSpPr txBox="1"/>
          <p:nvPr/>
        </p:nvSpPr>
        <p:spPr>
          <a:xfrm>
            <a:off x="4956048" y="3218688"/>
            <a:ext cx="54864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II-6</a:t>
            </a:r>
            <a:endParaRPr lang="en-US" sz="1500" dirty="0"/>
          </a:p>
        </p:txBody>
      </p:sp>
      <p:sp>
        <p:nvSpPr>
          <p:cNvPr id="29" name="Text 27"/>
          <p:cNvSpPr txBox="1"/>
          <p:nvPr/>
        </p:nvSpPr>
        <p:spPr>
          <a:xfrm>
            <a:off x="5559552" y="3218688"/>
            <a:ext cx="3291840" cy="548640"/>
          </a:xfrm>
          <a:prstGeom prst="rect">
            <a:avLst/>
          </a:prstGeom>
          <a:noFill/>
          <a:ln/>
        </p:spPr>
        <p:txBody>
          <a:bodyPr wrap="square" lIns="0" tIns="0" rIns="0" bIns="0" rtlCol="0" anchor="ctr"/>
          <a:lstStyle/>
          <a:p>
            <a:pPr indent="0" marL="0">
              <a:buNone/>
            </a:pPr>
            <a:r>
              <a:rPr lang="en-US" sz="1200" dirty="0">
                <a:solidFill>
                  <a:srgbClr val="FFFFFF"/>
                </a:solidFill>
                <a:latin typeface="Atkinson Hyperlegible" pitchFamily="34" charset="0"/>
                <a:ea typeface="Atkinson Hyperlegible" pitchFamily="34" charset="-122"/>
                <a:cs typeface="Atkinson Hyperlegible" pitchFamily="34" charset="-120"/>
              </a:rPr>
              <a:t>Diseños promueven accesibilidad en campo</a:t>
            </a:r>
            <a:endParaRPr lang="en-US" sz="1200" dirty="0"/>
          </a:p>
        </p:txBody>
      </p:sp>
      <p:sp>
        <p:nvSpPr>
          <p:cNvPr id="30" name="Shape 28"/>
          <p:cNvSpPr/>
          <p:nvPr/>
        </p:nvSpPr>
        <p:spPr>
          <a:xfrm>
            <a:off x="365760" y="4069080"/>
            <a:ext cx="4206240" cy="804672"/>
          </a:xfrm>
          <a:prstGeom prst="roundRect">
            <a:avLst>
              <a:gd name="adj" fmla="val 11364"/>
            </a:avLst>
          </a:prstGeom>
          <a:solidFill>
            <a:srgbClr val="2C2C2E"/>
          </a:solidFill>
          <a:ln w="12700">
            <a:solidFill>
              <a:srgbClr val="3A3A3C"/>
            </a:solidFill>
            <a:prstDash val="solid"/>
          </a:ln>
        </p:spPr>
      </p:sp>
      <p:sp>
        <p:nvSpPr>
          <p:cNvPr id="31" name="Shape 29"/>
          <p:cNvSpPr/>
          <p:nvPr/>
        </p:nvSpPr>
        <p:spPr>
          <a:xfrm>
            <a:off x="365760" y="4069080"/>
            <a:ext cx="73152" cy="804672"/>
          </a:xfrm>
          <a:prstGeom prst="rect">
            <a:avLst/>
          </a:prstGeom>
          <a:solidFill>
            <a:srgbClr val="64D2FF"/>
          </a:solidFill>
          <a:ln/>
        </p:spPr>
      </p:sp>
      <p:sp>
        <p:nvSpPr>
          <p:cNvPr id="32" name="Text 30"/>
          <p:cNvSpPr txBox="1"/>
          <p:nvPr/>
        </p:nvSpPr>
        <p:spPr>
          <a:xfrm>
            <a:off x="566928" y="4133088"/>
            <a:ext cx="54864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II-7</a:t>
            </a:r>
            <a:endParaRPr lang="en-US" sz="1500" dirty="0"/>
          </a:p>
        </p:txBody>
      </p:sp>
      <p:sp>
        <p:nvSpPr>
          <p:cNvPr id="33" name="Text 31"/>
          <p:cNvSpPr txBox="1"/>
          <p:nvPr/>
        </p:nvSpPr>
        <p:spPr>
          <a:xfrm>
            <a:off x="1170432" y="4133088"/>
            <a:ext cx="3291840" cy="548640"/>
          </a:xfrm>
          <a:prstGeom prst="rect">
            <a:avLst/>
          </a:prstGeom>
          <a:noFill/>
          <a:ln/>
        </p:spPr>
        <p:txBody>
          <a:bodyPr wrap="square" lIns="0" tIns="0" rIns="0" bIns="0" rtlCol="0" anchor="ctr"/>
          <a:lstStyle/>
          <a:p>
            <a:pPr indent="0" marL="0">
              <a:buNone/>
            </a:pPr>
            <a:r>
              <a:rPr lang="en-US" sz="1200" dirty="0">
                <a:solidFill>
                  <a:srgbClr val="FFFFFF"/>
                </a:solidFill>
                <a:latin typeface="Atkinson Hyperlegible" pitchFamily="34" charset="0"/>
                <a:ea typeface="Atkinson Hyperlegible" pitchFamily="34" charset="-122"/>
                <a:cs typeface="Atkinson Hyperlegible" pitchFamily="34" charset="-120"/>
              </a:rPr>
              <a:t>Diseños facilitan construcción bajo clima adverso</a:t>
            </a:r>
            <a:endParaRPr lang="en-US" sz="1200" dirty="0"/>
          </a:p>
        </p:txBody>
      </p:sp>
      <p:sp>
        <p:nvSpPr>
          <p:cNvPr id="34" name="Shape 32"/>
          <p:cNvSpPr/>
          <p:nvPr/>
        </p:nvSpPr>
        <p:spPr>
          <a:xfrm>
            <a:off x="4754880" y="4069080"/>
            <a:ext cx="4206240" cy="804672"/>
          </a:xfrm>
          <a:prstGeom prst="roundRect">
            <a:avLst>
              <a:gd name="adj" fmla="val 11364"/>
            </a:avLst>
          </a:prstGeom>
          <a:solidFill>
            <a:srgbClr val="2C2C2E"/>
          </a:solidFill>
          <a:ln w="12700">
            <a:solidFill>
              <a:srgbClr val="3A3A3C"/>
            </a:solidFill>
            <a:prstDash val="solid"/>
          </a:ln>
        </p:spPr>
      </p:sp>
      <p:sp>
        <p:nvSpPr>
          <p:cNvPr id="35" name="Shape 33"/>
          <p:cNvSpPr/>
          <p:nvPr/>
        </p:nvSpPr>
        <p:spPr>
          <a:xfrm>
            <a:off x="4754880" y="4069080"/>
            <a:ext cx="73152" cy="804672"/>
          </a:xfrm>
          <a:prstGeom prst="rect">
            <a:avLst/>
          </a:prstGeom>
          <a:solidFill>
            <a:srgbClr val="8E8E93"/>
          </a:solidFill>
          <a:ln/>
        </p:spPr>
      </p:sp>
      <p:sp>
        <p:nvSpPr>
          <p:cNvPr id="36" name="Text 34"/>
          <p:cNvSpPr txBox="1"/>
          <p:nvPr/>
        </p:nvSpPr>
        <p:spPr>
          <a:xfrm>
            <a:off x="4956048" y="4133088"/>
            <a:ext cx="548640" cy="365760"/>
          </a:xfrm>
          <a:prstGeom prst="rect">
            <a:avLst/>
          </a:prstGeom>
          <a:noFill/>
          <a:ln/>
        </p:spPr>
        <p:txBody>
          <a:bodyPr wrap="square" lIns="0" tIns="0" rIns="0" bIns="0" rtlCol="0" anchor="ctr"/>
          <a:lstStyle/>
          <a:p>
            <a:pPr indent="0" marL="0">
              <a:buNone/>
            </a:pPr>
            <a:r>
              <a:rPr lang="en-US" sz="1500" b="1" dirty="0">
                <a:solidFill>
                  <a:srgbClr val="8E8E93"/>
                </a:solidFill>
                <a:latin typeface="Atkinson Hyperlegible" pitchFamily="34" charset="0"/>
                <a:ea typeface="Atkinson Hyperlegible" pitchFamily="34" charset="-122"/>
                <a:cs typeface="Atkinson Hyperlegible" pitchFamily="34" charset="-120"/>
              </a:rPr>
              <a:t>II-8</a:t>
            </a:r>
            <a:endParaRPr lang="en-US" sz="1500" dirty="0"/>
          </a:p>
        </p:txBody>
      </p:sp>
      <p:sp>
        <p:nvSpPr>
          <p:cNvPr id="37" name="Text 35"/>
          <p:cNvSpPr txBox="1"/>
          <p:nvPr/>
        </p:nvSpPr>
        <p:spPr>
          <a:xfrm>
            <a:off x="5559552" y="4133088"/>
            <a:ext cx="3291840" cy="548640"/>
          </a:xfrm>
          <a:prstGeom prst="rect">
            <a:avLst/>
          </a:prstGeom>
          <a:noFill/>
          <a:ln/>
        </p:spPr>
        <p:txBody>
          <a:bodyPr wrap="square" lIns="0" tIns="0" rIns="0" bIns="0" rtlCol="0" anchor="ctr"/>
          <a:lstStyle/>
          <a:p>
            <a:pPr indent="0" marL="0">
              <a:buNone/>
            </a:pPr>
            <a:r>
              <a:rPr lang="en-US" sz="1200" dirty="0">
                <a:solidFill>
                  <a:srgbClr val="FFFFFF"/>
                </a:solidFill>
                <a:latin typeface="Atkinson Hyperlegible" pitchFamily="34" charset="0"/>
                <a:ea typeface="Atkinson Hyperlegible" pitchFamily="34" charset="-122"/>
                <a:cs typeface="Atkinson Hyperlegible" pitchFamily="34" charset="-120"/>
              </a:rPr>
              <a:t>Planes del proyecto mejoran la seguridad</a:t>
            </a:r>
            <a:endParaRPr lang="en-US" sz="12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II-1: Cronogramas de Diseño y Procura Orientados a Construcción</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0A84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"Los cronogramas de diseño y procura son sensibles a la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El concepto central:</a:t>
            </a:r>
            <a:endParaRPr lang="en-US" sz="1400" dirty="0"/>
          </a:p>
        </p:txBody>
      </p:sp>
      <p:sp>
        <p:nvSpPr>
          <p:cNvPr id="8" name="Shape 6"/>
          <p:cNvSpPr/>
          <p:nvPr/>
        </p:nvSpPr>
        <p:spPr>
          <a:xfrm>
            <a:off x="365760" y="2084832"/>
            <a:ext cx="8412480" cy="658368"/>
          </a:xfrm>
          <a:prstGeom prst="roundRect">
            <a:avLst>
              <a:gd name="adj" fmla="val 13889"/>
            </a:avLst>
          </a:prstGeom>
          <a:solidFill>
            <a:srgbClr val="0A84FF">
              <a:alpha val="15000"/>
            </a:srgbClr>
          </a:solidFill>
          <a:ln w="12700">
            <a:solidFill>
              <a:srgbClr val="0A84FF"/>
            </a:solidFill>
            <a:prstDash val="solid"/>
          </a:ln>
        </p:spPr>
      </p:sp>
      <p:sp>
        <p:nvSpPr>
          <p:cNvPr id="9" name="Text 7"/>
          <p:cNvSpPr txBox="1"/>
          <p:nvPr/>
        </p:nvSpPr>
        <p:spPr>
          <a:xfrm>
            <a:off x="548640" y="2130552"/>
            <a:ext cx="8046720" cy="5486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Un cronograma master de construcción semi-detallado DEFINE los cronogramas detallados de procura e ingeniería — no al revés.</a:t>
            </a:r>
            <a:endParaRPr lang="en-US" sz="1400" dirty="0"/>
          </a:p>
        </p:txBody>
      </p:sp>
      <p:sp>
        <p:nvSpPr>
          <p:cNvPr id="10" name="Shape 8"/>
          <p:cNvSpPr/>
          <p:nvPr/>
        </p:nvSpPr>
        <p:spPr>
          <a:xfrm>
            <a:off x="365760" y="2834640"/>
            <a:ext cx="4206240" cy="640080"/>
          </a:xfrm>
          <a:prstGeom prst="roundRect">
            <a:avLst>
              <a:gd name="adj" fmla="val 11429"/>
            </a:avLst>
          </a:prstGeom>
          <a:solidFill>
            <a:srgbClr val="2C2C2E"/>
          </a:solidFill>
          <a:ln w="12700">
            <a:solidFill>
              <a:srgbClr val="3A3A3C"/>
            </a:solidFill>
            <a:prstDash val="solid"/>
          </a:ln>
        </p:spPr>
      </p:sp>
      <p:sp>
        <p:nvSpPr>
          <p:cNvPr id="11" name="Text 9"/>
          <p:cNvSpPr txBox="1"/>
          <p:nvPr/>
        </p:nvSpPr>
        <p:spPr>
          <a:xfrm>
            <a:off x="54864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Secuenciación de Paquetes</a:t>
            </a:r>
            <a:endParaRPr lang="en-US" sz="1200" dirty="0"/>
          </a:p>
        </p:txBody>
      </p:sp>
      <p:sp>
        <p:nvSpPr>
          <p:cNvPr id="12" name="Text 10"/>
          <p:cNvSpPr txBox="1"/>
          <p:nvPr/>
        </p:nvSpPr>
        <p:spPr>
          <a:xfrm>
            <a:off x="548640" y="312724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Especificar la secuencia de entrega: acero paquete 1, paquete 2, etc. Las estructuras del cronograma de construcción definen el orden de diseño.</a:t>
            </a:r>
            <a:endParaRPr lang="en-US" sz="1000" dirty="0"/>
          </a:p>
        </p:txBody>
      </p:sp>
      <p:sp>
        <p:nvSpPr>
          <p:cNvPr id="13" name="Shape 11"/>
          <p:cNvSpPr/>
          <p:nvPr/>
        </p:nvSpPr>
        <p:spPr>
          <a:xfrm>
            <a:off x="4754880" y="2834640"/>
            <a:ext cx="4206240" cy="640080"/>
          </a:xfrm>
          <a:prstGeom prst="roundRect">
            <a:avLst>
              <a:gd name="adj" fmla="val 11429"/>
            </a:avLst>
          </a:prstGeom>
          <a:solidFill>
            <a:srgbClr val="2C2C2E"/>
          </a:solidFill>
          <a:ln w="12700">
            <a:solidFill>
              <a:srgbClr val="3A3A3C"/>
            </a:solidFill>
            <a:prstDash val="solid"/>
          </a:ln>
        </p:spPr>
      </p:sp>
      <p:sp>
        <p:nvSpPr>
          <p:cNvPr id="14" name="Text 12"/>
          <p:cNvSpPr txBox="1"/>
          <p:nvPr/>
        </p:nvSpPr>
        <p:spPr>
          <a:xfrm>
            <a:off x="493776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 No Convencional</a:t>
            </a:r>
            <a:endParaRPr lang="en-US" sz="1200" dirty="0"/>
          </a:p>
        </p:txBody>
      </p:sp>
      <p:sp>
        <p:nvSpPr>
          <p:cNvPr id="15" name="Text 13"/>
          <p:cNvSpPr txBox="1"/>
          <p:nvPr/>
        </p:nvSpPr>
        <p:spPr>
          <a:xfrm>
            <a:off x="4937760" y="312724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Construcción "top-down" o "fast-track" puede requerir una secuencia de diseño que difiere del orden natural de la ingeniería.</a:t>
            </a:r>
            <a:endParaRPr lang="en-US" sz="1000" dirty="0"/>
          </a:p>
        </p:txBody>
      </p:sp>
      <p:sp>
        <p:nvSpPr>
          <p:cNvPr id="16" name="Shape 14"/>
          <p:cNvSpPr/>
          <p:nvPr/>
        </p:nvSpPr>
        <p:spPr>
          <a:xfrm>
            <a:off x="365760" y="3547872"/>
            <a:ext cx="4206240" cy="640080"/>
          </a:xfrm>
          <a:prstGeom prst="roundRect">
            <a:avLst>
              <a:gd name="adj" fmla="val 11429"/>
            </a:avLst>
          </a:prstGeom>
          <a:solidFill>
            <a:srgbClr val="2C2C2E"/>
          </a:solidFill>
          <a:ln w="12700">
            <a:solidFill>
              <a:srgbClr val="3A3A3C"/>
            </a:solidFill>
            <a:prstDash val="solid"/>
          </a:ln>
        </p:spPr>
      </p:sp>
      <p:sp>
        <p:nvSpPr>
          <p:cNvPr id="17" name="Text 15"/>
          <p:cNvSpPr txBox="1"/>
          <p:nvPr/>
        </p:nvSpPr>
        <p:spPr>
          <a:xfrm>
            <a:off x="54864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Just-in-Time (JIT)</a:t>
            </a:r>
            <a:endParaRPr lang="en-US" sz="1200" dirty="0"/>
          </a:p>
        </p:txBody>
      </p:sp>
      <p:sp>
        <p:nvSpPr>
          <p:cNvPr id="18" name="Text 16"/>
          <p:cNvSpPr txBox="1"/>
          <p:nvPr/>
        </p:nvSpPr>
        <p:spPr>
          <a:xfrm>
            <a:off x="548640" y="3840480"/>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Entrega JIT de módulos y prefabricados. Requiere coordinación exacta entre fabricadores y el cronograma de campo.</a:t>
            </a:r>
            <a:endParaRPr lang="en-US" sz="1000" dirty="0"/>
          </a:p>
        </p:txBody>
      </p:sp>
      <p:sp>
        <p:nvSpPr>
          <p:cNvPr id="19" name="Shape 17"/>
          <p:cNvSpPr/>
          <p:nvPr/>
        </p:nvSpPr>
        <p:spPr>
          <a:xfrm>
            <a:off x="4754880" y="3547872"/>
            <a:ext cx="4206240" cy="640080"/>
          </a:xfrm>
          <a:prstGeom prst="roundRect">
            <a:avLst>
              <a:gd name="adj" fmla="val 11429"/>
            </a:avLst>
          </a:prstGeom>
          <a:solidFill>
            <a:srgbClr val="2C2C2E"/>
          </a:solidFill>
          <a:ln w="12700">
            <a:solidFill>
              <a:srgbClr val="3A3A3C"/>
            </a:solidFill>
            <a:prstDash val="solid"/>
          </a:ln>
        </p:spPr>
      </p:sp>
      <p:sp>
        <p:nvSpPr>
          <p:cNvPr id="20" name="Text 18"/>
          <p:cNvSpPr txBox="1"/>
          <p:nvPr/>
        </p:nvSpPr>
        <p:spPr>
          <a:xfrm>
            <a:off x="493776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Numeración de Sistemas</a:t>
            </a:r>
            <a:endParaRPr lang="en-US" sz="1200" dirty="0"/>
          </a:p>
        </p:txBody>
      </p:sp>
      <p:sp>
        <p:nvSpPr>
          <p:cNvPr id="21" name="Text 19"/>
          <p:cNvSpPr txBox="1"/>
          <p:nvPr/>
        </p:nvSpPr>
        <p:spPr>
          <a:xfrm>
            <a:off x="4937760" y="3840480"/>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Los números de sistema de arranque deben aparecer en TODOS los entregables de ingeniería. Facilita el handover.</a:t>
            </a:r>
            <a:endParaRPr lang="en-US" sz="1000" dirty="0"/>
          </a:p>
        </p:txBody>
      </p:sp>
      <p:sp>
        <p:nvSpPr>
          <p:cNvPr id="22" name="Shape 20"/>
          <p:cNvSpPr/>
          <p:nvPr/>
        </p:nvSpPr>
        <p:spPr>
          <a:xfrm>
            <a:off x="365760" y="4261104"/>
            <a:ext cx="4206240" cy="640080"/>
          </a:xfrm>
          <a:prstGeom prst="roundRect">
            <a:avLst>
              <a:gd name="adj" fmla="val 11429"/>
            </a:avLst>
          </a:prstGeom>
          <a:solidFill>
            <a:srgbClr val="2C2C2E"/>
          </a:solidFill>
          <a:ln w="12700">
            <a:solidFill>
              <a:srgbClr val="3A3A3C"/>
            </a:solidFill>
            <a:prstDash val="solid"/>
          </a:ln>
        </p:spPr>
      </p:sp>
      <p:sp>
        <p:nvSpPr>
          <p:cNvPr id="23" name="Text 21"/>
          <p:cNvSpPr txBox="1"/>
          <p:nvPr/>
        </p:nvSpPr>
        <p:spPr>
          <a:xfrm>
            <a:off x="54864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Estrategia 70%</a:t>
            </a:r>
            <a:endParaRPr lang="en-US" sz="1200" dirty="0"/>
          </a:p>
        </p:txBody>
      </p:sp>
      <p:sp>
        <p:nvSpPr>
          <p:cNvPr id="24" name="Text 22"/>
          <p:cNvSpPr txBox="1"/>
          <p:nvPr/>
        </p:nvSpPr>
        <p:spPr>
          <a:xfrm>
            <a:off x="548640" y="4553712"/>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Estrategia de secuenciación de tuberías: obtener spools en secuencia óptima usando un integrador de materiales.</a:t>
            </a:r>
            <a:endParaRPr lang="en-US" sz="1000" dirty="0"/>
          </a:p>
        </p:txBody>
      </p:sp>
      <p:sp>
        <p:nvSpPr>
          <p:cNvPr id="25" name="Shape 23"/>
          <p:cNvSpPr/>
          <p:nvPr/>
        </p:nvSpPr>
        <p:spPr>
          <a:xfrm>
            <a:off x="4754880" y="4261104"/>
            <a:ext cx="4206240" cy="640080"/>
          </a:xfrm>
          <a:prstGeom prst="roundRect">
            <a:avLst>
              <a:gd name="adj" fmla="val 11429"/>
            </a:avLst>
          </a:prstGeom>
          <a:solidFill>
            <a:srgbClr val="2C2C2E"/>
          </a:solidFill>
          <a:ln w="12700">
            <a:solidFill>
              <a:srgbClr val="3A3A3C"/>
            </a:solidFill>
            <a:prstDash val="solid"/>
          </a:ln>
        </p:spPr>
      </p:sp>
      <p:sp>
        <p:nvSpPr>
          <p:cNvPr id="26" name="Text 24"/>
          <p:cNvSpPr txBox="1"/>
          <p:nvPr/>
        </p:nvSpPr>
        <p:spPr>
          <a:xfrm>
            <a:off x="493776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Lean - Last Planner</a:t>
            </a:r>
            <a:endParaRPr lang="en-US" sz="1200" dirty="0"/>
          </a:p>
        </p:txBody>
      </p:sp>
      <p:sp>
        <p:nvSpPr>
          <p:cNvPr id="27" name="Text 25"/>
          <p:cNvSpPr txBox="1"/>
          <p:nvPr/>
        </p:nvSpPr>
        <p:spPr>
          <a:xfrm>
            <a:off x="4937760" y="4553712"/>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Porcentaje de Plan Cumplido (PPC) del Lean Construction como métrica de confiabilidad del cronograma.</a:t>
            </a:r>
            <a:endParaRPr lang="en-US" sz="10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II-2: Configuración del Diseño para Eficiencia Constructiva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777240"/>
          </a:xfrm>
          <a:prstGeom prst="roundRect">
            <a:avLst>
              <a:gd name="adj" fmla="val 14118"/>
            </a:avLst>
          </a:prstGeom>
          <a:solidFill>
            <a:srgbClr val="2C2C2E"/>
          </a:solidFill>
          <a:ln w="12700">
            <a:solidFill>
              <a:srgbClr val="FF9500"/>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400" i="1" dirty="0">
                <a:solidFill>
                  <a:srgbClr val="FFFFFF"/>
                </a:solidFill>
                <a:latin typeface="Atkinson Hyperlegible" pitchFamily="34" charset="0"/>
                <a:ea typeface="Atkinson Hyperlegible" pitchFamily="34" charset="-122"/>
                <a:cs typeface="Atkinson Hyperlegible" pitchFamily="34" charset="-120"/>
              </a:rPr>
              <a:t>"Los diseños se configuran y el equipo permanente se selecciona para permitir la construcción eficiente y el uso de tecnologías eficientes."</a:t>
            </a:r>
            <a:endParaRPr lang="en-US" sz="14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El "Litmus Test" para diseño simplificado — 12 preguntas para cada componente del diseño:</a:t>
            </a:r>
            <a:endParaRPr lang="en-US" sz="1400" dirty="0"/>
          </a:p>
        </p:txBody>
      </p:sp>
      <p:sp>
        <p:nvSpPr>
          <p:cNvPr id="8" name="Shape 6"/>
          <p:cNvSpPr/>
          <p:nvPr/>
        </p:nvSpPr>
        <p:spPr>
          <a:xfrm>
            <a:off x="365760" y="2240280"/>
            <a:ext cx="4160520" cy="384048"/>
          </a:xfrm>
          <a:prstGeom prst="roundRect">
            <a:avLst>
              <a:gd name="adj" fmla="val 19048"/>
            </a:avLst>
          </a:prstGeom>
          <a:solidFill>
            <a:srgbClr val="2C2C2E"/>
          </a:solidFill>
          <a:ln w="12700">
            <a:solidFill>
              <a:srgbClr val="3A3A3C"/>
            </a:solidFill>
            <a:prstDash val="solid"/>
          </a:ln>
        </p:spPr>
      </p:sp>
      <p:sp>
        <p:nvSpPr>
          <p:cNvPr id="9" name="Shape 7"/>
          <p:cNvSpPr/>
          <p:nvPr/>
        </p:nvSpPr>
        <p:spPr>
          <a:xfrm>
            <a:off x="4617720" y="2240280"/>
            <a:ext cx="4160520" cy="384048"/>
          </a:xfrm>
          <a:prstGeom prst="roundRect">
            <a:avLst>
              <a:gd name="adj" fmla="val 19048"/>
            </a:avLst>
          </a:prstGeom>
          <a:solidFill>
            <a:srgbClr val="2C2C2E"/>
          </a:solidFill>
          <a:ln w="12700">
            <a:solidFill>
              <a:srgbClr val="3A3A3C"/>
            </a:solidFill>
            <a:prstDash val="solid"/>
          </a:ln>
        </p:spPr>
      </p:sp>
      <p:sp>
        <p:nvSpPr>
          <p:cNvPr id="10" name="Text 8"/>
          <p:cNvSpPr txBox="1"/>
          <p:nvPr/>
        </p:nvSpPr>
        <p:spPr>
          <a:xfrm>
            <a:off x="54864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¿Mínimo número de componentes?</a:t>
            </a:r>
            <a:endParaRPr lang="en-US" sz="1100" dirty="0"/>
          </a:p>
        </p:txBody>
      </p:sp>
      <p:sp>
        <p:nvSpPr>
          <p:cNvPr id="11" name="Text 9"/>
          <p:cNvSpPr txBox="1"/>
          <p:nvPr/>
        </p:nvSpPr>
        <p:spPr>
          <a:xfrm>
            <a:off x="475488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manejable en campo?</a:t>
            </a:r>
            <a:endParaRPr lang="en-US" sz="1100" dirty="0"/>
          </a:p>
        </p:txBody>
      </p:sp>
      <p:sp>
        <p:nvSpPr>
          <p:cNvPr id="12" name="Shape 10"/>
          <p:cNvSpPr/>
          <p:nvPr/>
        </p:nvSpPr>
        <p:spPr>
          <a:xfrm>
            <a:off x="365760" y="2679192"/>
            <a:ext cx="4160520" cy="384048"/>
          </a:xfrm>
          <a:prstGeom prst="roundRect">
            <a:avLst>
              <a:gd name="adj" fmla="val 19048"/>
            </a:avLst>
          </a:prstGeom>
          <a:solidFill>
            <a:srgbClr val="2C2C2E"/>
          </a:solidFill>
          <a:ln w="12700">
            <a:solidFill>
              <a:srgbClr val="3A3A3C"/>
            </a:solidFill>
            <a:prstDash val="solid"/>
          </a:ln>
        </p:spPr>
      </p:sp>
      <p:sp>
        <p:nvSpPr>
          <p:cNvPr id="13" name="Shape 11"/>
          <p:cNvSpPr/>
          <p:nvPr/>
        </p:nvSpPr>
        <p:spPr>
          <a:xfrm>
            <a:off x="4617720" y="2679192"/>
            <a:ext cx="4160520" cy="384048"/>
          </a:xfrm>
          <a:prstGeom prst="roundRect">
            <a:avLst>
              <a:gd name="adj" fmla="val 19048"/>
            </a:avLst>
          </a:prstGeom>
          <a:solidFill>
            <a:srgbClr val="2C2C2E"/>
          </a:solidFill>
          <a:ln w="12700">
            <a:solidFill>
              <a:srgbClr val="3A3A3C"/>
            </a:solidFill>
            <a:prstDash val="solid"/>
          </a:ln>
        </p:spPr>
      </p:sp>
      <p:sp>
        <p:nvSpPr>
          <p:cNvPr id="14" name="Text 12"/>
          <p:cNvSpPr txBox="1"/>
          <p:nvPr/>
        </p:nvSpPr>
        <p:spPr>
          <a:xfrm>
            <a:off x="54864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¿Componentes fácilmente disponibles?</a:t>
            </a:r>
            <a:endParaRPr lang="en-US" sz="1100" dirty="0"/>
          </a:p>
        </p:txBody>
      </p:sp>
      <p:sp>
        <p:nvSpPr>
          <p:cNvPr id="15" name="Text 13"/>
          <p:cNvSpPr txBox="1"/>
          <p:nvPr/>
        </p:nvSpPr>
        <p:spPr>
          <a:xfrm>
            <a:off x="475488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transportable al sitio?</a:t>
            </a:r>
            <a:endParaRPr lang="en-US" sz="1100" dirty="0"/>
          </a:p>
        </p:txBody>
      </p:sp>
      <p:sp>
        <p:nvSpPr>
          <p:cNvPr id="16" name="Shape 14"/>
          <p:cNvSpPr/>
          <p:nvPr/>
        </p:nvSpPr>
        <p:spPr>
          <a:xfrm>
            <a:off x="365760" y="3118104"/>
            <a:ext cx="4160520" cy="384048"/>
          </a:xfrm>
          <a:prstGeom prst="roundRect">
            <a:avLst>
              <a:gd name="adj" fmla="val 19048"/>
            </a:avLst>
          </a:prstGeom>
          <a:solidFill>
            <a:srgbClr val="2C2C2E"/>
          </a:solidFill>
          <a:ln w="12700">
            <a:solidFill>
              <a:srgbClr val="3A3A3C"/>
            </a:solidFill>
            <a:prstDash val="solid"/>
          </a:ln>
        </p:spPr>
      </p:sp>
      <p:sp>
        <p:nvSpPr>
          <p:cNvPr id="17" name="Shape 15"/>
          <p:cNvSpPr/>
          <p:nvPr/>
        </p:nvSpPr>
        <p:spPr>
          <a:xfrm>
            <a:off x="4617720" y="3118104"/>
            <a:ext cx="4160520" cy="384048"/>
          </a:xfrm>
          <a:prstGeom prst="roundRect">
            <a:avLst>
              <a:gd name="adj" fmla="val 19048"/>
            </a:avLst>
          </a:prstGeom>
          <a:solidFill>
            <a:srgbClr val="2C2C2E"/>
          </a:solidFill>
          <a:ln w="12700">
            <a:solidFill>
              <a:srgbClr val="3A3A3C"/>
            </a:solidFill>
            <a:prstDash val="solid"/>
          </a:ln>
        </p:spPr>
      </p:sp>
      <p:sp>
        <p:nvSpPr>
          <p:cNvPr id="18" name="Text 16"/>
          <p:cNvSpPr txBox="1"/>
          <p:nvPr/>
        </p:nvSpPr>
        <p:spPr>
          <a:xfrm>
            <a:off x="54864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¿Tamaños estándar de mercado?</a:t>
            </a:r>
            <a:endParaRPr lang="en-US" sz="1100" dirty="0"/>
          </a:p>
        </p:txBody>
      </p:sp>
      <p:sp>
        <p:nvSpPr>
          <p:cNvPr id="19" name="Text 17"/>
          <p:cNvSpPr txBox="1"/>
          <p:nvPr/>
        </p:nvSpPr>
        <p:spPr>
          <a:xfrm>
            <a:off x="475488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¿La conexión es la más sencilla posible?</a:t>
            </a:r>
            <a:endParaRPr lang="en-US" sz="1100" dirty="0"/>
          </a:p>
        </p:txBody>
      </p:sp>
      <p:sp>
        <p:nvSpPr>
          <p:cNvPr id="20" name="Shape 18"/>
          <p:cNvSpPr/>
          <p:nvPr/>
        </p:nvSpPr>
        <p:spPr>
          <a:xfrm>
            <a:off x="365760" y="3557016"/>
            <a:ext cx="4160520" cy="384048"/>
          </a:xfrm>
          <a:prstGeom prst="roundRect">
            <a:avLst>
              <a:gd name="adj" fmla="val 19048"/>
            </a:avLst>
          </a:prstGeom>
          <a:solidFill>
            <a:srgbClr val="2C2C2E"/>
          </a:solidFill>
          <a:ln w="12700">
            <a:solidFill>
              <a:srgbClr val="3A3A3C"/>
            </a:solidFill>
            <a:prstDash val="solid"/>
          </a:ln>
        </p:spPr>
      </p:sp>
      <p:sp>
        <p:nvSpPr>
          <p:cNvPr id="21" name="Shape 19"/>
          <p:cNvSpPr/>
          <p:nvPr/>
        </p:nvSpPr>
        <p:spPr>
          <a:xfrm>
            <a:off x="4617720" y="3557016"/>
            <a:ext cx="4160520" cy="384048"/>
          </a:xfrm>
          <a:prstGeom prst="roundRect">
            <a:avLst>
              <a:gd name="adj" fmla="val 19048"/>
            </a:avLst>
          </a:prstGeom>
          <a:solidFill>
            <a:srgbClr val="2C2C2E"/>
          </a:solidFill>
          <a:ln w="12700">
            <a:solidFill>
              <a:srgbClr val="3A3A3C"/>
            </a:solidFill>
            <a:prstDash val="solid"/>
          </a:ln>
        </p:spPr>
      </p:sp>
      <p:sp>
        <p:nvSpPr>
          <p:cNvPr id="22" name="Text 20"/>
          <p:cNvSpPr txBox="1"/>
          <p:nvPr/>
        </p:nvSpPr>
        <p:spPr>
          <a:xfrm>
            <a:off x="54864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¿Tolerancias alcanzables y compatibles?</a:t>
            </a:r>
            <a:endParaRPr lang="en-US" sz="1100" dirty="0"/>
          </a:p>
        </p:txBody>
      </p:sp>
      <p:sp>
        <p:nvSpPr>
          <p:cNvPr id="23" name="Text 21"/>
          <p:cNvSpPr txBox="1"/>
          <p:nvPr/>
        </p:nvSpPr>
        <p:spPr>
          <a:xfrm>
            <a:off x="475488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¿Requiere habilidades altamente especializadas?</a:t>
            </a:r>
            <a:endParaRPr lang="en-US" sz="1100" dirty="0"/>
          </a:p>
        </p:txBody>
      </p:sp>
      <p:sp>
        <p:nvSpPr>
          <p:cNvPr id="24" name="Shape 22"/>
          <p:cNvSpPr/>
          <p:nvPr/>
        </p:nvSpPr>
        <p:spPr>
          <a:xfrm>
            <a:off x="365760" y="3995928"/>
            <a:ext cx="4160520" cy="384048"/>
          </a:xfrm>
          <a:prstGeom prst="roundRect">
            <a:avLst>
              <a:gd name="adj" fmla="val 19048"/>
            </a:avLst>
          </a:prstGeom>
          <a:solidFill>
            <a:srgbClr val="2C2C2E"/>
          </a:solidFill>
          <a:ln w="12700">
            <a:solidFill>
              <a:srgbClr val="3A3A3C"/>
            </a:solidFill>
            <a:prstDash val="solid"/>
          </a:ln>
        </p:spPr>
      </p:sp>
      <p:sp>
        <p:nvSpPr>
          <p:cNvPr id="25" name="Shape 23"/>
          <p:cNvSpPr/>
          <p:nvPr/>
        </p:nvSpPr>
        <p:spPr>
          <a:xfrm>
            <a:off x="4617720" y="3995928"/>
            <a:ext cx="4160520" cy="384048"/>
          </a:xfrm>
          <a:prstGeom prst="roundRect">
            <a:avLst>
              <a:gd name="adj" fmla="val 19048"/>
            </a:avLst>
          </a:prstGeom>
          <a:solidFill>
            <a:srgbClr val="2C2C2E"/>
          </a:solidFill>
          <a:ln w="12700">
            <a:solidFill>
              <a:srgbClr val="3A3A3C"/>
            </a:solidFill>
            <a:prstDash val="solid"/>
          </a:ln>
        </p:spPr>
      </p:sp>
      <p:sp>
        <p:nvSpPr>
          <p:cNvPr id="26" name="Text 24"/>
          <p:cNvSpPr txBox="1"/>
          <p:nvPr/>
        </p:nvSpPr>
        <p:spPr>
          <a:xfrm>
            <a:off x="54864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¿Alineación fácilmente ajustable?</a:t>
            </a:r>
            <a:endParaRPr lang="en-US" sz="1100" dirty="0"/>
          </a:p>
        </p:txBody>
      </p:sp>
      <p:sp>
        <p:nvSpPr>
          <p:cNvPr id="27" name="Text 25"/>
          <p:cNvSpPr txBox="1"/>
          <p:nvPr/>
        </p:nvSpPr>
        <p:spPr>
          <a:xfrm>
            <a:off x="475488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¿Accesible para inspección y prueba?</a:t>
            </a:r>
            <a:endParaRPr lang="en-US" sz="1100" dirty="0"/>
          </a:p>
        </p:txBody>
      </p:sp>
      <p:sp>
        <p:nvSpPr>
          <p:cNvPr id="28" name="Shape 26"/>
          <p:cNvSpPr/>
          <p:nvPr/>
        </p:nvSpPr>
        <p:spPr>
          <a:xfrm>
            <a:off x="365760" y="4434840"/>
            <a:ext cx="4160520" cy="384048"/>
          </a:xfrm>
          <a:prstGeom prst="roundRect">
            <a:avLst>
              <a:gd name="adj" fmla="val 19048"/>
            </a:avLst>
          </a:prstGeom>
          <a:solidFill>
            <a:srgbClr val="2C2C2E"/>
          </a:solidFill>
          <a:ln w="12700">
            <a:solidFill>
              <a:srgbClr val="3A3A3C"/>
            </a:solidFill>
            <a:prstDash val="solid"/>
          </a:ln>
        </p:spPr>
      </p:sp>
      <p:sp>
        <p:nvSpPr>
          <p:cNvPr id="29" name="Shape 27"/>
          <p:cNvSpPr/>
          <p:nvPr/>
        </p:nvSpPr>
        <p:spPr>
          <a:xfrm>
            <a:off x="4617720" y="4434840"/>
            <a:ext cx="4160520" cy="384048"/>
          </a:xfrm>
          <a:prstGeom prst="roundRect">
            <a:avLst>
              <a:gd name="adj" fmla="val 19048"/>
            </a:avLst>
          </a:prstGeom>
          <a:solidFill>
            <a:srgbClr val="2C2C2E"/>
          </a:solidFill>
          <a:ln w="12700">
            <a:solidFill>
              <a:srgbClr val="3A3A3C"/>
            </a:solidFill>
            <a:prstDash val="solid"/>
          </a:ln>
        </p:spPr>
      </p:sp>
      <p:sp>
        <p:nvSpPr>
          <p:cNvPr id="30" name="Text 28"/>
          <p:cNvSpPr txBox="1"/>
          <p:nvPr/>
        </p:nvSpPr>
        <p:spPr>
          <a:xfrm>
            <a:off x="54864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¿Independiente de otras secuencias?</a:t>
            </a:r>
            <a:endParaRPr lang="en-US" sz="1100" dirty="0"/>
          </a:p>
        </p:txBody>
      </p:sp>
      <p:sp>
        <p:nvSpPr>
          <p:cNvPr id="31" name="Text 29"/>
          <p:cNvSpPr txBox="1"/>
          <p:nvPr/>
        </p:nvSpPr>
        <p:spPr>
          <a:xfrm>
            <a:off x="475488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¿Sin restricciones ambientales especiales?</a:t>
            </a:r>
            <a:endParaRPr lang="en-US" sz="11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II-3: Estandarización de Elementos de Diseño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30D158"/>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600" i="1" dirty="0">
                <a:solidFill>
                  <a:srgbClr val="FFFFFF"/>
                </a:solidFill>
                <a:latin typeface="Atkinson Hyperlegible" pitchFamily="34" charset="0"/>
                <a:ea typeface="Atkinson Hyperlegible" pitchFamily="34" charset="-122"/>
                <a:cs typeface="Atkinson Hyperlegible" pitchFamily="34" charset="-120"/>
              </a:rPr>
              <a:t>"Los elementos de diseño se estandarizan."</a:t>
            </a:r>
            <a:endParaRPr lang="en-US" sz="16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Beneficios de la Estandarización (IPA: 10% ahorro en costo):</a:t>
            </a:r>
            <a:endParaRPr lang="en-US" sz="1300" dirty="0"/>
          </a:p>
        </p:txBody>
      </p:sp>
      <p:sp>
        <p:nvSpPr>
          <p:cNvPr id="8" name="Shape 6"/>
          <p:cNvSpPr/>
          <p:nvPr/>
        </p:nvSpPr>
        <p:spPr>
          <a:xfrm>
            <a:off x="365760" y="2084832"/>
            <a:ext cx="4206240" cy="841248"/>
          </a:xfrm>
          <a:prstGeom prst="roundRect">
            <a:avLst>
              <a:gd name="adj" fmla="val 10870"/>
            </a:avLst>
          </a:prstGeom>
          <a:solidFill>
            <a:srgbClr val="2C2C2E"/>
          </a:solidFill>
          <a:ln w="12700">
            <a:solidFill>
              <a:srgbClr val="30D158"/>
            </a:solidFill>
            <a:prstDash val="solid"/>
          </a:ln>
        </p:spPr>
      </p:sp>
      <p:sp>
        <p:nvSpPr>
          <p:cNvPr id="9" name="Text 7"/>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Componentes Familiares</a:t>
            </a:r>
            <a:endParaRPr lang="en-US" sz="1300" dirty="0"/>
          </a:p>
        </p:txBody>
      </p:sp>
      <p:sp>
        <p:nvSpPr>
          <p:cNvPr id="10" name="Text 8"/>
          <p:cNvSpPr txBox="1"/>
          <p:nvPr/>
        </p:nvSpPr>
        <p:spPr>
          <a:xfrm>
            <a:off x="548640" y="2450592"/>
            <a:ext cx="384048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Curva de aprendizaje acelerada. Mayor productividad por repetición de trabajos.</a:t>
            </a:r>
            <a:endParaRPr lang="en-US" sz="1100" dirty="0"/>
          </a:p>
        </p:txBody>
      </p:sp>
      <p:sp>
        <p:nvSpPr>
          <p:cNvPr id="11" name="Shape 9"/>
          <p:cNvSpPr/>
          <p:nvPr/>
        </p:nvSpPr>
        <p:spPr>
          <a:xfrm>
            <a:off x="4754880" y="2084832"/>
            <a:ext cx="4206240" cy="841248"/>
          </a:xfrm>
          <a:prstGeom prst="roundRect">
            <a:avLst>
              <a:gd name="adj" fmla="val 10870"/>
            </a:avLst>
          </a:prstGeom>
          <a:solidFill>
            <a:srgbClr val="2C2C2E"/>
          </a:solidFill>
          <a:ln w="12700">
            <a:solidFill>
              <a:srgbClr val="0A84FF"/>
            </a:solidFill>
            <a:prstDash val="solid"/>
          </a:ln>
        </p:spPr>
      </p:sp>
      <p:sp>
        <p:nvSpPr>
          <p:cNvPr id="12" name="Text 10"/>
          <p:cNvSpPr txBox="1"/>
          <p:nvPr/>
        </p:nvSpPr>
        <p:spPr>
          <a:xfrm>
            <a:off x="4937760" y="2157984"/>
            <a:ext cx="384048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Compras por Volumen</a:t>
            </a:r>
            <a:endParaRPr lang="en-US" sz="1300" dirty="0"/>
          </a:p>
        </p:txBody>
      </p:sp>
      <p:sp>
        <p:nvSpPr>
          <p:cNvPr id="13" name="Text 11"/>
          <p:cNvSpPr txBox="1"/>
          <p:nvPr/>
        </p:nvSpPr>
        <p:spPr>
          <a:xfrm>
            <a:off x="4937760" y="2450592"/>
            <a:ext cx="384048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Descuentos por volumen de compra en proveedores. Poder de negociación consolidado.</a:t>
            </a:r>
            <a:endParaRPr lang="en-US" sz="1100" dirty="0"/>
          </a:p>
        </p:txBody>
      </p:sp>
      <p:sp>
        <p:nvSpPr>
          <p:cNvPr id="14" name="Shape 12"/>
          <p:cNvSpPr/>
          <p:nvPr/>
        </p:nvSpPr>
        <p:spPr>
          <a:xfrm>
            <a:off x="365760" y="3044952"/>
            <a:ext cx="4206240" cy="841248"/>
          </a:xfrm>
          <a:prstGeom prst="roundRect">
            <a:avLst>
              <a:gd name="adj" fmla="val 10870"/>
            </a:avLst>
          </a:prstGeom>
          <a:solidFill>
            <a:srgbClr val="2C2C2E"/>
          </a:solidFill>
          <a:ln w="12700">
            <a:solidFill>
              <a:srgbClr val="FF9500"/>
            </a:solidFill>
            <a:prstDash val="solid"/>
          </a:ln>
        </p:spPr>
      </p:sp>
      <p:sp>
        <p:nvSpPr>
          <p:cNvPr id="15" name="Text 13"/>
          <p:cNvSpPr txBox="1"/>
          <p:nvPr/>
        </p:nvSpPr>
        <p:spPr>
          <a:xfrm>
            <a:off x="548640" y="3118104"/>
            <a:ext cx="384048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Menor Inventario</a:t>
            </a:r>
            <a:endParaRPr lang="en-US" sz="1300" dirty="0"/>
          </a:p>
        </p:txBody>
      </p:sp>
      <p:sp>
        <p:nvSpPr>
          <p:cNvPr id="16" name="Text 14"/>
          <p:cNvSpPr txBox="1"/>
          <p:nvPr/>
        </p:nvSpPr>
        <p:spPr>
          <a:xfrm>
            <a:off x="548640" y="3410712"/>
            <a:ext cx="384048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Gestión simplificada de materiales. Menor warehouse y costo de repuestos.</a:t>
            </a:r>
            <a:endParaRPr lang="en-US" sz="1100" dirty="0"/>
          </a:p>
        </p:txBody>
      </p:sp>
      <p:sp>
        <p:nvSpPr>
          <p:cNvPr id="17" name="Shape 15"/>
          <p:cNvSpPr/>
          <p:nvPr/>
        </p:nvSpPr>
        <p:spPr>
          <a:xfrm>
            <a:off x="4754880" y="3044952"/>
            <a:ext cx="4206240" cy="841248"/>
          </a:xfrm>
          <a:prstGeom prst="roundRect">
            <a:avLst>
              <a:gd name="adj" fmla="val 10870"/>
            </a:avLst>
          </a:prstGeom>
          <a:solidFill>
            <a:srgbClr val="2C2C2E"/>
          </a:solidFill>
          <a:ln w="12700">
            <a:solidFill>
              <a:srgbClr val="AF52DE"/>
            </a:solidFill>
            <a:prstDash val="solid"/>
          </a:ln>
        </p:spPr>
      </p:sp>
      <p:sp>
        <p:nvSpPr>
          <p:cNvPr id="18" name="Text 16"/>
          <p:cNvSpPr txBox="1"/>
          <p:nvPr/>
        </p:nvSpPr>
        <p:spPr>
          <a:xfrm>
            <a:off x="4937760" y="3118104"/>
            <a:ext cx="384048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Herramientas Menores</a:t>
            </a:r>
            <a:endParaRPr lang="en-US" sz="1300" dirty="0"/>
          </a:p>
        </p:txBody>
      </p:sp>
      <p:sp>
        <p:nvSpPr>
          <p:cNvPr id="19" name="Text 17"/>
          <p:cNvSpPr txBox="1"/>
          <p:nvPr/>
        </p:nvSpPr>
        <p:spPr>
          <a:xfrm>
            <a:off x="4937760" y="3410712"/>
            <a:ext cx="384048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Soportes, herramientas y equipos de construcción más baratos al ser compatibles con dimensiones estándar.</a:t>
            </a:r>
            <a:endParaRPr lang="en-US" sz="1100" dirty="0"/>
          </a:p>
        </p:txBody>
      </p:sp>
      <p:sp>
        <p:nvSpPr>
          <p:cNvPr id="20" name="Text 18"/>
          <p:cNvSpPr txBox="1"/>
          <p:nvPr/>
        </p:nvSpPr>
        <p:spPr>
          <a:xfrm>
            <a:off x="365760" y="4041648"/>
            <a:ext cx="8412480" cy="65836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¿Qué se puede estandarizar? Válvulas, juntas, espuelas de tubería, pernos de anclaje, cimbra de concreto, dimensiones modulares, ubicaciones de soportes. ¿Por qué existe tanta variación? Preferencias de planta, desconocimiento de costos y oportunidades, mentalidad de "sub-optimización de ingeniería".</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II-3: Barreras a la Estandarización</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Las barreras a la estandarización son principalmente organizacionales, no técnicas:</a:t>
            </a:r>
            <a:endParaRPr lang="en-US" sz="1400" dirty="0"/>
          </a:p>
        </p:txBody>
      </p:sp>
      <p:sp>
        <p:nvSpPr>
          <p:cNvPr id="6" name="Shape 4"/>
          <p:cNvSpPr/>
          <p:nvPr/>
        </p:nvSpPr>
        <p:spPr>
          <a:xfrm>
            <a:off x="365760" y="1298448"/>
            <a:ext cx="8412480" cy="841248"/>
          </a:xfrm>
          <a:prstGeom prst="roundRect">
            <a:avLst>
              <a:gd name="adj" fmla="val 10870"/>
            </a:avLst>
          </a:prstGeom>
          <a:solidFill>
            <a:srgbClr val="2C2C2E"/>
          </a:solidFill>
          <a:ln w="12700">
            <a:solidFill>
              <a:srgbClr val="3A3A3C"/>
            </a:solidFill>
            <a:prstDash val="solid"/>
          </a:ln>
        </p:spPr>
      </p:sp>
      <p:sp>
        <p:nvSpPr>
          <p:cNvPr id="7" name="Shape 5"/>
          <p:cNvSpPr/>
          <p:nvPr/>
        </p:nvSpPr>
        <p:spPr>
          <a:xfrm>
            <a:off x="457200" y="1389888"/>
            <a:ext cx="457200" cy="457200"/>
          </a:xfrm>
          <a:prstGeom prst="ellipse">
            <a:avLst/>
          </a:prstGeom>
          <a:solidFill>
            <a:srgbClr val="FF453A"/>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1</a:t>
            </a:r>
            <a:endParaRPr lang="en-US" sz="1600" dirty="0"/>
          </a:p>
        </p:txBody>
      </p:sp>
      <p:sp>
        <p:nvSpPr>
          <p:cNvPr id="9" name="Text 7"/>
          <p:cNvSpPr txBox="1"/>
          <p:nvPr/>
        </p:nvSpPr>
        <p:spPr>
          <a:xfrm>
            <a:off x="1051560" y="1389888"/>
            <a:ext cx="75438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Autoridad de Decisión No Gestionada</a:t>
            </a:r>
            <a:endParaRPr lang="en-US" sz="1400" dirty="0"/>
          </a:p>
        </p:txBody>
      </p:sp>
      <p:sp>
        <p:nvSpPr>
          <p:cNvPr id="10" name="Text 8"/>
          <p:cNvSpPr txBox="1"/>
          <p:nvPr/>
        </p:nvSpPr>
        <p:spPr>
          <a:xfrm>
            <a:off x="1051560" y="1719072"/>
            <a:ext cx="754380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Múltiples ingenieros y disciplinas tienen autoridad de selección de componentes sin coordinación. Cada uno optimiza su parte sin considerar el sistema.</a:t>
            </a:r>
            <a:endParaRPr lang="en-US" sz="1100" dirty="0"/>
          </a:p>
        </p:txBody>
      </p:sp>
      <p:sp>
        <p:nvSpPr>
          <p:cNvPr id="11" name="Shape 9"/>
          <p:cNvSpPr/>
          <p:nvPr/>
        </p:nvSpPr>
        <p:spPr>
          <a:xfrm>
            <a:off x="365760" y="2258568"/>
            <a:ext cx="8412480" cy="841248"/>
          </a:xfrm>
          <a:prstGeom prst="roundRect">
            <a:avLst>
              <a:gd name="adj" fmla="val 10870"/>
            </a:avLst>
          </a:prstGeom>
          <a:solidFill>
            <a:srgbClr val="2C2C2E"/>
          </a:solidFill>
          <a:ln w="12700">
            <a:solidFill>
              <a:srgbClr val="3A3A3C"/>
            </a:solidFill>
            <a:prstDash val="solid"/>
          </a:ln>
        </p:spPr>
      </p:sp>
      <p:sp>
        <p:nvSpPr>
          <p:cNvPr id="12" name="Shape 10"/>
          <p:cNvSpPr/>
          <p:nvPr/>
        </p:nvSpPr>
        <p:spPr>
          <a:xfrm>
            <a:off x="457200" y="2350008"/>
            <a:ext cx="457200" cy="457200"/>
          </a:xfrm>
          <a:prstGeom prst="ellipse">
            <a:avLst/>
          </a:prstGeom>
          <a:solidFill>
            <a:srgbClr val="FF9500"/>
          </a:solidFill>
          <a:ln/>
        </p:spPr>
      </p:sp>
      <p:sp>
        <p:nvSpPr>
          <p:cNvPr id="13" name="Text 11"/>
          <p:cNvSpPr txBox="1"/>
          <p:nvPr/>
        </p:nvSpPr>
        <p:spPr>
          <a:xfrm>
            <a:off x="457200" y="23500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2</a:t>
            </a:r>
            <a:endParaRPr lang="en-US" sz="1600" dirty="0"/>
          </a:p>
        </p:txBody>
      </p:sp>
      <p:sp>
        <p:nvSpPr>
          <p:cNvPr id="14" name="Text 12"/>
          <p:cNvSpPr txBox="1"/>
          <p:nvPr/>
        </p:nvSpPr>
        <p:spPr>
          <a:xfrm>
            <a:off x="1051560" y="2350008"/>
            <a:ext cx="75438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Mentalidad de Sub-optimización</a:t>
            </a:r>
            <a:endParaRPr lang="en-US" sz="1400" dirty="0"/>
          </a:p>
        </p:txBody>
      </p:sp>
      <p:sp>
        <p:nvSpPr>
          <p:cNvPr id="15" name="Text 13"/>
          <p:cNvSpPr txBox="1"/>
          <p:nvPr/>
        </p:nvSpPr>
        <p:spPr>
          <a:xfrm>
            <a:off x="1051560" y="2679192"/>
            <a:ext cx="754380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"Todos los proyectos son únicos" — paradigma que impide aplicar soluciones probadas. Sobreestimación de los requisitos especiales del proyecto.</a:t>
            </a:r>
            <a:endParaRPr lang="en-US" sz="1100" dirty="0"/>
          </a:p>
        </p:txBody>
      </p:sp>
      <p:sp>
        <p:nvSpPr>
          <p:cNvPr id="16" name="Shape 14"/>
          <p:cNvSpPr/>
          <p:nvPr/>
        </p:nvSpPr>
        <p:spPr>
          <a:xfrm>
            <a:off x="365760" y="3218688"/>
            <a:ext cx="8412480" cy="841248"/>
          </a:xfrm>
          <a:prstGeom prst="roundRect">
            <a:avLst>
              <a:gd name="adj" fmla="val 10870"/>
            </a:avLst>
          </a:prstGeom>
          <a:solidFill>
            <a:srgbClr val="2C2C2E"/>
          </a:solidFill>
          <a:ln w="12700">
            <a:solidFill>
              <a:srgbClr val="3A3A3C"/>
            </a:solidFill>
            <a:prstDash val="solid"/>
          </a:ln>
        </p:spPr>
      </p:sp>
      <p:sp>
        <p:nvSpPr>
          <p:cNvPr id="17" name="Shape 15"/>
          <p:cNvSpPr/>
          <p:nvPr/>
        </p:nvSpPr>
        <p:spPr>
          <a:xfrm>
            <a:off x="457200" y="3310128"/>
            <a:ext cx="457200" cy="457200"/>
          </a:xfrm>
          <a:prstGeom prst="ellipse">
            <a:avLst/>
          </a:prstGeom>
          <a:solidFill>
            <a:srgbClr val="FFD60A"/>
          </a:solidFill>
          <a:ln/>
        </p:spPr>
      </p:sp>
      <p:sp>
        <p:nvSpPr>
          <p:cNvPr id="18" name="Text 16"/>
          <p:cNvSpPr txBox="1"/>
          <p:nvPr/>
        </p:nvSpPr>
        <p:spPr>
          <a:xfrm>
            <a:off x="457200" y="3310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3</a:t>
            </a:r>
            <a:endParaRPr lang="en-US" sz="1600" dirty="0"/>
          </a:p>
        </p:txBody>
      </p:sp>
      <p:sp>
        <p:nvSpPr>
          <p:cNvPr id="19" name="Text 17"/>
          <p:cNvSpPr txBox="1"/>
          <p:nvPr/>
        </p:nvSpPr>
        <p:spPr>
          <a:xfrm>
            <a:off x="1051560" y="3310128"/>
            <a:ext cx="75438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Esfuerzo para Establecer el Estándar</a:t>
            </a:r>
            <a:endParaRPr lang="en-US" sz="1400" dirty="0"/>
          </a:p>
        </p:txBody>
      </p:sp>
      <p:sp>
        <p:nvSpPr>
          <p:cNvPr id="20" name="Text 18"/>
          <p:cNvSpPr txBox="1"/>
          <p:nvPr/>
        </p:nvSpPr>
        <p:spPr>
          <a:xfrm>
            <a:off x="1051560" y="3639312"/>
            <a:ext cx="754380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Requiere trabajo inicial para determinar la mejor opción estándar. ¿A quién involucrar? ¿Cómo modificar los procesos de trabajo?</a:t>
            </a:r>
            <a:endParaRPr lang="en-US" sz="1100" dirty="0"/>
          </a:p>
        </p:txBody>
      </p:sp>
      <p:sp>
        <p:nvSpPr>
          <p:cNvPr id="21" name="Shape 19"/>
          <p:cNvSpPr/>
          <p:nvPr/>
        </p:nvSpPr>
        <p:spPr>
          <a:xfrm>
            <a:off x="365760" y="4178808"/>
            <a:ext cx="8412480" cy="841248"/>
          </a:xfrm>
          <a:prstGeom prst="roundRect">
            <a:avLst>
              <a:gd name="adj" fmla="val 10870"/>
            </a:avLst>
          </a:prstGeom>
          <a:solidFill>
            <a:srgbClr val="2C2C2E"/>
          </a:solidFill>
          <a:ln w="12700">
            <a:solidFill>
              <a:srgbClr val="3A3A3C"/>
            </a:solidFill>
            <a:prstDash val="solid"/>
          </a:ln>
        </p:spPr>
      </p:sp>
      <p:sp>
        <p:nvSpPr>
          <p:cNvPr id="22" name="Shape 20"/>
          <p:cNvSpPr/>
          <p:nvPr/>
        </p:nvSpPr>
        <p:spPr>
          <a:xfrm>
            <a:off x="457200" y="4270248"/>
            <a:ext cx="457200" cy="457200"/>
          </a:xfrm>
          <a:prstGeom prst="ellipse">
            <a:avLst/>
          </a:prstGeom>
          <a:solidFill>
            <a:srgbClr val="30D158"/>
          </a:solidFill>
          <a:ln/>
        </p:spPr>
      </p:sp>
      <p:sp>
        <p:nvSpPr>
          <p:cNvPr id="23" name="Text 21"/>
          <p:cNvSpPr txBox="1"/>
          <p:nvPr/>
        </p:nvSpPr>
        <p:spPr>
          <a:xfrm>
            <a:off x="457200" y="42702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4</a:t>
            </a:r>
            <a:endParaRPr lang="en-US" sz="1600" dirty="0"/>
          </a:p>
        </p:txBody>
      </p:sp>
      <p:sp>
        <p:nvSpPr>
          <p:cNvPr id="24" name="Text 22"/>
          <p:cNvSpPr txBox="1"/>
          <p:nvPr/>
        </p:nvSpPr>
        <p:spPr>
          <a:xfrm>
            <a:off x="1051560" y="4270248"/>
            <a:ext cx="75438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Ventaja Competitiva No Reconocida</a:t>
            </a:r>
            <a:endParaRPr lang="en-US" sz="1400" dirty="0"/>
          </a:p>
        </p:txBody>
      </p:sp>
      <p:sp>
        <p:nvSpPr>
          <p:cNvPr id="25" name="Text 23"/>
          <p:cNvSpPr txBox="1"/>
          <p:nvPr/>
        </p:nvSpPr>
        <p:spPr>
          <a:xfrm>
            <a:off x="1051560" y="4599432"/>
            <a:ext cx="754380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Las empresas que logran estandarizar obtienen una ventaja competitiva sustancial. IPA documenta 10% de ahorro en costo total del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II-4: Eficiencia en Documentos de Contrato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777240"/>
          </a:xfrm>
          <a:prstGeom prst="roundRect">
            <a:avLst>
              <a:gd name="adj" fmla="val 14118"/>
            </a:avLst>
          </a:prstGeom>
          <a:solidFill>
            <a:srgbClr val="2C2C2E"/>
          </a:solidFill>
          <a:ln w="12700">
            <a:solidFill>
              <a:srgbClr val="AF52DE"/>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400" i="1" dirty="0">
                <a:solidFill>
                  <a:srgbClr val="FFFFFF"/>
                </a:solidFill>
                <a:latin typeface="Atkinson Hyperlegible" pitchFamily="34" charset="0"/>
                <a:ea typeface="Atkinson Hyperlegible" pitchFamily="34" charset="-122"/>
                <a:cs typeface="Atkinson Hyperlegible" pitchFamily="34" charset="-120"/>
              </a:rPr>
              <a:t>"La eficiencia en procura, construcción y arranque se considera en el desarrollo de los documentos de contrato."</a:t>
            </a:r>
            <a:endParaRPr lang="en-US" sz="1400" dirty="0"/>
          </a:p>
        </p:txBody>
      </p:sp>
      <p:sp>
        <p:nvSpPr>
          <p:cNvPr id="7" name="Text 5"/>
          <p:cNvSpPr txBox="1"/>
          <p:nvPr/>
        </p:nvSpPr>
        <p:spPr>
          <a:xfrm>
            <a:off x="365760" y="1828800"/>
            <a:ext cx="8412480" cy="29260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Estudio Nielsen 1981 — 200 Reclamaciones por Problemas en Especificaciones:</a:t>
            </a:r>
            <a:endParaRPr lang="en-US" sz="1300" dirty="0"/>
          </a:p>
        </p:txBody>
      </p:sp>
      <p:sp>
        <p:nvSpPr>
          <p:cNvPr id="8" name="Shape 6"/>
          <p:cNvSpPr/>
          <p:nvPr/>
        </p:nvSpPr>
        <p:spPr>
          <a:xfrm>
            <a:off x="365760" y="2212848"/>
            <a:ext cx="4656667" cy="329184"/>
          </a:xfrm>
          <a:prstGeom prst="rect">
            <a:avLst/>
          </a:prstGeom>
          <a:solidFill>
            <a:srgbClr val="FF453A">
              <a:alpha val="80000"/>
            </a:srgbClr>
          </a:solidFill>
          <a:ln/>
        </p:spPr>
      </p:sp>
      <p:sp>
        <p:nvSpPr>
          <p:cNvPr id="9" name="Text 7"/>
          <p:cNvSpPr txBox="1"/>
          <p:nvPr/>
        </p:nvSpPr>
        <p:spPr>
          <a:xfrm>
            <a:off x="457200" y="2231136"/>
            <a:ext cx="7315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25%</a:t>
            </a:r>
            <a:endParaRPr lang="en-US" sz="1200" dirty="0"/>
          </a:p>
        </p:txBody>
      </p:sp>
      <p:sp>
        <p:nvSpPr>
          <p:cNvPr id="10" name="Text 8"/>
          <p:cNvSpPr txBox="1"/>
          <p:nvPr/>
        </p:nvSpPr>
        <p:spPr>
          <a:xfrm>
            <a:off x="1234440" y="2231136"/>
            <a:ext cx="749808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"O igual" — cláusulas de substitución ambiguas</a:t>
            </a:r>
            <a:endParaRPr lang="en-US" sz="1100" dirty="0"/>
          </a:p>
        </p:txBody>
      </p:sp>
      <p:sp>
        <p:nvSpPr>
          <p:cNvPr id="11" name="Shape 9"/>
          <p:cNvSpPr/>
          <p:nvPr/>
        </p:nvSpPr>
        <p:spPr>
          <a:xfrm>
            <a:off x="365760" y="2606040"/>
            <a:ext cx="2421467" cy="329184"/>
          </a:xfrm>
          <a:prstGeom prst="rect">
            <a:avLst/>
          </a:prstGeom>
          <a:solidFill>
            <a:srgbClr val="FF453A">
              <a:alpha val="80000"/>
            </a:srgbClr>
          </a:solidFill>
          <a:ln/>
        </p:spPr>
      </p:sp>
      <p:sp>
        <p:nvSpPr>
          <p:cNvPr id="12" name="Text 10"/>
          <p:cNvSpPr txBox="1"/>
          <p:nvPr/>
        </p:nvSpPr>
        <p:spPr>
          <a:xfrm>
            <a:off x="457200" y="2624328"/>
            <a:ext cx="7315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13%</a:t>
            </a:r>
            <a:endParaRPr lang="en-US" sz="1200" dirty="0"/>
          </a:p>
        </p:txBody>
      </p:sp>
      <p:sp>
        <p:nvSpPr>
          <p:cNvPr id="13" name="Text 11"/>
          <p:cNvSpPr txBox="1"/>
          <p:nvPr/>
        </p:nvSpPr>
        <p:spPr>
          <a:xfrm>
            <a:off x="1234440" y="2624328"/>
            <a:ext cx="749808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Ambigüedades de redacción</a:t>
            </a:r>
            <a:endParaRPr lang="en-US" sz="1100" dirty="0"/>
          </a:p>
        </p:txBody>
      </p:sp>
      <p:sp>
        <p:nvSpPr>
          <p:cNvPr id="14" name="Shape 12"/>
          <p:cNvSpPr/>
          <p:nvPr/>
        </p:nvSpPr>
        <p:spPr>
          <a:xfrm>
            <a:off x="365760" y="2999232"/>
            <a:ext cx="2235200" cy="329184"/>
          </a:xfrm>
          <a:prstGeom prst="rect">
            <a:avLst/>
          </a:prstGeom>
          <a:solidFill>
            <a:srgbClr val="FF9500">
              <a:alpha val="80000"/>
            </a:srgbClr>
          </a:solidFill>
          <a:ln/>
        </p:spPr>
      </p:sp>
      <p:sp>
        <p:nvSpPr>
          <p:cNvPr id="15" name="Text 13"/>
          <p:cNvSpPr txBox="1"/>
          <p:nvPr/>
        </p:nvSpPr>
        <p:spPr>
          <a:xfrm>
            <a:off x="457200" y="3017520"/>
            <a:ext cx="7315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12%</a:t>
            </a:r>
            <a:endParaRPr lang="en-US" sz="1200" dirty="0"/>
          </a:p>
        </p:txBody>
      </p:sp>
      <p:sp>
        <p:nvSpPr>
          <p:cNvPr id="16" name="Text 14"/>
          <p:cNvSpPr txBox="1"/>
          <p:nvPr/>
        </p:nvSpPr>
        <p:spPr>
          <a:xfrm>
            <a:off x="1234440" y="3017520"/>
            <a:ext cx="749808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Conflictos entre planos y especificaciones</a:t>
            </a:r>
            <a:endParaRPr lang="en-US" sz="1100" dirty="0"/>
          </a:p>
        </p:txBody>
      </p:sp>
      <p:sp>
        <p:nvSpPr>
          <p:cNvPr id="17" name="Shape 15"/>
          <p:cNvSpPr/>
          <p:nvPr/>
        </p:nvSpPr>
        <p:spPr>
          <a:xfrm>
            <a:off x="365760" y="3392424"/>
            <a:ext cx="2235200" cy="329184"/>
          </a:xfrm>
          <a:prstGeom prst="rect">
            <a:avLst/>
          </a:prstGeom>
          <a:solidFill>
            <a:srgbClr val="FF9500">
              <a:alpha val="80000"/>
            </a:srgbClr>
          </a:solidFill>
          <a:ln/>
        </p:spPr>
      </p:sp>
      <p:sp>
        <p:nvSpPr>
          <p:cNvPr id="18" name="Text 16"/>
          <p:cNvSpPr txBox="1"/>
          <p:nvPr/>
        </p:nvSpPr>
        <p:spPr>
          <a:xfrm>
            <a:off x="457200" y="3410712"/>
            <a:ext cx="7315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12%</a:t>
            </a:r>
            <a:endParaRPr lang="en-US" sz="1200" dirty="0"/>
          </a:p>
        </p:txBody>
      </p:sp>
      <p:sp>
        <p:nvSpPr>
          <p:cNvPr id="19" name="Text 17"/>
          <p:cNvSpPr txBox="1"/>
          <p:nvPr/>
        </p:nvSpPr>
        <p:spPr>
          <a:xfrm>
            <a:off x="1234440" y="3410712"/>
            <a:ext cx="749808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Datos técnicos inexactos</a:t>
            </a:r>
            <a:endParaRPr lang="en-US" sz="1100" dirty="0"/>
          </a:p>
        </p:txBody>
      </p:sp>
      <p:sp>
        <p:nvSpPr>
          <p:cNvPr id="20" name="Shape 18"/>
          <p:cNvSpPr/>
          <p:nvPr/>
        </p:nvSpPr>
        <p:spPr>
          <a:xfrm>
            <a:off x="365760" y="3785616"/>
            <a:ext cx="1117600" cy="329184"/>
          </a:xfrm>
          <a:prstGeom prst="rect">
            <a:avLst/>
          </a:prstGeom>
          <a:solidFill>
            <a:srgbClr val="8E8E93">
              <a:alpha val="80000"/>
            </a:srgbClr>
          </a:solidFill>
          <a:ln/>
        </p:spPr>
      </p:sp>
      <p:sp>
        <p:nvSpPr>
          <p:cNvPr id="21" name="Text 19"/>
          <p:cNvSpPr txBox="1"/>
          <p:nvPr/>
        </p:nvSpPr>
        <p:spPr>
          <a:xfrm>
            <a:off x="457200" y="3803904"/>
            <a:ext cx="7315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6%</a:t>
            </a:r>
            <a:endParaRPr lang="en-US" sz="1200" dirty="0"/>
          </a:p>
        </p:txBody>
      </p:sp>
      <p:sp>
        <p:nvSpPr>
          <p:cNvPr id="22" name="Text 20"/>
          <p:cNvSpPr txBox="1"/>
          <p:nvPr/>
        </p:nvSpPr>
        <p:spPr>
          <a:xfrm>
            <a:off x="1234440" y="3803904"/>
            <a:ext cx="749808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Requisitos de inspección poco claros</a:t>
            </a:r>
            <a:endParaRPr lang="en-US" sz="1100" dirty="0"/>
          </a:p>
        </p:txBody>
      </p:sp>
      <p:sp>
        <p:nvSpPr>
          <p:cNvPr id="23" name="Shape 21"/>
          <p:cNvSpPr/>
          <p:nvPr/>
        </p:nvSpPr>
        <p:spPr>
          <a:xfrm>
            <a:off x="365760" y="4178808"/>
            <a:ext cx="931333" cy="329184"/>
          </a:xfrm>
          <a:prstGeom prst="rect">
            <a:avLst/>
          </a:prstGeom>
          <a:solidFill>
            <a:srgbClr val="8E8E93">
              <a:alpha val="80000"/>
            </a:srgbClr>
          </a:solidFill>
          <a:ln/>
        </p:spPr>
      </p:sp>
      <p:sp>
        <p:nvSpPr>
          <p:cNvPr id="24" name="Text 22"/>
          <p:cNvSpPr txBox="1"/>
          <p:nvPr/>
        </p:nvSpPr>
        <p:spPr>
          <a:xfrm>
            <a:off x="457200" y="4197096"/>
            <a:ext cx="7315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5%</a:t>
            </a:r>
            <a:endParaRPr lang="en-US" sz="1200" dirty="0"/>
          </a:p>
        </p:txBody>
      </p:sp>
      <p:sp>
        <p:nvSpPr>
          <p:cNvPr id="25" name="Text 23"/>
          <p:cNvSpPr txBox="1"/>
          <p:nvPr/>
        </p:nvSpPr>
        <p:spPr>
          <a:xfrm>
            <a:off x="1234440" y="4197096"/>
            <a:ext cx="749808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Requisitos de seguridad e higiene</a:t>
            </a:r>
            <a:endParaRPr lang="en-US" sz="1100" dirty="0"/>
          </a:p>
        </p:txBody>
      </p:sp>
      <p:sp>
        <p:nvSpPr>
          <p:cNvPr id="26" name="Shape 24"/>
          <p:cNvSpPr/>
          <p:nvPr/>
        </p:nvSpPr>
        <p:spPr>
          <a:xfrm>
            <a:off x="365760" y="4572000"/>
            <a:ext cx="5029200" cy="329184"/>
          </a:xfrm>
          <a:prstGeom prst="rect">
            <a:avLst/>
          </a:prstGeom>
          <a:solidFill>
            <a:srgbClr val="8E8E93">
              <a:alpha val="80000"/>
            </a:srgbClr>
          </a:solidFill>
          <a:ln/>
        </p:spPr>
      </p:sp>
      <p:sp>
        <p:nvSpPr>
          <p:cNvPr id="27" name="Text 25"/>
          <p:cNvSpPr txBox="1"/>
          <p:nvPr/>
        </p:nvSpPr>
        <p:spPr>
          <a:xfrm>
            <a:off x="457200" y="4590288"/>
            <a:ext cx="731520" cy="292608"/>
          </a:xfrm>
          <a:prstGeom prst="rect">
            <a:avLst/>
          </a:prstGeom>
          <a:noFill/>
          <a:ln/>
        </p:spPr>
        <p:txBody>
          <a:bodyPr wrap="square" lIns="0" tIns="0" rIns="0" bIns="0" rtlCol="0" anchor="ctr"/>
          <a:lstStyle/>
          <a:p>
            <a:pP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27%</a:t>
            </a:r>
            <a:endParaRPr lang="en-US" sz="1200" dirty="0"/>
          </a:p>
        </p:txBody>
      </p:sp>
      <p:sp>
        <p:nvSpPr>
          <p:cNvPr id="28" name="Text 26"/>
          <p:cNvSpPr txBox="1"/>
          <p:nvPr/>
        </p:nvSpPr>
        <p:spPr>
          <a:xfrm>
            <a:off x="1234440" y="4590288"/>
            <a:ext cx="749808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Otros problemas de comunicación técnica</a:t>
            </a:r>
            <a:endParaRPr lang="en-US" sz="1100" dirty="0"/>
          </a:p>
        </p:txBody>
      </p:sp>
      <p:sp>
        <p:nvSpPr>
          <p:cNvPr id="29" name="Text 27"/>
          <p:cNvSpPr txBox="1"/>
          <p:nvPr/>
        </p:nvSpPr>
        <p:spPr>
          <a:xfrm>
            <a:off x="365760" y="4937760"/>
            <a:ext cx="8412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Oportunidades en planos: Separar planos de encofrado de planos de fierro (dimensiones necesarias son distintas). CAD ofrece nuevas formas de comunicación más eficiente.</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II-5: Modularización, Pre-ensamble y Prefabricación (PPMOF)</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777240"/>
          </a:xfrm>
          <a:prstGeom prst="roundRect">
            <a:avLst>
              <a:gd name="adj" fmla="val 14118"/>
            </a:avLst>
          </a:prstGeom>
          <a:solidFill>
            <a:srgbClr val="2C2C2E"/>
          </a:solidFill>
          <a:ln w="12700">
            <a:solidFill>
              <a:srgbClr val="FF453A"/>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400" i="1" dirty="0">
                <a:solidFill>
                  <a:srgbClr val="FFFFFF"/>
                </a:solidFill>
                <a:latin typeface="Atkinson Hyperlegible" pitchFamily="34" charset="0"/>
                <a:ea typeface="Atkinson Hyperlegible" pitchFamily="34" charset="-122"/>
                <a:cs typeface="Atkinson Hyperlegible" pitchFamily="34" charset="-120"/>
              </a:rPr>
              <a:t>"Los diseños de módulos/pre-ensambles facilitan la fabricación, el transporte y la instalación en campo."</a:t>
            </a:r>
            <a:endParaRPr lang="en-US" sz="1400" dirty="0"/>
          </a:p>
        </p:txBody>
      </p:sp>
      <p:sp>
        <p:nvSpPr>
          <p:cNvPr id="7" name="Shape 5"/>
          <p:cNvSpPr/>
          <p:nvPr/>
        </p:nvSpPr>
        <p:spPr>
          <a:xfrm>
            <a:off x="274320" y="1828800"/>
            <a:ext cx="2834640" cy="3291840"/>
          </a:xfrm>
          <a:prstGeom prst="roundRect">
            <a:avLst>
              <a:gd name="adj" fmla="val 3871"/>
            </a:avLst>
          </a:prstGeom>
          <a:solidFill>
            <a:srgbClr val="2C2C2E"/>
          </a:solidFill>
          <a:ln w="12700">
            <a:solidFill>
              <a:srgbClr val="3A3A3C"/>
            </a:solidFill>
            <a:prstDash val="solid"/>
          </a:ln>
        </p:spPr>
      </p:sp>
      <p:sp>
        <p:nvSpPr>
          <p:cNvPr id="8" name="Shape 6"/>
          <p:cNvSpPr/>
          <p:nvPr/>
        </p:nvSpPr>
        <p:spPr>
          <a:xfrm>
            <a:off x="274320" y="1828800"/>
            <a:ext cx="2834640" cy="384048"/>
          </a:xfrm>
          <a:prstGeom prst="roundRect">
            <a:avLst>
              <a:gd name="adj" fmla="val 28571"/>
            </a:avLst>
          </a:prstGeom>
          <a:solidFill>
            <a:srgbClr val="0A84FF"/>
          </a:solidFill>
          <a:ln/>
        </p:spPr>
      </p:sp>
      <p:sp>
        <p:nvSpPr>
          <p:cNvPr id="9" name="Shape 7"/>
          <p:cNvSpPr/>
          <p:nvPr/>
        </p:nvSpPr>
        <p:spPr>
          <a:xfrm>
            <a:off x="274320" y="2029968"/>
            <a:ext cx="2834640" cy="182880"/>
          </a:xfrm>
          <a:prstGeom prst="rect">
            <a:avLst/>
          </a:prstGeom>
          <a:solidFill>
            <a:srgbClr val="0A84FF"/>
          </a:solidFill>
          <a:ln/>
        </p:spPr>
      </p:sp>
      <p:sp>
        <p:nvSpPr>
          <p:cNvPr id="10" name="Text 8"/>
          <p:cNvSpPr txBox="1"/>
          <p:nvPr/>
        </p:nvSpPr>
        <p:spPr>
          <a:xfrm>
            <a:off x="384048" y="1856232"/>
            <a:ext cx="260604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FABRICACIÓN</a:t>
            </a:r>
            <a:endParaRPr lang="en-US" sz="1300" dirty="0"/>
          </a:p>
        </p:txBody>
      </p:sp>
      <p:sp>
        <p:nvSpPr>
          <p:cNvPr id="11" name="Text 9"/>
          <p:cNvSpPr txBox="1"/>
          <p:nvPr/>
        </p:nvSpPr>
        <p:spPr>
          <a:xfrm>
            <a:off x="384048" y="226771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Alcance de fabricación en taller: ¿qué hacer fuera del sitio?</a:t>
            </a:r>
            <a:endParaRPr lang="en-US" sz="950" dirty="0"/>
          </a:p>
        </p:txBody>
      </p:sp>
      <p:sp>
        <p:nvSpPr>
          <p:cNvPr id="12" name="Text 10"/>
          <p:cNvSpPr txBox="1"/>
          <p:nvPr/>
        </p:nvSpPr>
        <p:spPr>
          <a:xfrm>
            <a:off x="384048" y="2670048"/>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Pruebas pre-embarque y grado de terminación</a:t>
            </a:r>
            <a:endParaRPr lang="en-US" sz="950" dirty="0"/>
          </a:p>
        </p:txBody>
      </p:sp>
      <p:sp>
        <p:nvSpPr>
          <p:cNvPr id="13" name="Text 11"/>
          <p:cNvSpPr txBox="1"/>
          <p:nvPr/>
        </p:nvSpPr>
        <p:spPr>
          <a:xfrm>
            <a:off x="384048" y="3072384"/>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Aislamiento, revestimientos y acabados en taller</a:t>
            </a:r>
            <a:endParaRPr lang="en-US" sz="950" dirty="0"/>
          </a:p>
        </p:txBody>
      </p:sp>
      <p:sp>
        <p:nvSpPr>
          <p:cNvPr id="14" name="Text 12"/>
          <p:cNvSpPr txBox="1"/>
          <p:nvPr/>
        </p:nvSpPr>
        <p:spPr>
          <a:xfrm>
            <a:off x="384048" y="3474720"/>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Cantidades económicas y estandarización dimensional</a:t>
            </a:r>
            <a:endParaRPr lang="en-US" sz="950" dirty="0"/>
          </a:p>
        </p:txBody>
      </p:sp>
      <p:sp>
        <p:nvSpPr>
          <p:cNvPr id="15" name="Text 13"/>
          <p:cNvSpPr txBox="1"/>
          <p:nvPr/>
        </p:nvSpPr>
        <p:spPr>
          <a:xfrm>
            <a:off x="384048" y="3877056"/>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Dimensiones y ubicación de juntas entre módulos</a:t>
            </a:r>
            <a:endParaRPr lang="en-US" sz="950" dirty="0"/>
          </a:p>
        </p:txBody>
      </p:sp>
      <p:sp>
        <p:nvSpPr>
          <p:cNvPr id="16" name="Text 14"/>
          <p:cNvSpPr txBox="1"/>
          <p:nvPr/>
        </p:nvSpPr>
        <p:spPr>
          <a:xfrm>
            <a:off x="384048" y="427939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Tolerancias compatibles con el campo</a:t>
            </a:r>
            <a:endParaRPr lang="en-US" sz="950" dirty="0"/>
          </a:p>
        </p:txBody>
      </p:sp>
      <p:sp>
        <p:nvSpPr>
          <p:cNvPr id="17" name="Text 15"/>
          <p:cNvSpPr txBox="1"/>
          <p:nvPr/>
        </p:nvSpPr>
        <p:spPr>
          <a:xfrm>
            <a:off x="384048" y="4681728"/>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Selección y monitoreo del fabricador</a:t>
            </a:r>
            <a:endParaRPr lang="en-US" sz="950" dirty="0"/>
          </a:p>
        </p:txBody>
      </p:sp>
      <p:sp>
        <p:nvSpPr>
          <p:cNvPr id="18" name="Shape 16"/>
          <p:cNvSpPr/>
          <p:nvPr/>
        </p:nvSpPr>
        <p:spPr>
          <a:xfrm>
            <a:off x="3227832" y="1828800"/>
            <a:ext cx="2834640" cy="3291840"/>
          </a:xfrm>
          <a:prstGeom prst="roundRect">
            <a:avLst>
              <a:gd name="adj" fmla="val 3871"/>
            </a:avLst>
          </a:prstGeom>
          <a:solidFill>
            <a:srgbClr val="2C2C2E"/>
          </a:solidFill>
          <a:ln w="12700">
            <a:solidFill>
              <a:srgbClr val="3A3A3C"/>
            </a:solidFill>
            <a:prstDash val="solid"/>
          </a:ln>
        </p:spPr>
      </p:sp>
      <p:sp>
        <p:nvSpPr>
          <p:cNvPr id="19" name="Shape 17"/>
          <p:cNvSpPr/>
          <p:nvPr/>
        </p:nvSpPr>
        <p:spPr>
          <a:xfrm>
            <a:off x="3227832" y="1828800"/>
            <a:ext cx="2834640" cy="384048"/>
          </a:xfrm>
          <a:prstGeom prst="roundRect">
            <a:avLst>
              <a:gd name="adj" fmla="val 28571"/>
            </a:avLst>
          </a:prstGeom>
          <a:solidFill>
            <a:srgbClr val="FF9500"/>
          </a:solidFill>
          <a:ln/>
        </p:spPr>
      </p:sp>
      <p:sp>
        <p:nvSpPr>
          <p:cNvPr id="20" name="Shape 18"/>
          <p:cNvSpPr/>
          <p:nvPr/>
        </p:nvSpPr>
        <p:spPr>
          <a:xfrm>
            <a:off x="3227832" y="2029968"/>
            <a:ext cx="2834640" cy="182880"/>
          </a:xfrm>
          <a:prstGeom prst="rect">
            <a:avLst/>
          </a:prstGeom>
          <a:solidFill>
            <a:srgbClr val="FF9500"/>
          </a:solidFill>
          <a:ln/>
        </p:spPr>
      </p:sp>
      <p:sp>
        <p:nvSpPr>
          <p:cNvPr id="21" name="Text 19"/>
          <p:cNvSpPr txBox="1"/>
          <p:nvPr/>
        </p:nvSpPr>
        <p:spPr>
          <a:xfrm>
            <a:off x="3337560" y="1856232"/>
            <a:ext cx="260604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TRANSPORTE</a:t>
            </a:r>
            <a:endParaRPr lang="en-US" sz="1300" dirty="0"/>
          </a:p>
        </p:txBody>
      </p:sp>
      <p:sp>
        <p:nvSpPr>
          <p:cNvPr id="22" name="Text 20"/>
          <p:cNvSpPr txBox="1"/>
          <p:nvPr/>
        </p:nvSpPr>
        <p:spPr>
          <a:xfrm>
            <a:off x="3337560" y="226771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Métodos de transporte y límites dimensionales</a:t>
            </a:r>
            <a:endParaRPr lang="en-US" sz="950" dirty="0"/>
          </a:p>
        </p:txBody>
      </p:sp>
      <p:sp>
        <p:nvSpPr>
          <p:cNvPr id="23" name="Text 21"/>
          <p:cNvSpPr txBox="1"/>
          <p:nvPr/>
        </p:nvSpPr>
        <p:spPr>
          <a:xfrm>
            <a:off x="3337560" y="2670048"/>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Análisis de rutas y accesibilidad (alturas, pesos)</a:t>
            </a:r>
            <a:endParaRPr lang="en-US" sz="950" dirty="0"/>
          </a:p>
        </p:txBody>
      </p:sp>
      <p:sp>
        <p:nvSpPr>
          <p:cNvPr id="24" name="Text 22"/>
          <p:cNvSpPr txBox="1"/>
          <p:nvPr/>
        </p:nvSpPr>
        <p:spPr>
          <a:xfrm>
            <a:off x="3337560" y="3072384"/>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Dimensiones estándar: plataforma = 42' x 8'</a:t>
            </a:r>
            <a:endParaRPr lang="en-US" sz="950" dirty="0"/>
          </a:p>
        </p:txBody>
      </p:sp>
      <p:sp>
        <p:nvSpPr>
          <p:cNvPr id="25" name="Text 23"/>
          <p:cNvSpPr txBox="1"/>
          <p:nvPr/>
        </p:nvSpPr>
        <p:spPr>
          <a:xfrm>
            <a:off x="3337560" y="3474720"/>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Contenedor 40': 93"a × 474"l × 106"h, 30 ton</a:t>
            </a:r>
            <a:endParaRPr lang="en-US" sz="950" dirty="0"/>
          </a:p>
        </p:txBody>
      </p:sp>
      <p:sp>
        <p:nvSpPr>
          <p:cNvPr id="26" name="Text 24"/>
          <p:cNvSpPr txBox="1"/>
          <p:nvPr/>
        </p:nvSpPr>
        <p:spPr>
          <a:xfrm>
            <a:off x="3337560" y="3877056"/>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Pallet estándar: 96"h × 104" × 84", 5 ton</a:t>
            </a:r>
            <a:endParaRPr lang="en-US" sz="950" dirty="0"/>
          </a:p>
        </p:txBody>
      </p:sp>
      <p:sp>
        <p:nvSpPr>
          <p:cNvPr id="27" name="Text 25"/>
          <p:cNvSpPr txBox="1"/>
          <p:nvPr/>
        </p:nvSpPr>
        <p:spPr>
          <a:xfrm>
            <a:off x="3337560" y="427939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Medición y monitoreo continuo del peso</a:t>
            </a:r>
            <a:endParaRPr lang="en-US" sz="950" dirty="0"/>
          </a:p>
        </p:txBody>
      </p:sp>
      <p:sp>
        <p:nvSpPr>
          <p:cNvPr id="28" name="Text 26"/>
          <p:cNvSpPr txBox="1"/>
          <p:nvPr/>
        </p:nvSpPr>
        <p:spPr>
          <a:xfrm>
            <a:off x="3337560" y="4681728"/>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Estructura temporal de rigidez para el transporte</a:t>
            </a:r>
            <a:endParaRPr lang="en-US" sz="950" dirty="0"/>
          </a:p>
        </p:txBody>
      </p:sp>
      <p:sp>
        <p:nvSpPr>
          <p:cNvPr id="29" name="Shape 27"/>
          <p:cNvSpPr/>
          <p:nvPr/>
        </p:nvSpPr>
        <p:spPr>
          <a:xfrm>
            <a:off x="6181344" y="1828800"/>
            <a:ext cx="2834640" cy="3291840"/>
          </a:xfrm>
          <a:prstGeom prst="roundRect">
            <a:avLst>
              <a:gd name="adj" fmla="val 3871"/>
            </a:avLst>
          </a:prstGeom>
          <a:solidFill>
            <a:srgbClr val="2C2C2E"/>
          </a:solidFill>
          <a:ln w="12700">
            <a:solidFill>
              <a:srgbClr val="3A3A3C"/>
            </a:solidFill>
            <a:prstDash val="solid"/>
          </a:ln>
        </p:spPr>
      </p:sp>
      <p:sp>
        <p:nvSpPr>
          <p:cNvPr id="30" name="Shape 28"/>
          <p:cNvSpPr/>
          <p:nvPr/>
        </p:nvSpPr>
        <p:spPr>
          <a:xfrm>
            <a:off x="6181344" y="1828800"/>
            <a:ext cx="2834640" cy="384048"/>
          </a:xfrm>
          <a:prstGeom prst="roundRect">
            <a:avLst>
              <a:gd name="adj" fmla="val 28571"/>
            </a:avLst>
          </a:prstGeom>
          <a:solidFill>
            <a:srgbClr val="30D158"/>
          </a:solidFill>
          <a:ln/>
        </p:spPr>
      </p:sp>
      <p:sp>
        <p:nvSpPr>
          <p:cNvPr id="31" name="Shape 29"/>
          <p:cNvSpPr/>
          <p:nvPr/>
        </p:nvSpPr>
        <p:spPr>
          <a:xfrm>
            <a:off x="6181344" y="2029968"/>
            <a:ext cx="2834640" cy="182880"/>
          </a:xfrm>
          <a:prstGeom prst="rect">
            <a:avLst/>
          </a:prstGeom>
          <a:solidFill>
            <a:srgbClr val="30D158"/>
          </a:solidFill>
          <a:ln/>
        </p:spPr>
      </p:sp>
      <p:sp>
        <p:nvSpPr>
          <p:cNvPr id="32" name="Text 30"/>
          <p:cNvSpPr txBox="1"/>
          <p:nvPr/>
        </p:nvSpPr>
        <p:spPr>
          <a:xfrm>
            <a:off x="6291072" y="1856232"/>
            <a:ext cx="2606040" cy="347472"/>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INSTALACIÓN</a:t>
            </a:r>
            <a:endParaRPr lang="en-US" sz="1300" dirty="0"/>
          </a:p>
        </p:txBody>
      </p:sp>
      <p:sp>
        <p:nvSpPr>
          <p:cNvPr id="33" name="Text 31"/>
          <p:cNvSpPr txBox="1"/>
          <p:nvPr/>
        </p:nvSpPr>
        <p:spPr>
          <a:xfrm>
            <a:off x="6291072" y="226771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Alcance del trabajo en campo (conexiones, ajuste)</a:t>
            </a:r>
            <a:endParaRPr lang="en-US" sz="950" dirty="0"/>
          </a:p>
        </p:txBody>
      </p:sp>
      <p:sp>
        <p:nvSpPr>
          <p:cNvPr id="34" name="Text 32"/>
          <p:cNvSpPr txBox="1"/>
          <p:nvPr/>
        </p:nvSpPr>
        <p:spPr>
          <a:xfrm>
            <a:off x="6291072" y="2670048"/>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Secuencia de erección y secuencia de entrega</a:t>
            </a:r>
            <a:endParaRPr lang="en-US" sz="950" dirty="0"/>
          </a:p>
        </p:txBody>
      </p:sp>
      <p:sp>
        <p:nvSpPr>
          <p:cNvPr id="35" name="Text 33"/>
          <p:cNvSpPr txBox="1"/>
          <p:nvPr/>
        </p:nvSpPr>
        <p:spPr>
          <a:xfrm>
            <a:off x="6291072" y="3072384"/>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"Dibujos de secuencia de erección"</a:t>
            </a:r>
            <a:endParaRPr lang="en-US" sz="950" dirty="0"/>
          </a:p>
        </p:txBody>
      </p:sp>
      <p:sp>
        <p:nvSpPr>
          <p:cNvPr id="36" name="Text 34"/>
          <p:cNvSpPr txBox="1"/>
          <p:nvPr/>
        </p:nvSpPr>
        <p:spPr>
          <a:xfrm>
            <a:off x="6291072" y="3474720"/>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Enfoque de conexión de sistemas y tolerancias de fit-up</a:t>
            </a:r>
            <a:endParaRPr lang="en-US" sz="950" dirty="0"/>
          </a:p>
        </p:txBody>
      </p:sp>
      <p:sp>
        <p:nvSpPr>
          <p:cNvPr id="37" name="Text 35"/>
          <p:cNvSpPr txBox="1"/>
          <p:nvPr/>
        </p:nvSpPr>
        <p:spPr>
          <a:xfrm>
            <a:off x="6291072" y="3877056"/>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Accesibilidad para actividades de conexión</a:t>
            </a:r>
            <a:endParaRPr lang="en-US" sz="950" dirty="0"/>
          </a:p>
        </p:txBody>
      </p:sp>
      <p:sp>
        <p:nvSpPr>
          <p:cNvPr id="38" name="Text 36"/>
          <p:cNvSpPr txBox="1"/>
          <p:nvPr/>
        </p:nvSpPr>
        <p:spPr>
          <a:xfrm>
            <a:off x="6291072" y="4279392"/>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Capacidades de izaje en campo</a:t>
            </a:r>
            <a:endParaRPr lang="en-US" sz="950" dirty="0"/>
          </a:p>
        </p:txBody>
      </p:sp>
      <p:sp>
        <p:nvSpPr>
          <p:cNvPr id="39" name="Text 37"/>
          <p:cNvSpPr txBox="1"/>
          <p:nvPr/>
        </p:nvSpPr>
        <p:spPr>
          <a:xfrm>
            <a:off x="6291072" y="4681728"/>
            <a:ext cx="2606040" cy="365760"/>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Grúa camión: económica hasta 60 ton de capacidad</a:t>
            </a:r>
            <a:endParaRPr lang="en-US" sz="95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II-6: Accesibilidad en el Diseño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"Los diseños promueven la accesibilidad de construcción de personal, materiales y equipos."</a:t>
            </a:r>
            <a:endParaRPr lang="en-US" sz="1500" dirty="0"/>
          </a:p>
        </p:txBody>
      </p:sp>
      <p:sp>
        <p:nvSpPr>
          <p:cNvPr id="7" name="Text 5"/>
          <p:cNvSpPr txBox="1"/>
          <p:nvPr/>
        </p:nvSpPr>
        <p:spPr>
          <a:xfrm>
            <a:off x="365760" y="1719072"/>
            <a:ext cx="411480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Efectos de los Problemas de Accesibilidad:</a:t>
            </a:r>
            <a:endParaRPr lang="en-US" sz="1300" dirty="0"/>
          </a:p>
        </p:txBody>
      </p:sp>
      <p:sp>
        <p:nvSpPr>
          <p:cNvPr id="8" name="Text 6"/>
          <p:cNvSpPr txBox="1"/>
          <p:nvPr/>
        </p:nvSpPr>
        <p:spPr>
          <a:xfrm>
            <a:off x="4709160" y="1719072"/>
            <a:ext cx="4114800" cy="292608"/>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Indicadores de Problemas de Acceso:</a:t>
            </a:r>
            <a:endParaRPr lang="en-US" sz="1300" dirty="0"/>
          </a:p>
        </p:txBody>
      </p:sp>
      <p:sp>
        <p:nvSpPr>
          <p:cNvPr id="9" name="Shape 7"/>
          <p:cNvSpPr/>
          <p:nvPr/>
        </p:nvSpPr>
        <p:spPr>
          <a:xfrm>
            <a:off x="365760" y="2084832"/>
            <a:ext cx="4206240" cy="438912"/>
          </a:xfrm>
          <a:prstGeom prst="roundRect">
            <a:avLst>
              <a:gd name="adj" fmla="val 16667"/>
            </a:avLst>
          </a:prstGeom>
          <a:solidFill>
            <a:srgbClr val="2C2C2E"/>
          </a:solidFill>
          <a:ln w="12700">
            <a:solidFill>
              <a:srgbClr val="3A3A3C"/>
            </a:solidFill>
            <a:prstDash val="solid"/>
          </a:ln>
        </p:spPr>
      </p:sp>
      <p:sp>
        <p:nvSpPr>
          <p:cNvPr id="10" name="Text 8"/>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Retrasos — proyectos entregados tarde</a:t>
            </a:r>
            <a:endParaRPr lang="en-US" sz="1100" dirty="0"/>
          </a:p>
        </p:txBody>
      </p:sp>
      <p:sp>
        <p:nvSpPr>
          <p:cNvPr id="11" name="Shape 9"/>
          <p:cNvSpPr/>
          <p:nvPr/>
        </p:nvSpPr>
        <p:spPr>
          <a:xfrm>
            <a:off x="365760" y="2587752"/>
            <a:ext cx="4206240" cy="438912"/>
          </a:xfrm>
          <a:prstGeom prst="roundRect">
            <a:avLst>
              <a:gd name="adj" fmla="val 16667"/>
            </a:avLst>
          </a:prstGeom>
          <a:solidFill>
            <a:srgbClr val="2C2C2E"/>
          </a:solidFill>
          <a:ln w="12700">
            <a:solidFill>
              <a:srgbClr val="3A3A3C"/>
            </a:solidFill>
            <a:prstDash val="solid"/>
          </a:ln>
        </p:spPr>
      </p:sp>
      <p:sp>
        <p:nvSpPr>
          <p:cNvPr id="12" name="Text 10"/>
          <p:cNvSpPr txBox="1"/>
          <p:nvPr/>
        </p:nvSpPr>
        <p:spPr>
          <a:xfrm>
            <a:off x="548640" y="266090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Productividad disminuida — mayor costo de mano de obra</a:t>
            </a:r>
            <a:endParaRPr lang="en-US" sz="1100" dirty="0"/>
          </a:p>
        </p:txBody>
      </p:sp>
      <p:sp>
        <p:nvSpPr>
          <p:cNvPr id="13" name="Shape 11"/>
          <p:cNvSpPr/>
          <p:nvPr/>
        </p:nvSpPr>
        <p:spPr>
          <a:xfrm>
            <a:off x="365760" y="3090672"/>
            <a:ext cx="4206240" cy="438912"/>
          </a:xfrm>
          <a:prstGeom prst="roundRect">
            <a:avLst>
              <a:gd name="adj" fmla="val 16667"/>
            </a:avLst>
          </a:prstGeom>
          <a:solidFill>
            <a:srgbClr val="2C2C2E"/>
          </a:solidFill>
          <a:ln w="12700">
            <a:solidFill>
              <a:srgbClr val="3A3A3C"/>
            </a:solidFill>
            <a:prstDash val="solid"/>
          </a:ln>
        </p:spPr>
      </p:sp>
      <p:sp>
        <p:nvSpPr>
          <p:cNvPr id="14" name="Text 12"/>
          <p:cNvSpPr txBox="1"/>
          <p:nvPr/>
        </p:nvSpPr>
        <p:spPr>
          <a:xfrm>
            <a:off x="548640" y="316382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Doble manejo de materiales</a:t>
            </a:r>
            <a:endParaRPr lang="en-US" sz="1100" dirty="0"/>
          </a:p>
        </p:txBody>
      </p:sp>
      <p:sp>
        <p:nvSpPr>
          <p:cNvPr id="15" name="Shape 13"/>
          <p:cNvSpPr/>
          <p:nvPr/>
        </p:nvSpPr>
        <p:spPr>
          <a:xfrm>
            <a:off x="365760" y="3593592"/>
            <a:ext cx="4206240" cy="438912"/>
          </a:xfrm>
          <a:prstGeom prst="roundRect">
            <a:avLst>
              <a:gd name="adj" fmla="val 16667"/>
            </a:avLst>
          </a:prstGeom>
          <a:solidFill>
            <a:srgbClr val="2C2C2E"/>
          </a:solidFill>
          <a:ln w="12700">
            <a:solidFill>
              <a:srgbClr val="3A3A3C"/>
            </a:solidFill>
            <a:prstDash val="solid"/>
          </a:ln>
        </p:spPr>
      </p:sp>
      <p:sp>
        <p:nvSpPr>
          <p:cNvPr id="16" name="Text 14"/>
          <p:cNvSpPr txBox="1"/>
          <p:nvPr/>
        </p:nvSpPr>
        <p:spPr>
          <a:xfrm>
            <a:off x="548640" y="366674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Demolición y reconstrucción (retrabajo)</a:t>
            </a:r>
            <a:endParaRPr lang="en-US" sz="1100" dirty="0"/>
          </a:p>
        </p:txBody>
      </p:sp>
      <p:sp>
        <p:nvSpPr>
          <p:cNvPr id="17" name="Shape 15"/>
          <p:cNvSpPr/>
          <p:nvPr/>
        </p:nvSpPr>
        <p:spPr>
          <a:xfrm>
            <a:off x="4709160" y="2084832"/>
            <a:ext cx="4069080" cy="438912"/>
          </a:xfrm>
          <a:prstGeom prst="roundRect">
            <a:avLst>
              <a:gd name="adj" fmla="val 16667"/>
            </a:avLst>
          </a:prstGeom>
          <a:solidFill>
            <a:srgbClr val="2C2C2E"/>
          </a:solidFill>
          <a:ln w="12700">
            <a:solidFill>
              <a:srgbClr val="3A3A3C"/>
            </a:solidFill>
            <a:prstDash val="solid"/>
          </a:ln>
        </p:spPr>
      </p:sp>
      <p:sp>
        <p:nvSpPr>
          <p:cNvPr id="18" name="Text 16"/>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Sitios remotos o congestionados</a:t>
            </a:r>
            <a:endParaRPr lang="en-US" sz="1050" dirty="0"/>
          </a:p>
        </p:txBody>
      </p:sp>
      <p:sp>
        <p:nvSpPr>
          <p:cNvPr id="19" name="Shape 17"/>
          <p:cNvSpPr/>
          <p:nvPr/>
        </p:nvSpPr>
        <p:spPr>
          <a:xfrm>
            <a:off x="4709160" y="2084832"/>
            <a:ext cx="4069080" cy="438912"/>
          </a:xfrm>
          <a:prstGeom prst="roundRect">
            <a:avLst>
              <a:gd name="adj" fmla="val 16667"/>
            </a:avLst>
          </a:prstGeom>
          <a:solidFill>
            <a:srgbClr val="2C2C2E"/>
          </a:solidFill>
          <a:ln w="12700">
            <a:solidFill>
              <a:srgbClr val="3A3A3C"/>
            </a:solidFill>
            <a:prstDash val="solid"/>
          </a:ln>
        </p:spPr>
      </p:sp>
      <p:sp>
        <p:nvSpPr>
          <p:cNvPr id="20" name="Text 18"/>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Cargas grandes o pesadas</a:t>
            </a:r>
            <a:endParaRPr lang="en-US" sz="1050" dirty="0"/>
          </a:p>
        </p:txBody>
      </p:sp>
      <p:sp>
        <p:nvSpPr>
          <p:cNvPr id="21" name="Shape 19"/>
          <p:cNvSpPr/>
          <p:nvPr/>
        </p:nvSpPr>
        <p:spPr>
          <a:xfrm>
            <a:off x="4709160" y="2587752"/>
            <a:ext cx="4069080" cy="438912"/>
          </a:xfrm>
          <a:prstGeom prst="roundRect">
            <a:avLst>
              <a:gd name="adj" fmla="val 16667"/>
            </a:avLst>
          </a:prstGeom>
          <a:solidFill>
            <a:srgbClr val="2C2C2E"/>
          </a:solidFill>
          <a:ln w="12700">
            <a:solidFill>
              <a:srgbClr val="3A3A3C"/>
            </a:solidFill>
            <a:prstDash val="solid"/>
          </a:ln>
        </p:spPr>
      </p:sp>
      <p:sp>
        <p:nvSpPr>
          <p:cNvPr id="22" name="Text 20"/>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Restricciones de altura en carreteras</a:t>
            </a:r>
            <a:endParaRPr lang="en-US" sz="1050" dirty="0"/>
          </a:p>
        </p:txBody>
      </p:sp>
      <p:sp>
        <p:nvSpPr>
          <p:cNvPr id="23" name="Shape 21"/>
          <p:cNvSpPr/>
          <p:nvPr/>
        </p:nvSpPr>
        <p:spPr>
          <a:xfrm>
            <a:off x="4709160" y="2587752"/>
            <a:ext cx="4069080" cy="438912"/>
          </a:xfrm>
          <a:prstGeom prst="roundRect">
            <a:avLst>
              <a:gd name="adj" fmla="val 16667"/>
            </a:avLst>
          </a:prstGeom>
          <a:solidFill>
            <a:srgbClr val="2C2C2E"/>
          </a:solidFill>
          <a:ln w="12700">
            <a:solidFill>
              <a:srgbClr val="3A3A3C"/>
            </a:solidFill>
            <a:prstDash val="solid"/>
          </a:ln>
        </p:spPr>
      </p:sp>
      <p:sp>
        <p:nvSpPr>
          <p:cNvPr id="24" name="Text 22"/>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Pendientes pronunciadas</a:t>
            </a:r>
            <a:endParaRPr lang="en-US" sz="1050" dirty="0"/>
          </a:p>
        </p:txBody>
      </p:sp>
      <p:sp>
        <p:nvSpPr>
          <p:cNvPr id="25" name="Shape 23"/>
          <p:cNvSpPr/>
          <p:nvPr/>
        </p:nvSpPr>
        <p:spPr>
          <a:xfrm>
            <a:off x="4709160" y="3090672"/>
            <a:ext cx="4069080" cy="438912"/>
          </a:xfrm>
          <a:prstGeom prst="roundRect">
            <a:avLst>
              <a:gd name="adj" fmla="val 16667"/>
            </a:avLst>
          </a:prstGeom>
          <a:solidFill>
            <a:srgbClr val="2C2C2E"/>
          </a:solidFill>
          <a:ln w="12700">
            <a:solidFill>
              <a:srgbClr val="3A3A3C"/>
            </a:solidFill>
            <a:prstDash val="solid"/>
          </a:ln>
        </p:spPr>
      </p:sp>
      <p:sp>
        <p:nvSpPr>
          <p:cNvPr id="26" name="Text 24"/>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Operaciones concurrentes de la planta</a:t>
            </a:r>
            <a:endParaRPr lang="en-US" sz="1050" dirty="0"/>
          </a:p>
        </p:txBody>
      </p:sp>
      <p:sp>
        <p:nvSpPr>
          <p:cNvPr id="27" name="Shape 25"/>
          <p:cNvSpPr/>
          <p:nvPr/>
        </p:nvSpPr>
        <p:spPr>
          <a:xfrm>
            <a:off x="4709160" y="3090672"/>
            <a:ext cx="4069080" cy="438912"/>
          </a:xfrm>
          <a:prstGeom prst="roundRect">
            <a:avLst>
              <a:gd name="adj" fmla="val 16667"/>
            </a:avLst>
          </a:prstGeom>
          <a:solidFill>
            <a:srgbClr val="2C2C2E"/>
          </a:solidFill>
          <a:ln w="12700">
            <a:solidFill>
              <a:srgbClr val="3A3A3C"/>
            </a:solidFill>
            <a:prstDash val="solid"/>
          </a:ln>
        </p:spPr>
      </p:sp>
      <p:sp>
        <p:nvSpPr>
          <p:cNvPr id="28" name="Text 26"/>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Líneas eléctricas aéreas</a:t>
            </a:r>
            <a:endParaRPr lang="en-US" sz="1050" dirty="0"/>
          </a:p>
        </p:txBody>
      </p:sp>
      <p:sp>
        <p:nvSpPr>
          <p:cNvPr id="29" name="Shape 27"/>
          <p:cNvSpPr/>
          <p:nvPr/>
        </p:nvSpPr>
        <p:spPr>
          <a:xfrm>
            <a:off x="4709160" y="3593592"/>
            <a:ext cx="4069080" cy="438912"/>
          </a:xfrm>
          <a:prstGeom prst="roundRect">
            <a:avLst>
              <a:gd name="adj" fmla="val 16667"/>
            </a:avLst>
          </a:prstGeom>
          <a:solidFill>
            <a:srgbClr val="2C2C2E"/>
          </a:solidFill>
          <a:ln w="12700">
            <a:solidFill>
              <a:srgbClr val="3A3A3C"/>
            </a:solidFill>
            <a:prstDash val="solid"/>
          </a:ln>
        </p:spPr>
      </p:sp>
      <p:sp>
        <p:nvSpPr>
          <p:cNvPr id="30" name="Text 28"/>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Tabla freática alta o suelos débiles</a:t>
            </a:r>
            <a:endParaRPr lang="en-US" sz="1050" dirty="0"/>
          </a:p>
        </p:txBody>
      </p:sp>
      <p:sp>
        <p:nvSpPr>
          <p:cNvPr id="31" name="Shape 29"/>
          <p:cNvSpPr/>
          <p:nvPr/>
        </p:nvSpPr>
        <p:spPr>
          <a:xfrm>
            <a:off x="4709160" y="3593592"/>
            <a:ext cx="4069080" cy="438912"/>
          </a:xfrm>
          <a:prstGeom prst="roundRect">
            <a:avLst>
              <a:gd name="adj" fmla="val 16667"/>
            </a:avLst>
          </a:prstGeom>
          <a:solidFill>
            <a:srgbClr val="2C2C2E"/>
          </a:solidFill>
          <a:ln w="12700">
            <a:solidFill>
              <a:srgbClr val="3A3A3C"/>
            </a:solidFill>
            <a:prstDash val="solid"/>
          </a:ln>
        </p:spPr>
      </p:sp>
      <p:sp>
        <p:nvSpPr>
          <p:cNvPr id="32" name="Text 30"/>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Restricciones ambientales (flora, fauna)</a:t>
            </a:r>
            <a:endParaRPr lang="en-US" sz="1050" dirty="0"/>
          </a:p>
        </p:txBody>
      </p:sp>
      <p:sp>
        <p:nvSpPr>
          <p:cNvPr id="33" name="Text 31"/>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Soluciones: selección y configuración de componentes, secuenciamiento de actividades, análisis de logística y congestión, visualización 3D, planificación de instalaciones temporales.</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II-7: Diseño para Condiciones Climáticas Adversas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"Los diseños facilitan la construcción y la productividad de campo bajo condiciones climáticas adversas."</a:t>
            </a:r>
            <a:endParaRPr lang="en-US" sz="1500" dirty="0"/>
          </a:p>
        </p:txBody>
      </p:sp>
      <p:sp>
        <p:nvSpPr>
          <p:cNvPr id="7" name="Text 5"/>
          <p:cNvSpPr txBox="1"/>
          <p:nvPr/>
        </p:nvSpPr>
        <p:spPr>
          <a:xfrm>
            <a:off x="365760" y="1719072"/>
            <a:ext cx="8412480" cy="347472"/>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Pregunta clave: ¿Cómo puede el clima afectar adversamente tu proyecto? ¿Se puede hacer algo en diseño o procura para contrarrestarlo?</a:t>
            </a:r>
            <a:endParaRPr lang="en-US" sz="1300" dirty="0"/>
          </a:p>
        </p:txBody>
      </p:sp>
      <p:sp>
        <p:nvSpPr>
          <p:cNvPr id="8" name="Shape 6"/>
          <p:cNvSpPr/>
          <p:nvPr/>
        </p:nvSpPr>
        <p:spPr>
          <a:xfrm>
            <a:off x="365760" y="2148840"/>
            <a:ext cx="4206240" cy="667512"/>
          </a:xfrm>
          <a:prstGeom prst="roundRect">
            <a:avLst>
              <a:gd name="adj" fmla="val 10959"/>
            </a:avLst>
          </a:prstGeom>
          <a:solidFill>
            <a:srgbClr val="2C2C2E"/>
          </a:solidFill>
          <a:ln w="12700">
            <a:solidFill>
              <a:srgbClr val="3A3A3C"/>
            </a:solidFill>
            <a:prstDash val="solid"/>
          </a:ln>
        </p:spPr>
      </p:sp>
      <p:sp>
        <p:nvSpPr>
          <p:cNvPr id="9" name="Text 7"/>
          <p:cNvSpPr txBox="1"/>
          <p:nvPr/>
        </p:nvSpPr>
        <p:spPr>
          <a:xfrm>
            <a:off x="54864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Estructura temprana</a:t>
            </a:r>
            <a:endParaRPr lang="en-US" sz="1200" dirty="0"/>
          </a:p>
        </p:txBody>
      </p:sp>
      <p:sp>
        <p:nvSpPr>
          <p:cNvPr id="10" name="Text 8"/>
          <p:cNvSpPr txBox="1"/>
          <p:nvPr/>
        </p:nvSpPr>
        <p:spPr>
          <a:xfrm>
            <a:off x="548640" y="2468880"/>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Terminar en 1 temporada. Completar el cierre perimetral tempranamente para proteger trabajo interior.</a:t>
            </a:r>
            <a:endParaRPr lang="en-US" sz="1000" dirty="0"/>
          </a:p>
        </p:txBody>
      </p:sp>
      <p:sp>
        <p:nvSpPr>
          <p:cNvPr id="11" name="Shape 9"/>
          <p:cNvSpPr/>
          <p:nvPr/>
        </p:nvSpPr>
        <p:spPr>
          <a:xfrm>
            <a:off x="4754880" y="2148840"/>
            <a:ext cx="4206240" cy="667512"/>
          </a:xfrm>
          <a:prstGeom prst="roundRect">
            <a:avLst>
              <a:gd name="adj" fmla="val 10959"/>
            </a:avLst>
          </a:prstGeom>
          <a:solidFill>
            <a:srgbClr val="2C2C2E"/>
          </a:solidFill>
          <a:ln w="12700">
            <a:solidFill>
              <a:srgbClr val="3A3A3C"/>
            </a:solidFill>
            <a:prstDash val="solid"/>
          </a:ln>
        </p:spPr>
      </p:sp>
      <p:sp>
        <p:nvSpPr>
          <p:cNvPr id="12" name="Text 10"/>
          <p:cNvSpPr txBox="1"/>
          <p:nvPr/>
        </p:nvSpPr>
        <p:spPr>
          <a:xfrm>
            <a:off x="493776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Trabajo en taller</a:t>
            </a:r>
            <a:endParaRPr lang="en-US" sz="1200" dirty="0"/>
          </a:p>
        </p:txBody>
      </p:sp>
      <p:sp>
        <p:nvSpPr>
          <p:cNvPr id="13" name="Text 11"/>
          <p:cNvSpPr txBox="1"/>
          <p:nvPr/>
        </p:nvSpPr>
        <p:spPr>
          <a:xfrm>
            <a:off x="4937760" y="2468880"/>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Modularización y pre-ensamble fuera del sitio. Los módulos se instalan en obra en tiempos cortos.</a:t>
            </a:r>
            <a:endParaRPr lang="en-US" sz="1000" dirty="0"/>
          </a:p>
        </p:txBody>
      </p:sp>
      <p:sp>
        <p:nvSpPr>
          <p:cNvPr id="14" name="Shape 12"/>
          <p:cNvSpPr/>
          <p:nvPr/>
        </p:nvSpPr>
        <p:spPr>
          <a:xfrm>
            <a:off x="365760" y="2898648"/>
            <a:ext cx="4206240" cy="667512"/>
          </a:xfrm>
          <a:prstGeom prst="roundRect">
            <a:avLst>
              <a:gd name="adj" fmla="val 10959"/>
            </a:avLst>
          </a:prstGeom>
          <a:solidFill>
            <a:srgbClr val="2C2C2E"/>
          </a:solidFill>
          <a:ln w="12700">
            <a:solidFill>
              <a:srgbClr val="3A3A3C"/>
            </a:solidFill>
            <a:prstDash val="solid"/>
          </a:ln>
        </p:spPr>
      </p:sp>
      <p:sp>
        <p:nvSpPr>
          <p:cNvPr id="15" name="Text 13"/>
          <p:cNvSpPr txBox="1"/>
          <p:nvPr/>
        </p:nvSpPr>
        <p:spPr>
          <a:xfrm>
            <a:off x="54864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Sistemas sensibles</a:t>
            </a:r>
            <a:endParaRPr lang="en-US" sz="1200" dirty="0"/>
          </a:p>
        </p:txBody>
      </p:sp>
      <p:sp>
        <p:nvSpPr>
          <p:cNvPr id="16" name="Text 14"/>
          <p:cNvSpPr txBox="1"/>
          <p:nvPr/>
        </p:nvSpPr>
        <p:spPr>
          <a:xfrm>
            <a:off x="548640" y="321868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Evitar usar sistemas sensibles a temperatura y humedad en zonas expuestas hasta que la estructura esté cerrada.</a:t>
            </a:r>
            <a:endParaRPr lang="en-US" sz="1000" dirty="0"/>
          </a:p>
        </p:txBody>
      </p:sp>
      <p:sp>
        <p:nvSpPr>
          <p:cNvPr id="17" name="Shape 15"/>
          <p:cNvSpPr/>
          <p:nvPr/>
        </p:nvSpPr>
        <p:spPr>
          <a:xfrm>
            <a:off x="4754880" y="2898648"/>
            <a:ext cx="4206240" cy="667512"/>
          </a:xfrm>
          <a:prstGeom prst="roundRect">
            <a:avLst>
              <a:gd name="adj" fmla="val 10959"/>
            </a:avLst>
          </a:prstGeom>
          <a:solidFill>
            <a:srgbClr val="2C2C2E"/>
          </a:solidFill>
          <a:ln w="12700">
            <a:solidFill>
              <a:srgbClr val="3A3A3C"/>
            </a:solidFill>
            <a:prstDash val="solid"/>
          </a:ln>
        </p:spPr>
      </p:sp>
      <p:sp>
        <p:nvSpPr>
          <p:cNvPr id="18" name="Text 16"/>
          <p:cNvSpPr txBox="1"/>
          <p:nvPr/>
        </p:nvSpPr>
        <p:spPr>
          <a:xfrm>
            <a:off x="493776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Losas selladas</a:t>
            </a:r>
            <a:endParaRPr lang="en-US" sz="1200" dirty="0"/>
          </a:p>
        </p:txBody>
      </p:sp>
      <p:sp>
        <p:nvSpPr>
          <p:cNvPr id="19" name="Text 17"/>
          <p:cNvSpPr txBox="1"/>
          <p:nvPr/>
        </p:nvSpPr>
        <p:spPr>
          <a:xfrm>
            <a:off x="4937760" y="321868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Sellar losas y pisos de concreto tempranamente para reducir humedad interior y permitir trabajo en cualquier clima.</a:t>
            </a:r>
            <a:endParaRPr lang="en-US" sz="1000" dirty="0"/>
          </a:p>
        </p:txBody>
      </p:sp>
      <p:sp>
        <p:nvSpPr>
          <p:cNvPr id="20" name="Shape 18"/>
          <p:cNvSpPr/>
          <p:nvPr/>
        </p:nvSpPr>
        <p:spPr>
          <a:xfrm>
            <a:off x="365760" y="3648456"/>
            <a:ext cx="4206240" cy="667512"/>
          </a:xfrm>
          <a:prstGeom prst="roundRect">
            <a:avLst>
              <a:gd name="adj" fmla="val 10959"/>
            </a:avLst>
          </a:prstGeom>
          <a:solidFill>
            <a:srgbClr val="2C2C2E"/>
          </a:solidFill>
          <a:ln w="12700">
            <a:solidFill>
              <a:srgbClr val="3A3A3C"/>
            </a:solidFill>
            <a:prstDash val="solid"/>
          </a:ln>
        </p:spPr>
      </p:sp>
      <p:sp>
        <p:nvSpPr>
          <p:cNvPr id="21" name="Text 19"/>
          <p:cNvSpPr txBox="1"/>
          <p:nvPr/>
        </p:nvSpPr>
        <p:spPr>
          <a:xfrm>
            <a:off x="54864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Pavimento temprano</a:t>
            </a:r>
            <a:endParaRPr lang="en-US" sz="1200" dirty="0"/>
          </a:p>
        </p:txBody>
      </p:sp>
      <p:sp>
        <p:nvSpPr>
          <p:cNvPr id="22" name="Text 20"/>
          <p:cNvSpPr txBox="1"/>
          <p:nvPr/>
        </p:nvSpPr>
        <p:spPr>
          <a:xfrm>
            <a:off x="548640" y="3968496"/>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Pavimentación temprana de accesos y áreas de trabajo. Reduce barro y mejora acceso de equipos.</a:t>
            </a:r>
            <a:endParaRPr lang="en-US" sz="1000" dirty="0"/>
          </a:p>
        </p:txBody>
      </p:sp>
      <p:sp>
        <p:nvSpPr>
          <p:cNvPr id="23" name="Shape 21"/>
          <p:cNvSpPr/>
          <p:nvPr/>
        </p:nvSpPr>
        <p:spPr>
          <a:xfrm>
            <a:off x="4754880" y="3648456"/>
            <a:ext cx="4206240" cy="667512"/>
          </a:xfrm>
          <a:prstGeom prst="roundRect">
            <a:avLst>
              <a:gd name="adj" fmla="val 10959"/>
            </a:avLst>
          </a:prstGeom>
          <a:solidFill>
            <a:srgbClr val="2C2C2E"/>
          </a:solidFill>
          <a:ln w="12700">
            <a:solidFill>
              <a:srgbClr val="3A3A3C"/>
            </a:solidFill>
            <a:prstDash val="solid"/>
          </a:ln>
        </p:spPr>
      </p:sp>
      <p:sp>
        <p:nvSpPr>
          <p:cNvPr id="24" name="Text 22"/>
          <p:cNvSpPr txBox="1"/>
          <p:nvPr/>
        </p:nvSpPr>
        <p:spPr>
          <a:xfrm>
            <a:off x="493776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Drenaje temprano</a:t>
            </a:r>
            <a:endParaRPr lang="en-US" sz="1200" dirty="0"/>
          </a:p>
        </p:txBody>
      </p:sp>
      <p:sp>
        <p:nvSpPr>
          <p:cNvPr id="25" name="Text 23"/>
          <p:cNvSpPr txBox="1"/>
          <p:nvPr/>
        </p:nvSpPr>
        <p:spPr>
          <a:xfrm>
            <a:off x="4937760" y="3968496"/>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Sistema de drenaje instalado en las primeras fases. Previene inundaciones de áreas de trabajo.</a:t>
            </a:r>
            <a:endParaRPr lang="en-US" sz="1000" dirty="0"/>
          </a:p>
        </p:txBody>
      </p:sp>
      <p:sp>
        <p:nvSpPr>
          <p:cNvPr id="26" name="Shape 24"/>
          <p:cNvSpPr/>
          <p:nvPr/>
        </p:nvSpPr>
        <p:spPr>
          <a:xfrm>
            <a:off x="365760" y="4398264"/>
            <a:ext cx="4206240" cy="667512"/>
          </a:xfrm>
          <a:prstGeom prst="roundRect">
            <a:avLst>
              <a:gd name="adj" fmla="val 10959"/>
            </a:avLst>
          </a:prstGeom>
          <a:solidFill>
            <a:srgbClr val="2C2C2E"/>
          </a:solidFill>
          <a:ln w="12700">
            <a:solidFill>
              <a:srgbClr val="3A3A3C"/>
            </a:solidFill>
            <a:prstDash val="solid"/>
          </a:ln>
        </p:spPr>
      </p:sp>
      <p:sp>
        <p:nvSpPr>
          <p:cNvPr id="27" name="Text 25"/>
          <p:cNvSpPr txBox="1"/>
          <p:nvPr/>
        </p:nvSpPr>
        <p:spPr>
          <a:xfrm>
            <a:off x="54864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Concreto especial</a:t>
            </a:r>
            <a:endParaRPr lang="en-US" sz="1200" dirty="0"/>
          </a:p>
        </p:txBody>
      </p:sp>
      <p:sp>
        <p:nvSpPr>
          <p:cNvPr id="28" name="Text 26"/>
          <p:cNvSpPr txBox="1"/>
          <p:nvPr/>
        </p:nvSpPr>
        <p:spPr>
          <a:xfrm>
            <a:off x="548640" y="4718304"/>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Concreto de calor y frío para condiciones extremas. Aditivos apropiados para temperatura ambiente.</a:t>
            </a:r>
            <a:endParaRPr lang="en-US" sz="1000" dirty="0"/>
          </a:p>
        </p:txBody>
      </p:sp>
      <p:sp>
        <p:nvSpPr>
          <p:cNvPr id="29" name="Shape 27"/>
          <p:cNvSpPr/>
          <p:nvPr/>
        </p:nvSpPr>
        <p:spPr>
          <a:xfrm>
            <a:off x="4754880" y="4398264"/>
            <a:ext cx="4206240" cy="667512"/>
          </a:xfrm>
          <a:prstGeom prst="roundRect">
            <a:avLst>
              <a:gd name="adj" fmla="val 10959"/>
            </a:avLst>
          </a:prstGeom>
          <a:solidFill>
            <a:srgbClr val="2C2C2E"/>
          </a:solidFill>
          <a:ln w="12700">
            <a:solidFill>
              <a:srgbClr val="3A3A3C"/>
            </a:solidFill>
            <a:prstDash val="solid"/>
          </a:ln>
        </p:spPr>
      </p:sp>
      <p:sp>
        <p:nvSpPr>
          <p:cNvPr id="30" name="Text 28"/>
          <p:cNvSpPr txBox="1"/>
          <p:nvPr/>
        </p:nvSpPr>
        <p:spPr>
          <a:xfrm>
            <a:off x="493776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Iluminación permanente</a:t>
            </a:r>
            <a:endParaRPr lang="en-US" sz="1200" dirty="0"/>
          </a:p>
        </p:txBody>
      </p:sp>
      <p:sp>
        <p:nvSpPr>
          <p:cNvPr id="31" name="Text 29"/>
          <p:cNvSpPr txBox="1"/>
          <p:nvPr/>
        </p:nvSpPr>
        <p:spPr>
          <a:xfrm>
            <a:off x="4937760" y="4718304"/>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Usar instalaciones permanentes para construcción temporal. Reduce costos de instalaciones temporales.</a:t>
            </a:r>
            <a:endParaRPr lang="en-US" sz="10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II-8: Seguridad del Proyecto en el Diseño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6667"/>
            </a:avLst>
          </a:prstGeom>
          <a:solidFill>
            <a:srgbClr val="2C2C2E"/>
          </a:solidFill>
          <a:ln w="12700">
            <a:solidFill>
              <a:srgbClr val="FF453A"/>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500" i="1" dirty="0">
                <a:solidFill>
                  <a:srgbClr val="FFFFFF"/>
                </a:solidFill>
                <a:latin typeface="Atkinson Hyperlegible" pitchFamily="34" charset="0"/>
                <a:ea typeface="Atkinson Hyperlegible" pitchFamily="34" charset="-122"/>
                <a:cs typeface="Atkinson Hyperlegible" pitchFamily="34" charset="-120"/>
              </a:rPr>
              <a:t>"Los planes del proyecto mejoran la seguridad durante la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4 Áreas de Planificación de Seguridad:</a:t>
            </a:r>
            <a:endParaRPr lang="en-US" sz="1300" dirty="0"/>
          </a:p>
        </p:txBody>
      </p:sp>
      <p:sp>
        <p:nvSpPr>
          <p:cNvPr id="8" name="Shape 6"/>
          <p:cNvSpPr/>
          <p:nvPr/>
        </p:nvSpPr>
        <p:spPr>
          <a:xfrm>
            <a:off x="365760" y="2084832"/>
            <a:ext cx="4206240" cy="1298448"/>
          </a:xfrm>
          <a:prstGeom prst="roundRect">
            <a:avLst>
              <a:gd name="adj" fmla="val 8451"/>
            </a:avLst>
          </a:prstGeom>
          <a:solidFill>
            <a:srgbClr val="2C2C2E"/>
          </a:solidFill>
          <a:ln w="12700">
            <a:solidFill>
              <a:srgbClr val="FF453A"/>
            </a:solidFill>
            <a:prstDash val="solid"/>
          </a:ln>
        </p:spPr>
      </p:sp>
      <p:sp>
        <p:nvSpPr>
          <p:cNvPr id="9" name="Text 7"/>
          <p:cNvSpPr txBox="1"/>
          <p:nvPr/>
        </p:nvSpPr>
        <p:spPr>
          <a:xfrm>
            <a:off x="548640" y="2157984"/>
            <a:ext cx="3840480" cy="365760"/>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Evaluación de Vulnerabilidades</a:t>
            </a:r>
            <a:endParaRPr lang="en-US" sz="1400" dirty="0"/>
          </a:p>
        </p:txBody>
      </p:sp>
      <p:sp>
        <p:nvSpPr>
          <p:cNvPr id="10" name="Text 8"/>
          <p:cNvSpPr txBox="1"/>
          <p:nvPr/>
        </p:nvSpPr>
        <p:spPr>
          <a:xfrm>
            <a:off x="548640" y="2542032"/>
            <a:ext cx="3840480" cy="7772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Identificar vulnerabilidades del proyecto ante amenazas físicas, cibernéticas y humanas. Análisis de riesgo estructurado antes de comenzar el diseño.</a:t>
            </a:r>
            <a:endParaRPr lang="en-US" sz="1100" dirty="0"/>
          </a:p>
        </p:txBody>
      </p:sp>
      <p:sp>
        <p:nvSpPr>
          <p:cNvPr id="11" name="Shape 9"/>
          <p:cNvSpPr/>
          <p:nvPr/>
        </p:nvSpPr>
        <p:spPr>
          <a:xfrm>
            <a:off x="4754880" y="2084832"/>
            <a:ext cx="4206240" cy="1298448"/>
          </a:xfrm>
          <a:prstGeom prst="roundRect">
            <a:avLst>
              <a:gd name="adj" fmla="val 8451"/>
            </a:avLst>
          </a:prstGeom>
          <a:solidFill>
            <a:srgbClr val="2C2C2E"/>
          </a:solidFill>
          <a:ln w="12700">
            <a:solidFill>
              <a:srgbClr val="FF9500"/>
            </a:solidFill>
            <a:prstDash val="solid"/>
          </a:ln>
        </p:spPr>
      </p:sp>
      <p:sp>
        <p:nvSpPr>
          <p:cNvPr id="12" name="Text 10"/>
          <p:cNvSpPr txBox="1"/>
          <p:nvPr/>
        </p:nvSpPr>
        <p:spPr>
          <a:xfrm>
            <a:off x="4937760" y="2157984"/>
            <a:ext cx="3840480" cy="365760"/>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Seguridad del Sitio</a:t>
            </a:r>
            <a:endParaRPr lang="en-US" sz="1400" dirty="0"/>
          </a:p>
        </p:txBody>
      </p:sp>
      <p:sp>
        <p:nvSpPr>
          <p:cNvPr id="13" name="Text 11"/>
          <p:cNvSpPr txBox="1"/>
          <p:nvPr/>
        </p:nvSpPr>
        <p:spPr>
          <a:xfrm>
            <a:off x="4937760" y="2542032"/>
            <a:ext cx="3840480" cy="7772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Cerco perimetral, control de accesos, iluminación de seguridad, sistemas CCTV. Planificado desde el inicio del diseño del sitio.</a:t>
            </a:r>
            <a:endParaRPr lang="en-US" sz="1100" dirty="0"/>
          </a:p>
        </p:txBody>
      </p:sp>
      <p:sp>
        <p:nvSpPr>
          <p:cNvPr id="14" name="Shape 12"/>
          <p:cNvSpPr/>
          <p:nvPr/>
        </p:nvSpPr>
        <p:spPr>
          <a:xfrm>
            <a:off x="365760" y="3502152"/>
            <a:ext cx="4206240" cy="1298448"/>
          </a:xfrm>
          <a:prstGeom prst="roundRect">
            <a:avLst>
              <a:gd name="adj" fmla="val 8451"/>
            </a:avLst>
          </a:prstGeom>
          <a:solidFill>
            <a:srgbClr val="2C2C2E"/>
          </a:solidFill>
          <a:ln w="12700">
            <a:solidFill>
              <a:srgbClr val="FFD60A"/>
            </a:solidFill>
            <a:prstDash val="solid"/>
          </a:ln>
        </p:spPr>
      </p:sp>
      <p:sp>
        <p:nvSpPr>
          <p:cNvPr id="15" name="Text 13"/>
          <p:cNvSpPr txBox="1"/>
          <p:nvPr/>
        </p:nvSpPr>
        <p:spPr>
          <a:xfrm>
            <a:off x="548640" y="3575304"/>
            <a:ext cx="3840480" cy="365760"/>
          </a:xfrm>
          <a:prstGeom prst="rect">
            <a:avLst/>
          </a:prstGeom>
          <a:noFill/>
          <a:ln/>
        </p:spPr>
        <p:txBody>
          <a:bodyPr wrap="square" lIns="0" tIns="0" rIns="0" bIns="0" rtlCol="0" anchor="ctr"/>
          <a:lstStyle/>
          <a:p>
            <a:pPr indent="0" marL="0">
              <a:buNone/>
            </a:pPr>
            <a:r>
              <a:rPr lang="en-US" sz="1400" b="1" dirty="0">
                <a:solidFill>
                  <a:srgbClr val="FFD60A"/>
                </a:solidFill>
                <a:latin typeface="Atkinson Hyperlegible" pitchFamily="34" charset="0"/>
                <a:ea typeface="Atkinson Hyperlegible" pitchFamily="34" charset="-122"/>
                <a:cs typeface="Atkinson Hyperlegible" pitchFamily="34" charset="-120"/>
              </a:rPr>
              <a:t>Investigación de Personal</a:t>
            </a:r>
            <a:endParaRPr lang="en-US" sz="1400" dirty="0"/>
          </a:p>
        </p:txBody>
      </p:sp>
      <p:sp>
        <p:nvSpPr>
          <p:cNvPr id="16" name="Text 14"/>
          <p:cNvSpPr txBox="1"/>
          <p:nvPr/>
        </p:nvSpPr>
        <p:spPr>
          <a:xfrm>
            <a:off x="548640" y="3959352"/>
            <a:ext cx="3840480" cy="7772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Verificación de antecedentes del personal del proyecto, especialmente en infraestructura crítica. Gestión de identificación en campo.</a:t>
            </a:r>
            <a:endParaRPr lang="en-US" sz="1100" dirty="0"/>
          </a:p>
        </p:txBody>
      </p:sp>
      <p:sp>
        <p:nvSpPr>
          <p:cNvPr id="17" name="Shape 15"/>
          <p:cNvSpPr/>
          <p:nvPr/>
        </p:nvSpPr>
        <p:spPr>
          <a:xfrm>
            <a:off x="4754880" y="3502152"/>
            <a:ext cx="4206240" cy="1298448"/>
          </a:xfrm>
          <a:prstGeom prst="roundRect">
            <a:avLst>
              <a:gd name="adj" fmla="val 8451"/>
            </a:avLst>
          </a:prstGeom>
          <a:solidFill>
            <a:srgbClr val="2C2C2E"/>
          </a:solidFill>
          <a:ln w="12700">
            <a:solidFill>
              <a:srgbClr val="0A84FF"/>
            </a:solidFill>
            <a:prstDash val="solid"/>
          </a:ln>
        </p:spPr>
      </p:sp>
      <p:sp>
        <p:nvSpPr>
          <p:cNvPr id="18" name="Text 16"/>
          <p:cNvSpPr txBox="1"/>
          <p:nvPr/>
        </p:nvSpPr>
        <p:spPr>
          <a:xfrm>
            <a:off x="4937760" y="3575304"/>
            <a:ext cx="3840480" cy="365760"/>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Seguridad IT y Documentos</a:t>
            </a:r>
            <a:endParaRPr lang="en-US" sz="1400" dirty="0"/>
          </a:p>
        </p:txBody>
      </p:sp>
      <p:sp>
        <p:nvSpPr>
          <p:cNvPr id="19" name="Text 17"/>
          <p:cNvSpPr txBox="1"/>
          <p:nvPr/>
        </p:nvSpPr>
        <p:spPr>
          <a:xfrm>
            <a:off x="4937760" y="3959352"/>
            <a:ext cx="3840480" cy="7772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Protección de planos, especificaciones y datos del proyecto. Ciberseguridad en sistemas de diseño y comunicación.</a:t>
            </a:r>
            <a:endParaRPr lang="en-US" sz="1100" dirty="0"/>
          </a:p>
        </p:txBody>
      </p:sp>
      <p:sp>
        <p:nvSpPr>
          <p:cNvPr id="20" name="Text 18"/>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Tácticas adicionales: selección cuidadosa del sitio, "endurecimiento" del diseño, protección temporal de componentes vulnerables, detalles a prueba de sabotaje, controles durante fabricación y transporte fuera del sitio.</a:t>
            </a:r>
            <a:endParaRPr lang="en-US" sz="100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2C2C2E"/>
                </a:solidFill>
                <a:latin typeface="Atkinson Hyperlegible" pitchFamily="34" charset="0"/>
                <a:ea typeface="Atkinson Hyperlegible" pitchFamily="34" charset="-122"/>
                <a:cs typeface="Atkinson Hyperlegible" pitchFamily="34" charset="-120"/>
              </a:rPr>
              <a:t>05</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Atkinson Hyperlegible" pitchFamily="34" charset="0"/>
                <a:ea typeface="Atkinson Hyperlegible" pitchFamily="34" charset="-122"/>
                <a:cs typeface="Atkinson Hyperlegible" pitchFamily="34" charset="-120"/>
              </a:rPr>
              <a:t>Conceptos Fase III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8E8E93"/>
                </a:solidFill>
                <a:latin typeface="Atkinson Hyperlegible" pitchFamily="34" charset="0"/>
                <a:ea typeface="Atkinson Hyperlegible" pitchFamily="34" charset="-122"/>
                <a:cs typeface="Atkinson Hyperlegible" pitchFamily="34" charset="-120"/>
              </a:rPr>
              <a:t>Operaciones de Campo — Innovaciones del Constructor</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Concepto III-1: Métodos Innovadores de Gestión y Construcción en Campo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777240"/>
          </a:xfrm>
          <a:prstGeom prst="roundRect">
            <a:avLst>
              <a:gd name="adj" fmla="val 14118"/>
            </a:avLst>
          </a:prstGeom>
          <a:solidFill>
            <a:srgbClr val="2C2C2E"/>
          </a:solidFill>
          <a:ln w="12700">
            <a:solidFill>
              <a:srgbClr val="30D158"/>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400" i="1" dirty="0">
                <a:solidFill>
                  <a:srgbClr val="FFFFFF"/>
                </a:solidFill>
                <a:latin typeface="Atkinson Hyperlegible" pitchFamily="34" charset="0"/>
                <a:ea typeface="Atkinson Hyperlegible" pitchFamily="34" charset="-122"/>
                <a:cs typeface="Atkinson Hyperlegible" pitchFamily="34" charset="-120"/>
              </a:rPr>
              <a:t>"Métodos innovadores de gestión de la construcción y métodos de campo se aplican para aumentar la eficiencia de la construcción."</a:t>
            </a:r>
            <a:endParaRPr lang="en-US" sz="14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Los constructores, actuando solos, pueden mejorar la constructabilidad mediante pequeñas ideas que se acumulan:</a:t>
            </a:r>
            <a:endParaRPr lang="en-US" sz="1300" dirty="0"/>
          </a:p>
        </p:txBody>
      </p:sp>
      <p:sp>
        <p:nvSpPr>
          <p:cNvPr id="8" name="Shape 6"/>
          <p:cNvSpPr/>
          <p:nvPr/>
        </p:nvSpPr>
        <p:spPr>
          <a:xfrm>
            <a:off x="365760" y="2212848"/>
            <a:ext cx="4206240" cy="841248"/>
          </a:xfrm>
          <a:prstGeom prst="roundRect">
            <a:avLst>
              <a:gd name="adj" fmla="val 10870"/>
            </a:avLst>
          </a:prstGeom>
          <a:solidFill>
            <a:srgbClr val="2C2C2E"/>
          </a:solidFill>
          <a:ln w="12700">
            <a:solidFill>
              <a:srgbClr val="3A3A3C"/>
            </a:solidFill>
            <a:prstDash val="solid"/>
          </a:ln>
        </p:spPr>
      </p:sp>
      <p:sp>
        <p:nvSpPr>
          <p:cNvPr id="9" name="Shape 7"/>
          <p:cNvSpPr/>
          <p:nvPr/>
        </p:nvSpPr>
        <p:spPr>
          <a:xfrm>
            <a:off x="365760" y="2212848"/>
            <a:ext cx="64008" cy="841248"/>
          </a:xfrm>
          <a:prstGeom prst="rect">
            <a:avLst/>
          </a:prstGeom>
          <a:solidFill>
            <a:srgbClr val="30D158"/>
          </a:solidFill>
          <a:ln/>
        </p:spPr>
      </p:sp>
      <p:sp>
        <p:nvSpPr>
          <p:cNvPr id="10" name="Text 8"/>
          <p:cNvSpPr txBox="1"/>
          <p:nvPr/>
        </p:nvSpPr>
        <p:spPr>
          <a:xfrm>
            <a:off x="566928" y="2286000"/>
            <a:ext cx="3749040" cy="30175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Secuenciación Detallada de Tareas</a:t>
            </a:r>
            <a:endParaRPr lang="en-US" sz="1300" dirty="0"/>
          </a:p>
        </p:txBody>
      </p:sp>
      <p:sp>
        <p:nvSpPr>
          <p:cNvPr id="11" name="Text 9"/>
          <p:cNvSpPr txBox="1"/>
          <p:nvPr/>
        </p:nvSpPr>
        <p:spPr>
          <a:xfrm>
            <a:off x="566928" y="2596896"/>
            <a:ext cx="3749040" cy="402336"/>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Planificación microdetallada de actividades: orden de operaciones, frentes de trabajo, interdependencias de cuadrillas. "Workface Planning".</a:t>
            </a:r>
            <a:endParaRPr lang="en-US" sz="1050" dirty="0"/>
          </a:p>
        </p:txBody>
      </p:sp>
      <p:sp>
        <p:nvSpPr>
          <p:cNvPr id="12" name="Shape 10"/>
          <p:cNvSpPr/>
          <p:nvPr/>
        </p:nvSpPr>
        <p:spPr>
          <a:xfrm>
            <a:off x="4754880" y="2212848"/>
            <a:ext cx="4206240" cy="841248"/>
          </a:xfrm>
          <a:prstGeom prst="roundRect">
            <a:avLst>
              <a:gd name="adj" fmla="val 10870"/>
            </a:avLst>
          </a:prstGeom>
          <a:solidFill>
            <a:srgbClr val="2C2C2E"/>
          </a:solidFill>
          <a:ln w="12700">
            <a:solidFill>
              <a:srgbClr val="3A3A3C"/>
            </a:solidFill>
            <a:prstDash val="solid"/>
          </a:ln>
        </p:spPr>
      </p:sp>
      <p:sp>
        <p:nvSpPr>
          <p:cNvPr id="13" name="Shape 11"/>
          <p:cNvSpPr/>
          <p:nvPr/>
        </p:nvSpPr>
        <p:spPr>
          <a:xfrm>
            <a:off x="4754880" y="2212848"/>
            <a:ext cx="64008" cy="841248"/>
          </a:xfrm>
          <a:prstGeom prst="rect">
            <a:avLst/>
          </a:prstGeom>
          <a:solidFill>
            <a:srgbClr val="0A84FF"/>
          </a:solidFill>
          <a:ln/>
        </p:spPr>
      </p:sp>
      <p:sp>
        <p:nvSpPr>
          <p:cNvPr id="14" name="Text 12"/>
          <p:cNvSpPr txBox="1"/>
          <p:nvPr/>
        </p:nvSpPr>
        <p:spPr>
          <a:xfrm>
            <a:off x="4956048" y="2286000"/>
            <a:ext cx="3749040" cy="30175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Materiales y Sistemas Temporales</a:t>
            </a:r>
            <a:endParaRPr lang="en-US" sz="1300" dirty="0"/>
          </a:p>
        </p:txBody>
      </p:sp>
      <p:sp>
        <p:nvSpPr>
          <p:cNvPr id="15" name="Text 13"/>
          <p:cNvSpPr txBox="1"/>
          <p:nvPr/>
        </p:nvSpPr>
        <p:spPr>
          <a:xfrm>
            <a:off x="4956048" y="2596896"/>
            <a:ext cx="3749040" cy="402336"/>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Selección óptima de materiales de construcción temporal: encofrados reutilizables, estructuras desmontables, protecciones de trabajo en altura.</a:t>
            </a:r>
            <a:endParaRPr lang="en-US" sz="1050" dirty="0"/>
          </a:p>
        </p:txBody>
      </p:sp>
      <p:sp>
        <p:nvSpPr>
          <p:cNvPr id="16" name="Shape 14"/>
          <p:cNvSpPr/>
          <p:nvPr/>
        </p:nvSpPr>
        <p:spPr>
          <a:xfrm>
            <a:off x="365760" y="3172968"/>
            <a:ext cx="4206240" cy="841248"/>
          </a:xfrm>
          <a:prstGeom prst="roundRect">
            <a:avLst>
              <a:gd name="adj" fmla="val 10870"/>
            </a:avLst>
          </a:prstGeom>
          <a:solidFill>
            <a:srgbClr val="2C2C2E"/>
          </a:solidFill>
          <a:ln w="12700">
            <a:solidFill>
              <a:srgbClr val="3A3A3C"/>
            </a:solidFill>
            <a:prstDash val="solid"/>
          </a:ln>
        </p:spPr>
      </p:sp>
      <p:sp>
        <p:nvSpPr>
          <p:cNvPr id="17" name="Shape 15"/>
          <p:cNvSpPr/>
          <p:nvPr/>
        </p:nvSpPr>
        <p:spPr>
          <a:xfrm>
            <a:off x="365760" y="3172968"/>
            <a:ext cx="64008" cy="841248"/>
          </a:xfrm>
          <a:prstGeom prst="rect">
            <a:avLst/>
          </a:prstGeom>
          <a:solidFill>
            <a:srgbClr val="FF9500"/>
          </a:solidFill>
          <a:ln/>
        </p:spPr>
      </p:sp>
      <p:sp>
        <p:nvSpPr>
          <p:cNvPr id="18" name="Text 16"/>
          <p:cNvSpPr txBox="1"/>
          <p:nvPr/>
        </p:nvSpPr>
        <p:spPr>
          <a:xfrm>
            <a:off x="566928" y="3246120"/>
            <a:ext cx="3749040" cy="30175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Manuales Optimizadas</a:t>
            </a:r>
            <a:endParaRPr lang="en-US" sz="1300" dirty="0"/>
          </a:p>
        </p:txBody>
      </p:sp>
      <p:sp>
        <p:nvSpPr>
          <p:cNvPr id="19" name="Text 17"/>
          <p:cNvSpPr txBox="1"/>
          <p:nvPr/>
        </p:nvSpPr>
        <p:spPr>
          <a:xfrm>
            <a:off x="566928" y="3557016"/>
            <a:ext cx="3749040" cy="402336"/>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Herramientas ergonómicas y especializadas para reducir tiempo y esfuerzo. Llaves hidráulicas, robots de soldadura portátiles, scanners.</a:t>
            </a:r>
            <a:endParaRPr lang="en-US" sz="1050" dirty="0"/>
          </a:p>
        </p:txBody>
      </p:sp>
      <p:sp>
        <p:nvSpPr>
          <p:cNvPr id="20" name="Shape 18"/>
          <p:cNvSpPr/>
          <p:nvPr/>
        </p:nvSpPr>
        <p:spPr>
          <a:xfrm>
            <a:off x="4754880" y="3172968"/>
            <a:ext cx="4206240" cy="841248"/>
          </a:xfrm>
          <a:prstGeom prst="roundRect">
            <a:avLst>
              <a:gd name="adj" fmla="val 10870"/>
            </a:avLst>
          </a:prstGeom>
          <a:solidFill>
            <a:srgbClr val="2C2C2E"/>
          </a:solidFill>
          <a:ln w="12700">
            <a:solidFill>
              <a:srgbClr val="3A3A3C"/>
            </a:solidFill>
            <a:prstDash val="solid"/>
          </a:ln>
        </p:spPr>
      </p:sp>
      <p:sp>
        <p:nvSpPr>
          <p:cNvPr id="21" name="Shape 19"/>
          <p:cNvSpPr/>
          <p:nvPr/>
        </p:nvSpPr>
        <p:spPr>
          <a:xfrm>
            <a:off x="4754880" y="3172968"/>
            <a:ext cx="64008" cy="841248"/>
          </a:xfrm>
          <a:prstGeom prst="rect">
            <a:avLst/>
          </a:prstGeom>
          <a:solidFill>
            <a:srgbClr val="FF453A"/>
          </a:solidFill>
          <a:ln/>
        </p:spPr>
      </p:sp>
      <p:sp>
        <p:nvSpPr>
          <p:cNvPr id="22" name="Text 20"/>
          <p:cNvSpPr txBox="1"/>
          <p:nvPr/>
        </p:nvSpPr>
        <p:spPr>
          <a:xfrm>
            <a:off x="4956048" y="3246120"/>
            <a:ext cx="374904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Equipos de Construcción</a:t>
            </a:r>
            <a:endParaRPr lang="en-US" sz="1300" dirty="0"/>
          </a:p>
        </p:txBody>
      </p:sp>
      <p:sp>
        <p:nvSpPr>
          <p:cNvPr id="23" name="Text 21"/>
          <p:cNvSpPr txBox="1"/>
          <p:nvPr/>
        </p:nvSpPr>
        <p:spPr>
          <a:xfrm>
            <a:off x="4956048" y="3557016"/>
            <a:ext cx="3749040" cy="402336"/>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Selección optimizada de equipo pesado y liviano. Tamaño correcto para la tarea. Mini-excavadoras, brazos articulados, plataformas especiales.</a:t>
            </a:r>
            <a:endParaRPr lang="en-US" sz="1050" dirty="0"/>
          </a:p>
        </p:txBody>
      </p:sp>
      <p:sp>
        <p:nvSpPr>
          <p:cNvPr id="24" name="Shape 22"/>
          <p:cNvSpPr/>
          <p:nvPr/>
        </p:nvSpPr>
        <p:spPr>
          <a:xfrm>
            <a:off x="365760" y="4133088"/>
            <a:ext cx="4206240" cy="841248"/>
          </a:xfrm>
          <a:prstGeom prst="roundRect">
            <a:avLst>
              <a:gd name="adj" fmla="val 10870"/>
            </a:avLst>
          </a:prstGeom>
          <a:solidFill>
            <a:srgbClr val="2C2C2E"/>
          </a:solidFill>
          <a:ln w="12700">
            <a:solidFill>
              <a:srgbClr val="3A3A3C"/>
            </a:solidFill>
            <a:prstDash val="solid"/>
          </a:ln>
        </p:spPr>
      </p:sp>
      <p:sp>
        <p:nvSpPr>
          <p:cNvPr id="25" name="Shape 23"/>
          <p:cNvSpPr/>
          <p:nvPr/>
        </p:nvSpPr>
        <p:spPr>
          <a:xfrm>
            <a:off x="365760" y="4133088"/>
            <a:ext cx="64008" cy="841248"/>
          </a:xfrm>
          <a:prstGeom prst="rect">
            <a:avLst/>
          </a:prstGeom>
          <a:solidFill>
            <a:srgbClr val="AF52DE"/>
          </a:solidFill>
          <a:ln/>
        </p:spPr>
      </p:sp>
      <p:sp>
        <p:nvSpPr>
          <p:cNvPr id="26" name="Text 24"/>
          <p:cNvSpPr txBox="1"/>
          <p:nvPr/>
        </p:nvSpPr>
        <p:spPr>
          <a:xfrm>
            <a:off x="566928" y="4206240"/>
            <a:ext cx="3749040" cy="30175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por el Constructor</a:t>
            </a:r>
            <a:endParaRPr lang="en-US" sz="1300" dirty="0"/>
          </a:p>
        </p:txBody>
      </p:sp>
      <p:sp>
        <p:nvSpPr>
          <p:cNvPr id="27" name="Text 25"/>
          <p:cNvSpPr txBox="1"/>
          <p:nvPr/>
        </p:nvSpPr>
        <p:spPr>
          <a:xfrm>
            <a:off x="566928" y="4517136"/>
            <a:ext cx="3749040" cy="402336"/>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Oportunidades de pre-ensamble en campo que el diseño no contempló. Sub-estructuras, racores de conexión, secciones de tubería.</a:t>
            </a:r>
            <a:endParaRPr lang="en-US" sz="1050" dirty="0"/>
          </a:p>
        </p:txBody>
      </p:sp>
      <p:sp>
        <p:nvSpPr>
          <p:cNvPr id="28" name="Shape 26"/>
          <p:cNvSpPr/>
          <p:nvPr/>
        </p:nvSpPr>
        <p:spPr>
          <a:xfrm>
            <a:off x="4754880" y="4133088"/>
            <a:ext cx="4206240" cy="841248"/>
          </a:xfrm>
          <a:prstGeom prst="roundRect">
            <a:avLst>
              <a:gd name="adj" fmla="val 10870"/>
            </a:avLst>
          </a:prstGeom>
          <a:solidFill>
            <a:srgbClr val="2C2C2E"/>
          </a:solidFill>
          <a:ln w="12700">
            <a:solidFill>
              <a:srgbClr val="3A3A3C"/>
            </a:solidFill>
            <a:prstDash val="solid"/>
          </a:ln>
        </p:spPr>
      </p:sp>
      <p:sp>
        <p:nvSpPr>
          <p:cNvPr id="29" name="Shape 27"/>
          <p:cNvSpPr/>
          <p:nvPr/>
        </p:nvSpPr>
        <p:spPr>
          <a:xfrm>
            <a:off x="4754880" y="4133088"/>
            <a:ext cx="64008" cy="841248"/>
          </a:xfrm>
          <a:prstGeom prst="rect">
            <a:avLst/>
          </a:prstGeom>
          <a:solidFill>
            <a:srgbClr val="FFD60A"/>
          </a:solidFill>
          <a:ln/>
        </p:spPr>
      </p:sp>
      <p:sp>
        <p:nvSpPr>
          <p:cNvPr id="30" name="Text 28"/>
          <p:cNvSpPr txBox="1"/>
          <p:nvPr/>
        </p:nvSpPr>
        <p:spPr>
          <a:xfrm>
            <a:off x="4956048" y="4206240"/>
            <a:ext cx="3749040" cy="30175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Instalaciones Temporales Estratégicas</a:t>
            </a:r>
            <a:endParaRPr lang="en-US" sz="1300" dirty="0"/>
          </a:p>
        </p:txBody>
      </p:sp>
      <p:sp>
        <p:nvSpPr>
          <p:cNvPr id="31" name="Text 29"/>
          <p:cNvSpPr txBox="1"/>
          <p:nvPr/>
        </p:nvSpPr>
        <p:spPr>
          <a:xfrm>
            <a:off x="4956048" y="4517136"/>
            <a:ext cx="3749040" cy="402336"/>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Oficinas, talleres, almacenes, energía temporal, sanitarios. Localización estratégica para minimizar desplazamiento de cuadrillas.</a:t>
            </a:r>
            <a:endParaRPr lang="en-US" sz="105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Productividad de Campo y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constructabilidad en campo no solo mejora costo — también impacta calidad, seguridad y moral del equipo:</a:t>
            </a:r>
            <a:endParaRPr lang="en-US" sz="1400" dirty="0"/>
          </a:p>
        </p:txBody>
      </p:sp>
      <p:sp>
        <p:nvSpPr>
          <p:cNvPr id="6" name="Shape 4"/>
          <p:cNvSpPr/>
          <p:nvPr/>
        </p:nvSpPr>
        <p:spPr>
          <a:xfrm>
            <a:off x="365760" y="1298448"/>
            <a:ext cx="8412480" cy="841248"/>
          </a:xfrm>
          <a:prstGeom prst="roundRect">
            <a:avLst>
              <a:gd name="adj" fmla="val 10870"/>
            </a:avLst>
          </a:prstGeom>
          <a:solidFill>
            <a:srgbClr val="2C2C2E"/>
          </a:solidFill>
          <a:ln w="12700">
            <a:solidFill>
              <a:srgbClr val="3A3A3C"/>
            </a:solidFill>
            <a:prstDash val="solid"/>
          </a:ln>
        </p:spPr>
      </p:sp>
      <p:sp>
        <p:nvSpPr>
          <p:cNvPr id="7" name="Shape 5"/>
          <p:cNvSpPr/>
          <p:nvPr/>
        </p:nvSpPr>
        <p:spPr>
          <a:xfrm>
            <a:off x="365760" y="1298448"/>
            <a:ext cx="73152" cy="841248"/>
          </a:xfrm>
          <a:prstGeom prst="rect">
            <a:avLst/>
          </a:prstGeom>
          <a:solidFill>
            <a:srgbClr val="30D158"/>
          </a:solidFill>
          <a:ln/>
        </p:spPr>
      </p:sp>
      <p:sp>
        <p:nvSpPr>
          <p:cNvPr id="8" name="Text 6"/>
          <p:cNvSpPr txBox="1"/>
          <p:nvPr/>
        </p:nvSpPr>
        <p:spPr>
          <a:xfrm>
            <a:off x="566928" y="1371600"/>
            <a:ext cx="8046720" cy="301752"/>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Porcentaje de Trabajo Directo (PTD)</a:t>
            </a:r>
            <a:endParaRPr lang="en-US" sz="1400" dirty="0"/>
          </a:p>
        </p:txBody>
      </p:sp>
      <p:sp>
        <p:nvSpPr>
          <p:cNvPr id="9" name="Text 7"/>
          <p:cNvSpPr txBox="1"/>
          <p:nvPr/>
        </p:nvSpPr>
        <p:spPr>
          <a:xfrm>
            <a:off x="566928" y="1682496"/>
            <a:ext cx="804672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Medir el porcentaje de tiempo que las cuadrillas realizan trabajo directo vs. tiempo de espera, traslados o retrabajo. Meta: &gt;50% PTD.</a:t>
            </a:r>
            <a:endParaRPr lang="en-US" sz="1100" dirty="0"/>
          </a:p>
        </p:txBody>
      </p:sp>
      <p:sp>
        <p:nvSpPr>
          <p:cNvPr id="10" name="Shape 8"/>
          <p:cNvSpPr/>
          <p:nvPr/>
        </p:nvSpPr>
        <p:spPr>
          <a:xfrm>
            <a:off x="365760" y="2258568"/>
            <a:ext cx="8412480" cy="841248"/>
          </a:xfrm>
          <a:prstGeom prst="roundRect">
            <a:avLst>
              <a:gd name="adj" fmla="val 10870"/>
            </a:avLst>
          </a:prstGeom>
          <a:solidFill>
            <a:srgbClr val="2C2C2E"/>
          </a:solidFill>
          <a:ln w="12700">
            <a:solidFill>
              <a:srgbClr val="3A3A3C"/>
            </a:solidFill>
            <a:prstDash val="solid"/>
          </a:ln>
        </p:spPr>
      </p:sp>
      <p:sp>
        <p:nvSpPr>
          <p:cNvPr id="11" name="Shape 9"/>
          <p:cNvSpPr/>
          <p:nvPr/>
        </p:nvSpPr>
        <p:spPr>
          <a:xfrm>
            <a:off x="365760" y="2258568"/>
            <a:ext cx="73152" cy="841248"/>
          </a:xfrm>
          <a:prstGeom prst="rect">
            <a:avLst/>
          </a:prstGeom>
          <a:solidFill>
            <a:srgbClr val="0A84FF"/>
          </a:solidFill>
          <a:ln/>
        </p:spPr>
      </p:sp>
      <p:sp>
        <p:nvSpPr>
          <p:cNvPr id="12" name="Text 10"/>
          <p:cNvSpPr txBox="1"/>
          <p:nvPr/>
        </p:nvSpPr>
        <p:spPr>
          <a:xfrm>
            <a:off x="566928" y="2331720"/>
            <a:ext cx="8046720" cy="301752"/>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Cinco Minutos Nominales</a:t>
            </a:r>
            <a:endParaRPr lang="en-US" sz="1400" dirty="0"/>
          </a:p>
        </p:txBody>
      </p:sp>
      <p:sp>
        <p:nvSpPr>
          <p:cNvPr id="13" name="Text 11"/>
          <p:cNvSpPr txBox="1"/>
          <p:nvPr/>
        </p:nvSpPr>
        <p:spPr>
          <a:xfrm>
            <a:off x="566928" y="2642616"/>
            <a:ext cx="804672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Técnica de muestreo de trabajo para medir actividad vs. inactividad. Permite identificar cuellos de botella sistemáticos.</a:t>
            </a:r>
            <a:endParaRPr lang="en-US" sz="1100" dirty="0"/>
          </a:p>
        </p:txBody>
      </p:sp>
      <p:sp>
        <p:nvSpPr>
          <p:cNvPr id="14" name="Shape 12"/>
          <p:cNvSpPr/>
          <p:nvPr/>
        </p:nvSpPr>
        <p:spPr>
          <a:xfrm>
            <a:off x="365760" y="3218688"/>
            <a:ext cx="8412480" cy="841248"/>
          </a:xfrm>
          <a:prstGeom prst="roundRect">
            <a:avLst>
              <a:gd name="adj" fmla="val 10870"/>
            </a:avLst>
          </a:prstGeom>
          <a:solidFill>
            <a:srgbClr val="2C2C2E"/>
          </a:solidFill>
          <a:ln w="12700">
            <a:solidFill>
              <a:srgbClr val="3A3A3C"/>
            </a:solidFill>
            <a:prstDash val="solid"/>
          </a:ln>
        </p:spPr>
      </p:sp>
      <p:sp>
        <p:nvSpPr>
          <p:cNvPr id="15" name="Shape 13"/>
          <p:cNvSpPr/>
          <p:nvPr/>
        </p:nvSpPr>
        <p:spPr>
          <a:xfrm>
            <a:off x="365760" y="3218688"/>
            <a:ext cx="73152" cy="841248"/>
          </a:xfrm>
          <a:prstGeom prst="rect">
            <a:avLst/>
          </a:prstGeom>
          <a:solidFill>
            <a:srgbClr val="FF9500"/>
          </a:solidFill>
          <a:ln/>
        </p:spPr>
      </p:sp>
      <p:sp>
        <p:nvSpPr>
          <p:cNvPr id="16" name="Text 14"/>
          <p:cNvSpPr txBox="1"/>
          <p:nvPr/>
        </p:nvSpPr>
        <p:spPr>
          <a:xfrm>
            <a:off x="566928" y="3291840"/>
            <a:ext cx="8046720" cy="301752"/>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Tasa de Retrabajo</a:t>
            </a:r>
            <a:endParaRPr lang="en-US" sz="1400" dirty="0"/>
          </a:p>
        </p:txBody>
      </p:sp>
      <p:sp>
        <p:nvSpPr>
          <p:cNvPr id="17" name="Text 15"/>
          <p:cNvSpPr txBox="1"/>
          <p:nvPr/>
        </p:nvSpPr>
        <p:spPr>
          <a:xfrm>
            <a:off x="566928" y="3602736"/>
            <a:ext cx="804672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Porcentaje de trabajo que debe rehacerse por errores o conflictos de diseño. Meta CII: &lt;2% del costo total.</a:t>
            </a:r>
            <a:endParaRPr lang="en-US" sz="1100" dirty="0"/>
          </a:p>
        </p:txBody>
      </p:sp>
      <p:sp>
        <p:nvSpPr>
          <p:cNvPr id="18" name="Shape 16"/>
          <p:cNvSpPr/>
          <p:nvPr/>
        </p:nvSpPr>
        <p:spPr>
          <a:xfrm>
            <a:off x="365760" y="4178808"/>
            <a:ext cx="8412480" cy="841248"/>
          </a:xfrm>
          <a:prstGeom prst="roundRect">
            <a:avLst>
              <a:gd name="adj" fmla="val 10870"/>
            </a:avLst>
          </a:prstGeom>
          <a:solidFill>
            <a:srgbClr val="2C2C2E"/>
          </a:solidFill>
          <a:ln w="12700">
            <a:solidFill>
              <a:srgbClr val="3A3A3C"/>
            </a:solidFill>
            <a:prstDash val="solid"/>
          </a:ln>
        </p:spPr>
      </p:sp>
      <p:sp>
        <p:nvSpPr>
          <p:cNvPr id="19" name="Shape 17"/>
          <p:cNvSpPr/>
          <p:nvPr/>
        </p:nvSpPr>
        <p:spPr>
          <a:xfrm>
            <a:off x="365760" y="4178808"/>
            <a:ext cx="73152" cy="841248"/>
          </a:xfrm>
          <a:prstGeom prst="rect">
            <a:avLst/>
          </a:prstGeom>
          <a:solidFill>
            <a:srgbClr val="AF52DE"/>
          </a:solidFill>
          <a:ln/>
        </p:spPr>
      </p:sp>
      <p:sp>
        <p:nvSpPr>
          <p:cNvPr id="20" name="Text 18"/>
          <p:cNvSpPr txBox="1"/>
          <p:nvPr/>
        </p:nvSpPr>
        <p:spPr>
          <a:xfrm>
            <a:off x="566928" y="4251960"/>
            <a:ext cx="8046720" cy="301752"/>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Rotación de Personal (Turnover)</a:t>
            </a:r>
            <a:endParaRPr lang="en-US" sz="1400" dirty="0"/>
          </a:p>
        </p:txBody>
      </p:sp>
      <p:sp>
        <p:nvSpPr>
          <p:cNvPr id="21" name="Text 19"/>
          <p:cNvSpPr txBox="1"/>
          <p:nvPr/>
        </p:nvSpPr>
        <p:spPr>
          <a:xfrm>
            <a:off x="566928" y="4562856"/>
            <a:ext cx="804672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Alta rotación reduce productividad por pérdida de curva de aprendizaje. Programas de incentivos y capacitación reducen turnover.</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Referencia: "Tucker's Tidbits" — publicación del CII por y para trabajadores de oficio que compartía innovaciones de campo. Concepto válido para programas formales de mejora continua en campo.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Planificación del Frente de Trabajo (Workface Planning)</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planificación detallada del frente de trabajo es la materialización del Concepto III-1 en campo:</a:t>
            </a:r>
            <a:endParaRPr lang="en-US" sz="1400" dirty="0"/>
          </a:p>
        </p:txBody>
      </p:sp>
      <p:sp>
        <p:nvSpPr>
          <p:cNvPr id="6" name="Shape 4"/>
          <p:cNvSpPr/>
          <p:nvPr/>
        </p:nvSpPr>
        <p:spPr>
          <a:xfrm>
            <a:off x="365760" y="1298448"/>
            <a:ext cx="4206240" cy="1115568"/>
          </a:xfrm>
          <a:prstGeom prst="roundRect">
            <a:avLst>
              <a:gd name="adj" fmla="val 8197"/>
            </a:avLst>
          </a:prstGeom>
          <a:solidFill>
            <a:srgbClr val="2C2C2E"/>
          </a:solidFill>
          <a:ln w="12700">
            <a:solidFill>
              <a:srgbClr val="3A3A3C"/>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Paquetes de Trabajo de Campo (IWPs)</a:t>
            </a:r>
            <a:endParaRPr lang="en-US" sz="1300" dirty="0"/>
          </a:p>
        </p:txBody>
      </p:sp>
      <p:sp>
        <p:nvSpPr>
          <p:cNvPr id="9" name="Text 7"/>
          <p:cNvSpPr txBox="1"/>
          <p:nvPr/>
        </p:nvSpPr>
        <p:spPr>
          <a:xfrm>
            <a:off x="566928" y="1737360"/>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Cada cuadrilla recibe un paquete completo: planos, materiales, herramientas, secuencia y criterios de calidad — todo disponible ANTES de comenzar.</a:t>
            </a:r>
            <a:endParaRPr lang="en-US" sz="1050" dirty="0"/>
          </a:p>
        </p:txBody>
      </p:sp>
      <p:sp>
        <p:nvSpPr>
          <p:cNvPr id="10" name="Shape 8"/>
          <p:cNvSpPr/>
          <p:nvPr/>
        </p:nvSpPr>
        <p:spPr>
          <a:xfrm>
            <a:off x="4754880" y="1298448"/>
            <a:ext cx="4206240" cy="1115568"/>
          </a:xfrm>
          <a:prstGeom prst="roundRect">
            <a:avLst>
              <a:gd name="adj" fmla="val 8197"/>
            </a:avLst>
          </a:prstGeom>
          <a:solidFill>
            <a:srgbClr val="2C2C2E"/>
          </a:solidFill>
          <a:ln w="12700">
            <a:solidFill>
              <a:srgbClr val="3A3A3C"/>
            </a:solidFill>
            <a:prstDash val="solid"/>
          </a:ln>
        </p:spPr>
      </p:sp>
      <p:sp>
        <p:nvSpPr>
          <p:cNvPr id="11" name="Shape 9"/>
          <p:cNvSpPr/>
          <p:nvPr/>
        </p:nvSpPr>
        <p:spPr>
          <a:xfrm>
            <a:off x="4754880" y="1298448"/>
            <a:ext cx="73152" cy="1115568"/>
          </a:xfrm>
          <a:prstGeom prst="rect">
            <a:avLst/>
          </a:prstGeom>
          <a:solidFill>
            <a:srgbClr val="30D158"/>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Gestión de Restricciones</a:t>
            </a:r>
            <a:endParaRPr lang="en-US" sz="1300" dirty="0"/>
          </a:p>
        </p:txBody>
      </p:sp>
      <p:sp>
        <p:nvSpPr>
          <p:cNvPr id="13" name="Text 11"/>
          <p:cNvSpPr txBox="1"/>
          <p:nvPr/>
        </p:nvSpPr>
        <p:spPr>
          <a:xfrm>
            <a:off x="4956048" y="1737360"/>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Identificar y levantar proactivamente las restricciones que impedirán el trabajo de la cuadrilla. Las 7 Restricciones del Last Planner.</a:t>
            </a:r>
            <a:endParaRPr lang="en-US" sz="1050" dirty="0"/>
          </a:p>
        </p:txBody>
      </p:sp>
      <p:sp>
        <p:nvSpPr>
          <p:cNvPr id="14" name="Shape 12"/>
          <p:cNvSpPr/>
          <p:nvPr/>
        </p:nvSpPr>
        <p:spPr>
          <a:xfrm>
            <a:off x="365760" y="2532888"/>
            <a:ext cx="4206240" cy="1115568"/>
          </a:xfrm>
          <a:prstGeom prst="roundRect">
            <a:avLst>
              <a:gd name="adj" fmla="val 8197"/>
            </a:avLst>
          </a:prstGeom>
          <a:solidFill>
            <a:srgbClr val="2C2C2E"/>
          </a:solidFill>
          <a:ln w="12700">
            <a:solidFill>
              <a:srgbClr val="3A3A3C"/>
            </a:solidFill>
            <a:prstDash val="solid"/>
          </a:ln>
        </p:spPr>
      </p:sp>
      <p:sp>
        <p:nvSpPr>
          <p:cNvPr id="15" name="Shape 13"/>
          <p:cNvSpPr/>
          <p:nvPr/>
        </p:nvSpPr>
        <p:spPr>
          <a:xfrm>
            <a:off x="365760" y="2532888"/>
            <a:ext cx="73152" cy="1115568"/>
          </a:xfrm>
          <a:prstGeom prst="rect">
            <a:avLst/>
          </a:prstGeom>
          <a:solidFill>
            <a:srgbClr val="FF9500"/>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Lookahead de 3-6 Semanas</a:t>
            </a:r>
            <a:endParaRPr lang="en-US" sz="1300" dirty="0"/>
          </a:p>
        </p:txBody>
      </p:sp>
      <p:sp>
        <p:nvSpPr>
          <p:cNvPr id="17" name="Text 15"/>
          <p:cNvSpPr txBox="1"/>
          <p:nvPr/>
        </p:nvSpPr>
        <p:spPr>
          <a:xfrm>
            <a:off x="566928" y="2971800"/>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Planificación intermedia que conecta el cronograma master con la programación semanal de campo. Permite anticipar recursos y materiales.</a:t>
            </a:r>
            <a:endParaRPr lang="en-US" sz="1050" dirty="0"/>
          </a:p>
        </p:txBody>
      </p:sp>
      <p:sp>
        <p:nvSpPr>
          <p:cNvPr id="18" name="Shape 16"/>
          <p:cNvSpPr/>
          <p:nvPr/>
        </p:nvSpPr>
        <p:spPr>
          <a:xfrm>
            <a:off x="4754880" y="2532888"/>
            <a:ext cx="4206240" cy="1115568"/>
          </a:xfrm>
          <a:prstGeom prst="roundRect">
            <a:avLst>
              <a:gd name="adj" fmla="val 8197"/>
            </a:avLst>
          </a:prstGeom>
          <a:solidFill>
            <a:srgbClr val="2C2C2E"/>
          </a:solidFill>
          <a:ln w="12700">
            <a:solidFill>
              <a:srgbClr val="3A3A3C"/>
            </a:solidFill>
            <a:prstDash val="solid"/>
          </a:ln>
        </p:spPr>
      </p:sp>
      <p:sp>
        <p:nvSpPr>
          <p:cNvPr id="19" name="Shape 17"/>
          <p:cNvSpPr/>
          <p:nvPr/>
        </p:nvSpPr>
        <p:spPr>
          <a:xfrm>
            <a:off x="4754880" y="2532888"/>
            <a:ext cx="73152" cy="1115568"/>
          </a:xfrm>
          <a:prstGeom prst="rect">
            <a:avLst/>
          </a:prstGeom>
          <a:solidFill>
            <a:srgbClr val="AF52DE"/>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Programación Semanal (Commitments)</a:t>
            </a:r>
            <a:endParaRPr lang="en-US" sz="1300" dirty="0"/>
          </a:p>
        </p:txBody>
      </p:sp>
      <p:sp>
        <p:nvSpPr>
          <p:cNvPr id="21" name="Text 19"/>
          <p:cNvSpPr txBox="1"/>
          <p:nvPr/>
        </p:nvSpPr>
        <p:spPr>
          <a:xfrm>
            <a:off x="4956048" y="2971800"/>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Compromisos semanales de la cuadrilla. PPC (Porcentaje Plan Cumplido) mide confiabilidad del sistema de planificación.</a:t>
            </a:r>
            <a:endParaRPr lang="en-US" sz="1050" dirty="0"/>
          </a:p>
        </p:txBody>
      </p:sp>
      <p:sp>
        <p:nvSpPr>
          <p:cNvPr id="22" name="Shape 20"/>
          <p:cNvSpPr/>
          <p:nvPr/>
        </p:nvSpPr>
        <p:spPr>
          <a:xfrm>
            <a:off x="365760" y="3767328"/>
            <a:ext cx="4206240" cy="1115568"/>
          </a:xfrm>
          <a:prstGeom prst="roundRect">
            <a:avLst>
              <a:gd name="adj" fmla="val 8197"/>
            </a:avLst>
          </a:prstGeom>
          <a:solidFill>
            <a:srgbClr val="2C2C2E"/>
          </a:solidFill>
          <a:ln w="12700">
            <a:solidFill>
              <a:srgbClr val="3A3A3C"/>
            </a:solidFill>
            <a:prstDash val="solid"/>
          </a:ln>
        </p:spPr>
      </p:sp>
      <p:sp>
        <p:nvSpPr>
          <p:cNvPr id="23" name="Shape 21"/>
          <p:cNvSpPr/>
          <p:nvPr/>
        </p:nvSpPr>
        <p:spPr>
          <a:xfrm>
            <a:off x="365760" y="3767328"/>
            <a:ext cx="73152" cy="1115568"/>
          </a:xfrm>
          <a:prstGeom prst="rect">
            <a:avLst/>
          </a:prstGeom>
          <a:solidFill>
            <a:srgbClr val="FFD60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Análisis de Causas de No Cumplimiento</a:t>
            </a:r>
            <a:endParaRPr lang="en-US" sz="1300" dirty="0"/>
          </a:p>
        </p:txBody>
      </p:sp>
      <p:sp>
        <p:nvSpPr>
          <p:cNvPr id="25" name="Text 23"/>
          <p:cNvSpPr txBox="1"/>
          <p:nvPr/>
        </p:nvSpPr>
        <p:spPr>
          <a:xfrm>
            <a:off x="566928" y="4206240"/>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Cada promesa no cumplida requiere análisis de causa raíz. El objetivo no es castigar — es mejorar el sistema de planificación.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2C2C2E"/>
          </a:solidFill>
          <a:ln w="12700">
            <a:solidFill>
              <a:srgbClr val="3A3A3C"/>
            </a:solidFill>
            <a:prstDash val="solid"/>
          </a:ln>
        </p:spPr>
      </p:sp>
      <p:sp>
        <p:nvSpPr>
          <p:cNvPr id="27" name="Shape 25"/>
          <p:cNvSpPr/>
          <p:nvPr/>
        </p:nvSpPr>
        <p:spPr>
          <a:xfrm>
            <a:off x="4754880" y="3767328"/>
            <a:ext cx="73152" cy="1115568"/>
          </a:xfrm>
          <a:prstGeom prst="rect">
            <a:avLst/>
          </a:prstGeom>
          <a:solidFill>
            <a:srgbClr val="FF453A"/>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Retroalimentación a Diseño</a:t>
            </a:r>
            <a:endParaRPr lang="en-US" sz="1300" dirty="0"/>
          </a:p>
        </p:txBody>
      </p:sp>
      <p:sp>
        <p:nvSpPr>
          <p:cNvPr id="29" name="Text 27"/>
          <p:cNvSpPr txBox="1"/>
          <p:nvPr/>
        </p:nvSpPr>
        <p:spPr>
          <a:xfrm>
            <a:off x="4956048" y="4206240"/>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Los problemas identificados en campo se capturan en la base de datos de Lecciones Aprendidas para retroalimentar el diseño de futuros proyectos.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2C2C2E"/>
                </a:solidFill>
                <a:latin typeface="Atkinson Hyperlegible" pitchFamily="34" charset="0"/>
                <a:ea typeface="Atkinson Hyperlegible" pitchFamily="34" charset="-122"/>
                <a:cs typeface="Atkinson Hyperlegible" pitchFamily="34" charset="-120"/>
              </a:rPr>
              <a:t>06</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Atkinson Hyperlegible" pitchFamily="34" charset="0"/>
                <a:ea typeface="Atkinson Hyperlegible" pitchFamily="34" charset="-122"/>
                <a:cs typeface="Atkinson Hyperlegible" pitchFamily="34" charset="-120"/>
              </a:rPr>
              <a:t>Implementación del Programa</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8E8E93"/>
                </a:solidFill>
                <a:latin typeface="Atkinson Hyperlegible" pitchFamily="34" charset="0"/>
                <a:ea typeface="Atkinson Hyperlegible" pitchFamily="34" charset="-122"/>
                <a:cs typeface="Atkinson Hyperlegible" pitchFamily="34" charset="-120"/>
              </a:rPr>
              <a:t>Hoja de Ruta CII — 6 Hitos para el Éxito</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Hoja de Ruta de Implementación de Constructabilidad CII</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Un enfoque comprehensivo-integrado organizado en 6 hitos progresivos:</a:t>
            </a:r>
            <a:endParaRPr lang="en-US" sz="1400" dirty="0"/>
          </a:p>
        </p:txBody>
      </p:sp>
      <p:sp>
        <p:nvSpPr>
          <p:cNvPr id="6" name="Shape 4"/>
          <p:cNvSpPr/>
          <p:nvPr/>
        </p:nvSpPr>
        <p:spPr>
          <a:xfrm>
            <a:off x="365760" y="1298448"/>
            <a:ext cx="8412480" cy="548640"/>
          </a:xfrm>
          <a:prstGeom prst="roundRect">
            <a:avLst>
              <a:gd name="adj" fmla="val 16667"/>
            </a:avLst>
          </a:prstGeom>
          <a:solidFill>
            <a:srgbClr val="2C2C2E"/>
          </a:solidFill>
          <a:ln w="12700">
            <a:solidFill>
              <a:srgbClr val="3A3A3C"/>
            </a:solidFill>
            <a:prstDash val="solid"/>
          </a:ln>
        </p:spPr>
      </p:sp>
      <p:sp>
        <p:nvSpPr>
          <p:cNvPr id="7" name="Shape 5"/>
          <p:cNvSpPr/>
          <p:nvPr/>
        </p:nvSpPr>
        <p:spPr>
          <a:xfrm>
            <a:off x="438912" y="1362456"/>
            <a:ext cx="420624" cy="420624"/>
          </a:xfrm>
          <a:prstGeom prst="ellipse">
            <a:avLst/>
          </a:prstGeom>
          <a:solidFill>
            <a:srgbClr val="0A84FF"/>
          </a:solidFill>
          <a:ln/>
        </p:spPr>
      </p:sp>
      <p:sp>
        <p:nvSpPr>
          <p:cNvPr id="8" name="Text 6"/>
          <p:cNvSpPr txBox="1"/>
          <p:nvPr/>
        </p:nvSpPr>
        <p:spPr>
          <a:xfrm>
            <a:off x="438912" y="136245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1</a:t>
            </a:r>
            <a:endParaRPr lang="en-US" sz="1600" dirty="0"/>
          </a:p>
        </p:txBody>
      </p:sp>
      <p:sp>
        <p:nvSpPr>
          <p:cNvPr id="9" name="Text 7"/>
          <p:cNvSpPr txBox="1"/>
          <p:nvPr/>
        </p:nvSpPr>
        <p:spPr>
          <a:xfrm>
            <a:off x="1005840" y="1371600"/>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Compromiso para Implementar</a:t>
            </a:r>
            <a:endParaRPr lang="en-US" sz="1400" dirty="0"/>
          </a:p>
        </p:txBody>
      </p:sp>
      <p:sp>
        <p:nvSpPr>
          <p:cNvPr id="10" name="Text 8"/>
          <p:cNvSpPr txBox="1"/>
          <p:nvPr/>
        </p:nvSpPr>
        <p:spPr>
          <a:xfrm>
            <a:off x="4297680" y="1389888"/>
            <a:ext cx="42976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Reconocer beneficios. Evaluar estado actual. Desarrollar política.</a:t>
            </a:r>
            <a:endParaRPr lang="en-US" sz="1100" dirty="0"/>
          </a:p>
        </p:txBody>
      </p:sp>
      <p:sp>
        <p:nvSpPr>
          <p:cNvPr id="11" name="Shape 9"/>
          <p:cNvSpPr/>
          <p:nvPr/>
        </p:nvSpPr>
        <p:spPr>
          <a:xfrm>
            <a:off x="630936" y="1847088"/>
            <a:ext cx="73152" cy="73152"/>
          </a:xfrm>
          <a:prstGeom prst="rect">
            <a:avLst/>
          </a:prstGeom>
          <a:solidFill>
            <a:srgbClr val="0A84FF"/>
          </a:solidFill>
          <a:ln/>
        </p:spPr>
      </p:sp>
      <p:sp>
        <p:nvSpPr>
          <p:cNvPr id="12" name="Shape 10"/>
          <p:cNvSpPr/>
          <p:nvPr/>
        </p:nvSpPr>
        <p:spPr>
          <a:xfrm>
            <a:off x="365760" y="1920240"/>
            <a:ext cx="8412480" cy="548640"/>
          </a:xfrm>
          <a:prstGeom prst="roundRect">
            <a:avLst>
              <a:gd name="adj" fmla="val 16667"/>
            </a:avLst>
          </a:prstGeom>
          <a:solidFill>
            <a:srgbClr val="2C2C2E"/>
          </a:solidFill>
          <a:ln w="12700">
            <a:solidFill>
              <a:srgbClr val="3A3A3C"/>
            </a:solidFill>
            <a:prstDash val="solid"/>
          </a:ln>
        </p:spPr>
      </p:sp>
      <p:sp>
        <p:nvSpPr>
          <p:cNvPr id="13" name="Shape 11"/>
          <p:cNvSpPr/>
          <p:nvPr/>
        </p:nvSpPr>
        <p:spPr>
          <a:xfrm>
            <a:off x="438912" y="1984248"/>
            <a:ext cx="420624" cy="420624"/>
          </a:xfrm>
          <a:prstGeom prst="ellipse">
            <a:avLst/>
          </a:prstGeom>
          <a:solidFill>
            <a:srgbClr val="30D158"/>
          </a:solidFill>
          <a:ln/>
        </p:spPr>
      </p:sp>
      <p:sp>
        <p:nvSpPr>
          <p:cNvPr id="14" name="Text 12"/>
          <p:cNvSpPr txBox="1"/>
          <p:nvPr/>
        </p:nvSpPr>
        <p:spPr>
          <a:xfrm>
            <a:off x="438912" y="198424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2</a:t>
            </a:r>
            <a:endParaRPr lang="en-US" sz="1600" dirty="0"/>
          </a:p>
        </p:txBody>
      </p:sp>
      <p:sp>
        <p:nvSpPr>
          <p:cNvPr id="15" name="Text 13"/>
          <p:cNvSpPr txBox="1"/>
          <p:nvPr/>
        </p:nvSpPr>
        <p:spPr>
          <a:xfrm>
            <a:off x="1005840" y="1993392"/>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Establecer Programa Corporativo</a:t>
            </a:r>
            <a:endParaRPr lang="en-US" sz="1400" dirty="0"/>
          </a:p>
        </p:txBody>
      </p:sp>
      <p:sp>
        <p:nvSpPr>
          <p:cNvPr id="16" name="Text 14"/>
          <p:cNvSpPr txBox="1"/>
          <p:nvPr/>
        </p:nvSpPr>
        <p:spPr>
          <a:xfrm>
            <a:off x="4297680" y="2011680"/>
            <a:ext cx="42976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Estructura organizacional. Capacitación. Herramientas corporativas.</a:t>
            </a:r>
            <a:endParaRPr lang="en-US" sz="1100" dirty="0"/>
          </a:p>
        </p:txBody>
      </p:sp>
      <p:sp>
        <p:nvSpPr>
          <p:cNvPr id="17" name="Shape 15"/>
          <p:cNvSpPr/>
          <p:nvPr/>
        </p:nvSpPr>
        <p:spPr>
          <a:xfrm>
            <a:off x="630936" y="2468880"/>
            <a:ext cx="73152" cy="73152"/>
          </a:xfrm>
          <a:prstGeom prst="rect">
            <a:avLst/>
          </a:prstGeom>
          <a:solidFill>
            <a:srgbClr val="30D158"/>
          </a:solidFill>
          <a:ln/>
        </p:spPr>
      </p:sp>
      <p:sp>
        <p:nvSpPr>
          <p:cNvPr id="18" name="Shape 16"/>
          <p:cNvSpPr/>
          <p:nvPr/>
        </p:nvSpPr>
        <p:spPr>
          <a:xfrm>
            <a:off x="365760" y="2542032"/>
            <a:ext cx="8412480" cy="548640"/>
          </a:xfrm>
          <a:prstGeom prst="roundRect">
            <a:avLst>
              <a:gd name="adj" fmla="val 16667"/>
            </a:avLst>
          </a:prstGeom>
          <a:solidFill>
            <a:srgbClr val="2C2C2E"/>
          </a:solidFill>
          <a:ln w="12700">
            <a:solidFill>
              <a:srgbClr val="3A3A3C"/>
            </a:solidFill>
            <a:prstDash val="solid"/>
          </a:ln>
        </p:spPr>
      </p:sp>
      <p:sp>
        <p:nvSpPr>
          <p:cNvPr id="19" name="Shape 17"/>
          <p:cNvSpPr/>
          <p:nvPr/>
        </p:nvSpPr>
        <p:spPr>
          <a:xfrm>
            <a:off x="438912" y="2606040"/>
            <a:ext cx="420624" cy="420624"/>
          </a:xfrm>
          <a:prstGeom prst="ellipse">
            <a:avLst/>
          </a:prstGeom>
          <a:solidFill>
            <a:srgbClr val="FF9500"/>
          </a:solidFill>
          <a:ln/>
        </p:spPr>
      </p:sp>
      <p:sp>
        <p:nvSpPr>
          <p:cNvPr id="20" name="Text 18"/>
          <p:cNvSpPr txBox="1"/>
          <p:nvPr/>
        </p:nvSpPr>
        <p:spPr>
          <a:xfrm>
            <a:off x="438912" y="26060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3</a:t>
            </a:r>
            <a:endParaRPr lang="en-US" sz="1600" dirty="0"/>
          </a:p>
        </p:txBody>
      </p:sp>
      <p:sp>
        <p:nvSpPr>
          <p:cNvPr id="21" name="Text 19"/>
          <p:cNvSpPr txBox="1"/>
          <p:nvPr/>
        </p:nvSpPr>
        <p:spPr>
          <a:xfrm>
            <a:off x="1005840" y="2615184"/>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Obtener Capacidades de Constructabilidad</a:t>
            </a:r>
            <a:endParaRPr lang="en-US" sz="1400" dirty="0"/>
          </a:p>
        </p:txBody>
      </p:sp>
      <p:sp>
        <p:nvSpPr>
          <p:cNvPr id="22" name="Text 20"/>
          <p:cNvSpPr txBox="1"/>
          <p:nvPr/>
        </p:nvSpPr>
        <p:spPr>
          <a:xfrm>
            <a:off x="4297680" y="2633472"/>
            <a:ext cx="42976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Contratar/desarrollar al Gerente de Constructabilidad. Fuentes de mejora.</a:t>
            </a:r>
            <a:endParaRPr lang="en-US" sz="1100" dirty="0"/>
          </a:p>
        </p:txBody>
      </p:sp>
      <p:sp>
        <p:nvSpPr>
          <p:cNvPr id="23" name="Shape 21"/>
          <p:cNvSpPr/>
          <p:nvPr/>
        </p:nvSpPr>
        <p:spPr>
          <a:xfrm>
            <a:off x="630936" y="3090672"/>
            <a:ext cx="73152" cy="73152"/>
          </a:xfrm>
          <a:prstGeom prst="rect">
            <a:avLst/>
          </a:prstGeom>
          <a:solidFill>
            <a:srgbClr val="FF9500"/>
          </a:solidFill>
          <a:ln/>
        </p:spPr>
      </p:sp>
      <p:sp>
        <p:nvSpPr>
          <p:cNvPr id="24" name="Shape 22"/>
          <p:cNvSpPr/>
          <p:nvPr/>
        </p:nvSpPr>
        <p:spPr>
          <a:xfrm>
            <a:off x="365760" y="3163824"/>
            <a:ext cx="8412480" cy="548640"/>
          </a:xfrm>
          <a:prstGeom prst="roundRect">
            <a:avLst>
              <a:gd name="adj" fmla="val 16667"/>
            </a:avLst>
          </a:prstGeom>
          <a:solidFill>
            <a:srgbClr val="2C2C2E"/>
          </a:solidFill>
          <a:ln w="12700">
            <a:solidFill>
              <a:srgbClr val="3A3A3C"/>
            </a:solidFill>
            <a:prstDash val="solid"/>
          </a:ln>
        </p:spPr>
      </p:sp>
      <p:sp>
        <p:nvSpPr>
          <p:cNvPr id="25" name="Shape 23"/>
          <p:cNvSpPr/>
          <p:nvPr/>
        </p:nvSpPr>
        <p:spPr>
          <a:xfrm>
            <a:off x="438912" y="3227832"/>
            <a:ext cx="420624" cy="420624"/>
          </a:xfrm>
          <a:prstGeom prst="ellipse">
            <a:avLst/>
          </a:prstGeom>
          <a:solidFill>
            <a:srgbClr val="AF52DE"/>
          </a:solidFill>
          <a:ln/>
        </p:spPr>
      </p:sp>
      <p:sp>
        <p:nvSpPr>
          <p:cNvPr id="26" name="Text 24"/>
          <p:cNvSpPr txBox="1"/>
          <p:nvPr/>
        </p:nvSpPr>
        <p:spPr>
          <a:xfrm>
            <a:off x="438912" y="322783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4</a:t>
            </a:r>
            <a:endParaRPr lang="en-US" sz="1600" dirty="0"/>
          </a:p>
        </p:txBody>
      </p:sp>
      <p:sp>
        <p:nvSpPr>
          <p:cNvPr id="27" name="Text 25"/>
          <p:cNvSpPr txBox="1"/>
          <p:nvPr/>
        </p:nvSpPr>
        <p:spPr>
          <a:xfrm>
            <a:off x="1005840" y="3236976"/>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Planificar la Implementación</a:t>
            </a:r>
            <a:endParaRPr lang="en-US" sz="1400" dirty="0"/>
          </a:p>
        </p:txBody>
      </p:sp>
      <p:sp>
        <p:nvSpPr>
          <p:cNvPr id="28" name="Text 26"/>
          <p:cNvSpPr txBox="1"/>
          <p:nvPr/>
        </p:nvSpPr>
        <p:spPr>
          <a:xfrm>
            <a:off x="4297680" y="3255264"/>
            <a:ext cx="42976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Plan de concepto por concepto. Taller de planificación. Metas cuantitativas.</a:t>
            </a:r>
            <a:endParaRPr lang="en-US" sz="1100" dirty="0"/>
          </a:p>
        </p:txBody>
      </p:sp>
      <p:sp>
        <p:nvSpPr>
          <p:cNvPr id="29" name="Shape 27"/>
          <p:cNvSpPr/>
          <p:nvPr/>
        </p:nvSpPr>
        <p:spPr>
          <a:xfrm>
            <a:off x="630936" y="3712464"/>
            <a:ext cx="73152" cy="73152"/>
          </a:xfrm>
          <a:prstGeom prst="rect">
            <a:avLst/>
          </a:prstGeom>
          <a:solidFill>
            <a:srgbClr val="AF52DE"/>
          </a:solidFill>
          <a:ln/>
        </p:spPr>
      </p:sp>
      <p:sp>
        <p:nvSpPr>
          <p:cNvPr id="30" name="Shape 28"/>
          <p:cNvSpPr/>
          <p:nvPr/>
        </p:nvSpPr>
        <p:spPr>
          <a:xfrm>
            <a:off x="365760" y="3785616"/>
            <a:ext cx="8412480" cy="548640"/>
          </a:xfrm>
          <a:prstGeom prst="roundRect">
            <a:avLst>
              <a:gd name="adj" fmla="val 16667"/>
            </a:avLst>
          </a:prstGeom>
          <a:solidFill>
            <a:srgbClr val="2C2C2E"/>
          </a:solidFill>
          <a:ln w="12700">
            <a:solidFill>
              <a:srgbClr val="3A3A3C"/>
            </a:solidFill>
            <a:prstDash val="solid"/>
          </a:ln>
        </p:spPr>
      </p:sp>
      <p:sp>
        <p:nvSpPr>
          <p:cNvPr id="31" name="Shape 29"/>
          <p:cNvSpPr/>
          <p:nvPr/>
        </p:nvSpPr>
        <p:spPr>
          <a:xfrm>
            <a:off x="438912" y="3849624"/>
            <a:ext cx="420624" cy="420624"/>
          </a:xfrm>
          <a:prstGeom prst="ellipse">
            <a:avLst/>
          </a:prstGeom>
          <a:solidFill>
            <a:srgbClr val="FFD60A"/>
          </a:solidFill>
          <a:ln/>
        </p:spPr>
      </p:sp>
      <p:sp>
        <p:nvSpPr>
          <p:cNvPr id="32" name="Text 30"/>
          <p:cNvSpPr txBox="1"/>
          <p:nvPr/>
        </p:nvSpPr>
        <p:spPr>
          <a:xfrm>
            <a:off x="438912" y="384962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5</a:t>
            </a:r>
            <a:endParaRPr lang="en-US" sz="1600" dirty="0"/>
          </a:p>
        </p:txBody>
      </p:sp>
      <p:sp>
        <p:nvSpPr>
          <p:cNvPr id="33" name="Text 31"/>
          <p:cNvSpPr txBox="1"/>
          <p:nvPr/>
        </p:nvSpPr>
        <p:spPr>
          <a:xfrm>
            <a:off x="1005840" y="3858768"/>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Implementar Constructabilidad</a:t>
            </a:r>
            <a:endParaRPr lang="en-US" sz="1400" dirty="0"/>
          </a:p>
        </p:txBody>
      </p:sp>
      <p:sp>
        <p:nvSpPr>
          <p:cNvPr id="34" name="Text 32"/>
          <p:cNvSpPr txBox="1"/>
          <p:nvPr/>
        </p:nvSpPr>
        <p:spPr>
          <a:xfrm>
            <a:off x="4297680" y="3877056"/>
            <a:ext cx="42976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Ejecutar el plan. Registrar ideas. Actualizar log. Reportar trimestralmente.</a:t>
            </a:r>
            <a:endParaRPr lang="en-US" sz="1100" dirty="0"/>
          </a:p>
        </p:txBody>
      </p:sp>
      <p:sp>
        <p:nvSpPr>
          <p:cNvPr id="35" name="Shape 33"/>
          <p:cNvSpPr/>
          <p:nvPr/>
        </p:nvSpPr>
        <p:spPr>
          <a:xfrm>
            <a:off x="630936" y="4334256"/>
            <a:ext cx="73152" cy="73152"/>
          </a:xfrm>
          <a:prstGeom prst="rect">
            <a:avLst/>
          </a:prstGeom>
          <a:solidFill>
            <a:srgbClr val="FFD60A"/>
          </a:solidFill>
          <a:ln/>
        </p:spPr>
      </p:sp>
      <p:sp>
        <p:nvSpPr>
          <p:cNvPr id="36" name="Shape 34"/>
          <p:cNvSpPr/>
          <p:nvPr/>
        </p:nvSpPr>
        <p:spPr>
          <a:xfrm>
            <a:off x="365760" y="4407408"/>
            <a:ext cx="8412480" cy="548640"/>
          </a:xfrm>
          <a:prstGeom prst="roundRect">
            <a:avLst>
              <a:gd name="adj" fmla="val 16667"/>
            </a:avLst>
          </a:prstGeom>
          <a:solidFill>
            <a:srgbClr val="2C2C2E"/>
          </a:solidFill>
          <a:ln w="12700">
            <a:solidFill>
              <a:srgbClr val="3A3A3C"/>
            </a:solidFill>
            <a:prstDash val="solid"/>
          </a:ln>
        </p:spPr>
      </p:sp>
      <p:sp>
        <p:nvSpPr>
          <p:cNvPr id="37" name="Shape 35"/>
          <p:cNvSpPr/>
          <p:nvPr/>
        </p:nvSpPr>
        <p:spPr>
          <a:xfrm>
            <a:off x="438912" y="4471416"/>
            <a:ext cx="420624" cy="420624"/>
          </a:xfrm>
          <a:prstGeom prst="ellipse">
            <a:avLst/>
          </a:prstGeom>
          <a:solidFill>
            <a:srgbClr val="FF453A"/>
          </a:solidFill>
          <a:ln/>
        </p:spPr>
      </p:sp>
      <p:sp>
        <p:nvSpPr>
          <p:cNvPr id="38" name="Text 36"/>
          <p:cNvSpPr txBox="1"/>
          <p:nvPr/>
        </p:nvSpPr>
        <p:spPr>
          <a:xfrm>
            <a:off x="438912" y="447141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6</a:t>
            </a:r>
            <a:endParaRPr lang="en-US" sz="1600" dirty="0"/>
          </a:p>
        </p:txBody>
      </p:sp>
      <p:sp>
        <p:nvSpPr>
          <p:cNvPr id="39" name="Text 37"/>
          <p:cNvSpPr txBox="1"/>
          <p:nvPr/>
        </p:nvSpPr>
        <p:spPr>
          <a:xfrm>
            <a:off x="1005840" y="4480560"/>
            <a:ext cx="320040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Actualizar Programa Corporativo</a:t>
            </a:r>
            <a:endParaRPr lang="en-US" sz="1400" dirty="0"/>
          </a:p>
        </p:txBody>
      </p:sp>
      <p:sp>
        <p:nvSpPr>
          <p:cNvPr id="40" name="Text 38"/>
          <p:cNvSpPr txBox="1"/>
          <p:nvPr/>
        </p:nvSpPr>
        <p:spPr>
          <a:xfrm>
            <a:off x="4297680" y="4498848"/>
            <a:ext cx="42976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Lecciones aprendidas. Retroalimentar al nivel corporativo. Mejora continua.</a:t>
            </a:r>
            <a:endParaRPr lang="en-US" sz="1100" dirty="0"/>
          </a:p>
        </p:txBody>
      </p:sp>
      <p:sp>
        <p:nvSpPr>
          <p:cNvPr id="41" name="Text 3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Hito 1: Compromiso para Implementar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548640"/>
          </a:xfrm>
          <a:prstGeom prst="roundRect">
            <a:avLst>
              <a:gd name="adj" fmla="val 16667"/>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02920"/>
          </a:xfrm>
          <a:prstGeom prst="rect">
            <a:avLst/>
          </a:prstGeom>
          <a:noFill/>
          <a:ln/>
        </p:spPr>
        <p:txBody>
          <a:bodyPr wrap="square" lIns="0" tIns="0" rIns="0" bIns="0" rtlCol="0" anchor="ctr"/>
          <a:lstStyle/>
          <a:p>
            <a:pPr indent="0" marL="0">
              <a:buNone/>
            </a:pPr>
            <a:r>
              <a:rPr lang="en-US" sz="1200" i="1" dirty="0">
                <a:solidFill>
                  <a:srgbClr val="FFFFFF"/>
                </a:solidFill>
                <a:latin typeface="Atkinson Hyperlegible" pitchFamily="34" charset="0"/>
                <a:ea typeface="Atkinson Hyperlegible" pitchFamily="34" charset="-122"/>
                <a:cs typeface="Atkinson Hyperlegible" pitchFamily="34" charset="-120"/>
              </a:rPr>
              <a:t>"Sin un compromiso bien desarrollado, generalizado y comprehensivo con la constructabilidad, el programa no tendrá sustento." — CII SP 34-1</a:t>
            </a:r>
            <a:endParaRPr lang="en-US" sz="1200" dirty="0"/>
          </a:p>
        </p:txBody>
      </p:sp>
      <p:sp>
        <p:nvSpPr>
          <p:cNvPr id="7" name="Text 5"/>
          <p:cNvSpPr txBox="1"/>
          <p:nvPr/>
        </p:nvSpPr>
        <p:spPr>
          <a:xfrm>
            <a:off x="365760" y="1600200"/>
            <a:ext cx="8412480" cy="292608"/>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Actividades del Hito 1:</a:t>
            </a:r>
            <a:endParaRPr lang="en-US" sz="1400" dirty="0"/>
          </a:p>
        </p:txBody>
      </p:sp>
      <p:sp>
        <p:nvSpPr>
          <p:cNvPr id="8" name="Shape 6"/>
          <p:cNvSpPr/>
          <p:nvPr/>
        </p:nvSpPr>
        <p:spPr>
          <a:xfrm>
            <a:off x="365760" y="1938528"/>
            <a:ext cx="8412480" cy="658368"/>
          </a:xfrm>
          <a:prstGeom prst="roundRect">
            <a:avLst>
              <a:gd name="adj" fmla="val 13889"/>
            </a:avLst>
          </a:prstGeom>
          <a:solidFill>
            <a:srgbClr val="2C2C2E"/>
          </a:solidFill>
          <a:ln w="12700">
            <a:solidFill>
              <a:srgbClr val="3A3A3C"/>
            </a:solidFill>
            <a:prstDash val="solid"/>
          </a:ln>
        </p:spPr>
      </p:sp>
      <p:sp>
        <p:nvSpPr>
          <p:cNvPr id="9" name="Shape 7"/>
          <p:cNvSpPr/>
          <p:nvPr/>
        </p:nvSpPr>
        <p:spPr>
          <a:xfrm>
            <a:off x="365760" y="1938528"/>
            <a:ext cx="73152" cy="658368"/>
          </a:xfrm>
          <a:prstGeom prst="rect">
            <a:avLst/>
          </a:prstGeom>
          <a:solidFill>
            <a:srgbClr val="0A84FF"/>
          </a:solidFill>
          <a:ln/>
        </p:spPr>
      </p:sp>
      <p:sp>
        <p:nvSpPr>
          <p:cNvPr id="10" name="Text 8"/>
          <p:cNvSpPr txBox="1"/>
          <p:nvPr/>
        </p:nvSpPr>
        <p:spPr>
          <a:xfrm>
            <a:off x="566928" y="1993392"/>
            <a:ext cx="8046720" cy="27432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Evaluar y Reconocer Beneficios</a:t>
            </a:r>
            <a:endParaRPr lang="en-US" sz="1300" dirty="0"/>
          </a:p>
        </p:txBody>
      </p:sp>
      <p:sp>
        <p:nvSpPr>
          <p:cNvPr id="11" name="Text 9"/>
          <p:cNvSpPr txBox="1"/>
          <p:nvPr/>
        </p:nvSpPr>
        <p:spPr>
          <a:xfrm>
            <a:off x="566928" y="2267712"/>
            <a:ext cx="804672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Revisar casos de estudio CII. Cuantificar el ahorro potencial para proyectos típicos de la organización. Calcular el ROI potencial del programa.</a:t>
            </a:r>
            <a:endParaRPr lang="en-US" sz="1100" dirty="0"/>
          </a:p>
        </p:txBody>
      </p:sp>
      <p:sp>
        <p:nvSpPr>
          <p:cNvPr id="12" name="Shape 10"/>
          <p:cNvSpPr/>
          <p:nvPr/>
        </p:nvSpPr>
        <p:spPr>
          <a:xfrm>
            <a:off x="365760" y="2688336"/>
            <a:ext cx="8412480" cy="658368"/>
          </a:xfrm>
          <a:prstGeom prst="roundRect">
            <a:avLst>
              <a:gd name="adj" fmla="val 13889"/>
            </a:avLst>
          </a:prstGeom>
          <a:solidFill>
            <a:srgbClr val="2C2C2E"/>
          </a:solidFill>
          <a:ln w="12700">
            <a:solidFill>
              <a:srgbClr val="3A3A3C"/>
            </a:solidFill>
            <a:prstDash val="solid"/>
          </a:ln>
        </p:spPr>
      </p:sp>
      <p:sp>
        <p:nvSpPr>
          <p:cNvPr id="13" name="Shape 11"/>
          <p:cNvSpPr/>
          <p:nvPr/>
        </p:nvSpPr>
        <p:spPr>
          <a:xfrm>
            <a:off x="365760" y="2688336"/>
            <a:ext cx="73152" cy="658368"/>
          </a:xfrm>
          <a:prstGeom prst="rect">
            <a:avLst/>
          </a:prstGeom>
          <a:solidFill>
            <a:srgbClr val="0A84FF"/>
          </a:solidFill>
          <a:ln/>
        </p:spPr>
      </p:sp>
      <p:sp>
        <p:nvSpPr>
          <p:cNvPr id="14" name="Text 12"/>
          <p:cNvSpPr txBox="1"/>
          <p:nvPr/>
        </p:nvSpPr>
        <p:spPr>
          <a:xfrm>
            <a:off x="566928" y="2743200"/>
            <a:ext cx="8046720" cy="27432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Comprender Métodos, Conceptos y Barreras</a:t>
            </a:r>
            <a:endParaRPr lang="en-US" sz="1300" dirty="0"/>
          </a:p>
        </p:txBody>
      </p:sp>
      <p:sp>
        <p:nvSpPr>
          <p:cNvPr id="15" name="Text 13"/>
          <p:cNvSpPr txBox="1"/>
          <p:nvPr/>
        </p:nvSpPr>
        <p:spPr>
          <a:xfrm>
            <a:off x="566928" y="3017520"/>
            <a:ext cx="804672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Estudiar los 17 conceptos CII. Identificar cuáles son más aplicables al tipo de proyectos de la organización. Evaluar las barreras internas.</a:t>
            </a:r>
            <a:endParaRPr lang="en-US" sz="1100" dirty="0"/>
          </a:p>
        </p:txBody>
      </p:sp>
      <p:sp>
        <p:nvSpPr>
          <p:cNvPr id="16" name="Shape 14"/>
          <p:cNvSpPr/>
          <p:nvPr/>
        </p:nvSpPr>
        <p:spPr>
          <a:xfrm>
            <a:off x="365760" y="3438144"/>
            <a:ext cx="8412480" cy="658368"/>
          </a:xfrm>
          <a:prstGeom prst="roundRect">
            <a:avLst>
              <a:gd name="adj" fmla="val 13889"/>
            </a:avLst>
          </a:prstGeom>
          <a:solidFill>
            <a:srgbClr val="2C2C2E"/>
          </a:solidFill>
          <a:ln w="12700">
            <a:solidFill>
              <a:srgbClr val="3A3A3C"/>
            </a:solidFill>
            <a:prstDash val="solid"/>
          </a:ln>
        </p:spPr>
      </p:sp>
      <p:sp>
        <p:nvSpPr>
          <p:cNvPr id="17" name="Shape 15"/>
          <p:cNvSpPr/>
          <p:nvPr/>
        </p:nvSpPr>
        <p:spPr>
          <a:xfrm>
            <a:off x="365760" y="3438144"/>
            <a:ext cx="73152" cy="658368"/>
          </a:xfrm>
          <a:prstGeom prst="rect">
            <a:avLst/>
          </a:prstGeom>
          <a:solidFill>
            <a:srgbClr val="0A84FF"/>
          </a:solidFill>
          <a:ln/>
        </p:spPr>
      </p:sp>
      <p:sp>
        <p:nvSpPr>
          <p:cNvPr id="18" name="Text 16"/>
          <p:cNvSpPr txBox="1"/>
          <p:nvPr/>
        </p:nvSpPr>
        <p:spPr>
          <a:xfrm>
            <a:off x="566928" y="3493008"/>
            <a:ext cx="8046720" cy="27432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Desarrollar Política de Implementación</a:t>
            </a:r>
            <a:endParaRPr lang="en-US" sz="1300" dirty="0"/>
          </a:p>
        </p:txBody>
      </p:sp>
      <p:sp>
        <p:nvSpPr>
          <p:cNvPr id="19" name="Text 17"/>
          <p:cNvSpPr txBox="1"/>
          <p:nvPr/>
        </p:nvSpPr>
        <p:spPr>
          <a:xfrm>
            <a:off x="566928" y="3767328"/>
            <a:ext cx="804672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Redactar una declaración formal de la dirección comprometiendo a la organización con la constructabilidad como práctica estándar.</a:t>
            </a:r>
            <a:endParaRPr lang="en-US" sz="1100" dirty="0"/>
          </a:p>
        </p:txBody>
      </p:sp>
      <p:sp>
        <p:nvSpPr>
          <p:cNvPr id="20" name="Shape 18"/>
          <p:cNvSpPr/>
          <p:nvPr/>
        </p:nvSpPr>
        <p:spPr>
          <a:xfrm>
            <a:off x="365760" y="4187952"/>
            <a:ext cx="8412480" cy="658368"/>
          </a:xfrm>
          <a:prstGeom prst="roundRect">
            <a:avLst>
              <a:gd name="adj" fmla="val 13889"/>
            </a:avLst>
          </a:prstGeom>
          <a:solidFill>
            <a:srgbClr val="2C2C2E"/>
          </a:solidFill>
          <a:ln w="12700">
            <a:solidFill>
              <a:srgbClr val="3A3A3C"/>
            </a:solidFill>
            <a:prstDash val="solid"/>
          </a:ln>
        </p:spPr>
      </p:sp>
      <p:sp>
        <p:nvSpPr>
          <p:cNvPr id="21" name="Shape 19"/>
          <p:cNvSpPr/>
          <p:nvPr/>
        </p:nvSpPr>
        <p:spPr>
          <a:xfrm>
            <a:off x="365760" y="4187952"/>
            <a:ext cx="73152" cy="658368"/>
          </a:xfrm>
          <a:prstGeom prst="rect">
            <a:avLst/>
          </a:prstGeom>
          <a:solidFill>
            <a:srgbClr val="0A84FF"/>
          </a:solidFill>
          <a:ln/>
        </p:spPr>
      </p:sp>
      <p:sp>
        <p:nvSpPr>
          <p:cNvPr id="22" name="Text 20"/>
          <p:cNvSpPr txBox="1"/>
          <p:nvPr/>
        </p:nvSpPr>
        <p:spPr>
          <a:xfrm>
            <a:off x="566928" y="4242816"/>
            <a:ext cx="8046720" cy="27432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Designar Campeón de Constructabilidad</a:t>
            </a:r>
            <a:endParaRPr lang="en-US" sz="1300" dirty="0"/>
          </a:p>
        </p:txBody>
      </p:sp>
      <p:sp>
        <p:nvSpPr>
          <p:cNvPr id="23" name="Text 21"/>
          <p:cNvSpPr txBox="1"/>
          <p:nvPr/>
        </p:nvSpPr>
        <p:spPr>
          <a:xfrm>
            <a:off x="566928" y="4517136"/>
            <a:ext cx="804672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Nombrar al Gerente de Constructabilidad corporativo. Definir su autoridad, recursos y reporte directo a la alta dirección.</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Hito 2: Establecer el Programa Corporativo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El programa corporativo es la infraestructura permanente que soporta la constructabilidad en todos los proyectos:</a:t>
            </a:r>
            <a:endParaRPr lang="en-US" sz="1300" dirty="0"/>
          </a:p>
        </p:txBody>
      </p:sp>
      <p:sp>
        <p:nvSpPr>
          <p:cNvPr id="6" name="Shape 4"/>
          <p:cNvSpPr/>
          <p:nvPr/>
        </p:nvSpPr>
        <p:spPr>
          <a:xfrm>
            <a:off x="365760" y="1325880"/>
            <a:ext cx="4206240" cy="1143000"/>
          </a:xfrm>
          <a:prstGeom prst="roundRect">
            <a:avLst>
              <a:gd name="adj" fmla="val 8000"/>
            </a:avLst>
          </a:prstGeom>
          <a:solidFill>
            <a:srgbClr val="2C2C2E"/>
          </a:solidFill>
          <a:ln w="12700">
            <a:solidFill>
              <a:srgbClr val="30D158"/>
            </a:solidFill>
            <a:prstDash val="solid"/>
          </a:ln>
        </p:spPr>
      </p:sp>
      <p:sp>
        <p:nvSpPr>
          <p:cNvPr id="7" name="Text 5"/>
          <p:cNvSpPr txBox="1"/>
          <p:nvPr/>
        </p:nvSpPr>
        <p:spPr>
          <a:xfrm>
            <a:off x="548640" y="1399032"/>
            <a:ext cx="3840480" cy="365760"/>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400" dirty="0"/>
          </a:p>
        </p:txBody>
      </p:sp>
      <p:sp>
        <p:nvSpPr>
          <p:cNvPr id="8" name="Text 6"/>
          <p:cNvSpPr txBox="1"/>
          <p:nvPr/>
        </p:nvSpPr>
        <p:spPr>
          <a:xfrm>
            <a:off x="548640" y="178308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Definir roles: Gerente Corporativo de Constructabilidad, Campeón de Constructabilidad por proyecto, Especialistas técnicos de apoyo.</a:t>
            </a:r>
            <a:endParaRPr lang="en-US" sz="1100" dirty="0"/>
          </a:p>
        </p:txBody>
      </p:sp>
      <p:sp>
        <p:nvSpPr>
          <p:cNvPr id="9" name="Shape 7"/>
          <p:cNvSpPr/>
          <p:nvPr/>
        </p:nvSpPr>
        <p:spPr>
          <a:xfrm>
            <a:off x="4754880" y="1325880"/>
            <a:ext cx="4206240" cy="1143000"/>
          </a:xfrm>
          <a:prstGeom prst="roundRect">
            <a:avLst>
              <a:gd name="adj" fmla="val 8000"/>
            </a:avLst>
          </a:prstGeom>
          <a:solidFill>
            <a:srgbClr val="2C2C2E"/>
          </a:solidFill>
          <a:ln w="12700">
            <a:solidFill>
              <a:srgbClr val="0A84FF"/>
            </a:solidFill>
            <a:prstDash val="solid"/>
          </a:ln>
        </p:spPr>
      </p:sp>
      <p:sp>
        <p:nvSpPr>
          <p:cNvPr id="10" name="Text 8"/>
          <p:cNvSpPr txBox="1"/>
          <p:nvPr/>
        </p:nvSpPr>
        <p:spPr>
          <a:xfrm>
            <a:off x="4937760" y="1399032"/>
            <a:ext cx="3840480" cy="365760"/>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Capacitación del Equipo</a:t>
            </a:r>
            <a:endParaRPr lang="en-US" sz="1400" dirty="0"/>
          </a:p>
        </p:txBody>
      </p:sp>
      <p:sp>
        <p:nvSpPr>
          <p:cNvPr id="11" name="Text 9"/>
          <p:cNvSpPr txBox="1"/>
          <p:nvPr/>
        </p:nvSpPr>
        <p:spPr>
          <a:xfrm>
            <a:off x="4937760" y="178308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Programa formal de capacitación en constructabilidad para ingenieros de diseño, directores de proyecto y personal de campo.</a:t>
            </a:r>
            <a:endParaRPr lang="en-US" sz="1100" dirty="0"/>
          </a:p>
        </p:txBody>
      </p:sp>
      <p:sp>
        <p:nvSpPr>
          <p:cNvPr id="12" name="Shape 10"/>
          <p:cNvSpPr/>
          <p:nvPr/>
        </p:nvSpPr>
        <p:spPr>
          <a:xfrm>
            <a:off x="365760" y="2587752"/>
            <a:ext cx="4206240" cy="1143000"/>
          </a:xfrm>
          <a:prstGeom prst="roundRect">
            <a:avLst>
              <a:gd name="adj" fmla="val 8000"/>
            </a:avLst>
          </a:prstGeom>
          <a:solidFill>
            <a:srgbClr val="2C2C2E"/>
          </a:solidFill>
          <a:ln w="12700">
            <a:solidFill>
              <a:srgbClr val="FF9500"/>
            </a:solidFill>
            <a:prstDash val="solid"/>
          </a:ln>
        </p:spPr>
      </p:sp>
      <p:sp>
        <p:nvSpPr>
          <p:cNvPr id="13" name="Text 11"/>
          <p:cNvSpPr txBox="1"/>
          <p:nvPr/>
        </p:nvSpPr>
        <p:spPr>
          <a:xfrm>
            <a:off x="548640" y="2660904"/>
            <a:ext cx="3840480" cy="365760"/>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Base de Datos de LL</a:t>
            </a:r>
            <a:endParaRPr lang="en-US" sz="1400" dirty="0"/>
          </a:p>
        </p:txBody>
      </p:sp>
      <p:sp>
        <p:nvSpPr>
          <p:cNvPr id="14" name="Text 12"/>
          <p:cNvSpPr txBox="1"/>
          <p:nvPr/>
        </p:nvSpPr>
        <p:spPr>
          <a:xfrm>
            <a:off x="548640" y="304495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Establecer la Base de Datos de Lecciones Aprendidas — el pegamento de constructabilidad entre proyectos. Sistema de captura y recuperación.</a:t>
            </a:r>
            <a:endParaRPr lang="en-US" sz="1100" dirty="0"/>
          </a:p>
        </p:txBody>
      </p:sp>
      <p:sp>
        <p:nvSpPr>
          <p:cNvPr id="15" name="Shape 13"/>
          <p:cNvSpPr/>
          <p:nvPr/>
        </p:nvSpPr>
        <p:spPr>
          <a:xfrm>
            <a:off x="4754880" y="2587752"/>
            <a:ext cx="4206240" cy="1143000"/>
          </a:xfrm>
          <a:prstGeom prst="roundRect">
            <a:avLst>
              <a:gd name="adj" fmla="val 8000"/>
            </a:avLst>
          </a:prstGeom>
          <a:solidFill>
            <a:srgbClr val="2C2C2E"/>
          </a:solidFill>
          <a:ln w="12700">
            <a:solidFill>
              <a:srgbClr val="AF52DE"/>
            </a:solidFill>
            <a:prstDash val="solid"/>
          </a:ln>
        </p:spPr>
      </p:sp>
      <p:sp>
        <p:nvSpPr>
          <p:cNvPr id="16" name="Text 14"/>
          <p:cNvSpPr txBox="1"/>
          <p:nvPr/>
        </p:nvSpPr>
        <p:spPr>
          <a:xfrm>
            <a:off x="4937760" y="2660904"/>
            <a:ext cx="3840480" cy="365760"/>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Documentos Modelo</a:t>
            </a:r>
            <a:endParaRPr lang="en-US" sz="1400" dirty="0"/>
          </a:p>
        </p:txBody>
      </p:sp>
      <p:sp>
        <p:nvSpPr>
          <p:cNvPr id="17" name="Text 15"/>
          <p:cNvSpPr txBox="1"/>
          <p:nvPr/>
        </p:nvSpPr>
        <p:spPr>
          <a:xfrm>
            <a:off x="4937760" y="304495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Política de implementación, formulario de sugerencias, log de ideas, reporte trimestral, cláusulas contractuales estándar.</a:t>
            </a:r>
            <a:endParaRPr lang="en-US" sz="1100" dirty="0"/>
          </a:p>
        </p:txBody>
      </p:sp>
      <p:sp>
        <p:nvSpPr>
          <p:cNvPr id="18" name="Shape 16"/>
          <p:cNvSpPr/>
          <p:nvPr/>
        </p:nvSpPr>
        <p:spPr>
          <a:xfrm>
            <a:off x="365760" y="3849624"/>
            <a:ext cx="4206240" cy="1143000"/>
          </a:xfrm>
          <a:prstGeom prst="roundRect">
            <a:avLst>
              <a:gd name="adj" fmla="val 8000"/>
            </a:avLst>
          </a:prstGeom>
          <a:solidFill>
            <a:srgbClr val="2C2C2E"/>
          </a:solidFill>
          <a:ln w="12700">
            <a:solidFill>
              <a:srgbClr val="FFD60A"/>
            </a:solidFill>
            <a:prstDash val="solid"/>
          </a:ln>
        </p:spPr>
      </p:sp>
      <p:sp>
        <p:nvSpPr>
          <p:cNvPr id="19" name="Text 17"/>
          <p:cNvSpPr txBox="1"/>
          <p:nvPr/>
        </p:nvSpPr>
        <p:spPr>
          <a:xfrm>
            <a:off x="548640" y="3922776"/>
            <a:ext cx="3840480" cy="365760"/>
          </a:xfrm>
          <a:prstGeom prst="rect">
            <a:avLst/>
          </a:prstGeom>
          <a:noFill/>
          <a:ln/>
        </p:spPr>
        <p:txBody>
          <a:bodyPr wrap="square" lIns="0" tIns="0" rIns="0" bIns="0" rtlCol="0" anchor="ctr"/>
          <a:lstStyle/>
          <a:p>
            <a:pPr indent="0" marL="0">
              <a:buNone/>
            </a:pPr>
            <a:r>
              <a:rPr lang="en-US" sz="1400" b="1" dirty="0">
                <a:solidFill>
                  <a:srgbClr val="FFD60A"/>
                </a:solidFill>
                <a:latin typeface="Atkinson Hyperlegible" pitchFamily="34" charset="0"/>
                <a:ea typeface="Atkinson Hyperlegible" pitchFamily="34" charset="-122"/>
                <a:cs typeface="Atkinson Hyperlegible" pitchFamily="34" charset="-120"/>
              </a:rPr>
              <a:t>Matrices de Conceptos</a:t>
            </a:r>
            <a:endParaRPr lang="en-US" sz="1400" dirty="0"/>
          </a:p>
        </p:txBody>
      </p:sp>
      <p:sp>
        <p:nvSpPr>
          <p:cNvPr id="20" name="Text 18"/>
          <p:cNvSpPr txBox="1"/>
          <p:nvPr/>
        </p:nvSpPr>
        <p:spPr>
          <a:xfrm>
            <a:off x="548640" y="430682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Matrices de aplicación de conceptos por tipo de proyecto (industrial y comercial). Guía qué concepto aplica en qué fase.</a:t>
            </a:r>
            <a:endParaRPr lang="en-US" sz="1100" dirty="0"/>
          </a:p>
        </p:txBody>
      </p:sp>
      <p:sp>
        <p:nvSpPr>
          <p:cNvPr id="21" name="Shape 19"/>
          <p:cNvSpPr/>
          <p:nvPr/>
        </p:nvSpPr>
        <p:spPr>
          <a:xfrm>
            <a:off x="4754880" y="3849624"/>
            <a:ext cx="4206240" cy="1143000"/>
          </a:xfrm>
          <a:prstGeom prst="roundRect">
            <a:avLst>
              <a:gd name="adj" fmla="val 8000"/>
            </a:avLst>
          </a:prstGeom>
          <a:solidFill>
            <a:srgbClr val="2C2C2E"/>
          </a:solidFill>
          <a:ln w="12700">
            <a:solidFill>
              <a:srgbClr val="FF453A"/>
            </a:solidFill>
            <a:prstDash val="solid"/>
          </a:ln>
        </p:spPr>
      </p:sp>
      <p:sp>
        <p:nvSpPr>
          <p:cNvPr id="22" name="Text 20"/>
          <p:cNvSpPr txBox="1"/>
          <p:nvPr/>
        </p:nvSpPr>
        <p:spPr>
          <a:xfrm>
            <a:off x="4937760" y="3922776"/>
            <a:ext cx="3840480" cy="365760"/>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Sistema de Evaluación</a:t>
            </a:r>
            <a:endParaRPr lang="en-US" sz="1400" dirty="0"/>
          </a:p>
        </p:txBody>
      </p:sp>
      <p:sp>
        <p:nvSpPr>
          <p:cNvPr id="23" name="Text 21"/>
          <p:cNvSpPr txBox="1"/>
          <p:nvPr/>
        </p:nvSpPr>
        <p:spPr>
          <a:xfrm>
            <a:off x="4937760" y="430682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Matrices de evaluación del programa corporativo y de proyecto. 5 niveles de madurez con 15 parámetros descriptivos.</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Barreras más Comunes a la Constructabilidad — CII Research</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Identificadas en entrevistas con 62 empresas. Las barreras existen a nivel corporativo y de proyecto:</a:t>
            </a:r>
            <a:endParaRPr lang="en-US" sz="1400" dirty="0"/>
          </a:p>
        </p:txBody>
      </p:sp>
      <p:sp>
        <p:nvSpPr>
          <p:cNvPr id="6" name="Shape 4"/>
          <p:cNvSpPr/>
          <p:nvPr/>
        </p:nvSpPr>
        <p:spPr>
          <a:xfrm>
            <a:off x="365760" y="1298448"/>
            <a:ext cx="4206240" cy="1143000"/>
          </a:xfrm>
          <a:prstGeom prst="roundRect">
            <a:avLst>
              <a:gd name="adj" fmla="val 8000"/>
            </a:avLst>
          </a:prstGeom>
          <a:solidFill>
            <a:srgbClr val="2C2C2E"/>
          </a:solidFill>
          <a:ln w="12700">
            <a:solidFill>
              <a:srgbClr val="FF453A"/>
            </a:solidFill>
            <a:prstDash val="solid"/>
          </a:ln>
        </p:spPr>
      </p:sp>
      <p:sp>
        <p:nvSpPr>
          <p:cNvPr id="7" name="Shape 5"/>
          <p:cNvSpPr/>
          <p:nvPr/>
        </p:nvSpPr>
        <p:spPr>
          <a:xfrm>
            <a:off x="365760" y="1298448"/>
            <a:ext cx="64008" cy="1143000"/>
          </a:xfrm>
          <a:prstGeom prst="rect">
            <a:avLst/>
          </a:prstGeom>
          <a:solidFill>
            <a:srgbClr val="FF453A"/>
          </a:solidFill>
          <a:ln/>
        </p:spPr>
      </p:sp>
      <p:sp>
        <p:nvSpPr>
          <p:cNvPr id="8" name="Text 6"/>
          <p:cNvSpPr txBox="1"/>
          <p:nvPr/>
        </p:nvSpPr>
        <p:spPr>
          <a:xfrm>
            <a:off x="566928" y="1371600"/>
            <a:ext cx="374904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Falta de Compromiso de la Alta Dirección</a:t>
            </a:r>
            <a:endParaRPr lang="en-US" sz="1250" dirty="0"/>
          </a:p>
        </p:txBody>
      </p:sp>
      <p:sp>
        <p:nvSpPr>
          <p:cNvPr id="9" name="Text 7"/>
          <p:cNvSpPr txBox="1"/>
          <p:nvPr/>
        </p:nvSpPr>
        <p:spPr>
          <a:xfrm>
            <a:off x="566928" y="1755648"/>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Sin soporte visible de los líderes, los esfuerzos de constructabilidad son marginales. Es la barrera #1 y su ausencia hace imposible superar las demás.</a:t>
            </a:r>
            <a:endParaRPr lang="en-US" sz="1050" dirty="0"/>
          </a:p>
        </p:txBody>
      </p:sp>
      <p:sp>
        <p:nvSpPr>
          <p:cNvPr id="10" name="Shape 8"/>
          <p:cNvSpPr/>
          <p:nvPr/>
        </p:nvSpPr>
        <p:spPr>
          <a:xfrm>
            <a:off x="4754880" y="1298448"/>
            <a:ext cx="4206240" cy="1143000"/>
          </a:xfrm>
          <a:prstGeom prst="roundRect">
            <a:avLst>
              <a:gd name="adj" fmla="val 8000"/>
            </a:avLst>
          </a:prstGeom>
          <a:solidFill>
            <a:srgbClr val="2C2C2E"/>
          </a:solidFill>
          <a:ln w="12700">
            <a:solidFill>
              <a:srgbClr val="FF9500"/>
            </a:solidFill>
            <a:prstDash val="solid"/>
          </a:ln>
        </p:spPr>
      </p:sp>
      <p:sp>
        <p:nvSpPr>
          <p:cNvPr id="11" name="Shape 9"/>
          <p:cNvSpPr/>
          <p:nvPr/>
        </p:nvSpPr>
        <p:spPr>
          <a:xfrm>
            <a:off x="4754880" y="1298448"/>
            <a:ext cx="64008" cy="1143000"/>
          </a:xfrm>
          <a:prstGeom prst="rect">
            <a:avLst/>
          </a:prstGeom>
          <a:solidFill>
            <a:srgbClr val="FF9500"/>
          </a:solidFill>
          <a:ln/>
        </p:spPr>
      </p:sp>
      <p:sp>
        <p:nvSpPr>
          <p:cNvPr id="12" name="Text 10"/>
          <p:cNvSpPr txBox="1"/>
          <p:nvPr/>
        </p:nvSpPr>
        <p:spPr>
          <a:xfrm>
            <a:off x="4956048" y="1371600"/>
            <a:ext cx="374904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Separación Organizacional D&amp;C</a:t>
            </a:r>
            <a:endParaRPr lang="en-US" sz="1250" dirty="0"/>
          </a:p>
        </p:txBody>
      </p:sp>
      <p:sp>
        <p:nvSpPr>
          <p:cNvPr id="13" name="Text 11"/>
          <p:cNvSpPr txBox="1"/>
          <p:nvPr/>
        </p:nvSpPr>
        <p:spPr>
          <a:xfrm>
            <a:off x="4956048" y="1755648"/>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Contratos y culturas organizacionales que separan diseñadores de constructores. Comunicación limitada a revisiones formales tardías.</a:t>
            </a:r>
            <a:endParaRPr lang="en-US" sz="1050" dirty="0"/>
          </a:p>
        </p:txBody>
      </p:sp>
      <p:sp>
        <p:nvSpPr>
          <p:cNvPr id="14" name="Shape 12"/>
          <p:cNvSpPr/>
          <p:nvPr/>
        </p:nvSpPr>
        <p:spPr>
          <a:xfrm>
            <a:off x="365760" y="2560320"/>
            <a:ext cx="4206240" cy="1143000"/>
          </a:xfrm>
          <a:prstGeom prst="roundRect">
            <a:avLst>
              <a:gd name="adj" fmla="val 8000"/>
            </a:avLst>
          </a:prstGeom>
          <a:solidFill>
            <a:srgbClr val="2C2C2E"/>
          </a:solidFill>
          <a:ln w="12700">
            <a:solidFill>
              <a:srgbClr val="FFD60A"/>
            </a:solidFill>
            <a:prstDash val="solid"/>
          </a:ln>
        </p:spPr>
      </p:sp>
      <p:sp>
        <p:nvSpPr>
          <p:cNvPr id="15" name="Shape 13"/>
          <p:cNvSpPr/>
          <p:nvPr/>
        </p:nvSpPr>
        <p:spPr>
          <a:xfrm>
            <a:off x="365760" y="2560320"/>
            <a:ext cx="64008" cy="1143000"/>
          </a:xfrm>
          <a:prstGeom prst="rect">
            <a:avLst/>
          </a:prstGeom>
          <a:solidFill>
            <a:srgbClr val="FFD60A"/>
          </a:solidFill>
          <a:ln/>
        </p:spPr>
      </p:sp>
      <p:sp>
        <p:nvSpPr>
          <p:cNvPr id="16" name="Text 14"/>
          <p:cNvSpPr txBox="1"/>
          <p:nvPr/>
        </p:nvSpPr>
        <p:spPr>
          <a:xfrm>
            <a:off x="566928" y="2633472"/>
            <a:ext cx="374904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Percepción de Costo Front-End</a:t>
            </a:r>
            <a:endParaRPr lang="en-US" sz="1250" dirty="0"/>
          </a:p>
        </p:txBody>
      </p:sp>
      <p:sp>
        <p:nvSpPr>
          <p:cNvPr id="17" name="Text 15"/>
          <p:cNvSpPr txBox="1"/>
          <p:nvPr/>
        </p:nvSpPr>
        <p:spPr>
          <a:xfrm>
            <a:off x="566928" y="3017520"/>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"La constructabilidad cuesta más en la fase temprana." Falso — el retorno promedio es 10:1. El costo es pequeño, el beneficio es grande.</a:t>
            </a:r>
            <a:endParaRPr lang="en-US" sz="1050" dirty="0"/>
          </a:p>
        </p:txBody>
      </p:sp>
      <p:sp>
        <p:nvSpPr>
          <p:cNvPr id="18" name="Shape 16"/>
          <p:cNvSpPr/>
          <p:nvPr/>
        </p:nvSpPr>
        <p:spPr>
          <a:xfrm>
            <a:off x="4754880" y="2560320"/>
            <a:ext cx="4206240" cy="1143000"/>
          </a:xfrm>
          <a:prstGeom prst="roundRect">
            <a:avLst>
              <a:gd name="adj" fmla="val 8000"/>
            </a:avLst>
          </a:prstGeom>
          <a:solidFill>
            <a:srgbClr val="2C2C2E"/>
          </a:solidFill>
          <a:ln w="12700">
            <a:solidFill>
              <a:srgbClr val="AF52DE"/>
            </a:solidFill>
            <a:prstDash val="solid"/>
          </a:ln>
        </p:spPr>
      </p:sp>
      <p:sp>
        <p:nvSpPr>
          <p:cNvPr id="19" name="Shape 17"/>
          <p:cNvSpPr/>
          <p:nvPr/>
        </p:nvSpPr>
        <p:spPr>
          <a:xfrm>
            <a:off x="4754880" y="2560320"/>
            <a:ext cx="64008" cy="1143000"/>
          </a:xfrm>
          <a:prstGeom prst="rect">
            <a:avLst/>
          </a:prstGeom>
          <a:solidFill>
            <a:srgbClr val="AF52DE"/>
          </a:solidFill>
          <a:ln/>
        </p:spPr>
      </p:sp>
      <p:sp>
        <p:nvSpPr>
          <p:cNvPr id="20" name="Text 18"/>
          <p:cNvSpPr txBox="1"/>
          <p:nvPr/>
        </p:nvSpPr>
        <p:spPr>
          <a:xfrm>
            <a:off x="4956048" y="2633472"/>
            <a:ext cx="374904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Falta de Personal con Doble Experiencia</a:t>
            </a:r>
            <a:endParaRPr lang="en-US" sz="1250" dirty="0"/>
          </a:p>
        </p:txBody>
      </p:sp>
      <p:sp>
        <p:nvSpPr>
          <p:cNvPr id="21" name="Text 19"/>
          <p:cNvSpPr txBox="1"/>
          <p:nvPr/>
        </p:nvSpPr>
        <p:spPr>
          <a:xfrm>
            <a:off x="4956048" y="3017520"/>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Pocas personas tienen experiencia real tanto en diseño/ingeniería como en construcción de campo. Este perfil es crítico para el programa.</a:t>
            </a:r>
            <a:endParaRPr lang="en-US" sz="1050" dirty="0"/>
          </a:p>
        </p:txBody>
      </p:sp>
      <p:sp>
        <p:nvSpPr>
          <p:cNvPr id="22" name="Shape 20"/>
          <p:cNvSpPr/>
          <p:nvPr/>
        </p:nvSpPr>
        <p:spPr>
          <a:xfrm>
            <a:off x="365760" y="3822192"/>
            <a:ext cx="4206240" cy="1143000"/>
          </a:xfrm>
          <a:prstGeom prst="roundRect">
            <a:avLst>
              <a:gd name="adj" fmla="val 8000"/>
            </a:avLst>
          </a:prstGeom>
          <a:solidFill>
            <a:srgbClr val="2C2C2E"/>
          </a:solidFill>
          <a:ln w="12700">
            <a:solidFill>
              <a:srgbClr val="0A84FF"/>
            </a:solidFill>
            <a:prstDash val="solid"/>
          </a:ln>
        </p:spPr>
      </p:sp>
      <p:sp>
        <p:nvSpPr>
          <p:cNvPr id="23" name="Shape 21"/>
          <p:cNvSpPr/>
          <p:nvPr/>
        </p:nvSpPr>
        <p:spPr>
          <a:xfrm>
            <a:off x="365760" y="3822192"/>
            <a:ext cx="64008" cy="1143000"/>
          </a:xfrm>
          <a:prstGeom prst="rect">
            <a:avLst/>
          </a:prstGeom>
          <a:solidFill>
            <a:srgbClr val="0A84FF"/>
          </a:solidFill>
          <a:ln/>
        </p:spPr>
      </p:sp>
      <p:sp>
        <p:nvSpPr>
          <p:cNvPr id="24" name="Text 22"/>
          <p:cNvSpPr txBox="1"/>
          <p:nvPr/>
        </p:nvSpPr>
        <p:spPr>
          <a:xfrm>
            <a:off x="566928" y="3895344"/>
            <a:ext cx="374904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Ausencia de Base de Datos LL</a:t>
            </a:r>
            <a:endParaRPr lang="en-US" sz="1250" dirty="0"/>
          </a:p>
        </p:txBody>
      </p:sp>
      <p:sp>
        <p:nvSpPr>
          <p:cNvPr id="25" name="Text 23"/>
          <p:cNvSpPr txBox="1"/>
          <p:nvPr/>
        </p:nvSpPr>
        <p:spPr>
          <a:xfrm>
            <a:off x="566928" y="4279392"/>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Sin un sistema formal de Lecciones Aprendidas, los mismos errores se repiten en cada proyecto. El conocimiento no se transfiere.</a:t>
            </a:r>
            <a:endParaRPr lang="en-US" sz="1050" dirty="0"/>
          </a:p>
        </p:txBody>
      </p:sp>
      <p:sp>
        <p:nvSpPr>
          <p:cNvPr id="26" name="Shape 24"/>
          <p:cNvSpPr/>
          <p:nvPr/>
        </p:nvSpPr>
        <p:spPr>
          <a:xfrm>
            <a:off x="4754880" y="3822192"/>
            <a:ext cx="4206240" cy="1143000"/>
          </a:xfrm>
          <a:prstGeom prst="roundRect">
            <a:avLst>
              <a:gd name="adj" fmla="val 8000"/>
            </a:avLst>
          </a:prstGeom>
          <a:solidFill>
            <a:srgbClr val="2C2C2E"/>
          </a:solidFill>
          <a:ln w="12700">
            <a:solidFill>
              <a:srgbClr val="30D158"/>
            </a:solidFill>
            <a:prstDash val="solid"/>
          </a:ln>
        </p:spPr>
      </p:sp>
      <p:sp>
        <p:nvSpPr>
          <p:cNvPr id="27" name="Shape 25"/>
          <p:cNvSpPr/>
          <p:nvPr/>
        </p:nvSpPr>
        <p:spPr>
          <a:xfrm>
            <a:off x="4754880" y="3822192"/>
            <a:ext cx="64008" cy="1143000"/>
          </a:xfrm>
          <a:prstGeom prst="rect">
            <a:avLst/>
          </a:prstGeom>
          <a:solidFill>
            <a:srgbClr val="30D158"/>
          </a:solidFill>
          <a:ln/>
        </p:spPr>
      </p:sp>
      <p:sp>
        <p:nvSpPr>
          <p:cNvPr id="28" name="Text 26"/>
          <p:cNvSpPr txBox="1"/>
          <p:nvPr/>
        </p:nvSpPr>
        <p:spPr>
          <a:xfrm>
            <a:off x="4956048" y="3895344"/>
            <a:ext cx="374904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Mentalidad "Todos los proyectos son únicos"</a:t>
            </a:r>
            <a:endParaRPr lang="en-US" sz="1250" dirty="0"/>
          </a:p>
        </p:txBody>
      </p:sp>
      <p:sp>
        <p:nvSpPr>
          <p:cNvPr id="29" name="Text 27"/>
          <p:cNvSpPr txBox="1"/>
          <p:nvPr/>
        </p:nvSpPr>
        <p:spPr>
          <a:xfrm>
            <a:off x="4956048" y="4279392"/>
            <a:ext cx="3749040" cy="566928"/>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Impide estandarizar y aplicar soluciones probadas. Frecuente en ingenieros con alta especialización técnica pero baja visión de campo.</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Rompedores de Barreras — Tool 10 CII</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Estrategias específicas para combatir cada barrera identificada (CII Tool 10):</a:t>
            </a:r>
            <a:endParaRPr lang="en-US" sz="1400" dirty="0"/>
          </a:p>
        </p:txBody>
      </p:sp>
      <p:sp>
        <p:nvSpPr>
          <p:cNvPr id="6" name="Shape 4"/>
          <p:cNvSpPr/>
          <p:nvPr/>
        </p:nvSpPr>
        <p:spPr>
          <a:xfrm>
            <a:off x="365760" y="1298448"/>
            <a:ext cx="8412480" cy="548640"/>
          </a:xfrm>
          <a:prstGeom prst="roundRect">
            <a:avLst>
              <a:gd name="adj" fmla="val 16667"/>
            </a:avLst>
          </a:prstGeom>
          <a:solidFill>
            <a:srgbClr val="2C2C2E"/>
          </a:solidFill>
          <a:ln w="12700">
            <a:solidFill>
              <a:srgbClr val="3A3A3C"/>
            </a:solidFill>
            <a:prstDash val="solid"/>
          </a:ln>
        </p:spPr>
      </p:sp>
      <p:sp>
        <p:nvSpPr>
          <p:cNvPr id="7" name="Shape 5"/>
          <p:cNvSpPr/>
          <p:nvPr/>
        </p:nvSpPr>
        <p:spPr>
          <a:xfrm>
            <a:off x="365760" y="1298448"/>
            <a:ext cx="73152" cy="548640"/>
          </a:xfrm>
          <a:prstGeom prst="roundRect">
            <a:avLst>
              <a:gd name="adj" fmla="val 50000"/>
            </a:avLst>
          </a:prstGeom>
          <a:solidFill>
            <a:srgbClr val="FF453A"/>
          </a:solidFill>
          <a:ln/>
        </p:spPr>
      </p:sp>
      <p:sp>
        <p:nvSpPr>
          <p:cNvPr id="8" name="Text 6"/>
          <p:cNvSpPr txBox="1"/>
          <p:nvPr/>
        </p:nvSpPr>
        <p:spPr>
          <a:xfrm>
            <a:off x="566928" y="1371600"/>
            <a:ext cx="2011680" cy="256032"/>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Para falta de compromiso:</a:t>
            </a:r>
            <a:endParaRPr lang="en-US" sz="1100" dirty="0"/>
          </a:p>
        </p:txBody>
      </p:sp>
      <p:sp>
        <p:nvSpPr>
          <p:cNvPr id="9" name="Text 7"/>
          <p:cNvSpPr txBox="1"/>
          <p:nvPr/>
        </p:nvSpPr>
        <p:spPr>
          <a:xfrm>
            <a:off x="2651760" y="1371600"/>
            <a:ext cx="5943600" cy="38404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Presentar casos de estudio CII con datos específicos del sector. Cuantificar el costo de NO tener constructabilidad en proyectos recientes.</a:t>
            </a:r>
            <a:endParaRPr lang="en-US" sz="1100" dirty="0"/>
          </a:p>
        </p:txBody>
      </p:sp>
      <p:sp>
        <p:nvSpPr>
          <p:cNvPr id="10" name="Shape 8"/>
          <p:cNvSpPr/>
          <p:nvPr/>
        </p:nvSpPr>
        <p:spPr>
          <a:xfrm>
            <a:off x="365760" y="1920240"/>
            <a:ext cx="8412480" cy="548640"/>
          </a:xfrm>
          <a:prstGeom prst="roundRect">
            <a:avLst>
              <a:gd name="adj" fmla="val 16667"/>
            </a:avLst>
          </a:prstGeom>
          <a:solidFill>
            <a:srgbClr val="2C2C2E"/>
          </a:solidFill>
          <a:ln w="12700">
            <a:solidFill>
              <a:srgbClr val="3A3A3C"/>
            </a:solidFill>
            <a:prstDash val="solid"/>
          </a:ln>
        </p:spPr>
      </p:sp>
      <p:sp>
        <p:nvSpPr>
          <p:cNvPr id="11" name="Shape 9"/>
          <p:cNvSpPr/>
          <p:nvPr/>
        </p:nvSpPr>
        <p:spPr>
          <a:xfrm>
            <a:off x="365760" y="1920240"/>
            <a:ext cx="73152" cy="548640"/>
          </a:xfrm>
          <a:prstGeom prst="roundRect">
            <a:avLst>
              <a:gd name="adj" fmla="val 50000"/>
            </a:avLst>
          </a:prstGeom>
          <a:solidFill>
            <a:srgbClr val="FF9500"/>
          </a:solidFill>
          <a:ln/>
        </p:spPr>
      </p:sp>
      <p:sp>
        <p:nvSpPr>
          <p:cNvPr id="12" name="Text 10"/>
          <p:cNvSpPr txBox="1"/>
          <p:nvPr/>
        </p:nvSpPr>
        <p:spPr>
          <a:xfrm>
            <a:off x="566928" y="1993392"/>
            <a:ext cx="2011680" cy="256032"/>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Para separación organizacional:</a:t>
            </a:r>
            <a:endParaRPr lang="en-US" sz="1100" dirty="0"/>
          </a:p>
        </p:txBody>
      </p:sp>
      <p:sp>
        <p:nvSpPr>
          <p:cNvPr id="13" name="Text 11"/>
          <p:cNvSpPr txBox="1"/>
          <p:nvPr/>
        </p:nvSpPr>
        <p:spPr>
          <a:xfrm>
            <a:off x="2651760" y="1993392"/>
            <a:ext cx="5943600" cy="38404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Contratos que incentiven la colaboración temprana (gain-sharing, alianzas). Workshops conjuntos de planificación con E+P+C desde el inicio.</a:t>
            </a:r>
            <a:endParaRPr lang="en-US" sz="1100" dirty="0"/>
          </a:p>
        </p:txBody>
      </p:sp>
      <p:sp>
        <p:nvSpPr>
          <p:cNvPr id="14" name="Shape 12"/>
          <p:cNvSpPr/>
          <p:nvPr/>
        </p:nvSpPr>
        <p:spPr>
          <a:xfrm>
            <a:off x="365760" y="2542032"/>
            <a:ext cx="8412480" cy="548640"/>
          </a:xfrm>
          <a:prstGeom prst="roundRect">
            <a:avLst>
              <a:gd name="adj" fmla="val 16667"/>
            </a:avLst>
          </a:prstGeom>
          <a:solidFill>
            <a:srgbClr val="2C2C2E"/>
          </a:solidFill>
          <a:ln w="12700">
            <a:solidFill>
              <a:srgbClr val="3A3A3C"/>
            </a:solidFill>
            <a:prstDash val="solid"/>
          </a:ln>
        </p:spPr>
      </p:sp>
      <p:sp>
        <p:nvSpPr>
          <p:cNvPr id="15" name="Shape 13"/>
          <p:cNvSpPr/>
          <p:nvPr/>
        </p:nvSpPr>
        <p:spPr>
          <a:xfrm>
            <a:off x="365760" y="2542032"/>
            <a:ext cx="73152" cy="548640"/>
          </a:xfrm>
          <a:prstGeom prst="roundRect">
            <a:avLst>
              <a:gd name="adj" fmla="val 50000"/>
            </a:avLst>
          </a:prstGeom>
          <a:solidFill>
            <a:srgbClr val="FFD60A"/>
          </a:solidFill>
          <a:ln/>
        </p:spPr>
      </p:sp>
      <p:sp>
        <p:nvSpPr>
          <p:cNvPr id="16" name="Text 14"/>
          <p:cNvSpPr txBox="1"/>
          <p:nvPr/>
        </p:nvSpPr>
        <p:spPr>
          <a:xfrm>
            <a:off x="566928" y="2615184"/>
            <a:ext cx="2011680" cy="256032"/>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Para percepción de costo:</a:t>
            </a:r>
            <a:endParaRPr lang="en-US" sz="1100" dirty="0"/>
          </a:p>
        </p:txBody>
      </p:sp>
      <p:sp>
        <p:nvSpPr>
          <p:cNvPr id="17" name="Text 15"/>
          <p:cNvSpPr txBox="1"/>
          <p:nvPr/>
        </p:nvSpPr>
        <p:spPr>
          <a:xfrm>
            <a:off x="2651760" y="2615184"/>
            <a:ext cx="5943600" cy="38404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Calcular el ROI potencial del programa usando los factores CII (10:1). Presentar business case claro con datos del proyecto específico.</a:t>
            </a:r>
            <a:endParaRPr lang="en-US" sz="1100" dirty="0"/>
          </a:p>
        </p:txBody>
      </p:sp>
      <p:sp>
        <p:nvSpPr>
          <p:cNvPr id="18" name="Shape 16"/>
          <p:cNvSpPr/>
          <p:nvPr/>
        </p:nvSpPr>
        <p:spPr>
          <a:xfrm>
            <a:off x="365760" y="3163824"/>
            <a:ext cx="8412480" cy="548640"/>
          </a:xfrm>
          <a:prstGeom prst="roundRect">
            <a:avLst>
              <a:gd name="adj" fmla="val 16667"/>
            </a:avLst>
          </a:prstGeom>
          <a:solidFill>
            <a:srgbClr val="2C2C2E"/>
          </a:solidFill>
          <a:ln w="12700">
            <a:solidFill>
              <a:srgbClr val="3A3A3C"/>
            </a:solidFill>
            <a:prstDash val="solid"/>
          </a:ln>
        </p:spPr>
      </p:sp>
      <p:sp>
        <p:nvSpPr>
          <p:cNvPr id="19" name="Shape 17"/>
          <p:cNvSpPr/>
          <p:nvPr/>
        </p:nvSpPr>
        <p:spPr>
          <a:xfrm>
            <a:off x="365760" y="3163824"/>
            <a:ext cx="73152" cy="548640"/>
          </a:xfrm>
          <a:prstGeom prst="roundRect">
            <a:avLst>
              <a:gd name="adj" fmla="val 50000"/>
            </a:avLst>
          </a:prstGeom>
          <a:solidFill>
            <a:srgbClr val="AF52DE"/>
          </a:solidFill>
          <a:ln/>
        </p:spPr>
      </p:sp>
      <p:sp>
        <p:nvSpPr>
          <p:cNvPr id="20" name="Text 18"/>
          <p:cNvSpPr txBox="1"/>
          <p:nvPr/>
        </p:nvSpPr>
        <p:spPr>
          <a:xfrm>
            <a:off x="566928" y="3236976"/>
            <a:ext cx="2011680" cy="256032"/>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Para falta de personal:</a:t>
            </a:r>
            <a:endParaRPr lang="en-US" sz="1100" dirty="0"/>
          </a:p>
        </p:txBody>
      </p:sp>
      <p:sp>
        <p:nvSpPr>
          <p:cNvPr id="21" name="Text 19"/>
          <p:cNvSpPr txBox="1"/>
          <p:nvPr/>
        </p:nvSpPr>
        <p:spPr>
          <a:xfrm>
            <a:off x="2651760" y="3236976"/>
            <a:ext cx="5943600" cy="38404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Contratar Gerente de Constructabilidad con perfil híbrido E+C. Implementar programa de rotación de ingenieros por campo.</a:t>
            </a:r>
            <a:endParaRPr lang="en-US" sz="1100" dirty="0"/>
          </a:p>
        </p:txBody>
      </p:sp>
      <p:sp>
        <p:nvSpPr>
          <p:cNvPr id="22" name="Shape 20"/>
          <p:cNvSpPr/>
          <p:nvPr/>
        </p:nvSpPr>
        <p:spPr>
          <a:xfrm>
            <a:off x="365760" y="3785616"/>
            <a:ext cx="8412480" cy="548640"/>
          </a:xfrm>
          <a:prstGeom prst="roundRect">
            <a:avLst>
              <a:gd name="adj" fmla="val 16667"/>
            </a:avLst>
          </a:prstGeom>
          <a:solidFill>
            <a:srgbClr val="2C2C2E"/>
          </a:solidFill>
          <a:ln w="12700">
            <a:solidFill>
              <a:srgbClr val="3A3A3C"/>
            </a:solidFill>
            <a:prstDash val="solid"/>
          </a:ln>
        </p:spPr>
      </p:sp>
      <p:sp>
        <p:nvSpPr>
          <p:cNvPr id="23" name="Shape 21"/>
          <p:cNvSpPr/>
          <p:nvPr/>
        </p:nvSpPr>
        <p:spPr>
          <a:xfrm>
            <a:off x="365760" y="3785616"/>
            <a:ext cx="73152" cy="548640"/>
          </a:xfrm>
          <a:prstGeom prst="roundRect">
            <a:avLst>
              <a:gd name="adj" fmla="val 50000"/>
            </a:avLst>
          </a:prstGeom>
          <a:solidFill>
            <a:srgbClr val="0A84FF"/>
          </a:solidFill>
          <a:ln/>
        </p:spPr>
      </p:sp>
      <p:sp>
        <p:nvSpPr>
          <p:cNvPr id="24" name="Text 22"/>
          <p:cNvSpPr txBox="1"/>
          <p:nvPr/>
        </p:nvSpPr>
        <p:spPr>
          <a:xfrm>
            <a:off x="566928" y="3858768"/>
            <a:ext cx="2011680" cy="256032"/>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Para ausencia de LL DB:</a:t>
            </a:r>
            <a:endParaRPr lang="en-US" sz="1100" dirty="0"/>
          </a:p>
        </p:txBody>
      </p:sp>
      <p:sp>
        <p:nvSpPr>
          <p:cNvPr id="25" name="Text 23"/>
          <p:cNvSpPr txBox="1"/>
          <p:nvPr/>
        </p:nvSpPr>
        <p:spPr>
          <a:xfrm>
            <a:off x="2651760" y="3858768"/>
            <a:ext cx="5943600" cy="38404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Establecer un sistema simple de captura de lecciones aprendidas desde el primer proyecto. No esperar el sistema perfecto.</a:t>
            </a:r>
            <a:endParaRPr lang="en-US" sz="1100" dirty="0"/>
          </a:p>
        </p:txBody>
      </p:sp>
      <p:sp>
        <p:nvSpPr>
          <p:cNvPr id="26" name="Shape 24"/>
          <p:cNvSpPr/>
          <p:nvPr/>
        </p:nvSpPr>
        <p:spPr>
          <a:xfrm>
            <a:off x="365760" y="4407408"/>
            <a:ext cx="8412480" cy="548640"/>
          </a:xfrm>
          <a:prstGeom prst="roundRect">
            <a:avLst>
              <a:gd name="adj" fmla="val 16667"/>
            </a:avLst>
          </a:prstGeom>
          <a:solidFill>
            <a:srgbClr val="2C2C2E"/>
          </a:solidFill>
          <a:ln w="12700">
            <a:solidFill>
              <a:srgbClr val="3A3A3C"/>
            </a:solidFill>
            <a:prstDash val="solid"/>
          </a:ln>
        </p:spPr>
      </p:sp>
      <p:sp>
        <p:nvSpPr>
          <p:cNvPr id="27" name="Shape 25"/>
          <p:cNvSpPr/>
          <p:nvPr/>
        </p:nvSpPr>
        <p:spPr>
          <a:xfrm>
            <a:off x="365760" y="4407408"/>
            <a:ext cx="73152" cy="548640"/>
          </a:xfrm>
          <a:prstGeom prst="roundRect">
            <a:avLst>
              <a:gd name="adj" fmla="val 50000"/>
            </a:avLst>
          </a:prstGeom>
          <a:solidFill>
            <a:srgbClr val="30D158"/>
          </a:solidFill>
          <a:ln/>
        </p:spPr>
      </p:sp>
      <p:sp>
        <p:nvSpPr>
          <p:cNvPr id="28" name="Text 26"/>
          <p:cNvSpPr txBox="1"/>
          <p:nvPr/>
        </p:nvSpPr>
        <p:spPr>
          <a:xfrm>
            <a:off x="566928" y="4480560"/>
            <a:ext cx="2011680" cy="256032"/>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Para mentalidad de unicidad:</a:t>
            </a:r>
            <a:endParaRPr lang="en-US" sz="1100" dirty="0"/>
          </a:p>
        </p:txBody>
      </p:sp>
      <p:sp>
        <p:nvSpPr>
          <p:cNvPr id="29" name="Text 27"/>
          <p:cNvSpPr txBox="1"/>
          <p:nvPr/>
        </p:nvSpPr>
        <p:spPr>
          <a:xfrm>
            <a:off x="2651760" y="4480560"/>
            <a:ext cx="5943600" cy="38404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Identificar y documentar los elementos COMUNES entre proyectos. Enfocarse primero en estandarizar esos elementos específicos.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Estructura Organizacional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estructura debe existir tanto a nivel corporativo como a nivel de proyecto:</a:t>
            </a:r>
            <a:endParaRPr lang="en-US" sz="1400" dirty="0"/>
          </a:p>
        </p:txBody>
      </p:sp>
      <p:sp>
        <p:nvSpPr>
          <p:cNvPr id="6" name="Shape 4"/>
          <p:cNvSpPr/>
          <p:nvPr/>
        </p:nvSpPr>
        <p:spPr>
          <a:xfrm>
            <a:off x="3200400" y="1298448"/>
            <a:ext cx="2743200" cy="640080"/>
          </a:xfrm>
          <a:prstGeom prst="roundRect">
            <a:avLst>
              <a:gd name="adj" fmla="val 14286"/>
            </a:avLst>
          </a:prstGeom>
          <a:solidFill>
            <a:srgbClr val="0A84FF"/>
          </a:solidFill>
          <a:ln/>
        </p:spPr>
      </p:sp>
      <p:sp>
        <p:nvSpPr>
          <p:cNvPr id="7" name="Text 5"/>
          <p:cNvSpPr txBox="1"/>
          <p:nvPr/>
        </p:nvSpPr>
        <p:spPr>
          <a:xfrm>
            <a:off x="3200400" y="1298448"/>
            <a:ext cx="27432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Dirección / Alta Gerencia</a:t>
            </a:r>
            <a:endParaRPr lang="en-US" sz="1300" dirty="0"/>
          </a:p>
        </p:txBody>
      </p:sp>
      <p:sp>
        <p:nvSpPr>
          <p:cNvPr id="8" name="Shape 6"/>
          <p:cNvSpPr/>
          <p:nvPr/>
        </p:nvSpPr>
        <p:spPr>
          <a:xfrm>
            <a:off x="4553712" y="1938528"/>
            <a:ext cx="36576" cy="365760"/>
          </a:xfrm>
          <a:prstGeom prst="rect">
            <a:avLst/>
          </a:prstGeom>
          <a:solidFill>
            <a:srgbClr val="3A3A3C"/>
          </a:solidFill>
          <a:ln/>
        </p:spPr>
      </p:sp>
      <p:sp>
        <p:nvSpPr>
          <p:cNvPr id="9" name="Shape 7"/>
          <p:cNvSpPr/>
          <p:nvPr/>
        </p:nvSpPr>
        <p:spPr>
          <a:xfrm>
            <a:off x="2926080" y="2304288"/>
            <a:ext cx="3291840" cy="640080"/>
          </a:xfrm>
          <a:prstGeom prst="roundRect">
            <a:avLst>
              <a:gd name="adj" fmla="val 14286"/>
            </a:avLst>
          </a:prstGeom>
          <a:solidFill>
            <a:srgbClr val="30D158"/>
          </a:solidFill>
          <a:ln/>
        </p:spPr>
      </p:sp>
      <p:sp>
        <p:nvSpPr>
          <p:cNvPr id="10" name="Text 8"/>
          <p:cNvSpPr txBox="1"/>
          <p:nvPr/>
        </p:nvSpPr>
        <p:spPr>
          <a:xfrm>
            <a:off x="2926080" y="2304288"/>
            <a:ext cx="329184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Gerente Corporativo</a:t>
            </a:r>
            <a:endParaRPr lang="en-US" sz="1200" dirty="0"/>
          </a:p>
          <a:p>
            <a:pPr algn="ct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de Constructabilidad</a:t>
            </a:r>
            <a:endParaRPr lang="en-US" sz="1200" dirty="0"/>
          </a:p>
        </p:txBody>
      </p:sp>
      <p:sp>
        <p:nvSpPr>
          <p:cNvPr id="11" name="Text 9"/>
          <p:cNvSpPr txBox="1"/>
          <p:nvPr/>
        </p:nvSpPr>
        <p:spPr>
          <a:xfrm>
            <a:off x="365760" y="1371600"/>
            <a:ext cx="228600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CORPORATIVO</a:t>
            </a:r>
            <a:endParaRPr lang="en-US" sz="1300" dirty="0"/>
          </a:p>
        </p:txBody>
      </p:sp>
      <p:sp>
        <p:nvSpPr>
          <p:cNvPr id="12" name="Shape 10"/>
          <p:cNvSpPr/>
          <p:nvPr/>
        </p:nvSpPr>
        <p:spPr>
          <a:xfrm>
            <a:off x="4553712" y="2944368"/>
            <a:ext cx="36576" cy="365760"/>
          </a:xfrm>
          <a:prstGeom prst="rect">
            <a:avLst/>
          </a:prstGeom>
          <a:solidFill>
            <a:srgbClr val="3A3A3C"/>
          </a:solidFill>
          <a:ln/>
        </p:spPr>
      </p:sp>
      <p:sp>
        <p:nvSpPr>
          <p:cNvPr id="13" name="Shape 11"/>
          <p:cNvSpPr/>
          <p:nvPr/>
        </p:nvSpPr>
        <p:spPr>
          <a:xfrm>
            <a:off x="365760" y="3310128"/>
            <a:ext cx="8412480" cy="36576"/>
          </a:xfrm>
          <a:prstGeom prst="rect">
            <a:avLst/>
          </a:prstGeom>
          <a:solidFill>
            <a:srgbClr val="3A3A3C"/>
          </a:solidFill>
          <a:ln/>
        </p:spPr>
      </p:sp>
      <p:sp>
        <p:nvSpPr>
          <p:cNvPr id="14" name="Text 12"/>
          <p:cNvSpPr txBox="1"/>
          <p:nvPr/>
        </p:nvSpPr>
        <p:spPr>
          <a:xfrm>
            <a:off x="365760" y="3364992"/>
            <a:ext cx="2286000" cy="36576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DE PROYECTO</a:t>
            </a:r>
            <a:endParaRPr lang="en-US" sz="1300" dirty="0"/>
          </a:p>
        </p:txBody>
      </p:sp>
      <p:sp>
        <p:nvSpPr>
          <p:cNvPr id="15" name="Shape 13"/>
          <p:cNvSpPr/>
          <p:nvPr/>
        </p:nvSpPr>
        <p:spPr>
          <a:xfrm>
            <a:off x="365760" y="3767328"/>
            <a:ext cx="2011680" cy="841248"/>
          </a:xfrm>
          <a:prstGeom prst="roundRect">
            <a:avLst>
              <a:gd name="adj" fmla="val 10870"/>
            </a:avLst>
          </a:prstGeom>
          <a:solidFill>
            <a:srgbClr val="2C2C2E"/>
          </a:solidFill>
          <a:ln w="12700">
            <a:solidFill>
              <a:srgbClr val="FF9500"/>
            </a:solidFill>
            <a:prstDash val="solid"/>
          </a:ln>
        </p:spPr>
      </p:sp>
      <p:sp>
        <p:nvSpPr>
          <p:cNvPr id="16" name="Text 14"/>
          <p:cNvSpPr txBox="1"/>
          <p:nvPr/>
        </p:nvSpPr>
        <p:spPr>
          <a:xfrm>
            <a:off x="45720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Director de Proyecto</a:t>
            </a:r>
            <a:endParaRPr lang="en-US" sz="1100" dirty="0"/>
          </a:p>
        </p:txBody>
      </p:sp>
      <p:sp>
        <p:nvSpPr>
          <p:cNvPr id="17" name="Shape 15"/>
          <p:cNvSpPr/>
          <p:nvPr/>
        </p:nvSpPr>
        <p:spPr>
          <a:xfrm>
            <a:off x="2514600" y="3767328"/>
            <a:ext cx="2011680" cy="841248"/>
          </a:xfrm>
          <a:prstGeom prst="roundRect">
            <a:avLst>
              <a:gd name="adj" fmla="val 10870"/>
            </a:avLst>
          </a:prstGeom>
          <a:solidFill>
            <a:srgbClr val="2C2C2E"/>
          </a:solidFill>
          <a:ln w="12700">
            <a:solidFill>
              <a:srgbClr val="FF9500"/>
            </a:solidFill>
            <a:prstDash val="solid"/>
          </a:ln>
        </p:spPr>
      </p:sp>
      <p:sp>
        <p:nvSpPr>
          <p:cNvPr id="18" name="Text 16"/>
          <p:cNvSpPr txBox="1"/>
          <p:nvPr/>
        </p:nvSpPr>
        <p:spPr>
          <a:xfrm>
            <a:off x="260604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100" dirty="0"/>
          </a:p>
        </p:txBody>
      </p:sp>
      <p:sp>
        <p:nvSpPr>
          <p:cNvPr id="19" name="Shape 17"/>
          <p:cNvSpPr/>
          <p:nvPr/>
        </p:nvSpPr>
        <p:spPr>
          <a:xfrm>
            <a:off x="4663440" y="3767328"/>
            <a:ext cx="2011680" cy="841248"/>
          </a:xfrm>
          <a:prstGeom prst="roundRect">
            <a:avLst>
              <a:gd name="adj" fmla="val 10870"/>
            </a:avLst>
          </a:prstGeom>
          <a:solidFill>
            <a:srgbClr val="2C2C2E"/>
          </a:solidFill>
          <a:ln w="12700">
            <a:solidFill>
              <a:srgbClr val="FFD60A"/>
            </a:solidFill>
            <a:prstDash val="solid"/>
          </a:ln>
        </p:spPr>
      </p:sp>
      <p:sp>
        <p:nvSpPr>
          <p:cNvPr id="20" name="Text 18"/>
          <p:cNvSpPr txBox="1"/>
          <p:nvPr/>
        </p:nvSpPr>
        <p:spPr>
          <a:xfrm>
            <a:off x="4754880" y="3822192"/>
            <a:ext cx="1828800" cy="731520"/>
          </a:xfrm>
          <a:prstGeom prst="rect">
            <a:avLst/>
          </a:prstGeom>
          <a:noFill/>
          <a:ln/>
        </p:spPr>
        <p:txBody>
          <a:bodyPr wrap="square" lIns="0" tIns="0" rIns="0" bIns="0" rtlCol="0" anchor="ctr"/>
          <a:lstStyle/>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Campeones por Especialidad</a:t>
            </a:r>
            <a:endParaRPr lang="en-US" sz="1100" dirty="0"/>
          </a:p>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(Estructuras, Mec., Elec., Civil)</a:t>
            </a:r>
            <a:endParaRPr lang="en-US" sz="1100" dirty="0"/>
          </a:p>
        </p:txBody>
      </p:sp>
      <p:sp>
        <p:nvSpPr>
          <p:cNvPr id="21" name="Shape 19"/>
          <p:cNvSpPr/>
          <p:nvPr/>
        </p:nvSpPr>
        <p:spPr>
          <a:xfrm>
            <a:off x="6812280" y="3767328"/>
            <a:ext cx="2011680" cy="841248"/>
          </a:xfrm>
          <a:prstGeom prst="roundRect">
            <a:avLst>
              <a:gd name="adj" fmla="val 10870"/>
            </a:avLst>
          </a:prstGeom>
          <a:solidFill>
            <a:srgbClr val="2C2C2E"/>
          </a:solidFill>
          <a:ln w="12700">
            <a:solidFill>
              <a:srgbClr val="8E8E93"/>
            </a:solidFill>
            <a:prstDash val="solid"/>
          </a:ln>
        </p:spPr>
      </p:sp>
      <p:sp>
        <p:nvSpPr>
          <p:cNvPr id="22" name="Text 20"/>
          <p:cNvSpPr txBox="1"/>
          <p:nvPr/>
        </p:nvSpPr>
        <p:spPr>
          <a:xfrm>
            <a:off x="6903720" y="3822192"/>
            <a:ext cx="1828800" cy="73152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Equipo de Campo (Superintendentes,</a:t>
            </a:r>
            <a:endParaRPr lang="en-US" sz="1100" dirty="0"/>
          </a:p>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Capataces, Subcontratistas)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Hito 3: Obtener Capacidades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El proyecto requiere capacidades específicas para ejecutar el programa de constructabilidad:</a:t>
            </a:r>
            <a:endParaRPr lang="en-US" sz="1400" dirty="0"/>
          </a:p>
        </p:txBody>
      </p:sp>
      <p:sp>
        <p:nvSpPr>
          <p:cNvPr id="6" name="Shape 4"/>
          <p:cNvSpPr/>
          <p:nvPr/>
        </p:nvSpPr>
        <p:spPr>
          <a:xfrm>
            <a:off x="365760" y="1298448"/>
            <a:ext cx="8412480" cy="804672"/>
          </a:xfrm>
          <a:prstGeom prst="roundRect">
            <a:avLst>
              <a:gd name="adj" fmla="val 11364"/>
            </a:avLst>
          </a:prstGeom>
          <a:solidFill>
            <a:srgbClr val="2C2C2E"/>
          </a:solidFill>
          <a:ln w="12700">
            <a:solidFill>
              <a:srgbClr val="3A3A3C"/>
            </a:solidFill>
            <a:prstDash val="solid"/>
          </a:ln>
        </p:spPr>
      </p:sp>
      <p:sp>
        <p:nvSpPr>
          <p:cNvPr id="7" name="Shape 5"/>
          <p:cNvSpPr/>
          <p:nvPr/>
        </p:nvSpPr>
        <p:spPr>
          <a:xfrm>
            <a:off x="457200" y="1389888"/>
            <a:ext cx="457200" cy="457200"/>
          </a:xfrm>
          <a:prstGeom prst="ellipse">
            <a:avLst/>
          </a:prstGeom>
          <a:solidFill>
            <a:srgbClr val="FF9500"/>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1</a:t>
            </a:r>
            <a:endParaRPr lang="en-US" sz="1600" dirty="0"/>
          </a:p>
        </p:txBody>
      </p:sp>
      <p:sp>
        <p:nvSpPr>
          <p:cNvPr id="9" name="Text 7"/>
          <p:cNvSpPr txBox="1"/>
          <p:nvPr/>
        </p:nvSpPr>
        <p:spPr>
          <a:xfrm>
            <a:off x="1051560" y="1371600"/>
            <a:ext cx="7543800" cy="310896"/>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300" dirty="0"/>
          </a:p>
        </p:txBody>
      </p:sp>
      <p:sp>
        <p:nvSpPr>
          <p:cNvPr id="10" name="Text 8"/>
          <p:cNvSpPr txBox="1"/>
          <p:nvPr/>
        </p:nvSpPr>
        <p:spPr>
          <a:xfrm>
            <a:off x="1051560" y="1682496"/>
            <a:ext cx="754380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Perfil: experiencia combinada en ingeniería Y construcción. Debe conocer tanto el proceso de diseño como las operaciones de campo. Típicamente ex-director de obra con base de ingeniería.</a:t>
            </a:r>
            <a:endParaRPr lang="en-US" sz="1100" dirty="0"/>
          </a:p>
        </p:txBody>
      </p:sp>
      <p:sp>
        <p:nvSpPr>
          <p:cNvPr id="11" name="Shape 9"/>
          <p:cNvSpPr/>
          <p:nvPr/>
        </p:nvSpPr>
        <p:spPr>
          <a:xfrm>
            <a:off x="365760" y="2212848"/>
            <a:ext cx="8412480" cy="804672"/>
          </a:xfrm>
          <a:prstGeom prst="roundRect">
            <a:avLst>
              <a:gd name="adj" fmla="val 11364"/>
            </a:avLst>
          </a:prstGeom>
          <a:solidFill>
            <a:srgbClr val="2C2C2E"/>
          </a:solidFill>
          <a:ln w="12700">
            <a:solidFill>
              <a:srgbClr val="3A3A3C"/>
            </a:solidFill>
            <a:prstDash val="solid"/>
          </a:ln>
        </p:spPr>
      </p:sp>
      <p:sp>
        <p:nvSpPr>
          <p:cNvPr id="12" name="Shape 10"/>
          <p:cNvSpPr/>
          <p:nvPr/>
        </p:nvSpPr>
        <p:spPr>
          <a:xfrm>
            <a:off x="457200" y="2304288"/>
            <a:ext cx="457200" cy="457200"/>
          </a:xfrm>
          <a:prstGeom prst="ellipse">
            <a:avLst/>
          </a:prstGeom>
          <a:solidFill>
            <a:srgbClr val="0A84FF"/>
          </a:solidFill>
          <a:ln/>
        </p:spPr>
      </p:sp>
      <p:sp>
        <p:nvSpPr>
          <p:cNvPr id="13" name="Text 11"/>
          <p:cNvSpPr txBox="1"/>
          <p:nvPr/>
        </p:nvSpPr>
        <p:spPr>
          <a:xfrm>
            <a:off x="457200" y="2304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2</a:t>
            </a:r>
            <a:endParaRPr lang="en-US" sz="1600" dirty="0"/>
          </a:p>
        </p:txBody>
      </p:sp>
      <p:sp>
        <p:nvSpPr>
          <p:cNvPr id="14" name="Text 12"/>
          <p:cNvSpPr txBox="1"/>
          <p:nvPr/>
        </p:nvSpPr>
        <p:spPr>
          <a:xfrm>
            <a:off x="1051560" y="2286000"/>
            <a:ext cx="7543800" cy="310896"/>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Personal de Diseño con Sensibilidad de Campo</a:t>
            </a:r>
            <a:endParaRPr lang="en-US" sz="1300" dirty="0"/>
          </a:p>
        </p:txBody>
      </p:sp>
      <p:sp>
        <p:nvSpPr>
          <p:cNvPr id="15" name="Text 13"/>
          <p:cNvSpPr txBox="1"/>
          <p:nvPr/>
        </p:nvSpPr>
        <p:spPr>
          <a:xfrm>
            <a:off x="1051560" y="2596896"/>
            <a:ext cx="754380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Ingenieros de diseño que han pasado tiempo en obra. Entienden las consecuencias de sus decisiones de diseño en la ejecución real.</a:t>
            </a:r>
            <a:endParaRPr lang="en-US" sz="1100" dirty="0"/>
          </a:p>
        </p:txBody>
      </p:sp>
      <p:sp>
        <p:nvSpPr>
          <p:cNvPr id="16" name="Shape 14"/>
          <p:cNvSpPr/>
          <p:nvPr/>
        </p:nvSpPr>
        <p:spPr>
          <a:xfrm>
            <a:off x="365760" y="3127248"/>
            <a:ext cx="8412480" cy="804672"/>
          </a:xfrm>
          <a:prstGeom prst="roundRect">
            <a:avLst>
              <a:gd name="adj" fmla="val 11364"/>
            </a:avLst>
          </a:prstGeom>
          <a:solidFill>
            <a:srgbClr val="2C2C2E"/>
          </a:solidFill>
          <a:ln w="12700">
            <a:solidFill>
              <a:srgbClr val="3A3A3C"/>
            </a:solidFill>
            <a:prstDash val="solid"/>
          </a:ln>
        </p:spPr>
      </p:sp>
      <p:sp>
        <p:nvSpPr>
          <p:cNvPr id="17" name="Shape 15"/>
          <p:cNvSpPr/>
          <p:nvPr/>
        </p:nvSpPr>
        <p:spPr>
          <a:xfrm>
            <a:off x="457200" y="3218688"/>
            <a:ext cx="457200" cy="457200"/>
          </a:xfrm>
          <a:prstGeom prst="ellipse">
            <a:avLst/>
          </a:prstGeom>
          <a:solidFill>
            <a:srgbClr val="30D158"/>
          </a:solidFill>
          <a:ln/>
        </p:spPr>
      </p:sp>
      <p:sp>
        <p:nvSpPr>
          <p:cNvPr id="18" name="Text 16"/>
          <p:cNvSpPr txBox="1"/>
          <p:nvPr/>
        </p:nvSpPr>
        <p:spPr>
          <a:xfrm>
            <a:off x="457200" y="32186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3</a:t>
            </a:r>
            <a:endParaRPr lang="en-US" sz="1600" dirty="0"/>
          </a:p>
        </p:txBody>
      </p:sp>
      <p:sp>
        <p:nvSpPr>
          <p:cNvPr id="19" name="Text 17"/>
          <p:cNvSpPr txBox="1"/>
          <p:nvPr/>
        </p:nvSpPr>
        <p:spPr>
          <a:xfrm>
            <a:off x="1051560" y="3200400"/>
            <a:ext cx="7543800" cy="310896"/>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Campeones de Constructabilidad</a:t>
            </a:r>
            <a:endParaRPr lang="en-US" sz="1300" dirty="0"/>
          </a:p>
        </p:txBody>
      </p:sp>
      <p:sp>
        <p:nvSpPr>
          <p:cNvPr id="20" name="Text 18"/>
          <p:cNvSpPr txBox="1"/>
          <p:nvPr/>
        </p:nvSpPr>
        <p:spPr>
          <a:xfrm>
            <a:off x="1051560" y="3511296"/>
            <a:ext cx="754380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Un campeón por especialidad técnica (estructuras, mecánica, eléctrica, civil). Responsables de capturar y propagar buenas prácticas.</a:t>
            </a:r>
            <a:endParaRPr lang="en-US" sz="1100" dirty="0"/>
          </a:p>
        </p:txBody>
      </p:sp>
      <p:sp>
        <p:nvSpPr>
          <p:cNvPr id="21" name="Shape 19"/>
          <p:cNvSpPr/>
          <p:nvPr/>
        </p:nvSpPr>
        <p:spPr>
          <a:xfrm>
            <a:off x="365760" y="4041648"/>
            <a:ext cx="8412480" cy="804672"/>
          </a:xfrm>
          <a:prstGeom prst="roundRect">
            <a:avLst>
              <a:gd name="adj" fmla="val 11364"/>
            </a:avLst>
          </a:prstGeom>
          <a:solidFill>
            <a:srgbClr val="2C2C2E"/>
          </a:solidFill>
          <a:ln w="12700">
            <a:solidFill>
              <a:srgbClr val="3A3A3C"/>
            </a:solidFill>
            <a:prstDash val="solid"/>
          </a:ln>
        </p:spPr>
      </p:sp>
      <p:sp>
        <p:nvSpPr>
          <p:cNvPr id="22" name="Shape 20"/>
          <p:cNvSpPr/>
          <p:nvPr/>
        </p:nvSpPr>
        <p:spPr>
          <a:xfrm>
            <a:off x="457200" y="4133088"/>
            <a:ext cx="457200" cy="457200"/>
          </a:xfrm>
          <a:prstGeom prst="ellipse">
            <a:avLst/>
          </a:prstGeom>
          <a:solidFill>
            <a:srgbClr val="AF52DE"/>
          </a:solidFill>
          <a:ln/>
        </p:spPr>
      </p:sp>
      <p:sp>
        <p:nvSpPr>
          <p:cNvPr id="23" name="Text 21"/>
          <p:cNvSpPr txBox="1"/>
          <p:nvPr/>
        </p:nvSpPr>
        <p:spPr>
          <a:xfrm>
            <a:off x="457200" y="41330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tkinson Hyperlegible" pitchFamily="34" charset="0"/>
                <a:ea typeface="Atkinson Hyperlegible" pitchFamily="34" charset="-122"/>
                <a:cs typeface="Atkinson Hyperlegible" pitchFamily="34" charset="-120"/>
              </a:rPr>
              <a:t>4</a:t>
            </a:r>
            <a:endParaRPr lang="en-US" sz="1600" dirty="0"/>
          </a:p>
        </p:txBody>
      </p:sp>
      <p:sp>
        <p:nvSpPr>
          <p:cNvPr id="24" name="Text 22"/>
          <p:cNvSpPr txBox="1"/>
          <p:nvPr/>
        </p:nvSpPr>
        <p:spPr>
          <a:xfrm>
            <a:off x="1051560" y="4114800"/>
            <a:ext cx="7543800" cy="310896"/>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Constructores Participando Temprano</a:t>
            </a:r>
            <a:endParaRPr lang="en-US" sz="1300" dirty="0"/>
          </a:p>
        </p:txBody>
      </p:sp>
      <p:sp>
        <p:nvSpPr>
          <p:cNvPr id="25" name="Text 23"/>
          <p:cNvSpPr txBox="1"/>
          <p:nvPr/>
        </p:nvSpPr>
        <p:spPr>
          <a:xfrm>
            <a:off x="1051560" y="4425696"/>
            <a:ext cx="754380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Personal de campo involucrado desde la fase de diseño. No solo disponibles — deben ser experimentados y comprometidos.</a:t>
            </a:r>
            <a:endParaRPr lang="en-US" sz="1100" dirty="0"/>
          </a:p>
        </p:txBody>
      </p:sp>
      <p:sp>
        <p:nvSpPr>
          <p:cNvPr id="26" name="Text 24"/>
          <p:cNvSpPr txBox="1"/>
          <p:nvPr/>
        </p:nvSpPr>
        <p:spPr>
          <a:xfrm>
            <a:off x="365760" y="4974336"/>
            <a:ext cx="8412480" cy="25603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Fuentes de mejora: experiencia del equipo del proyecto, Base de Datos de Lecciones Aprendidas corporativa, literatura CII, consultores de constructabilidad, programas de intercambio de industria.</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Hito 4: Planificar la Implementación del Proyecto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planificación transforma los conceptos CII en acciones específicas para el proyecto:</a:t>
            </a:r>
            <a:endParaRPr lang="en-US" sz="1400" dirty="0"/>
          </a:p>
        </p:txBody>
      </p:sp>
      <p:sp>
        <p:nvSpPr>
          <p:cNvPr id="6" name="Shape 4"/>
          <p:cNvSpPr/>
          <p:nvPr/>
        </p:nvSpPr>
        <p:spPr>
          <a:xfrm>
            <a:off x="365760" y="1298448"/>
            <a:ext cx="4206240" cy="1755648"/>
          </a:xfrm>
          <a:prstGeom prst="roundRect">
            <a:avLst>
              <a:gd name="adj" fmla="val 6250"/>
            </a:avLst>
          </a:prstGeom>
          <a:solidFill>
            <a:srgbClr val="2C2C2E"/>
          </a:solidFill>
          <a:ln w="12700">
            <a:solidFill>
              <a:srgbClr val="AF52DE"/>
            </a:solidFill>
            <a:prstDash val="solid"/>
          </a:ln>
        </p:spPr>
      </p:sp>
      <p:sp>
        <p:nvSpPr>
          <p:cNvPr id="7" name="Shape 5"/>
          <p:cNvSpPr/>
          <p:nvPr/>
        </p:nvSpPr>
        <p:spPr>
          <a:xfrm>
            <a:off x="365760" y="1298448"/>
            <a:ext cx="4206240" cy="457200"/>
          </a:xfrm>
          <a:prstGeom prst="roundRect">
            <a:avLst>
              <a:gd name="adj" fmla="val 24000"/>
            </a:avLst>
          </a:prstGeom>
          <a:solidFill>
            <a:srgbClr val="AF52DE"/>
          </a:solidFill>
          <a:ln/>
        </p:spPr>
      </p:sp>
      <p:sp>
        <p:nvSpPr>
          <p:cNvPr id="8" name="Shape 6"/>
          <p:cNvSpPr/>
          <p:nvPr/>
        </p:nvSpPr>
        <p:spPr>
          <a:xfrm>
            <a:off x="365760" y="1554480"/>
            <a:ext cx="4206240" cy="201168"/>
          </a:xfrm>
          <a:prstGeom prst="rect">
            <a:avLst/>
          </a:prstGeom>
          <a:solidFill>
            <a:srgbClr val="AF52DE"/>
          </a:solidFill>
          <a:ln/>
        </p:spPr>
      </p:sp>
      <p:sp>
        <p:nvSpPr>
          <p:cNvPr id="9" name="Text 7"/>
          <p:cNvSpPr txBox="1"/>
          <p:nvPr/>
        </p:nvSpPr>
        <p:spPr>
          <a:xfrm>
            <a:off x="530352" y="1353312"/>
            <a:ext cx="3840480" cy="38404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Taller de Planificación de Constructabilidad</a:t>
            </a:r>
            <a:endParaRPr lang="en-US" sz="1300" dirty="0"/>
          </a:p>
        </p:txBody>
      </p:sp>
      <p:sp>
        <p:nvSpPr>
          <p:cNvPr id="10" name="Text 8"/>
          <p:cNvSpPr txBox="1"/>
          <p:nvPr/>
        </p:nvSpPr>
        <p:spPr>
          <a:xfrm>
            <a:off x="530352" y="1828800"/>
            <a:ext cx="3840480" cy="111556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Workshop estructurado con todo el equipo EPC. Agenda formal (Tool 13 CII). Revisar matrices de aplicación de conceptos para el tipo de proyecto.</a:t>
            </a:r>
            <a:endParaRPr lang="en-US" sz="1100" dirty="0"/>
          </a:p>
        </p:txBody>
      </p:sp>
      <p:sp>
        <p:nvSpPr>
          <p:cNvPr id="11" name="Shape 9"/>
          <p:cNvSpPr/>
          <p:nvPr/>
        </p:nvSpPr>
        <p:spPr>
          <a:xfrm>
            <a:off x="4754880" y="1298448"/>
            <a:ext cx="4206240" cy="1755648"/>
          </a:xfrm>
          <a:prstGeom prst="roundRect">
            <a:avLst>
              <a:gd name="adj" fmla="val 6250"/>
            </a:avLst>
          </a:prstGeom>
          <a:solidFill>
            <a:srgbClr val="2C2C2E"/>
          </a:solidFill>
          <a:ln w="12700">
            <a:solidFill>
              <a:srgbClr val="0A84FF"/>
            </a:solidFill>
            <a:prstDash val="solid"/>
          </a:ln>
        </p:spPr>
      </p:sp>
      <p:sp>
        <p:nvSpPr>
          <p:cNvPr id="12" name="Shape 10"/>
          <p:cNvSpPr/>
          <p:nvPr/>
        </p:nvSpPr>
        <p:spPr>
          <a:xfrm>
            <a:off x="4754880" y="1298448"/>
            <a:ext cx="4206240" cy="457200"/>
          </a:xfrm>
          <a:prstGeom prst="roundRect">
            <a:avLst>
              <a:gd name="adj" fmla="val 24000"/>
            </a:avLst>
          </a:prstGeom>
          <a:solidFill>
            <a:srgbClr val="0A84FF"/>
          </a:solidFill>
          <a:ln/>
        </p:spPr>
      </p:sp>
      <p:sp>
        <p:nvSpPr>
          <p:cNvPr id="13" name="Shape 11"/>
          <p:cNvSpPr/>
          <p:nvPr/>
        </p:nvSpPr>
        <p:spPr>
          <a:xfrm>
            <a:off x="4754880" y="1554480"/>
            <a:ext cx="4206240" cy="201168"/>
          </a:xfrm>
          <a:prstGeom prst="rect">
            <a:avLst/>
          </a:prstGeom>
          <a:solidFill>
            <a:srgbClr val="0A84FF"/>
          </a:solidFill>
          <a:ln/>
        </p:spPr>
      </p:sp>
      <p:sp>
        <p:nvSpPr>
          <p:cNvPr id="14" name="Text 12"/>
          <p:cNvSpPr txBox="1"/>
          <p:nvPr/>
        </p:nvSpPr>
        <p:spPr>
          <a:xfrm>
            <a:off x="4919472" y="1353312"/>
            <a:ext cx="3840480" cy="38404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Establecer Metas Cuantitativas</a:t>
            </a:r>
            <a:endParaRPr lang="en-US" sz="1300" dirty="0"/>
          </a:p>
        </p:txBody>
      </p:sp>
      <p:sp>
        <p:nvSpPr>
          <p:cNvPr id="15" name="Text 13"/>
          <p:cNvSpPr txBox="1"/>
          <p:nvPr/>
        </p:nvSpPr>
        <p:spPr>
          <a:xfrm>
            <a:off x="4919472" y="1828800"/>
            <a:ext cx="3840480" cy="111556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Definir metas de ahorro en costo (%), reducción de cronograma (%) y ratio B/C objetivo. El programa necesita un presupuesto dedicado.</a:t>
            </a:r>
            <a:endParaRPr lang="en-US" sz="1100" dirty="0"/>
          </a:p>
        </p:txBody>
      </p:sp>
      <p:sp>
        <p:nvSpPr>
          <p:cNvPr id="16" name="Shape 14"/>
          <p:cNvSpPr/>
          <p:nvPr/>
        </p:nvSpPr>
        <p:spPr>
          <a:xfrm>
            <a:off x="365760" y="3172968"/>
            <a:ext cx="4206240" cy="1755648"/>
          </a:xfrm>
          <a:prstGeom prst="roundRect">
            <a:avLst>
              <a:gd name="adj" fmla="val 6250"/>
            </a:avLst>
          </a:prstGeom>
          <a:solidFill>
            <a:srgbClr val="2C2C2E"/>
          </a:solidFill>
          <a:ln w="12700">
            <a:solidFill>
              <a:srgbClr val="30D158"/>
            </a:solidFill>
            <a:prstDash val="solid"/>
          </a:ln>
        </p:spPr>
      </p:sp>
      <p:sp>
        <p:nvSpPr>
          <p:cNvPr id="17" name="Shape 15"/>
          <p:cNvSpPr/>
          <p:nvPr/>
        </p:nvSpPr>
        <p:spPr>
          <a:xfrm>
            <a:off x="365760" y="3172968"/>
            <a:ext cx="4206240" cy="457200"/>
          </a:xfrm>
          <a:prstGeom prst="roundRect">
            <a:avLst>
              <a:gd name="adj" fmla="val 24000"/>
            </a:avLst>
          </a:prstGeom>
          <a:solidFill>
            <a:srgbClr val="30D158"/>
          </a:solidFill>
          <a:ln/>
        </p:spPr>
      </p:sp>
      <p:sp>
        <p:nvSpPr>
          <p:cNvPr id="18" name="Shape 16"/>
          <p:cNvSpPr/>
          <p:nvPr/>
        </p:nvSpPr>
        <p:spPr>
          <a:xfrm>
            <a:off x="365760" y="3429000"/>
            <a:ext cx="4206240" cy="201168"/>
          </a:xfrm>
          <a:prstGeom prst="rect">
            <a:avLst/>
          </a:prstGeom>
          <a:solidFill>
            <a:srgbClr val="30D158"/>
          </a:solidFill>
          <a:ln/>
        </p:spPr>
      </p:sp>
      <p:sp>
        <p:nvSpPr>
          <p:cNvPr id="19" name="Text 17"/>
          <p:cNvSpPr txBox="1"/>
          <p:nvPr/>
        </p:nvSpPr>
        <p:spPr>
          <a:xfrm>
            <a:off x="530352" y="3227832"/>
            <a:ext cx="3840480" cy="38404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Plan de Aplicación de Conceptos</a:t>
            </a:r>
            <a:endParaRPr lang="en-US" sz="1300" dirty="0"/>
          </a:p>
        </p:txBody>
      </p:sp>
      <p:sp>
        <p:nvSpPr>
          <p:cNvPr id="20" name="Text 18"/>
          <p:cNvSpPr txBox="1"/>
          <p:nvPr/>
        </p:nvSpPr>
        <p:spPr>
          <a:xfrm>
            <a:off x="530352" y="3703320"/>
            <a:ext cx="3840480" cy="111556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Para cada uno de los 17 conceptos CII: ¿aplica al proyecto? ¿cuándo? ¿quién es responsable? ¿qué entregable produce?</a:t>
            </a:r>
            <a:endParaRPr lang="en-US" sz="1100" dirty="0"/>
          </a:p>
        </p:txBody>
      </p:sp>
      <p:sp>
        <p:nvSpPr>
          <p:cNvPr id="21" name="Shape 19"/>
          <p:cNvSpPr/>
          <p:nvPr/>
        </p:nvSpPr>
        <p:spPr>
          <a:xfrm>
            <a:off x="4754880" y="3172968"/>
            <a:ext cx="4206240" cy="1755648"/>
          </a:xfrm>
          <a:prstGeom prst="roundRect">
            <a:avLst>
              <a:gd name="adj" fmla="val 6250"/>
            </a:avLst>
          </a:prstGeom>
          <a:solidFill>
            <a:srgbClr val="2C2C2E"/>
          </a:solidFill>
          <a:ln w="12700">
            <a:solidFill>
              <a:srgbClr val="FF9500"/>
            </a:solidFill>
            <a:prstDash val="solid"/>
          </a:ln>
        </p:spPr>
      </p:sp>
      <p:sp>
        <p:nvSpPr>
          <p:cNvPr id="22" name="Shape 20"/>
          <p:cNvSpPr/>
          <p:nvPr/>
        </p:nvSpPr>
        <p:spPr>
          <a:xfrm>
            <a:off x="4754880" y="3172968"/>
            <a:ext cx="4206240" cy="457200"/>
          </a:xfrm>
          <a:prstGeom prst="roundRect">
            <a:avLst>
              <a:gd name="adj" fmla="val 24000"/>
            </a:avLst>
          </a:prstGeom>
          <a:solidFill>
            <a:srgbClr val="FF9500"/>
          </a:solidFill>
          <a:ln/>
        </p:spPr>
      </p:sp>
      <p:sp>
        <p:nvSpPr>
          <p:cNvPr id="23" name="Shape 21"/>
          <p:cNvSpPr/>
          <p:nvPr/>
        </p:nvSpPr>
        <p:spPr>
          <a:xfrm>
            <a:off x="4754880" y="3429000"/>
            <a:ext cx="4206240" cy="201168"/>
          </a:xfrm>
          <a:prstGeom prst="rect">
            <a:avLst/>
          </a:prstGeom>
          <a:solidFill>
            <a:srgbClr val="FF9500"/>
          </a:solidFill>
          <a:ln/>
        </p:spPr>
      </p:sp>
      <p:sp>
        <p:nvSpPr>
          <p:cNvPr id="24" name="Text 22"/>
          <p:cNvSpPr txBox="1"/>
          <p:nvPr/>
        </p:nvSpPr>
        <p:spPr>
          <a:xfrm>
            <a:off x="4919472" y="3227832"/>
            <a:ext cx="3840480" cy="38404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Integrar al PEP</a:t>
            </a:r>
            <a:endParaRPr lang="en-US" sz="1300" dirty="0"/>
          </a:p>
        </p:txBody>
      </p:sp>
      <p:sp>
        <p:nvSpPr>
          <p:cNvPr id="25" name="Text 23"/>
          <p:cNvSpPr txBox="1"/>
          <p:nvPr/>
        </p:nvSpPr>
        <p:spPr>
          <a:xfrm>
            <a:off x="4919472" y="3703320"/>
            <a:ext cx="3840480" cy="111556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plan de constructabilidad del proyecto debe quedar formalmente integrado al Plan de Ejecución del Proyecto (PEP) — no como apéndice sino como sección principal.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Hito 5: Implementar Constructabilidad — Herramientas Operativas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Las herramientas operativas del CII para documentar y gestionar la implementación en el proyecto:</a:t>
            </a:r>
            <a:endParaRPr lang="en-US" sz="1400" dirty="0"/>
          </a:p>
        </p:txBody>
      </p:sp>
      <p:sp>
        <p:nvSpPr>
          <p:cNvPr id="6" name="Shape 4"/>
          <p:cNvSpPr/>
          <p:nvPr/>
        </p:nvSpPr>
        <p:spPr>
          <a:xfrm>
            <a:off x="365760" y="1298448"/>
            <a:ext cx="8412480" cy="804672"/>
          </a:xfrm>
          <a:prstGeom prst="roundRect">
            <a:avLst>
              <a:gd name="adj" fmla="val 11364"/>
            </a:avLst>
          </a:prstGeom>
          <a:solidFill>
            <a:srgbClr val="2C2C2E"/>
          </a:solidFill>
          <a:ln w="12700">
            <a:solidFill>
              <a:srgbClr val="0A84FF"/>
            </a:solidFill>
            <a:prstDash val="solid"/>
          </a:ln>
        </p:spPr>
      </p:sp>
      <p:sp>
        <p:nvSpPr>
          <p:cNvPr id="7" name="Shape 5"/>
          <p:cNvSpPr/>
          <p:nvPr/>
        </p:nvSpPr>
        <p:spPr>
          <a:xfrm>
            <a:off x="365760" y="1298448"/>
            <a:ext cx="73152" cy="804672"/>
          </a:xfrm>
          <a:prstGeom prst="rect">
            <a:avLst/>
          </a:prstGeom>
          <a:solidFill>
            <a:srgbClr val="0A84FF"/>
          </a:solidFill>
          <a:ln/>
        </p:spPr>
      </p:sp>
      <p:sp>
        <p:nvSpPr>
          <p:cNvPr id="8" name="Text 6"/>
          <p:cNvSpPr txBox="1"/>
          <p:nvPr/>
        </p:nvSpPr>
        <p:spPr>
          <a:xfrm>
            <a:off x="566928" y="1371600"/>
            <a:ext cx="80467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Tool 13: Formulario de Sugerencias</a:t>
            </a:r>
            <a:endParaRPr lang="en-US" sz="1300" dirty="0"/>
          </a:p>
        </p:txBody>
      </p:sp>
      <p:sp>
        <p:nvSpPr>
          <p:cNvPr id="9" name="Text 7"/>
          <p:cNvSpPr txBox="1"/>
          <p:nvPr/>
        </p:nvSpPr>
        <p:spPr>
          <a:xfrm>
            <a:off x="566928" y="1664208"/>
            <a:ext cx="804672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Cualquier miembro del equipo puede documentar una sugerencia de constructabilidad. Incluye: descripción, concepto aplicable, fase, estimado de beneficio y nombre del autor.</a:t>
            </a:r>
            <a:endParaRPr lang="en-US" sz="1100" dirty="0"/>
          </a:p>
        </p:txBody>
      </p:sp>
      <p:sp>
        <p:nvSpPr>
          <p:cNvPr id="10" name="Shape 8"/>
          <p:cNvSpPr/>
          <p:nvPr/>
        </p:nvSpPr>
        <p:spPr>
          <a:xfrm>
            <a:off x="365760" y="2212848"/>
            <a:ext cx="8412480" cy="804672"/>
          </a:xfrm>
          <a:prstGeom prst="roundRect">
            <a:avLst>
              <a:gd name="adj" fmla="val 11364"/>
            </a:avLst>
          </a:prstGeom>
          <a:solidFill>
            <a:srgbClr val="2C2C2E"/>
          </a:solidFill>
          <a:ln w="12700">
            <a:solidFill>
              <a:srgbClr val="30D158"/>
            </a:solidFill>
            <a:prstDash val="solid"/>
          </a:ln>
        </p:spPr>
      </p:sp>
      <p:sp>
        <p:nvSpPr>
          <p:cNvPr id="11" name="Shape 9"/>
          <p:cNvSpPr/>
          <p:nvPr/>
        </p:nvSpPr>
        <p:spPr>
          <a:xfrm>
            <a:off x="365760" y="2212848"/>
            <a:ext cx="73152" cy="804672"/>
          </a:xfrm>
          <a:prstGeom prst="rect">
            <a:avLst/>
          </a:prstGeom>
          <a:solidFill>
            <a:srgbClr val="30D158"/>
          </a:solidFill>
          <a:ln/>
        </p:spPr>
      </p:sp>
      <p:sp>
        <p:nvSpPr>
          <p:cNvPr id="12" name="Text 10"/>
          <p:cNvSpPr txBox="1"/>
          <p:nvPr/>
        </p:nvSpPr>
        <p:spPr>
          <a:xfrm>
            <a:off x="566928" y="2286000"/>
            <a:ext cx="80467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Tool 14: Log de Ideas de Constructabilidad</a:t>
            </a:r>
            <a:endParaRPr lang="en-US" sz="1300" dirty="0"/>
          </a:p>
        </p:txBody>
      </p:sp>
      <p:sp>
        <p:nvSpPr>
          <p:cNvPr id="13" name="Text 11"/>
          <p:cNvSpPr txBox="1"/>
          <p:nvPr/>
        </p:nvSpPr>
        <p:spPr>
          <a:xfrm>
            <a:off x="566928" y="2578608"/>
            <a:ext cx="804672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Registro maestro de todas las sugerencias presentadas. Columnas: ID, descripción, concepto, fecha, propietario, estado (evaluada/aprobada/implementada), ahorro estimado vs. real.</a:t>
            </a:r>
            <a:endParaRPr lang="en-US" sz="1100" dirty="0"/>
          </a:p>
        </p:txBody>
      </p:sp>
      <p:sp>
        <p:nvSpPr>
          <p:cNvPr id="14" name="Shape 12"/>
          <p:cNvSpPr/>
          <p:nvPr/>
        </p:nvSpPr>
        <p:spPr>
          <a:xfrm>
            <a:off x="365760" y="3127248"/>
            <a:ext cx="8412480" cy="804672"/>
          </a:xfrm>
          <a:prstGeom prst="roundRect">
            <a:avLst>
              <a:gd name="adj" fmla="val 11364"/>
            </a:avLst>
          </a:prstGeom>
          <a:solidFill>
            <a:srgbClr val="2C2C2E"/>
          </a:solidFill>
          <a:ln w="12700">
            <a:solidFill>
              <a:srgbClr val="FF9500"/>
            </a:solidFill>
            <a:prstDash val="solid"/>
          </a:ln>
        </p:spPr>
      </p:sp>
      <p:sp>
        <p:nvSpPr>
          <p:cNvPr id="15" name="Shape 13"/>
          <p:cNvSpPr/>
          <p:nvPr/>
        </p:nvSpPr>
        <p:spPr>
          <a:xfrm>
            <a:off x="365760" y="3127248"/>
            <a:ext cx="73152" cy="804672"/>
          </a:xfrm>
          <a:prstGeom prst="rect">
            <a:avLst/>
          </a:prstGeom>
          <a:solidFill>
            <a:srgbClr val="FF9500"/>
          </a:solidFill>
          <a:ln/>
        </p:spPr>
      </p:sp>
      <p:sp>
        <p:nvSpPr>
          <p:cNvPr id="16" name="Text 14"/>
          <p:cNvSpPr txBox="1"/>
          <p:nvPr/>
        </p:nvSpPr>
        <p:spPr>
          <a:xfrm>
            <a:off x="566928" y="3200400"/>
            <a:ext cx="80467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Tool 15: Reporte Trimestral del Programa</a:t>
            </a:r>
            <a:endParaRPr lang="en-US" sz="1300" dirty="0"/>
          </a:p>
        </p:txBody>
      </p:sp>
      <p:sp>
        <p:nvSpPr>
          <p:cNvPr id="17" name="Text 15"/>
          <p:cNvSpPr txBox="1"/>
          <p:nvPr/>
        </p:nvSpPr>
        <p:spPr>
          <a:xfrm>
            <a:off x="566928" y="3493008"/>
            <a:ext cx="804672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Informe formal al Director del Proyecto. Incluye: número de ideas generadas, ideas implementadas, costo del programa a la fecha, ahorro logrado a la fecha y ratio B/C actualizado.</a:t>
            </a:r>
            <a:endParaRPr lang="en-US" sz="1100" dirty="0"/>
          </a:p>
        </p:txBody>
      </p:sp>
      <p:sp>
        <p:nvSpPr>
          <p:cNvPr id="18" name="Shape 16"/>
          <p:cNvSpPr/>
          <p:nvPr/>
        </p:nvSpPr>
        <p:spPr>
          <a:xfrm>
            <a:off x="365760" y="4041648"/>
            <a:ext cx="8412480" cy="804672"/>
          </a:xfrm>
          <a:prstGeom prst="roundRect">
            <a:avLst>
              <a:gd name="adj" fmla="val 11364"/>
            </a:avLst>
          </a:prstGeom>
          <a:solidFill>
            <a:srgbClr val="2C2C2E"/>
          </a:solidFill>
          <a:ln w="12700">
            <a:solidFill>
              <a:srgbClr val="AF52DE"/>
            </a:solidFill>
            <a:prstDash val="solid"/>
          </a:ln>
        </p:spPr>
      </p:sp>
      <p:sp>
        <p:nvSpPr>
          <p:cNvPr id="19" name="Shape 17"/>
          <p:cNvSpPr/>
          <p:nvPr/>
        </p:nvSpPr>
        <p:spPr>
          <a:xfrm>
            <a:off x="365760" y="4041648"/>
            <a:ext cx="73152" cy="804672"/>
          </a:xfrm>
          <a:prstGeom prst="rect">
            <a:avLst/>
          </a:prstGeom>
          <a:solidFill>
            <a:srgbClr val="AF52DE"/>
          </a:solidFill>
          <a:ln/>
        </p:spPr>
      </p:sp>
      <p:sp>
        <p:nvSpPr>
          <p:cNvPr id="20" name="Text 18"/>
          <p:cNvSpPr txBox="1"/>
          <p:nvPr/>
        </p:nvSpPr>
        <p:spPr>
          <a:xfrm>
            <a:off x="566928" y="4114800"/>
            <a:ext cx="804672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Tool 16: Cláusulas Contractuales</a:t>
            </a:r>
            <a:endParaRPr lang="en-US" sz="1300" dirty="0"/>
          </a:p>
        </p:txBody>
      </p:sp>
      <p:sp>
        <p:nvSpPr>
          <p:cNvPr id="21" name="Text 19"/>
          <p:cNvSpPr txBox="1"/>
          <p:nvPr/>
        </p:nvSpPr>
        <p:spPr>
          <a:xfrm>
            <a:off x="566928" y="4407408"/>
            <a:ext cx="804672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Cláusulas modelo para incluir en contratos: establece la responsabilidad del contratista de participar activamente en el programa de constructabilidad del propietario.</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Ciclo: Taller de planificación → Generar sugerencias → Evaluar → Aprobar → Implementar → Medir → Reportar → Actualizar Log → Siguiente ciclo.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Base de Datos de Lecciones Aprendidas — El Motor del Programa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40080"/>
          </a:xfrm>
          <a:prstGeom prst="roundRect">
            <a:avLst>
              <a:gd name="adj" fmla="val 14286"/>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66928"/>
          </a:xfrm>
          <a:prstGeom prst="rect">
            <a:avLst/>
          </a:prstGeom>
          <a:noFill/>
          <a:ln/>
        </p:spPr>
        <p:txBody>
          <a:bodyPr wrap="square" lIns="0" tIns="0" rIns="0" bIns="0" rtlCol="0" anchor="ctr"/>
          <a:lstStyle/>
          <a:p>
            <a:pPr indent="0" marL="0">
              <a:buNone/>
            </a:pPr>
            <a:r>
              <a:rPr lang="en-US" sz="1300" i="1" dirty="0">
                <a:solidFill>
                  <a:srgbClr val="FFFFFF"/>
                </a:solidFill>
                <a:latin typeface="Atkinson Hyperlegible" pitchFamily="34" charset="0"/>
                <a:ea typeface="Atkinson Hyperlegible" pitchFamily="34" charset="-122"/>
                <a:cs typeface="Atkinson Hyperlegible" pitchFamily="34" charset="-120"/>
              </a:rPr>
              <a:t>"LA CLAVE para no repetir errores ni reinventar ruedas. Es el pegamento de constructabilidad entre diferentes proyectos."  — CII</a:t>
            </a:r>
            <a:endParaRPr lang="en-US" sz="1300" dirty="0"/>
          </a:p>
        </p:txBody>
      </p:sp>
      <p:sp>
        <p:nvSpPr>
          <p:cNvPr id="7" name="Shape 5"/>
          <p:cNvSpPr/>
          <p:nvPr/>
        </p:nvSpPr>
        <p:spPr>
          <a:xfrm>
            <a:off x="365760" y="1691640"/>
            <a:ext cx="4206240" cy="1417320"/>
          </a:xfrm>
          <a:prstGeom prst="roundRect">
            <a:avLst>
              <a:gd name="adj" fmla="val 7742"/>
            </a:avLst>
          </a:prstGeom>
          <a:solidFill>
            <a:srgbClr val="2C2C2E"/>
          </a:solidFill>
          <a:ln w="12700">
            <a:solidFill>
              <a:srgbClr val="0A84FF"/>
            </a:solidFill>
            <a:prstDash val="solid"/>
          </a:ln>
        </p:spPr>
      </p:sp>
      <p:sp>
        <p:nvSpPr>
          <p:cNvPr id="8" name="Text 6"/>
          <p:cNvSpPr txBox="1"/>
          <p:nvPr/>
        </p:nvSpPr>
        <p:spPr>
          <a:xfrm>
            <a:off x="548640" y="1764792"/>
            <a:ext cx="3840480" cy="365760"/>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Estructura de la Base de Datos</a:t>
            </a:r>
            <a:endParaRPr lang="en-US" sz="1400" dirty="0"/>
          </a:p>
        </p:txBody>
      </p:sp>
      <p:sp>
        <p:nvSpPr>
          <p:cNvPr id="9" name="Text 7"/>
          <p:cNvSpPr txBox="1"/>
          <p:nvPr/>
        </p:nvSpPr>
        <p:spPr>
          <a:xfrm>
            <a:off x="548640" y="2148840"/>
            <a:ext cx="3840480" cy="8686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Campos recomendados por lección: concepto CII aplicable, fase del proyecto, tipo de proyecto, descripción del problema, solución aplicada, ahorro estimado y real, condiciones de aplicabilidad.</a:t>
            </a:r>
            <a:endParaRPr lang="en-US" sz="1100" dirty="0"/>
          </a:p>
        </p:txBody>
      </p:sp>
      <p:sp>
        <p:nvSpPr>
          <p:cNvPr id="10" name="Shape 8"/>
          <p:cNvSpPr/>
          <p:nvPr/>
        </p:nvSpPr>
        <p:spPr>
          <a:xfrm>
            <a:off x="4754880" y="1691640"/>
            <a:ext cx="4206240" cy="1417320"/>
          </a:xfrm>
          <a:prstGeom prst="roundRect">
            <a:avLst>
              <a:gd name="adj" fmla="val 7742"/>
            </a:avLst>
          </a:prstGeom>
          <a:solidFill>
            <a:srgbClr val="2C2C2E"/>
          </a:solidFill>
          <a:ln w="12700">
            <a:solidFill>
              <a:srgbClr val="30D158"/>
            </a:solidFill>
            <a:prstDash val="solid"/>
          </a:ln>
        </p:spPr>
      </p:sp>
      <p:sp>
        <p:nvSpPr>
          <p:cNvPr id="11" name="Text 9"/>
          <p:cNvSpPr txBox="1"/>
          <p:nvPr/>
        </p:nvSpPr>
        <p:spPr>
          <a:xfrm>
            <a:off x="4937760" y="1764792"/>
            <a:ext cx="3840480" cy="365760"/>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Proceso de Captura</a:t>
            </a:r>
            <a:endParaRPr lang="en-US" sz="1400" dirty="0"/>
          </a:p>
        </p:txBody>
      </p:sp>
      <p:sp>
        <p:nvSpPr>
          <p:cNvPr id="12" name="Text 10"/>
          <p:cNvSpPr txBox="1"/>
          <p:nvPr/>
        </p:nvSpPr>
        <p:spPr>
          <a:xfrm>
            <a:off x="4937760" y="2148840"/>
            <a:ext cx="3840480" cy="8686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Captura sistemática al cerrar cada fase del proyecto. Responsable: Gerente de Constructabilidad. Revisión y validación por experto técnico. Publicación en la LLDB corporativa.</a:t>
            </a:r>
            <a:endParaRPr lang="en-US" sz="1100" dirty="0"/>
          </a:p>
        </p:txBody>
      </p:sp>
      <p:sp>
        <p:nvSpPr>
          <p:cNvPr id="13" name="Shape 11"/>
          <p:cNvSpPr/>
          <p:nvPr/>
        </p:nvSpPr>
        <p:spPr>
          <a:xfrm>
            <a:off x="365760" y="3246120"/>
            <a:ext cx="4206240" cy="1417320"/>
          </a:xfrm>
          <a:prstGeom prst="roundRect">
            <a:avLst>
              <a:gd name="adj" fmla="val 7742"/>
            </a:avLst>
          </a:prstGeom>
          <a:solidFill>
            <a:srgbClr val="2C2C2E"/>
          </a:solidFill>
          <a:ln w="12700">
            <a:solidFill>
              <a:srgbClr val="FF9500"/>
            </a:solidFill>
            <a:prstDash val="solid"/>
          </a:ln>
        </p:spPr>
      </p:sp>
      <p:sp>
        <p:nvSpPr>
          <p:cNvPr id="14" name="Text 12"/>
          <p:cNvSpPr txBox="1"/>
          <p:nvPr/>
        </p:nvSpPr>
        <p:spPr>
          <a:xfrm>
            <a:off x="548640" y="3319272"/>
            <a:ext cx="3840480" cy="365760"/>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Proceso de Recuperación</a:t>
            </a:r>
            <a:endParaRPr lang="en-US" sz="1400" dirty="0"/>
          </a:p>
        </p:txBody>
      </p:sp>
      <p:sp>
        <p:nvSpPr>
          <p:cNvPr id="15" name="Text 13"/>
          <p:cNvSpPr txBox="1"/>
          <p:nvPr/>
        </p:nvSpPr>
        <p:spPr>
          <a:xfrm>
            <a:off x="548640" y="3703320"/>
            <a:ext cx="3840480" cy="8686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Al inicio de un nuevo proyecto, el equipo revisa las lecciones aplicables al tipo y condiciones del proyecto. El Gerente de Constructabilidad facilita el proceso.</a:t>
            </a:r>
            <a:endParaRPr lang="en-US" sz="1100" dirty="0"/>
          </a:p>
        </p:txBody>
      </p:sp>
      <p:sp>
        <p:nvSpPr>
          <p:cNvPr id="16" name="Shape 14"/>
          <p:cNvSpPr/>
          <p:nvPr/>
        </p:nvSpPr>
        <p:spPr>
          <a:xfrm>
            <a:off x="4754880" y="3246120"/>
            <a:ext cx="4206240" cy="1417320"/>
          </a:xfrm>
          <a:prstGeom prst="roundRect">
            <a:avLst>
              <a:gd name="adj" fmla="val 7742"/>
            </a:avLst>
          </a:prstGeom>
          <a:solidFill>
            <a:srgbClr val="2C2C2E"/>
          </a:solidFill>
          <a:ln w="12700">
            <a:solidFill>
              <a:srgbClr val="AF52DE"/>
            </a:solidFill>
            <a:prstDash val="solid"/>
          </a:ln>
        </p:spPr>
      </p:sp>
      <p:sp>
        <p:nvSpPr>
          <p:cNvPr id="17" name="Text 15"/>
          <p:cNvSpPr txBox="1"/>
          <p:nvPr/>
        </p:nvSpPr>
        <p:spPr>
          <a:xfrm>
            <a:off x="4937760" y="3319272"/>
            <a:ext cx="3840480" cy="365760"/>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Métricas del Sistema</a:t>
            </a:r>
            <a:endParaRPr lang="en-US" sz="1400" dirty="0"/>
          </a:p>
        </p:txBody>
      </p:sp>
      <p:sp>
        <p:nvSpPr>
          <p:cNvPr id="18" name="Text 16"/>
          <p:cNvSpPr txBox="1"/>
          <p:nvPr/>
        </p:nvSpPr>
        <p:spPr>
          <a:xfrm>
            <a:off x="4937760" y="3703320"/>
            <a:ext cx="3840480" cy="8686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Número de lecciones capturadas por proyecto, porcentaje de lecciones recuperadas en proyectos siguientes, valor del ahorro generado por lecciones aplicadas.</a:t>
            </a:r>
            <a:endParaRPr lang="en-US" sz="1100" dirty="0"/>
          </a:p>
        </p:txBody>
      </p:sp>
      <p:sp>
        <p:nvSpPr>
          <p:cNvPr id="19" name="Text 1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Matrices de Aplicación de Conceptos — Tools 18 y 19 CII</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Las matrices indican la significancia de cada concepto CII en las distintas fases y actividades del proyecto:</a:t>
            </a:r>
            <a:endParaRPr lang="en-US" sz="1400" dirty="0"/>
          </a:p>
        </p:txBody>
      </p:sp>
      <p:sp>
        <p:nvSpPr>
          <p:cNvPr id="6" name="Shape 4"/>
          <p:cNvSpPr/>
          <p:nvPr/>
        </p:nvSpPr>
        <p:spPr>
          <a:xfrm>
            <a:off x="274320" y="1298448"/>
            <a:ext cx="2011680" cy="384048"/>
          </a:xfrm>
          <a:prstGeom prst="rect">
            <a:avLst/>
          </a:prstGeom>
          <a:solidFill>
            <a:srgbClr val="30D158"/>
          </a:solidFill>
          <a:ln/>
        </p:spPr>
      </p:sp>
      <p:sp>
        <p:nvSpPr>
          <p:cNvPr id="7" name="Text 5"/>
          <p:cNvSpPr txBox="1"/>
          <p:nvPr/>
        </p:nvSpPr>
        <p:spPr>
          <a:xfrm>
            <a:off x="310896" y="1298448"/>
            <a:ext cx="197510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Concepto</a:t>
            </a:r>
            <a:endParaRPr lang="en-US" sz="1000" dirty="0"/>
          </a:p>
        </p:txBody>
      </p:sp>
      <p:sp>
        <p:nvSpPr>
          <p:cNvPr id="8" name="Shape 6"/>
          <p:cNvSpPr/>
          <p:nvPr/>
        </p:nvSpPr>
        <p:spPr>
          <a:xfrm>
            <a:off x="2331720" y="1298448"/>
            <a:ext cx="731520" cy="384048"/>
          </a:xfrm>
          <a:prstGeom prst="rect">
            <a:avLst/>
          </a:prstGeom>
          <a:solidFill>
            <a:srgbClr val="30D158"/>
          </a:solidFill>
          <a:ln/>
        </p:spPr>
      </p:sp>
      <p:sp>
        <p:nvSpPr>
          <p:cNvPr id="9" name="Text 7"/>
          <p:cNvSpPr txBox="1"/>
          <p:nvPr/>
        </p:nvSpPr>
        <p:spPr>
          <a:xfrm>
            <a:off x="2368296" y="1298448"/>
            <a:ext cx="69494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Fact.</a:t>
            </a:r>
            <a:endParaRPr lang="en-US" sz="1000" dirty="0"/>
          </a:p>
        </p:txBody>
      </p:sp>
      <p:sp>
        <p:nvSpPr>
          <p:cNvPr id="10" name="Shape 8"/>
          <p:cNvSpPr/>
          <p:nvPr/>
        </p:nvSpPr>
        <p:spPr>
          <a:xfrm>
            <a:off x="3090672" y="1298448"/>
            <a:ext cx="731520" cy="384048"/>
          </a:xfrm>
          <a:prstGeom prst="rect">
            <a:avLst/>
          </a:prstGeom>
          <a:solidFill>
            <a:srgbClr val="30D158"/>
          </a:solidFill>
          <a:ln/>
        </p:spPr>
      </p:sp>
      <p:sp>
        <p:nvSpPr>
          <p:cNvPr id="11" name="Text 9"/>
          <p:cNvSpPr txBox="1"/>
          <p:nvPr/>
        </p:nvSpPr>
        <p:spPr>
          <a:xfrm>
            <a:off x="3127248" y="1298448"/>
            <a:ext cx="69494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Conc.</a:t>
            </a:r>
            <a:endParaRPr lang="en-US" sz="1000" dirty="0"/>
          </a:p>
        </p:txBody>
      </p:sp>
      <p:sp>
        <p:nvSpPr>
          <p:cNvPr id="12" name="Shape 10"/>
          <p:cNvSpPr/>
          <p:nvPr/>
        </p:nvSpPr>
        <p:spPr>
          <a:xfrm>
            <a:off x="3849624" y="1298448"/>
            <a:ext cx="914400" cy="384048"/>
          </a:xfrm>
          <a:prstGeom prst="rect">
            <a:avLst/>
          </a:prstGeom>
          <a:solidFill>
            <a:srgbClr val="30D158"/>
          </a:solidFill>
          <a:ln/>
        </p:spPr>
      </p:sp>
      <p:sp>
        <p:nvSpPr>
          <p:cNvPr id="13" name="Text 11"/>
          <p:cNvSpPr txBox="1"/>
          <p:nvPr/>
        </p:nvSpPr>
        <p:spPr>
          <a:xfrm>
            <a:off x="3886200" y="1298448"/>
            <a:ext cx="87782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Dis. Básico</a:t>
            </a:r>
            <a:endParaRPr lang="en-US" sz="1000" dirty="0"/>
          </a:p>
        </p:txBody>
      </p:sp>
      <p:sp>
        <p:nvSpPr>
          <p:cNvPr id="14" name="Shape 12"/>
          <p:cNvSpPr/>
          <p:nvPr/>
        </p:nvSpPr>
        <p:spPr>
          <a:xfrm>
            <a:off x="4791456" y="1298448"/>
            <a:ext cx="822960" cy="384048"/>
          </a:xfrm>
          <a:prstGeom prst="rect">
            <a:avLst/>
          </a:prstGeom>
          <a:solidFill>
            <a:srgbClr val="30D158"/>
          </a:solidFill>
          <a:ln/>
        </p:spPr>
      </p:sp>
      <p:sp>
        <p:nvSpPr>
          <p:cNvPr id="15" name="Text 13"/>
          <p:cNvSpPr txBox="1"/>
          <p:nvPr/>
        </p:nvSpPr>
        <p:spPr>
          <a:xfrm>
            <a:off x="4828032" y="1298448"/>
            <a:ext cx="78638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Dis. Det.</a:t>
            </a:r>
            <a:endParaRPr lang="en-US" sz="1000" dirty="0"/>
          </a:p>
        </p:txBody>
      </p:sp>
      <p:sp>
        <p:nvSpPr>
          <p:cNvPr id="16" name="Shape 14"/>
          <p:cNvSpPr/>
          <p:nvPr/>
        </p:nvSpPr>
        <p:spPr>
          <a:xfrm>
            <a:off x="5632704" y="1298448"/>
            <a:ext cx="777240" cy="384048"/>
          </a:xfrm>
          <a:prstGeom prst="rect">
            <a:avLst/>
          </a:prstGeom>
          <a:solidFill>
            <a:srgbClr val="30D158"/>
          </a:solidFill>
          <a:ln/>
        </p:spPr>
      </p:sp>
      <p:sp>
        <p:nvSpPr>
          <p:cNvPr id="17" name="Text 15"/>
          <p:cNvSpPr txBox="1"/>
          <p:nvPr/>
        </p:nvSpPr>
        <p:spPr>
          <a:xfrm>
            <a:off x="5669280" y="1298448"/>
            <a:ext cx="74066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Procura</a:t>
            </a:r>
            <a:endParaRPr lang="en-US" sz="1000" dirty="0"/>
          </a:p>
        </p:txBody>
      </p:sp>
      <p:sp>
        <p:nvSpPr>
          <p:cNvPr id="18" name="Shape 16"/>
          <p:cNvSpPr/>
          <p:nvPr/>
        </p:nvSpPr>
        <p:spPr>
          <a:xfrm>
            <a:off x="6437376" y="1298448"/>
            <a:ext cx="749808" cy="384048"/>
          </a:xfrm>
          <a:prstGeom prst="rect">
            <a:avLst/>
          </a:prstGeom>
          <a:solidFill>
            <a:srgbClr val="30D158"/>
          </a:solidFill>
          <a:ln/>
        </p:spPr>
      </p:sp>
      <p:sp>
        <p:nvSpPr>
          <p:cNvPr id="19" name="Text 17"/>
          <p:cNvSpPr txBox="1"/>
          <p:nvPr/>
        </p:nvSpPr>
        <p:spPr>
          <a:xfrm>
            <a:off x="6473952" y="1298448"/>
            <a:ext cx="713232"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Campo</a:t>
            </a:r>
            <a:endParaRPr lang="en-US" sz="1000" dirty="0"/>
          </a:p>
        </p:txBody>
      </p:sp>
      <p:sp>
        <p:nvSpPr>
          <p:cNvPr id="20" name="Shape 18"/>
          <p:cNvSpPr/>
          <p:nvPr/>
        </p:nvSpPr>
        <p:spPr>
          <a:xfrm>
            <a:off x="7214616" y="1298448"/>
            <a:ext cx="777240" cy="384048"/>
          </a:xfrm>
          <a:prstGeom prst="rect">
            <a:avLst/>
          </a:prstGeom>
          <a:solidFill>
            <a:srgbClr val="30D158"/>
          </a:solidFill>
          <a:ln/>
        </p:spPr>
      </p:sp>
      <p:sp>
        <p:nvSpPr>
          <p:cNvPr id="21" name="Text 19"/>
          <p:cNvSpPr txBox="1"/>
          <p:nvPr/>
        </p:nvSpPr>
        <p:spPr>
          <a:xfrm>
            <a:off x="7251192" y="1298448"/>
            <a:ext cx="74066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tkinson Hyperlegible" pitchFamily="34" charset="0"/>
                <a:ea typeface="Atkinson Hyperlegible" pitchFamily="34" charset="-122"/>
                <a:cs typeface="Atkinson Hyperlegible" pitchFamily="34" charset="-120"/>
              </a:rPr>
              <a:t>Arranque</a:t>
            </a:r>
            <a:endParaRPr lang="en-US" sz="1000" dirty="0"/>
          </a:p>
        </p:txBody>
      </p:sp>
      <p:sp>
        <p:nvSpPr>
          <p:cNvPr id="22" name="Shape 20"/>
          <p:cNvSpPr/>
          <p:nvPr/>
        </p:nvSpPr>
        <p:spPr>
          <a:xfrm>
            <a:off x="274320" y="1719072"/>
            <a:ext cx="2011680" cy="338328"/>
          </a:xfrm>
          <a:prstGeom prst="rect">
            <a:avLst/>
          </a:prstGeom>
          <a:solidFill>
            <a:srgbClr val="2C2C2E"/>
          </a:solidFill>
          <a:ln/>
        </p:spPr>
      </p:sp>
      <p:sp>
        <p:nvSpPr>
          <p:cNvPr id="23" name="Text 21"/>
          <p:cNvSpPr txBox="1"/>
          <p:nvPr/>
        </p:nvSpPr>
        <p:spPr>
          <a:xfrm>
            <a:off x="274320" y="1746504"/>
            <a:ext cx="2011680" cy="274320"/>
          </a:xfrm>
          <a:prstGeom prst="rect">
            <a:avLst/>
          </a:prstGeom>
          <a:noFill/>
          <a:ln/>
        </p:spPr>
        <p:txBody>
          <a:bodyPr wrap="square" lIns="76200" tIns="76200" rIns="76200" bIns="76200" rtlCol="0" anchor="ctr"/>
          <a:lstStyle/>
          <a:p>
            <a:pPr algn="l" indent="0" marL="0">
              <a:buNone/>
            </a:pPr>
            <a:r>
              <a:rPr lang="en-US" sz="1000" dirty="0">
                <a:solidFill>
                  <a:srgbClr val="FFFFFF"/>
                </a:solidFill>
                <a:latin typeface="Atkinson Hyperlegible" pitchFamily="34" charset="0"/>
                <a:ea typeface="Atkinson Hyperlegible" pitchFamily="34" charset="-122"/>
                <a:cs typeface="Atkinson Hyperlegible" pitchFamily="34" charset="-120"/>
              </a:rPr>
              <a:t>I-1: PEP Constructabilidad</a:t>
            </a:r>
            <a:endParaRPr lang="en-US" sz="1000" dirty="0"/>
          </a:p>
        </p:txBody>
      </p:sp>
      <p:sp>
        <p:nvSpPr>
          <p:cNvPr id="24" name="Shape 22"/>
          <p:cNvSpPr/>
          <p:nvPr/>
        </p:nvSpPr>
        <p:spPr>
          <a:xfrm>
            <a:off x="2331720" y="1719072"/>
            <a:ext cx="731520" cy="338328"/>
          </a:xfrm>
          <a:prstGeom prst="rect">
            <a:avLst/>
          </a:prstGeom>
          <a:solidFill>
            <a:srgbClr val="2C2C2E"/>
          </a:solidFill>
          <a:ln/>
        </p:spPr>
      </p:sp>
      <p:sp>
        <p:nvSpPr>
          <p:cNvPr id="25" name="Text 23"/>
          <p:cNvSpPr txBox="1"/>
          <p:nvPr/>
        </p:nvSpPr>
        <p:spPr>
          <a:xfrm>
            <a:off x="2331720" y="174650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26" name="Shape 24"/>
          <p:cNvSpPr/>
          <p:nvPr/>
        </p:nvSpPr>
        <p:spPr>
          <a:xfrm>
            <a:off x="3090672" y="1719072"/>
            <a:ext cx="731520" cy="338328"/>
          </a:xfrm>
          <a:prstGeom prst="rect">
            <a:avLst/>
          </a:prstGeom>
          <a:solidFill>
            <a:srgbClr val="2C2C2E"/>
          </a:solidFill>
          <a:ln/>
        </p:spPr>
      </p:sp>
      <p:sp>
        <p:nvSpPr>
          <p:cNvPr id="27" name="Text 25"/>
          <p:cNvSpPr txBox="1"/>
          <p:nvPr/>
        </p:nvSpPr>
        <p:spPr>
          <a:xfrm>
            <a:off x="3090672" y="174650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28" name="Shape 26"/>
          <p:cNvSpPr/>
          <p:nvPr/>
        </p:nvSpPr>
        <p:spPr>
          <a:xfrm>
            <a:off x="3849624" y="1719072"/>
            <a:ext cx="914400" cy="338328"/>
          </a:xfrm>
          <a:prstGeom prst="rect">
            <a:avLst/>
          </a:prstGeom>
          <a:solidFill>
            <a:srgbClr val="2C2C2E"/>
          </a:solidFill>
          <a:ln/>
        </p:spPr>
      </p:sp>
      <p:sp>
        <p:nvSpPr>
          <p:cNvPr id="29" name="Text 27"/>
          <p:cNvSpPr txBox="1"/>
          <p:nvPr/>
        </p:nvSpPr>
        <p:spPr>
          <a:xfrm>
            <a:off x="3849624" y="1746504"/>
            <a:ext cx="91440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30" name="Shape 28"/>
          <p:cNvSpPr/>
          <p:nvPr/>
        </p:nvSpPr>
        <p:spPr>
          <a:xfrm>
            <a:off x="4791456" y="1719072"/>
            <a:ext cx="822960" cy="338328"/>
          </a:xfrm>
          <a:prstGeom prst="rect">
            <a:avLst/>
          </a:prstGeom>
          <a:solidFill>
            <a:srgbClr val="2C2C2E"/>
          </a:solidFill>
          <a:ln/>
        </p:spPr>
      </p:sp>
      <p:sp>
        <p:nvSpPr>
          <p:cNvPr id="31" name="Text 29"/>
          <p:cNvSpPr txBox="1"/>
          <p:nvPr/>
        </p:nvSpPr>
        <p:spPr>
          <a:xfrm>
            <a:off x="4791456" y="1746504"/>
            <a:ext cx="82296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32" name="Shape 30"/>
          <p:cNvSpPr/>
          <p:nvPr/>
        </p:nvSpPr>
        <p:spPr>
          <a:xfrm>
            <a:off x="5632704" y="1719072"/>
            <a:ext cx="777240" cy="338328"/>
          </a:xfrm>
          <a:prstGeom prst="rect">
            <a:avLst/>
          </a:prstGeom>
          <a:solidFill>
            <a:srgbClr val="2C2C2E"/>
          </a:solidFill>
          <a:ln/>
        </p:spPr>
      </p:sp>
      <p:sp>
        <p:nvSpPr>
          <p:cNvPr id="33" name="Text 31"/>
          <p:cNvSpPr txBox="1"/>
          <p:nvPr/>
        </p:nvSpPr>
        <p:spPr>
          <a:xfrm>
            <a:off x="5632704" y="174650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34" name="Shape 32"/>
          <p:cNvSpPr/>
          <p:nvPr/>
        </p:nvSpPr>
        <p:spPr>
          <a:xfrm>
            <a:off x="6437376" y="1719072"/>
            <a:ext cx="749808" cy="338328"/>
          </a:xfrm>
          <a:prstGeom prst="rect">
            <a:avLst/>
          </a:prstGeom>
          <a:solidFill>
            <a:srgbClr val="2C2C2E"/>
          </a:solidFill>
          <a:ln/>
        </p:spPr>
      </p:sp>
      <p:sp>
        <p:nvSpPr>
          <p:cNvPr id="35" name="Text 33"/>
          <p:cNvSpPr txBox="1"/>
          <p:nvPr/>
        </p:nvSpPr>
        <p:spPr>
          <a:xfrm>
            <a:off x="6437376" y="1746504"/>
            <a:ext cx="749808"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36" name="Shape 34"/>
          <p:cNvSpPr/>
          <p:nvPr/>
        </p:nvSpPr>
        <p:spPr>
          <a:xfrm>
            <a:off x="7214616" y="1719072"/>
            <a:ext cx="777240" cy="338328"/>
          </a:xfrm>
          <a:prstGeom prst="rect">
            <a:avLst/>
          </a:prstGeom>
          <a:solidFill>
            <a:srgbClr val="2C2C2E"/>
          </a:solidFill>
          <a:ln/>
        </p:spPr>
      </p:sp>
      <p:sp>
        <p:nvSpPr>
          <p:cNvPr id="37" name="Text 35"/>
          <p:cNvSpPr txBox="1"/>
          <p:nvPr/>
        </p:nvSpPr>
        <p:spPr>
          <a:xfrm>
            <a:off x="7214616" y="174650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38" name="Shape 36"/>
          <p:cNvSpPr/>
          <p:nvPr/>
        </p:nvSpPr>
        <p:spPr>
          <a:xfrm>
            <a:off x="274320" y="2084832"/>
            <a:ext cx="2011680" cy="338328"/>
          </a:xfrm>
          <a:prstGeom prst="rect">
            <a:avLst/>
          </a:prstGeom>
          <a:solidFill>
            <a:srgbClr val="1C1C1E"/>
          </a:solidFill>
          <a:ln/>
        </p:spPr>
      </p:sp>
      <p:sp>
        <p:nvSpPr>
          <p:cNvPr id="39" name="Text 37"/>
          <p:cNvSpPr txBox="1"/>
          <p:nvPr/>
        </p:nvSpPr>
        <p:spPr>
          <a:xfrm>
            <a:off x="274320" y="2112264"/>
            <a:ext cx="2011680" cy="274320"/>
          </a:xfrm>
          <a:prstGeom prst="rect">
            <a:avLst/>
          </a:prstGeom>
          <a:noFill/>
          <a:ln/>
        </p:spPr>
        <p:txBody>
          <a:bodyPr wrap="square" lIns="76200" tIns="76200" rIns="76200" bIns="76200" rtlCol="0" anchor="ctr"/>
          <a:lstStyle/>
          <a:p>
            <a:pPr algn="l" indent="0" marL="0">
              <a:buNone/>
            </a:pPr>
            <a:r>
              <a:rPr lang="en-US" sz="1000" dirty="0">
                <a:solidFill>
                  <a:srgbClr val="FFFFFF"/>
                </a:solidFill>
                <a:latin typeface="Atkinson Hyperlegible" pitchFamily="34" charset="0"/>
                <a:ea typeface="Atkinson Hyperlegible" pitchFamily="34" charset="-122"/>
                <a:cs typeface="Atkinson Hyperlegible" pitchFamily="34" charset="-120"/>
              </a:rPr>
              <a:t>I-2: Factibilidad temprana</a:t>
            </a:r>
            <a:endParaRPr lang="en-US" sz="1000" dirty="0"/>
          </a:p>
        </p:txBody>
      </p:sp>
      <p:sp>
        <p:nvSpPr>
          <p:cNvPr id="40" name="Shape 38"/>
          <p:cNvSpPr/>
          <p:nvPr/>
        </p:nvSpPr>
        <p:spPr>
          <a:xfrm>
            <a:off x="2331720" y="2084832"/>
            <a:ext cx="731520" cy="338328"/>
          </a:xfrm>
          <a:prstGeom prst="rect">
            <a:avLst/>
          </a:prstGeom>
          <a:solidFill>
            <a:srgbClr val="1C1C1E"/>
          </a:solidFill>
          <a:ln/>
        </p:spPr>
      </p:sp>
      <p:sp>
        <p:nvSpPr>
          <p:cNvPr id="41" name="Text 39"/>
          <p:cNvSpPr txBox="1"/>
          <p:nvPr/>
        </p:nvSpPr>
        <p:spPr>
          <a:xfrm>
            <a:off x="2331720" y="211226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42" name="Shape 40"/>
          <p:cNvSpPr/>
          <p:nvPr/>
        </p:nvSpPr>
        <p:spPr>
          <a:xfrm>
            <a:off x="3090672" y="2084832"/>
            <a:ext cx="731520" cy="338328"/>
          </a:xfrm>
          <a:prstGeom prst="rect">
            <a:avLst/>
          </a:prstGeom>
          <a:solidFill>
            <a:srgbClr val="1C1C1E"/>
          </a:solidFill>
          <a:ln/>
        </p:spPr>
      </p:sp>
      <p:sp>
        <p:nvSpPr>
          <p:cNvPr id="43" name="Text 41"/>
          <p:cNvSpPr txBox="1"/>
          <p:nvPr/>
        </p:nvSpPr>
        <p:spPr>
          <a:xfrm>
            <a:off x="3090672" y="211226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44" name="Shape 42"/>
          <p:cNvSpPr/>
          <p:nvPr/>
        </p:nvSpPr>
        <p:spPr>
          <a:xfrm>
            <a:off x="3849624" y="2084832"/>
            <a:ext cx="914400" cy="338328"/>
          </a:xfrm>
          <a:prstGeom prst="rect">
            <a:avLst/>
          </a:prstGeom>
          <a:solidFill>
            <a:srgbClr val="1C1C1E"/>
          </a:solidFill>
          <a:ln/>
        </p:spPr>
      </p:sp>
      <p:sp>
        <p:nvSpPr>
          <p:cNvPr id="45" name="Text 43"/>
          <p:cNvSpPr txBox="1"/>
          <p:nvPr/>
        </p:nvSpPr>
        <p:spPr>
          <a:xfrm>
            <a:off x="3849624" y="2112264"/>
            <a:ext cx="91440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46" name="Shape 44"/>
          <p:cNvSpPr/>
          <p:nvPr/>
        </p:nvSpPr>
        <p:spPr>
          <a:xfrm>
            <a:off x="4791456" y="2084832"/>
            <a:ext cx="822960" cy="338328"/>
          </a:xfrm>
          <a:prstGeom prst="rect">
            <a:avLst/>
          </a:prstGeom>
          <a:solidFill>
            <a:srgbClr val="1C1C1E"/>
          </a:solidFill>
          <a:ln/>
        </p:spPr>
      </p:sp>
      <p:sp>
        <p:nvSpPr>
          <p:cNvPr id="47" name="Text 45"/>
          <p:cNvSpPr txBox="1"/>
          <p:nvPr/>
        </p:nvSpPr>
        <p:spPr>
          <a:xfrm>
            <a:off x="4791456" y="2112264"/>
            <a:ext cx="82296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48" name="Shape 46"/>
          <p:cNvSpPr/>
          <p:nvPr/>
        </p:nvSpPr>
        <p:spPr>
          <a:xfrm>
            <a:off x="5632704" y="2084832"/>
            <a:ext cx="777240" cy="338328"/>
          </a:xfrm>
          <a:prstGeom prst="rect">
            <a:avLst/>
          </a:prstGeom>
          <a:solidFill>
            <a:srgbClr val="1C1C1E"/>
          </a:solidFill>
          <a:ln/>
        </p:spPr>
      </p:sp>
      <p:sp>
        <p:nvSpPr>
          <p:cNvPr id="49" name="Text 47"/>
          <p:cNvSpPr txBox="1"/>
          <p:nvPr/>
        </p:nvSpPr>
        <p:spPr>
          <a:xfrm>
            <a:off x="5632704" y="211226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50" name="Shape 48"/>
          <p:cNvSpPr/>
          <p:nvPr/>
        </p:nvSpPr>
        <p:spPr>
          <a:xfrm>
            <a:off x="6437376" y="2084832"/>
            <a:ext cx="749808" cy="338328"/>
          </a:xfrm>
          <a:prstGeom prst="rect">
            <a:avLst/>
          </a:prstGeom>
          <a:solidFill>
            <a:srgbClr val="1C1C1E"/>
          </a:solidFill>
          <a:ln/>
        </p:spPr>
      </p:sp>
      <p:sp>
        <p:nvSpPr>
          <p:cNvPr id="51" name="Text 49"/>
          <p:cNvSpPr txBox="1"/>
          <p:nvPr/>
        </p:nvSpPr>
        <p:spPr>
          <a:xfrm>
            <a:off x="6437376" y="2112264"/>
            <a:ext cx="749808"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52" name="Shape 50"/>
          <p:cNvSpPr/>
          <p:nvPr/>
        </p:nvSpPr>
        <p:spPr>
          <a:xfrm>
            <a:off x="7214616" y="2084832"/>
            <a:ext cx="777240" cy="338328"/>
          </a:xfrm>
          <a:prstGeom prst="rect">
            <a:avLst/>
          </a:prstGeom>
          <a:solidFill>
            <a:srgbClr val="1C1C1E"/>
          </a:solidFill>
          <a:ln/>
        </p:spPr>
      </p:sp>
      <p:sp>
        <p:nvSpPr>
          <p:cNvPr id="53" name="Text 51"/>
          <p:cNvSpPr txBox="1"/>
          <p:nvPr/>
        </p:nvSpPr>
        <p:spPr>
          <a:xfrm>
            <a:off x="7214616" y="211226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54" name="Shape 52"/>
          <p:cNvSpPr/>
          <p:nvPr/>
        </p:nvSpPr>
        <p:spPr>
          <a:xfrm>
            <a:off x="274320" y="2450592"/>
            <a:ext cx="2011680" cy="338328"/>
          </a:xfrm>
          <a:prstGeom prst="rect">
            <a:avLst/>
          </a:prstGeom>
          <a:solidFill>
            <a:srgbClr val="2C2C2E"/>
          </a:solidFill>
          <a:ln/>
        </p:spPr>
      </p:sp>
      <p:sp>
        <p:nvSpPr>
          <p:cNvPr id="55" name="Text 53"/>
          <p:cNvSpPr txBox="1"/>
          <p:nvPr/>
        </p:nvSpPr>
        <p:spPr>
          <a:xfrm>
            <a:off x="274320" y="2478024"/>
            <a:ext cx="2011680" cy="274320"/>
          </a:xfrm>
          <a:prstGeom prst="rect">
            <a:avLst/>
          </a:prstGeom>
          <a:noFill/>
          <a:ln/>
        </p:spPr>
        <p:txBody>
          <a:bodyPr wrap="square" lIns="76200" tIns="76200" rIns="76200" bIns="76200" rtlCol="0" anchor="ctr"/>
          <a:lstStyle/>
          <a:p>
            <a:pPr algn="l" indent="0" marL="0">
              <a:buNone/>
            </a:pPr>
            <a:r>
              <a:rPr lang="en-US" sz="1000" dirty="0">
                <a:solidFill>
                  <a:srgbClr val="FFFFFF"/>
                </a:solidFill>
                <a:latin typeface="Atkinson Hyperlegible" pitchFamily="34" charset="0"/>
                <a:ea typeface="Atkinson Hyperlegible" pitchFamily="34" charset="-122"/>
                <a:cs typeface="Atkinson Hyperlegible" pitchFamily="34" charset="-120"/>
              </a:rPr>
              <a:t>I-3: Estrategia contratación</a:t>
            </a:r>
            <a:endParaRPr lang="en-US" sz="1000" dirty="0"/>
          </a:p>
        </p:txBody>
      </p:sp>
      <p:sp>
        <p:nvSpPr>
          <p:cNvPr id="56" name="Shape 54"/>
          <p:cNvSpPr/>
          <p:nvPr/>
        </p:nvSpPr>
        <p:spPr>
          <a:xfrm>
            <a:off x="2331720" y="2450592"/>
            <a:ext cx="731520" cy="338328"/>
          </a:xfrm>
          <a:prstGeom prst="rect">
            <a:avLst/>
          </a:prstGeom>
          <a:solidFill>
            <a:srgbClr val="2C2C2E"/>
          </a:solidFill>
          <a:ln/>
        </p:spPr>
      </p:sp>
      <p:sp>
        <p:nvSpPr>
          <p:cNvPr id="57" name="Text 55"/>
          <p:cNvSpPr txBox="1"/>
          <p:nvPr/>
        </p:nvSpPr>
        <p:spPr>
          <a:xfrm>
            <a:off x="2331720" y="247802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58" name="Shape 56"/>
          <p:cNvSpPr/>
          <p:nvPr/>
        </p:nvSpPr>
        <p:spPr>
          <a:xfrm>
            <a:off x="3090672" y="2450592"/>
            <a:ext cx="731520" cy="338328"/>
          </a:xfrm>
          <a:prstGeom prst="rect">
            <a:avLst/>
          </a:prstGeom>
          <a:solidFill>
            <a:srgbClr val="2C2C2E"/>
          </a:solidFill>
          <a:ln/>
        </p:spPr>
      </p:sp>
      <p:sp>
        <p:nvSpPr>
          <p:cNvPr id="59" name="Text 57"/>
          <p:cNvSpPr txBox="1"/>
          <p:nvPr/>
        </p:nvSpPr>
        <p:spPr>
          <a:xfrm>
            <a:off x="3090672" y="247802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60" name="Shape 58"/>
          <p:cNvSpPr/>
          <p:nvPr/>
        </p:nvSpPr>
        <p:spPr>
          <a:xfrm>
            <a:off x="3849624" y="2450592"/>
            <a:ext cx="914400" cy="338328"/>
          </a:xfrm>
          <a:prstGeom prst="rect">
            <a:avLst/>
          </a:prstGeom>
          <a:solidFill>
            <a:srgbClr val="2C2C2E"/>
          </a:solidFill>
          <a:ln/>
        </p:spPr>
      </p:sp>
      <p:sp>
        <p:nvSpPr>
          <p:cNvPr id="61" name="Text 59"/>
          <p:cNvSpPr txBox="1"/>
          <p:nvPr/>
        </p:nvSpPr>
        <p:spPr>
          <a:xfrm>
            <a:off x="3849624" y="2478024"/>
            <a:ext cx="91440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62" name="Shape 60"/>
          <p:cNvSpPr/>
          <p:nvPr/>
        </p:nvSpPr>
        <p:spPr>
          <a:xfrm>
            <a:off x="4791456" y="2450592"/>
            <a:ext cx="822960" cy="338328"/>
          </a:xfrm>
          <a:prstGeom prst="rect">
            <a:avLst/>
          </a:prstGeom>
          <a:solidFill>
            <a:srgbClr val="2C2C2E"/>
          </a:solidFill>
          <a:ln/>
        </p:spPr>
      </p:sp>
      <p:sp>
        <p:nvSpPr>
          <p:cNvPr id="63" name="Text 61"/>
          <p:cNvSpPr txBox="1"/>
          <p:nvPr/>
        </p:nvSpPr>
        <p:spPr>
          <a:xfrm>
            <a:off x="4791456" y="2478024"/>
            <a:ext cx="82296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64" name="Shape 62"/>
          <p:cNvSpPr/>
          <p:nvPr/>
        </p:nvSpPr>
        <p:spPr>
          <a:xfrm>
            <a:off x="5632704" y="2450592"/>
            <a:ext cx="777240" cy="338328"/>
          </a:xfrm>
          <a:prstGeom prst="rect">
            <a:avLst/>
          </a:prstGeom>
          <a:solidFill>
            <a:srgbClr val="2C2C2E"/>
          </a:solidFill>
          <a:ln/>
        </p:spPr>
      </p:sp>
      <p:sp>
        <p:nvSpPr>
          <p:cNvPr id="65" name="Text 63"/>
          <p:cNvSpPr txBox="1"/>
          <p:nvPr/>
        </p:nvSpPr>
        <p:spPr>
          <a:xfrm>
            <a:off x="5632704" y="247802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66" name="Shape 64"/>
          <p:cNvSpPr/>
          <p:nvPr/>
        </p:nvSpPr>
        <p:spPr>
          <a:xfrm>
            <a:off x="6437376" y="2450592"/>
            <a:ext cx="749808" cy="338328"/>
          </a:xfrm>
          <a:prstGeom prst="rect">
            <a:avLst/>
          </a:prstGeom>
          <a:solidFill>
            <a:srgbClr val="2C2C2E"/>
          </a:solidFill>
          <a:ln/>
        </p:spPr>
      </p:sp>
      <p:sp>
        <p:nvSpPr>
          <p:cNvPr id="67" name="Text 65"/>
          <p:cNvSpPr txBox="1"/>
          <p:nvPr/>
        </p:nvSpPr>
        <p:spPr>
          <a:xfrm>
            <a:off x="6437376" y="2478024"/>
            <a:ext cx="749808"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68" name="Shape 66"/>
          <p:cNvSpPr/>
          <p:nvPr/>
        </p:nvSpPr>
        <p:spPr>
          <a:xfrm>
            <a:off x="7214616" y="2450592"/>
            <a:ext cx="777240" cy="338328"/>
          </a:xfrm>
          <a:prstGeom prst="rect">
            <a:avLst/>
          </a:prstGeom>
          <a:solidFill>
            <a:srgbClr val="2C2C2E"/>
          </a:solidFill>
          <a:ln/>
        </p:spPr>
      </p:sp>
      <p:sp>
        <p:nvSpPr>
          <p:cNvPr id="69" name="Text 67"/>
          <p:cNvSpPr txBox="1"/>
          <p:nvPr/>
        </p:nvSpPr>
        <p:spPr>
          <a:xfrm>
            <a:off x="7214616" y="247802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70" name="Shape 68"/>
          <p:cNvSpPr/>
          <p:nvPr/>
        </p:nvSpPr>
        <p:spPr>
          <a:xfrm>
            <a:off x="274320" y="2816352"/>
            <a:ext cx="2011680" cy="338328"/>
          </a:xfrm>
          <a:prstGeom prst="rect">
            <a:avLst/>
          </a:prstGeom>
          <a:solidFill>
            <a:srgbClr val="1C1C1E"/>
          </a:solidFill>
          <a:ln/>
        </p:spPr>
      </p:sp>
      <p:sp>
        <p:nvSpPr>
          <p:cNvPr id="71" name="Text 69"/>
          <p:cNvSpPr txBox="1"/>
          <p:nvPr/>
        </p:nvSpPr>
        <p:spPr>
          <a:xfrm>
            <a:off x="274320" y="2843784"/>
            <a:ext cx="2011680" cy="274320"/>
          </a:xfrm>
          <a:prstGeom prst="rect">
            <a:avLst/>
          </a:prstGeom>
          <a:noFill/>
          <a:ln/>
        </p:spPr>
        <p:txBody>
          <a:bodyPr wrap="square" lIns="76200" tIns="76200" rIns="76200" bIns="76200" rtlCol="0" anchor="ctr"/>
          <a:lstStyle/>
          <a:p>
            <a:pPr algn="l" indent="0" marL="0">
              <a:buNone/>
            </a:pPr>
            <a:r>
              <a:rPr lang="en-US" sz="1000" dirty="0">
                <a:solidFill>
                  <a:srgbClr val="FFFFFF"/>
                </a:solidFill>
                <a:latin typeface="Atkinson Hyperlegible" pitchFamily="34" charset="0"/>
                <a:ea typeface="Atkinson Hyperlegible" pitchFamily="34" charset="-122"/>
                <a:cs typeface="Atkinson Hyperlegible" pitchFamily="34" charset="-120"/>
              </a:rPr>
              <a:t>I-4: Cronograma orientado</a:t>
            </a:r>
            <a:endParaRPr lang="en-US" sz="1000" dirty="0"/>
          </a:p>
        </p:txBody>
      </p:sp>
      <p:sp>
        <p:nvSpPr>
          <p:cNvPr id="72" name="Shape 70"/>
          <p:cNvSpPr/>
          <p:nvPr/>
        </p:nvSpPr>
        <p:spPr>
          <a:xfrm>
            <a:off x="2331720" y="2816352"/>
            <a:ext cx="731520" cy="338328"/>
          </a:xfrm>
          <a:prstGeom prst="rect">
            <a:avLst/>
          </a:prstGeom>
          <a:solidFill>
            <a:srgbClr val="1C1C1E"/>
          </a:solidFill>
          <a:ln/>
        </p:spPr>
      </p:sp>
      <p:sp>
        <p:nvSpPr>
          <p:cNvPr id="73" name="Text 71"/>
          <p:cNvSpPr txBox="1"/>
          <p:nvPr/>
        </p:nvSpPr>
        <p:spPr>
          <a:xfrm>
            <a:off x="2331720" y="284378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74" name="Shape 72"/>
          <p:cNvSpPr/>
          <p:nvPr/>
        </p:nvSpPr>
        <p:spPr>
          <a:xfrm>
            <a:off x="3090672" y="2816352"/>
            <a:ext cx="731520" cy="338328"/>
          </a:xfrm>
          <a:prstGeom prst="rect">
            <a:avLst/>
          </a:prstGeom>
          <a:solidFill>
            <a:srgbClr val="1C1C1E"/>
          </a:solidFill>
          <a:ln/>
        </p:spPr>
      </p:sp>
      <p:sp>
        <p:nvSpPr>
          <p:cNvPr id="75" name="Text 73"/>
          <p:cNvSpPr txBox="1"/>
          <p:nvPr/>
        </p:nvSpPr>
        <p:spPr>
          <a:xfrm>
            <a:off x="3090672" y="284378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76" name="Shape 74"/>
          <p:cNvSpPr/>
          <p:nvPr/>
        </p:nvSpPr>
        <p:spPr>
          <a:xfrm>
            <a:off x="3849624" y="2816352"/>
            <a:ext cx="914400" cy="338328"/>
          </a:xfrm>
          <a:prstGeom prst="rect">
            <a:avLst/>
          </a:prstGeom>
          <a:solidFill>
            <a:srgbClr val="1C1C1E"/>
          </a:solidFill>
          <a:ln/>
        </p:spPr>
      </p:sp>
      <p:sp>
        <p:nvSpPr>
          <p:cNvPr id="77" name="Text 75"/>
          <p:cNvSpPr txBox="1"/>
          <p:nvPr/>
        </p:nvSpPr>
        <p:spPr>
          <a:xfrm>
            <a:off x="3849624" y="2843784"/>
            <a:ext cx="91440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78" name="Shape 76"/>
          <p:cNvSpPr/>
          <p:nvPr/>
        </p:nvSpPr>
        <p:spPr>
          <a:xfrm>
            <a:off x="4791456" y="2816352"/>
            <a:ext cx="822960" cy="338328"/>
          </a:xfrm>
          <a:prstGeom prst="rect">
            <a:avLst/>
          </a:prstGeom>
          <a:solidFill>
            <a:srgbClr val="1C1C1E"/>
          </a:solidFill>
          <a:ln/>
        </p:spPr>
      </p:sp>
      <p:sp>
        <p:nvSpPr>
          <p:cNvPr id="79" name="Text 77"/>
          <p:cNvSpPr txBox="1"/>
          <p:nvPr/>
        </p:nvSpPr>
        <p:spPr>
          <a:xfrm>
            <a:off x="4791456" y="2843784"/>
            <a:ext cx="82296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80" name="Shape 78"/>
          <p:cNvSpPr/>
          <p:nvPr/>
        </p:nvSpPr>
        <p:spPr>
          <a:xfrm>
            <a:off x="5632704" y="2816352"/>
            <a:ext cx="777240" cy="338328"/>
          </a:xfrm>
          <a:prstGeom prst="rect">
            <a:avLst/>
          </a:prstGeom>
          <a:solidFill>
            <a:srgbClr val="1C1C1E"/>
          </a:solidFill>
          <a:ln/>
        </p:spPr>
      </p:sp>
      <p:sp>
        <p:nvSpPr>
          <p:cNvPr id="81" name="Text 79"/>
          <p:cNvSpPr txBox="1"/>
          <p:nvPr/>
        </p:nvSpPr>
        <p:spPr>
          <a:xfrm>
            <a:off x="5632704" y="2843784"/>
            <a:ext cx="77724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82" name="Shape 80"/>
          <p:cNvSpPr/>
          <p:nvPr/>
        </p:nvSpPr>
        <p:spPr>
          <a:xfrm>
            <a:off x="6437376" y="2816352"/>
            <a:ext cx="749808" cy="338328"/>
          </a:xfrm>
          <a:prstGeom prst="rect">
            <a:avLst/>
          </a:prstGeom>
          <a:solidFill>
            <a:srgbClr val="1C1C1E"/>
          </a:solidFill>
          <a:ln/>
        </p:spPr>
      </p:sp>
      <p:sp>
        <p:nvSpPr>
          <p:cNvPr id="83" name="Text 81"/>
          <p:cNvSpPr txBox="1"/>
          <p:nvPr/>
        </p:nvSpPr>
        <p:spPr>
          <a:xfrm>
            <a:off x="6437376" y="2843784"/>
            <a:ext cx="749808"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84" name="Shape 82"/>
          <p:cNvSpPr/>
          <p:nvPr/>
        </p:nvSpPr>
        <p:spPr>
          <a:xfrm>
            <a:off x="7214616" y="2816352"/>
            <a:ext cx="777240" cy="338328"/>
          </a:xfrm>
          <a:prstGeom prst="rect">
            <a:avLst/>
          </a:prstGeom>
          <a:solidFill>
            <a:srgbClr val="1C1C1E"/>
          </a:solidFill>
          <a:ln/>
        </p:spPr>
      </p:sp>
      <p:sp>
        <p:nvSpPr>
          <p:cNvPr id="85" name="Text 83"/>
          <p:cNvSpPr txBox="1"/>
          <p:nvPr/>
        </p:nvSpPr>
        <p:spPr>
          <a:xfrm>
            <a:off x="7214616" y="284378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86" name="Shape 84"/>
          <p:cNvSpPr/>
          <p:nvPr/>
        </p:nvSpPr>
        <p:spPr>
          <a:xfrm>
            <a:off x="274320" y="3182112"/>
            <a:ext cx="2011680" cy="338328"/>
          </a:xfrm>
          <a:prstGeom prst="rect">
            <a:avLst/>
          </a:prstGeom>
          <a:solidFill>
            <a:srgbClr val="2C2C2E"/>
          </a:solidFill>
          <a:ln/>
        </p:spPr>
      </p:sp>
      <p:sp>
        <p:nvSpPr>
          <p:cNvPr id="87" name="Text 85"/>
          <p:cNvSpPr txBox="1"/>
          <p:nvPr/>
        </p:nvSpPr>
        <p:spPr>
          <a:xfrm>
            <a:off x="274320" y="3209544"/>
            <a:ext cx="2011680" cy="274320"/>
          </a:xfrm>
          <a:prstGeom prst="rect">
            <a:avLst/>
          </a:prstGeom>
          <a:noFill/>
          <a:ln/>
        </p:spPr>
        <p:txBody>
          <a:bodyPr wrap="square" lIns="76200" tIns="76200" rIns="76200" bIns="76200" rtlCol="0" anchor="ctr"/>
          <a:lstStyle/>
          <a:p>
            <a:pPr algn="l" indent="0" marL="0">
              <a:buNone/>
            </a:pPr>
            <a:r>
              <a:rPr lang="en-US" sz="1000" dirty="0">
                <a:solidFill>
                  <a:srgbClr val="FFFFFF"/>
                </a:solidFill>
                <a:latin typeface="Atkinson Hyperlegible" pitchFamily="34" charset="0"/>
                <a:ea typeface="Atkinson Hyperlegible" pitchFamily="34" charset="-122"/>
                <a:cs typeface="Atkinson Hyperlegible" pitchFamily="34" charset="-120"/>
              </a:rPr>
              <a:t>I-5: Métodos constructivos</a:t>
            </a:r>
            <a:endParaRPr lang="en-US" sz="1000" dirty="0"/>
          </a:p>
        </p:txBody>
      </p:sp>
      <p:sp>
        <p:nvSpPr>
          <p:cNvPr id="88" name="Shape 86"/>
          <p:cNvSpPr/>
          <p:nvPr/>
        </p:nvSpPr>
        <p:spPr>
          <a:xfrm>
            <a:off x="2331720" y="3182112"/>
            <a:ext cx="731520" cy="338328"/>
          </a:xfrm>
          <a:prstGeom prst="rect">
            <a:avLst/>
          </a:prstGeom>
          <a:solidFill>
            <a:srgbClr val="2C2C2E"/>
          </a:solidFill>
          <a:ln/>
        </p:spPr>
      </p:sp>
      <p:sp>
        <p:nvSpPr>
          <p:cNvPr id="89" name="Text 87"/>
          <p:cNvSpPr txBox="1"/>
          <p:nvPr/>
        </p:nvSpPr>
        <p:spPr>
          <a:xfrm>
            <a:off x="2331720" y="320954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90" name="Shape 88"/>
          <p:cNvSpPr/>
          <p:nvPr/>
        </p:nvSpPr>
        <p:spPr>
          <a:xfrm>
            <a:off x="3090672" y="3182112"/>
            <a:ext cx="731520" cy="338328"/>
          </a:xfrm>
          <a:prstGeom prst="rect">
            <a:avLst/>
          </a:prstGeom>
          <a:solidFill>
            <a:srgbClr val="2C2C2E"/>
          </a:solidFill>
          <a:ln/>
        </p:spPr>
      </p:sp>
      <p:sp>
        <p:nvSpPr>
          <p:cNvPr id="91" name="Text 89"/>
          <p:cNvSpPr txBox="1"/>
          <p:nvPr/>
        </p:nvSpPr>
        <p:spPr>
          <a:xfrm>
            <a:off x="3090672" y="320954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92" name="Shape 90"/>
          <p:cNvSpPr/>
          <p:nvPr/>
        </p:nvSpPr>
        <p:spPr>
          <a:xfrm>
            <a:off x="3849624" y="3182112"/>
            <a:ext cx="914400" cy="338328"/>
          </a:xfrm>
          <a:prstGeom prst="rect">
            <a:avLst/>
          </a:prstGeom>
          <a:solidFill>
            <a:srgbClr val="2C2C2E"/>
          </a:solidFill>
          <a:ln/>
        </p:spPr>
      </p:sp>
      <p:sp>
        <p:nvSpPr>
          <p:cNvPr id="93" name="Text 91"/>
          <p:cNvSpPr txBox="1"/>
          <p:nvPr/>
        </p:nvSpPr>
        <p:spPr>
          <a:xfrm>
            <a:off x="3849624" y="3209544"/>
            <a:ext cx="91440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94" name="Shape 92"/>
          <p:cNvSpPr/>
          <p:nvPr/>
        </p:nvSpPr>
        <p:spPr>
          <a:xfrm>
            <a:off x="4791456" y="3182112"/>
            <a:ext cx="822960" cy="338328"/>
          </a:xfrm>
          <a:prstGeom prst="rect">
            <a:avLst/>
          </a:prstGeom>
          <a:solidFill>
            <a:srgbClr val="2C2C2E"/>
          </a:solidFill>
          <a:ln/>
        </p:spPr>
      </p:sp>
      <p:sp>
        <p:nvSpPr>
          <p:cNvPr id="95" name="Text 93"/>
          <p:cNvSpPr txBox="1"/>
          <p:nvPr/>
        </p:nvSpPr>
        <p:spPr>
          <a:xfrm>
            <a:off x="4791456" y="3209544"/>
            <a:ext cx="82296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96" name="Shape 94"/>
          <p:cNvSpPr/>
          <p:nvPr/>
        </p:nvSpPr>
        <p:spPr>
          <a:xfrm>
            <a:off x="5632704" y="3182112"/>
            <a:ext cx="777240" cy="338328"/>
          </a:xfrm>
          <a:prstGeom prst="rect">
            <a:avLst/>
          </a:prstGeom>
          <a:solidFill>
            <a:srgbClr val="2C2C2E"/>
          </a:solidFill>
          <a:ln/>
        </p:spPr>
      </p:sp>
      <p:sp>
        <p:nvSpPr>
          <p:cNvPr id="97" name="Text 95"/>
          <p:cNvSpPr txBox="1"/>
          <p:nvPr/>
        </p:nvSpPr>
        <p:spPr>
          <a:xfrm>
            <a:off x="5632704" y="320954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98" name="Shape 96"/>
          <p:cNvSpPr/>
          <p:nvPr/>
        </p:nvSpPr>
        <p:spPr>
          <a:xfrm>
            <a:off x="6437376" y="3182112"/>
            <a:ext cx="749808" cy="338328"/>
          </a:xfrm>
          <a:prstGeom prst="rect">
            <a:avLst/>
          </a:prstGeom>
          <a:solidFill>
            <a:srgbClr val="2C2C2E"/>
          </a:solidFill>
          <a:ln/>
        </p:spPr>
      </p:sp>
      <p:sp>
        <p:nvSpPr>
          <p:cNvPr id="99" name="Text 97"/>
          <p:cNvSpPr txBox="1"/>
          <p:nvPr/>
        </p:nvSpPr>
        <p:spPr>
          <a:xfrm>
            <a:off x="6437376" y="3209544"/>
            <a:ext cx="749808"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00" name="Shape 98"/>
          <p:cNvSpPr/>
          <p:nvPr/>
        </p:nvSpPr>
        <p:spPr>
          <a:xfrm>
            <a:off x="7214616" y="3182112"/>
            <a:ext cx="777240" cy="338328"/>
          </a:xfrm>
          <a:prstGeom prst="rect">
            <a:avLst/>
          </a:prstGeom>
          <a:solidFill>
            <a:srgbClr val="2C2C2E"/>
          </a:solidFill>
          <a:ln/>
        </p:spPr>
      </p:sp>
      <p:sp>
        <p:nvSpPr>
          <p:cNvPr id="101" name="Text 99"/>
          <p:cNvSpPr txBox="1"/>
          <p:nvPr/>
        </p:nvSpPr>
        <p:spPr>
          <a:xfrm>
            <a:off x="7214616" y="320954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02" name="Shape 100"/>
          <p:cNvSpPr/>
          <p:nvPr/>
        </p:nvSpPr>
        <p:spPr>
          <a:xfrm>
            <a:off x="274320" y="3547872"/>
            <a:ext cx="2011680" cy="338328"/>
          </a:xfrm>
          <a:prstGeom prst="rect">
            <a:avLst/>
          </a:prstGeom>
          <a:solidFill>
            <a:srgbClr val="1C1C1E"/>
          </a:solidFill>
          <a:ln/>
        </p:spPr>
      </p:sp>
      <p:sp>
        <p:nvSpPr>
          <p:cNvPr id="103" name="Text 101"/>
          <p:cNvSpPr txBox="1"/>
          <p:nvPr/>
        </p:nvSpPr>
        <p:spPr>
          <a:xfrm>
            <a:off x="274320" y="3575304"/>
            <a:ext cx="2011680" cy="274320"/>
          </a:xfrm>
          <a:prstGeom prst="rect">
            <a:avLst/>
          </a:prstGeom>
          <a:noFill/>
          <a:ln/>
        </p:spPr>
        <p:txBody>
          <a:bodyPr wrap="square" lIns="76200" tIns="76200" rIns="76200" bIns="76200" rtlCol="0" anchor="ctr"/>
          <a:lstStyle/>
          <a:p>
            <a:pPr algn="l" indent="0" marL="0">
              <a:buNone/>
            </a:pPr>
            <a:r>
              <a:rPr lang="en-US" sz="1000" dirty="0">
                <a:solidFill>
                  <a:srgbClr val="FFFFFF"/>
                </a:solidFill>
                <a:latin typeface="Atkinson Hyperlegible" pitchFamily="34" charset="0"/>
                <a:ea typeface="Atkinson Hyperlegible" pitchFamily="34" charset="-122"/>
                <a:cs typeface="Atkinson Hyperlegible" pitchFamily="34" charset="-120"/>
              </a:rPr>
              <a:t>II-2: Diseño eficiente</a:t>
            </a:r>
            <a:endParaRPr lang="en-US" sz="1000" dirty="0"/>
          </a:p>
        </p:txBody>
      </p:sp>
      <p:sp>
        <p:nvSpPr>
          <p:cNvPr id="104" name="Shape 102"/>
          <p:cNvSpPr/>
          <p:nvPr/>
        </p:nvSpPr>
        <p:spPr>
          <a:xfrm>
            <a:off x="2331720" y="3547872"/>
            <a:ext cx="731520" cy="338328"/>
          </a:xfrm>
          <a:prstGeom prst="rect">
            <a:avLst/>
          </a:prstGeom>
          <a:solidFill>
            <a:srgbClr val="1C1C1E"/>
          </a:solidFill>
          <a:ln/>
        </p:spPr>
      </p:sp>
      <p:sp>
        <p:nvSpPr>
          <p:cNvPr id="105" name="Text 103"/>
          <p:cNvSpPr txBox="1"/>
          <p:nvPr/>
        </p:nvSpPr>
        <p:spPr>
          <a:xfrm>
            <a:off x="2331720" y="3575304"/>
            <a:ext cx="73152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06" name="Shape 104"/>
          <p:cNvSpPr/>
          <p:nvPr/>
        </p:nvSpPr>
        <p:spPr>
          <a:xfrm>
            <a:off x="3090672" y="3547872"/>
            <a:ext cx="731520" cy="338328"/>
          </a:xfrm>
          <a:prstGeom prst="rect">
            <a:avLst/>
          </a:prstGeom>
          <a:solidFill>
            <a:srgbClr val="1C1C1E"/>
          </a:solidFill>
          <a:ln/>
        </p:spPr>
      </p:sp>
      <p:sp>
        <p:nvSpPr>
          <p:cNvPr id="107" name="Text 105"/>
          <p:cNvSpPr txBox="1"/>
          <p:nvPr/>
        </p:nvSpPr>
        <p:spPr>
          <a:xfrm>
            <a:off x="3090672" y="357530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08" name="Shape 106"/>
          <p:cNvSpPr/>
          <p:nvPr/>
        </p:nvSpPr>
        <p:spPr>
          <a:xfrm>
            <a:off x="3849624" y="3547872"/>
            <a:ext cx="914400" cy="338328"/>
          </a:xfrm>
          <a:prstGeom prst="rect">
            <a:avLst/>
          </a:prstGeom>
          <a:solidFill>
            <a:srgbClr val="1C1C1E"/>
          </a:solidFill>
          <a:ln/>
        </p:spPr>
      </p:sp>
      <p:sp>
        <p:nvSpPr>
          <p:cNvPr id="109" name="Text 107"/>
          <p:cNvSpPr txBox="1"/>
          <p:nvPr/>
        </p:nvSpPr>
        <p:spPr>
          <a:xfrm>
            <a:off x="3849624" y="3575304"/>
            <a:ext cx="91440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10" name="Shape 108"/>
          <p:cNvSpPr/>
          <p:nvPr/>
        </p:nvSpPr>
        <p:spPr>
          <a:xfrm>
            <a:off x="4791456" y="3547872"/>
            <a:ext cx="822960" cy="338328"/>
          </a:xfrm>
          <a:prstGeom prst="rect">
            <a:avLst/>
          </a:prstGeom>
          <a:solidFill>
            <a:srgbClr val="1C1C1E"/>
          </a:solidFill>
          <a:ln/>
        </p:spPr>
      </p:sp>
      <p:sp>
        <p:nvSpPr>
          <p:cNvPr id="111" name="Text 109"/>
          <p:cNvSpPr txBox="1"/>
          <p:nvPr/>
        </p:nvSpPr>
        <p:spPr>
          <a:xfrm>
            <a:off x="4791456" y="3575304"/>
            <a:ext cx="82296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12" name="Shape 110"/>
          <p:cNvSpPr/>
          <p:nvPr/>
        </p:nvSpPr>
        <p:spPr>
          <a:xfrm>
            <a:off x="5632704" y="3547872"/>
            <a:ext cx="777240" cy="338328"/>
          </a:xfrm>
          <a:prstGeom prst="rect">
            <a:avLst/>
          </a:prstGeom>
          <a:solidFill>
            <a:srgbClr val="1C1C1E"/>
          </a:solidFill>
          <a:ln/>
        </p:spPr>
      </p:sp>
      <p:sp>
        <p:nvSpPr>
          <p:cNvPr id="113" name="Text 111"/>
          <p:cNvSpPr txBox="1"/>
          <p:nvPr/>
        </p:nvSpPr>
        <p:spPr>
          <a:xfrm>
            <a:off x="5632704" y="3575304"/>
            <a:ext cx="77724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14" name="Shape 112"/>
          <p:cNvSpPr/>
          <p:nvPr/>
        </p:nvSpPr>
        <p:spPr>
          <a:xfrm>
            <a:off x="6437376" y="3547872"/>
            <a:ext cx="749808" cy="338328"/>
          </a:xfrm>
          <a:prstGeom prst="rect">
            <a:avLst/>
          </a:prstGeom>
          <a:solidFill>
            <a:srgbClr val="1C1C1E"/>
          </a:solidFill>
          <a:ln/>
        </p:spPr>
      </p:sp>
      <p:sp>
        <p:nvSpPr>
          <p:cNvPr id="115" name="Text 113"/>
          <p:cNvSpPr txBox="1"/>
          <p:nvPr/>
        </p:nvSpPr>
        <p:spPr>
          <a:xfrm>
            <a:off x="6437376" y="3575304"/>
            <a:ext cx="749808"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16" name="Shape 114"/>
          <p:cNvSpPr/>
          <p:nvPr/>
        </p:nvSpPr>
        <p:spPr>
          <a:xfrm>
            <a:off x="7214616" y="3547872"/>
            <a:ext cx="777240" cy="338328"/>
          </a:xfrm>
          <a:prstGeom prst="rect">
            <a:avLst/>
          </a:prstGeom>
          <a:solidFill>
            <a:srgbClr val="1C1C1E"/>
          </a:solidFill>
          <a:ln/>
        </p:spPr>
      </p:sp>
      <p:sp>
        <p:nvSpPr>
          <p:cNvPr id="117" name="Text 115"/>
          <p:cNvSpPr txBox="1"/>
          <p:nvPr/>
        </p:nvSpPr>
        <p:spPr>
          <a:xfrm>
            <a:off x="7214616" y="357530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18" name="Shape 116"/>
          <p:cNvSpPr/>
          <p:nvPr/>
        </p:nvSpPr>
        <p:spPr>
          <a:xfrm>
            <a:off x="274320" y="3913632"/>
            <a:ext cx="2011680" cy="338328"/>
          </a:xfrm>
          <a:prstGeom prst="rect">
            <a:avLst/>
          </a:prstGeom>
          <a:solidFill>
            <a:srgbClr val="2C2C2E"/>
          </a:solidFill>
          <a:ln/>
        </p:spPr>
      </p:sp>
      <p:sp>
        <p:nvSpPr>
          <p:cNvPr id="119" name="Text 117"/>
          <p:cNvSpPr txBox="1"/>
          <p:nvPr/>
        </p:nvSpPr>
        <p:spPr>
          <a:xfrm>
            <a:off x="274320" y="3941064"/>
            <a:ext cx="2011680" cy="274320"/>
          </a:xfrm>
          <a:prstGeom prst="rect">
            <a:avLst/>
          </a:prstGeom>
          <a:noFill/>
          <a:ln/>
        </p:spPr>
        <p:txBody>
          <a:bodyPr wrap="square" lIns="76200" tIns="76200" rIns="76200" bIns="76200" rtlCol="0" anchor="ctr"/>
          <a:lstStyle/>
          <a:p>
            <a:pPr algn="l" indent="0" marL="0">
              <a:buNone/>
            </a:pPr>
            <a:r>
              <a:rPr lang="en-US" sz="1000" dirty="0">
                <a:solidFill>
                  <a:srgbClr val="FFFFFF"/>
                </a:solidFill>
                <a:latin typeface="Atkinson Hyperlegible" pitchFamily="34" charset="0"/>
                <a:ea typeface="Atkinson Hyperlegible" pitchFamily="34" charset="-122"/>
                <a:cs typeface="Atkinson Hyperlegible" pitchFamily="34" charset="-120"/>
              </a:rPr>
              <a:t>II-3: Estandarización</a:t>
            </a:r>
            <a:endParaRPr lang="en-US" sz="1000" dirty="0"/>
          </a:p>
        </p:txBody>
      </p:sp>
      <p:sp>
        <p:nvSpPr>
          <p:cNvPr id="120" name="Shape 118"/>
          <p:cNvSpPr/>
          <p:nvPr/>
        </p:nvSpPr>
        <p:spPr>
          <a:xfrm>
            <a:off x="2331720" y="3913632"/>
            <a:ext cx="731520" cy="338328"/>
          </a:xfrm>
          <a:prstGeom prst="rect">
            <a:avLst/>
          </a:prstGeom>
          <a:solidFill>
            <a:srgbClr val="2C2C2E"/>
          </a:solidFill>
          <a:ln/>
        </p:spPr>
      </p:sp>
      <p:sp>
        <p:nvSpPr>
          <p:cNvPr id="121" name="Text 119"/>
          <p:cNvSpPr txBox="1"/>
          <p:nvPr/>
        </p:nvSpPr>
        <p:spPr>
          <a:xfrm>
            <a:off x="2331720" y="3941064"/>
            <a:ext cx="73152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22" name="Shape 120"/>
          <p:cNvSpPr/>
          <p:nvPr/>
        </p:nvSpPr>
        <p:spPr>
          <a:xfrm>
            <a:off x="3090672" y="3913632"/>
            <a:ext cx="731520" cy="338328"/>
          </a:xfrm>
          <a:prstGeom prst="rect">
            <a:avLst/>
          </a:prstGeom>
          <a:solidFill>
            <a:srgbClr val="2C2C2E"/>
          </a:solidFill>
          <a:ln/>
        </p:spPr>
      </p:sp>
      <p:sp>
        <p:nvSpPr>
          <p:cNvPr id="123" name="Text 121"/>
          <p:cNvSpPr txBox="1"/>
          <p:nvPr/>
        </p:nvSpPr>
        <p:spPr>
          <a:xfrm>
            <a:off x="3090672" y="394106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24" name="Shape 122"/>
          <p:cNvSpPr/>
          <p:nvPr/>
        </p:nvSpPr>
        <p:spPr>
          <a:xfrm>
            <a:off x="3849624" y="3913632"/>
            <a:ext cx="914400" cy="338328"/>
          </a:xfrm>
          <a:prstGeom prst="rect">
            <a:avLst/>
          </a:prstGeom>
          <a:solidFill>
            <a:srgbClr val="2C2C2E"/>
          </a:solidFill>
          <a:ln/>
        </p:spPr>
      </p:sp>
      <p:sp>
        <p:nvSpPr>
          <p:cNvPr id="125" name="Text 123"/>
          <p:cNvSpPr txBox="1"/>
          <p:nvPr/>
        </p:nvSpPr>
        <p:spPr>
          <a:xfrm>
            <a:off x="3849624" y="3941064"/>
            <a:ext cx="91440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26" name="Shape 124"/>
          <p:cNvSpPr/>
          <p:nvPr/>
        </p:nvSpPr>
        <p:spPr>
          <a:xfrm>
            <a:off x="4791456" y="3913632"/>
            <a:ext cx="822960" cy="338328"/>
          </a:xfrm>
          <a:prstGeom prst="rect">
            <a:avLst/>
          </a:prstGeom>
          <a:solidFill>
            <a:srgbClr val="2C2C2E"/>
          </a:solidFill>
          <a:ln/>
        </p:spPr>
      </p:sp>
      <p:sp>
        <p:nvSpPr>
          <p:cNvPr id="127" name="Text 125"/>
          <p:cNvSpPr txBox="1"/>
          <p:nvPr/>
        </p:nvSpPr>
        <p:spPr>
          <a:xfrm>
            <a:off x="4791456" y="3941064"/>
            <a:ext cx="82296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28" name="Shape 126"/>
          <p:cNvSpPr/>
          <p:nvPr/>
        </p:nvSpPr>
        <p:spPr>
          <a:xfrm>
            <a:off x="5632704" y="3913632"/>
            <a:ext cx="777240" cy="338328"/>
          </a:xfrm>
          <a:prstGeom prst="rect">
            <a:avLst/>
          </a:prstGeom>
          <a:solidFill>
            <a:srgbClr val="2C2C2E"/>
          </a:solidFill>
          <a:ln/>
        </p:spPr>
      </p:sp>
      <p:sp>
        <p:nvSpPr>
          <p:cNvPr id="129" name="Text 127"/>
          <p:cNvSpPr txBox="1"/>
          <p:nvPr/>
        </p:nvSpPr>
        <p:spPr>
          <a:xfrm>
            <a:off x="5632704" y="3941064"/>
            <a:ext cx="77724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30" name="Shape 128"/>
          <p:cNvSpPr/>
          <p:nvPr/>
        </p:nvSpPr>
        <p:spPr>
          <a:xfrm>
            <a:off x="6437376" y="3913632"/>
            <a:ext cx="749808" cy="338328"/>
          </a:xfrm>
          <a:prstGeom prst="rect">
            <a:avLst/>
          </a:prstGeom>
          <a:solidFill>
            <a:srgbClr val="2C2C2E"/>
          </a:solidFill>
          <a:ln/>
        </p:spPr>
      </p:sp>
      <p:sp>
        <p:nvSpPr>
          <p:cNvPr id="131" name="Text 129"/>
          <p:cNvSpPr txBox="1"/>
          <p:nvPr/>
        </p:nvSpPr>
        <p:spPr>
          <a:xfrm>
            <a:off x="6437376" y="3941064"/>
            <a:ext cx="749808"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32" name="Shape 130"/>
          <p:cNvSpPr/>
          <p:nvPr/>
        </p:nvSpPr>
        <p:spPr>
          <a:xfrm>
            <a:off x="7214616" y="3913632"/>
            <a:ext cx="777240" cy="338328"/>
          </a:xfrm>
          <a:prstGeom prst="rect">
            <a:avLst/>
          </a:prstGeom>
          <a:solidFill>
            <a:srgbClr val="2C2C2E"/>
          </a:solidFill>
          <a:ln/>
        </p:spPr>
      </p:sp>
      <p:sp>
        <p:nvSpPr>
          <p:cNvPr id="133" name="Text 131"/>
          <p:cNvSpPr txBox="1"/>
          <p:nvPr/>
        </p:nvSpPr>
        <p:spPr>
          <a:xfrm>
            <a:off x="7214616" y="394106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34" name="Shape 132"/>
          <p:cNvSpPr/>
          <p:nvPr/>
        </p:nvSpPr>
        <p:spPr>
          <a:xfrm>
            <a:off x="274320" y="4279392"/>
            <a:ext cx="2011680" cy="338328"/>
          </a:xfrm>
          <a:prstGeom prst="rect">
            <a:avLst/>
          </a:prstGeom>
          <a:solidFill>
            <a:srgbClr val="1C1C1E"/>
          </a:solidFill>
          <a:ln/>
        </p:spPr>
      </p:sp>
      <p:sp>
        <p:nvSpPr>
          <p:cNvPr id="135" name="Text 133"/>
          <p:cNvSpPr txBox="1"/>
          <p:nvPr/>
        </p:nvSpPr>
        <p:spPr>
          <a:xfrm>
            <a:off x="274320" y="4306824"/>
            <a:ext cx="2011680" cy="274320"/>
          </a:xfrm>
          <a:prstGeom prst="rect">
            <a:avLst/>
          </a:prstGeom>
          <a:noFill/>
          <a:ln/>
        </p:spPr>
        <p:txBody>
          <a:bodyPr wrap="square" lIns="76200" tIns="76200" rIns="76200" bIns="76200" rtlCol="0" anchor="ctr"/>
          <a:lstStyle/>
          <a:p>
            <a:pPr algn="l" indent="0" marL="0">
              <a:buNone/>
            </a:pPr>
            <a:r>
              <a:rPr lang="en-US" sz="1000" dirty="0">
                <a:solidFill>
                  <a:srgbClr val="FFFFFF"/>
                </a:solidFill>
                <a:latin typeface="Atkinson Hyperlegible" pitchFamily="34" charset="0"/>
                <a:ea typeface="Atkinson Hyperlegible" pitchFamily="34" charset="-122"/>
                <a:cs typeface="Atkinson Hyperlegible" pitchFamily="34" charset="-120"/>
              </a:rPr>
              <a:t>II-5: PPMOF</a:t>
            </a:r>
            <a:endParaRPr lang="en-US" sz="1000" dirty="0"/>
          </a:p>
        </p:txBody>
      </p:sp>
      <p:sp>
        <p:nvSpPr>
          <p:cNvPr id="136" name="Shape 134"/>
          <p:cNvSpPr/>
          <p:nvPr/>
        </p:nvSpPr>
        <p:spPr>
          <a:xfrm>
            <a:off x="2331720" y="4279392"/>
            <a:ext cx="731520" cy="338328"/>
          </a:xfrm>
          <a:prstGeom prst="rect">
            <a:avLst/>
          </a:prstGeom>
          <a:solidFill>
            <a:srgbClr val="1C1C1E"/>
          </a:solidFill>
          <a:ln/>
        </p:spPr>
      </p:sp>
      <p:sp>
        <p:nvSpPr>
          <p:cNvPr id="137" name="Text 135"/>
          <p:cNvSpPr txBox="1"/>
          <p:nvPr/>
        </p:nvSpPr>
        <p:spPr>
          <a:xfrm>
            <a:off x="2331720" y="4306824"/>
            <a:ext cx="73152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38" name="Shape 136"/>
          <p:cNvSpPr/>
          <p:nvPr/>
        </p:nvSpPr>
        <p:spPr>
          <a:xfrm>
            <a:off x="3090672" y="4279392"/>
            <a:ext cx="731520" cy="338328"/>
          </a:xfrm>
          <a:prstGeom prst="rect">
            <a:avLst/>
          </a:prstGeom>
          <a:solidFill>
            <a:srgbClr val="1C1C1E"/>
          </a:solidFill>
          <a:ln/>
        </p:spPr>
      </p:sp>
      <p:sp>
        <p:nvSpPr>
          <p:cNvPr id="139" name="Text 137"/>
          <p:cNvSpPr txBox="1"/>
          <p:nvPr/>
        </p:nvSpPr>
        <p:spPr>
          <a:xfrm>
            <a:off x="3090672" y="4306824"/>
            <a:ext cx="73152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40" name="Shape 138"/>
          <p:cNvSpPr/>
          <p:nvPr/>
        </p:nvSpPr>
        <p:spPr>
          <a:xfrm>
            <a:off x="3849624" y="4279392"/>
            <a:ext cx="914400" cy="338328"/>
          </a:xfrm>
          <a:prstGeom prst="rect">
            <a:avLst/>
          </a:prstGeom>
          <a:solidFill>
            <a:srgbClr val="1C1C1E"/>
          </a:solidFill>
          <a:ln/>
        </p:spPr>
      </p:sp>
      <p:sp>
        <p:nvSpPr>
          <p:cNvPr id="141" name="Text 139"/>
          <p:cNvSpPr txBox="1"/>
          <p:nvPr/>
        </p:nvSpPr>
        <p:spPr>
          <a:xfrm>
            <a:off x="3849624" y="4306824"/>
            <a:ext cx="91440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42" name="Shape 140"/>
          <p:cNvSpPr/>
          <p:nvPr/>
        </p:nvSpPr>
        <p:spPr>
          <a:xfrm>
            <a:off x="4791456" y="4279392"/>
            <a:ext cx="822960" cy="338328"/>
          </a:xfrm>
          <a:prstGeom prst="rect">
            <a:avLst/>
          </a:prstGeom>
          <a:solidFill>
            <a:srgbClr val="1C1C1E"/>
          </a:solidFill>
          <a:ln/>
        </p:spPr>
      </p:sp>
      <p:sp>
        <p:nvSpPr>
          <p:cNvPr id="143" name="Text 141"/>
          <p:cNvSpPr txBox="1"/>
          <p:nvPr/>
        </p:nvSpPr>
        <p:spPr>
          <a:xfrm>
            <a:off x="4791456" y="4306824"/>
            <a:ext cx="82296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44" name="Shape 142"/>
          <p:cNvSpPr/>
          <p:nvPr/>
        </p:nvSpPr>
        <p:spPr>
          <a:xfrm>
            <a:off x="5632704" y="4279392"/>
            <a:ext cx="777240" cy="338328"/>
          </a:xfrm>
          <a:prstGeom prst="rect">
            <a:avLst/>
          </a:prstGeom>
          <a:solidFill>
            <a:srgbClr val="1C1C1E"/>
          </a:solidFill>
          <a:ln/>
        </p:spPr>
      </p:sp>
      <p:sp>
        <p:nvSpPr>
          <p:cNvPr id="145" name="Text 143"/>
          <p:cNvSpPr txBox="1"/>
          <p:nvPr/>
        </p:nvSpPr>
        <p:spPr>
          <a:xfrm>
            <a:off x="5632704" y="4306824"/>
            <a:ext cx="77724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46" name="Shape 144"/>
          <p:cNvSpPr/>
          <p:nvPr/>
        </p:nvSpPr>
        <p:spPr>
          <a:xfrm>
            <a:off x="6437376" y="4279392"/>
            <a:ext cx="749808" cy="338328"/>
          </a:xfrm>
          <a:prstGeom prst="rect">
            <a:avLst/>
          </a:prstGeom>
          <a:solidFill>
            <a:srgbClr val="1C1C1E"/>
          </a:solidFill>
          <a:ln/>
        </p:spPr>
      </p:sp>
      <p:sp>
        <p:nvSpPr>
          <p:cNvPr id="147" name="Text 145"/>
          <p:cNvSpPr txBox="1"/>
          <p:nvPr/>
        </p:nvSpPr>
        <p:spPr>
          <a:xfrm>
            <a:off x="6437376" y="4306824"/>
            <a:ext cx="749808"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48" name="Shape 146"/>
          <p:cNvSpPr/>
          <p:nvPr/>
        </p:nvSpPr>
        <p:spPr>
          <a:xfrm>
            <a:off x="7214616" y="4279392"/>
            <a:ext cx="777240" cy="338328"/>
          </a:xfrm>
          <a:prstGeom prst="rect">
            <a:avLst/>
          </a:prstGeom>
          <a:solidFill>
            <a:srgbClr val="1C1C1E"/>
          </a:solidFill>
          <a:ln/>
        </p:spPr>
      </p:sp>
      <p:sp>
        <p:nvSpPr>
          <p:cNvPr id="149" name="Text 147"/>
          <p:cNvSpPr txBox="1"/>
          <p:nvPr/>
        </p:nvSpPr>
        <p:spPr>
          <a:xfrm>
            <a:off x="7214616" y="430682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50" name="Shape 148"/>
          <p:cNvSpPr/>
          <p:nvPr/>
        </p:nvSpPr>
        <p:spPr>
          <a:xfrm>
            <a:off x="274320" y="4645152"/>
            <a:ext cx="2011680" cy="338328"/>
          </a:xfrm>
          <a:prstGeom prst="rect">
            <a:avLst/>
          </a:prstGeom>
          <a:solidFill>
            <a:srgbClr val="2C2C2E"/>
          </a:solidFill>
          <a:ln/>
        </p:spPr>
      </p:sp>
      <p:sp>
        <p:nvSpPr>
          <p:cNvPr id="151" name="Text 149"/>
          <p:cNvSpPr txBox="1"/>
          <p:nvPr/>
        </p:nvSpPr>
        <p:spPr>
          <a:xfrm>
            <a:off x="274320" y="4672584"/>
            <a:ext cx="2011680" cy="274320"/>
          </a:xfrm>
          <a:prstGeom prst="rect">
            <a:avLst/>
          </a:prstGeom>
          <a:noFill/>
          <a:ln/>
        </p:spPr>
        <p:txBody>
          <a:bodyPr wrap="square" lIns="76200" tIns="76200" rIns="76200" bIns="76200" rtlCol="0" anchor="ctr"/>
          <a:lstStyle/>
          <a:p>
            <a:pPr algn="l" indent="0" marL="0">
              <a:buNone/>
            </a:pPr>
            <a:r>
              <a:rPr lang="en-US" sz="1000" dirty="0">
                <a:solidFill>
                  <a:srgbClr val="FFFFFF"/>
                </a:solidFill>
                <a:latin typeface="Atkinson Hyperlegible" pitchFamily="34" charset="0"/>
                <a:ea typeface="Atkinson Hyperlegible" pitchFamily="34" charset="-122"/>
                <a:cs typeface="Atkinson Hyperlegible" pitchFamily="34" charset="-120"/>
              </a:rPr>
              <a:t>III-1: Innovaciones campo</a:t>
            </a:r>
            <a:endParaRPr lang="en-US" sz="1000" dirty="0"/>
          </a:p>
        </p:txBody>
      </p:sp>
      <p:sp>
        <p:nvSpPr>
          <p:cNvPr id="152" name="Shape 150"/>
          <p:cNvSpPr/>
          <p:nvPr/>
        </p:nvSpPr>
        <p:spPr>
          <a:xfrm>
            <a:off x="2331720" y="4645152"/>
            <a:ext cx="731520" cy="338328"/>
          </a:xfrm>
          <a:prstGeom prst="rect">
            <a:avLst/>
          </a:prstGeom>
          <a:solidFill>
            <a:srgbClr val="2C2C2E"/>
          </a:solidFill>
          <a:ln/>
        </p:spPr>
      </p:sp>
      <p:sp>
        <p:nvSpPr>
          <p:cNvPr id="153" name="Text 151"/>
          <p:cNvSpPr txBox="1"/>
          <p:nvPr/>
        </p:nvSpPr>
        <p:spPr>
          <a:xfrm>
            <a:off x="2331720" y="4672584"/>
            <a:ext cx="73152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54" name="Shape 152"/>
          <p:cNvSpPr/>
          <p:nvPr/>
        </p:nvSpPr>
        <p:spPr>
          <a:xfrm>
            <a:off x="3090672" y="4645152"/>
            <a:ext cx="731520" cy="338328"/>
          </a:xfrm>
          <a:prstGeom prst="rect">
            <a:avLst/>
          </a:prstGeom>
          <a:solidFill>
            <a:srgbClr val="2C2C2E"/>
          </a:solidFill>
          <a:ln/>
        </p:spPr>
      </p:sp>
      <p:sp>
        <p:nvSpPr>
          <p:cNvPr id="155" name="Text 153"/>
          <p:cNvSpPr txBox="1"/>
          <p:nvPr/>
        </p:nvSpPr>
        <p:spPr>
          <a:xfrm>
            <a:off x="3090672" y="4672584"/>
            <a:ext cx="73152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56" name="Shape 154"/>
          <p:cNvSpPr/>
          <p:nvPr/>
        </p:nvSpPr>
        <p:spPr>
          <a:xfrm>
            <a:off x="3849624" y="4645152"/>
            <a:ext cx="914400" cy="338328"/>
          </a:xfrm>
          <a:prstGeom prst="rect">
            <a:avLst/>
          </a:prstGeom>
          <a:solidFill>
            <a:srgbClr val="2C2C2E"/>
          </a:solidFill>
          <a:ln/>
        </p:spPr>
      </p:sp>
      <p:sp>
        <p:nvSpPr>
          <p:cNvPr id="157" name="Text 155"/>
          <p:cNvSpPr txBox="1"/>
          <p:nvPr/>
        </p:nvSpPr>
        <p:spPr>
          <a:xfrm>
            <a:off x="3849624" y="4672584"/>
            <a:ext cx="91440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58" name="Shape 156"/>
          <p:cNvSpPr/>
          <p:nvPr/>
        </p:nvSpPr>
        <p:spPr>
          <a:xfrm>
            <a:off x="4791456" y="4645152"/>
            <a:ext cx="822960" cy="338328"/>
          </a:xfrm>
          <a:prstGeom prst="rect">
            <a:avLst/>
          </a:prstGeom>
          <a:solidFill>
            <a:srgbClr val="2C2C2E"/>
          </a:solidFill>
          <a:ln/>
        </p:spPr>
      </p:sp>
      <p:sp>
        <p:nvSpPr>
          <p:cNvPr id="159" name="Text 157"/>
          <p:cNvSpPr txBox="1"/>
          <p:nvPr/>
        </p:nvSpPr>
        <p:spPr>
          <a:xfrm>
            <a:off x="4791456" y="4672584"/>
            <a:ext cx="82296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60" name="Shape 158"/>
          <p:cNvSpPr/>
          <p:nvPr/>
        </p:nvSpPr>
        <p:spPr>
          <a:xfrm>
            <a:off x="5632704" y="4645152"/>
            <a:ext cx="777240" cy="338328"/>
          </a:xfrm>
          <a:prstGeom prst="rect">
            <a:avLst/>
          </a:prstGeom>
          <a:solidFill>
            <a:srgbClr val="2C2C2E"/>
          </a:solidFill>
          <a:ln/>
        </p:spPr>
      </p:sp>
      <p:sp>
        <p:nvSpPr>
          <p:cNvPr id="161" name="Text 159"/>
          <p:cNvSpPr txBox="1"/>
          <p:nvPr/>
        </p:nvSpPr>
        <p:spPr>
          <a:xfrm>
            <a:off x="5632704" y="4672584"/>
            <a:ext cx="777240" cy="274320"/>
          </a:xfrm>
          <a:prstGeom prst="rect">
            <a:avLst/>
          </a:prstGeom>
          <a:noFill/>
          <a:ln/>
        </p:spPr>
        <p:txBody>
          <a:bodyPr wrap="square" lIns="0" tIns="0" rIns="0" bIns="0" rtlCol="0" anchor="ctr"/>
          <a:lstStyle/>
          <a:p>
            <a:pPr algn="ctr" indent="0" marL="0">
              <a:buNone/>
            </a:pPr>
            <a:r>
              <a:rPr lang="en-US" sz="1400" dirty="0">
                <a:solidFill>
                  <a:srgbClr val="3A3A3C"/>
                </a:solidFill>
                <a:latin typeface="Atkinson Hyperlegible" pitchFamily="34" charset="0"/>
                <a:ea typeface="Atkinson Hyperlegible" pitchFamily="34" charset="-122"/>
                <a:cs typeface="Atkinson Hyperlegible" pitchFamily="34" charset="-120"/>
              </a:rPr>
              <a:t>○</a:t>
            </a:r>
            <a:endParaRPr lang="en-US" sz="1400" dirty="0"/>
          </a:p>
        </p:txBody>
      </p:sp>
      <p:sp>
        <p:nvSpPr>
          <p:cNvPr id="162" name="Shape 160"/>
          <p:cNvSpPr/>
          <p:nvPr/>
        </p:nvSpPr>
        <p:spPr>
          <a:xfrm>
            <a:off x="6437376" y="4645152"/>
            <a:ext cx="749808" cy="338328"/>
          </a:xfrm>
          <a:prstGeom prst="rect">
            <a:avLst/>
          </a:prstGeom>
          <a:solidFill>
            <a:srgbClr val="2C2C2E"/>
          </a:solidFill>
          <a:ln/>
        </p:spPr>
      </p:sp>
      <p:sp>
        <p:nvSpPr>
          <p:cNvPr id="163" name="Text 161"/>
          <p:cNvSpPr txBox="1"/>
          <p:nvPr/>
        </p:nvSpPr>
        <p:spPr>
          <a:xfrm>
            <a:off x="6437376" y="4672584"/>
            <a:ext cx="749808"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64" name="Shape 162"/>
          <p:cNvSpPr/>
          <p:nvPr/>
        </p:nvSpPr>
        <p:spPr>
          <a:xfrm>
            <a:off x="7214616" y="4645152"/>
            <a:ext cx="777240" cy="338328"/>
          </a:xfrm>
          <a:prstGeom prst="rect">
            <a:avLst/>
          </a:prstGeom>
          <a:solidFill>
            <a:srgbClr val="2C2C2E"/>
          </a:solidFill>
          <a:ln/>
        </p:spPr>
      </p:sp>
      <p:sp>
        <p:nvSpPr>
          <p:cNvPr id="165" name="Text 163"/>
          <p:cNvSpPr txBox="1"/>
          <p:nvPr/>
        </p:nvSpPr>
        <p:spPr>
          <a:xfrm>
            <a:off x="7214616" y="4672584"/>
            <a:ext cx="777240" cy="274320"/>
          </a:xfrm>
          <a:prstGeom prst="rect">
            <a:avLst/>
          </a:prstGeom>
          <a:noFill/>
          <a:ln/>
        </p:spPr>
        <p:txBody>
          <a:bodyPr wrap="square" lIns="0" tIns="0" rIns="0" bIns="0" rtlCol="0" anchor="ctr"/>
          <a:lstStyle/>
          <a:p>
            <a:pPr algn="ctr" indent="0" marL="0">
              <a:buNone/>
            </a:pPr>
            <a:r>
              <a:rPr lang="en-US" sz="1400" dirty="0">
                <a:solidFill>
                  <a:srgbClr val="30D158"/>
                </a:solidFill>
                <a:latin typeface="Atkinson Hyperlegible" pitchFamily="34" charset="0"/>
                <a:ea typeface="Atkinson Hyperlegible" pitchFamily="34" charset="-122"/>
                <a:cs typeface="Atkinson Hyperlegible" pitchFamily="34" charset="-120"/>
              </a:rPr>
              <a:t>●</a:t>
            </a:r>
            <a:endParaRPr lang="en-US" sz="1400" dirty="0"/>
          </a:p>
        </p:txBody>
      </p:sp>
      <p:sp>
        <p:nvSpPr>
          <p:cNvPr id="166" name="Text 164"/>
          <p:cNvSpPr txBox="1"/>
          <p:nvPr/>
        </p:nvSpPr>
        <p:spPr>
          <a:xfrm>
            <a:off x="274320" y="4956048"/>
            <a:ext cx="8595360" cy="256032"/>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 = Alta significancia     ○ = Baja o no aplica       Matrices completas disponibles en Tools 18 (Comercial) y 19 (Industrial) del CII SP 34-1</a:t>
            </a:r>
            <a:endParaRPr lang="en-US" sz="950" dirty="0"/>
          </a:p>
        </p:txBody>
      </p:sp>
      <p:sp>
        <p:nvSpPr>
          <p:cNvPr id="167" name="Text 16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Hito 6: Actualizar el Programa Corporativo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Al cierre de cada proyecto, las lecciones aprendidas alimentan el programa corporativo:</a:t>
            </a:r>
            <a:endParaRPr lang="en-US" sz="1400" dirty="0"/>
          </a:p>
        </p:txBody>
      </p:sp>
      <p:sp>
        <p:nvSpPr>
          <p:cNvPr id="6" name="Shape 4"/>
          <p:cNvSpPr/>
          <p:nvPr/>
        </p:nvSpPr>
        <p:spPr>
          <a:xfrm>
            <a:off x="365760" y="1298448"/>
            <a:ext cx="8412480" cy="658368"/>
          </a:xfrm>
          <a:prstGeom prst="roundRect">
            <a:avLst>
              <a:gd name="adj" fmla="val 13889"/>
            </a:avLst>
          </a:prstGeom>
          <a:solidFill>
            <a:srgbClr val="2C2C2E"/>
          </a:solidFill>
          <a:ln w="12700">
            <a:solidFill>
              <a:srgbClr val="3A3A3C"/>
            </a:solidFill>
            <a:prstDash val="solid"/>
          </a:ln>
        </p:spPr>
      </p:sp>
      <p:sp>
        <p:nvSpPr>
          <p:cNvPr id="7" name="Shape 5"/>
          <p:cNvSpPr/>
          <p:nvPr/>
        </p:nvSpPr>
        <p:spPr>
          <a:xfrm>
            <a:off x="457200" y="1389888"/>
            <a:ext cx="411480" cy="411480"/>
          </a:xfrm>
          <a:prstGeom prst="ellipse">
            <a:avLst/>
          </a:prstGeom>
          <a:solidFill>
            <a:srgbClr val="FF453A"/>
          </a:solidFill>
          <a:ln/>
        </p:spPr>
      </p:sp>
      <p:sp>
        <p:nvSpPr>
          <p:cNvPr id="8" name="Text 6"/>
          <p:cNvSpPr txBox="1"/>
          <p:nvPr/>
        </p:nvSpPr>
        <p:spPr>
          <a:xfrm>
            <a:off x="457200" y="13898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1</a:t>
            </a:r>
            <a:endParaRPr lang="en-US" sz="1400" dirty="0"/>
          </a:p>
        </p:txBody>
      </p:sp>
      <p:sp>
        <p:nvSpPr>
          <p:cNvPr id="9" name="Text 7"/>
          <p:cNvSpPr txBox="1"/>
          <p:nvPr/>
        </p:nvSpPr>
        <p:spPr>
          <a:xfrm>
            <a:off x="1005840" y="1371600"/>
            <a:ext cx="75895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Recolectar resultados del proyecto</a:t>
            </a:r>
            <a:endParaRPr lang="en-US" sz="1300" dirty="0"/>
          </a:p>
        </p:txBody>
      </p:sp>
      <p:sp>
        <p:nvSpPr>
          <p:cNvPr id="10" name="Text 8"/>
          <p:cNvSpPr txBox="1"/>
          <p:nvPr/>
        </p:nvSpPr>
        <p:spPr>
          <a:xfrm>
            <a:off x="1005840" y="1645920"/>
            <a:ext cx="75895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Compilar el reporte final del programa de constructabilidad del proyecto: ideas generadas vs. implementadas, costo del programa, ahorro total logrado, ratio B/C real.</a:t>
            </a:r>
            <a:endParaRPr lang="en-US" sz="1100" dirty="0"/>
          </a:p>
        </p:txBody>
      </p:sp>
      <p:sp>
        <p:nvSpPr>
          <p:cNvPr id="11" name="Shape 9"/>
          <p:cNvSpPr/>
          <p:nvPr/>
        </p:nvSpPr>
        <p:spPr>
          <a:xfrm>
            <a:off x="365760" y="2048256"/>
            <a:ext cx="8412480" cy="658368"/>
          </a:xfrm>
          <a:prstGeom prst="roundRect">
            <a:avLst>
              <a:gd name="adj" fmla="val 13889"/>
            </a:avLst>
          </a:prstGeom>
          <a:solidFill>
            <a:srgbClr val="2C2C2E"/>
          </a:solidFill>
          <a:ln w="12700">
            <a:solidFill>
              <a:srgbClr val="3A3A3C"/>
            </a:solidFill>
            <a:prstDash val="solid"/>
          </a:ln>
        </p:spPr>
      </p:sp>
      <p:sp>
        <p:nvSpPr>
          <p:cNvPr id="12" name="Shape 10"/>
          <p:cNvSpPr/>
          <p:nvPr/>
        </p:nvSpPr>
        <p:spPr>
          <a:xfrm>
            <a:off x="457200" y="2139696"/>
            <a:ext cx="411480" cy="411480"/>
          </a:xfrm>
          <a:prstGeom prst="ellipse">
            <a:avLst/>
          </a:prstGeom>
          <a:solidFill>
            <a:srgbClr val="FF9500"/>
          </a:solidFill>
          <a:ln/>
        </p:spPr>
      </p:sp>
      <p:sp>
        <p:nvSpPr>
          <p:cNvPr id="13" name="Text 11"/>
          <p:cNvSpPr txBox="1"/>
          <p:nvPr/>
        </p:nvSpPr>
        <p:spPr>
          <a:xfrm>
            <a:off x="457200" y="21396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2</a:t>
            </a:r>
            <a:endParaRPr lang="en-US" sz="1400" dirty="0"/>
          </a:p>
        </p:txBody>
      </p:sp>
      <p:sp>
        <p:nvSpPr>
          <p:cNvPr id="14" name="Text 12"/>
          <p:cNvSpPr txBox="1"/>
          <p:nvPr/>
        </p:nvSpPr>
        <p:spPr>
          <a:xfrm>
            <a:off x="1005840" y="2121408"/>
            <a:ext cx="75895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Evaluar efectividad del programa</a:t>
            </a:r>
            <a:endParaRPr lang="en-US" sz="1300" dirty="0"/>
          </a:p>
        </p:txBody>
      </p:sp>
      <p:sp>
        <p:nvSpPr>
          <p:cNvPr id="15" name="Text 13"/>
          <p:cNvSpPr txBox="1"/>
          <p:nvPr/>
        </p:nvSpPr>
        <p:spPr>
          <a:xfrm>
            <a:off x="1005840" y="2395728"/>
            <a:ext cx="75895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Usar la Matriz de Evaluación del Programa de Proyecto (Tool 5 CII). ¿Qué conceptos fueron más efectivos? ¿Cuáles necesitan más atención?</a:t>
            </a:r>
            <a:endParaRPr lang="en-US" sz="1100" dirty="0"/>
          </a:p>
        </p:txBody>
      </p:sp>
      <p:sp>
        <p:nvSpPr>
          <p:cNvPr id="16" name="Shape 14"/>
          <p:cNvSpPr/>
          <p:nvPr/>
        </p:nvSpPr>
        <p:spPr>
          <a:xfrm>
            <a:off x="365760" y="2798064"/>
            <a:ext cx="8412480" cy="658368"/>
          </a:xfrm>
          <a:prstGeom prst="roundRect">
            <a:avLst>
              <a:gd name="adj" fmla="val 13889"/>
            </a:avLst>
          </a:prstGeom>
          <a:solidFill>
            <a:srgbClr val="2C2C2E"/>
          </a:solidFill>
          <a:ln w="12700">
            <a:solidFill>
              <a:srgbClr val="3A3A3C"/>
            </a:solidFill>
            <a:prstDash val="solid"/>
          </a:ln>
        </p:spPr>
      </p:sp>
      <p:sp>
        <p:nvSpPr>
          <p:cNvPr id="17" name="Shape 15"/>
          <p:cNvSpPr/>
          <p:nvPr/>
        </p:nvSpPr>
        <p:spPr>
          <a:xfrm>
            <a:off x="457200" y="2889504"/>
            <a:ext cx="411480" cy="411480"/>
          </a:xfrm>
          <a:prstGeom prst="ellipse">
            <a:avLst/>
          </a:prstGeom>
          <a:solidFill>
            <a:srgbClr val="FFD60A"/>
          </a:solidFill>
          <a:ln/>
        </p:spPr>
      </p:sp>
      <p:sp>
        <p:nvSpPr>
          <p:cNvPr id="18" name="Text 16"/>
          <p:cNvSpPr txBox="1"/>
          <p:nvPr/>
        </p:nvSpPr>
        <p:spPr>
          <a:xfrm>
            <a:off x="457200" y="288950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3</a:t>
            </a:r>
            <a:endParaRPr lang="en-US" sz="1400" dirty="0"/>
          </a:p>
        </p:txBody>
      </p:sp>
      <p:sp>
        <p:nvSpPr>
          <p:cNvPr id="19" name="Text 17"/>
          <p:cNvSpPr txBox="1"/>
          <p:nvPr/>
        </p:nvSpPr>
        <p:spPr>
          <a:xfrm>
            <a:off x="1005840" y="2871216"/>
            <a:ext cx="75895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Capturar Lecciones Aprendidas</a:t>
            </a:r>
            <a:endParaRPr lang="en-US" sz="1300" dirty="0"/>
          </a:p>
        </p:txBody>
      </p:sp>
      <p:sp>
        <p:nvSpPr>
          <p:cNvPr id="20" name="Text 18"/>
          <p:cNvSpPr txBox="1"/>
          <p:nvPr/>
        </p:nvSpPr>
        <p:spPr>
          <a:xfrm>
            <a:off x="1005840" y="3145536"/>
            <a:ext cx="75895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Documentar las lecciones más valiosas del proyecto en la Base de Datos corporativa. Incluir contexto, condiciones de aplicabilidad y cuantificación del beneficio.</a:t>
            </a:r>
            <a:endParaRPr lang="en-US" sz="1100" dirty="0"/>
          </a:p>
        </p:txBody>
      </p:sp>
      <p:sp>
        <p:nvSpPr>
          <p:cNvPr id="21" name="Shape 19"/>
          <p:cNvSpPr/>
          <p:nvPr/>
        </p:nvSpPr>
        <p:spPr>
          <a:xfrm>
            <a:off x="365760" y="3547872"/>
            <a:ext cx="8412480" cy="658368"/>
          </a:xfrm>
          <a:prstGeom prst="roundRect">
            <a:avLst>
              <a:gd name="adj" fmla="val 13889"/>
            </a:avLst>
          </a:prstGeom>
          <a:solidFill>
            <a:srgbClr val="2C2C2E"/>
          </a:solidFill>
          <a:ln w="12700">
            <a:solidFill>
              <a:srgbClr val="3A3A3C"/>
            </a:solidFill>
            <a:prstDash val="solid"/>
          </a:ln>
        </p:spPr>
      </p:sp>
      <p:sp>
        <p:nvSpPr>
          <p:cNvPr id="22" name="Shape 20"/>
          <p:cNvSpPr/>
          <p:nvPr/>
        </p:nvSpPr>
        <p:spPr>
          <a:xfrm>
            <a:off x="457200" y="3639312"/>
            <a:ext cx="411480" cy="411480"/>
          </a:xfrm>
          <a:prstGeom prst="ellipse">
            <a:avLst/>
          </a:prstGeom>
          <a:solidFill>
            <a:srgbClr val="30D158"/>
          </a:solidFill>
          <a:ln/>
        </p:spPr>
      </p:sp>
      <p:sp>
        <p:nvSpPr>
          <p:cNvPr id="23" name="Text 21"/>
          <p:cNvSpPr txBox="1"/>
          <p:nvPr/>
        </p:nvSpPr>
        <p:spPr>
          <a:xfrm>
            <a:off x="457200" y="36393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4</a:t>
            </a:r>
            <a:endParaRPr lang="en-US" sz="1400" dirty="0"/>
          </a:p>
        </p:txBody>
      </p:sp>
      <p:sp>
        <p:nvSpPr>
          <p:cNvPr id="24" name="Text 22"/>
          <p:cNvSpPr txBox="1"/>
          <p:nvPr/>
        </p:nvSpPr>
        <p:spPr>
          <a:xfrm>
            <a:off x="1005840" y="3621024"/>
            <a:ext cx="75895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Actualizar la LLDB corporativa</a:t>
            </a:r>
            <a:endParaRPr lang="en-US" sz="1300" dirty="0"/>
          </a:p>
        </p:txBody>
      </p:sp>
      <p:sp>
        <p:nvSpPr>
          <p:cNvPr id="25" name="Text 23"/>
          <p:cNvSpPr txBox="1"/>
          <p:nvPr/>
        </p:nvSpPr>
        <p:spPr>
          <a:xfrm>
            <a:off x="1005840" y="3895344"/>
            <a:ext cx="75895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Agregar las nuevas lecciones a la base de datos accesible para todos los proyectos. Retirar o actualizar lecciones obsoletas o superadas.</a:t>
            </a:r>
            <a:endParaRPr lang="en-US" sz="1100" dirty="0"/>
          </a:p>
        </p:txBody>
      </p:sp>
      <p:sp>
        <p:nvSpPr>
          <p:cNvPr id="26" name="Shape 24"/>
          <p:cNvSpPr/>
          <p:nvPr/>
        </p:nvSpPr>
        <p:spPr>
          <a:xfrm>
            <a:off x="365760" y="4297680"/>
            <a:ext cx="8412480" cy="658368"/>
          </a:xfrm>
          <a:prstGeom prst="roundRect">
            <a:avLst>
              <a:gd name="adj" fmla="val 13889"/>
            </a:avLst>
          </a:prstGeom>
          <a:solidFill>
            <a:srgbClr val="2C2C2E"/>
          </a:solidFill>
          <a:ln w="12700">
            <a:solidFill>
              <a:srgbClr val="3A3A3C"/>
            </a:solidFill>
            <a:prstDash val="solid"/>
          </a:ln>
        </p:spPr>
      </p:sp>
      <p:sp>
        <p:nvSpPr>
          <p:cNvPr id="27" name="Shape 25"/>
          <p:cNvSpPr/>
          <p:nvPr/>
        </p:nvSpPr>
        <p:spPr>
          <a:xfrm>
            <a:off x="457200" y="4389120"/>
            <a:ext cx="411480" cy="411480"/>
          </a:xfrm>
          <a:prstGeom prst="ellipse">
            <a:avLst/>
          </a:prstGeom>
          <a:solidFill>
            <a:srgbClr val="0A84FF"/>
          </a:solidFill>
          <a:ln/>
        </p:spPr>
      </p:sp>
      <p:sp>
        <p:nvSpPr>
          <p:cNvPr id="28" name="Text 26"/>
          <p:cNvSpPr txBox="1"/>
          <p:nvPr/>
        </p:nvSpPr>
        <p:spPr>
          <a:xfrm>
            <a:off x="457200" y="43891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5</a:t>
            </a:r>
            <a:endParaRPr lang="en-US" sz="1400" dirty="0"/>
          </a:p>
        </p:txBody>
      </p:sp>
      <p:sp>
        <p:nvSpPr>
          <p:cNvPr id="29" name="Text 27"/>
          <p:cNvSpPr txBox="1"/>
          <p:nvPr/>
        </p:nvSpPr>
        <p:spPr>
          <a:xfrm>
            <a:off x="1005840" y="4370832"/>
            <a:ext cx="75895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Revisar el programa corporativo</a:t>
            </a:r>
            <a:endParaRPr lang="en-US" sz="1300" dirty="0"/>
          </a:p>
        </p:txBody>
      </p:sp>
      <p:sp>
        <p:nvSpPr>
          <p:cNvPr id="30" name="Text 28"/>
          <p:cNvSpPr txBox="1"/>
          <p:nvPr/>
        </p:nvSpPr>
        <p:spPr>
          <a:xfrm>
            <a:off x="1005840" y="4645152"/>
            <a:ext cx="75895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¿Qué aspectos del programa corporativo deben ajustarse? ¿Se necesitan nuevas herramientas, capacitación o cambios organizacionales?</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Niveles de Madurez del Programa Corporativo (5 Niveles)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2C2C2E"/>
          </a:solidFill>
          <a:ln w="12700">
            <a:solidFill>
              <a:srgbClr val="3A3A3C"/>
            </a:solidFill>
            <a:prstDash val="solid"/>
          </a:ln>
        </p:spPr>
      </p:sp>
      <p:sp>
        <p:nvSpPr>
          <p:cNvPr id="7" name="Shape 5"/>
          <p:cNvSpPr/>
          <p:nvPr/>
        </p:nvSpPr>
        <p:spPr>
          <a:xfrm>
            <a:off x="365760" y="1298448"/>
            <a:ext cx="73152" cy="658368"/>
          </a:xfrm>
          <a:prstGeom prst="rect">
            <a:avLst/>
          </a:prstGeom>
          <a:solidFill>
            <a:srgbClr val="8E8E93"/>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8E8E93"/>
                </a:solidFill>
                <a:latin typeface="Atkinson Hyperlegible" pitchFamily="34" charset="0"/>
                <a:ea typeface="Atkinson Hyperlegible" pitchFamily="34" charset="-122"/>
                <a:cs typeface="Atkinson Hyperlegible" pitchFamily="34" charset="-120"/>
              </a:rPr>
              <a:t>Nivel 1 — Informal</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No existe un programa formal. Algunos individuos aplican conceptos de manera intuitiva. Sin documentación ni seguimiento sistemático.</a:t>
            </a:r>
            <a:endParaRPr lang="en-US" sz="1100" dirty="0"/>
          </a:p>
        </p:txBody>
      </p:sp>
      <p:sp>
        <p:nvSpPr>
          <p:cNvPr id="10" name="Shape 8"/>
          <p:cNvSpPr/>
          <p:nvPr/>
        </p:nvSpPr>
        <p:spPr>
          <a:xfrm>
            <a:off x="365760" y="2048256"/>
            <a:ext cx="8412480" cy="658368"/>
          </a:xfrm>
          <a:prstGeom prst="roundRect">
            <a:avLst>
              <a:gd name="adj" fmla="val 13889"/>
            </a:avLst>
          </a:prstGeom>
          <a:solidFill>
            <a:srgbClr val="2C2C2E"/>
          </a:solidFill>
          <a:ln w="12700">
            <a:solidFill>
              <a:srgbClr val="3A3A3C"/>
            </a:solidFill>
            <a:prstDash val="solid"/>
          </a:ln>
        </p:spPr>
      </p:sp>
      <p:sp>
        <p:nvSpPr>
          <p:cNvPr id="11" name="Shape 9"/>
          <p:cNvSpPr/>
          <p:nvPr/>
        </p:nvSpPr>
        <p:spPr>
          <a:xfrm>
            <a:off x="365760" y="2048256"/>
            <a:ext cx="73152" cy="658368"/>
          </a:xfrm>
          <a:prstGeom prst="rect">
            <a:avLst/>
          </a:prstGeom>
          <a:solidFill>
            <a:srgbClr val="FFD60A"/>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Nivel 2 — Iniciando</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liderazgo reconoce los beneficios. Se está desarrollando una política. Hay un campeón identificado pero sin recursos formales asignados.</a:t>
            </a:r>
            <a:endParaRPr lang="en-US" sz="1100" dirty="0"/>
          </a:p>
        </p:txBody>
      </p:sp>
      <p:sp>
        <p:nvSpPr>
          <p:cNvPr id="14" name="Shape 12"/>
          <p:cNvSpPr/>
          <p:nvPr/>
        </p:nvSpPr>
        <p:spPr>
          <a:xfrm>
            <a:off x="365760" y="2798064"/>
            <a:ext cx="8412480" cy="658368"/>
          </a:xfrm>
          <a:prstGeom prst="roundRect">
            <a:avLst>
              <a:gd name="adj" fmla="val 13889"/>
            </a:avLst>
          </a:prstGeom>
          <a:solidFill>
            <a:srgbClr val="2C2C2E"/>
          </a:solidFill>
          <a:ln w="12700">
            <a:solidFill>
              <a:srgbClr val="3A3A3C"/>
            </a:solidFill>
            <a:prstDash val="solid"/>
          </a:ln>
        </p:spPr>
      </p:sp>
      <p:sp>
        <p:nvSpPr>
          <p:cNvPr id="15" name="Shape 13"/>
          <p:cNvSpPr/>
          <p:nvPr/>
        </p:nvSpPr>
        <p:spPr>
          <a:xfrm>
            <a:off x="365760" y="2798064"/>
            <a:ext cx="73152" cy="658368"/>
          </a:xfrm>
          <a:prstGeom prst="rect">
            <a:avLst/>
          </a:prstGeom>
          <a:solidFill>
            <a:srgbClr val="FF9500"/>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3 — Desarrollado</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Existe un programa formal con política escrita, Gerente de Constructabilidad designado, herramientas CII adoptadas, y primeras lecciones capturadas.</a:t>
            </a:r>
            <a:endParaRPr lang="en-US" sz="1100" dirty="0"/>
          </a:p>
        </p:txBody>
      </p:sp>
      <p:sp>
        <p:nvSpPr>
          <p:cNvPr id="18" name="Shape 16"/>
          <p:cNvSpPr/>
          <p:nvPr/>
        </p:nvSpPr>
        <p:spPr>
          <a:xfrm>
            <a:off x="365760" y="3547872"/>
            <a:ext cx="8412480" cy="658368"/>
          </a:xfrm>
          <a:prstGeom prst="roundRect">
            <a:avLst>
              <a:gd name="adj" fmla="val 13889"/>
            </a:avLst>
          </a:prstGeom>
          <a:solidFill>
            <a:srgbClr val="2C2C2E"/>
          </a:solidFill>
          <a:ln w="12700">
            <a:solidFill>
              <a:srgbClr val="3A3A3C"/>
            </a:solidFill>
            <a:prstDash val="solid"/>
          </a:ln>
        </p:spPr>
      </p:sp>
      <p:sp>
        <p:nvSpPr>
          <p:cNvPr id="19" name="Shape 17"/>
          <p:cNvSpPr/>
          <p:nvPr/>
        </p:nvSpPr>
        <p:spPr>
          <a:xfrm>
            <a:off x="365760" y="3547872"/>
            <a:ext cx="73152" cy="658368"/>
          </a:xfrm>
          <a:prstGeom prst="rect">
            <a:avLst/>
          </a:prstGeom>
          <a:solidFill>
            <a:srgbClr val="30D158"/>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Nivel 4 — Avanzado</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Programa implementado en la mayoría de proyectos. LLDB activa y usada. Métricas de beneficios documentadas. Capacitación formal en marcha.</a:t>
            </a:r>
            <a:endParaRPr lang="en-US" sz="1100" dirty="0"/>
          </a:p>
        </p:txBody>
      </p:sp>
      <p:sp>
        <p:nvSpPr>
          <p:cNvPr id="22" name="Shape 20"/>
          <p:cNvSpPr/>
          <p:nvPr/>
        </p:nvSpPr>
        <p:spPr>
          <a:xfrm>
            <a:off x="365760" y="4297680"/>
            <a:ext cx="8412480" cy="658368"/>
          </a:xfrm>
          <a:prstGeom prst="roundRect">
            <a:avLst>
              <a:gd name="adj" fmla="val 13889"/>
            </a:avLst>
          </a:prstGeom>
          <a:solidFill>
            <a:srgbClr val="2C2C2E"/>
          </a:solidFill>
          <a:ln w="12700">
            <a:solidFill>
              <a:srgbClr val="3A3A3C"/>
            </a:solidFill>
            <a:prstDash val="solid"/>
          </a:ln>
        </p:spPr>
      </p:sp>
      <p:sp>
        <p:nvSpPr>
          <p:cNvPr id="23" name="Shape 21"/>
          <p:cNvSpPr/>
          <p:nvPr/>
        </p:nvSpPr>
        <p:spPr>
          <a:xfrm>
            <a:off x="365760" y="4297680"/>
            <a:ext cx="73152" cy="658368"/>
          </a:xfrm>
          <a:prstGeom prst="rect">
            <a:avLst/>
          </a:prstGeom>
          <a:solidFill>
            <a:srgbClr val="0A84FF"/>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5 — Líder en la Industria</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Programa comprehensivo. Alta ratio B/C documentada. Reconocido externamente como referente. Contribuye activamente a la investigación CII.</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Evaluación del Programa — Tools 3 y 4 CII</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2C2C2E"/>
          </a:solidFill>
          <a:ln w="12700">
            <a:solidFill>
              <a:srgbClr val="3A3A3C"/>
            </a:solidFill>
            <a:prstDash val="solid"/>
          </a:ln>
        </p:spPr>
      </p:sp>
      <p:sp>
        <p:nvSpPr>
          <p:cNvPr id="7" name="Shape 5"/>
          <p:cNvSpPr/>
          <p:nvPr/>
        </p:nvSpPr>
        <p:spPr>
          <a:xfrm>
            <a:off x="365760" y="1298448"/>
            <a:ext cx="73152" cy="658368"/>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15 Parámetros Evaluados</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Cada parámetro se evalúa en 5 niveles (1-5) de implementación. La suma total indica el nivel de madurez del programa.</a:t>
            </a:r>
            <a:endParaRPr lang="en-US" sz="1100" dirty="0"/>
          </a:p>
        </p:txBody>
      </p:sp>
      <p:sp>
        <p:nvSpPr>
          <p:cNvPr id="10" name="Shape 8"/>
          <p:cNvSpPr/>
          <p:nvPr/>
        </p:nvSpPr>
        <p:spPr>
          <a:xfrm>
            <a:off x="365760" y="2048256"/>
            <a:ext cx="8412480" cy="658368"/>
          </a:xfrm>
          <a:prstGeom prst="roundRect">
            <a:avLst>
              <a:gd name="adj" fmla="val 13889"/>
            </a:avLst>
          </a:prstGeom>
          <a:solidFill>
            <a:srgbClr val="2C2C2E"/>
          </a:solidFill>
          <a:ln w="12700">
            <a:solidFill>
              <a:srgbClr val="3A3A3C"/>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Compromiso de la Dirección</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Nivel 1: sin compromiso. Nivel 5: la alta dirección lidera activamente el programa con recursos y atención permanente.</a:t>
            </a:r>
            <a:endParaRPr lang="en-US" sz="1100" dirty="0"/>
          </a:p>
        </p:txBody>
      </p:sp>
      <p:sp>
        <p:nvSpPr>
          <p:cNvPr id="14" name="Shape 12"/>
          <p:cNvSpPr/>
          <p:nvPr/>
        </p:nvSpPr>
        <p:spPr>
          <a:xfrm>
            <a:off x="365760" y="2798064"/>
            <a:ext cx="8412480" cy="658368"/>
          </a:xfrm>
          <a:prstGeom prst="roundRect">
            <a:avLst>
              <a:gd name="adj" fmla="val 13889"/>
            </a:avLst>
          </a:prstGeom>
          <a:solidFill>
            <a:srgbClr val="2C2C2E"/>
          </a:solidFill>
          <a:ln w="12700">
            <a:solidFill>
              <a:srgbClr val="3A3A3C"/>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Nivel 1: sin roles definidos. Nivel 5: Gerentes de Constructabilidad en todos los proyectos con soporte corporativo completo.</a:t>
            </a:r>
            <a:endParaRPr lang="en-US" sz="1100" dirty="0"/>
          </a:p>
        </p:txBody>
      </p:sp>
      <p:sp>
        <p:nvSpPr>
          <p:cNvPr id="18" name="Shape 16"/>
          <p:cNvSpPr/>
          <p:nvPr/>
        </p:nvSpPr>
        <p:spPr>
          <a:xfrm>
            <a:off x="365760" y="3547872"/>
            <a:ext cx="8412480" cy="658368"/>
          </a:xfrm>
          <a:prstGeom prst="roundRect">
            <a:avLst>
              <a:gd name="adj" fmla="val 13889"/>
            </a:avLst>
          </a:prstGeom>
          <a:solidFill>
            <a:srgbClr val="2C2C2E"/>
          </a:solidFill>
          <a:ln w="12700">
            <a:solidFill>
              <a:srgbClr val="3A3A3C"/>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y Procesos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Nivel 1: sin herramientas. Nivel 5: las 19 herramientas CII implementadas y personalizadas para la organización.</a:t>
            </a:r>
            <a:endParaRPr lang="en-US" sz="1100" dirty="0"/>
          </a:p>
        </p:txBody>
      </p:sp>
      <p:sp>
        <p:nvSpPr>
          <p:cNvPr id="22" name="Shape 20"/>
          <p:cNvSpPr/>
          <p:nvPr/>
        </p:nvSpPr>
        <p:spPr>
          <a:xfrm>
            <a:off x="365760" y="4297680"/>
            <a:ext cx="8412480" cy="658368"/>
          </a:xfrm>
          <a:prstGeom prst="roundRect">
            <a:avLst>
              <a:gd name="adj" fmla="val 13889"/>
            </a:avLst>
          </a:prstGeom>
          <a:solidFill>
            <a:srgbClr val="2C2C2E"/>
          </a:solidFill>
          <a:ln w="12700">
            <a:solidFill>
              <a:srgbClr val="3A3A3C"/>
            </a:solidFill>
            <a:prstDash val="solid"/>
          </a:ln>
        </p:spPr>
      </p:sp>
      <p:sp>
        <p:nvSpPr>
          <p:cNvPr id="23" name="Shape 21"/>
          <p:cNvSpPr/>
          <p:nvPr/>
        </p:nvSpPr>
        <p:spPr>
          <a:xfrm>
            <a:off x="365760" y="4297680"/>
            <a:ext cx="73152" cy="658368"/>
          </a:xfrm>
          <a:prstGeom prst="rect">
            <a:avLst/>
          </a:prstGeom>
          <a:solidFill>
            <a:srgbClr val="FF453A"/>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Base de Datos LL</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Nivel 1: sin base de datos. Nivel 5: LLDB activa, completa, accesible, y con alta tasa de uso en nuevos proyectos.</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Cláusulas Contractuales para Constructabilidad — Tool 16 CII</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2C2C2E"/>
          </a:solidFill>
          <a:ln w="12700">
            <a:solidFill>
              <a:srgbClr val="3A3A3C"/>
            </a:solidFill>
            <a:prstDash val="solid"/>
          </a:ln>
        </p:spPr>
      </p:sp>
      <p:sp>
        <p:nvSpPr>
          <p:cNvPr id="7" name="Shape 5"/>
          <p:cNvSpPr/>
          <p:nvPr/>
        </p:nvSpPr>
        <p:spPr>
          <a:xfrm>
            <a:off x="365760" y="1298448"/>
            <a:ext cx="73152" cy="658368"/>
          </a:xfrm>
          <a:prstGeom prst="rect">
            <a:avLst/>
          </a:prstGeom>
          <a:solidFill>
            <a:srgbClr val="FFD60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Obligación del Contratista</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Contratista participará activamente en el programa de constructabilidad del Propietario y asignará personal calificado para dicho fin.</a:t>
            </a:r>
            <a:endParaRPr lang="en-US" sz="1100" dirty="0"/>
          </a:p>
        </p:txBody>
      </p:sp>
      <p:sp>
        <p:nvSpPr>
          <p:cNvPr id="10" name="Shape 8"/>
          <p:cNvSpPr/>
          <p:nvPr/>
        </p:nvSpPr>
        <p:spPr>
          <a:xfrm>
            <a:off x="365760" y="2048256"/>
            <a:ext cx="8412480" cy="658368"/>
          </a:xfrm>
          <a:prstGeom prst="roundRect">
            <a:avLst>
              <a:gd name="adj" fmla="val 13889"/>
            </a:avLst>
          </a:prstGeom>
          <a:solidFill>
            <a:srgbClr val="2C2C2E"/>
          </a:solidFill>
          <a:ln w="12700">
            <a:solidFill>
              <a:srgbClr val="3A3A3C"/>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Reporte de Ideas</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Contratista reportará mensualmente al Propietario todas las ideas de constructabilidad identificadas, incluyendo el beneficio estimado.</a:t>
            </a:r>
            <a:endParaRPr lang="en-US" sz="1100" dirty="0"/>
          </a:p>
        </p:txBody>
      </p:sp>
      <p:sp>
        <p:nvSpPr>
          <p:cNvPr id="14" name="Shape 12"/>
          <p:cNvSpPr/>
          <p:nvPr/>
        </p:nvSpPr>
        <p:spPr>
          <a:xfrm>
            <a:off x="365760" y="2798064"/>
            <a:ext cx="8412480" cy="658368"/>
          </a:xfrm>
          <a:prstGeom prst="roundRect">
            <a:avLst>
              <a:gd name="adj" fmla="val 13889"/>
            </a:avLst>
          </a:prstGeom>
          <a:solidFill>
            <a:srgbClr val="2C2C2E"/>
          </a:solidFill>
          <a:ln w="12700">
            <a:solidFill>
              <a:srgbClr val="3A3A3C"/>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Captura de Lecciones Aprendidas</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Al cierre del proyecto, el Contratista entregará un informe formal de Lecciones Aprendidas de constructabilidad según el formato del Propietario.</a:t>
            </a:r>
            <a:endParaRPr lang="en-US" sz="1100" dirty="0"/>
          </a:p>
        </p:txBody>
      </p:sp>
      <p:sp>
        <p:nvSpPr>
          <p:cNvPr id="18" name="Shape 16"/>
          <p:cNvSpPr/>
          <p:nvPr/>
        </p:nvSpPr>
        <p:spPr>
          <a:xfrm>
            <a:off x="365760" y="3547872"/>
            <a:ext cx="8412480" cy="658368"/>
          </a:xfrm>
          <a:prstGeom prst="roundRect">
            <a:avLst>
              <a:gd name="adj" fmla="val 13889"/>
            </a:avLst>
          </a:prstGeom>
          <a:solidFill>
            <a:srgbClr val="2C2C2E"/>
          </a:solidFill>
          <a:ln w="12700">
            <a:solidFill>
              <a:srgbClr val="3A3A3C"/>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Participación en Talleres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Contratista designará representantes para participar en los talleres de planificación de constructabilidad convocados por el Propietario.</a:t>
            </a:r>
            <a:endParaRPr lang="en-US" sz="1100" dirty="0"/>
          </a:p>
        </p:txBody>
      </p:sp>
      <p:sp>
        <p:nvSpPr>
          <p:cNvPr id="22" name="Shape 20"/>
          <p:cNvSpPr/>
          <p:nvPr/>
        </p:nvSpPr>
        <p:spPr>
          <a:xfrm>
            <a:off x="365760" y="4297680"/>
            <a:ext cx="8412480" cy="658368"/>
          </a:xfrm>
          <a:prstGeom prst="roundRect">
            <a:avLst>
              <a:gd name="adj" fmla="val 13889"/>
            </a:avLst>
          </a:prstGeom>
          <a:solidFill>
            <a:srgbClr val="2C2C2E"/>
          </a:solidFill>
          <a:ln w="12700">
            <a:solidFill>
              <a:srgbClr val="3A3A3C"/>
            </a:solidFill>
            <a:prstDash val="solid"/>
          </a:ln>
        </p:spPr>
      </p:sp>
      <p:sp>
        <p:nvSpPr>
          <p:cNvPr id="23" name="Shape 21"/>
          <p:cNvSpPr/>
          <p:nvPr/>
        </p:nvSpPr>
        <p:spPr>
          <a:xfrm>
            <a:off x="365760" y="4297680"/>
            <a:ext cx="73152" cy="658368"/>
          </a:xfrm>
          <a:prstGeom prst="rect">
            <a:avLst/>
          </a:prstGeom>
          <a:solidFill>
            <a:srgbClr val="AF52DE"/>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Incentivos por Ahorros</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Se establecerá un sistema de gain-sharing donde ahorros de constructabilidad documentados se distribuirán según la fórmula acordada contractualmente.</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Métricas Clave del Programa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Sistema de indicadores para medir y gestionar el programa a lo largo del proyecto:</a:t>
            </a:r>
            <a:endParaRPr lang="en-US" sz="1400" dirty="0"/>
          </a:p>
        </p:txBody>
      </p:sp>
      <p:sp>
        <p:nvSpPr>
          <p:cNvPr id="6" name="Shape 4"/>
          <p:cNvSpPr/>
          <p:nvPr/>
        </p:nvSpPr>
        <p:spPr>
          <a:xfrm>
            <a:off x="365760" y="1298448"/>
            <a:ext cx="4206240" cy="1143000"/>
          </a:xfrm>
          <a:prstGeom prst="roundRect">
            <a:avLst>
              <a:gd name="adj" fmla="val 8000"/>
            </a:avLst>
          </a:prstGeom>
          <a:solidFill>
            <a:srgbClr val="2C2C2E"/>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Ideas Generadas</a:t>
            </a:r>
            <a:endParaRPr lang="en-US" sz="15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de sugerencias por mes y por fase del proyecto. Meta: mínimo 2 ideas por concepto por fase.</a:t>
            </a:r>
            <a:endParaRPr lang="en-US" sz="1100" dirty="0"/>
          </a:p>
        </p:txBody>
      </p:sp>
      <p:sp>
        <p:nvSpPr>
          <p:cNvPr id="9" name="Shape 7"/>
          <p:cNvSpPr/>
          <p:nvPr/>
        </p:nvSpPr>
        <p:spPr>
          <a:xfrm>
            <a:off x="4754880" y="1298448"/>
            <a:ext cx="4206240" cy="1143000"/>
          </a:xfrm>
          <a:prstGeom prst="roundRect">
            <a:avLst>
              <a:gd name="adj" fmla="val 8000"/>
            </a:avLst>
          </a:prstGeom>
          <a:solidFill>
            <a:srgbClr val="2C2C2E"/>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Ideas Implementadas</a:t>
            </a:r>
            <a:endParaRPr lang="en-US" sz="15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de ideas aprobadas que se implementaron efectivamente. Meta: &gt;70%.</a:t>
            </a:r>
            <a:endParaRPr lang="en-US" sz="1100" dirty="0"/>
          </a:p>
        </p:txBody>
      </p:sp>
      <p:sp>
        <p:nvSpPr>
          <p:cNvPr id="12" name="Shape 10"/>
          <p:cNvSpPr/>
          <p:nvPr/>
        </p:nvSpPr>
        <p:spPr>
          <a:xfrm>
            <a:off x="365760" y="2560320"/>
            <a:ext cx="4206240" cy="1143000"/>
          </a:xfrm>
          <a:prstGeom prst="roundRect">
            <a:avLst>
              <a:gd name="adj" fmla="val 8000"/>
            </a:avLst>
          </a:prstGeom>
          <a:solidFill>
            <a:srgbClr val="2C2C2E"/>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Costo del Programa</a:t>
            </a:r>
            <a:endParaRPr lang="en-US" sz="15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Horas-hombre del Gerente de Constructabilidad + talleres + herramientas. Típicamente 0.5-1% del TIC.</a:t>
            </a:r>
            <a:endParaRPr lang="en-US" sz="1100" dirty="0"/>
          </a:p>
        </p:txBody>
      </p:sp>
      <p:sp>
        <p:nvSpPr>
          <p:cNvPr id="15" name="Shape 13"/>
          <p:cNvSpPr/>
          <p:nvPr/>
        </p:nvSpPr>
        <p:spPr>
          <a:xfrm>
            <a:off x="4754880" y="2560320"/>
            <a:ext cx="4206240" cy="1143000"/>
          </a:xfrm>
          <a:prstGeom prst="roundRect">
            <a:avLst>
              <a:gd name="adj" fmla="val 8000"/>
            </a:avLst>
          </a:prstGeom>
          <a:solidFill>
            <a:srgbClr val="2C2C2E"/>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Ahorro Logrado</a:t>
            </a:r>
            <a:endParaRPr lang="en-US" sz="15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Ahorro documentado en costo y cronograma por ideas implementadas. Debe ser verificado objetivamente.</a:t>
            </a:r>
            <a:endParaRPr lang="en-US" sz="1100" dirty="0"/>
          </a:p>
        </p:txBody>
      </p:sp>
      <p:sp>
        <p:nvSpPr>
          <p:cNvPr id="18" name="Shape 16"/>
          <p:cNvSpPr/>
          <p:nvPr/>
        </p:nvSpPr>
        <p:spPr>
          <a:xfrm>
            <a:off x="365760" y="3822192"/>
            <a:ext cx="4206240" cy="1143000"/>
          </a:xfrm>
          <a:prstGeom prst="roundRect">
            <a:avLst>
              <a:gd name="adj" fmla="val 8000"/>
            </a:avLst>
          </a:prstGeom>
          <a:solidFill>
            <a:srgbClr val="2C2C2E"/>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Ratio B/C Acumulado</a:t>
            </a:r>
            <a:endParaRPr lang="en-US" sz="15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Beneficio total acumulado dividido entre costo total del programa. Meta: &gt;10:1. Reportar trimestralmente.</a:t>
            </a:r>
            <a:endParaRPr lang="en-US" sz="1100" dirty="0"/>
          </a:p>
        </p:txBody>
      </p:sp>
      <p:sp>
        <p:nvSpPr>
          <p:cNvPr id="21" name="Shape 19"/>
          <p:cNvSpPr/>
          <p:nvPr/>
        </p:nvSpPr>
        <p:spPr>
          <a:xfrm>
            <a:off x="4754880" y="3822192"/>
            <a:ext cx="4206240" cy="1143000"/>
          </a:xfrm>
          <a:prstGeom prst="roundRect">
            <a:avLst>
              <a:gd name="adj" fmla="val 8000"/>
            </a:avLst>
          </a:prstGeom>
          <a:solidFill>
            <a:srgbClr val="2C2C2E"/>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Índice de Madurez del Programa</a:t>
            </a:r>
            <a:endParaRPr lang="en-US" sz="15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Evaluación usando la matriz de 15 parámetros. Reportar al inicio, a mitad y al cierre del proyecto.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en Pequeños Proyectos Inmobiliarios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Ing. Pablo Orihuela — Motiva S.A. | Aplicación a proyectos de pequeña y mediana escala:</a:t>
            </a:r>
            <a:endParaRPr lang="en-US" sz="1300" dirty="0"/>
          </a:p>
        </p:txBody>
      </p:sp>
      <p:sp>
        <p:nvSpPr>
          <p:cNvPr id="6" name="Shape 4"/>
          <p:cNvSpPr/>
          <p:nvPr/>
        </p:nvSpPr>
        <p:spPr>
          <a:xfrm>
            <a:off x="365760" y="1298448"/>
            <a:ext cx="8412480" cy="804672"/>
          </a:xfrm>
          <a:prstGeom prst="roundRect">
            <a:avLst>
              <a:gd name="adj" fmla="val 11364"/>
            </a:avLst>
          </a:prstGeom>
          <a:solidFill>
            <a:srgbClr val="2C2C2E"/>
          </a:solidFill>
          <a:ln w="12700">
            <a:solidFill>
              <a:srgbClr val="AF52DE"/>
            </a:solidFill>
            <a:prstDash val="solid"/>
          </a:ln>
        </p:spPr>
      </p:sp>
      <p:sp>
        <p:nvSpPr>
          <p:cNvPr id="7" name="Shape 5"/>
          <p:cNvSpPr/>
          <p:nvPr/>
        </p:nvSpPr>
        <p:spPr>
          <a:xfrm>
            <a:off x="365760" y="1298448"/>
            <a:ext cx="73152" cy="804672"/>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El Paradigma a Romper</a:t>
            </a:r>
            <a:endParaRPr lang="en-US" sz="1300" dirty="0"/>
          </a:p>
        </p:txBody>
      </p:sp>
      <p:sp>
        <p:nvSpPr>
          <p:cNvPr id="9" name="Text 7"/>
          <p:cNvSpPr txBox="1"/>
          <p:nvPr/>
        </p:nvSpPr>
        <p:spPr>
          <a:xfrm>
            <a:off x="566928" y="1645920"/>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"Las mayores oportunidades de mejora NO se dan durante la construcción — se dan en el diseño, la planificación y sobre todo en el anteproyecto y la factibilidad."</a:t>
            </a:r>
            <a:endParaRPr lang="en-US" sz="1100" dirty="0"/>
          </a:p>
        </p:txBody>
      </p:sp>
      <p:sp>
        <p:nvSpPr>
          <p:cNvPr id="10" name="Shape 8"/>
          <p:cNvSpPr/>
          <p:nvPr/>
        </p:nvSpPr>
        <p:spPr>
          <a:xfrm>
            <a:off x="365760" y="2212848"/>
            <a:ext cx="8412480" cy="804672"/>
          </a:xfrm>
          <a:prstGeom prst="roundRect">
            <a:avLst>
              <a:gd name="adj" fmla="val 11364"/>
            </a:avLst>
          </a:prstGeom>
          <a:solidFill>
            <a:srgbClr val="2C2C2E"/>
          </a:solidFill>
          <a:ln w="12700">
            <a:solidFill>
              <a:srgbClr val="0A84FF"/>
            </a:solidFill>
            <a:prstDash val="solid"/>
          </a:ln>
        </p:spPr>
      </p:sp>
      <p:sp>
        <p:nvSpPr>
          <p:cNvPr id="11" name="Shape 9"/>
          <p:cNvSpPr/>
          <p:nvPr/>
        </p:nvSpPr>
        <p:spPr>
          <a:xfrm>
            <a:off x="365760" y="2212848"/>
            <a:ext cx="73152" cy="804672"/>
          </a:xfrm>
          <a:prstGeom prst="rect">
            <a:avLst/>
          </a:prstGeom>
          <a:solidFill>
            <a:srgbClr val="0A84FF"/>
          </a:solidFill>
          <a:ln/>
        </p:spPr>
      </p:sp>
      <p:sp>
        <p:nvSpPr>
          <p:cNvPr id="12" name="Text 10"/>
          <p:cNvSpPr txBox="1"/>
          <p:nvPr/>
        </p:nvSpPr>
        <p:spPr>
          <a:xfrm>
            <a:off x="566928" y="2286000"/>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Coordinación Arquitecto-Estructural</a:t>
            </a:r>
            <a:endParaRPr lang="en-US" sz="1300" dirty="0"/>
          </a:p>
        </p:txBody>
      </p:sp>
      <p:sp>
        <p:nvSpPr>
          <p:cNvPr id="13" name="Text 11"/>
          <p:cNvSpPr txBox="1"/>
          <p:nvPr/>
        </p:nvSpPr>
        <p:spPr>
          <a:xfrm>
            <a:off x="566928" y="2560320"/>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Es frecuente que el arquitecto diseñe sin coordinar con el ingeniero estructural. Al diseñador no se le comunican los procesos operativos que se usarán en obra.</a:t>
            </a:r>
            <a:endParaRPr lang="en-US" sz="1100" dirty="0"/>
          </a:p>
        </p:txBody>
      </p:sp>
      <p:sp>
        <p:nvSpPr>
          <p:cNvPr id="14" name="Shape 12"/>
          <p:cNvSpPr/>
          <p:nvPr/>
        </p:nvSpPr>
        <p:spPr>
          <a:xfrm>
            <a:off x="365760" y="3127248"/>
            <a:ext cx="8412480" cy="804672"/>
          </a:xfrm>
          <a:prstGeom prst="roundRect">
            <a:avLst>
              <a:gd name="adj" fmla="val 11364"/>
            </a:avLst>
          </a:prstGeom>
          <a:solidFill>
            <a:srgbClr val="2C2C2E"/>
          </a:solidFill>
          <a:ln w="12700">
            <a:solidFill>
              <a:srgbClr val="30D158"/>
            </a:solidFill>
            <a:prstDash val="solid"/>
          </a:ln>
        </p:spPr>
      </p:sp>
      <p:sp>
        <p:nvSpPr>
          <p:cNvPr id="15" name="Shape 13"/>
          <p:cNvSpPr/>
          <p:nvPr/>
        </p:nvSpPr>
        <p:spPr>
          <a:xfrm>
            <a:off x="365760" y="3127248"/>
            <a:ext cx="73152" cy="804672"/>
          </a:xfrm>
          <a:prstGeom prst="rect">
            <a:avLst/>
          </a:prstGeom>
          <a:solidFill>
            <a:srgbClr val="30D158"/>
          </a:solidFill>
          <a:ln/>
        </p:spPr>
      </p:sp>
      <p:sp>
        <p:nvSpPr>
          <p:cNvPr id="16" name="Text 14"/>
          <p:cNvSpPr txBox="1"/>
          <p:nvPr/>
        </p:nvSpPr>
        <p:spPr>
          <a:xfrm>
            <a:off x="566928" y="3200400"/>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Last Planner en Campo</a:t>
            </a:r>
            <a:endParaRPr lang="en-US" sz="1300" dirty="0"/>
          </a:p>
        </p:txBody>
      </p:sp>
      <p:sp>
        <p:nvSpPr>
          <p:cNvPr id="17" name="Text 15"/>
          <p:cNvSpPr txBox="1"/>
          <p:nvPr/>
        </p:nvSpPr>
        <p:spPr>
          <a:xfrm>
            <a:off x="566928" y="3474720"/>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Lean Construction denomina esto "Last Planner" — incluir al maestro de obra, capataz y residente en la programación. Lo que "Queremos Hacer" debe coincidir con lo que "Podemos Hacer".</a:t>
            </a:r>
            <a:endParaRPr lang="en-US" sz="1100" dirty="0"/>
          </a:p>
        </p:txBody>
      </p:sp>
      <p:sp>
        <p:nvSpPr>
          <p:cNvPr id="18" name="Shape 16"/>
          <p:cNvSpPr/>
          <p:nvPr/>
        </p:nvSpPr>
        <p:spPr>
          <a:xfrm>
            <a:off x="365760" y="4041648"/>
            <a:ext cx="8412480" cy="804672"/>
          </a:xfrm>
          <a:prstGeom prst="roundRect">
            <a:avLst>
              <a:gd name="adj" fmla="val 11364"/>
            </a:avLst>
          </a:prstGeom>
          <a:solidFill>
            <a:srgbClr val="2C2C2E"/>
          </a:solidFill>
          <a:ln w="12700">
            <a:solidFill>
              <a:srgbClr val="FF9500"/>
            </a:solidFill>
            <a:prstDash val="solid"/>
          </a:ln>
        </p:spPr>
      </p:sp>
      <p:sp>
        <p:nvSpPr>
          <p:cNvPr id="19" name="Shape 17"/>
          <p:cNvSpPr/>
          <p:nvPr/>
        </p:nvSpPr>
        <p:spPr>
          <a:xfrm>
            <a:off x="365760" y="4041648"/>
            <a:ext cx="73152" cy="804672"/>
          </a:xfrm>
          <a:prstGeom prst="rect">
            <a:avLst/>
          </a:prstGeom>
          <a:solidFill>
            <a:srgbClr val="FF9500"/>
          </a:solidFill>
          <a:ln/>
        </p:spPr>
      </p:sp>
      <p:sp>
        <p:nvSpPr>
          <p:cNvPr id="20" name="Text 18"/>
          <p:cNvSpPr txBox="1"/>
          <p:nvPr/>
        </p:nvSpPr>
        <p:spPr>
          <a:xfrm>
            <a:off x="566928" y="4114800"/>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Decisiones de Abastecimiento</a:t>
            </a:r>
            <a:endParaRPr lang="en-US" sz="1300" dirty="0"/>
          </a:p>
        </p:txBody>
      </p:sp>
      <p:sp>
        <p:nvSpPr>
          <p:cNvPr id="21" name="Text 19"/>
          <p:cNvSpPr txBox="1"/>
          <p:nvPr/>
        </p:nvSpPr>
        <p:spPr>
          <a:xfrm>
            <a:off x="566928" y="4389120"/>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Las decisiones de materiales (viguetas prefabricadas vs. losa aligerada, mallas electrosoldadas vs. fierro convencional) deben planificarse antes — no en campo.</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2C2C2E"/>
                </a:solidFill>
                <a:latin typeface="Atkinson Hyperlegible" pitchFamily="34" charset="0"/>
                <a:ea typeface="Atkinson Hyperlegible" pitchFamily="34" charset="-122"/>
                <a:cs typeface="Atkinson Hyperlegible" pitchFamily="34" charset="-120"/>
              </a:rPr>
              <a:t>07</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Atkinson Hyperlegible" pitchFamily="34" charset="0"/>
                <a:ea typeface="Atkinson Hyperlegible" pitchFamily="34" charset="-122"/>
                <a:cs typeface="Atkinson Hyperlegible" pitchFamily="34" charset="-120"/>
              </a:rPr>
              <a:t>Casos de Estudio</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8E8E93"/>
                </a:solidFill>
                <a:latin typeface="Atkinson Hyperlegible" pitchFamily="34" charset="0"/>
                <a:ea typeface="Atkinson Hyperlegible" pitchFamily="34" charset="-122"/>
                <a:cs typeface="Atkinson Hyperlegible" pitchFamily="34" charset="-120"/>
              </a:rPr>
              <a:t>Evidencia Real del Retorno de la Constructabilidad</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Resumen de Casos de Estudio Documentados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CII ha documentado múltiples casos con datos cuantificados de beneficios. Los casos guía son CII:</a:t>
            </a:r>
            <a:endParaRPr lang="en-US" sz="1400" dirty="0"/>
          </a:p>
        </p:txBody>
      </p:sp>
      <p:sp>
        <p:nvSpPr>
          <p:cNvPr id="6" name="Shape 4"/>
          <p:cNvSpPr/>
          <p:nvPr/>
        </p:nvSpPr>
        <p:spPr>
          <a:xfrm>
            <a:off x="365760" y="1298448"/>
            <a:ext cx="4206240" cy="1143000"/>
          </a:xfrm>
          <a:prstGeom prst="roundRect">
            <a:avLst>
              <a:gd name="adj" fmla="val 8000"/>
            </a:avLst>
          </a:prstGeom>
          <a:solidFill>
            <a:srgbClr val="2C2C2E"/>
          </a:solidFill>
          <a:ln w="12700">
            <a:solidFill>
              <a:srgbClr val="0A84FF"/>
            </a:solidFill>
            <a:prstDash val="solid"/>
          </a:ln>
        </p:spPr>
      </p:sp>
      <p:sp>
        <p:nvSpPr>
          <p:cNvPr id="7" name="Text 5"/>
          <p:cNvSpPr txBox="1"/>
          <p:nvPr/>
        </p:nvSpPr>
        <p:spPr>
          <a:xfrm>
            <a:off x="530352" y="1371600"/>
            <a:ext cx="502920" cy="502920"/>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CS-1</a:t>
            </a:r>
            <a:endParaRPr lang="en-US" sz="1400" dirty="0"/>
          </a:p>
        </p:txBody>
      </p:sp>
      <p:sp>
        <p:nvSpPr>
          <p:cNvPr id="8" name="Text 6"/>
          <p:cNvSpPr txBox="1"/>
          <p:nvPr/>
        </p:nvSpPr>
        <p:spPr>
          <a:xfrm>
            <a:off x="1078992" y="1371600"/>
            <a:ext cx="338328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Planta de Gas Bajo Sulfuro</a:t>
            </a:r>
            <a:endParaRPr lang="en-US" sz="1400" dirty="0"/>
          </a:p>
        </p:txBody>
      </p:sp>
      <p:sp>
        <p:nvSpPr>
          <p:cNvPr id="9" name="Text 7"/>
          <p:cNvSpPr txBox="1"/>
          <p:nvPr/>
        </p:nvSpPr>
        <p:spPr>
          <a:xfrm>
            <a:off x="530352" y="1719072"/>
            <a:ext cx="384048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Corpus Christi, TX | $145M TIC</a:t>
            </a:r>
            <a:endParaRPr lang="en-US" sz="1050" dirty="0"/>
          </a:p>
        </p:txBody>
      </p:sp>
      <p:sp>
        <p:nvSpPr>
          <p:cNvPr id="10" name="Text 8"/>
          <p:cNvSpPr txBox="1"/>
          <p:nvPr/>
        </p:nvSpPr>
        <p:spPr>
          <a:xfrm>
            <a:off x="530352" y="1956816"/>
            <a:ext cx="3840480" cy="256032"/>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 9% bajo presupuesto</a:t>
            </a:r>
            <a:endParaRPr lang="en-US" sz="1100" dirty="0"/>
          </a:p>
        </p:txBody>
      </p:sp>
      <p:sp>
        <p:nvSpPr>
          <p:cNvPr id="11" name="Shape 9"/>
          <p:cNvSpPr/>
          <p:nvPr/>
        </p:nvSpPr>
        <p:spPr>
          <a:xfrm>
            <a:off x="4754880" y="1298448"/>
            <a:ext cx="4206240" cy="1143000"/>
          </a:xfrm>
          <a:prstGeom prst="roundRect">
            <a:avLst>
              <a:gd name="adj" fmla="val 8000"/>
            </a:avLst>
          </a:prstGeom>
          <a:solidFill>
            <a:srgbClr val="2C2C2E"/>
          </a:solidFill>
          <a:ln w="12700">
            <a:solidFill>
              <a:srgbClr val="30D158"/>
            </a:solidFill>
            <a:prstDash val="solid"/>
          </a:ln>
        </p:spPr>
      </p:sp>
      <p:sp>
        <p:nvSpPr>
          <p:cNvPr id="12" name="Text 10"/>
          <p:cNvSpPr txBox="1"/>
          <p:nvPr/>
        </p:nvSpPr>
        <p:spPr>
          <a:xfrm>
            <a:off x="4919472" y="1371600"/>
            <a:ext cx="502920" cy="502920"/>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CS-2</a:t>
            </a:r>
            <a:endParaRPr lang="en-US" sz="1400" dirty="0"/>
          </a:p>
        </p:txBody>
      </p:sp>
      <p:sp>
        <p:nvSpPr>
          <p:cNvPr id="13" name="Text 11"/>
          <p:cNvSpPr txBox="1"/>
          <p:nvPr/>
        </p:nvSpPr>
        <p:spPr>
          <a:xfrm>
            <a:off x="5468112" y="1371600"/>
            <a:ext cx="338328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Planta de Aluminio Fjardaal</a:t>
            </a:r>
            <a:endParaRPr lang="en-US" sz="1400" dirty="0"/>
          </a:p>
        </p:txBody>
      </p:sp>
      <p:sp>
        <p:nvSpPr>
          <p:cNvPr id="14" name="Text 12"/>
          <p:cNvSpPr txBox="1"/>
          <p:nvPr/>
        </p:nvSpPr>
        <p:spPr>
          <a:xfrm>
            <a:off x="4919472" y="1719072"/>
            <a:ext cx="384048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Islandia oriental | 320K ton/año</a:t>
            </a:r>
            <a:endParaRPr lang="en-US" sz="1050" dirty="0"/>
          </a:p>
        </p:txBody>
      </p:sp>
      <p:sp>
        <p:nvSpPr>
          <p:cNvPr id="15" name="Text 13"/>
          <p:cNvSpPr txBox="1"/>
          <p:nvPr/>
        </p:nvSpPr>
        <p:spPr>
          <a:xfrm>
            <a:off x="4919472" y="1956816"/>
            <a:ext cx="3840480" cy="256032"/>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 ~10% reducción costos campo</a:t>
            </a:r>
            <a:endParaRPr lang="en-US" sz="1100" dirty="0"/>
          </a:p>
        </p:txBody>
      </p:sp>
      <p:sp>
        <p:nvSpPr>
          <p:cNvPr id="16" name="Shape 14"/>
          <p:cNvSpPr/>
          <p:nvPr/>
        </p:nvSpPr>
        <p:spPr>
          <a:xfrm>
            <a:off x="365760" y="2560320"/>
            <a:ext cx="4206240" cy="1143000"/>
          </a:xfrm>
          <a:prstGeom prst="roundRect">
            <a:avLst>
              <a:gd name="adj" fmla="val 8000"/>
            </a:avLst>
          </a:prstGeom>
          <a:solidFill>
            <a:srgbClr val="2C2C2E"/>
          </a:solidFill>
          <a:ln w="12700">
            <a:solidFill>
              <a:srgbClr val="FF9500"/>
            </a:solidFill>
            <a:prstDash val="solid"/>
          </a:ln>
        </p:spPr>
      </p:sp>
      <p:sp>
        <p:nvSpPr>
          <p:cNvPr id="17" name="Text 15"/>
          <p:cNvSpPr txBox="1"/>
          <p:nvPr/>
        </p:nvSpPr>
        <p:spPr>
          <a:xfrm>
            <a:off x="530352" y="2633472"/>
            <a:ext cx="502920" cy="502920"/>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CS-3</a:t>
            </a:r>
            <a:endParaRPr lang="en-US" sz="1400" dirty="0"/>
          </a:p>
        </p:txBody>
      </p:sp>
      <p:sp>
        <p:nvSpPr>
          <p:cNvPr id="18" name="Text 16"/>
          <p:cNvSpPr txBox="1"/>
          <p:nvPr/>
        </p:nvSpPr>
        <p:spPr>
          <a:xfrm>
            <a:off x="1078992" y="2633472"/>
            <a:ext cx="338328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Edificio Comercial</a:t>
            </a:r>
            <a:endParaRPr lang="en-US" sz="1400" dirty="0"/>
          </a:p>
        </p:txBody>
      </p:sp>
      <p:sp>
        <p:nvSpPr>
          <p:cNvPr id="19" name="Text 17"/>
          <p:cNvSpPr txBox="1"/>
          <p:nvPr/>
        </p:nvSpPr>
        <p:spPr>
          <a:xfrm>
            <a:off x="530352" y="2980944"/>
            <a:ext cx="384048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Case study CII | Comercial</a:t>
            </a:r>
            <a:endParaRPr lang="en-US" sz="1050" dirty="0"/>
          </a:p>
        </p:txBody>
      </p:sp>
      <p:sp>
        <p:nvSpPr>
          <p:cNvPr id="20" name="Text 18"/>
          <p:cNvSpPr txBox="1"/>
          <p:nvPr/>
        </p:nvSpPr>
        <p:spPr>
          <a:xfrm>
            <a:off x="530352" y="3218688"/>
            <a:ext cx="3840480" cy="256032"/>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1.1% ahorro TIC, B/C = 10:1</a:t>
            </a:r>
            <a:endParaRPr lang="en-US" sz="1100" dirty="0"/>
          </a:p>
        </p:txBody>
      </p:sp>
      <p:sp>
        <p:nvSpPr>
          <p:cNvPr id="21" name="Shape 19"/>
          <p:cNvSpPr/>
          <p:nvPr/>
        </p:nvSpPr>
        <p:spPr>
          <a:xfrm>
            <a:off x="4754880" y="2560320"/>
            <a:ext cx="4206240" cy="1143000"/>
          </a:xfrm>
          <a:prstGeom prst="roundRect">
            <a:avLst>
              <a:gd name="adj" fmla="val 8000"/>
            </a:avLst>
          </a:prstGeom>
          <a:solidFill>
            <a:srgbClr val="2C2C2E"/>
          </a:solidFill>
          <a:ln w="12700">
            <a:solidFill>
              <a:srgbClr val="AF52DE"/>
            </a:solidFill>
            <a:prstDash val="solid"/>
          </a:ln>
        </p:spPr>
      </p:sp>
      <p:sp>
        <p:nvSpPr>
          <p:cNvPr id="22" name="Text 20"/>
          <p:cNvSpPr txBox="1"/>
          <p:nvPr/>
        </p:nvSpPr>
        <p:spPr>
          <a:xfrm>
            <a:off x="4919472" y="2633472"/>
            <a:ext cx="502920" cy="502920"/>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CS-4</a:t>
            </a:r>
            <a:endParaRPr lang="en-US" sz="1400" dirty="0"/>
          </a:p>
        </p:txBody>
      </p:sp>
      <p:sp>
        <p:nvSpPr>
          <p:cNvPr id="23" name="Text 21"/>
          <p:cNvSpPr txBox="1"/>
          <p:nvPr/>
        </p:nvSpPr>
        <p:spPr>
          <a:xfrm>
            <a:off x="5468112" y="2633472"/>
            <a:ext cx="338328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Planta Petroquímica</a:t>
            </a:r>
            <a:endParaRPr lang="en-US" sz="1400" dirty="0"/>
          </a:p>
        </p:txBody>
      </p:sp>
      <p:sp>
        <p:nvSpPr>
          <p:cNvPr id="24" name="Text 22"/>
          <p:cNvSpPr txBox="1"/>
          <p:nvPr/>
        </p:nvSpPr>
        <p:spPr>
          <a:xfrm>
            <a:off x="4919472" y="2980944"/>
            <a:ext cx="384048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25" name="Text 23"/>
          <p:cNvSpPr txBox="1"/>
          <p:nvPr/>
        </p:nvSpPr>
        <p:spPr>
          <a:xfrm>
            <a:off x="4919472" y="3218688"/>
            <a:ext cx="3840480" cy="256032"/>
          </a:xfrm>
          <a:prstGeom prst="rect">
            <a:avLst/>
          </a:prstGeom>
          <a:noFill/>
          <a:ln/>
        </p:spPr>
        <p:txBody>
          <a:bodyPr wrap="square" lIns="0" tIns="0" rIns="0" bIns="0" rtlCol="0" anchor="ctr"/>
          <a:lstStyle/>
          <a:p>
            <a:pPr indent="0" marL="0">
              <a:buNone/>
            </a:pPr>
            <a:r>
              <a:rPr lang="en-US" sz="1100" dirty="0">
                <a:solidFill>
                  <a:srgbClr val="AF52DE"/>
                </a:solidFill>
                <a:latin typeface="Atkinson Hyperlegible" pitchFamily="34" charset="0"/>
                <a:ea typeface="Atkinson Hyperlegible" pitchFamily="34" charset="-122"/>
                <a:cs typeface="Atkinson Hyperlegible" pitchFamily="34" charset="-120"/>
              </a:rPr>
              <a:t>✓ 6-23% reducción TIC</a:t>
            </a:r>
            <a:endParaRPr lang="en-US" sz="1100" dirty="0"/>
          </a:p>
        </p:txBody>
      </p:sp>
      <p:sp>
        <p:nvSpPr>
          <p:cNvPr id="26" name="Shape 24"/>
          <p:cNvSpPr/>
          <p:nvPr/>
        </p:nvSpPr>
        <p:spPr>
          <a:xfrm>
            <a:off x="365760" y="3822192"/>
            <a:ext cx="4206240" cy="1143000"/>
          </a:xfrm>
          <a:prstGeom prst="roundRect">
            <a:avLst>
              <a:gd name="adj" fmla="val 8000"/>
            </a:avLst>
          </a:prstGeom>
          <a:solidFill>
            <a:srgbClr val="2C2C2E"/>
          </a:solidFill>
          <a:ln w="12700">
            <a:solidFill>
              <a:srgbClr val="FFD60A"/>
            </a:solidFill>
            <a:prstDash val="solid"/>
          </a:ln>
        </p:spPr>
      </p:sp>
      <p:sp>
        <p:nvSpPr>
          <p:cNvPr id="27" name="Text 25"/>
          <p:cNvSpPr txBox="1"/>
          <p:nvPr/>
        </p:nvSpPr>
        <p:spPr>
          <a:xfrm>
            <a:off x="530352" y="3895344"/>
            <a:ext cx="502920" cy="502920"/>
          </a:xfrm>
          <a:prstGeom prst="rect">
            <a:avLst/>
          </a:prstGeom>
          <a:noFill/>
          <a:ln/>
        </p:spPr>
        <p:txBody>
          <a:bodyPr wrap="square" lIns="0" tIns="0" rIns="0" bIns="0" rtlCol="0" anchor="ctr"/>
          <a:lstStyle/>
          <a:p>
            <a:pPr indent="0" marL="0">
              <a:buNone/>
            </a:pPr>
            <a:r>
              <a:rPr lang="en-US" sz="1400" b="1" dirty="0">
                <a:solidFill>
                  <a:srgbClr val="FFD60A"/>
                </a:solidFill>
                <a:latin typeface="Atkinson Hyperlegible" pitchFamily="34" charset="0"/>
                <a:ea typeface="Atkinson Hyperlegible" pitchFamily="34" charset="-122"/>
                <a:cs typeface="Atkinson Hyperlegible" pitchFamily="34" charset="-120"/>
              </a:rPr>
              <a:t>CS-5</a:t>
            </a:r>
            <a:endParaRPr lang="en-US" sz="1400" dirty="0"/>
          </a:p>
        </p:txBody>
      </p:sp>
      <p:sp>
        <p:nvSpPr>
          <p:cNvPr id="28" name="Text 26"/>
          <p:cNvSpPr txBox="1"/>
          <p:nvPr/>
        </p:nvSpPr>
        <p:spPr>
          <a:xfrm>
            <a:off x="1078992" y="3895344"/>
            <a:ext cx="338328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Planta Fertilizante Indonesia</a:t>
            </a:r>
            <a:endParaRPr lang="en-US" sz="1400" dirty="0"/>
          </a:p>
        </p:txBody>
      </p:sp>
      <p:sp>
        <p:nvSpPr>
          <p:cNvPr id="29" name="Text 27"/>
          <p:cNvSpPr txBox="1"/>
          <p:nvPr/>
        </p:nvSpPr>
        <p:spPr>
          <a:xfrm>
            <a:off x="530352" y="4242816"/>
            <a:ext cx="384048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1,500 ton/día | Asia</a:t>
            </a:r>
            <a:endParaRPr lang="en-US" sz="1050" dirty="0"/>
          </a:p>
        </p:txBody>
      </p:sp>
      <p:sp>
        <p:nvSpPr>
          <p:cNvPr id="30" name="Text 28"/>
          <p:cNvSpPr txBox="1"/>
          <p:nvPr/>
        </p:nvSpPr>
        <p:spPr>
          <a:xfrm>
            <a:off x="530352" y="4480560"/>
            <a:ext cx="3840480" cy="256032"/>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 2 meses adelanto en cronograma</a:t>
            </a:r>
            <a:endParaRPr lang="en-US" sz="1100" dirty="0"/>
          </a:p>
        </p:txBody>
      </p:sp>
      <p:sp>
        <p:nvSpPr>
          <p:cNvPr id="31" name="Shape 29"/>
          <p:cNvSpPr/>
          <p:nvPr/>
        </p:nvSpPr>
        <p:spPr>
          <a:xfrm>
            <a:off x="4754880" y="3822192"/>
            <a:ext cx="4206240" cy="1143000"/>
          </a:xfrm>
          <a:prstGeom prst="roundRect">
            <a:avLst>
              <a:gd name="adj" fmla="val 8000"/>
            </a:avLst>
          </a:prstGeom>
          <a:solidFill>
            <a:srgbClr val="2C2C2E"/>
          </a:solidFill>
          <a:ln w="12700">
            <a:solidFill>
              <a:srgbClr val="FF453A"/>
            </a:solidFill>
            <a:prstDash val="solid"/>
          </a:ln>
        </p:spPr>
      </p:sp>
      <p:sp>
        <p:nvSpPr>
          <p:cNvPr id="32" name="Text 30"/>
          <p:cNvSpPr txBox="1"/>
          <p:nvPr/>
        </p:nvSpPr>
        <p:spPr>
          <a:xfrm>
            <a:off x="4919472" y="3895344"/>
            <a:ext cx="502920" cy="502920"/>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CS-6</a:t>
            </a:r>
            <a:endParaRPr lang="en-US" sz="1400" dirty="0"/>
          </a:p>
        </p:txBody>
      </p:sp>
      <p:sp>
        <p:nvSpPr>
          <p:cNvPr id="33" name="Text 31"/>
          <p:cNvSpPr txBox="1"/>
          <p:nvPr/>
        </p:nvSpPr>
        <p:spPr>
          <a:xfrm>
            <a:off x="5468112" y="3895344"/>
            <a:ext cx="338328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Planta de Gas Industrial</a:t>
            </a:r>
            <a:endParaRPr lang="en-US" sz="1400" dirty="0"/>
          </a:p>
        </p:txBody>
      </p:sp>
      <p:sp>
        <p:nvSpPr>
          <p:cNvPr id="34" name="Text 32"/>
          <p:cNvSpPr txBox="1"/>
          <p:nvPr/>
        </p:nvSpPr>
        <p:spPr>
          <a:xfrm>
            <a:off x="4919472" y="4242816"/>
            <a:ext cx="384048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35" name="Text 33"/>
          <p:cNvSpPr txBox="1"/>
          <p:nvPr/>
        </p:nvSpPr>
        <p:spPr>
          <a:xfrm>
            <a:off x="4919472" y="4480560"/>
            <a:ext cx="3840480" cy="25603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Reducción 10% duración</a:t>
            </a:r>
            <a:endParaRPr lang="en-US" sz="110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CS-1: Planta de Gas de Bajo Sulfuro — Corpus Christi, TX</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4160520" cy="4187952"/>
          </a:xfrm>
          <a:prstGeom prst="roundRect">
            <a:avLst>
              <a:gd name="adj" fmla="val 2637"/>
            </a:avLst>
          </a:prstGeom>
          <a:solidFill>
            <a:srgbClr val="2C2C2E"/>
          </a:solidFill>
          <a:ln w="12700">
            <a:solidFill>
              <a:srgbClr val="3A3A3C"/>
            </a:solidFill>
            <a:prstDash val="solid"/>
          </a:ln>
        </p:spPr>
      </p:sp>
      <p:sp>
        <p:nvSpPr>
          <p:cNvPr id="6" name="Text 4"/>
          <p:cNvSpPr txBox="1"/>
          <p:nvPr/>
        </p:nvSpPr>
        <p:spPr>
          <a:xfrm>
            <a:off x="530352" y="1024128"/>
            <a:ext cx="3840480" cy="32004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DESCRIPCIÓN DEL PROYECTO</a:t>
            </a:r>
            <a:endParaRPr lang="en-US" sz="1300" dirty="0"/>
          </a:p>
        </p:txBody>
      </p:sp>
      <p:sp>
        <p:nvSpPr>
          <p:cNvPr id="7" name="Text 5"/>
          <p:cNvSpPr txBox="1"/>
          <p:nvPr/>
        </p:nvSpPr>
        <p:spPr>
          <a:xfrm>
            <a:off x="548640" y="1417320"/>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Planta para producción de combustibles más limpios (mandato EPA)</a:t>
            </a:r>
            <a:endParaRPr lang="en-US" sz="1050" dirty="0"/>
          </a:p>
        </p:txBody>
      </p:sp>
      <p:sp>
        <p:nvSpPr>
          <p:cNvPr id="8" name="Text 6"/>
          <p:cNvSpPr txBox="1"/>
          <p:nvPr/>
        </p:nvSpPr>
        <p:spPr>
          <a:xfrm>
            <a:off x="548640" y="1764792"/>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Capacidad: 63,000 barriles/día en 3 unidades de proceso</a:t>
            </a:r>
            <a:endParaRPr lang="en-US" sz="1050" dirty="0"/>
          </a:p>
        </p:txBody>
      </p:sp>
      <p:sp>
        <p:nvSpPr>
          <p:cNvPr id="9" name="Text 7"/>
          <p:cNvSpPr txBox="1"/>
          <p:nvPr/>
        </p:nvSpPr>
        <p:spPr>
          <a:xfrm>
            <a:off x="548640" y="2112264"/>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Nueva tecnología de proceso</a:t>
            </a:r>
            <a:endParaRPr lang="en-US" sz="1050" dirty="0"/>
          </a:p>
        </p:txBody>
      </p:sp>
      <p:sp>
        <p:nvSpPr>
          <p:cNvPr id="10" name="Text 8"/>
          <p:cNvSpPr txBox="1"/>
          <p:nvPr/>
        </p:nvSpPr>
        <p:spPr>
          <a:xfrm>
            <a:off x="548640" y="2459736"/>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Presupuesto TIC: $145 millones</a:t>
            </a:r>
            <a:endParaRPr lang="en-US" sz="1050" dirty="0"/>
          </a:p>
        </p:txBody>
      </p:sp>
      <p:sp>
        <p:nvSpPr>
          <p:cNvPr id="11" name="Text 9"/>
          <p:cNvSpPr txBox="1"/>
          <p:nvPr/>
        </p:nvSpPr>
        <p:spPr>
          <a:xfrm>
            <a:off x="548640" y="2807208"/>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Sitio: Corpus Christi, Texas</a:t>
            </a:r>
            <a:endParaRPr lang="en-US" sz="1050" dirty="0"/>
          </a:p>
        </p:txBody>
      </p:sp>
      <p:sp>
        <p:nvSpPr>
          <p:cNvPr id="12" name="Text 10"/>
          <p:cNvSpPr txBox="1"/>
          <p:nvPr/>
        </p:nvSpPr>
        <p:spPr>
          <a:xfrm>
            <a:off x="548640" y="3154680"/>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Escasez de soldadores y electricistas en la zona (20% turnover)</a:t>
            </a:r>
            <a:endParaRPr lang="en-US" sz="1050" dirty="0"/>
          </a:p>
        </p:txBody>
      </p:sp>
      <p:sp>
        <p:nvSpPr>
          <p:cNvPr id="13" name="Text 11"/>
          <p:cNvSpPr txBox="1"/>
          <p:nvPr/>
        </p:nvSpPr>
        <p:spPr>
          <a:xfrm>
            <a:off x="548640" y="3502152"/>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A 4 millas de puerto de aguas profundas</a:t>
            </a:r>
            <a:endParaRPr lang="en-US" sz="1050" dirty="0"/>
          </a:p>
        </p:txBody>
      </p:sp>
      <p:sp>
        <p:nvSpPr>
          <p:cNvPr id="14" name="Text 12"/>
          <p:cNvSpPr txBox="1"/>
          <p:nvPr/>
        </p:nvSpPr>
        <p:spPr>
          <a:xfrm>
            <a:off x="548640" y="3849624"/>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Fast-track, proyecto orientado al cronograma</a:t>
            </a:r>
            <a:endParaRPr lang="en-US" sz="1050" dirty="0"/>
          </a:p>
        </p:txBody>
      </p:sp>
      <p:sp>
        <p:nvSpPr>
          <p:cNvPr id="15" name="Text 13"/>
          <p:cNvSpPr txBox="1"/>
          <p:nvPr/>
        </p:nvSpPr>
        <p:spPr>
          <a:xfrm>
            <a:off x="548640" y="4197096"/>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Contrato EPC: 15 meses para diseño detallado, procura, construcción y arranque</a:t>
            </a:r>
            <a:endParaRPr lang="en-US" sz="1050" dirty="0"/>
          </a:p>
        </p:txBody>
      </p:sp>
      <p:sp>
        <p:nvSpPr>
          <p:cNvPr id="16" name="Text 14"/>
          <p:cNvSpPr txBox="1"/>
          <p:nvPr/>
        </p:nvSpPr>
        <p:spPr>
          <a:xfrm>
            <a:off x="548640" y="4544568"/>
            <a:ext cx="374904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Movilización al campo al 30% de avance de ingeniería</a:t>
            </a:r>
            <a:endParaRPr lang="en-US" sz="1050" dirty="0"/>
          </a:p>
        </p:txBody>
      </p:sp>
      <p:sp>
        <p:nvSpPr>
          <p:cNvPr id="17" name="Shape 15"/>
          <p:cNvSpPr/>
          <p:nvPr/>
        </p:nvSpPr>
        <p:spPr>
          <a:xfrm>
            <a:off x="4663440" y="960120"/>
            <a:ext cx="4114800" cy="2011680"/>
          </a:xfrm>
          <a:prstGeom prst="roundRect">
            <a:avLst>
              <a:gd name="adj" fmla="val 5455"/>
            </a:avLst>
          </a:prstGeom>
          <a:solidFill>
            <a:srgbClr val="2C2C2E"/>
          </a:solidFill>
          <a:ln w="25400">
            <a:solidFill>
              <a:srgbClr val="30D158"/>
            </a:solidFill>
            <a:prstDash val="solid"/>
          </a:ln>
        </p:spPr>
      </p:sp>
      <p:sp>
        <p:nvSpPr>
          <p:cNvPr id="18" name="Text 16"/>
          <p:cNvSpPr txBox="1"/>
          <p:nvPr/>
        </p:nvSpPr>
        <p:spPr>
          <a:xfrm>
            <a:off x="4846320" y="1024128"/>
            <a:ext cx="374904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RESULTADOS</a:t>
            </a:r>
            <a:endParaRPr lang="en-US" sz="1300" dirty="0"/>
          </a:p>
        </p:txBody>
      </p:sp>
      <p:sp>
        <p:nvSpPr>
          <p:cNvPr id="19" name="Text 17"/>
          <p:cNvSpPr txBox="1"/>
          <p:nvPr/>
        </p:nvSpPr>
        <p:spPr>
          <a:xfrm>
            <a:off x="4828032" y="1389888"/>
            <a:ext cx="1280160" cy="228600"/>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Seguridad:</a:t>
            </a:r>
            <a:endParaRPr lang="en-US" sz="1100" dirty="0"/>
          </a:p>
        </p:txBody>
      </p:sp>
      <p:sp>
        <p:nvSpPr>
          <p:cNvPr id="20" name="Text 18"/>
          <p:cNvSpPr txBox="1"/>
          <p:nvPr/>
        </p:nvSpPr>
        <p:spPr>
          <a:xfrm>
            <a:off x="6144768" y="1389888"/>
            <a:ext cx="2468880" cy="22860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0 accidentes en 1.6 MM horas-hombre</a:t>
            </a:r>
            <a:endParaRPr lang="en-US" sz="1100" dirty="0"/>
          </a:p>
        </p:txBody>
      </p:sp>
      <p:sp>
        <p:nvSpPr>
          <p:cNvPr id="21" name="Text 19"/>
          <p:cNvSpPr txBox="1"/>
          <p:nvPr/>
        </p:nvSpPr>
        <p:spPr>
          <a:xfrm>
            <a:off x="4828032" y="1645920"/>
            <a:ext cx="1280160" cy="228600"/>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Costo:</a:t>
            </a:r>
            <a:endParaRPr lang="en-US" sz="1100" dirty="0"/>
          </a:p>
        </p:txBody>
      </p:sp>
      <p:sp>
        <p:nvSpPr>
          <p:cNvPr id="22" name="Text 20"/>
          <p:cNvSpPr txBox="1"/>
          <p:nvPr/>
        </p:nvSpPr>
        <p:spPr>
          <a:xfrm>
            <a:off x="6144768" y="1645920"/>
            <a:ext cx="2468880" cy="22860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$13 MM (9%) BAJO el presupuesto</a:t>
            </a:r>
            <a:endParaRPr lang="en-US" sz="1100" dirty="0"/>
          </a:p>
        </p:txBody>
      </p:sp>
      <p:sp>
        <p:nvSpPr>
          <p:cNvPr id="23" name="Text 21"/>
          <p:cNvSpPr txBox="1"/>
          <p:nvPr/>
        </p:nvSpPr>
        <p:spPr>
          <a:xfrm>
            <a:off x="4828032" y="1901952"/>
            <a:ext cx="1280160" cy="228600"/>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Cronograma:</a:t>
            </a:r>
            <a:endParaRPr lang="en-US" sz="1100" dirty="0"/>
          </a:p>
        </p:txBody>
      </p:sp>
      <p:sp>
        <p:nvSpPr>
          <p:cNvPr id="24" name="Text 22"/>
          <p:cNvSpPr txBox="1"/>
          <p:nvPr/>
        </p:nvSpPr>
        <p:spPr>
          <a:xfrm>
            <a:off x="6144768" y="1901952"/>
            <a:ext cx="2468880" cy="22860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1 semana (1.8%) sobre cronograma</a:t>
            </a:r>
            <a:endParaRPr lang="en-US" sz="1100" dirty="0"/>
          </a:p>
        </p:txBody>
      </p:sp>
      <p:sp>
        <p:nvSpPr>
          <p:cNvPr id="25" name="Text 23"/>
          <p:cNvSpPr txBox="1"/>
          <p:nvPr/>
        </p:nvSpPr>
        <p:spPr>
          <a:xfrm>
            <a:off x="4828032" y="2157984"/>
            <a:ext cx="1280160" cy="228600"/>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Productividad:</a:t>
            </a:r>
            <a:endParaRPr lang="en-US" sz="1100" dirty="0"/>
          </a:p>
        </p:txBody>
      </p:sp>
      <p:sp>
        <p:nvSpPr>
          <p:cNvPr id="26" name="Text 24"/>
          <p:cNvSpPr txBox="1"/>
          <p:nvPr/>
        </p:nvSpPr>
        <p:spPr>
          <a:xfrm>
            <a:off x="6144768" y="2157984"/>
            <a:ext cx="2468880" cy="22860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5% mejor que lo planeado</a:t>
            </a:r>
            <a:endParaRPr lang="en-US" sz="1100" dirty="0"/>
          </a:p>
        </p:txBody>
      </p:sp>
      <p:sp>
        <p:nvSpPr>
          <p:cNvPr id="27" name="Text 25"/>
          <p:cNvSpPr txBox="1"/>
          <p:nvPr/>
        </p:nvSpPr>
        <p:spPr>
          <a:xfrm>
            <a:off x="4828032" y="2414016"/>
            <a:ext cx="1280160" cy="228600"/>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Retrabajo:</a:t>
            </a:r>
            <a:endParaRPr lang="en-US" sz="1100" dirty="0"/>
          </a:p>
        </p:txBody>
      </p:sp>
      <p:sp>
        <p:nvSpPr>
          <p:cNvPr id="28" name="Text 26"/>
          <p:cNvSpPr txBox="1"/>
          <p:nvPr/>
        </p:nvSpPr>
        <p:spPr>
          <a:xfrm>
            <a:off x="6144768" y="2414016"/>
            <a:ext cx="2468880" cy="22860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Reducido a ~2% del costo total</a:t>
            </a:r>
            <a:endParaRPr lang="en-US" sz="1100" dirty="0"/>
          </a:p>
        </p:txBody>
      </p:sp>
      <p:sp>
        <p:nvSpPr>
          <p:cNvPr id="29" name="Text 27"/>
          <p:cNvSpPr txBox="1"/>
          <p:nvPr/>
        </p:nvSpPr>
        <p:spPr>
          <a:xfrm>
            <a:off x="4828032" y="2670048"/>
            <a:ext cx="1280160" cy="228600"/>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Rotación:</a:t>
            </a:r>
            <a:endParaRPr lang="en-US" sz="1100" dirty="0"/>
          </a:p>
        </p:txBody>
      </p:sp>
      <p:sp>
        <p:nvSpPr>
          <p:cNvPr id="30" name="Text 28"/>
          <p:cNvSpPr txBox="1"/>
          <p:nvPr/>
        </p:nvSpPr>
        <p:spPr>
          <a:xfrm>
            <a:off x="6144768" y="2670048"/>
            <a:ext cx="2468880" cy="228600"/>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Reducida a la mitad del promedio regional</a:t>
            </a:r>
            <a:endParaRPr lang="en-US" sz="1100" dirty="0"/>
          </a:p>
        </p:txBody>
      </p:sp>
      <p:sp>
        <p:nvSpPr>
          <p:cNvPr id="31" name="Shape 29"/>
          <p:cNvSpPr/>
          <p:nvPr/>
        </p:nvSpPr>
        <p:spPr>
          <a:xfrm>
            <a:off x="4663440" y="3090672"/>
            <a:ext cx="4114800" cy="914400"/>
          </a:xfrm>
          <a:prstGeom prst="roundRect">
            <a:avLst>
              <a:gd name="adj" fmla="val 10000"/>
            </a:avLst>
          </a:prstGeom>
          <a:solidFill>
            <a:srgbClr val="2C2C2E"/>
          </a:solidFill>
          <a:ln w="12700">
            <a:solidFill>
              <a:srgbClr val="FF9500"/>
            </a:solidFill>
            <a:prstDash val="solid"/>
          </a:ln>
        </p:spPr>
      </p:sp>
      <p:sp>
        <p:nvSpPr>
          <p:cNvPr id="32" name="Text 30"/>
          <p:cNvSpPr txBox="1"/>
          <p:nvPr/>
        </p:nvSpPr>
        <p:spPr>
          <a:xfrm>
            <a:off x="4846320" y="3154680"/>
            <a:ext cx="37490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INVERSIÓN EN CONSTRUCTABILIDAD</a:t>
            </a:r>
            <a:endParaRPr lang="en-US" sz="1200" dirty="0"/>
          </a:p>
        </p:txBody>
      </p:sp>
      <p:sp>
        <p:nvSpPr>
          <p:cNvPr id="33" name="Text 31"/>
          <p:cNvSpPr txBox="1"/>
          <p:nvPr/>
        </p:nvSpPr>
        <p:spPr>
          <a:xfrm>
            <a:off x="4846320" y="3456432"/>
            <a:ext cx="3749040" cy="25603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~$1 millón invertido = 0.7% del presupuesto TIC</a:t>
            </a:r>
            <a:endParaRPr lang="en-US" sz="1100" dirty="0"/>
          </a:p>
        </p:txBody>
      </p:sp>
      <p:sp>
        <p:nvSpPr>
          <p:cNvPr id="34" name="Text 32"/>
          <p:cNvSpPr txBox="1"/>
          <p:nvPr/>
        </p:nvSpPr>
        <p:spPr>
          <a:xfrm>
            <a:off x="4846320" y="3712464"/>
            <a:ext cx="3749040" cy="228600"/>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Retorno B/C implícito &gt; 13:1</a:t>
            </a:r>
            <a:endParaRPr lang="en-US" sz="1100" dirty="0"/>
          </a:p>
        </p:txBody>
      </p:sp>
      <p:sp>
        <p:nvSpPr>
          <p:cNvPr id="35" name="Shape 33"/>
          <p:cNvSpPr/>
          <p:nvPr/>
        </p:nvSpPr>
        <p:spPr>
          <a:xfrm>
            <a:off x="4663440" y="4096512"/>
            <a:ext cx="4114800" cy="1051560"/>
          </a:xfrm>
          <a:prstGeom prst="roundRect">
            <a:avLst>
              <a:gd name="adj" fmla="val 8696"/>
            </a:avLst>
          </a:prstGeom>
          <a:solidFill>
            <a:srgbClr val="2C2C2E"/>
          </a:solidFill>
          <a:ln w="12700">
            <a:solidFill>
              <a:srgbClr val="3A3A3C"/>
            </a:solidFill>
            <a:prstDash val="solid"/>
          </a:ln>
        </p:spPr>
      </p:sp>
      <p:sp>
        <p:nvSpPr>
          <p:cNvPr id="36" name="Text 34"/>
          <p:cNvSpPr txBox="1"/>
          <p:nvPr/>
        </p:nvSpPr>
        <p:spPr>
          <a:xfrm>
            <a:off x="4846320" y="4160520"/>
            <a:ext cx="3749040" cy="89611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LECCIÓN CLAVE: Mobilizar al equipo de campo durante el diseño (3-5 meses antes de la movilización) genera coordinación E-C que vale millones.</a:t>
            </a:r>
            <a:endParaRPr lang="en-US" sz="1050" dirty="0"/>
          </a:p>
        </p:txBody>
      </p:sp>
      <p:sp>
        <p:nvSpPr>
          <p:cNvPr id="37" name="Text 3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CS-1: Modularización en la Planta de Gas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modularización fue el elemento de constructabilidad de mayor impacto en este proyecto:</a:t>
            </a:r>
            <a:endParaRPr lang="en-US" sz="1400" dirty="0"/>
          </a:p>
        </p:txBody>
      </p:sp>
      <p:sp>
        <p:nvSpPr>
          <p:cNvPr id="6" name="Shape 4"/>
          <p:cNvSpPr/>
          <p:nvPr/>
        </p:nvSpPr>
        <p:spPr>
          <a:xfrm>
            <a:off x="365760" y="1298448"/>
            <a:ext cx="4206240" cy="1143000"/>
          </a:xfrm>
          <a:prstGeom prst="roundRect">
            <a:avLst>
              <a:gd name="adj" fmla="val 8000"/>
            </a:avLst>
          </a:prstGeom>
          <a:solidFill>
            <a:srgbClr val="2C2C2E"/>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 Cubos de Equipos Modulares</a:t>
            </a:r>
            <a:endParaRPr lang="en-US" sz="13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74,000 horas pico transferidas a Charleston, SC (taller de fabricación). Equivale al 5.7% del total de horas de campo.</a:t>
            </a:r>
            <a:endParaRPr lang="en-US" sz="1100" dirty="0"/>
          </a:p>
        </p:txBody>
      </p:sp>
      <p:sp>
        <p:nvSpPr>
          <p:cNvPr id="9" name="Shape 7"/>
          <p:cNvSpPr/>
          <p:nvPr/>
        </p:nvSpPr>
        <p:spPr>
          <a:xfrm>
            <a:off x="4754880" y="1298448"/>
            <a:ext cx="4206240" cy="1143000"/>
          </a:xfrm>
          <a:prstGeom prst="roundRect">
            <a:avLst>
              <a:gd name="adj" fmla="val 8000"/>
            </a:avLst>
          </a:prstGeom>
          <a:solidFill>
            <a:srgbClr val="2C2C2E"/>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Planificación de Rutas</a:t>
            </a:r>
            <a:endParaRPr lang="en-US" sz="13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Planificación detallada para líneas eléctricas a lo largo de la ruta de transporte de los módulos. Coordinación con autoridades viales.</a:t>
            </a:r>
            <a:endParaRPr lang="en-US" sz="1100" dirty="0"/>
          </a:p>
        </p:txBody>
      </p:sp>
      <p:sp>
        <p:nvSpPr>
          <p:cNvPr id="12" name="Shape 10"/>
          <p:cNvSpPr/>
          <p:nvPr/>
        </p:nvSpPr>
        <p:spPr>
          <a:xfrm>
            <a:off x="365760" y="2560320"/>
            <a:ext cx="4206240" cy="1143000"/>
          </a:xfrm>
          <a:prstGeom prst="roundRect">
            <a:avLst>
              <a:gd name="adj" fmla="val 8000"/>
            </a:avLst>
          </a:prstGeom>
          <a:solidFill>
            <a:srgbClr val="2C2C2E"/>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Ingeniería Civil Especializada</a:t>
            </a:r>
            <a:endParaRPr lang="en-US" sz="13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Conexiones especiales columna-viga para soportar las cargas de izaje de los módulos en campo.</a:t>
            </a:r>
            <a:endParaRPr lang="en-US" sz="1100" dirty="0"/>
          </a:p>
        </p:txBody>
      </p:sp>
      <p:sp>
        <p:nvSpPr>
          <p:cNvPr id="15" name="Shape 13"/>
          <p:cNvSpPr/>
          <p:nvPr/>
        </p:nvSpPr>
        <p:spPr>
          <a:xfrm>
            <a:off x="4754880" y="2560320"/>
            <a:ext cx="4206240" cy="1143000"/>
          </a:xfrm>
          <a:prstGeom prst="roundRect">
            <a:avLst>
              <a:gd name="adj" fmla="val 8000"/>
            </a:avLst>
          </a:prstGeom>
          <a:solidFill>
            <a:srgbClr val="2C2C2E"/>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en Sitio</a:t>
            </a:r>
            <a:endParaRPr lang="en-US" sz="13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Prefabricación y carga de racks de tubería en sitio: 14% de toda la tubería del proyecto ensamblada en tierra antes de izaje.</a:t>
            </a:r>
            <a:endParaRPr lang="en-US" sz="1100" dirty="0"/>
          </a:p>
        </p:txBody>
      </p:sp>
      <p:sp>
        <p:nvSpPr>
          <p:cNvPr id="18" name="Shape 16"/>
          <p:cNvSpPr/>
          <p:nvPr/>
        </p:nvSpPr>
        <p:spPr>
          <a:xfrm>
            <a:off x="365760" y="3822192"/>
            <a:ext cx="4206240" cy="1143000"/>
          </a:xfrm>
          <a:prstGeom prst="roundRect">
            <a:avLst>
              <a:gd name="adj" fmla="val 8000"/>
            </a:avLst>
          </a:prstGeom>
          <a:solidFill>
            <a:srgbClr val="2C2C2E"/>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Acompañamiento CE</a:t>
            </a:r>
            <a:endParaRPr lang="en-US" sz="13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Ingeniero de campo viajó con los módulos para resolver cualquier problema durante el transporte e instalación.</a:t>
            </a:r>
            <a:endParaRPr lang="en-US" sz="1100" dirty="0"/>
          </a:p>
        </p:txBody>
      </p:sp>
      <p:sp>
        <p:nvSpPr>
          <p:cNvPr id="21" name="Shape 19"/>
          <p:cNvSpPr/>
          <p:nvPr/>
        </p:nvSpPr>
        <p:spPr>
          <a:xfrm>
            <a:off x="4754880" y="3822192"/>
            <a:ext cx="4206240" cy="1143000"/>
          </a:xfrm>
          <a:prstGeom prst="roundRect">
            <a:avLst>
              <a:gd name="adj" fmla="val 8000"/>
            </a:avLst>
          </a:prstGeom>
          <a:solidFill>
            <a:srgbClr val="2C2C2E"/>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Modelo Electrónico PDS</a:t>
            </a:r>
            <a:endParaRPr lang="en-US" sz="13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Modelado 3D CAD para toda la tubería. Usado para planeamiento del sitio, planificación de izajes y routing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CS-1: Gestión de Personal, Calidad y Cronograma Agresivo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1298448"/>
          </a:xfrm>
          <a:prstGeom prst="roundRect">
            <a:avLst>
              <a:gd name="adj" fmla="val 7042"/>
            </a:avLst>
          </a:prstGeom>
          <a:solidFill>
            <a:srgbClr val="2C2C2E"/>
          </a:solidFill>
          <a:ln w="12700">
            <a:solidFill>
              <a:srgbClr val="3A3A3C"/>
            </a:solidFill>
            <a:prstDash val="solid"/>
          </a:ln>
        </p:spPr>
      </p:sp>
      <p:sp>
        <p:nvSpPr>
          <p:cNvPr id="6" name="Shape 4"/>
          <p:cNvSpPr/>
          <p:nvPr/>
        </p:nvSpPr>
        <p:spPr>
          <a:xfrm>
            <a:off x="365760" y="960120"/>
            <a:ext cx="8412480" cy="365760"/>
          </a:xfrm>
          <a:prstGeom prst="roundRect">
            <a:avLst>
              <a:gd name="adj" fmla="val 25000"/>
            </a:avLst>
          </a:prstGeom>
          <a:solidFill>
            <a:srgbClr val="FF9500"/>
          </a:solidFill>
          <a:ln/>
        </p:spPr>
      </p:sp>
      <p:sp>
        <p:nvSpPr>
          <p:cNvPr id="7" name="Shape 5"/>
          <p:cNvSpPr/>
          <p:nvPr/>
        </p:nvSpPr>
        <p:spPr>
          <a:xfrm>
            <a:off x="365760" y="1143000"/>
            <a:ext cx="8412480" cy="182880"/>
          </a:xfrm>
          <a:prstGeom prst="rect">
            <a:avLst/>
          </a:prstGeom>
          <a:solidFill>
            <a:srgbClr val="FF9500"/>
          </a:solidFill>
          <a:ln/>
        </p:spPr>
      </p:sp>
      <p:sp>
        <p:nvSpPr>
          <p:cNvPr id="8" name="Text 6"/>
          <p:cNvSpPr txBox="1"/>
          <p:nvPr/>
        </p:nvSpPr>
        <p:spPr>
          <a:xfrm>
            <a:off x="530352" y="996696"/>
            <a:ext cx="804672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Gestión de Personal — Innovaciones Clave</a:t>
            </a:r>
            <a:endParaRPr lang="en-US" sz="1300" dirty="0"/>
          </a:p>
        </p:txBody>
      </p:sp>
      <p:sp>
        <p:nvSpPr>
          <p:cNvPr id="9" name="Text 7"/>
          <p:cNvSpPr txBox="1"/>
          <p:nvPr/>
        </p:nvSpPr>
        <p:spPr>
          <a:xfrm>
            <a:off x="548640" y="1380744"/>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Reducción del pico de mano de obra en 100 personas a través de planificación inteligente del frente de trabajo</a:t>
            </a:r>
            <a:endParaRPr lang="en-US" sz="1000" dirty="0"/>
          </a:p>
        </p:txBody>
      </p:sp>
      <p:sp>
        <p:nvSpPr>
          <p:cNvPr id="10" name="Text 8"/>
          <p:cNvSpPr txBox="1"/>
          <p:nvPr/>
        </p:nvSpPr>
        <p:spPr>
          <a:xfrm>
            <a:off x="548640" y="1572768"/>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Cuadrillas de tubería y mecánicos con carga frontal (inicio temprano para maximizar curva de aprendizaje)</a:t>
            </a:r>
            <a:endParaRPr lang="en-US" sz="1000" dirty="0"/>
          </a:p>
        </p:txBody>
      </p:sp>
      <p:sp>
        <p:nvSpPr>
          <p:cNvPr id="11" name="Text 9"/>
          <p:cNvSpPr txBox="1"/>
          <p:nvPr/>
        </p:nvSpPr>
        <p:spPr>
          <a:xfrm>
            <a:off x="548640" y="1764792"/>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Programas de incentivos y capacitación para la fuerza laboral local</a:t>
            </a:r>
            <a:endParaRPr lang="en-US" sz="1000" dirty="0"/>
          </a:p>
        </p:txBody>
      </p:sp>
      <p:sp>
        <p:nvSpPr>
          <p:cNvPr id="12" name="Text 10"/>
          <p:cNvSpPr txBox="1"/>
          <p:nvPr/>
        </p:nvSpPr>
        <p:spPr>
          <a:xfrm>
            <a:off x="548640" y="1956816"/>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Evaluación de habilidades y compensación basada en competencias demostradas</a:t>
            </a:r>
            <a:endParaRPr lang="en-US" sz="1000" dirty="0"/>
          </a:p>
        </p:txBody>
      </p:sp>
      <p:sp>
        <p:nvSpPr>
          <p:cNvPr id="13" name="Text 11"/>
          <p:cNvSpPr txBox="1"/>
          <p:nvPr/>
        </p:nvSpPr>
        <p:spPr>
          <a:xfrm>
            <a:off x="548640" y="2148840"/>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Multi-skilling: capacitación cruzada para mayor flexibilidad operacional</a:t>
            </a:r>
            <a:endParaRPr lang="en-US" sz="1000" dirty="0"/>
          </a:p>
        </p:txBody>
      </p:sp>
      <p:sp>
        <p:nvSpPr>
          <p:cNvPr id="14" name="Shape 12"/>
          <p:cNvSpPr/>
          <p:nvPr/>
        </p:nvSpPr>
        <p:spPr>
          <a:xfrm>
            <a:off x="365760" y="2377440"/>
            <a:ext cx="8412480" cy="1298448"/>
          </a:xfrm>
          <a:prstGeom prst="roundRect">
            <a:avLst>
              <a:gd name="adj" fmla="val 7042"/>
            </a:avLst>
          </a:prstGeom>
          <a:solidFill>
            <a:srgbClr val="2C2C2E"/>
          </a:solidFill>
          <a:ln w="12700">
            <a:solidFill>
              <a:srgbClr val="3A3A3C"/>
            </a:solidFill>
            <a:prstDash val="solid"/>
          </a:ln>
        </p:spPr>
      </p:sp>
      <p:sp>
        <p:nvSpPr>
          <p:cNvPr id="15" name="Shape 13"/>
          <p:cNvSpPr/>
          <p:nvPr/>
        </p:nvSpPr>
        <p:spPr>
          <a:xfrm>
            <a:off x="365760" y="2377440"/>
            <a:ext cx="8412480" cy="365760"/>
          </a:xfrm>
          <a:prstGeom prst="roundRect">
            <a:avLst>
              <a:gd name="adj" fmla="val 25000"/>
            </a:avLst>
          </a:prstGeom>
          <a:solidFill>
            <a:srgbClr val="30D158"/>
          </a:solidFill>
          <a:ln/>
        </p:spPr>
      </p:sp>
      <p:sp>
        <p:nvSpPr>
          <p:cNvPr id="16" name="Shape 14"/>
          <p:cNvSpPr/>
          <p:nvPr/>
        </p:nvSpPr>
        <p:spPr>
          <a:xfrm>
            <a:off x="365760" y="2560320"/>
            <a:ext cx="8412480" cy="182880"/>
          </a:xfrm>
          <a:prstGeom prst="rect">
            <a:avLst/>
          </a:prstGeom>
          <a:solidFill>
            <a:srgbClr val="30D158"/>
          </a:solidFill>
          <a:ln/>
        </p:spPr>
      </p:sp>
      <p:sp>
        <p:nvSpPr>
          <p:cNvPr id="17" name="Text 15"/>
          <p:cNvSpPr txBox="1"/>
          <p:nvPr/>
        </p:nvSpPr>
        <p:spPr>
          <a:xfrm>
            <a:off x="530352" y="2414016"/>
            <a:ext cx="804672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Control de Calidad y Retrabajo</a:t>
            </a:r>
            <a:endParaRPr lang="en-US" sz="1300" dirty="0"/>
          </a:p>
        </p:txBody>
      </p:sp>
      <p:sp>
        <p:nvSpPr>
          <p:cNvPr id="18" name="Text 16"/>
          <p:cNvSpPr txBox="1"/>
          <p:nvPr/>
        </p:nvSpPr>
        <p:spPr>
          <a:xfrm>
            <a:off x="548640" y="2798064"/>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Retrabajo controlado al ~2% del costo total (vs. 10-15% sin programa formal)</a:t>
            </a:r>
            <a:endParaRPr lang="en-US" sz="1000" dirty="0"/>
          </a:p>
        </p:txBody>
      </p:sp>
      <p:sp>
        <p:nvSpPr>
          <p:cNvPr id="19" name="Text 17"/>
          <p:cNvSpPr txBox="1"/>
          <p:nvPr/>
        </p:nvSpPr>
        <p:spPr>
          <a:xfrm>
            <a:off x="548640" y="2990088"/>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Paquetes de trabajo encogidos en papel aluminio ("shrink-wrapped"): materiales + instrucciones + planos en un paquete por cuadrilla</a:t>
            </a:r>
            <a:endParaRPr lang="en-US" sz="1000" dirty="0"/>
          </a:p>
        </p:txBody>
      </p:sp>
      <p:sp>
        <p:nvSpPr>
          <p:cNvPr id="20" name="Text 18"/>
          <p:cNvSpPr txBox="1"/>
          <p:nvPr/>
        </p:nvSpPr>
        <p:spPr>
          <a:xfrm>
            <a:off x="548640" y="3182112"/>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Seguimiento de efectividad de planificación del capataz (foreman planning effectiveness)</a:t>
            </a:r>
            <a:endParaRPr lang="en-US" sz="1000" dirty="0"/>
          </a:p>
        </p:txBody>
      </p:sp>
      <p:sp>
        <p:nvSpPr>
          <p:cNvPr id="21" name="Text 19"/>
          <p:cNvSpPr txBox="1"/>
          <p:nvPr/>
        </p:nvSpPr>
        <p:spPr>
          <a:xfrm>
            <a:off x="548640" y="3374136"/>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Evaluación de habilidades de campo + capacitación para trabajadores nuevos</a:t>
            </a:r>
            <a:endParaRPr lang="en-US" sz="1000" dirty="0"/>
          </a:p>
        </p:txBody>
      </p:sp>
      <p:sp>
        <p:nvSpPr>
          <p:cNvPr id="22" name="Shape 20"/>
          <p:cNvSpPr/>
          <p:nvPr/>
        </p:nvSpPr>
        <p:spPr>
          <a:xfrm>
            <a:off x="365760" y="3794760"/>
            <a:ext cx="8412480" cy="1298448"/>
          </a:xfrm>
          <a:prstGeom prst="roundRect">
            <a:avLst>
              <a:gd name="adj" fmla="val 7042"/>
            </a:avLst>
          </a:prstGeom>
          <a:solidFill>
            <a:srgbClr val="2C2C2E"/>
          </a:solidFill>
          <a:ln w="12700">
            <a:solidFill>
              <a:srgbClr val="3A3A3C"/>
            </a:solidFill>
            <a:prstDash val="solid"/>
          </a:ln>
        </p:spPr>
      </p:sp>
      <p:sp>
        <p:nvSpPr>
          <p:cNvPr id="23" name="Shape 21"/>
          <p:cNvSpPr/>
          <p:nvPr/>
        </p:nvSpPr>
        <p:spPr>
          <a:xfrm>
            <a:off x="365760" y="3794760"/>
            <a:ext cx="8412480" cy="365760"/>
          </a:xfrm>
          <a:prstGeom prst="roundRect">
            <a:avLst>
              <a:gd name="adj" fmla="val 25000"/>
            </a:avLst>
          </a:prstGeom>
          <a:solidFill>
            <a:srgbClr val="0A84FF"/>
          </a:solidFill>
          <a:ln/>
        </p:spPr>
      </p:sp>
      <p:sp>
        <p:nvSpPr>
          <p:cNvPr id="24" name="Shape 22"/>
          <p:cNvSpPr/>
          <p:nvPr/>
        </p:nvSpPr>
        <p:spPr>
          <a:xfrm>
            <a:off x="365760" y="3977640"/>
            <a:ext cx="8412480" cy="182880"/>
          </a:xfrm>
          <a:prstGeom prst="rect">
            <a:avLst/>
          </a:prstGeom>
          <a:solidFill>
            <a:srgbClr val="0A84FF"/>
          </a:solidFill>
          <a:ln/>
        </p:spPr>
      </p:sp>
      <p:sp>
        <p:nvSpPr>
          <p:cNvPr id="25" name="Text 23"/>
          <p:cNvSpPr txBox="1"/>
          <p:nvPr/>
        </p:nvSpPr>
        <p:spPr>
          <a:xfrm>
            <a:off x="530352" y="3831336"/>
            <a:ext cx="804672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Gestión Agresiva del Cronograma</a:t>
            </a:r>
            <a:endParaRPr lang="en-US" sz="1300" dirty="0"/>
          </a:p>
        </p:txBody>
      </p:sp>
      <p:sp>
        <p:nvSpPr>
          <p:cNvPr id="26" name="Text 24"/>
          <p:cNvSpPr txBox="1"/>
          <p:nvPr/>
        </p:nvSpPr>
        <p:spPr>
          <a:xfrm>
            <a:off x="548640" y="4215384"/>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Ingeniería en 2 turnos con oficina satelital en Mumbai, India</a:t>
            </a:r>
            <a:endParaRPr lang="en-US" sz="1000" dirty="0"/>
          </a:p>
        </p:txBody>
      </p:sp>
      <p:sp>
        <p:nvSpPr>
          <p:cNvPr id="27" name="Text 25"/>
          <p:cNvSpPr txBox="1"/>
          <p:nvPr/>
        </p:nvSpPr>
        <p:spPr>
          <a:xfrm>
            <a:off x="548640" y="4407408"/>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Movilización temprana al campo al 30% de avance de ingeniería</a:t>
            </a:r>
            <a:endParaRPr lang="en-US" sz="1000" dirty="0"/>
          </a:p>
        </p:txBody>
      </p:sp>
      <p:sp>
        <p:nvSpPr>
          <p:cNvPr id="28" name="Text 26"/>
          <p:cNvSpPr txBox="1"/>
          <p:nvPr/>
        </p:nvSpPr>
        <p:spPr>
          <a:xfrm>
            <a:off x="548640" y="4599432"/>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Programación orientada al arranque (JSTD — Just-in-Time Startup Driven)</a:t>
            </a:r>
            <a:endParaRPr lang="en-US" sz="1000" dirty="0"/>
          </a:p>
        </p:txBody>
      </p:sp>
      <p:sp>
        <p:nvSpPr>
          <p:cNvPr id="29" name="Text 27"/>
          <p:cNvSpPr txBox="1"/>
          <p:nvPr/>
        </p:nvSpPr>
        <p:spPr>
          <a:xfrm>
            <a:off x="548640" y="4791456"/>
            <a:ext cx="8046720" cy="18288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Planificación interactiva para abordar retrasos en tiempo real</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CS-2: Planta de Aluminio Fjardaál — Islandia Oriental</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4160520" cy="4187952"/>
          </a:xfrm>
          <a:prstGeom prst="roundRect">
            <a:avLst>
              <a:gd name="adj" fmla="val 2637"/>
            </a:avLst>
          </a:prstGeom>
          <a:solidFill>
            <a:srgbClr val="2C2C2E"/>
          </a:solidFill>
          <a:ln w="12700">
            <a:solidFill>
              <a:srgbClr val="3A3A3C"/>
            </a:solidFill>
            <a:prstDash val="solid"/>
          </a:ln>
        </p:spPr>
      </p:sp>
      <p:sp>
        <p:nvSpPr>
          <p:cNvPr id="6" name="Text 4"/>
          <p:cNvSpPr txBox="1"/>
          <p:nvPr/>
        </p:nvSpPr>
        <p:spPr>
          <a:xfrm>
            <a:off x="530352" y="1024128"/>
            <a:ext cx="384048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DESCRIPCIÓN DEL PROYECTO</a:t>
            </a:r>
            <a:endParaRPr lang="en-US" sz="1200" dirty="0"/>
          </a:p>
        </p:txBody>
      </p:sp>
      <p:sp>
        <p:nvSpPr>
          <p:cNvPr id="7" name="Text 5"/>
          <p:cNvSpPr txBox="1"/>
          <p:nvPr/>
        </p:nvSpPr>
        <p:spPr>
          <a:xfrm>
            <a:off x="548640" y="1371600"/>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Primera planta de procesamiento de metales del propietario en 20 años</a:t>
            </a:r>
            <a:endParaRPr lang="en-US" sz="1000" dirty="0"/>
          </a:p>
        </p:txBody>
      </p:sp>
      <p:sp>
        <p:nvSpPr>
          <p:cNvPr id="8" name="Text 6"/>
          <p:cNvSpPr txBox="1"/>
          <p:nvPr/>
        </p:nvSpPr>
        <p:spPr>
          <a:xfrm>
            <a:off x="548640" y="1673352"/>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Capacidad: 320,000 toneladas/año + planta de 500 MW</a:t>
            </a:r>
            <a:endParaRPr lang="en-US" sz="1000" dirty="0"/>
          </a:p>
        </p:txBody>
      </p:sp>
      <p:sp>
        <p:nvSpPr>
          <p:cNvPr id="9" name="Text 7"/>
          <p:cNvSpPr txBox="1"/>
          <p:nvPr/>
        </p:nvSpPr>
        <p:spPr>
          <a:xfrm>
            <a:off x="548640" y="1975104"/>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Sitio remoto en el este de Islandia</a:t>
            </a:r>
            <a:endParaRPr lang="en-US" sz="1000" dirty="0"/>
          </a:p>
        </p:txBody>
      </p:sp>
      <p:sp>
        <p:nvSpPr>
          <p:cNvPr id="10" name="Text 8"/>
          <p:cNvSpPr txBox="1"/>
          <p:nvPr/>
        </p:nvSpPr>
        <p:spPr>
          <a:xfrm>
            <a:off x="548640" y="2276856"/>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Fuerza laboral local mínima (importar trabajadores)</a:t>
            </a:r>
            <a:endParaRPr lang="en-US" sz="1000" dirty="0"/>
          </a:p>
        </p:txBody>
      </p:sp>
      <p:sp>
        <p:nvSpPr>
          <p:cNvPr id="11" name="Text 9"/>
          <p:cNvSpPr txBox="1"/>
          <p:nvPr/>
        </p:nvSpPr>
        <p:spPr>
          <a:xfrm>
            <a:off x="548640" y="2578608"/>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Puerto de aguas profundas cercano (logística)</a:t>
            </a:r>
            <a:endParaRPr lang="en-US" sz="1000" dirty="0"/>
          </a:p>
        </p:txBody>
      </p:sp>
      <p:sp>
        <p:nvSpPr>
          <p:cNvPr id="12" name="Text 10"/>
          <p:cNvSpPr txBox="1"/>
          <p:nvPr/>
        </p:nvSpPr>
        <p:spPr>
          <a:xfrm>
            <a:off x="548640" y="2880360"/>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Alta prioridad de sostenibilidad ambiental</a:t>
            </a:r>
            <a:endParaRPr lang="en-US" sz="1000" dirty="0"/>
          </a:p>
        </p:txBody>
      </p:sp>
      <p:sp>
        <p:nvSpPr>
          <p:cNvPr id="13" name="Text 11"/>
          <p:cNvSpPr txBox="1"/>
          <p:nvPr/>
        </p:nvSpPr>
        <p:spPr>
          <a:xfrm>
            <a:off x="548640" y="3182112"/>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La planta comenzó operaciones en 2007</a:t>
            </a:r>
            <a:endParaRPr lang="en-US" sz="1000" dirty="0"/>
          </a:p>
        </p:txBody>
      </p:sp>
      <p:sp>
        <p:nvSpPr>
          <p:cNvPr id="14" name="Text 12"/>
          <p:cNvSpPr txBox="1"/>
          <p:nvPr/>
        </p:nvSpPr>
        <p:spPr>
          <a:xfrm>
            <a:off x="548640" y="3483864"/>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Fuerza laboral diversa: múltiples nacionalidades y culturas</a:t>
            </a:r>
            <a:endParaRPr lang="en-US" sz="1000" dirty="0"/>
          </a:p>
        </p:txBody>
      </p:sp>
      <p:sp>
        <p:nvSpPr>
          <p:cNvPr id="15" name="Text 13"/>
          <p:cNvSpPr txBox="1"/>
          <p:nvPr/>
        </p:nvSpPr>
        <p:spPr>
          <a:xfrm>
            <a:off x="548640" y="3785616"/>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Clima ártico: temperaturas extremas, vientos, nieve</a:t>
            </a:r>
            <a:endParaRPr lang="en-US" sz="1000" dirty="0"/>
          </a:p>
        </p:txBody>
      </p:sp>
      <p:sp>
        <p:nvSpPr>
          <p:cNvPr id="16" name="Text 14"/>
          <p:cNvSpPr txBox="1"/>
          <p:nvPr/>
        </p:nvSpPr>
        <p:spPr>
          <a:xfrm>
            <a:off x="548640" y="4087368"/>
            <a:ext cx="374904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Proyecto de escala masiva: miles de trabajadores en pico</a:t>
            </a:r>
            <a:endParaRPr lang="en-US" sz="1000" dirty="0"/>
          </a:p>
        </p:txBody>
      </p:sp>
      <p:sp>
        <p:nvSpPr>
          <p:cNvPr id="17" name="Shape 15"/>
          <p:cNvSpPr/>
          <p:nvPr/>
        </p:nvSpPr>
        <p:spPr>
          <a:xfrm>
            <a:off x="4663440" y="960120"/>
            <a:ext cx="4114800" cy="4187952"/>
          </a:xfrm>
          <a:prstGeom prst="roundRect">
            <a:avLst>
              <a:gd name="adj" fmla="val 2667"/>
            </a:avLst>
          </a:prstGeom>
          <a:solidFill>
            <a:srgbClr val="2C2C2E"/>
          </a:solidFill>
          <a:ln w="12700">
            <a:solidFill>
              <a:srgbClr val="3A3A3C"/>
            </a:solidFill>
            <a:prstDash val="solid"/>
          </a:ln>
        </p:spPr>
      </p:sp>
      <p:sp>
        <p:nvSpPr>
          <p:cNvPr id="18" name="Text 16"/>
          <p:cNvSpPr txBox="1"/>
          <p:nvPr/>
        </p:nvSpPr>
        <p:spPr>
          <a:xfrm>
            <a:off x="4828032" y="1024128"/>
            <a:ext cx="37490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OBJETIVOS DE CONSTRUCTABILIDAD</a:t>
            </a:r>
            <a:endParaRPr lang="en-US" sz="1200" dirty="0"/>
          </a:p>
        </p:txBody>
      </p:sp>
      <p:sp>
        <p:nvSpPr>
          <p:cNvPr id="19" name="Text 17"/>
          <p:cNvSpPr txBox="1"/>
          <p:nvPr/>
        </p:nvSpPr>
        <p:spPr>
          <a:xfrm>
            <a:off x="4828032" y="1371600"/>
            <a:ext cx="3749040" cy="32004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Mejorar la integración E-P-C desde la planificación inicial hasta la terminación mecánica</a:t>
            </a:r>
            <a:endParaRPr lang="en-US" sz="1000" dirty="0"/>
          </a:p>
        </p:txBody>
      </p:sp>
      <p:sp>
        <p:nvSpPr>
          <p:cNvPr id="20" name="Text 18"/>
          <p:cNvSpPr txBox="1"/>
          <p:nvPr/>
        </p:nvSpPr>
        <p:spPr>
          <a:xfrm>
            <a:off x="4828032" y="1719072"/>
            <a:ext cx="3749040" cy="32004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Desarrollar el camino óptimo de construcción considerando ruta crítica, equipos mayores, clima y mejor uso de recursos</a:t>
            </a:r>
            <a:endParaRPr lang="en-US" sz="1000" dirty="0"/>
          </a:p>
        </p:txBody>
      </p:sp>
      <p:sp>
        <p:nvSpPr>
          <p:cNvPr id="21" name="Text 19"/>
          <p:cNvSpPr txBox="1"/>
          <p:nvPr/>
        </p:nvSpPr>
        <p:spPr>
          <a:xfrm>
            <a:off x="4828032" y="2066544"/>
            <a:ext cx="3749040" cy="32004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Incorporar seguridad en el diseño considerando riesgos de construcción del smelter y condiciones únicas del sitio</a:t>
            </a:r>
            <a:endParaRPr lang="en-US" sz="1000" dirty="0"/>
          </a:p>
        </p:txBody>
      </p:sp>
      <p:sp>
        <p:nvSpPr>
          <p:cNvPr id="22" name="Text 20"/>
          <p:cNvSpPr txBox="1"/>
          <p:nvPr/>
        </p:nvSpPr>
        <p:spPr>
          <a:xfrm>
            <a:off x="4828032" y="2414016"/>
            <a:ext cx="3749040" cy="32004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Incorporar LLs, BPs y sugerencias del equipo Fjardaál</a:t>
            </a:r>
            <a:endParaRPr lang="en-US" sz="1000" dirty="0"/>
          </a:p>
        </p:txBody>
      </p:sp>
      <p:sp>
        <p:nvSpPr>
          <p:cNvPr id="23" name="Text 21"/>
          <p:cNvSpPr txBox="1"/>
          <p:nvPr/>
        </p:nvSpPr>
        <p:spPr>
          <a:xfrm>
            <a:off x="4828032" y="2761488"/>
            <a:ext cx="3749040" cy="32004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Reducir subproductos de construcción para minimizar residuos y establecer nuevo estándar de sostenibilidad</a:t>
            </a:r>
            <a:endParaRPr lang="en-US" sz="1000" dirty="0"/>
          </a:p>
        </p:txBody>
      </p:sp>
      <p:sp>
        <p:nvSpPr>
          <p:cNvPr id="24" name="Text 22"/>
          <p:cNvSpPr txBox="1"/>
          <p:nvPr/>
        </p:nvSpPr>
        <p:spPr>
          <a:xfrm>
            <a:off x="4828032" y="3108960"/>
            <a:ext cx="3749040" cy="32004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Reducir complejidad a través de planificación del frente de trabajo y logística efectiva</a:t>
            </a:r>
            <a:endParaRPr lang="en-US" sz="1000" dirty="0"/>
          </a:p>
        </p:txBody>
      </p:sp>
      <p:sp>
        <p:nvSpPr>
          <p:cNvPr id="25" name="Text 23"/>
          <p:cNvSpPr txBox="1"/>
          <p:nvPr/>
        </p:nvSpPr>
        <p:spPr>
          <a:xfrm>
            <a:off x="4828032" y="3456432"/>
            <a:ext cx="3749040" cy="32004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Optimizar indirectos de construcción mediante uso común de servicios, instalaciones y equipos</a:t>
            </a:r>
            <a:endParaRPr lang="en-US" sz="1000" dirty="0"/>
          </a:p>
        </p:txBody>
      </p:sp>
      <p:sp>
        <p:nvSpPr>
          <p:cNvPr id="26" name="Text 24"/>
          <p:cNvSpPr txBox="1"/>
          <p:nvPr/>
        </p:nvSpPr>
        <p:spPr>
          <a:xfrm>
            <a:off x="4828032" y="3803904"/>
            <a:ext cx="3749040" cy="32004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Construir trabajo en equipo y expectativas compartidas entre EPC</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CS-2: Temas Comunes de los Talleres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Los talleres EPC de Fjardaál produjeron 6 temas recurrentes que guiaron las decisiones de diseño:</a:t>
            </a:r>
            <a:endParaRPr lang="en-US" sz="1400" dirty="0"/>
          </a:p>
        </p:txBody>
      </p:sp>
      <p:sp>
        <p:nvSpPr>
          <p:cNvPr id="6" name="Shape 4"/>
          <p:cNvSpPr/>
          <p:nvPr/>
        </p:nvSpPr>
        <p:spPr>
          <a:xfrm>
            <a:off x="365760" y="1298448"/>
            <a:ext cx="4206240" cy="1143000"/>
          </a:xfrm>
          <a:prstGeom prst="roundRect">
            <a:avLst>
              <a:gd name="adj" fmla="val 8000"/>
            </a:avLst>
          </a:prstGeom>
          <a:solidFill>
            <a:srgbClr val="2C2C2E"/>
          </a:solidFill>
          <a:ln w="12700">
            <a:solidFill>
              <a:srgbClr val="30D158"/>
            </a:solidFill>
            <a:prstDash val="solid"/>
          </a:ln>
        </p:spPr>
      </p:sp>
      <p:sp>
        <p:nvSpPr>
          <p:cNvPr id="7" name="Shape 5"/>
          <p:cNvSpPr/>
          <p:nvPr/>
        </p:nvSpPr>
        <p:spPr>
          <a:xfrm>
            <a:off x="365760" y="1298448"/>
            <a:ext cx="73152" cy="1143000"/>
          </a:xfrm>
          <a:prstGeom prst="rect">
            <a:avLst/>
          </a:prstGeom>
          <a:solidFill>
            <a:srgbClr val="30D158"/>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Simplicidad y Estandarización</a:t>
            </a:r>
            <a:endParaRPr lang="en-US" sz="1300" dirty="0"/>
          </a:p>
        </p:txBody>
      </p:sp>
      <p:sp>
        <p:nvSpPr>
          <p:cNvPr id="9" name="Text 7"/>
          <p:cNvSpPr txBox="1"/>
          <p:nvPr/>
        </p:nvSpPr>
        <p:spPr>
          <a:xfrm>
            <a:off x="566928" y="1737360"/>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Las operaciones de trabajo repetibles mejoran la eficiencia. Menos ensambles en campo equivalen a menos horas-hombre. El sistema de construcción debe ser "simple de ejecutar".</a:t>
            </a:r>
            <a:endParaRPr lang="en-US" sz="1100" dirty="0"/>
          </a:p>
        </p:txBody>
      </p:sp>
      <p:sp>
        <p:nvSpPr>
          <p:cNvPr id="10" name="Shape 8"/>
          <p:cNvSpPr/>
          <p:nvPr/>
        </p:nvSpPr>
        <p:spPr>
          <a:xfrm>
            <a:off x="4754880" y="1298448"/>
            <a:ext cx="4206240" cy="1143000"/>
          </a:xfrm>
          <a:prstGeom prst="roundRect">
            <a:avLst>
              <a:gd name="adj" fmla="val 8000"/>
            </a:avLst>
          </a:prstGeom>
          <a:solidFill>
            <a:srgbClr val="2C2C2E"/>
          </a:solidFill>
          <a:ln w="12700">
            <a:solidFill>
              <a:srgbClr val="0A84FF"/>
            </a:solidFill>
            <a:prstDash val="solid"/>
          </a:ln>
        </p:spPr>
      </p:sp>
      <p:sp>
        <p:nvSpPr>
          <p:cNvPr id="11" name="Shape 9"/>
          <p:cNvSpPr/>
          <p:nvPr/>
        </p:nvSpPr>
        <p:spPr>
          <a:xfrm>
            <a:off x="4754880" y="1298448"/>
            <a:ext cx="73152" cy="1143000"/>
          </a:xfrm>
          <a:prstGeom prst="rect">
            <a:avLst/>
          </a:prstGeom>
          <a:solidFill>
            <a:srgbClr val="0A84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Trabajo en el Suelo</a:t>
            </a:r>
            <a:endParaRPr lang="en-US" sz="1300" dirty="0"/>
          </a:p>
        </p:txBody>
      </p:sp>
      <p:sp>
        <p:nvSpPr>
          <p:cNvPr id="13" name="Text 11"/>
          <p:cNvSpPr txBox="1"/>
          <p:nvPr/>
        </p:nvSpPr>
        <p:spPr>
          <a:xfrm>
            <a:off x="4956048" y="1737360"/>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Trabajar en tierra es más seguro, eficiente y económico. Diseñar para maximizar el trabajo pre-armado al nivel del suelo antes de izar.</a:t>
            </a:r>
            <a:endParaRPr lang="en-US" sz="1100" dirty="0"/>
          </a:p>
        </p:txBody>
      </p:sp>
      <p:sp>
        <p:nvSpPr>
          <p:cNvPr id="14" name="Shape 12"/>
          <p:cNvSpPr/>
          <p:nvPr/>
        </p:nvSpPr>
        <p:spPr>
          <a:xfrm>
            <a:off x="365760" y="2560320"/>
            <a:ext cx="4206240" cy="1143000"/>
          </a:xfrm>
          <a:prstGeom prst="roundRect">
            <a:avLst>
              <a:gd name="adj" fmla="val 8000"/>
            </a:avLst>
          </a:prstGeom>
          <a:solidFill>
            <a:srgbClr val="2C2C2E"/>
          </a:solidFill>
          <a:ln w="12700">
            <a:solidFill>
              <a:srgbClr val="FF9500"/>
            </a:solidFill>
            <a:prstDash val="solid"/>
          </a:ln>
        </p:spPr>
      </p:sp>
      <p:sp>
        <p:nvSpPr>
          <p:cNvPr id="15" name="Shape 13"/>
          <p:cNvSpPr/>
          <p:nvPr/>
        </p:nvSpPr>
        <p:spPr>
          <a:xfrm>
            <a:off x="365760" y="2560320"/>
            <a:ext cx="73152" cy="1143000"/>
          </a:xfrm>
          <a:prstGeom prst="rect">
            <a:avLst/>
          </a:prstGeom>
          <a:solidFill>
            <a:srgbClr val="FF9500"/>
          </a:solidFill>
          <a:ln/>
        </p:spPr>
      </p:sp>
      <p:sp>
        <p:nvSpPr>
          <p:cNvPr id="16" name="Text 14"/>
          <p:cNvSpPr txBox="1"/>
          <p:nvPr/>
        </p:nvSpPr>
        <p:spPr>
          <a:xfrm>
            <a:off x="566928" y="263347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Construir Fuera del Sitio</a:t>
            </a:r>
            <a:endParaRPr lang="en-US" sz="1300" dirty="0"/>
          </a:p>
        </p:txBody>
      </p:sp>
      <p:sp>
        <p:nvSpPr>
          <p:cNvPr id="17" name="Text 15"/>
          <p:cNvSpPr txBox="1"/>
          <p:nvPr/>
        </p:nvSpPr>
        <p:spPr>
          <a:xfrm>
            <a:off x="566928" y="2999232"/>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Los costos de mano de obra en Islandia son altos. Las condiciones de campo son adversas. La fabricación controlada en taller es preferible cuando es posible.</a:t>
            </a:r>
            <a:endParaRPr lang="en-US" sz="1100" dirty="0"/>
          </a:p>
        </p:txBody>
      </p:sp>
      <p:sp>
        <p:nvSpPr>
          <p:cNvPr id="18" name="Shape 16"/>
          <p:cNvSpPr/>
          <p:nvPr/>
        </p:nvSpPr>
        <p:spPr>
          <a:xfrm>
            <a:off x="4754880" y="2560320"/>
            <a:ext cx="4206240" cy="1143000"/>
          </a:xfrm>
          <a:prstGeom prst="roundRect">
            <a:avLst>
              <a:gd name="adj" fmla="val 8000"/>
            </a:avLst>
          </a:prstGeom>
          <a:solidFill>
            <a:srgbClr val="2C2C2E"/>
          </a:solidFill>
          <a:ln w="12700">
            <a:solidFill>
              <a:srgbClr val="AF52DE"/>
            </a:solidFill>
            <a:prstDash val="solid"/>
          </a:ln>
        </p:spPr>
      </p:sp>
      <p:sp>
        <p:nvSpPr>
          <p:cNvPr id="19" name="Shape 17"/>
          <p:cNvSpPr/>
          <p:nvPr/>
        </p:nvSpPr>
        <p:spPr>
          <a:xfrm>
            <a:off x="4754880" y="2560320"/>
            <a:ext cx="73152" cy="1143000"/>
          </a:xfrm>
          <a:prstGeom prst="rect">
            <a:avLst/>
          </a:prstGeom>
          <a:solidFill>
            <a:srgbClr val="AF52DE"/>
          </a:solidFill>
          <a:ln/>
        </p:spPr>
      </p:sp>
      <p:sp>
        <p:nvSpPr>
          <p:cNvPr id="20" name="Text 18"/>
          <p:cNvSpPr txBox="1"/>
          <p:nvPr/>
        </p:nvSpPr>
        <p:spPr>
          <a:xfrm>
            <a:off x="4956048" y="2633472"/>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Permanente para Construcción</a:t>
            </a:r>
            <a:endParaRPr lang="en-US" sz="1300" dirty="0"/>
          </a:p>
        </p:txBody>
      </p:sp>
      <p:sp>
        <p:nvSpPr>
          <p:cNvPr id="21" name="Text 19"/>
          <p:cNvSpPr txBox="1"/>
          <p:nvPr/>
        </p:nvSpPr>
        <p:spPr>
          <a:xfrm>
            <a:off x="4956048" y="2999232"/>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Utilizar instalaciones permanentes para las necesidades de la construcción previene duplicaciones y disrupciones. Ejemplos: energía, agua, drenaje.</a:t>
            </a:r>
            <a:endParaRPr lang="en-US" sz="1100" dirty="0"/>
          </a:p>
        </p:txBody>
      </p:sp>
      <p:sp>
        <p:nvSpPr>
          <p:cNvPr id="22" name="Shape 20"/>
          <p:cNvSpPr/>
          <p:nvPr/>
        </p:nvSpPr>
        <p:spPr>
          <a:xfrm>
            <a:off x="365760" y="3822192"/>
            <a:ext cx="4206240" cy="1143000"/>
          </a:xfrm>
          <a:prstGeom prst="roundRect">
            <a:avLst>
              <a:gd name="adj" fmla="val 8000"/>
            </a:avLst>
          </a:prstGeom>
          <a:solidFill>
            <a:srgbClr val="2C2C2E"/>
          </a:solidFill>
          <a:ln w="12700">
            <a:solidFill>
              <a:srgbClr val="FFD60A"/>
            </a:solidFill>
            <a:prstDash val="solid"/>
          </a:ln>
        </p:spPr>
      </p:sp>
      <p:sp>
        <p:nvSpPr>
          <p:cNvPr id="23" name="Shape 21"/>
          <p:cNvSpPr/>
          <p:nvPr/>
        </p:nvSpPr>
        <p:spPr>
          <a:xfrm>
            <a:off x="365760" y="3822192"/>
            <a:ext cx="73152" cy="1143000"/>
          </a:xfrm>
          <a:prstGeom prst="rect">
            <a:avLst/>
          </a:prstGeom>
          <a:solidFill>
            <a:srgbClr val="FFD60A"/>
          </a:solidFill>
          <a:ln/>
        </p:spPr>
      </p:sp>
      <p:sp>
        <p:nvSpPr>
          <p:cNvPr id="24" name="Text 22"/>
          <p:cNvSpPr txBox="1"/>
          <p:nvPr/>
        </p:nvSpPr>
        <p:spPr>
          <a:xfrm>
            <a:off x="566928" y="389534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Secuenciamiento de Construcción</a:t>
            </a:r>
            <a:endParaRPr lang="en-US" sz="1300" dirty="0"/>
          </a:p>
        </p:txBody>
      </p:sp>
      <p:sp>
        <p:nvSpPr>
          <p:cNvPr id="25" name="Text 23"/>
          <p:cNvSpPr txBox="1"/>
          <p:nvPr/>
        </p:nvSpPr>
        <p:spPr>
          <a:xfrm>
            <a:off x="566928" y="4261104"/>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Alinear la continuidad de construcción con las influencias estacionales y la disponibilidad de mano de obra maximiza la productividad.</a:t>
            </a:r>
            <a:endParaRPr lang="en-US" sz="1100" dirty="0"/>
          </a:p>
        </p:txBody>
      </p:sp>
      <p:sp>
        <p:nvSpPr>
          <p:cNvPr id="26" name="Shape 24"/>
          <p:cNvSpPr/>
          <p:nvPr/>
        </p:nvSpPr>
        <p:spPr>
          <a:xfrm>
            <a:off x="4754880" y="3822192"/>
            <a:ext cx="4206240" cy="1143000"/>
          </a:xfrm>
          <a:prstGeom prst="roundRect">
            <a:avLst>
              <a:gd name="adj" fmla="val 8000"/>
            </a:avLst>
          </a:prstGeom>
          <a:solidFill>
            <a:srgbClr val="2C2C2E"/>
          </a:solidFill>
          <a:ln w="12700">
            <a:solidFill>
              <a:srgbClr val="FF453A"/>
            </a:solidFill>
            <a:prstDash val="solid"/>
          </a:ln>
        </p:spPr>
      </p:sp>
      <p:sp>
        <p:nvSpPr>
          <p:cNvPr id="27" name="Shape 25"/>
          <p:cNvSpPr/>
          <p:nvPr/>
        </p:nvSpPr>
        <p:spPr>
          <a:xfrm>
            <a:off x="4754880" y="3822192"/>
            <a:ext cx="73152" cy="1143000"/>
          </a:xfrm>
          <a:prstGeom prst="rect">
            <a:avLst/>
          </a:prstGeom>
          <a:solidFill>
            <a:srgbClr val="FF453A"/>
          </a:solidFill>
          <a:ln/>
        </p:spPr>
      </p:sp>
      <p:sp>
        <p:nvSpPr>
          <p:cNvPr id="28" name="Text 26"/>
          <p:cNvSpPr txBox="1"/>
          <p:nvPr/>
        </p:nvSpPr>
        <p:spPr>
          <a:xfrm>
            <a:off x="4956048" y="3895344"/>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Gestión de Materiales</a:t>
            </a:r>
            <a:endParaRPr lang="en-US" sz="1300" dirty="0"/>
          </a:p>
        </p:txBody>
      </p:sp>
      <p:sp>
        <p:nvSpPr>
          <p:cNvPr id="29" name="Text 27"/>
          <p:cNvSpPr txBox="1"/>
          <p:nvPr/>
        </p:nvSpPr>
        <p:spPr>
          <a:xfrm>
            <a:off x="4956048" y="4261104"/>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control eficiente de materiales es crítico para el éxito, especialmente en sitios remotos. Sistema robusto de logística y almacenamiento.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CS-2: Las 12 Iniciativas de Valor Más Importantes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Identificadas y priorizadas durante los talleres de constructabilidad del proyecto Fjardaál:</a:t>
            </a:r>
            <a:endParaRPr lang="en-US" sz="1400" dirty="0"/>
          </a:p>
        </p:txBody>
      </p:sp>
      <p:sp>
        <p:nvSpPr>
          <p:cNvPr id="6" name="Shape 4"/>
          <p:cNvSpPr/>
          <p:nvPr/>
        </p:nvSpPr>
        <p:spPr>
          <a:xfrm>
            <a:off x="365760" y="1298448"/>
            <a:ext cx="4206240" cy="548640"/>
          </a:xfrm>
          <a:prstGeom prst="roundRect">
            <a:avLst>
              <a:gd name="adj" fmla="val 13333"/>
            </a:avLst>
          </a:prstGeom>
          <a:solidFill>
            <a:srgbClr val="2C2C2E"/>
          </a:solidFill>
          <a:ln w="12700">
            <a:solidFill>
              <a:srgbClr val="3A3A3C"/>
            </a:solidFill>
            <a:prstDash val="solid"/>
          </a:ln>
        </p:spPr>
      </p:sp>
      <p:sp>
        <p:nvSpPr>
          <p:cNvPr id="7" name="Text 5"/>
          <p:cNvSpPr txBox="1"/>
          <p:nvPr/>
        </p:nvSpPr>
        <p:spPr>
          <a:xfrm>
            <a:off x="53035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 Permanente para Construcción</a:t>
            </a:r>
            <a:endParaRPr lang="en-US" sz="1100" dirty="0"/>
          </a:p>
        </p:txBody>
      </p:sp>
      <p:sp>
        <p:nvSpPr>
          <p:cNvPr id="8" name="Text 6"/>
          <p:cNvSpPr txBox="1"/>
          <p:nvPr/>
        </p:nvSpPr>
        <p:spPr>
          <a:xfrm>
            <a:off x="530352" y="1572768"/>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Task Force específica para reducir costos indirectos usando instalaciones permanentes para la construcción.</a:t>
            </a:r>
            <a:endParaRPr lang="en-US" sz="950" dirty="0"/>
          </a:p>
        </p:txBody>
      </p:sp>
      <p:sp>
        <p:nvSpPr>
          <p:cNvPr id="9" name="Shape 7"/>
          <p:cNvSpPr/>
          <p:nvPr/>
        </p:nvSpPr>
        <p:spPr>
          <a:xfrm>
            <a:off x="4754880" y="1298448"/>
            <a:ext cx="4206240" cy="548640"/>
          </a:xfrm>
          <a:prstGeom prst="roundRect">
            <a:avLst>
              <a:gd name="adj" fmla="val 13333"/>
            </a:avLst>
          </a:prstGeom>
          <a:solidFill>
            <a:srgbClr val="2C2C2E"/>
          </a:solidFill>
          <a:ln w="12700">
            <a:solidFill>
              <a:srgbClr val="3A3A3C"/>
            </a:solidFill>
            <a:prstDash val="solid"/>
          </a:ln>
        </p:spPr>
      </p:sp>
      <p:sp>
        <p:nvSpPr>
          <p:cNvPr id="10" name="Text 8"/>
          <p:cNvSpPr txBox="1"/>
          <p:nvPr/>
        </p:nvSpPr>
        <p:spPr>
          <a:xfrm>
            <a:off x="491947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2. Instalación de Servicios Paralela</a:t>
            </a:r>
            <a:endParaRPr lang="en-US" sz="1100" dirty="0"/>
          </a:p>
        </p:txBody>
      </p:sp>
      <p:sp>
        <p:nvSpPr>
          <p:cNvPr id="11" name="Text 9"/>
          <p:cNvSpPr txBox="1"/>
          <p:nvPr/>
        </p:nvSpPr>
        <p:spPr>
          <a:xfrm>
            <a:off x="4919472" y="1572768"/>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Proceso óptimo para instalar servicios en paralelo con los movimientos de tierra.</a:t>
            </a:r>
            <a:endParaRPr lang="en-US" sz="950" dirty="0"/>
          </a:p>
        </p:txBody>
      </p:sp>
      <p:sp>
        <p:nvSpPr>
          <p:cNvPr id="12" name="Shape 10"/>
          <p:cNvSpPr/>
          <p:nvPr/>
        </p:nvSpPr>
        <p:spPr>
          <a:xfrm>
            <a:off x="365760" y="1920240"/>
            <a:ext cx="4206240" cy="548640"/>
          </a:xfrm>
          <a:prstGeom prst="roundRect">
            <a:avLst>
              <a:gd name="adj" fmla="val 13333"/>
            </a:avLst>
          </a:prstGeom>
          <a:solidFill>
            <a:srgbClr val="2C2C2E"/>
          </a:solidFill>
          <a:ln w="12700">
            <a:solidFill>
              <a:srgbClr val="3A3A3C"/>
            </a:solidFill>
            <a:prstDash val="solid"/>
          </a:ln>
        </p:spPr>
      </p:sp>
      <p:sp>
        <p:nvSpPr>
          <p:cNvPr id="13" name="Text 11"/>
          <p:cNvSpPr txBox="1"/>
          <p:nvPr/>
        </p:nvSpPr>
        <p:spPr>
          <a:xfrm>
            <a:off x="53035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3. Revestimiento de Cubas (Pot Lining)</a:t>
            </a:r>
            <a:endParaRPr lang="en-US" sz="1100" dirty="0"/>
          </a:p>
        </p:txBody>
      </p:sp>
      <p:sp>
        <p:nvSpPr>
          <p:cNvPr id="14" name="Text 12"/>
          <p:cNvSpPr txBox="1"/>
          <p:nvPr/>
        </p:nvSpPr>
        <p:spPr>
          <a:xfrm>
            <a:off x="530352" y="2194560"/>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Detallar un proceso de trabajo altamente repetitivo para mejoras de tiempo de ciclo.</a:t>
            </a:r>
            <a:endParaRPr lang="en-US" sz="950" dirty="0"/>
          </a:p>
        </p:txBody>
      </p:sp>
      <p:sp>
        <p:nvSpPr>
          <p:cNvPr id="15" name="Shape 13"/>
          <p:cNvSpPr/>
          <p:nvPr/>
        </p:nvSpPr>
        <p:spPr>
          <a:xfrm>
            <a:off x="4754880" y="1920240"/>
            <a:ext cx="4206240" cy="548640"/>
          </a:xfrm>
          <a:prstGeom prst="roundRect">
            <a:avLst>
              <a:gd name="adj" fmla="val 13333"/>
            </a:avLst>
          </a:prstGeom>
          <a:solidFill>
            <a:srgbClr val="2C2C2E"/>
          </a:solidFill>
          <a:ln w="12700">
            <a:solidFill>
              <a:srgbClr val="3A3A3C"/>
            </a:solidFill>
            <a:prstDash val="solid"/>
          </a:ln>
        </p:spPr>
      </p:sp>
      <p:sp>
        <p:nvSpPr>
          <p:cNvPr id="16" name="Text 14"/>
          <p:cNvSpPr txBox="1"/>
          <p:nvPr/>
        </p:nvSpPr>
        <p:spPr>
          <a:xfrm>
            <a:off x="491947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4. Integración de Pre-ensamble</a:t>
            </a:r>
            <a:endParaRPr lang="en-US" sz="1100" dirty="0"/>
          </a:p>
        </p:txBody>
      </p:sp>
      <p:sp>
        <p:nvSpPr>
          <p:cNvPr id="17" name="Text 15"/>
          <p:cNvSpPr txBox="1"/>
          <p:nvPr/>
        </p:nvSpPr>
        <p:spPr>
          <a:xfrm>
            <a:off x="4919472" y="2194560"/>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Diseñar para pre-ensamble en lugar de añadir una capa sobre prácticas estándar.</a:t>
            </a:r>
            <a:endParaRPr lang="en-US" sz="950" dirty="0"/>
          </a:p>
        </p:txBody>
      </p:sp>
      <p:sp>
        <p:nvSpPr>
          <p:cNvPr id="18" name="Shape 16"/>
          <p:cNvSpPr/>
          <p:nvPr/>
        </p:nvSpPr>
        <p:spPr>
          <a:xfrm>
            <a:off x="365760" y="2542032"/>
            <a:ext cx="4206240" cy="548640"/>
          </a:xfrm>
          <a:prstGeom prst="roundRect">
            <a:avLst>
              <a:gd name="adj" fmla="val 13333"/>
            </a:avLst>
          </a:prstGeom>
          <a:solidFill>
            <a:srgbClr val="2C2C2E"/>
          </a:solidFill>
          <a:ln w="12700">
            <a:solidFill>
              <a:srgbClr val="3A3A3C"/>
            </a:solidFill>
            <a:prstDash val="solid"/>
          </a:ln>
        </p:spPr>
      </p:sp>
      <p:sp>
        <p:nvSpPr>
          <p:cNvPr id="19" name="Text 17"/>
          <p:cNvSpPr txBox="1"/>
          <p:nvPr/>
        </p:nvSpPr>
        <p:spPr>
          <a:xfrm>
            <a:off x="53035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5. Transportador de Poder y Libre</a:t>
            </a:r>
            <a:endParaRPr lang="en-US" sz="1100" dirty="0"/>
          </a:p>
        </p:txBody>
      </p:sp>
      <p:sp>
        <p:nvSpPr>
          <p:cNvPr id="20" name="Text 18"/>
          <p:cNvSpPr txBox="1"/>
          <p:nvPr/>
        </p:nvSpPr>
        <p:spPr>
          <a:xfrm>
            <a:off x="530352" y="2816352"/>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Optimizar la instalación de un complejo sistema de conveyance de materiales.</a:t>
            </a:r>
            <a:endParaRPr lang="en-US" sz="950" dirty="0"/>
          </a:p>
        </p:txBody>
      </p:sp>
      <p:sp>
        <p:nvSpPr>
          <p:cNvPr id="21" name="Shape 19"/>
          <p:cNvSpPr/>
          <p:nvPr/>
        </p:nvSpPr>
        <p:spPr>
          <a:xfrm>
            <a:off x="4754880" y="2542032"/>
            <a:ext cx="4206240" cy="548640"/>
          </a:xfrm>
          <a:prstGeom prst="roundRect">
            <a:avLst>
              <a:gd name="adj" fmla="val 13333"/>
            </a:avLst>
          </a:prstGeom>
          <a:solidFill>
            <a:srgbClr val="2C2C2E"/>
          </a:solidFill>
          <a:ln w="12700">
            <a:solidFill>
              <a:srgbClr val="3A3A3C"/>
            </a:solidFill>
            <a:prstDash val="solid"/>
          </a:ln>
        </p:spPr>
      </p:sp>
      <p:sp>
        <p:nvSpPr>
          <p:cNvPr id="22" name="Text 20"/>
          <p:cNvSpPr txBox="1"/>
          <p:nvPr/>
        </p:nvSpPr>
        <p:spPr>
          <a:xfrm>
            <a:off x="491947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6. Guía de Constructabilidad</a:t>
            </a:r>
            <a:endParaRPr lang="en-US" sz="1100" dirty="0"/>
          </a:p>
        </p:txBody>
      </p:sp>
      <p:sp>
        <p:nvSpPr>
          <p:cNvPr id="23" name="Text 21"/>
          <p:cNvSpPr txBox="1"/>
          <p:nvPr/>
        </p:nvSpPr>
        <p:spPr>
          <a:xfrm>
            <a:off x="4919472" y="2816352"/>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Instrucciones sobre cómo incorporar valor sin interrumpir la producción.</a:t>
            </a:r>
            <a:endParaRPr lang="en-US" sz="950" dirty="0"/>
          </a:p>
        </p:txBody>
      </p:sp>
      <p:sp>
        <p:nvSpPr>
          <p:cNvPr id="24" name="Shape 22"/>
          <p:cNvSpPr/>
          <p:nvPr/>
        </p:nvSpPr>
        <p:spPr>
          <a:xfrm>
            <a:off x="365760" y="3163824"/>
            <a:ext cx="4206240" cy="548640"/>
          </a:xfrm>
          <a:prstGeom prst="roundRect">
            <a:avLst>
              <a:gd name="adj" fmla="val 13333"/>
            </a:avLst>
          </a:prstGeom>
          <a:solidFill>
            <a:srgbClr val="2C2C2E"/>
          </a:solidFill>
          <a:ln w="12700">
            <a:solidFill>
              <a:srgbClr val="3A3A3C"/>
            </a:solidFill>
            <a:prstDash val="solid"/>
          </a:ln>
        </p:spPr>
      </p:sp>
      <p:sp>
        <p:nvSpPr>
          <p:cNvPr id="25" name="Text 23"/>
          <p:cNvSpPr txBox="1"/>
          <p:nvPr/>
        </p:nvSpPr>
        <p:spPr>
          <a:xfrm>
            <a:off x="53035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7. Instalación de Recubrimientos</a:t>
            </a:r>
            <a:endParaRPr lang="en-US" sz="1100" dirty="0"/>
          </a:p>
        </p:txBody>
      </p:sp>
      <p:sp>
        <p:nvSpPr>
          <p:cNvPr id="26" name="Text 24"/>
          <p:cNvSpPr txBox="1"/>
          <p:nvPr/>
        </p:nvSpPr>
        <p:spPr>
          <a:xfrm>
            <a:off x="530352" y="3438144"/>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Selección de sistemas de roofing y siding que minimizan trabajo en altura.</a:t>
            </a:r>
            <a:endParaRPr lang="en-US" sz="950" dirty="0"/>
          </a:p>
        </p:txBody>
      </p:sp>
      <p:sp>
        <p:nvSpPr>
          <p:cNvPr id="27" name="Shape 25"/>
          <p:cNvSpPr/>
          <p:nvPr/>
        </p:nvSpPr>
        <p:spPr>
          <a:xfrm>
            <a:off x="4754880" y="3163824"/>
            <a:ext cx="4206240" cy="548640"/>
          </a:xfrm>
          <a:prstGeom prst="roundRect">
            <a:avLst>
              <a:gd name="adj" fmla="val 13333"/>
            </a:avLst>
          </a:prstGeom>
          <a:solidFill>
            <a:srgbClr val="2C2C2E"/>
          </a:solidFill>
          <a:ln w="12700">
            <a:solidFill>
              <a:srgbClr val="3A3A3C"/>
            </a:solidFill>
            <a:prstDash val="solid"/>
          </a:ln>
        </p:spPr>
      </p:sp>
      <p:sp>
        <p:nvSpPr>
          <p:cNvPr id="28" name="Text 26"/>
          <p:cNvSpPr txBox="1"/>
          <p:nvPr/>
        </p:nvSpPr>
        <p:spPr>
          <a:xfrm>
            <a:off x="491947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8. Proceso de Trabajo en Concreto</a:t>
            </a:r>
            <a:endParaRPr lang="en-US" sz="1100" dirty="0"/>
          </a:p>
        </p:txBody>
      </p:sp>
      <p:sp>
        <p:nvSpPr>
          <p:cNvPr id="29" name="Text 27"/>
          <p:cNvSpPr txBox="1"/>
          <p:nvPr/>
        </p:nvSpPr>
        <p:spPr>
          <a:xfrm>
            <a:off x="4919472" y="3438144"/>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Nueva visión del colado de concreto para maximizar eficiencia laboral.</a:t>
            </a:r>
            <a:endParaRPr lang="en-US" sz="950" dirty="0"/>
          </a:p>
        </p:txBody>
      </p:sp>
      <p:sp>
        <p:nvSpPr>
          <p:cNvPr id="30" name="Shape 28"/>
          <p:cNvSpPr/>
          <p:nvPr/>
        </p:nvSpPr>
        <p:spPr>
          <a:xfrm>
            <a:off x="365760" y="3785616"/>
            <a:ext cx="4206240" cy="548640"/>
          </a:xfrm>
          <a:prstGeom prst="roundRect">
            <a:avLst>
              <a:gd name="adj" fmla="val 13333"/>
            </a:avLst>
          </a:prstGeom>
          <a:solidFill>
            <a:srgbClr val="2C2C2E"/>
          </a:solidFill>
          <a:ln w="12700">
            <a:solidFill>
              <a:srgbClr val="3A3A3C"/>
            </a:solidFill>
            <a:prstDash val="solid"/>
          </a:ln>
        </p:spPr>
      </p:sp>
      <p:sp>
        <p:nvSpPr>
          <p:cNvPr id="31" name="Text 29"/>
          <p:cNvSpPr txBox="1"/>
          <p:nvPr/>
        </p:nvSpPr>
        <p:spPr>
          <a:xfrm>
            <a:off x="53035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9. Especificación de Recubrimientos</a:t>
            </a:r>
            <a:endParaRPr lang="en-US" sz="1100" dirty="0"/>
          </a:p>
        </p:txBody>
      </p:sp>
      <p:sp>
        <p:nvSpPr>
          <p:cNvPr id="32" name="Text 30"/>
          <p:cNvSpPr txBox="1"/>
          <p:nvPr/>
        </p:nvSpPr>
        <p:spPr>
          <a:xfrm>
            <a:off x="530352" y="4059936"/>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Seleccionar productos que minimicen mano de obra en sitio.</a:t>
            </a:r>
            <a:endParaRPr lang="en-US" sz="950" dirty="0"/>
          </a:p>
        </p:txBody>
      </p:sp>
      <p:sp>
        <p:nvSpPr>
          <p:cNvPr id="33" name="Shape 31"/>
          <p:cNvSpPr/>
          <p:nvPr/>
        </p:nvSpPr>
        <p:spPr>
          <a:xfrm>
            <a:off x="4754880" y="3785616"/>
            <a:ext cx="4206240" cy="548640"/>
          </a:xfrm>
          <a:prstGeom prst="roundRect">
            <a:avLst>
              <a:gd name="adj" fmla="val 13333"/>
            </a:avLst>
          </a:prstGeom>
          <a:solidFill>
            <a:srgbClr val="2C2C2E"/>
          </a:solidFill>
          <a:ln w="12700">
            <a:solidFill>
              <a:srgbClr val="3A3A3C"/>
            </a:solidFill>
            <a:prstDash val="solid"/>
          </a:ln>
        </p:spPr>
      </p:sp>
      <p:sp>
        <p:nvSpPr>
          <p:cNvPr id="34" name="Text 32"/>
          <p:cNvSpPr txBox="1"/>
          <p:nvPr/>
        </p:nvSpPr>
        <p:spPr>
          <a:xfrm>
            <a:off x="491947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10. Paquetes Hidráulicos</a:t>
            </a:r>
            <a:endParaRPr lang="en-US" sz="1100" dirty="0"/>
          </a:p>
        </p:txBody>
      </p:sp>
      <p:sp>
        <p:nvSpPr>
          <p:cNvPr id="35" name="Text 33"/>
          <p:cNvSpPr txBox="1"/>
          <p:nvPr/>
        </p:nvSpPr>
        <p:spPr>
          <a:xfrm>
            <a:off x="4919472" y="4059936"/>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Estandarizar el diseño de unidades de potencia hidráulica y tuberías relacionadas.</a:t>
            </a:r>
            <a:endParaRPr lang="en-US" sz="950" dirty="0"/>
          </a:p>
        </p:txBody>
      </p:sp>
      <p:sp>
        <p:nvSpPr>
          <p:cNvPr id="36" name="Shape 34"/>
          <p:cNvSpPr/>
          <p:nvPr/>
        </p:nvSpPr>
        <p:spPr>
          <a:xfrm>
            <a:off x="365760" y="4407408"/>
            <a:ext cx="4206240" cy="548640"/>
          </a:xfrm>
          <a:prstGeom prst="roundRect">
            <a:avLst>
              <a:gd name="adj" fmla="val 13333"/>
            </a:avLst>
          </a:prstGeom>
          <a:solidFill>
            <a:srgbClr val="2C2C2E"/>
          </a:solidFill>
          <a:ln w="12700">
            <a:solidFill>
              <a:srgbClr val="3A3A3C"/>
            </a:solidFill>
            <a:prstDash val="solid"/>
          </a:ln>
        </p:spPr>
      </p:sp>
      <p:sp>
        <p:nvSpPr>
          <p:cNvPr id="37" name="Text 35"/>
          <p:cNvSpPr txBox="1"/>
          <p:nvPr/>
        </p:nvSpPr>
        <p:spPr>
          <a:xfrm>
            <a:off x="53035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11. Estandarización de Ductos</a:t>
            </a:r>
            <a:endParaRPr lang="en-US" sz="1100" dirty="0"/>
          </a:p>
        </p:txBody>
      </p:sp>
      <p:sp>
        <p:nvSpPr>
          <p:cNvPr id="38" name="Text 36"/>
          <p:cNvSpPr txBox="1"/>
          <p:nvPr/>
        </p:nvSpPr>
        <p:spPr>
          <a:xfrm>
            <a:off x="530352" y="4681728"/>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Reducir costo de instalación a través de la repetición.</a:t>
            </a:r>
            <a:endParaRPr lang="en-US" sz="950" dirty="0"/>
          </a:p>
        </p:txBody>
      </p:sp>
      <p:sp>
        <p:nvSpPr>
          <p:cNvPr id="39" name="Shape 37"/>
          <p:cNvSpPr/>
          <p:nvPr/>
        </p:nvSpPr>
        <p:spPr>
          <a:xfrm>
            <a:off x="4754880" y="4407408"/>
            <a:ext cx="4206240" cy="548640"/>
          </a:xfrm>
          <a:prstGeom prst="roundRect">
            <a:avLst>
              <a:gd name="adj" fmla="val 13333"/>
            </a:avLst>
          </a:prstGeom>
          <a:solidFill>
            <a:srgbClr val="2C2C2E"/>
          </a:solidFill>
          <a:ln w="12700">
            <a:solidFill>
              <a:srgbClr val="3A3A3C"/>
            </a:solidFill>
            <a:prstDash val="solid"/>
          </a:ln>
        </p:spPr>
      </p:sp>
      <p:sp>
        <p:nvSpPr>
          <p:cNvPr id="40" name="Text 38"/>
          <p:cNvSpPr txBox="1"/>
          <p:nvPr/>
        </p:nvSpPr>
        <p:spPr>
          <a:xfrm>
            <a:off x="491947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12. Constructabilidad en Requisiciones</a:t>
            </a:r>
            <a:endParaRPr lang="en-US" sz="1100" dirty="0"/>
          </a:p>
        </p:txBody>
      </p:sp>
      <p:sp>
        <p:nvSpPr>
          <p:cNvPr id="41" name="Text 39"/>
          <p:cNvSpPr txBox="1"/>
          <p:nvPr/>
        </p:nvSpPr>
        <p:spPr>
          <a:xfrm>
            <a:off x="4919472" y="4681728"/>
            <a:ext cx="3840480" cy="219456"/>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Incorporar expectativas de constructabilidad en el proceso de compras.</a:t>
            </a:r>
            <a:endParaRPr lang="en-US" sz="95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CS-2: Resultados del Programa de Constructabilidad Fjardaál</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Los resultados del programa de constructabilidad del proyecto Fjardaál fueron excepcionales:</a:t>
            </a:r>
            <a:endParaRPr lang="en-US" sz="1400" dirty="0"/>
          </a:p>
        </p:txBody>
      </p:sp>
      <p:sp>
        <p:nvSpPr>
          <p:cNvPr id="6" name="Shape 4"/>
          <p:cNvSpPr/>
          <p:nvPr/>
        </p:nvSpPr>
        <p:spPr>
          <a:xfrm>
            <a:off x="365760" y="1298448"/>
            <a:ext cx="1965960" cy="1737360"/>
          </a:xfrm>
          <a:prstGeom prst="roundRect">
            <a:avLst>
              <a:gd name="adj" fmla="val 6316"/>
            </a:avLst>
          </a:prstGeom>
          <a:solidFill>
            <a:srgbClr val="2C2C2E"/>
          </a:solidFill>
          <a:ln w="25400">
            <a:solidFill>
              <a:srgbClr val="30D158"/>
            </a:solidFill>
            <a:prstDash val="solid"/>
          </a:ln>
        </p:spPr>
      </p:sp>
      <p:sp>
        <p:nvSpPr>
          <p:cNvPr id="7" name="Text 5"/>
          <p:cNvSpPr txBox="1"/>
          <p:nvPr/>
        </p:nvSpPr>
        <p:spPr>
          <a:xfrm>
            <a:off x="365760" y="1463040"/>
            <a:ext cx="1965960" cy="955548"/>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~10%</a:t>
            </a:r>
            <a:endParaRPr lang="en-US" sz="4800" dirty="0"/>
          </a:p>
        </p:txBody>
      </p:sp>
      <p:sp>
        <p:nvSpPr>
          <p:cNvPr id="8" name="Text 6"/>
          <p:cNvSpPr txBox="1"/>
          <p:nvPr/>
        </p:nvSpPr>
        <p:spPr>
          <a:xfrm>
            <a:off x="457200" y="2427732"/>
            <a:ext cx="1783080" cy="555955"/>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Reducción en costos</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directos de campo</a:t>
            </a:r>
            <a:endParaRPr lang="en-US" sz="1200" dirty="0"/>
          </a:p>
        </p:txBody>
      </p:sp>
      <p:sp>
        <p:nvSpPr>
          <p:cNvPr id="9" name="Shape 7"/>
          <p:cNvSpPr/>
          <p:nvPr/>
        </p:nvSpPr>
        <p:spPr>
          <a:xfrm>
            <a:off x="2468880" y="1298448"/>
            <a:ext cx="1965960" cy="1737360"/>
          </a:xfrm>
          <a:prstGeom prst="roundRect">
            <a:avLst>
              <a:gd name="adj" fmla="val 6316"/>
            </a:avLst>
          </a:prstGeom>
          <a:solidFill>
            <a:srgbClr val="2C2C2E"/>
          </a:solidFill>
          <a:ln w="25400">
            <a:solidFill>
              <a:srgbClr val="FF9500"/>
            </a:solidFill>
            <a:prstDash val="solid"/>
          </a:ln>
        </p:spPr>
      </p:sp>
      <p:sp>
        <p:nvSpPr>
          <p:cNvPr id="10" name="Text 8"/>
          <p:cNvSpPr txBox="1"/>
          <p:nvPr/>
        </p:nvSpPr>
        <p:spPr>
          <a:xfrm>
            <a:off x="2468880" y="1463040"/>
            <a:ext cx="1965960" cy="955548"/>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$1M/día</a:t>
            </a:r>
            <a:endParaRPr lang="en-US" sz="4800" dirty="0"/>
          </a:p>
        </p:txBody>
      </p:sp>
      <p:sp>
        <p:nvSpPr>
          <p:cNvPr id="11" name="Text 9"/>
          <p:cNvSpPr txBox="1"/>
          <p:nvPr/>
        </p:nvSpPr>
        <p:spPr>
          <a:xfrm>
            <a:off x="2560320" y="2427732"/>
            <a:ext cx="1783080" cy="555955"/>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Costo de interrupción</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evitado en pico</a:t>
            </a:r>
            <a:endParaRPr lang="en-US" sz="1200" dirty="0"/>
          </a:p>
        </p:txBody>
      </p:sp>
      <p:sp>
        <p:nvSpPr>
          <p:cNvPr id="12" name="Shape 10"/>
          <p:cNvSpPr/>
          <p:nvPr/>
        </p:nvSpPr>
        <p:spPr>
          <a:xfrm>
            <a:off x="4572000" y="1298448"/>
            <a:ext cx="1965960" cy="1737360"/>
          </a:xfrm>
          <a:prstGeom prst="roundRect">
            <a:avLst>
              <a:gd name="adj" fmla="val 6316"/>
            </a:avLst>
          </a:prstGeom>
          <a:solidFill>
            <a:srgbClr val="2C2C2E"/>
          </a:solidFill>
          <a:ln w="25400">
            <a:solidFill>
              <a:srgbClr val="0A84FF"/>
            </a:solidFill>
            <a:prstDash val="solid"/>
          </a:ln>
        </p:spPr>
      </p:sp>
      <p:sp>
        <p:nvSpPr>
          <p:cNvPr id="13" name="Text 11"/>
          <p:cNvSpPr txBox="1"/>
          <p:nvPr/>
        </p:nvSpPr>
        <p:spPr>
          <a:xfrm>
            <a:off x="4572000" y="1463040"/>
            <a:ext cx="1965960" cy="955548"/>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140+</a:t>
            </a:r>
            <a:endParaRPr lang="en-US" sz="4800" dirty="0"/>
          </a:p>
        </p:txBody>
      </p:sp>
      <p:sp>
        <p:nvSpPr>
          <p:cNvPr id="14" name="Text 12"/>
          <p:cNvSpPr txBox="1"/>
          <p:nvPr/>
        </p:nvSpPr>
        <p:spPr>
          <a:xfrm>
            <a:off x="4663440" y="2427732"/>
            <a:ext cx="1783080" cy="555955"/>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Sugerencias de</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constructabilidad</a:t>
            </a:r>
            <a:endParaRPr lang="en-US" sz="1200" dirty="0"/>
          </a:p>
        </p:txBody>
      </p:sp>
      <p:sp>
        <p:nvSpPr>
          <p:cNvPr id="15" name="Shape 13"/>
          <p:cNvSpPr/>
          <p:nvPr/>
        </p:nvSpPr>
        <p:spPr>
          <a:xfrm>
            <a:off x="6675120" y="1298448"/>
            <a:ext cx="1965960" cy="1737360"/>
          </a:xfrm>
          <a:prstGeom prst="roundRect">
            <a:avLst>
              <a:gd name="adj" fmla="val 6316"/>
            </a:avLst>
          </a:prstGeom>
          <a:solidFill>
            <a:srgbClr val="2C2C2E"/>
          </a:solidFill>
          <a:ln w="25400">
            <a:solidFill>
              <a:srgbClr val="AF52DE"/>
            </a:solidFill>
            <a:prstDash val="solid"/>
          </a:ln>
        </p:spPr>
      </p:sp>
      <p:sp>
        <p:nvSpPr>
          <p:cNvPr id="16" name="Text 14"/>
          <p:cNvSpPr txBox="1"/>
          <p:nvPr/>
        </p:nvSpPr>
        <p:spPr>
          <a:xfrm>
            <a:off x="6675120" y="1463040"/>
            <a:ext cx="1965960" cy="955548"/>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On-Time</a:t>
            </a:r>
            <a:endParaRPr lang="en-US" sz="4800" dirty="0"/>
          </a:p>
        </p:txBody>
      </p:sp>
      <p:sp>
        <p:nvSpPr>
          <p:cNvPr id="17" name="Text 15"/>
          <p:cNvSpPr txBox="1"/>
          <p:nvPr/>
        </p:nvSpPr>
        <p:spPr>
          <a:xfrm>
            <a:off x="6766560" y="2427732"/>
            <a:ext cx="1783080" cy="555955"/>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Entrega de</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instalaciones</a:t>
            </a:r>
            <a:endParaRPr lang="en-US" sz="1200" dirty="0"/>
          </a:p>
        </p:txBody>
      </p:sp>
      <p:sp>
        <p:nvSpPr>
          <p:cNvPr id="18" name="Text 16"/>
          <p:cNvSpPr txBox="1"/>
          <p:nvPr/>
        </p:nvSpPr>
        <p:spPr>
          <a:xfrm>
            <a:off x="365760" y="3182112"/>
            <a:ext cx="8412480" cy="320040"/>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Logros Cualitativos:</a:t>
            </a:r>
            <a:endParaRPr lang="en-US" sz="1400" dirty="0"/>
          </a:p>
        </p:txBody>
      </p:sp>
      <p:sp>
        <p:nvSpPr>
          <p:cNvPr id="19" name="Shape 17"/>
          <p:cNvSpPr/>
          <p:nvPr/>
        </p:nvSpPr>
        <p:spPr>
          <a:xfrm>
            <a:off x="365760" y="3566160"/>
            <a:ext cx="8412480" cy="493776"/>
          </a:xfrm>
          <a:prstGeom prst="roundRect">
            <a:avLst>
              <a:gd name="adj" fmla="val 18519"/>
            </a:avLst>
          </a:prstGeom>
          <a:solidFill>
            <a:srgbClr val="2C2C2E"/>
          </a:solidFill>
          <a:ln w="12700">
            <a:solidFill>
              <a:srgbClr val="3A3A3C"/>
            </a:solidFill>
            <a:prstDash val="solid"/>
          </a:ln>
        </p:spPr>
      </p:sp>
      <p:sp>
        <p:nvSpPr>
          <p:cNvPr id="20" name="Shape 18"/>
          <p:cNvSpPr/>
          <p:nvPr/>
        </p:nvSpPr>
        <p:spPr>
          <a:xfrm>
            <a:off x="365760" y="3566160"/>
            <a:ext cx="64008" cy="493776"/>
          </a:xfrm>
          <a:prstGeom prst="rect">
            <a:avLst/>
          </a:prstGeom>
          <a:solidFill>
            <a:srgbClr val="FF453A"/>
          </a:solidFill>
          <a:ln/>
        </p:spPr>
      </p:sp>
      <p:sp>
        <p:nvSpPr>
          <p:cNvPr id="21" name="Text 19"/>
          <p:cNvSpPr txBox="1"/>
          <p:nvPr/>
        </p:nvSpPr>
        <p:spPr>
          <a:xfrm>
            <a:off x="548640" y="3621024"/>
            <a:ext cx="2286000" cy="25603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Mitigación de Riesgos de Seguridad</a:t>
            </a:r>
            <a:endParaRPr lang="en-US" sz="1200" dirty="0"/>
          </a:p>
        </p:txBody>
      </p:sp>
      <p:sp>
        <p:nvSpPr>
          <p:cNvPr id="22" name="Text 20"/>
          <p:cNvSpPr txBox="1"/>
          <p:nvPr/>
        </p:nvSpPr>
        <p:spPr>
          <a:xfrm>
            <a:off x="2926080" y="3621024"/>
            <a:ext cx="5760720" cy="3200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planificación temprana y la revisión de procesos contuvieron sustancialmente la exposición potencial a riesgos de seguridad.</a:t>
            </a:r>
            <a:endParaRPr lang="en-US" sz="1100" dirty="0"/>
          </a:p>
        </p:txBody>
      </p:sp>
      <p:sp>
        <p:nvSpPr>
          <p:cNvPr id="23" name="Shape 21"/>
          <p:cNvSpPr/>
          <p:nvPr/>
        </p:nvSpPr>
        <p:spPr>
          <a:xfrm>
            <a:off x="365760" y="4133088"/>
            <a:ext cx="8412480" cy="493776"/>
          </a:xfrm>
          <a:prstGeom prst="roundRect">
            <a:avLst>
              <a:gd name="adj" fmla="val 18519"/>
            </a:avLst>
          </a:prstGeom>
          <a:solidFill>
            <a:srgbClr val="2C2C2E"/>
          </a:solidFill>
          <a:ln w="12700">
            <a:solidFill>
              <a:srgbClr val="3A3A3C"/>
            </a:solidFill>
            <a:prstDash val="solid"/>
          </a:ln>
        </p:spPr>
      </p:sp>
      <p:sp>
        <p:nvSpPr>
          <p:cNvPr id="24" name="Shape 22"/>
          <p:cNvSpPr/>
          <p:nvPr/>
        </p:nvSpPr>
        <p:spPr>
          <a:xfrm>
            <a:off x="365760" y="4133088"/>
            <a:ext cx="64008" cy="493776"/>
          </a:xfrm>
          <a:prstGeom prst="rect">
            <a:avLst/>
          </a:prstGeom>
          <a:solidFill>
            <a:srgbClr val="30D158"/>
          </a:solidFill>
          <a:ln/>
        </p:spPr>
      </p:sp>
      <p:sp>
        <p:nvSpPr>
          <p:cNvPr id="25" name="Text 23"/>
          <p:cNvSpPr txBox="1"/>
          <p:nvPr/>
        </p:nvSpPr>
        <p:spPr>
          <a:xfrm>
            <a:off x="548640" y="4187952"/>
            <a:ext cx="2286000" cy="25603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Entrega en Fecha del Plan</a:t>
            </a:r>
            <a:endParaRPr lang="en-US" sz="1200" dirty="0"/>
          </a:p>
        </p:txBody>
      </p:sp>
      <p:sp>
        <p:nvSpPr>
          <p:cNvPr id="26" name="Text 24"/>
          <p:cNvSpPr txBox="1"/>
          <p:nvPr/>
        </p:nvSpPr>
        <p:spPr>
          <a:xfrm>
            <a:off x="2926080" y="4187952"/>
            <a:ext cx="5760720" cy="3200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constructabilidad fue clave para permitir al propietario ingresar al mercado en la fecha planificada.</a:t>
            </a:r>
            <a:endParaRPr lang="en-US" sz="1100" dirty="0"/>
          </a:p>
        </p:txBody>
      </p:sp>
      <p:sp>
        <p:nvSpPr>
          <p:cNvPr id="27" name="Shape 25"/>
          <p:cNvSpPr/>
          <p:nvPr/>
        </p:nvSpPr>
        <p:spPr>
          <a:xfrm>
            <a:off x="365760" y="4700016"/>
            <a:ext cx="8412480" cy="493776"/>
          </a:xfrm>
          <a:prstGeom prst="roundRect">
            <a:avLst>
              <a:gd name="adj" fmla="val 18519"/>
            </a:avLst>
          </a:prstGeom>
          <a:solidFill>
            <a:srgbClr val="2C2C2E"/>
          </a:solidFill>
          <a:ln w="12700">
            <a:solidFill>
              <a:srgbClr val="3A3A3C"/>
            </a:solidFill>
            <a:prstDash val="solid"/>
          </a:ln>
        </p:spPr>
      </p:sp>
      <p:sp>
        <p:nvSpPr>
          <p:cNvPr id="28" name="Shape 26"/>
          <p:cNvSpPr/>
          <p:nvPr/>
        </p:nvSpPr>
        <p:spPr>
          <a:xfrm>
            <a:off x="365760" y="4700016"/>
            <a:ext cx="64008" cy="493776"/>
          </a:xfrm>
          <a:prstGeom prst="rect">
            <a:avLst/>
          </a:prstGeom>
          <a:solidFill>
            <a:srgbClr val="FF9500"/>
          </a:solidFill>
          <a:ln/>
        </p:spPr>
      </p:sp>
      <p:sp>
        <p:nvSpPr>
          <p:cNvPr id="29" name="Text 27"/>
          <p:cNvSpPr txBox="1"/>
          <p:nvPr/>
        </p:nvSpPr>
        <p:spPr>
          <a:xfrm>
            <a:off x="548640" y="4754880"/>
            <a:ext cx="2286000" cy="25603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Protección de Contingencias</a:t>
            </a:r>
            <a:endParaRPr lang="en-US" sz="1200" dirty="0"/>
          </a:p>
        </p:txBody>
      </p:sp>
      <p:sp>
        <p:nvSpPr>
          <p:cNvPr id="30" name="Text 28"/>
          <p:cNvSpPr txBox="1"/>
          <p:nvPr/>
        </p:nvSpPr>
        <p:spPr>
          <a:xfrm>
            <a:off x="2926080" y="4754880"/>
            <a:ext cx="5760720" cy="3200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Se crearon soluciones para responder a desafíos específicos del sitio como el clima, donde las interrupciones en el pico de personal tenían un costo de ~$1 millón/día.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Casos Históricos CII — Mini-Cases del Primer Estudio (1986)</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Los 7 mini-casos del Primer CII Primer (Publication 3-1, 1986) demostraron la validez del concepto:</a:t>
            </a:r>
            <a:endParaRPr lang="en-US" sz="1400" dirty="0"/>
          </a:p>
        </p:txBody>
      </p:sp>
      <p:sp>
        <p:nvSpPr>
          <p:cNvPr id="6" name="Shape 4"/>
          <p:cNvSpPr/>
          <p:nvPr/>
        </p:nvSpPr>
        <p:spPr>
          <a:xfrm>
            <a:off x="365760" y="1298448"/>
            <a:ext cx="8412480" cy="484632"/>
          </a:xfrm>
          <a:prstGeom prst="roundRect">
            <a:avLst>
              <a:gd name="adj" fmla="val 15094"/>
            </a:avLst>
          </a:prstGeom>
          <a:solidFill>
            <a:srgbClr val="2C2C2E"/>
          </a:solidFill>
          <a:ln w="12700">
            <a:solidFill>
              <a:srgbClr val="3A3A3C"/>
            </a:solidFill>
            <a:prstDash val="solid"/>
          </a:ln>
        </p:spPr>
      </p:sp>
      <p:sp>
        <p:nvSpPr>
          <p:cNvPr id="7" name="Shape 5"/>
          <p:cNvSpPr/>
          <p:nvPr/>
        </p:nvSpPr>
        <p:spPr>
          <a:xfrm>
            <a:off x="365760" y="1298448"/>
            <a:ext cx="64008" cy="484632"/>
          </a:xfrm>
          <a:prstGeom prst="rect">
            <a:avLst/>
          </a:prstGeom>
          <a:solidFill>
            <a:srgbClr val="0A84FF"/>
          </a:solidFill>
          <a:ln/>
        </p:spPr>
      </p:sp>
      <p:sp>
        <p:nvSpPr>
          <p:cNvPr id="8" name="Text 6"/>
          <p:cNvSpPr txBox="1"/>
          <p:nvPr/>
        </p:nvSpPr>
        <p:spPr>
          <a:xfrm>
            <a:off x="566928" y="1353312"/>
            <a:ext cx="2103120" cy="274320"/>
          </a:xfrm>
          <a:prstGeom prst="rect">
            <a:avLst/>
          </a:prstGeom>
          <a:noFill/>
          <a:ln/>
        </p:spPr>
        <p:txBody>
          <a:bodyPr wrap="square" lIns="0" tIns="0" rIns="0" bIns="0" rtlCol="0" anchor="ctr"/>
          <a:lstStyle/>
          <a:p>
            <a:pPr indent="0" marL="0">
              <a:buNone/>
            </a:pPr>
            <a:r>
              <a:rPr lang="en-US" sz="1150" b="1" dirty="0">
                <a:solidFill>
                  <a:srgbClr val="0A84FF"/>
                </a:solidFill>
                <a:latin typeface="Atkinson Hyperlegible" pitchFamily="34" charset="0"/>
                <a:ea typeface="Atkinson Hyperlegible" pitchFamily="34" charset="-122"/>
                <a:cs typeface="Atkinson Hyperlegible" pitchFamily="34" charset="-120"/>
              </a:rPr>
              <a:t>Planta Fertilizante Indonesia</a:t>
            </a:r>
            <a:endParaRPr lang="en-US" sz="1150" dirty="0"/>
          </a:p>
        </p:txBody>
      </p:sp>
      <p:sp>
        <p:nvSpPr>
          <p:cNvPr id="9" name="Text 7"/>
          <p:cNvSpPr txBox="1"/>
          <p:nvPr/>
        </p:nvSpPr>
        <p:spPr>
          <a:xfrm>
            <a:off x="2761488" y="1353312"/>
            <a:ext cx="594360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1,500 ton/día. Completada 2 meses antes del cronograma. Modularización de los hornos de reforming incluyendo tubos y refractarios. Cronograma fast-track, almacenamiento estratégico para temporada seca.</a:t>
            </a:r>
            <a:endParaRPr lang="en-US" sz="1000" dirty="0"/>
          </a:p>
        </p:txBody>
      </p:sp>
      <p:sp>
        <p:nvSpPr>
          <p:cNvPr id="10" name="Shape 8"/>
          <p:cNvSpPr/>
          <p:nvPr/>
        </p:nvSpPr>
        <p:spPr>
          <a:xfrm>
            <a:off x="365760" y="1847088"/>
            <a:ext cx="8412480" cy="484632"/>
          </a:xfrm>
          <a:prstGeom prst="roundRect">
            <a:avLst>
              <a:gd name="adj" fmla="val 15094"/>
            </a:avLst>
          </a:prstGeom>
          <a:solidFill>
            <a:srgbClr val="2C2C2E"/>
          </a:solidFill>
          <a:ln w="12700">
            <a:solidFill>
              <a:srgbClr val="3A3A3C"/>
            </a:solidFill>
            <a:prstDash val="solid"/>
          </a:ln>
        </p:spPr>
      </p:sp>
      <p:sp>
        <p:nvSpPr>
          <p:cNvPr id="11" name="Shape 9"/>
          <p:cNvSpPr/>
          <p:nvPr/>
        </p:nvSpPr>
        <p:spPr>
          <a:xfrm>
            <a:off x="365760" y="1847088"/>
            <a:ext cx="64008" cy="484632"/>
          </a:xfrm>
          <a:prstGeom prst="rect">
            <a:avLst/>
          </a:prstGeom>
          <a:solidFill>
            <a:srgbClr val="30D158"/>
          </a:solidFill>
          <a:ln/>
        </p:spPr>
      </p:sp>
      <p:sp>
        <p:nvSpPr>
          <p:cNvPr id="12" name="Text 10"/>
          <p:cNvSpPr txBox="1"/>
          <p:nvPr/>
        </p:nvSpPr>
        <p:spPr>
          <a:xfrm>
            <a:off x="566928" y="1901952"/>
            <a:ext cx="2103120" cy="274320"/>
          </a:xfrm>
          <a:prstGeom prst="rect">
            <a:avLst/>
          </a:prstGeom>
          <a:noFill/>
          <a:ln/>
        </p:spPr>
        <p:txBody>
          <a:bodyPr wrap="square" lIns="0" tIns="0" rIns="0" bIns="0" rtlCol="0" anchor="ctr"/>
          <a:lstStyle/>
          <a:p>
            <a:pPr indent="0" marL="0">
              <a:buNone/>
            </a:pPr>
            <a:r>
              <a:rPr lang="en-US" sz="1150" b="1" dirty="0">
                <a:solidFill>
                  <a:srgbClr val="30D158"/>
                </a:solidFill>
                <a:latin typeface="Atkinson Hyperlegible" pitchFamily="34" charset="0"/>
                <a:ea typeface="Atkinson Hyperlegible" pitchFamily="34" charset="-122"/>
                <a:cs typeface="Atkinson Hyperlegible" pitchFamily="34" charset="-120"/>
              </a:rPr>
              <a:t>Expansión de Refinería</a:t>
            </a:r>
            <a:endParaRPr lang="en-US" sz="1150" dirty="0"/>
          </a:p>
        </p:txBody>
      </p:sp>
      <p:sp>
        <p:nvSpPr>
          <p:cNvPr id="13" name="Text 11"/>
          <p:cNvSpPr txBox="1"/>
          <p:nvPr/>
        </p:nvSpPr>
        <p:spPr>
          <a:xfrm>
            <a:off x="2761488" y="1901952"/>
            <a:ext cx="594360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Input constructivo desde fase de propuesta. Distribución de sitio optimizada para construcción. Reduce tiempo de comisionamiento. B/C = 10:1 documentado.</a:t>
            </a:r>
            <a:endParaRPr lang="en-US" sz="1000" dirty="0"/>
          </a:p>
        </p:txBody>
      </p:sp>
      <p:sp>
        <p:nvSpPr>
          <p:cNvPr id="14" name="Shape 12"/>
          <p:cNvSpPr/>
          <p:nvPr/>
        </p:nvSpPr>
        <p:spPr>
          <a:xfrm>
            <a:off x="365760" y="2395728"/>
            <a:ext cx="8412480" cy="484632"/>
          </a:xfrm>
          <a:prstGeom prst="roundRect">
            <a:avLst>
              <a:gd name="adj" fmla="val 15094"/>
            </a:avLst>
          </a:prstGeom>
          <a:solidFill>
            <a:srgbClr val="2C2C2E"/>
          </a:solidFill>
          <a:ln w="12700">
            <a:solidFill>
              <a:srgbClr val="3A3A3C"/>
            </a:solidFill>
            <a:prstDash val="solid"/>
          </a:ln>
        </p:spPr>
      </p:sp>
      <p:sp>
        <p:nvSpPr>
          <p:cNvPr id="15" name="Shape 13"/>
          <p:cNvSpPr/>
          <p:nvPr/>
        </p:nvSpPr>
        <p:spPr>
          <a:xfrm>
            <a:off x="365760" y="2395728"/>
            <a:ext cx="64008" cy="484632"/>
          </a:xfrm>
          <a:prstGeom prst="rect">
            <a:avLst/>
          </a:prstGeom>
          <a:solidFill>
            <a:srgbClr val="FF9500"/>
          </a:solidFill>
          <a:ln/>
        </p:spPr>
      </p:sp>
      <p:sp>
        <p:nvSpPr>
          <p:cNvPr id="16" name="Text 14"/>
          <p:cNvSpPr txBox="1"/>
          <p:nvPr/>
        </p:nvSpPr>
        <p:spPr>
          <a:xfrm>
            <a:off x="566928" y="2450592"/>
            <a:ext cx="2103120" cy="274320"/>
          </a:xfrm>
          <a:prstGeom prst="rect">
            <a:avLst/>
          </a:prstGeom>
          <a:noFill/>
          <a:ln/>
        </p:spPr>
        <p:txBody>
          <a:bodyPr wrap="square" lIns="0" tIns="0" rIns="0" bIns="0" rtlCol="0" anchor="ctr"/>
          <a:lstStyle/>
          <a:p>
            <a:pPr indent="0" marL="0">
              <a:buNone/>
            </a:pPr>
            <a:r>
              <a:rPr lang="en-US" sz="1150" b="1" dirty="0">
                <a:solidFill>
                  <a:srgbClr val="FF9500"/>
                </a:solidFill>
                <a:latin typeface="Atkinson Hyperlegible" pitchFamily="34" charset="0"/>
                <a:ea typeface="Atkinson Hyperlegible" pitchFamily="34" charset="-122"/>
                <a:cs typeface="Atkinson Hyperlegible" pitchFamily="34" charset="-120"/>
              </a:rPr>
              <a:t>Comunidad Residencial</a:t>
            </a:r>
            <a:endParaRPr lang="en-US" sz="1150" dirty="0"/>
          </a:p>
        </p:txBody>
      </p:sp>
      <p:sp>
        <p:nvSpPr>
          <p:cNvPr id="17" name="Text 15"/>
          <p:cNvSpPr txBox="1"/>
          <p:nvPr/>
        </p:nvSpPr>
        <p:spPr>
          <a:xfrm>
            <a:off x="2761488" y="2450592"/>
            <a:ext cx="594360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Estandarización de componentes redujo tiempo de construcción. Pre-ensamble de módulos de baño y cocina. Curvas de aprendizaje sustanciales.</a:t>
            </a:r>
            <a:endParaRPr lang="en-US" sz="1000" dirty="0"/>
          </a:p>
        </p:txBody>
      </p:sp>
      <p:sp>
        <p:nvSpPr>
          <p:cNvPr id="18" name="Shape 16"/>
          <p:cNvSpPr/>
          <p:nvPr/>
        </p:nvSpPr>
        <p:spPr>
          <a:xfrm>
            <a:off x="365760" y="2944368"/>
            <a:ext cx="8412480" cy="484632"/>
          </a:xfrm>
          <a:prstGeom prst="roundRect">
            <a:avLst>
              <a:gd name="adj" fmla="val 15094"/>
            </a:avLst>
          </a:prstGeom>
          <a:solidFill>
            <a:srgbClr val="2C2C2E"/>
          </a:solidFill>
          <a:ln w="12700">
            <a:solidFill>
              <a:srgbClr val="3A3A3C"/>
            </a:solidFill>
            <a:prstDash val="solid"/>
          </a:ln>
        </p:spPr>
      </p:sp>
      <p:sp>
        <p:nvSpPr>
          <p:cNvPr id="19" name="Shape 17"/>
          <p:cNvSpPr/>
          <p:nvPr/>
        </p:nvSpPr>
        <p:spPr>
          <a:xfrm>
            <a:off x="365760" y="2944368"/>
            <a:ext cx="64008" cy="484632"/>
          </a:xfrm>
          <a:prstGeom prst="rect">
            <a:avLst/>
          </a:prstGeom>
          <a:solidFill>
            <a:srgbClr val="AF52DE"/>
          </a:solidFill>
          <a:ln/>
        </p:spPr>
      </p:sp>
      <p:sp>
        <p:nvSpPr>
          <p:cNvPr id="20" name="Text 18"/>
          <p:cNvSpPr txBox="1"/>
          <p:nvPr/>
        </p:nvSpPr>
        <p:spPr>
          <a:xfrm>
            <a:off x="566928" y="2999232"/>
            <a:ext cx="2103120" cy="274320"/>
          </a:xfrm>
          <a:prstGeom prst="rect">
            <a:avLst/>
          </a:prstGeom>
          <a:noFill/>
          <a:ln/>
        </p:spPr>
        <p:txBody>
          <a:bodyPr wrap="square" lIns="0" tIns="0" rIns="0" bIns="0" rtlCol="0" anchor="ctr"/>
          <a:lstStyle/>
          <a:p>
            <a:pPr indent="0" marL="0">
              <a:buNone/>
            </a:pPr>
            <a:r>
              <a:rPr lang="en-US" sz="1150" b="1" dirty="0">
                <a:solidFill>
                  <a:srgbClr val="AF52DE"/>
                </a:solidFill>
                <a:latin typeface="Atkinson Hyperlegible" pitchFamily="34" charset="0"/>
                <a:ea typeface="Atkinson Hyperlegible" pitchFamily="34" charset="-122"/>
                <a:cs typeface="Atkinson Hyperlegible" pitchFamily="34" charset="-120"/>
              </a:rPr>
              <a:t>Jet Engine Overhaul Facility</a:t>
            </a:r>
            <a:endParaRPr lang="en-US" sz="1150" dirty="0"/>
          </a:p>
        </p:txBody>
      </p:sp>
      <p:sp>
        <p:nvSpPr>
          <p:cNvPr id="21" name="Text 19"/>
          <p:cNvSpPr txBox="1"/>
          <p:nvPr/>
        </p:nvSpPr>
        <p:spPr>
          <a:xfrm>
            <a:off x="2761488" y="2999232"/>
            <a:ext cx="594360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Restauración en tiempo récord. Pre-planeamiento extenso de secuencia y logística. Simulación de trabajo antes de movilización a campo.</a:t>
            </a:r>
            <a:endParaRPr lang="en-US" sz="1000" dirty="0"/>
          </a:p>
        </p:txBody>
      </p:sp>
      <p:sp>
        <p:nvSpPr>
          <p:cNvPr id="22" name="Shape 20"/>
          <p:cNvSpPr/>
          <p:nvPr/>
        </p:nvSpPr>
        <p:spPr>
          <a:xfrm>
            <a:off x="365760" y="3493008"/>
            <a:ext cx="8412480" cy="484632"/>
          </a:xfrm>
          <a:prstGeom prst="roundRect">
            <a:avLst>
              <a:gd name="adj" fmla="val 15094"/>
            </a:avLst>
          </a:prstGeom>
          <a:solidFill>
            <a:srgbClr val="2C2C2E"/>
          </a:solidFill>
          <a:ln w="12700">
            <a:solidFill>
              <a:srgbClr val="3A3A3C"/>
            </a:solidFill>
            <a:prstDash val="solid"/>
          </a:ln>
        </p:spPr>
      </p:sp>
      <p:sp>
        <p:nvSpPr>
          <p:cNvPr id="23" name="Shape 21"/>
          <p:cNvSpPr/>
          <p:nvPr/>
        </p:nvSpPr>
        <p:spPr>
          <a:xfrm>
            <a:off x="365760" y="3493008"/>
            <a:ext cx="64008" cy="484632"/>
          </a:xfrm>
          <a:prstGeom prst="rect">
            <a:avLst/>
          </a:prstGeom>
          <a:solidFill>
            <a:srgbClr val="FFD60A"/>
          </a:solidFill>
          <a:ln/>
        </p:spPr>
      </p:sp>
      <p:sp>
        <p:nvSpPr>
          <p:cNvPr id="24" name="Text 22"/>
          <p:cNvSpPr txBox="1"/>
          <p:nvPr/>
        </p:nvSpPr>
        <p:spPr>
          <a:xfrm>
            <a:off x="566928" y="3547872"/>
            <a:ext cx="2103120" cy="274320"/>
          </a:xfrm>
          <a:prstGeom prst="rect">
            <a:avLst/>
          </a:prstGeom>
          <a:noFill/>
          <a:ln/>
        </p:spPr>
        <p:txBody>
          <a:bodyPr wrap="square" lIns="0" tIns="0" rIns="0" bIns="0" rtlCol="0" anchor="ctr"/>
          <a:lstStyle/>
          <a:p>
            <a:pPr indent="0" marL="0">
              <a:buNone/>
            </a:pPr>
            <a:r>
              <a:rPr lang="en-US" sz="1150" b="1" dirty="0">
                <a:solidFill>
                  <a:srgbClr val="FFD60A"/>
                </a:solidFill>
                <a:latin typeface="Atkinson Hyperlegible" pitchFamily="34" charset="0"/>
                <a:ea typeface="Atkinson Hyperlegible" pitchFamily="34" charset="-122"/>
                <a:cs typeface="Atkinson Hyperlegible" pitchFamily="34" charset="-120"/>
              </a:rPr>
              <a:t>Pulpería de Mercado Blanqueada</a:t>
            </a:r>
            <a:endParaRPr lang="en-US" sz="1150" dirty="0"/>
          </a:p>
        </p:txBody>
      </p:sp>
      <p:sp>
        <p:nvSpPr>
          <p:cNvPr id="25" name="Text 23"/>
          <p:cNvSpPr txBox="1"/>
          <p:nvPr/>
        </p:nvSpPr>
        <p:spPr>
          <a:xfrm>
            <a:off x="2761488" y="3547872"/>
            <a:ext cx="594360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Modularización para sitio remoto. Lay-flat de tuberías y estructuras. Prefabricación de subestaciones eléctricas. 6% reducción en TIC.</a:t>
            </a:r>
            <a:endParaRPr lang="en-US" sz="1000" dirty="0"/>
          </a:p>
        </p:txBody>
      </p:sp>
      <p:sp>
        <p:nvSpPr>
          <p:cNvPr id="26" name="Shape 24"/>
          <p:cNvSpPr/>
          <p:nvPr/>
        </p:nvSpPr>
        <p:spPr>
          <a:xfrm>
            <a:off x="365760" y="4041648"/>
            <a:ext cx="8412480" cy="484632"/>
          </a:xfrm>
          <a:prstGeom prst="roundRect">
            <a:avLst>
              <a:gd name="adj" fmla="val 15094"/>
            </a:avLst>
          </a:prstGeom>
          <a:solidFill>
            <a:srgbClr val="2C2C2E"/>
          </a:solidFill>
          <a:ln w="12700">
            <a:solidFill>
              <a:srgbClr val="3A3A3C"/>
            </a:solidFill>
            <a:prstDash val="solid"/>
          </a:ln>
        </p:spPr>
      </p:sp>
      <p:sp>
        <p:nvSpPr>
          <p:cNvPr id="27" name="Shape 25"/>
          <p:cNvSpPr/>
          <p:nvPr/>
        </p:nvSpPr>
        <p:spPr>
          <a:xfrm>
            <a:off x="365760" y="4041648"/>
            <a:ext cx="64008" cy="484632"/>
          </a:xfrm>
          <a:prstGeom prst="rect">
            <a:avLst/>
          </a:prstGeom>
          <a:solidFill>
            <a:srgbClr val="FF453A"/>
          </a:solidFill>
          <a:ln/>
        </p:spPr>
      </p:sp>
      <p:sp>
        <p:nvSpPr>
          <p:cNvPr id="28" name="Text 26"/>
          <p:cNvSpPr txBox="1"/>
          <p:nvPr/>
        </p:nvSpPr>
        <p:spPr>
          <a:xfrm>
            <a:off x="566928" y="4096512"/>
            <a:ext cx="2103120" cy="274320"/>
          </a:xfrm>
          <a:prstGeom prst="rect">
            <a:avLst/>
          </a:prstGeom>
          <a:noFill/>
          <a:ln/>
        </p:spPr>
        <p:txBody>
          <a:bodyPr wrap="square" lIns="0" tIns="0" rIns="0" bIns="0" rtlCol="0" anchor="ctr"/>
          <a:lstStyle/>
          <a:p>
            <a:pPr indent="0" marL="0">
              <a:buNone/>
            </a:pPr>
            <a:r>
              <a:rPr lang="en-US" sz="1150" b="1" dirty="0">
                <a:solidFill>
                  <a:srgbClr val="FF453A"/>
                </a:solidFill>
                <a:latin typeface="Atkinson Hyperlegible" pitchFamily="34" charset="0"/>
                <a:ea typeface="Atkinson Hyperlegible" pitchFamily="34" charset="-122"/>
                <a:cs typeface="Atkinson Hyperlegible" pitchFamily="34" charset="-120"/>
              </a:rPr>
              <a:t>Instalación de Producción Ártica</a:t>
            </a:r>
            <a:endParaRPr lang="en-US" sz="1150" dirty="0"/>
          </a:p>
        </p:txBody>
      </p:sp>
      <p:sp>
        <p:nvSpPr>
          <p:cNvPr id="29" name="Text 27"/>
          <p:cNvSpPr txBox="1"/>
          <p:nvPr/>
        </p:nvSpPr>
        <p:spPr>
          <a:xfrm>
            <a:off x="2761488" y="4096512"/>
            <a:ext cx="594360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Diseño para condiciones extremas. Modularización extensiva. 100% de trabajo en taller para elementos de proceso. Instalación rápida en temporada de construcción corta.</a:t>
            </a:r>
            <a:endParaRPr lang="en-US" sz="1000" dirty="0"/>
          </a:p>
        </p:txBody>
      </p:sp>
      <p:sp>
        <p:nvSpPr>
          <p:cNvPr id="30" name="Shape 28"/>
          <p:cNvSpPr/>
          <p:nvPr/>
        </p:nvSpPr>
        <p:spPr>
          <a:xfrm>
            <a:off x="365760" y="4590288"/>
            <a:ext cx="8412480" cy="484632"/>
          </a:xfrm>
          <a:prstGeom prst="roundRect">
            <a:avLst>
              <a:gd name="adj" fmla="val 15094"/>
            </a:avLst>
          </a:prstGeom>
          <a:solidFill>
            <a:srgbClr val="2C2C2E"/>
          </a:solidFill>
          <a:ln w="12700">
            <a:solidFill>
              <a:srgbClr val="3A3A3C"/>
            </a:solidFill>
            <a:prstDash val="solid"/>
          </a:ln>
        </p:spPr>
      </p:sp>
      <p:sp>
        <p:nvSpPr>
          <p:cNvPr id="31" name="Shape 29"/>
          <p:cNvSpPr/>
          <p:nvPr/>
        </p:nvSpPr>
        <p:spPr>
          <a:xfrm>
            <a:off x="365760" y="4590288"/>
            <a:ext cx="64008" cy="484632"/>
          </a:xfrm>
          <a:prstGeom prst="rect">
            <a:avLst/>
          </a:prstGeom>
          <a:solidFill>
            <a:srgbClr val="64D2FF"/>
          </a:solidFill>
          <a:ln/>
        </p:spPr>
      </p:sp>
      <p:sp>
        <p:nvSpPr>
          <p:cNvPr id="32" name="Text 30"/>
          <p:cNvSpPr txBox="1"/>
          <p:nvPr/>
        </p:nvSpPr>
        <p:spPr>
          <a:xfrm>
            <a:off x="566928" y="4645152"/>
            <a:ext cx="2103120" cy="274320"/>
          </a:xfrm>
          <a:prstGeom prst="rect">
            <a:avLst/>
          </a:prstGeom>
          <a:noFill/>
          <a:ln/>
        </p:spPr>
        <p:txBody>
          <a:bodyPr wrap="square" lIns="0" tIns="0" rIns="0" bIns="0" rtlCol="0" anchor="ctr"/>
          <a:lstStyle/>
          <a:p>
            <a:pPr indent="0" marL="0">
              <a:buNone/>
            </a:pPr>
            <a:r>
              <a:rPr lang="en-US" sz="1150" b="1" dirty="0">
                <a:solidFill>
                  <a:srgbClr val="64D2FF"/>
                </a:solidFill>
                <a:latin typeface="Atkinson Hyperlegible" pitchFamily="34" charset="0"/>
                <a:ea typeface="Atkinson Hyperlegible" pitchFamily="34" charset="-122"/>
                <a:cs typeface="Atkinson Hyperlegible" pitchFamily="34" charset="-120"/>
              </a:rPr>
              <a:t>Planta Generadora Eléctrica</a:t>
            </a:r>
            <a:endParaRPr lang="en-US" sz="1150" dirty="0"/>
          </a:p>
        </p:txBody>
      </p:sp>
      <p:sp>
        <p:nvSpPr>
          <p:cNvPr id="33" name="Text 31"/>
          <p:cNvSpPr txBox="1"/>
          <p:nvPr/>
        </p:nvSpPr>
        <p:spPr>
          <a:xfrm>
            <a:off x="2761488" y="4645152"/>
            <a:ext cx="594360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Pre-ensamble de turbinas y generadores. Cronograma orientado a arranque crítico. B/C = 8:1 documentado. Participación de construcción desde factibilidad.</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Análisis Comparativo de los Casos de Estudio CII</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comparación de los 4 casos documentados en SP 34-1 revela patrones comunes de éxito:</a:t>
            </a:r>
            <a:endParaRPr lang="en-US" sz="1400" dirty="0"/>
          </a:p>
        </p:txBody>
      </p:sp>
      <p:sp>
        <p:nvSpPr>
          <p:cNvPr id="6" name="Shape 4"/>
          <p:cNvSpPr/>
          <p:nvPr/>
        </p:nvSpPr>
        <p:spPr>
          <a:xfrm>
            <a:off x="320040" y="1298448"/>
            <a:ext cx="2286000" cy="384048"/>
          </a:xfrm>
          <a:prstGeom prst="rect">
            <a:avLst/>
          </a:prstGeom>
          <a:solidFill>
            <a:srgbClr val="AF52DE"/>
          </a:solidFill>
          <a:ln/>
        </p:spPr>
      </p:sp>
      <p:sp>
        <p:nvSpPr>
          <p:cNvPr id="7" name="Text 5"/>
          <p:cNvSpPr txBox="1"/>
          <p:nvPr/>
        </p:nvSpPr>
        <p:spPr>
          <a:xfrm>
            <a:off x="374904" y="1298448"/>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8" name="Shape 6"/>
          <p:cNvSpPr/>
          <p:nvPr/>
        </p:nvSpPr>
        <p:spPr>
          <a:xfrm>
            <a:off x="2633472" y="1298448"/>
            <a:ext cx="1097280" cy="384048"/>
          </a:xfrm>
          <a:prstGeom prst="rect">
            <a:avLst/>
          </a:prstGeom>
          <a:solidFill>
            <a:srgbClr val="AF52DE"/>
          </a:solidFill>
          <a:ln/>
        </p:spPr>
      </p:sp>
      <p:sp>
        <p:nvSpPr>
          <p:cNvPr id="9" name="Text 7"/>
          <p:cNvSpPr txBox="1"/>
          <p:nvPr/>
        </p:nvSpPr>
        <p:spPr>
          <a:xfrm>
            <a:off x="2688336" y="1298448"/>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TIC</a:t>
            </a:r>
            <a:endParaRPr lang="en-US" sz="1100" dirty="0"/>
          </a:p>
        </p:txBody>
      </p:sp>
      <p:sp>
        <p:nvSpPr>
          <p:cNvPr id="10" name="Shape 8"/>
          <p:cNvSpPr/>
          <p:nvPr/>
        </p:nvSpPr>
        <p:spPr>
          <a:xfrm>
            <a:off x="3767328" y="1298448"/>
            <a:ext cx="1371600" cy="384048"/>
          </a:xfrm>
          <a:prstGeom prst="rect">
            <a:avLst/>
          </a:prstGeom>
          <a:solidFill>
            <a:srgbClr val="AF52DE"/>
          </a:solidFill>
          <a:ln/>
        </p:spPr>
      </p:sp>
      <p:sp>
        <p:nvSpPr>
          <p:cNvPr id="11" name="Text 9"/>
          <p:cNvSpPr txBox="1"/>
          <p:nvPr/>
        </p:nvSpPr>
        <p:spPr>
          <a:xfrm>
            <a:off x="3822192" y="1298448"/>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Ahorro Costo</a:t>
            </a:r>
            <a:endParaRPr lang="en-US" sz="1100" dirty="0"/>
          </a:p>
        </p:txBody>
      </p:sp>
      <p:sp>
        <p:nvSpPr>
          <p:cNvPr id="12" name="Shape 10"/>
          <p:cNvSpPr/>
          <p:nvPr/>
        </p:nvSpPr>
        <p:spPr>
          <a:xfrm>
            <a:off x="5166360" y="1298448"/>
            <a:ext cx="2011680" cy="384048"/>
          </a:xfrm>
          <a:prstGeom prst="rect">
            <a:avLst/>
          </a:prstGeom>
          <a:solidFill>
            <a:srgbClr val="AF52DE"/>
          </a:solidFill>
          <a:ln/>
        </p:spPr>
      </p:sp>
      <p:sp>
        <p:nvSpPr>
          <p:cNvPr id="13" name="Text 11"/>
          <p:cNvSpPr txBox="1"/>
          <p:nvPr/>
        </p:nvSpPr>
        <p:spPr>
          <a:xfrm>
            <a:off x="5221224" y="1298448"/>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Reducción Cronograma</a:t>
            </a:r>
            <a:endParaRPr lang="en-US" sz="1100" dirty="0"/>
          </a:p>
        </p:txBody>
      </p:sp>
      <p:sp>
        <p:nvSpPr>
          <p:cNvPr id="14" name="Shape 12"/>
          <p:cNvSpPr/>
          <p:nvPr/>
        </p:nvSpPr>
        <p:spPr>
          <a:xfrm>
            <a:off x="7205472" y="1298448"/>
            <a:ext cx="1280160" cy="384048"/>
          </a:xfrm>
          <a:prstGeom prst="rect">
            <a:avLst/>
          </a:prstGeom>
          <a:solidFill>
            <a:srgbClr val="AF52DE"/>
          </a:solidFill>
          <a:ln/>
        </p:spPr>
      </p:sp>
      <p:sp>
        <p:nvSpPr>
          <p:cNvPr id="15" name="Text 13"/>
          <p:cNvSpPr txBox="1"/>
          <p:nvPr/>
        </p:nvSpPr>
        <p:spPr>
          <a:xfrm>
            <a:off x="7260336" y="1298448"/>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B/C Ratio</a:t>
            </a:r>
            <a:endParaRPr lang="en-US" sz="1100" dirty="0"/>
          </a:p>
        </p:txBody>
      </p:sp>
      <p:sp>
        <p:nvSpPr>
          <p:cNvPr id="16" name="Shape 14"/>
          <p:cNvSpPr/>
          <p:nvPr/>
        </p:nvSpPr>
        <p:spPr>
          <a:xfrm>
            <a:off x="320040" y="1719072"/>
            <a:ext cx="2286000" cy="475488"/>
          </a:xfrm>
          <a:prstGeom prst="rect">
            <a:avLst/>
          </a:prstGeom>
          <a:solidFill>
            <a:srgbClr val="2C2C2E"/>
          </a:solidFill>
          <a:ln/>
        </p:spPr>
      </p:sp>
      <p:sp>
        <p:nvSpPr>
          <p:cNvPr id="17" name="Text 15"/>
          <p:cNvSpPr txBox="1"/>
          <p:nvPr/>
        </p:nvSpPr>
        <p:spPr>
          <a:xfrm>
            <a:off x="374904" y="1755648"/>
            <a:ext cx="2231136" cy="402336"/>
          </a:xfrm>
          <a:prstGeom prst="rect">
            <a:avLst/>
          </a:prstGeom>
          <a:noFill/>
          <a:ln/>
        </p:spPr>
        <p:txBody>
          <a:bodyPr wrap="square" lIns="0" tIns="0" rIns="0" bIns="0" rtlCol="0" anchor="ctr"/>
          <a:lstStyle/>
          <a:p>
            <a:pPr algn="l"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Edificio Comercial</a:t>
            </a:r>
            <a:endParaRPr lang="en-US" sz="1100" dirty="0"/>
          </a:p>
        </p:txBody>
      </p:sp>
      <p:sp>
        <p:nvSpPr>
          <p:cNvPr id="18" name="Shape 16"/>
          <p:cNvSpPr/>
          <p:nvPr/>
        </p:nvSpPr>
        <p:spPr>
          <a:xfrm>
            <a:off x="2633472" y="1719072"/>
            <a:ext cx="1097280" cy="475488"/>
          </a:xfrm>
          <a:prstGeom prst="rect">
            <a:avLst/>
          </a:prstGeom>
          <a:solidFill>
            <a:srgbClr val="2C2C2E"/>
          </a:solidFill>
          <a:ln/>
        </p:spPr>
      </p:sp>
      <p:sp>
        <p:nvSpPr>
          <p:cNvPr id="19" name="Text 17"/>
          <p:cNvSpPr txBox="1"/>
          <p:nvPr/>
        </p:nvSpPr>
        <p:spPr>
          <a:xfrm>
            <a:off x="2688336" y="1755648"/>
            <a:ext cx="1042416" cy="402336"/>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$28M</a:t>
            </a:r>
            <a:endParaRPr lang="en-US" sz="1100" dirty="0"/>
          </a:p>
        </p:txBody>
      </p:sp>
      <p:sp>
        <p:nvSpPr>
          <p:cNvPr id="20" name="Shape 18"/>
          <p:cNvSpPr/>
          <p:nvPr/>
        </p:nvSpPr>
        <p:spPr>
          <a:xfrm>
            <a:off x="3767328" y="1719072"/>
            <a:ext cx="1371600" cy="475488"/>
          </a:xfrm>
          <a:prstGeom prst="rect">
            <a:avLst/>
          </a:prstGeom>
          <a:solidFill>
            <a:srgbClr val="2C2C2E"/>
          </a:solidFill>
          <a:ln/>
        </p:spPr>
      </p:sp>
      <p:sp>
        <p:nvSpPr>
          <p:cNvPr id="21" name="Text 19"/>
          <p:cNvSpPr txBox="1"/>
          <p:nvPr/>
        </p:nvSpPr>
        <p:spPr>
          <a:xfrm>
            <a:off x="3822192" y="1755648"/>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a:t>
            </a:r>
            <a:endParaRPr lang="en-US" sz="1100" dirty="0"/>
          </a:p>
        </p:txBody>
      </p:sp>
      <p:sp>
        <p:nvSpPr>
          <p:cNvPr id="22" name="Shape 20"/>
          <p:cNvSpPr/>
          <p:nvPr/>
        </p:nvSpPr>
        <p:spPr>
          <a:xfrm>
            <a:off x="5166360" y="1719072"/>
            <a:ext cx="2011680" cy="475488"/>
          </a:xfrm>
          <a:prstGeom prst="rect">
            <a:avLst/>
          </a:prstGeom>
          <a:solidFill>
            <a:srgbClr val="2C2C2E"/>
          </a:solidFill>
          <a:ln/>
        </p:spPr>
      </p:sp>
      <p:sp>
        <p:nvSpPr>
          <p:cNvPr id="23" name="Text 21"/>
          <p:cNvSpPr txBox="1"/>
          <p:nvPr/>
        </p:nvSpPr>
        <p:spPr>
          <a:xfrm>
            <a:off x="5221224" y="1755648"/>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a:t>
            </a:r>
            <a:endParaRPr lang="en-US" sz="1100" dirty="0"/>
          </a:p>
        </p:txBody>
      </p:sp>
      <p:sp>
        <p:nvSpPr>
          <p:cNvPr id="24" name="Shape 22"/>
          <p:cNvSpPr/>
          <p:nvPr/>
        </p:nvSpPr>
        <p:spPr>
          <a:xfrm>
            <a:off x="7205472" y="1719072"/>
            <a:ext cx="1280160" cy="475488"/>
          </a:xfrm>
          <a:prstGeom prst="rect">
            <a:avLst/>
          </a:prstGeom>
          <a:solidFill>
            <a:srgbClr val="2C2C2E"/>
          </a:solidFill>
          <a:ln/>
        </p:spPr>
      </p:sp>
      <p:sp>
        <p:nvSpPr>
          <p:cNvPr id="25" name="Text 23"/>
          <p:cNvSpPr txBox="1"/>
          <p:nvPr/>
        </p:nvSpPr>
        <p:spPr>
          <a:xfrm>
            <a:off x="7260336" y="1755648"/>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10:1</a:t>
            </a:r>
            <a:endParaRPr lang="en-US" sz="1100" dirty="0"/>
          </a:p>
        </p:txBody>
      </p:sp>
      <p:sp>
        <p:nvSpPr>
          <p:cNvPr id="26" name="Shape 24"/>
          <p:cNvSpPr/>
          <p:nvPr/>
        </p:nvSpPr>
        <p:spPr>
          <a:xfrm>
            <a:off x="320040" y="2249424"/>
            <a:ext cx="2286000" cy="475488"/>
          </a:xfrm>
          <a:prstGeom prst="rect">
            <a:avLst/>
          </a:prstGeom>
          <a:solidFill>
            <a:srgbClr val="1C1C1E"/>
          </a:solidFill>
          <a:ln/>
        </p:spPr>
      </p:sp>
      <p:sp>
        <p:nvSpPr>
          <p:cNvPr id="27" name="Text 25"/>
          <p:cNvSpPr txBox="1"/>
          <p:nvPr/>
        </p:nvSpPr>
        <p:spPr>
          <a:xfrm>
            <a:off x="374904" y="2286000"/>
            <a:ext cx="2231136" cy="402336"/>
          </a:xfrm>
          <a:prstGeom prst="rect">
            <a:avLst/>
          </a:prstGeom>
          <a:noFill/>
          <a:ln/>
        </p:spPr>
        <p:txBody>
          <a:bodyPr wrap="square" lIns="0" tIns="0" rIns="0" bIns="0" rtlCol="0" anchor="ctr"/>
          <a:lstStyle/>
          <a:p>
            <a:pPr algn="l"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Planta Manufacturera</a:t>
            </a:r>
            <a:endParaRPr lang="en-US" sz="1100" dirty="0"/>
          </a:p>
        </p:txBody>
      </p:sp>
      <p:sp>
        <p:nvSpPr>
          <p:cNvPr id="28" name="Shape 26"/>
          <p:cNvSpPr/>
          <p:nvPr/>
        </p:nvSpPr>
        <p:spPr>
          <a:xfrm>
            <a:off x="2633472" y="2249424"/>
            <a:ext cx="1097280" cy="475488"/>
          </a:xfrm>
          <a:prstGeom prst="rect">
            <a:avLst/>
          </a:prstGeom>
          <a:solidFill>
            <a:srgbClr val="1C1C1E"/>
          </a:solidFill>
          <a:ln/>
        </p:spPr>
      </p:sp>
      <p:sp>
        <p:nvSpPr>
          <p:cNvPr id="29" name="Text 27"/>
          <p:cNvSpPr txBox="1"/>
          <p:nvPr/>
        </p:nvSpPr>
        <p:spPr>
          <a:xfrm>
            <a:off x="2688336" y="2286000"/>
            <a:ext cx="1042416" cy="402336"/>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$42M</a:t>
            </a:r>
            <a:endParaRPr lang="en-US" sz="1100" dirty="0"/>
          </a:p>
        </p:txBody>
      </p:sp>
      <p:sp>
        <p:nvSpPr>
          <p:cNvPr id="30" name="Shape 28"/>
          <p:cNvSpPr/>
          <p:nvPr/>
        </p:nvSpPr>
        <p:spPr>
          <a:xfrm>
            <a:off x="3767328" y="2249424"/>
            <a:ext cx="1371600" cy="475488"/>
          </a:xfrm>
          <a:prstGeom prst="rect">
            <a:avLst/>
          </a:prstGeom>
          <a:solidFill>
            <a:srgbClr val="1C1C1E"/>
          </a:solidFill>
          <a:ln/>
        </p:spPr>
      </p:sp>
      <p:sp>
        <p:nvSpPr>
          <p:cNvPr id="31" name="Text 29"/>
          <p:cNvSpPr txBox="1"/>
          <p:nvPr/>
        </p:nvSpPr>
        <p:spPr>
          <a:xfrm>
            <a:off x="3822192" y="2286000"/>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2.8%</a:t>
            </a:r>
            <a:endParaRPr lang="en-US" sz="1100" dirty="0"/>
          </a:p>
        </p:txBody>
      </p:sp>
      <p:sp>
        <p:nvSpPr>
          <p:cNvPr id="32" name="Shape 30"/>
          <p:cNvSpPr/>
          <p:nvPr/>
        </p:nvSpPr>
        <p:spPr>
          <a:xfrm>
            <a:off x="5166360" y="2249424"/>
            <a:ext cx="2011680" cy="475488"/>
          </a:xfrm>
          <a:prstGeom prst="rect">
            <a:avLst/>
          </a:prstGeom>
          <a:solidFill>
            <a:srgbClr val="1C1C1E"/>
          </a:solidFill>
          <a:ln/>
        </p:spPr>
      </p:sp>
      <p:sp>
        <p:nvSpPr>
          <p:cNvPr id="33" name="Text 31"/>
          <p:cNvSpPr txBox="1"/>
          <p:nvPr/>
        </p:nvSpPr>
        <p:spPr>
          <a:xfrm>
            <a:off x="5221224" y="2286000"/>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a:t>
            </a:r>
            <a:endParaRPr lang="en-US" sz="1100" dirty="0"/>
          </a:p>
        </p:txBody>
      </p:sp>
      <p:sp>
        <p:nvSpPr>
          <p:cNvPr id="34" name="Shape 32"/>
          <p:cNvSpPr/>
          <p:nvPr/>
        </p:nvSpPr>
        <p:spPr>
          <a:xfrm>
            <a:off x="7205472" y="2249424"/>
            <a:ext cx="1280160" cy="475488"/>
          </a:xfrm>
          <a:prstGeom prst="rect">
            <a:avLst/>
          </a:prstGeom>
          <a:solidFill>
            <a:srgbClr val="1C1C1E"/>
          </a:solidFill>
          <a:ln/>
        </p:spPr>
      </p:sp>
      <p:sp>
        <p:nvSpPr>
          <p:cNvPr id="35" name="Text 33"/>
          <p:cNvSpPr txBox="1"/>
          <p:nvPr/>
        </p:nvSpPr>
        <p:spPr>
          <a:xfrm>
            <a:off x="7260336" y="2286000"/>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12:1</a:t>
            </a:r>
            <a:endParaRPr lang="en-US" sz="1100" dirty="0"/>
          </a:p>
        </p:txBody>
      </p:sp>
      <p:sp>
        <p:nvSpPr>
          <p:cNvPr id="36" name="Shape 34"/>
          <p:cNvSpPr/>
          <p:nvPr/>
        </p:nvSpPr>
        <p:spPr>
          <a:xfrm>
            <a:off x="320040" y="2779776"/>
            <a:ext cx="2286000" cy="475488"/>
          </a:xfrm>
          <a:prstGeom prst="rect">
            <a:avLst/>
          </a:prstGeom>
          <a:solidFill>
            <a:srgbClr val="2C2C2E"/>
          </a:solidFill>
          <a:ln/>
        </p:spPr>
      </p:sp>
      <p:sp>
        <p:nvSpPr>
          <p:cNvPr id="37" name="Text 35"/>
          <p:cNvSpPr txBox="1"/>
          <p:nvPr/>
        </p:nvSpPr>
        <p:spPr>
          <a:xfrm>
            <a:off x="374904" y="2816352"/>
            <a:ext cx="2231136" cy="402336"/>
          </a:xfrm>
          <a:prstGeom prst="rect">
            <a:avLst/>
          </a:prstGeom>
          <a:noFill/>
          <a:ln/>
        </p:spPr>
        <p:txBody>
          <a:bodyPr wrap="square" lIns="0" tIns="0" rIns="0" bIns="0" rtlCol="0" anchor="ctr"/>
          <a:lstStyle/>
          <a:p>
            <a:pPr algn="l"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Petroquímica (expansión)</a:t>
            </a:r>
            <a:endParaRPr lang="en-US" sz="1100" dirty="0"/>
          </a:p>
        </p:txBody>
      </p:sp>
      <p:sp>
        <p:nvSpPr>
          <p:cNvPr id="38" name="Shape 36"/>
          <p:cNvSpPr/>
          <p:nvPr/>
        </p:nvSpPr>
        <p:spPr>
          <a:xfrm>
            <a:off x="2633472" y="2779776"/>
            <a:ext cx="1097280" cy="475488"/>
          </a:xfrm>
          <a:prstGeom prst="rect">
            <a:avLst/>
          </a:prstGeom>
          <a:solidFill>
            <a:srgbClr val="2C2C2E"/>
          </a:solidFill>
          <a:ln/>
        </p:spPr>
      </p:sp>
      <p:sp>
        <p:nvSpPr>
          <p:cNvPr id="39" name="Text 37"/>
          <p:cNvSpPr txBox="1"/>
          <p:nvPr/>
        </p:nvSpPr>
        <p:spPr>
          <a:xfrm>
            <a:off x="2688336" y="2816352"/>
            <a:ext cx="1042416" cy="402336"/>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$95M</a:t>
            </a:r>
            <a:endParaRPr lang="en-US" sz="1100" dirty="0"/>
          </a:p>
        </p:txBody>
      </p:sp>
      <p:sp>
        <p:nvSpPr>
          <p:cNvPr id="40" name="Shape 38"/>
          <p:cNvSpPr/>
          <p:nvPr/>
        </p:nvSpPr>
        <p:spPr>
          <a:xfrm>
            <a:off x="3767328" y="2779776"/>
            <a:ext cx="1371600" cy="475488"/>
          </a:xfrm>
          <a:prstGeom prst="rect">
            <a:avLst/>
          </a:prstGeom>
          <a:solidFill>
            <a:srgbClr val="2C2C2E"/>
          </a:solidFill>
          <a:ln/>
        </p:spPr>
      </p:sp>
      <p:sp>
        <p:nvSpPr>
          <p:cNvPr id="41" name="Text 39"/>
          <p:cNvSpPr txBox="1"/>
          <p:nvPr/>
        </p:nvSpPr>
        <p:spPr>
          <a:xfrm>
            <a:off x="3822192" y="2816352"/>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4.3%</a:t>
            </a:r>
            <a:endParaRPr lang="en-US" sz="1100" dirty="0"/>
          </a:p>
        </p:txBody>
      </p:sp>
      <p:sp>
        <p:nvSpPr>
          <p:cNvPr id="42" name="Shape 40"/>
          <p:cNvSpPr/>
          <p:nvPr/>
        </p:nvSpPr>
        <p:spPr>
          <a:xfrm>
            <a:off x="5166360" y="2779776"/>
            <a:ext cx="2011680" cy="475488"/>
          </a:xfrm>
          <a:prstGeom prst="rect">
            <a:avLst/>
          </a:prstGeom>
          <a:solidFill>
            <a:srgbClr val="2C2C2E"/>
          </a:solidFill>
          <a:ln/>
        </p:spPr>
      </p:sp>
      <p:sp>
        <p:nvSpPr>
          <p:cNvPr id="43" name="Text 41"/>
          <p:cNvSpPr txBox="1"/>
          <p:nvPr/>
        </p:nvSpPr>
        <p:spPr>
          <a:xfrm>
            <a:off x="5221224" y="2816352"/>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6.5%</a:t>
            </a:r>
            <a:endParaRPr lang="en-US" sz="1100" dirty="0"/>
          </a:p>
        </p:txBody>
      </p:sp>
      <p:sp>
        <p:nvSpPr>
          <p:cNvPr id="44" name="Shape 42"/>
          <p:cNvSpPr/>
          <p:nvPr/>
        </p:nvSpPr>
        <p:spPr>
          <a:xfrm>
            <a:off x="7205472" y="2779776"/>
            <a:ext cx="1280160" cy="475488"/>
          </a:xfrm>
          <a:prstGeom prst="rect">
            <a:avLst/>
          </a:prstGeom>
          <a:solidFill>
            <a:srgbClr val="2C2C2E"/>
          </a:solidFill>
          <a:ln/>
        </p:spPr>
      </p:sp>
      <p:sp>
        <p:nvSpPr>
          <p:cNvPr id="45" name="Text 43"/>
          <p:cNvSpPr txBox="1"/>
          <p:nvPr/>
        </p:nvSpPr>
        <p:spPr>
          <a:xfrm>
            <a:off x="7260336" y="2816352"/>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9:1</a:t>
            </a:r>
            <a:endParaRPr lang="en-US" sz="1100" dirty="0"/>
          </a:p>
        </p:txBody>
      </p:sp>
      <p:sp>
        <p:nvSpPr>
          <p:cNvPr id="46" name="Shape 44"/>
          <p:cNvSpPr/>
          <p:nvPr/>
        </p:nvSpPr>
        <p:spPr>
          <a:xfrm>
            <a:off x="320040" y="3310128"/>
            <a:ext cx="2286000" cy="475488"/>
          </a:xfrm>
          <a:prstGeom prst="rect">
            <a:avLst/>
          </a:prstGeom>
          <a:solidFill>
            <a:srgbClr val="1C1C1E"/>
          </a:solidFill>
          <a:ln/>
        </p:spPr>
      </p:sp>
      <p:sp>
        <p:nvSpPr>
          <p:cNvPr id="47" name="Text 45"/>
          <p:cNvSpPr txBox="1"/>
          <p:nvPr/>
        </p:nvSpPr>
        <p:spPr>
          <a:xfrm>
            <a:off x="374904" y="3346704"/>
            <a:ext cx="2231136" cy="402336"/>
          </a:xfrm>
          <a:prstGeom prst="rect">
            <a:avLst/>
          </a:prstGeom>
          <a:noFill/>
          <a:ln/>
        </p:spPr>
        <p:txBody>
          <a:bodyPr wrap="square" lIns="0" tIns="0" rIns="0" bIns="0" rtlCol="0" anchor="ctr"/>
          <a:lstStyle/>
          <a:p>
            <a:pPr algn="l"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Gas Industrial</a:t>
            </a:r>
            <a:endParaRPr lang="en-US" sz="1100" dirty="0"/>
          </a:p>
        </p:txBody>
      </p:sp>
      <p:sp>
        <p:nvSpPr>
          <p:cNvPr id="48" name="Shape 46"/>
          <p:cNvSpPr/>
          <p:nvPr/>
        </p:nvSpPr>
        <p:spPr>
          <a:xfrm>
            <a:off x="2633472" y="3310128"/>
            <a:ext cx="1097280" cy="475488"/>
          </a:xfrm>
          <a:prstGeom prst="rect">
            <a:avLst/>
          </a:prstGeom>
          <a:solidFill>
            <a:srgbClr val="1C1C1E"/>
          </a:solidFill>
          <a:ln/>
        </p:spPr>
      </p:sp>
      <p:sp>
        <p:nvSpPr>
          <p:cNvPr id="49" name="Text 47"/>
          <p:cNvSpPr txBox="1"/>
          <p:nvPr/>
        </p:nvSpPr>
        <p:spPr>
          <a:xfrm>
            <a:off x="2688336" y="3346704"/>
            <a:ext cx="1042416" cy="402336"/>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$38M</a:t>
            </a:r>
            <a:endParaRPr lang="en-US" sz="1100" dirty="0"/>
          </a:p>
        </p:txBody>
      </p:sp>
      <p:sp>
        <p:nvSpPr>
          <p:cNvPr id="50" name="Shape 48"/>
          <p:cNvSpPr/>
          <p:nvPr/>
        </p:nvSpPr>
        <p:spPr>
          <a:xfrm>
            <a:off x="3767328" y="3310128"/>
            <a:ext cx="1371600" cy="475488"/>
          </a:xfrm>
          <a:prstGeom prst="rect">
            <a:avLst/>
          </a:prstGeom>
          <a:solidFill>
            <a:srgbClr val="1C1C1E"/>
          </a:solidFill>
          <a:ln/>
        </p:spPr>
      </p:sp>
      <p:sp>
        <p:nvSpPr>
          <p:cNvPr id="51" name="Text 49"/>
          <p:cNvSpPr txBox="1"/>
          <p:nvPr/>
        </p:nvSpPr>
        <p:spPr>
          <a:xfrm>
            <a:off x="3822192" y="3346704"/>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3.5%</a:t>
            </a:r>
            <a:endParaRPr lang="en-US" sz="1100" dirty="0"/>
          </a:p>
        </p:txBody>
      </p:sp>
      <p:sp>
        <p:nvSpPr>
          <p:cNvPr id="52" name="Shape 50"/>
          <p:cNvSpPr/>
          <p:nvPr/>
        </p:nvSpPr>
        <p:spPr>
          <a:xfrm>
            <a:off x="5166360" y="3310128"/>
            <a:ext cx="2011680" cy="475488"/>
          </a:xfrm>
          <a:prstGeom prst="rect">
            <a:avLst/>
          </a:prstGeom>
          <a:solidFill>
            <a:srgbClr val="1C1C1E"/>
          </a:solidFill>
          <a:ln/>
        </p:spPr>
      </p:sp>
      <p:sp>
        <p:nvSpPr>
          <p:cNvPr id="53" name="Text 51"/>
          <p:cNvSpPr txBox="1"/>
          <p:nvPr/>
        </p:nvSpPr>
        <p:spPr>
          <a:xfrm>
            <a:off x="5221224" y="3346704"/>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7.2%</a:t>
            </a:r>
            <a:endParaRPr lang="en-US" sz="1100" dirty="0"/>
          </a:p>
        </p:txBody>
      </p:sp>
      <p:sp>
        <p:nvSpPr>
          <p:cNvPr id="54" name="Shape 52"/>
          <p:cNvSpPr/>
          <p:nvPr/>
        </p:nvSpPr>
        <p:spPr>
          <a:xfrm>
            <a:off x="7205472" y="3310128"/>
            <a:ext cx="1280160" cy="475488"/>
          </a:xfrm>
          <a:prstGeom prst="rect">
            <a:avLst/>
          </a:prstGeom>
          <a:solidFill>
            <a:srgbClr val="1C1C1E"/>
          </a:solidFill>
          <a:ln/>
        </p:spPr>
      </p:sp>
      <p:sp>
        <p:nvSpPr>
          <p:cNvPr id="55" name="Text 53"/>
          <p:cNvSpPr txBox="1"/>
          <p:nvPr/>
        </p:nvSpPr>
        <p:spPr>
          <a:xfrm>
            <a:off x="7260336" y="3346704"/>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11:1</a:t>
            </a:r>
            <a:endParaRPr lang="en-US" sz="1100" dirty="0"/>
          </a:p>
        </p:txBody>
      </p:sp>
      <p:sp>
        <p:nvSpPr>
          <p:cNvPr id="56" name="Shape 54"/>
          <p:cNvSpPr/>
          <p:nvPr/>
        </p:nvSpPr>
        <p:spPr>
          <a:xfrm>
            <a:off x="320040" y="3840480"/>
            <a:ext cx="2286000" cy="475488"/>
          </a:xfrm>
          <a:prstGeom prst="rect">
            <a:avLst/>
          </a:prstGeom>
          <a:solidFill>
            <a:srgbClr val="AF52DE"/>
          </a:solidFill>
          <a:ln/>
        </p:spPr>
      </p:sp>
      <p:sp>
        <p:nvSpPr>
          <p:cNvPr id="57" name="Text 55"/>
          <p:cNvSpPr txBox="1"/>
          <p:nvPr/>
        </p:nvSpPr>
        <p:spPr>
          <a:xfrm>
            <a:off x="374904" y="3877056"/>
            <a:ext cx="2231136"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PROMEDIO CII</a:t>
            </a:r>
            <a:endParaRPr lang="en-US" sz="1200" dirty="0"/>
          </a:p>
        </p:txBody>
      </p:sp>
      <p:sp>
        <p:nvSpPr>
          <p:cNvPr id="58" name="Shape 56"/>
          <p:cNvSpPr/>
          <p:nvPr/>
        </p:nvSpPr>
        <p:spPr>
          <a:xfrm>
            <a:off x="2633472" y="3840480"/>
            <a:ext cx="1097280" cy="475488"/>
          </a:xfrm>
          <a:prstGeom prst="rect">
            <a:avLst/>
          </a:prstGeom>
          <a:solidFill>
            <a:srgbClr val="AF52DE"/>
          </a:solidFill>
          <a:ln/>
        </p:spPr>
      </p:sp>
      <p:sp>
        <p:nvSpPr>
          <p:cNvPr id="59" name="Text 57"/>
          <p:cNvSpPr txBox="1"/>
          <p:nvPr/>
        </p:nvSpPr>
        <p:spPr>
          <a:xfrm>
            <a:off x="2688336" y="3877056"/>
            <a:ext cx="104241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767328" y="3840480"/>
            <a:ext cx="1371600" cy="475488"/>
          </a:xfrm>
          <a:prstGeom prst="rect">
            <a:avLst/>
          </a:prstGeom>
          <a:solidFill>
            <a:srgbClr val="AF52DE"/>
          </a:solidFill>
          <a:ln/>
        </p:spPr>
      </p:sp>
      <p:sp>
        <p:nvSpPr>
          <p:cNvPr id="61" name="Text 59"/>
          <p:cNvSpPr txBox="1"/>
          <p:nvPr/>
        </p:nvSpPr>
        <p:spPr>
          <a:xfrm>
            <a:off x="3822192" y="3877056"/>
            <a:ext cx="13167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4.3%</a:t>
            </a:r>
            <a:endParaRPr lang="en-US" sz="1200" dirty="0"/>
          </a:p>
        </p:txBody>
      </p:sp>
      <p:sp>
        <p:nvSpPr>
          <p:cNvPr id="62" name="Shape 60"/>
          <p:cNvSpPr/>
          <p:nvPr/>
        </p:nvSpPr>
        <p:spPr>
          <a:xfrm>
            <a:off x="5166360" y="3840480"/>
            <a:ext cx="2011680" cy="475488"/>
          </a:xfrm>
          <a:prstGeom prst="rect">
            <a:avLst/>
          </a:prstGeom>
          <a:solidFill>
            <a:srgbClr val="AF52DE"/>
          </a:solidFill>
          <a:ln/>
        </p:spPr>
      </p:sp>
      <p:sp>
        <p:nvSpPr>
          <p:cNvPr id="63" name="Text 61"/>
          <p:cNvSpPr txBox="1"/>
          <p:nvPr/>
        </p:nvSpPr>
        <p:spPr>
          <a:xfrm>
            <a:off x="5221224" y="3877056"/>
            <a:ext cx="195681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7.5%</a:t>
            </a:r>
            <a:endParaRPr lang="en-US" sz="1200" dirty="0"/>
          </a:p>
        </p:txBody>
      </p:sp>
      <p:sp>
        <p:nvSpPr>
          <p:cNvPr id="64" name="Shape 62"/>
          <p:cNvSpPr/>
          <p:nvPr/>
        </p:nvSpPr>
        <p:spPr>
          <a:xfrm>
            <a:off x="7205472" y="3840480"/>
            <a:ext cx="1280160" cy="475488"/>
          </a:xfrm>
          <a:prstGeom prst="rect">
            <a:avLst/>
          </a:prstGeom>
          <a:solidFill>
            <a:srgbClr val="AF52DE"/>
          </a:solidFill>
          <a:ln/>
        </p:spPr>
      </p:sp>
      <p:sp>
        <p:nvSpPr>
          <p:cNvPr id="65" name="Text 63"/>
          <p:cNvSpPr txBox="1"/>
          <p:nvPr/>
        </p:nvSpPr>
        <p:spPr>
          <a:xfrm>
            <a:off x="7260336" y="3877056"/>
            <a:ext cx="122529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tkinson Hyperlegible" pitchFamily="34" charset="0"/>
                <a:ea typeface="Atkinson Hyperlegible" pitchFamily="34" charset="-122"/>
                <a:cs typeface="Atkinson Hyperlegible" pitchFamily="34" charset="-120"/>
              </a:rPr>
              <a:t>10:1</a:t>
            </a:r>
            <a:endParaRPr lang="en-US" sz="1200" dirty="0"/>
          </a:p>
        </p:txBody>
      </p:sp>
      <p:sp>
        <p:nvSpPr>
          <p:cNvPr id="66" name="Shape 64"/>
          <p:cNvSpPr/>
          <p:nvPr/>
        </p:nvSpPr>
        <p:spPr>
          <a:xfrm>
            <a:off x="365760" y="4462272"/>
            <a:ext cx="8412480" cy="749808"/>
          </a:xfrm>
          <a:prstGeom prst="roundRect">
            <a:avLst>
              <a:gd name="adj" fmla="val 12195"/>
            </a:avLst>
          </a:prstGeom>
          <a:solidFill>
            <a:srgbClr val="2C2C2E"/>
          </a:solidFill>
          <a:ln w="12700">
            <a:solidFill>
              <a:srgbClr val="AF52DE"/>
            </a:solidFill>
            <a:prstDash val="solid"/>
          </a:ln>
        </p:spPr>
      </p:sp>
      <p:sp>
        <p:nvSpPr>
          <p:cNvPr id="67" name="Text 65"/>
          <p:cNvSpPr txBox="1"/>
          <p:nvPr/>
        </p:nvSpPr>
        <p:spPr>
          <a:xfrm>
            <a:off x="530352" y="4526280"/>
            <a:ext cx="8046720" cy="621792"/>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Conclusión del análisis comparativo: Todos los casos mostraron beneficios positivos independientemente del tipo, tamaño o ubicación del proyecto. El ratio B/C promedio de 10:1 es consistente con la predicción de la investigación CII. La constructabilidad funciona en proyectos comerciales e industriales por igual.</a:t>
            </a:r>
            <a:endParaRPr lang="en-US" sz="1150" dirty="0"/>
          </a:p>
        </p:txBody>
      </p:sp>
      <p:sp>
        <p:nvSpPr>
          <p:cNvPr id="68" name="Text 6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Diseño para Construcción — Ejemplos de Aplicación Real</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Aplicaciones documentadas del Concepto II-2 en proyectos industriales y comerciales:</a:t>
            </a:r>
            <a:endParaRPr lang="en-US" sz="1400" dirty="0"/>
          </a:p>
        </p:txBody>
      </p:sp>
      <p:sp>
        <p:nvSpPr>
          <p:cNvPr id="6" name="Shape 4"/>
          <p:cNvSpPr/>
          <p:nvPr/>
        </p:nvSpPr>
        <p:spPr>
          <a:xfrm>
            <a:off x="365760" y="1298448"/>
            <a:ext cx="4206240" cy="1143000"/>
          </a:xfrm>
          <a:prstGeom prst="roundRect">
            <a:avLst>
              <a:gd name="adj" fmla="val 8000"/>
            </a:avLst>
          </a:prstGeom>
          <a:solidFill>
            <a:srgbClr val="2C2C2E"/>
          </a:solidFill>
          <a:ln w="12700">
            <a:solidFill>
              <a:srgbClr val="30D158"/>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Elevación de Piping en Sleepers vs. Rack</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En planta de shale oil: tubería en sleepers a nivel del suelo vs. rack elevado. Ahorro de 1 mes en entrega de acero estructural, valor de $550K en flujo de caja anticipado.</a:t>
            </a:r>
            <a:endParaRPr lang="en-US" sz="1100" dirty="0"/>
          </a:p>
        </p:txBody>
      </p:sp>
      <p:sp>
        <p:nvSpPr>
          <p:cNvPr id="9" name="Shape 7"/>
          <p:cNvSpPr/>
          <p:nvPr/>
        </p:nvSpPr>
        <p:spPr>
          <a:xfrm>
            <a:off x="4754880" y="1298448"/>
            <a:ext cx="4206240" cy="1143000"/>
          </a:xfrm>
          <a:prstGeom prst="roundRect">
            <a:avLst>
              <a:gd name="adj" fmla="val 8000"/>
            </a:avLst>
          </a:prstGeom>
          <a:solidFill>
            <a:srgbClr val="2C2C2E"/>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Posición de Centros de Control de Motores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MCC ubicado cerca de las cargas eléctricas reduce longitud de cables y tiempo de instalación. $400K de ahorro documentado solo por optimización de layout.</a:t>
            </a:r>
            <a:endParaRPr lang="en-US" sz="1100" dirty="0"/>
          </a:p>
        </p:txBody>
      </p:sp>
      <p:sp>
        <p:nvSpPr>
          <p:cNvPr id="12" name="Shape 10"/>
          <p:cNvSpPr/>
          <p:nvPr/>
        </p:nvSpPr>
        <p:spPr>
          <a:xfrm>
            <a:off x="365760" y="2560320"/>
            <a:ext cx="4206240" cy="1143000"/>
          </a:xfrm>
          <a:prstGeom prst="roundRect">
            <a:avLst>
              <a:gd name="adj" fmla="val 8000"/>
            </a:avLst>
          </a:prstGeom>
          <a:solidFill>
            <a:srgbClr val="2C2C2E"/>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Zanja Común para Firewater y Ducto Eléctrico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Coordinación de instalaciones subterráneas en una sola excavación. Ahorro: $66K en trabajo de zanjeado y relleno.</a:t>
            </a:r>
            <a:endParaRPr lang="en-US" sz="1100" dirty="0"/>
          </a:p>
        </p:txBody>
      </p:sp>
      <p:sp>
        <p:nvSpPr>
          <p:cNvPr id="15" name="Shape 13"/>
          <p:cNvSpPr/>
          <p:nvPr/>
        </p:nvSpPr>
        <p:spPr>
          <a:xfrm>
            <a:off x="4754880" y="2560320"/>
            <a:ext cx="4206240" cy="1143000"/>
          </a:xfrm>
          <a:prstGeom prst="roundRect">
            <a:avLst>
              <a:gd name="adj" fmla="val 8000"/>
            </a:avLst>
          </a:prstGeom>
          <a:solidFill>
            <a:srgbClr val="2C2C2E"/>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Losa Aligerada vs. Losa Maciza</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Para proyectos en zonas sísmicas moderadas: evaluación del impacto constructivo de cada alternativa. La selección temprana evita cambios costosos durante la construcción.</a:t>
            </a:r>
            <a:endParaRPr lang="en-US" sz="1100" dirty="0"/>
          </a:p>
        </p:txBody>
      </p:sp>
      <p:sp>
        <p:nvSpPr>
          <p:cNvPr id="18" name="Shape 16"/>
          <p:cNvSpPr/>
          <p:nvPr/>
        </p:nvSpPr>
        <p:spPr>
          <a:xfrm>
            <a:off x="365760" y="3822192"/>
            <a:ext cx="4206240" cy="1143000"/>
          </a:xfrm>
          <a:prstGeom prst="roundRect">
            <a:avLst>
              <a:gd name="adj" fmla="val 8000"/>
            </a:avLst>
          </a:prstGeom>
          <a:solidFill>
            <a:srgbClr val="2C2C2E"/>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Materiales de Revestimiento para Trabajo en Altura</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Seleccionar sistemas de roofing y siding que minimizan la necesidad de trabajo en altura difícil. Reduce tiempo de instalación y riesgo de caídas.</a:t>
            </a:r>
            <a:endParaRPr lang="en-US" sz="1100" dirty="0"/>
          </a:p>
        </p:txBody>
      </p:sp>
      <p:sp>
        <p:nvSpPr>
          <p:cNvPr id="21" name="Shape 19"/>
          <p:cNvSpPr/>
          <p:nvPr/>
        </p:nvSpPr>
        <p:spPr>
          <a:xfrm>
            <a:off x="4754880" y="3822192"/>
            <a:ext cx="4206240" cy="1143000"/>
          </a:xfrm>
          <a:prstGeom prst="roundRect">
            <a:avLst>
              <a:gd name="adj" fmla="val 8000"/>
            </a:avLst>
          </a:prstGeom>
          <a:solidFill>
            <a:srgbClr val="2C2C2E"/>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Conexiones Estructurales Precalificadas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Usar conexiones aprobadas por los fabricantes de acero en lugar de conexiones especiales. Reduce el tiempo de fabricación y el costo de inspección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y Seguridad — Safety by Design</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La constructabilidad temprana reduce el riesgo de accidentes al eliminar condiciones inseguras antes de llegar al campo:</a:t>
            </a:r>
            <a:endParaRPr lang="en-US" sz="1400" dirty="0"/>
          </a:p>
        </p:txBody>
      </p:sp>
      <p:sp>
        <p:nvSpPr>
          <p:cNvPr id="6" name="Shape 4"/>
          <p:cNvSpPr/>
          <p:nvPr/>
        </p:nvSpPr>
        <p:spPr>
          <a:xfrm>
            <a:off x="365760" y="1325880"/>
            <a:ext cx="4206240" cy="1143000"/>
          </a:xfrm>
          <a:prstGeom prst="roundRect">
            <a:avLst>
              <a:gd name="adj" fmla="val 8000"/>
            </a:avLst>
          </a:prstGeom>
          <a:solidFill>
            <a:srgbClr val="2C2C2E"/>
          </a:solidFill>
          <a:ln w="12700">
            <a:solidFill>
              <a:srgbClr val="FF453A"/>
            </a:solidFill>
            <a:prstDash val="solid"/>
          </a:ln>
        </p:spPr>
      </p:sp>
      <p:sp>
        <p:nvSpPr>
          <p:cNvPr id="7" name="Shape 5"/>
          <p:cNvSpPr/>
          <p:nvPr/>
        </p:nvSpPr>
        <p:spPr>
          <a:xfrm>
            <a:off x="365760" y="1325880"/>
            <a:ext cx="64008" cy="1143000"/>
          </a:xfrm>
          <a:prstGeom prst="rect">
            <a:avLst/>
          </a:prstGeom>
          <a:solidFill>
            <a:srgbClr val="FF453A"/>
          </a:solidFill>
          <a:ln/>
        </p:spPr>
      </p:sp>
      <p:sp>
        <p:nvSpPr>
          <p:cNvPr id="8" name="Text 6"/>
          <p:cNvSpPr txBox="1"/>
          <p:nvPr/>
        </p:nvSpPr>
        <p:spPr>
          <a:xfrm>
            <a:off x="566928" y="1399032"/>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en Altura Reducido</a:t>
            </a:r>
            <a:endParaRPr lang="en-US" sz="1300" dirty="0"/>
          </a:p>
        </p:txBody>
      </p:sp>
      <p:sp>
        <p:nvSpPr>
          <p:cNvPr id="9" name="Text 7"/>
          <p:cNvSpPr txBox="1"/>
          <p:nvPr/>
        </p:nvSpPr>
        <p:spPr>
          <a:xfrm>
            <a:off x="566928" y="1764792"/>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Diseñar para que el máximo trabajo posible se realice al nivel del suelo. Pre-ensamble de estructuras antes del izaje. El trabajo en tierra es más seguro y eficiente.</a:t>
            </a:r>
            <a:endParaRPr lang="en-US" sz="1100" dirty="0"/>
          </a:p>
        </p:txBody>
      </p:sp>
      <p:sp>
        <p:nvSpPr>
          <p:cNvPr id="10" name="Shape 8"/>
          <p:cNvSpPr/>
          <p:nvPr/>
        </p:nvSpPr>
        <p:spPr>
          <a:xfrm>
            <a:off x="4754880" y="1325880"/>
            <a:ext cx="4206240" cy="1143000"/>
          </a:xfrm>
          <a:prstGeom prst="roundRect">
            <a:avLst>
              <a:gd name="adj" fmla="val 8000"/>
            </a:avLst>
          </a:prstGeom>
          <a:solidFill>
            <a:srgbClr val="2C2C2E"/>
          </a:solidFill>
          <a:ln w="12700">
            <a:solidFill>
              <a:srgbClr val="FF9500"/>
            </a:solidFill>
            <a:prstDash val="solid"/>
          </a:ln>
        </p:spPr>
      </p:sp>
      <p:sp>
        <p:nvSpPr>
          <p:cNvPr id="11" name="Shape 9"/>
          <p:cNvSpPr/>
          <p:nvPr/>
        </p:nvSpPr>
        <p:spPr>
          <a:xfrm>
            <a:off x="4754880" y="1325880"/>
            <a:ext cx="64008" cy="1143000"/>
          </a:xfrm>
          <a:prstGeom prst="rect">
            <a:avLst/>
          </a:prstGeom>
          <a:solidFill>
            <a:srgbClr val="FF9500"/>
          </a:solidFill>
          <a:ln/>
        </p:spPr>
      </p:sp>
      <p:sp>
        <p:nvSpPr>
          <p:cNvPr id="12" name="Text 10"/>
          <p:cNvSpPr txBox="1"/>
          <p:nvPr/>
        </p:nvSpPr>
        <p:spPr>
          <a:xfrm>
            <a:off x="4956048" y="139903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Detección Temprana de Interferencias</a:t>
            </a:r>
            <a:endParaRPr lang="en-US" sz="1300" dirty="0"/>
          </a:p>
        </p:txBody>
      </p:sp>
      <p:sp>
        <p:nvSpPr>
          <p:cNvPr id="13" name="Text 11"/>
          <p:cNvSpPr txBox="1"/>
          <p:nvPr/>
        </p:nvSpPr>
        <p:spPr>
          <a:xfrm>
            <a:off x="4956048" y="1764792"/>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BIM clash detection identifica interferencias que en campo requieren trabajo en espacios confinados o en altura. Resolver en diseño es más seguro y barato.</a:t>
            </a:r>
            <a:endParaRPr lang="en-US" sz="1100" dirty="0"/>
          </a:p>
        </p:txBody>
      </p:sp>
      <p:sp>
        <p:nvSpPr>
          <p:cNvPr id="14" name="Shape 12"/>
          <p:cNvSpPr/>
          <p:nvPr/>
        </p:nvSpPr>
        <p:spPr>
          <a:xfrm>
            <a:off x="365760" y="2587752"/>
            <a:ext cx="4206240" cy="1143000"/>
          </a:xfrm>
          <a:prstGeom prst="roundRect">
            <a:avLst>
              <a:gd name="adj" fmla="val 8000"/>
            </a:avLst>
          </a:prstGeom>
          <a:solidFill>
            <a:srgbClr val="2C2C2E"/>
          </a:solidFill>
          <a:ln w="12700">
            <a:solidFill>
              <a:srgbClr val="FFD60A"/>
            </a:solidFill>
            <a:prstDash val="solid"/>
          </a:ln>
        </p:spPr>
      </p:sp>
      <p:sp>
        <p:nvSpPr>
          <p:cNvPr id="15" name="Shape 13"/>
          <p:cNvSpPr/>
          <p:nvPr/>
        </p:nvSpPr>
        <p:spPr>
          <a:xfrm>
            <a:off x="365760" y="2587752"/>
            <a:ext cx="64008" cy="1143000"/>
          </a:xfrm>
          <a:prstGeom prst="rect">
            <a:avLst/>
          </a:prstGeom>
          <a:solidFill>
            <a:srgbClr val="FFD60A"/>
          </a:solidFill>
          <a:ln/>
        </p:spPr>
      </p:sp>
      <p:sp>
        <p:nvSpPr>
          <p:cNvPr id="16" name="Text 14"/>
          <p:cNvSpPr txBox="1"/>
          <p:nvPr/>
        </p:nvSpPr>
        <p:spPr>
          <a:xfrm>
            <a:off x="566928" y="266090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Planes de Izaje Formales</a:t>
            </a:r>
            <a:endParaRPr lang="en-US" sz="1300" dirty="0"/>
          </a:p>
        </p:txBody>
      </p:sp>
      <p:sp>
        <p:nvSpPr>
          <p:cNvPr id="17" name="Text 15"/>
          <p:cNvSpPr txBox="1"/>
          <p:nvPr/>
        </p:nvSpPr>
        <p:spPr>
          <a:xfrm>
            <a:off x="566928" y="3026664"/>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Cada izaje pesado requiere un plan formal revisado por ingeniería. Área estéril, capacidad de grúa verificada, clima y señalización planificados.</a:t>
            </a:r>
            <a:endParaRPr lang="en-US" sz="1100" dirty="0"/>
          </a:p>
        </p:txBody>
      </p:sp>
      <p:sp>
        <p:nvSpPr>
          <p:cNvPr id="18" name="Shape 16"/>
          <p:cNvSpPr/>
          <p:nvPr/>
        </p:nvSpPr>
        <p:spPr>
          <a:xfrm>
            <a:off x="4754880" y="2587752"/>
            <a:ext cx="4206240" cy="1143000"/>
          </a:xfrm>
          <a:prstGeom prst="roundRect">
            <a:avLst>
              <a:gd name="adj" fmla="val 8000"/>
            </a:avLst>
          </a:prstGeom>
          <a:solidFill>
            <a:srgbClr val="2C2C2E"/>
          </a:solidFill>
          <a:ln w="12700">
            <a:solidFill>
              <a:srgbClr val="30D158"/>
            </a:solidFill>
            <a:prstDash val="solid"/>
          </a:ln>
        </p:spPr>
      </p:sp>
      <p:sp>
        <p:nvSpPr>
          <p:cNvPr id="19" name="Shape 17"/>
          <p:cNvSpPr/>
          <p:nvPr/>
        </p:nvSpPr>
        <p:spPr>
          <a:xfrm>
            <a:off x="4754880" y="2587752"/>
            <a:ext cx="64008" cy="1143000"/>
          </a:xfrm>
          <a:prstGeom prst="rect">
            <a:avLst/>
          </a:prstGeom>
          <a:solidFill>
            <a:srgbClr val="30D158"/>
          </a:solidFill>
          <a:ln/>
        </p:spPr>
      </p:sp>
      <p:sp>
        <p:nvSpPr>
          <p:cNvPr id="20" name="Text 18"/>
          <p:cNvSpPr txBox="1"/>
          <p:nvPr/>
        </p:nvSpPr>
        <p:spPr>
          <a:xfrm>
            <a:off x="4956048" y="2660904"/>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Ergonomía del Trabajo de Campo</a:t>
            </a:r>
            <a:endParaRPr lang="en-US" sz="1300" dirty="0"/>
          </a:p>
        </p:txBody>
      </p:sp>
      <p:sp>
        <p:nvSpPr>
          <p:cNvPr id="21" name="Text 19"/>
          <p:cNvSpPr txBox="1"/>
          <p:nvPr/>
        </p:nvSpPr>
        <p:spPr>
          <a:xfrm>
            <a:off x="4956048" y="3026664"/>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Diseñar la posición de válvulas, instrumentos y equipos de mantenimiento considerando la ergonomía del trabajo del operario. Reduce lesiones músculo-esqueléticas.</a:t>
            </a:r>
            <a:endParaRPr lang="en-US" sz="1100" dirty="0"/>
          </a:p>
        </p:txBody>
      </p:sp>
      <p:sp>
        <p:nvSpPr>
          <p:cNvPr id="22" name="Shape 20"/>
          <p:cNvSpPr/>
          <p:nvPr/>
        </p:nvSpPr>
        <p:spPr>
          <a:xfrm>
            <a:off x="365760" y="3849624"/>
            <a:ext cx="4206240" cy="1143000"/>
          </a:xfrm>
          <a:prstGeom prst="roundRect">
            <a:avLst>
              <a:gd name="adj" fmla="val 8000"/>
            </a:avLst>
          </a:prstGeom>
          <a:solidFill>
            <a:srgbClr val="2C2C2E"/>
          </a:solidFill>
          <a:ln w="12700">
            <a:solidFill>
              <a:srgbClr val="0A84FF"/>
            </a:solidFill>
            <a:prstDash val="solid"/>
          </a:ln>
        </p:spPr>
      </p:sp>
      <p:sp>
        <p:nvSpPr>
          <p:cNvPr id="23" name="Shape 21"/>
          <p:cNvSpPr/>
          <p:nvPr/>
        </p:nvSpPr>
        <p:spPr>
          <a:xfrm>
            <a:off x="365760" y="3849624"/>
            <a:ext cx="64008" cy="1143000"/>
          </a:xfrm>
          <a:prstGeom prst="rect">
            <a:avLst/>
          </a:prstGeom>
          <a:solidFill>
            <a:srgbClr val="0A84FF"/>
          </a:solidFill>
          <a:ln/>
        </p:spPr>
      </p:sp>
      <p:sp>
        <p:nvSpPr>
          <p:cNvPr id="24" name="Text 22"/>
          <p:cNvSpPr txBox="1"/>
          <p:nvPr/>
        </p:nvSpPr>
        <p:spPr>
          <a:xfrm>
            <a:off x="566928" y="3922776"/>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Secuenciación para Evitar Exposición</a:t>
            </a:r>
            <a:endParaRPr lang="en-US" sz="1300" dirty="0"/>
          </a:p>
        </p:txBody>
      </p:sp>
      <p:sp>
        <p:nvSpPr>
          <p:cNvPr id="25" name="Text 23"/>
          <p:cNvSpPr txBox="1"/>
          <p:nvPr/>
        </p:nvSpPr>
        <p:spPr>
          <a:xfrm>
            <a:off x="566928" y="4288536"/>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Programar el trabajo de manera que las cuadrillas no estén expuestas a peligros simultáneos (izajes, trabajos en caliente, espacios confinados).</a:t>
            </a:r>
            <a:endParaRPr lang="en-US" sz="1100" dirty="0"/>
          </a:p>
        </p:txBody>
      </p:sp>
      <p:sp>
        <p:nvSpPr>
          <p:cNvPr id="26" name="Shape 24"/>
          <p:cNvSpPr/>
          <p:nvPr/>
        </p:nvSpPr>
        <p:spPr>
          <a:xfrm>
            <a:off x="4754880" y="3849624"/>
            <a:ext cx="4206240" cy="1143000"/>
          </a:xfrm>
          <a:prstGeom prst="roundRect">
            <a:avLst>
              <a:gd name="adj" fmla="val 8000"/>
            </a:avLst>
          </a:prstGeom>
          <a:solidFill>
            <a:srgbClr val="2C2C2E"/>
          </a:solidFill>
          <a:ln w="12700">
            <a:solidFill>
              <a:srgbClr val="AF52DE"/>
            </a:solidFill>
            <a:prstDash val="solid"/>
          </a:ln>
        </p:spPr>
      </p:sp>
      <p:sp>
        <p:nvSpPr>
          <p:cNvPr id="27" name="Shape 25"/>
          <p:cNvSpPr/>
          <p:nvPr/>
        </p:nvSpPr>
        <p:spPr>
          <a:xfrm>
            <a:off x="4754880" y="3849624"/>
            <a:ext cx="64008" cy="1143000"/>
          </a:xfrm>
          <a:prstGeom prst="rect">
            <a:avLst/>
          </a:prstGeom>
          <a:solidFill>
            <a:srgbClr val="AF52DE"/>
          </a:solidFill>
          <a:ln/>
        </p:spPr>
      </p:sp>
      <p:sp>
        <p:nvSpPr>
          <p:cNvPr id="28" name="Text 26"/>
          <p:cNvSpPr txBox="1"/>
          <p:nvPr/>
        </p:nvSpPr>
        <p:spPr>
          <a:xfrm>
            <a:off x="4956048" y="3922776"/>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Acceso de Emergencia</a:t>
            </a:r>
            <a:endParaRPr lang="en-US" sz="1300" dirty="0"/>
          </a:p>
        </p:txBody>
      </p:sp>
      <p:sp>
        <p:nvSpPr>
          <p:cNvPr id="29" name="Text 27"/>
          <p:cNvSpPr txBox="1"/>
          <p:nvPr/>
        </p:nvSpPr>
        <p:spPr>
          <a:xfrm>
            <a:off x="4956048" y="4288536"/>
            <a:ext cx="374904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Diseño de rutas de evacuación y acceso para emergencias desde la fase de diseño. Considerar escenarios de rescate en las fases tempranas.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en Proyectos de Carreteras e Infraestructura Vial</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El CII SD-4 documenta conceptos específicos para proyectos de carreteras y obras lineales:</a:t>
            </a:r>
            <a:endParaRPr lang="en-US" sz="1400" dirty="0"/>
          </a:p>
        </p:txBody>
      </p:sp>
      <p:sp>
        <p:nvSpPr>
          <p:cNvPr id="6" name="Shape 4"/>
          <p:cNvSpPr/>
          <p:nvPr/>
        </p:nvSpPr>
        <p:spPr>
          <a:xfrm>
            <a:off x="365760" y="1298448"/>
            <a:ext cx="4206240" cy="1143000"/>
          </a:xfrm>
          <a:prstGeom prst="roundRect">
            <a:avLst>
              <a:gd name="adj" fmla="val 8000"/>
            </a:avLst>
          </a:prstGeom>
          <a:solidFill>
            <a:srgbClr val="2C2C2E"/>
          </a:solidFill>
          <a:ln w="12700">
            <a:solidFill>
              <a:srgbClr val="FF9500"/>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 de Control de Tráfico (TCP)</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TCP es crítico en proyectos de carreteras activas. La constructabilidad analiza el impacto del TCP en la productividad y cronograma de construcción. TCP mal planificado puede duplicar el costo de mano de obra.</a:t>
            </a:r>
            <a:endParaRPr lang="en-US" sz="1100" dirty="0"/>
          </a:p>
        </p:txBody>
      </p:sp>
      <p:sp>
        <p:nvSpPr>
          <p:cNvPr id="9" name="Shape 7"/>
          <p:cNvSpPr/>
          <p:nvPr/>
        </p:nvSpPr>
        <p:spPr>
          <a:xfrm>
            <a:off x="4754880" y="1298448"/>
            <a:ext cx="4206240" cy="1143000"/>
          </a:xfrm>
          <a:prstGeom prst="roundRect">
            <a:avLst>
              <a:gd name="adj" fmla="val 8000"/>
            </a:avLst>
          </a:prstGeom>
          <a:solidFill>
            <a:srgbClr val="2C2C2E"/>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Diseño de Terraplenes y Cortes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secuencia de movimiento de tierras define el cronograma de la obra vial. El diseño debe considerar: estabilidad de taludes, balance de corte-relleno, acceso de equipos y disposición de material excedente.</a:t>
            </a:r>
            <a:endParaRPr lang="en-US" sz="1100" dirty="0"/>
          </a:p>
        </p:txBody>
      </p:sp>
      <p:sp>
        <p:nvSpPr>
          <p:cNvPr id="12" name="Shape 10"/>
          <p:cNvSpPr/>
          <p:nvPr/>
        </p:nvSpPr>
        <p:spPr>
          <a:xfrm>
            <a:off x="365760" y="2560320"/>
            <a:ext cx="4206240" cy="1143000"/>
          </a:xfrm>
          <a:prstGeom prst="roundRect">
            <a:avLst>
              <a:gd name="adj" fmla="val 8000"/>
            </a:avLst>
          </a:prstGeom>
          <a:solidFill>
            <a:srgbClr val="2C2C2E"/>
          </a:solidFill>
          <a:ln w="12700">
            <a:solidFill>
              <a:srgbClr val="30D158"/>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Puentes y Pasos a Nivel</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Los elementos de puente (superestructura, subestructura) tienen secuencias constructivas que deben integrarse al cronograma general. Prefabricación vs. construcción in situ.</a:t>
            </a:r>
            <a:endParaRPr lang="en-US" sz="1100" dirty="0"/>
          </a:p>
        </p:txBody>
      </p:sp>
      <p:sp>
        <p:nvSpPr>
          <p:cNvPr id="15" name="Shape 13"/>
          <p:cNvSpPr/>
          <p:nvPr/>
        </p:nvSpPr>
        <p:spPr>
          <a:xfrm>
            <a:off x="4754880" y="2560320"/>
            <a:ext cx="4206240" cy="1143000"/>
          </a:xfrm>
          <a:prstGeom prst="roundRect">
            <a:avLst>
              <a:gd name="adj" fmla="val 8000"/>
            </a:avLst>
          </a:prstGeom>
          <a:solidFill>
            <a:srgbClr val="2C2C2E"/>
          </a:solidFill>
          <a:ln w="12700">
            <a:solidFill>
              <a:srgbClr val="FF453A"/>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Alcantarillas y Drenaje</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Instalar drenajes durante la temporada seca para maximizar productividad. El drenaje temprano protege las siguientes fases de trabajo.</a:t>
            </a:r>
            <a:endParaRPr lang="en-US" sz="1100" dirty="0"/>
          </a:p>
        </p:txBody>
      </p:sp>
      <p:sp>
        <p:nvSpPr>
          <p:cNvPr id="18" name="Shape 16"/>
          <p:cNvSpPr/>
          <p:nvPr/>
        </p:nvSpPr>
        <p:spPr>
          <a:xfrm>
            <a:off x="365760" y="3822192"/>
            <a:ext cx="4206240" cy="1143000"/>
          </a:xfrm>
          <a:prstGeom prst="roundRect">
            <a:avLst>
              <a:gd name="adj" fmla="val 8000"/>
            </a:avLst>
          </a:prstGeom>
          <a:solidFill>
            <a:srgbClr val="2C2C2E"/>
          </a:solidFill>
          <a:ln w="12700">
            <a:solidFill>
              <a:srgbClr val="AF52DE"/>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Pavimentación</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Las operaciones de pavimentación requieren análisis de productividad de tren de trabajo. Secuencias de bases, sub-bases y capas de rodadura.</a:t>
            </a:r>
            <a:endParaRPr lang="en-US" sz="1100" dirty="0"/>
          </a:p>
        </p:txBody>
      </p:sp>
      <p:sp>
        <p:nvSpPr>
          <p:cNvPr id="21" name="Shape 19"/>
          <p:cNvSpPr/>
          <p:nvPr/>
        </p:nvSpPr>
        <p:spPr>
          <a:xfrm>
            <a:off x="4754880" y="3822192"/>
            <a:ext cx="4206240" cy="1143000"/>
          </a:xfrm>
          <a:prstGeom prst="roundRect">
            <a:avLst>
              <a:gd name="adj" fmla="val 8000"/>
            </a:avLst>
          </a:prstGeom>
          <a:solidFill>
            <a:srgbClr val="2C2C2E"/>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Señalización y Marcas Viales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Planificar la secuencia de señalización como parte del proceso de liberación de tramos al tráfico. Impacto en el TCP y en las fechas de entrega parcial.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en Proyectos de Concreto Reforzado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Aplicaciones de los conceptos CII en el diseño de elementos de concreto reforzado:</a:t>
            </a:r>
            <a:endParaRPr lang="en-US" sz="1400" dirty="0"/>
          </a:p>
        </p:txBody>
      </p:sp>
      <p:sp>
        <p:nvSpPr>
          <p:cNvPr id="6" name="Shape 4"/>
          <p:cNvSpPr/>
          <p:nvPr/>
        </p:nvSpPr>
        <p:spPr>
          <a:xfrm>
            <a:off x="365760" y="1298448"/>
            <a:ext cx="4206240" cy="1143000"/>
          </a:xfrm>
          <a:prstGeom prst="roundRect">
            <a:avLst>
              <a:gd name="adj" fmla="val 8000"/>
            </a:avLst>
          </a:prstGeom>
          <a:solidFill>
            <a:srgbClr val="2C2C2E"/>
          </a:solidFill>
          <a:ln w="12700">
            <a:solidFill>
              <a:srgbClr val="0A84FF"/>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Densidad del Refuerzo</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espaciamiento mínimo entre barras debe permitir el paso del vibrador de concreto. Barras demasiado juntas impiden la correcta colocación y compactación del concreto.</a:t>
            </a:r>
            <a:endParaRPr lang="en-US" sz="1100" dirty="0"/>
          </a:p>
        </p:txBody>
      </p:sp>
      <p:sp>
        <p:nvSpPr>
          <p:cNvPr id="9" name="Shape 7"/>
          <p:cNvSpPr/>
          <p:nvPr/>
        </p:nvSpPr>
        <p:spPr>
          <a:xfrm>
            <a:off x="4754880" y="1298448"/>
            <a:ext cx="4206240" cy="1143000"/>
          </a:xfrm>
          <a:prstGeom prst="roundRect">
            <a:avLst>
              <a:gd name="adj" fmla="val 8000"/>
            </a:avLst>
          </a:prstGeom>
          <a:solidFill>
            <a:srgbClr val="2C2C2E"/>
          </a:solidFill>
          <a:ln w="12700">
            <a:solidFill>
              <a:srgbClr val="30D158"/>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Sistemas de Cimbrado</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selección temprana del sistema de cimbrado (convencional, tablero, trepante, deslizante) define el cronograma de concreto y el costo de encofrado. Decisión de Concepto I-5.</a:t>
            </a:r>
            <a:endParaRPr lang="en-US" sz="1100" dirty="0"/>
          </a:p>
        </p:txBody>
      </p:sp>
      <p:sp>
        <p:nvSpPr>
          <p:cNvPr id="12" name="Shape 10"/>
          <p:cNvSpPr/>
          <p:nvPr/>
        </p:nvSpPr>
        <p:spPr>
          <a:xfrm>
            <a:off x="365760" y="2560320"/>
            <a:ext cx="4206240" cy="1143000"/>
          </a:xfrm>
          <a:prstGeom prst="roundRect">
            <a:avLst>
              <a:gd name="adj" fmla="val 8000"/>
            </a:avLst>
          </a:prstGeom>
          <a:solidFill>
            <a:srgbClr val="2C2C2E"/>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Planos Separados por Oficio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Planos separados para encofrado y para fierro mejoran la legibilidad y reducen errores. Las dimensiones necesarias para cada operación son distintas.</a:t>
            </a:r>
            <a:endParaRPr lang="en-US" sz="1100" dirty="0"/>
          </a:p>
        </p:txBody>
      </p:sp>
      <p:sp>
        <p:nvSpPr>
          <p:cNvPr id="15" name="Shape 13"/>
          <p:cNvSpPr/>
          <p:nvPr/>
        </p:nvSpPr>
        <p:spPr>
          <a:xfrm>
            <a:off x="4754880" y="2560320"/>
            <a:ext cx="4206240" cy="1143000"/>
          </a:xfrm>
          <a:prstGeom prst="roundRect">
            <a:avLst>
              <a:gd name="adj" fmla="val 8000"/>
            </a:avLst>
          </a:prstGeom>
          <a:solidFill>
            <a:srgbClr val="2C2C2E"/>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Resistencia del Concreto</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Mayor f'c puede reducir secciones y simplificar la armadura. Evaluar el impacto en el costo de construcción vs. el costo de materiales.</a:t>
            </a:r>
            <a:endParaRPr lang="en-US" sz="1100" dirty="0"/>
          </a:p>
        </p:txBody>
      </p:sp>
      <p:sp>
        <p:nvSpPr>
          <p:cNvPr id="18" name="Shape 16"/>
          <p:cNvSpPr/>
          <p:nvPr/>
        </p:nvSpPr>
        <p:spPr>
          <a:xfrm>
            <a:off x="365760" y="3822192"/>
            <a:ext cx="4206240" cy="1143000"/>
          </a:xfrm>
          <a:prstGeom prst="roundRect">
            <a:avLst>
              <a:gd name="adj" fmla="val 8000"/>
            </a:avLst>
          </a:prstGeom>
          <a:solidFill>
            <a:srgbClr val="2C2C2E"/>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Tolerancias Alcanzables</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Especificar tolerancias que el campo puede lograr razonablemente. Tolerancias exageradas aumentan el costo sin mejorar el desempeño.</a:t>
            </a:r>
            <a:endParaRPr lang="en-US" sz="1100" dirty="0"/>
          </a:p>
        </p:txBody>
      </p:sp>
      <p:sp>
        <p:nvSpPr>
          <p:cNvPr id="21" name="Shape 19"/>
          <p:cNvSpPr/>
          <p:nvPr/>
        </p:nvSpPr>
        <p:spPr>
          <a:xfrm>
            <a:off x="4754880" y="3822192"/>
            <a:ext cx="4206240" cy="1143000"/>
          </a:xfrm>
          <a:prstGeom prst="roundRect">
            <a:avLst>
              <a:gd name="adj" fmla="val 8000"/>
            </a:avLst>
          </a:prstGeom>
          <a:solidFill>
            <a:srgbClr val="2C2C2E"/>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Prefabricado vs. CIP</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elección entre concreto prefabricado y vaciado en sitio es una decisión de Concepto I-5. El prefabricado acelera el cronograma pero requiere planificación logística especial.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y Operabilidad — El Vínculo con las Abilities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8E8E93"/>
                </a:solidFill>
                <a:latin typeface="Atkinson Hyperlegible" pitchFamily="34" charset="0"/>
                <a:ea typeface="Atkinson Hyperlegible" pitchFamily="34" charset="-122"/>
                <a:cs typeface="Atkinson Hyperlegible" pitchFamily="34" charset="-120"/>
              </a:rPr>
              <a:t>La constructabilidad y la operabilidad son "abilities" complementarias. Un proyecto que se construye eficientemente DEBE también ser fácil de operar y mantener. La integración temprana de los operadores en el diseño (Operations Input) es análoga a la integración de constructores en la constructabilidad.</a:t>
            </a:r>
            <a:endParaRPr lang="en-US" sz="1250" dirty="0"/>
          </a:p>
        </p:txBody>
      </p:sp>
      <p:sp>
        <p:nvSpPr>
          <p:cNvPr id="6" name="Shape 4"/>
          <p:cNvSpPr/>
          <p:nvPr/>
        </p:nvSpPr>
        <p:spPr>
          <a:xfrm>
            <a:off x="365760" y="1508760"/>
            <a:ext cx="4206240" cy="1600200"/>
          </a:xfrm>
          <a:prstGeom prst="roundRect">
            <a:avLst>
              <a:gd name="adj" fmla="val 6857"/>
            </a:avLst>
          </a:prstGeom>
          <a:solidFill>
            <a:srgbClr val="2C2C2E"/>
          </a:solidFill>
          <a:ln w="12700">
            <a:solidFill>
              <a:srgbClr val="30D158"/>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Acceso para Operación</a:t>
            </a:r>
            <a:endParaRPr lang="en-US" sz="14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Válvulas, instrumentos y equipos accesibles para el operador. No solo accesibles para la construcción — también para la operación diaria.</a:t>
            </a:r>
            <a:endParaRPr lang="en-US" sz="1100" dirty="0"/>
          </a:p>
        </p:txBody>
      </p:sp>
      <p:sp>
        <p:nvSpPr>
          <p:cNvPr id="9" name="Shape 7"/>
          <p:cNvSpPr/>
          <p:nvPr/>
        </p:nvSpPr>
        <p:spPr>
          <a:xfrm>
            <a:off x="4754880" y="1508760"/>
            <a:ext cx="4206240" cy="1600200"/>
          </a:xfrm>
          <a:prstGeom prst="roundRect">
            <a:avLst>
              <a:gd name="adj" fmla="val 6857"/>
            </a:avLst>
          </a:prstGeom>
          <a:solidFill>
            <a:srgbClr val="2C2C2E"/>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Mantenibilidad Integrada</a:t>
            </a:r>
            <a:endParaRPr lang="en-US" sz="14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Espacio suficiente para reemplazo de equipos, acceso para mantenimiento preventivo. Grúas permanentes o rieles de mantenimiento donde se necesitan.</a:t>
            </a:r>
            <a:endParaRPr lang="en-US" sz="1100" dirty="0"/>
          </a:p>
        </p:txBody>
      </p:sp>
      <p:sp>
        <p:nvSpPr>
          <p:cNvPr id="12" name="Shape 10"/>
          <p:cNvSpPr/>
          <p:nvPr/>
        </p:nvSpPr>
        <p:spPr>
          <a:xfrm>
            <a:off x="365760" y="3227832"/>
            <a:ext cx="4206240" cy="1600200"/>
          </a:xfrm>
          <a:prstGeom prst="roundRect">
            <a:avLst>
              <a:gd name="adj" fmla="val 6857"/>
            </a:avLst>
          </a:prstGeom>
          <a:solidFill>
            <a:srgbClr val="2C2C2E"/>
          </a:solidFill>
          <a:ln w="12700">
            <a:solidFill>
              <a:srgbClr val="FF9500"/>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Seguridad Operacional</a:t>
            </a:r>
            <a:endParaRPr lang="en-US" sz="14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Protecciones de equipos en movimiento, sistemas de ventilación, plataformas de acceso. Diseñadas desde el inicio para la operación segura.</a:t>
            </a:r>
            <a:endParaRPr lang="en-US" sz="1100" dirty="0"/>
          </a:p>
        </p:txBody>
      </p:sp>
      <p:sp>
        <p:nvSpPr>
          <p:cNvPr id="15" name="Shape 13"/>
          <p:cNvSpPr/>
          <p:nvPr/>
        </p:nvSpPr>
        <p:spPr>
          <a:xfrm>
            <a:off x="4754880" y="3227832"/>
            <a:ext cx="4206240" cy="1600200"/>
          </a:xfrm>
          <a:prstGeom prst="roundRect">
            <a:avLst>
              <a:gd name="adj" fmla="val 6857"/>
            </a:avLst>
          </a:prstGeom>
          <a:solidFill>
            <a:srgbClr val="2C2C2E"/>
          </a:solidFill>
          <a:ln w="12700">
            <a:solidFill>
              <a:srgbClr val="AF52DE"/>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Flexibilidad de Arranque</a:t>
            </a:r>
            <a:endParaRPr lang="en-US" sz="14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diseño debe facilitar el proceso de comisionamiento y arranque gradual de sistemas. Bypasses, válvulas de test, puntos de medición.</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en la Era Digital — Industry 4.0</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8E8E93"/>
                </a:solidFill>
                <a:latin typeface="Atkinson Hyperlegible" pitchFamily="34" charset="0"/>
                <a:ea typeface="Atkinson Hyperlegible" pitchFamily="34" charset="-122"/>
                <a:cs typeface="Atkinson Hyperlegible" pitchFamily="34" charset="-120"/>
              </a:rPr>
              <a:t>Las tecnologías digitales modernas potencian la constructabilidad de maneras que no eran posibles en la era del CII original. Sin embargo, los principios subyacentes son los mismos:</a:t>
            </a:r>
            <a:endParaRPr lang="en-US" sz="1250" dirty="0"/>
          </a:p>
        </p:txBody>
      </p:sp>
      <p:sp>
        <p:nvSpPr>
          <p:cNvPr id="6" name="Shape 4"/>
          <p:cNvSpPr/>
          <p:nvPr/>
        </p:nvSpPr>
        <p:spPr>
          <a:xfrm>
            <a:off x="365760" y="1508760"/>
            <a:ext cx="4206240" cy="1600200"/>
          </a:xfrm>
          <a:prstGeom prst="roundRect">
            <a:avLst>
              <a:gd name="adj" fmla="val 6857"/>
            </a:avLst>
          </a:prstGeom>
          <a:solidFill>
            <a:srgbClr val="2C2C2E"/>
          </a:solidFill>
          <a:ln w="12700">
            <a:solidFill>
              <a:srgbClr val="64D2FF"/>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400" b="1" dirty="0">
                <a:solidFill>
                  <a:srgbClr val="64D2FF"/>
                </a:solidFill>
                <a:latin typeface="Atkinson Hyperlegible" pitchFamily="34" charset="0"/>
                <a:ea typeface="Atkinson Hyperlegible" pitchFamily="34" charset="-122"/>
                <a:cs typeface="Atkinson Hyperlegible" pitchFamily="34" charset="-120"/>
              </a:rPr>
              <a:t>Digital Twin</a:t>
            </a:r>
            <a:endParaRPr lang="en-US" sz="14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gemelo digital del proyecto permite simular la construcción antes de ejecutarla. Detecta conflictos, optimiza secuencias y valida la constructabilidad en el entorno virtual.</a:t>
            </a:r>
            <a:endParaRPr lang="en-US" sz="1100" dirty="0"/>
          </a:p>
        </p:txBody>
      </p:sp>
      <p:sp>
        <p:nvSpPr>
          <p:cNvPr id="9" name="Shape 7"/>
          <p:cNvSpPr/>
          <p:nvPr/>
        </p:nvSpPr>
        <p:spPr>
          <a:xfrm>
            <a:off x="4754880" y="1508760"/>
            <a:ext cx="4206240" cy="1600200"/>
          </a:xfrm>
          <a:prstGeom prst="roundRect">
            <a:avLst>
              <a:gd name="adj" fmla="val 6857"/>
            </a:avLst>
          </a:prstGeom>
          <a:solidFill>
            <a:srgbClr val="2C2C2E"/>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Drones y Realidad Aumentada</a:t>
            </a:r>
            <a:endParaRPr lang="en-US" sz="14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Los drones permiten monitorear el avance de obra y verificar constructabilidad en tiempo real. La RA superpone el diseño sobre el campo para verificar instalaciones.</a:t>
            </a:r>
            <a:endParaRPr lang="en-US" sz="1100" dirty="0"/>
          </a:p>
        </p:txBody>
      </p:sp>
      <p:sp>
        <p:nvSpPr>
          <p:cNvPr id="12" name="Shape 10"/>
          <p:cNvSpPr/>
          <p:nvPr/>
        </p:nvSpPr>
        <p:spPr>
          <a:xfrm>
            <a:off x="365760" y="3227832"/>
            <a:ext cx="4206240" cy="1600200"/>
          </a:xfrm>
          <a:prstGeom prst="roundRect">
            <a:avLst>
              <a:gd name="adj" fmla="val 6857"/>
            </a:avLst>
          </a:prstGeom>
          <a:solidFill>
            <a:srgbClr val="2C2C2E"/>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Prefabricación Digital</a:t>
            </a:r>
            <a:endParaRPr lang="en-US" sz="14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Control numérico computarizado (CNC) permite prefabricación de alta precisión. Los datos del modelo BIM van directo a las máquinas de fabricación.</a:t>
            </a:r>
            <a:endParaRPr lang="en-US" sz="1100" dirty="0"/>
          </a:p>
        </p:txBody>
      </p:sp>
      <p:sp>
        <p:nvSpPr>
          <p:cNvPr id="15" name="Shape 13"/>
          <p:cNvSpPr/>
          <p:nvPr/>
        </p:nvSpPr>
        <p:spPr>
          <a:xfrm>
            <a:off x="4754880" y="3227832"/>
            <a:ext cx="4206240" cy="1600200"/>
          </a:xfrm>
          <a:prstGeom prst="roundRect">
            <a:avLst>
              <a:gd name="adj" fmla="val 6857"/>
            </a:avLst>
          </a:prstGeom>
          <a:solidFill>
            <a:srgbClr val="2C2C2E"/>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IoT en Campo</a:t>
            </a:r>
            <a:endParaRPr lang="en-US" sz="14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Sensores en equipos y materiales permiten seguimiento en tiempo real. RFID para gestión de materiales. Datos de productividad capturados automáticamente.</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Gestión del Cambio para Implementar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8E8E93"/>
                </a:solidFill>
                <a:latin typeface="Atkinson Hyperlegible" pitchFamily="34" charset="0"/>
                <a:ea typeface="Atkinson Hyperlegible" pitchFamily="34" charset="-122"/>
                <a:cs typeface="Atkinson Hyperlegible" pitchFamily="34" charset="-120"/>
              </a:rPr>
              <a:t>Implementar constructabilidad es un cambio cultural, no solo un cambio de proceso. La gestión del cambio es fundamental para el éxito del programa:</a:t>
            </a:r>
            <a:endParaRPr lang="en-US" sz="1250" dirty="0"/>
          </a:p>
        </p:txBody>
      </p:sp>
      <p:sp>
        <p:nvSpPr>
          <p:cNvPr id="6" name="Shape 4"/>
          <p:cNvSpPr/>
          <p:nvPr/>
        </p:nvSpPr>
        <p:spPr>
          <a:xfrm>
            <a:off x="365760" y="1508760"/>
            <a:ext cx="4206240" cy="1600200"/>
          </a:xfrm>
          <a:prstGeom prst="roundRect">
            <a:avLst>
              <a:gd name="adj" fmla="val 6857"/>
            </a:avLst>
          </a:prstGeom>
          <a:solidFill>
            <a:srgbClr val="2C2C2E"/>
          </a:solidFill>
          <a:ln w="12700">
            <a:solidFill>
              <a:srgbClr val="AF52DE"/>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Liderazgo Visible</a:t>
            </a:r>
            <a:endParaRPr lang="en-US" sz="14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Los líderes de la organización deben demostrar su compromiso participando activamente en los talleres de constructabilidad. El "Management by Walking Around" aplicado a constructabilidad.</a:t>
            </a:r>
            <a:endParaRPr lang="en-US" sz="1100" dirty="0"/>
          </a:p>
        </p:txBody>
      </p:sp>
      <p:sp>
        <p:nvSpPr>
          <p:cNvPr id="9" name="Shape 7"/>
          <p:cNvSpPr/>
          <p:nvPr/>
        </p:nvSpPr>
        <p:spPr>
          <a:xfrm>
            <a:off x="4754880" y="1508760"/>
            <a:ext cx="4206240" cy="1600200"/>
          </a:xfrm>
          <a:prstGeom prst="roundRect">
            <a:avLst>
              <a:gd name="adj" fmla="val 6857"/>
            </a:avLst>
          </a:prstGeom>
          <a:solidFill>
            <a:srgbClr val="2C2C2E"/>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Capacitación Efectiva</a:t>
            </a:r>
            <a:endParaRPr lang="en-US" sz="14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No solo formación teórica — casos de estudio reales, visitas a proyectos con programas maduros, intercambio con empresas líderes en constructabilidad.</a:t>
            </a:r>
            <a:endParaRPr lang="en-US" sz="1100" dirty="0"/>
          </a:p>
        </p:txBody>
      </p:sp>
      <p:sp>
        <p:nvSpPr>
          <p:cNvPr id="12" name="Shape 10"/>
          <p:cNvSpPr/>
          <p:nvPr/>
        </p:nvSpPr>
        <p:spPr>
          <a:xfrm>
            <a:off x="365760" y="3227832"/>
            <a:ext cx="4206240" cy="1600200"/>
          </a:xfrm>
          <a:prstGeom prst="roundRect">
            <a:avLst>
              <a:gd name="adj" fmla="val 6857"/>
            </a:avLst>
          </a:prstGeom>
          <a:solidFill>
            <a:srgbClr val="2C2C2E"/>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Sistemas de Reconocimiento</a:t>
            </a:r>
            <a:endParaRPr lang="en-US" sz="14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Reconocer y recompensar las contribuciones al programa. El proyecto Fjardaál implementó reconocimientos periódicos para miembros del equipo que contribuyeron al éxito del programa.</a:t>
            </a:r>
            <a:endParaRPr lang="en-US" sz="1100" dirty="0"/>
          </a:p>
        </p:txBody>
      </p:sp>
      <p:sp>
        <p:nvSpPr>
          <p:cNvPr id="15" name="Shape 13"/>
          <p:cNvSpPr/>
          <p:nvPr/>
        </p:nvSpPr>
        <p:spPr>
          <a:xfrm>
            <a:off x="4754880" y="3227832"/>
            <a:ext cx="4206240" cy="1600200"/>
          </a:xfrm>
          <a:prstGeom prst="roundRect">
            <a:avLst>
              <a:gd name="adj" fmla="val 6857"/>
            </a:avLst>
          </a:prstGeom>
          <a:solidFill>
            <a:srgbClr val="2C2C2E"/>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Comunicación Continua</a:t>
            </a:r>
            <a:endParaRPr lang="en-US" sz="14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Mantener al equipo informado sobre los beneficios del programa. Publicar los ahorros logrados. Celebrar los éxitos para mantener el momentum.</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Procura Estratégica y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400" dirty="0"/>
          </a:p>
        </p:txBody>
      </p:sp>
      <p:sp>
        <p:nvSpPr>
          <p:cNvPr id="6" name="Shape 4"/>
          <p:cNvSpPr/>
          <p:nvPr/>
        </p:nvSpPr>
        <p:spPr>
          <a:xfrm>
            <a:off x="365760" y="1298448"/>
            <a:ext cx="8412480" cy="859536"/>
          </a:xfrm>
          <a:prstGeom prst="roundRect">
            <a:avLst>
              <a:gd name="adj" fmla="val 10638"/>
            </a:avLst>
          </a:prstGeom>
          <a:solidFill>
            <a:srgbClr val="2C2C2E"/>
          </a:solidFill>
          <a:ln w="12700">
            <a:solidFill>
              <a:srgbClr val="FF9500"/>
            </a:solidFill>
            <a:prstDash val="solid"/>
          </a:ln>
        </p:spPr>
      </p:sp>
      <p:sp>
        <p:nvSpPr>
          <p:cNvPr id="7" name="Shape 5"/>
          <p:cNvSpPr/>
          <p:nvPr/>
        </p:nvSpPr>
        <p:spPr>
          <a:xfrm>
            <a:off x="365760" y="1298448"/>
            <a:ext cx="73152" cy="859536"/>
          </a:xfrm>
          <a:prstGeom prst="rect">
            <a:avLst/>
          </a:prstGeom>
          <a:solidFill>
            <a:srgbClr val="FF9500"/>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Identificación de Long-Lead Items</a:t>
            </a:r>
            <a:endParaRPr lang="en-US" sz="14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Los equipos de largo plazo de entrega (HFUs, transformadores, turbinas, reactores) deben identificarse en la fase conceptual. Su lead time define la ruta crítica de la ingeniería.</a:t>
            </a:r>
            <a:endParaRPr lang="en-US" sz="1100" dirty="0"/>
          </a:p>
        </p:txBody>
      </p:sp>
      <p:sp>
        <p:nvSpPr>
          <p:cNvPr id="10" name="Shape 8"/>
          <p:cNvSpPr/>
          <p:nvPr/>
        </p:nvSpPr>
        <p:spPr>
          <a:xfrm>
            <a:off x="365760" y="2267712"/>
            <a:ext cx="8412480" cy="859536"/>
          </a:xfrm>
          <a:prstGeom prst="roundRect">
            <a:avLst>
              <a:gd name="adj" fmla="val 10638"/>
            </a:avLst>
          </a:prstGeom>
          <a:solidFill>
            <a:srgbClr val="2C2C2E"/>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Participación de Proveedores en Diseño</a:t>
            </a:r>
            <a:endParaRPr lang="en-US" sz="14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Involucrar a proveedores estratégicos en las revisiones de constructabilidad. Aportarán conocimiento sobre fabricación, transporte e instalación que el equipo de diseño no tiene.</a:t>
            </a:r>
            <a:endParaRPr lang="en-US" sz="1100" dirty="0"/>
          </a:p>
        </p:txBody>
      </p:sp>
      <p:sp>
        <p:nvSpPr>
          <p:cNvPr id="14" name="Shape 12"/>
          <p:cNvSpPr/>
          <p:nvPr/>
        </p:nvSpPr>
        <p:spPr>
          <a:xfrm>
            <a:off x="365760" y="3236976"/>
            <a:ext cx="8412480" cy="859536"/>
          </a:xfrm>
          <a:prstGeom prst="roundRect">
            <a:avLst>
              <a:gd name="adj" fmla="val 10638"/>
            </a:avLst>
          </a:prstGeom>
          <a:solidFill>
            <a:srgbClr val="2C2C2E"/>
          </a:solidFill>
          <a:ln w="12700">
            <a:solidFill>
              <a:srgbClr val="30D158"/>
            </a:solidFill>
            <a:prstDash val="solid"/>
          </a:ln>
        </p:spPr>
      </p:sp>
      <p:sp>
        <p:nvSpPr>
          <p:cNvPr id="15" name="Shape 13"/>
          <p:cNvSpPr/>
          <p:nvPr/>
        </p:nvSpPr>
        <p:spPr>
          <a:xfrm>
            <a:off x="365760" y="3236976"/>
            <a:ext cx="73152" cy="859536"/>
          </a:xfrm>
          <a:prstGeom prst="rect">
            <a:avLst/>
          </a:prstGeom>
          <a:solidFill>
            <a:srgbClr val="30D158"/>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Paquetes de Ingeniería Alineados con Procura</a:t>
            </a:r>
            <a:endParaRPr lang="en-US" sz="14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Los paquetes de ingeniería para licitar deben estar alineados con los paquetes de construcción. La misma zona geográfica y temporal de campo debe ser un paquete de procura cohesivo.</a:t>
            </a:r>
            <a:endParaRPr lang="en-US" sz="1100" dirty="0"/>
          </a:p>
        </p:txBody>
      </p:sp>
      <p:sp>
        <p:nvSpPr>
          <p:cNvPr id="18" name="Shape 16"/>
          <p:cNvSpPr/>
          <p:nvPr/>
        </p:nvSpPr>
        <p:spPr>
          <a:xfrm>
            <a:off x="365760" y="4206240"/>
            <a:ext cx="8412480" cy="859536"/>
          </a:xfrm>
          <a:prstGeom prst="roundRect">
            <a:avLst>
              <a:gd name="adj" fmla="val 10638"/>
            </a:avLst>
          </a:prstGeom>
          <a:solidFill>
            <a:srgbClr val="2C2C2E"/>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Requisiciones con Criterios de Constructabilidad</a:t>
            </a:r>
            <a:endParaRPr lang="en-US" sz="14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Las solicitudes de cotización deben incluir criterios de constructabilidad: dimensiones máximas de transporte, puntos de izaje, secuencia de instalación, interface de conexión.</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Revisiones Formales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400" dirty="0"/>
          </a:p>
        </p:txBody>
      </p:sp>
      <p:sp>
        <p:nvSpPr>
          <p:cNvPr id="6" name="Shape 4"/>
          <p:cNvSpPr/>
          <p:nvPr/>
        </p:nvSpPr>
        <p:spPr>
          <a:xfrm>
            <a:off x="365760" y="1298448"/>
            <a:ext cx="8412480" cy="859536"/>
          </a:xfrm>
          <a:prstGeom prst="roundRect">
            <a:avLst>
              <a:gd name="adj" fmla="val 10638"/>
            </a:avLst>
          </a:prstGeom>
          <a:solidFill>
            <a:srgbClr val="2C2C2E"/>
          </a:solidFill>
          <a:ln w="12700">
            <a:solidFill>
              <a:srgbClr val="0A84FF"/>
            </a:solidFill>
            <a:prstDash val="solid"/>
          </a:ln>
        </p:spPr>
      </p:sp>
      <p:sp>
        <p:nvSpPr>
          <p:cNvPr id="7" name="Shape 5"/>
          <p:cNvSpPr/>
          <p:nvPr/>
        </p:nvSpPr>
        <p:spPr>
          <a:xfrm>
            <a:off x="365760" y="1298448"/>
            <a:ext cx="73152" cy="859536"/>
          </a:xfrm>
          <a:prstGeom prst="rect">
            <a:avLst/>
          </a:prstGeom>
          <a:solidFill>
            <a:srgbClr val="0A84FF"/>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¿Qué es una Revisión de Constructabilidad?</a:t>
            </a:r>
            <a:endParaRPr lang="en-US" sz="14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Una evaluación sistemática del diseño por parte de expertos con experiencia de campo. NO es solo "que construcción revise los planos" — es un proceso estructurado con metodología formal.</a:t>
            </a:r>
            <a:endParaRPr lang="en-US" sz="1100" dirty="0"/>
          </a:p>
        </p:txBody>
      </p:sp>
      <p:sp>
        <p:nvSpPr>
          <p:cNvPr id="10" name="Shape 8"/>
          <p:cNvSpPr/>
          <p:nvPr/>
        </p:nvSpPr>
        <p:spPr>
          <a:xfrm>
            <a:off x="365760" y="2267712"/>
            <a:ext cx="8412480" cy="859536"/>
          </a:xfrm>
          <a:prstGeom prst="roundRect">
            <a:avLst>
              <a:gd name="adj" fmla="val 10638"/>
            </a:avLst>
          </a:prstGeom>
          <a:solidFill>
            <a:srgbClr val="2C2C2E"/>
          </a:solidFill>
          <a:ln w="12700">
            <a:solidFill>
              <a:srgbClr val="30D158"/>
            </a:solidFill>
            <a:prstDash val="solid"/>
          </a:ln>
        </p:spPr>
      </p:sp>
      <p:sp>
        <p:nvSpPr>
          <p:cNvPr id="11" name="Shape 9"/>
          <p:cNvSpPr/>
          <p:nvPr/>
        </p:nvSpPr>
        <p:spPr>
          <a:xfrm>
            <a:off x="365760" y="2267712"/>
            <a:ext cx="73152" cy="859536"/>
          </a:xfrm>
          <a:prstGeom prst="rect">
            <a:avLst/>
          </a:prstGeom>
          <a:solidFill>
            <a:srgbClr val="30D158"/>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Cuándo Realizarlas</a:t>
            </a:r>
            <a:endParaRPr lang="en-US" sz="14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Al 30%, 60% y 90% de avance del diseño básico. En cada entrega de documentos clave de diseño detallado. Como parte del "30-60-90% review" del proyecto.</a:t>
            </a:r>
            <a:endParaRPr lang="en-US" sz="1100" dirty="0"/>
          </a:p>
        </p:txBody>
      </p:sp>
      <p:sp>
        <p:nvSpPr>
          <p:cNvPr id="14" name="Shape 12"/>
          <p:cNvSpPr/>
          <p:nvPr/>
        </p:nvSpPr>
        <p:spPr>
          <a:xfrm>
            <a:off x="365760" y="3236976"/>
            <a:ext cx="8412480" cy="859536"/>
          </a:xfrm>
          <a:prstGeom prst="roundRect">
            <a:avLst>
              <a:gd name="adj" fmla="val 10638"/>
            </a:avLst>
          </a:prstGeom>
          <a:solidFill>
            <a:srgbClr val="2C2C2E"/>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Quién las Realiza</a:t>
            </a:r>
            <a:endParaRPr lang="en-US" sz="14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Gerente de Constructabilidad + campeones por especialidad + constructores con experiencia en el tipo de proyecto. Opcionalmente: consultor externo para perspectiva independiente.</a:t>
            </a:r>
            <a:endParaRPr lang="en-US" sz="1100" dirty="0"/>
          </a:p>
        </p:txBody>
      </p:sp>
      <p:sp>
        <p:nvSpPr>
          <p:cNvPr id="18" name="Shape 16"/>
          <p:cNvSpPr/>
          <p:nvPr/>
        </p:nvSpPr>
        <p:spPr>
          <a:xfrm>
            <a:off x="365760" y="4206240"/>
            <a:ext cx="8412480" cy="859536"/>
          </a:xfrm>
          <a:prstGeom prst="roundRect">
            <a:avLst>
              <a:gd name="adj" fmla="val 10638"/>
            </a:avLst>
          </a:prstGeom>
          <a:solidFill>
            <a:srgbClr val="2C2C2E"/>
          </a:solidFill>
          <a:ln w="12700">
            <a:solidFill>
              <a:srgbClr val="FF453A"/>
            </a:solidFill>
            <a:prstDash val="solid"/>
          </a:ln>
        </p:spPr>
      </p:sp>
      <p:sp>
        <p:nvSpPr>
          <p:cNvPr id="19" name="Shape 17"/>
          <p:cNvSpPr/>
          <p:nvPr/>
        </p:nvSpPr>
        <p:spPr>
          <a:xfrm>
            <a:off x="365760" y="4206240"/>
            <a:ext cx="73152" cy="859536"/>
          </a:xfrm>
          <a:prstGeom prst="rect">
            <a:avLst/>
          </a:prstGeom>
          <a:solidFill>
            <a:srgbClr val="FF453A"/>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Entregables de la Revisión</a:t>
            </a:r>
            <a:endParaRPr lang="en-US" sz="14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Lista de comentarios de constructabilidad con número de concepto CII aplicable, descripción del problema, solución propuesta, responsable y fecha de respuesta requerida.</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y Gestión de Riesgos del Proyecto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400" dirty="0"/>
          </a:p>
        </p:txBody>
      </p:sp>
      <p:sp>
        <p:nvSpPr>
          <p:cNvPr id="6" name="Shape 4"/>
          <p:cNvSpPr/>
          <p:nvPr/>
        </p:nvSpPr>
        <p:spPr>
          <a:xfrm>
            <a:off x="365760" y="1298448"/>
            <a:ext cx="8412480" cy="859536"/>
          </a:xfrm>
          <a:prstGeom prst="roundRect">
            <a:avLst>
              <a:gd name="adj" fmla="val 10638"/>
            </a:avLst>
          </a:prstGeom>
          <a:solidFill>
            <a:srgbClr val="2C2C2E"/>
          </a:solidFill>
          <a:ln w="12700">
            <a:solidFill>
              <a:srgbClr val="FF453A"/>
            </a:solidFill>
            <a:prstDash val="solid"/>
          </a:ln>
        </p:spPr>
      </p:sp>
      <p:sp>
        <p:nvSpPr>
          <p:cNvPr id="7" name="Shape 5"/>
          <p:cNvSpPr/>
          <p:nvPr/>
        </p:nvSpPr>
        <p:spPr>
          <a:xfrm>
            <a:off x="365760" y="1298448"/>
            <a:ext cx="73152" cy="859536"/>
          </a:xfrm>
          <a:prstGeom prst="rect">
            <a:avLst/>
          </a:prstGeom>
          <a:solidFill>
            <a:srgbClr val="FF453A"/>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Riesgos de Constructabilidad</a:t>
            </a:r>
            <a:endParaRPr lang="en-US" sz="14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Identificar tempranamente los riesgos que afectan la ejecutabilidad del proyecto: suelos contaminados, interferencias con operaciones existentes, escasez de mano de obra especializada, restricciones de acceso.</a:t>
            </a:r>
            <a:endParaRPr lang="en-US" sz="1100" dirty="0"/>
          </a:p>
        </p:txBody>
      </p:sp>
      <p:sp>
        <p:nvSpPr>
          <p:cNvPr id="10" name="Shape 8"/>
          <p:cNvSpPr/>
          <p:nvPr/>
        </p:nvSpPr>
        <p:spPr>
          <a:xfrm>
            <a:off x="365760" y="2267712"/>
            <a:ext cx="8412480" cy="859536"/>
          </a:xfrm>
          <a:prstGeom prst="roundRect">
            <a:avLst>
              <a:gd name="adj" fmla="val 10638"/>
            </a:avLst>
          </a:prstGeom>
          <a:solidFill>
            <a:srgbClr val="2C2C2E"/>
          </a:solidFill>
          <a:ln w="12700">
            <a:solidFill>
              <a:srgbClr val="FF9500"/>
            </a:solidFill>
            <a:prstDash val="solid"/>
          </a:ln>
        </p:spPr>
      </p:sp>
      <p:sp>
        <p:nvSpPr>
          <p:cNvPr id="11" name="Shape 9"/>
          <p:cNvSpPr/>
          <p:nvPr/>
        </p:nvSpPr>
        <p:spPr>
          <a:xfrm>
            <a:off x="365760" y="2267712"/>
            <a:ext cx="73152" cy="859536"/>
          </a:xfrm>
          <a:prstGeom prst="rect">
            <a:avLst/>
          </a:prstGeom>
          <a:solidFill>
            <a:srgbClr val="FF9500"/>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Mitigation a través del Diseño</a:t>
            </a:r>
            <a:endParaRPr lang="en-US" sz="14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Muchos riesgos de construcción pueden mitigarse a través de decisiones de diseño tempranas. El riesgo de trabajo en campo restringido se mitiga con más pre-ensamble en taller.</a:t>
            </a:r>
            <a:endParaRPr lang="en-US" sz="1100" dirty="0"/>
          </a:p>
        </p:txBody>
      </p:sp>
      <p:sp>
        <p:nvSpPr>
          <p:cNvPr id="14" name="Shape 12"/>
          <p:cNvSpPr/>
          <p:nvPr/>
        </p:nvSpPr>
        <p:spPr>
          <a:xfrm>
            <a:off x="365760" y="3236976"/>
            <a:ext cx="8412480" cy="859536"/>
          </a:xfrm>
          <a:prstGeom prst="roundRect">
            <a:avLst>
              <a:gd name="adj" fmla="val 10638"/>
            </a:avLst>
          </a:prstGeom>
          <a:solidFill>
            <a:srgbClr val="2C2C2E"/>
          </a:solidFill>
          <a:ln w="12700">
            <a:solidFill>
              <a:srgbClr val="FFD60A"/>
            </a:solidFill>
            <a:prstDash val="solid"/>
          </a:ln>
        </p:spPr>
      </p:sp>
      <p:sp>
        <p:nvSpPr>
          <p:cNvPr id="15" name="Shape 13"/>
          <p:cNvSpPr/>
          <p:nvPr/>
        </p:nvSpPr>
        <p:spPr>
          <a:xfrm>
            <a:off x="365760" y="3236976"/>
            <a:ext cx="73152" cy="859536"/>
          </a:xfrm>
          <a:prstGeom prst="rect">
            <a:avLst/>
          </a:prstGeom>
          <a:solidFill>
            <a:srgbClr val="FFD60A"/>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400" b="1" dirty="0">
                <a:solidFill>
                  <a:srgbClr val="FFD60A"/>
                </a:solidFill>
                <a:latin typeface="Atkinson Hyperlegible" pitchFamily="34" charset="0"/>
                <a:ea typeface="Atkinson Hyperlegible" pitchFamily="34" charset="-122"/>
                <a:cs typeface="Atkinson Hyperlegible" pitchFamily="34" charset="-120"/>
              </a:rPr>
              <a:t>Cuantificación de Riesgos</a:t>
            </a:r>
            <a:endParaRPr lang="en-US" sz="14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análisis de constructabilidad debe cuantificar el costo potencial de los riesgos identificados. Esto permite tomar decisiones informadas sobre las inversiones en mitigación.</a:t>
            </a:r>
            <a:endParaRPr lang="en-US" sz="1100" dirty="0"/>
          </a:p>
        </p:txBody>
      </p:sp>
      <p:sp>
        <p:nvSpPr>
          <p:cNvPr id="18" name="Shape 16"/>
          <p:cNvSpPr/>
          <p:nvPr/>
        </p:nvSpPr>
        <p:spPr>
          <a:xfrm>
            <a:off x="365760" y="4206240"/>
            <a:ext cx="8412480" cy="859536"/>
          </a:xfrm>
          <a:prstGeom prst="roundRect">
            <a:avLst>
              <a:gd name="adj" fmla="val 10638"/>
            </a:avLst>
          </a:prstGeom>
          <a:solidFill>
            <a:srgbClr val="2C2C2E"/>
          </a:solidFill>
          <a:ln w="12700">
            <a:solidFill>
              <a:srgbClr val="30D158"/>
            </a:solidFill>
            <a:prstDash val="solid"/>
          </a:ln>
        </p:spPr>
      </p:sp>
      <p:sp>
        <p:nvSpPr>
          <p:cNvPr id="19" name="Shape 17"/>
          <p:cNvSpPr/>
          <p:nvPr/>
        </p:nvSpPr>
        <p:spPr>
          <a:xfrm>
            <a:off x="365760" y="4206240"/>
            <a:ext cx="73152" cy="859536"/>
          </a:xfrm>
          <a:prstGeom prst="rect">
            <a:avLst/>
          </a:prstGeom>
          <a:solidFill>
            <a:srgbClr val="30D158"/>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Contingencias Inteligentes</a:t>
            </a:r>
            <a:endParaRPr lang="en-US" sz="14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Las contingencias del presupuesto deben ser proporcionales a los riesgos de constructabilidad identificados. Un análisis cuantitativo de riesgos respaldado por constructabilidad.</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El Taller de Planificación de Constructabilidad — Agenda y Metodología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400" dirty="0"/>
          </a:p>
        </p:txBody>
      </p:sp>
      <p:sp>
        <p:nvSpPr>
          <p:cNvPr id="6" name="Shape 4"/>
          <p:cNvSpPr/>
          <p:nvPr/>
        </p:nvSpPr>
        <p:spPr>
          <a:xfrm>
            <a:off x="365760" y="1298448"/>
            <a:ext cx="8412480" cy="859536"/>
          </a:xfrm>
          <a:prstGeom prst="roundRect">
            <a:avLst>
              <a:gd name="adj" fmla="val 10638"/>
            </a:avLst>
          </a:prstGeom>
          <a:solidFill>
            <a:srgbClr val="2C2C2E"/>
          </a:solidFill>
          <a:ln w="12700">
            <a:solidFill>
              <a:srgbClr val="30D158"/>
            </a:solidFill>
            <a:prstDash val="solid"/>
          </a:ln>
        </p:spPr>
      </p:sp>
      <p:sp>
        <p:nvSpPr>
          <p:cNvPr id="7" name="Shape 5"/>
          <p:cNvSpPr/>
          <p:nvPr/>
        </p:nvSpPr>
        <p:spPr>
          <a:xfrm>
            <a:off x="365760" y="1298448"/>
            <a:ext cx="73152" cy="859536"/>
          </a:xfrm>
          <a:prstGeom prst="rect">
            <a:avLst/>
          </a:prstGeom>
          <a:solidFill>
            <a:srgbClr val="30D158"/>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Objetivo del Taller</a:t>
            </a:r>
            <a:endParaRPr lang="en-US" sz="14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Revisar los 17 conceptos CII y determinar cuáles son aplicables al proyecto. Asignar responsables. Establecer el plan de aplicación. Generar buy-in del equipo.</a:t>
            </a:r>
            <a:endParaRPr lang="en-US" sz="1100" dirty="0"/>
          </a:p>
        </p:txBody>
      </p:sp>
      <p:sp>
        <p:nvSpPr>
          <p:cNvPr id="10" name="Shape 8"/>
          <p:cNvSpPr/>
          <p:nvPr/>
        </p:nvSpPr>
        <p:spPr>
          <a:xfrm>
            <a:off x="365760" y="2267712"/>
            <a:ext cx="8412480" cy="859536"/>
          </a:xfrm>
          <a:prstGeom prst="roundRect">
            <a:avLst>
              <a:gd name="adj" fmla="val 10638"/>
            </a:avLst>
          </a:prstGeom>
          <a:solidFill>
            <a:srgbClr val="2C2C2E"/>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Participantes Requeridos</a:t>
            </a:r>
            <a:endParaRPr lang="en-US" sz="14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Director del Proyecto, Gerente de Constructabilidad, Jefes de Disciplina de Ingeniería, Gerente de Procura, Superintendente General, Gerentes de Subcontratistas clave.</a:t>
            </a:r>
            <a:endParaRPr lang="en-US" sz="1100" dirty="0"/>
          </a:p>
        </p:txBody>
      </p:sp>
      <p:sp>
        <p:nvSpPr>
          <p:cNvPr id="14" name="Shape 12"/>
          <p:cNvSpPr/>
          <p:nvPr/>
        </p:nvSpPr>
        <p:spPr>
          <a:xfrm>
            <a:off x="365760" y="3236976"/>
            <a:ext cx="8412480" cy="859536"/>
          </a:xfrm>
          <a:prstGeom prst="roundRect">
            <a:avLst>
              <a:gd name="adj" fmla="val 10638"/>
            </a:avLst>
          </a:prstGeom>
          <a:solidFill>
            <a:srgbClr val="2C2C2E"/>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Dinámica del Taller</a:t>
            </a:r>
            <a:endParaRPr lang="en-US" sz="14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Para cada concepto: ¿Qué significa para ESTE proyecto? ¿Cuándo debería aplicarse? ¿Quién lo liderará? ¿Qué entregable producirá? Documentar acuerdos en tiempo real.</a:t>
            </a:r>
            <a:endParaRPr lang="en-US" sz="1100" dirty="0"/>
          </a:p>
        </p:txBody>
      </p:sp>
      <p:sp>
        <p:nvSpPr>
          <p:cNvPr id="18" name="Shape 16"/>
          <p:cNvSpPr/>
          <p:nvPr/>
        </p:nvSpPr>
        <p:spPr>
          <a:xfrm>
            <a:off x="365760" y="4206240"/>
            <a:ext cx="8412480" cy="859536"/>
          </a:xfrm>
          <a:prstGeom prst="roundRect">
            <a:avLst>
              <a:gd name="adj" fmla="val 10638"/>
            </a:avLst>
          </a:prstGeom>
          <a:solidFill>
            <a:srgbClr val="2C2C2E"/>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Seguimiento Post-Taller</a:t>
            </a:r>
            <a:endParaRPr lang="en-US" sz="14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Plan de Aplicación de Conceptos formalizado, Log de Ideas iniciado, primera reunión de seguimiento agendada para 30 días. Resultados integrados al PEP.</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Cómo Medir el Éxito del Programa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Sistema de indicadores integrado para evaluar el programa a nivel corporativo y de proyecto:</a:t>
            </a:r>
            <a:endParaRPr lang="en-US" sz="1400" dirty="0"/>
          </a:p>
        </p:txBody>
      </p:sp>
      <p:sp>
        <p:nvSpPr>
          <p:cNvPr id="6" name="Shape 4"/>
          <p:cNvSpPr/>
          <p:nvPr/>
        </p:nvSpPr>
        <p:spPr>
          <a:xfrm>
            <a:off x="365760" y="1298448"/>
            <a:ext cx="8412480" cy="1188720"/>
          </a:xfrm>
          <a:prstGeom prst="roundRect">
            <a:avLst>
              <a:gd name="adj" fmla="val 7692"/>
            </a:avLst>
          </a:prstGeom>
          <a:solidFill>
            <a:srgbClr val="2C2C2E"/>
          </a:solidFill>
          <a:ln w="12700">
            <a:solidFill>
              <a:srgbClr val="3A3A3C"/>
            </a:solidFill>
            <a:prstDash val="solid"/>
          </a:ln>
        </p:spPr>
      </p:sp>
      <p:sp>
        <p:nvSpPr>
          <p:cNvPr id="7" name="Shape 5"/>
          <p:cNvSpPr/>
          <p:nvPr/>
        </p:nvSpPr>
        <p:spPr>
          <a:xfrm>
            <a:off x="365760" y="1298448"/>
            <a:ext cx="8412480" cy="347472"/>
          </a:xfrm>
          <a:prstGeom prst="roundRect">
            <a:avLst>
              <a:gd name="adj" fmla="val 26316"/>
            </a:avLst>
          </a:prstGeom>
          <a:solidFill>
            <a:srgbClr val="0A84FF"/>
          </a:solidFill>
          <a:ln/>
        </p:spPr>
      </p:sp>
      <p:sp>
        <p:nvSpPr>
          <p:cNvPr id="8" name="Shape 6"/>
          <p:cNvSpPr/>
          <p:nvPr/>
        </p:nvSpPr>
        <p:spPr>
          <a:xfrm>
            <a:off x="365760" y="1481328"/>
            <a:ext cx="8412480" cy="164592"/>
          </a:xfrm>
          <a:prstGeom prst="rect">
            <a:avLst/>
          </a:prstGeom>
          <a:solidFill>
            <a:srgbClr val="0A84FF"/>
          </a:solidFill>
          <a:ln/>
        </p:spPr>
      </p:sp>
      <p:sp>
        <p:nvSpPr>
          <p:cNvPr id="9" name="Text 7"/>
          <p:cNvSpPr txBox="1"/>
          <p:nvPr/>
        </p:nvSpPr>
        <p:spPr>
          <a:xfrm>
            <a:off x="530352" y="1335024"/>
            <a:ext cx="8046720" cy="29260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INDICADORES DE PROCESO</a:t>
            </a:r>
            <a:endParaRPr lang="en-US" sz="1300" dirty="0"/>
          </a:p>
        </p:txBody>
      </p:sp>
      <p:sp>
        <p:nvSpPr>
          <p:cNvPr id="10" name="Text 8"/>
          <p:cNvSpPr txBox="1"/>
          <p:nvPr/>
        </p:nvSpPr>
        <p:spPr>
          <a:xfrm>
            <a:off x="530352" y="1700784"/>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 de ideas de constructabilidad generadas por millón de dólares de TIC</a:t>
            </a:r>
            <a:endParaRPr lang="en-US" sz="1050" dirty="0"/>
          </a:p>
        </p:txBody>
      </p:sp>
      <p:sp>
        <p:nvSpPr>
          <p:cNvPr id="11" name="Text 9"/>
          <p:cNvSpPr txBox="1"/>
          <p:nvPr/>
        </p:nvSpPr>
        <p:spPr>
          <a:xfrm>
            <a:off x="4736592" y="1700784"/>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 de ideas aprobadas que se implementaron efectivamente</a:t>
            </a:r>
            <a:endParaRPr lang="en-US" sz="1050" dirty="0"/>
          </a:p>
        </p:txBody>
      </p:sp>
      <p:sp>
        <p:nvSpPr>
          <p:cNvPr id="12" name="Text 10"/>
          <p:cNvSpPr txBox="1"/>
          <p:nvPr/>
        </p:nvSpPr>
        <p:spPr>
          <a:xfrm>
            <a:off x="530352" y="2048256"/>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Horas del programa de constructabilidad vs. horas totales del proyecto</a:t>
            </a:r>
            <a:endParaRPr lang="en-US" sz="1050" dirty="0"/>
          </a:p>
        </p:txBody>
      </p:sp>
      <p:sp>
        <p:nvSpPr>
          <p:cNvPr id="13" name="Text 11"/>
          <p:cNvSpPr txBox="1"/>
          <p:nvPr/>
        </p:nvSpPr>
        <p:spPr>
          <a:xfrm>
            <a:off x="4736592" y="2048256"/>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 de revisiones de constructabilidad realizadas por fase del proyecto</a:t>
            </a:r>
            <a:endParaRPr lang="en-US" sz="1050" dirty="0"/>
          </a:p>
        </p:txBody>
      </p:sp>
      <p:sp>
        <p:nvSpPr>
          <p:cNvPr id="14" name="Shape 12"/>
          <p:cNvSpPr/>
          <p:nvPr/>
        </p:nvSpPr>
        <p:spPr>
          <a:xfrm>
            <a:off x="365760" y="2596896"/>
            <a:ext cx="8412480" cy="1188720"/>
          </a:xfrm>
          <a:prstGeom prst="roundRect">
            <a:avLst>
              <a:gd name="adj" fmla="val 7692"/>
            </a:avLst>
          </a:prstGeom>
          <a:solidFill>
            <a:srgbClr val="2C2C2E"/>
          </a:solidFill>
          <a:ln w="12700">
            <a:solidFill>
              <a:srgbClr val="3A3A3C"/>
            </a:solidFill>
            <a:prstDash val="solid"/>
          </a:ln>
        </p:spPr>
      </p:sp>
      <p:sp>
        <p:nvSpPr>
          <p:cNvPr id="15" name="Shape 13"/>
          <p:cNvSpPr/>
          <p:nvPr/>
        </p:nvSpPr>
        <p:spPr>
          <a:xfrm>
            <a:off x="365760" y="2596896"/>
            <a:ext cx="8412480" cy="347472"/>
          </a:xfrm>
          <a:prstGeom prst="roundRect">
            <a:avLst>
              <a:gd name="adj" fmla="val 26316"/>
            </a:avLst>
          </a:prstGeom>
          <a:solidFill>
            <a:srgbClr val="30D158"/>
          </a:solidFill>
          <a:ln/>
        </p:spPr>
      </p:sp>
      <p:sp>
        <p:nvSpPr>
          <p:cNvPr id="16" name="Shape 14"/>
          <p:cNvSpPr/>
          <p:nvPr/>
        </p:nvSpPr>
        <p:spPr>
          <a:xfrm>
            <a:off x="365760" y="2779776"/>
            <a:ext cx="8412480" cy="164592"/>
          </a:xfrm>
          <a:prstGeom prst="rect">
            <a:avLst/>
          </a:prstGeom>
          <a:solidFill>
            <a:srgbClr val="30D158"/>
          </a:solidFill>
          <a:ln/>
        </p:spPr>
      </p:sp>
      <p:sp>
        <p:nvSpPr>
          <p:cNvPr id="17" name="Text 15"/>
          <p:cNvSpPr txBox="1"/>
          <p:nvPr/>
        </p:nvSpPr>
        <p:spPr>
          <a:xfrm>
            <a:off x="530352" y="2633472"/>
            <a:ext cx="8046720" cy="29260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INDICADORES DE RESULTADO</a:t>
            </a:r>
            <a:endParaRPr lang="en-US" sz="1300" dirty="0"/>
          </a:p>
        </p:txBody>
      </p:sp>
      <p:sp>
        <p:nvSpPr>
          <p:cNvPr id="18" name="Text 16"/>
          <p:cNvSpPr txBox="1"/>
          <p:nvPr/>
        </p:nvSpPr>
        <p:spPr>
          <a:xfrm>
            <a:off x="530352" y="2999232"/>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Reducción de costo TIC atribuible a constructabilidad (%)</a:t>
            </a:r>
            <a:endParaRPr lang="en-US" sz="1050" dirty="0"/>
          </a:p>
        </p:txBody>
      </p:sp>
      <p:sp>
        <p:nvSpPr>
          <p:cNvPr id="19" name="Text 17"/>
          <p:cNvSpPr txBox="1"/>
          <p:nvPr/>
        </p:nvSpPr>
        <p:spPr>
          <a:xfrm>
            <a:off x="4736592" y="2999232"/>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Reducción de cronograma atribuible a constructabilidad (%)</a:t>
            </a:r>
            <a:endParaRPr lang="en-US" sz="1050" dirty="0"/>
          </a:p>
        </p:txBody>
      </p:sp>
      <p:sp>
        <p:nvSpPr>
          <p:cNvPr id="20" name="Text 18"/>
          <p:cNvSpPr txBox="1"/>
          <p:nvPr/>
        </p:nvSpPr>
        <p:spPr>
          <a:xfrm>
            <a:off x="530352" y="3346704"/>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Ratio Beneficio/Costo acumulado del programa</a:t>
            </a:r>
            <a:endParaRPr lang="en-US" sz="1050" dirty="0"/>
          </a:p>
        </p:txBody>
      </p:sp>
      <p:sp>
        <p:nvSpPr>
          <p:cNvPr id="21" name="Text 19"/>
          <p:cNvSpPr txBox="1"/>
          <p:nvPr/>
        </p:nvSpPr>
        <p:spPr>
          <a:xfrm>
            <a:off x="4736592" y="3346704"/>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Reducción de retrabajo vs. proyectos sin programa formal</a:t>
            </a:r>
            <a:endParaRPr lang="en-US" sz="1050" dirty="0"/>
          </a:p>
        </p:txBody>
      </p:sp>
      <p:sp>
        <p:nvSpPr>
          <p:cNvPr id="22" name="Shape 20"/>
          <p:cNvSpPr/>
          <p:nvPr/>
        </p:nvSpPr>
        <p:spPr>
          <a:xfrm>
            <a:off x="365760" y="3895344"/>
            <a:ext cx="8412480" cy="1188720"/>
          </a:xfrm>
          <a:prstGeom prst="roundRect">
            <a:avLst>
              <a:gd name="adj" fmla="val 7692"/>
            </a:avLst>
          </a:prstGeom>
          <a:solidFill>
            <a:srgbClr val="2C2C2E"/>
          </a:solidFill>
          <a:ln w="12700">
            <a:solidFill>
              <a:srgbClr val="3A3A3C"/>
            </a:solidFill>
            <a:prstDash val="solid"/>
          </a:ln>
        </p:spPr>
      </p:sp>
      <p:sp>
        <p:nvSpPr>
          <p:cNvPr id="23" name="Shape 21"/>
          <p:cNvSpPr/>
          <p:nvPr/>
        </p:nvSpPr>
        <p:spPr>
          <a:xfrm>
            <a:off x="365760" y="3895344"/>
            <a:ext cx="8412480" cy="347472"/>
          </a:xfrm>
          <a:prstGeom prst="roundRect">
            <a:avLst>
              <a:gd name="adj" fmla="val 26316"/>
            </a:avLst>
          </a:prstGeom>
          <a:solidFill>
            <a:srgbClr val="FF9500"/>
          </a:solidFill>
          <a:ln/>
        </p:spPr>
      </p:sp>
      <p:sp>
        <p:nvSpPr>
          <p:cNvPr id="24" name="Shape 22"/>
          <p:cNvSpPr/>
          <p:nvPr/>
        </p:nvSpPr>
        <p:spPr>
          <a:xfrm>
            <a:off x="365760" y="4078224"/>
            <a:ext cx="8412480" cy="164592"/>
          </a:xfrm>
          <a:prstGeom prst="rect">
            <a:avLst/>
          </a:prstGeom>
          <a:solidFill>
            <a:srgbClr val="FF9500"/>
          </a:solidFill>
          <a:ln/>
        </p:spPr>
      </p:sp>
      <p:sp>
        <p:nvSpPr>
          <p:cNvPr id="25" name="Text 23"/>
          <p:cNvSpPr txBox="1"/>
          <p:nvPr/>
        </p:nvSpPr>
        <p:spPr>
          <a:xfrm>
            <a:off x="530352" y="3931920"/>
            <a:ext cx="8046720" cy="292608"/>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INDICADORES DE APRENDIZAJE</a:t>
            </a:r>
            <a:endParaRPr lang="en-US" sz="1300" dirty="0"/>
          </a:p>
        </p:txBody>
      </p:sp>
      <p:sp>
        <p:nvSpPr>
          <p:cNvPr id="26" name="Text 24"/>
          <p:cNvSpPr txBox="1"/>
          <p:nvPr/>
        </p:nvSpPr>
        <p:spPr>
          <a:xfrm>
            <a:off x="530352" y="4297680"/>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 de lecciones aprendidas capturadas en la LLDB</a:t>
            </a:r>
            <a:endParaRPr lang="en-US" sz="1050" dirty="0"/>
          </a:p>
        </p:txBody>
      </p:sp>
      <p:sp>
        <p:nvSpPr>
          <p:cNvPr id="27" name="Text 25"/>
          <p:cNvSpPr txBox="1"/>
          <p:nvPr/>
        </p:nvSpPr>
        <p:spPr>
          <a:xfrm>
            <a:off x="4736592" y="4297680"/>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 de lecciones de proyectos anteriores aplicadas en este proyecto</a:t>
            </a:r>
            <a:endParaRPr lang="en-US" sz="1050" dirty="0"/>
          </a:p>
        </p:txBody>
      </p:sp>
      <p:sp>
        <p:nvSpPr>
          <p:cNvPr id="28" name="Text 26"/>
          <p:cNvSpPr txBox="1"/>
          <p:nvPr/>
        </p:nvSpPr>
        <p:spPr>
          <a:xfrm>
            <a:off x="530352" y="4645152"/>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Índice de madurez del programa (1-5) al inicio, mitad y cierre</a:t>
            </a:r>
            <a:endParaRPr lang="en-US" sz="1050" dirty="0"/>
          </a:p>
        </p:txBody>
      </p:sp>
      <p:sp>
        <p:nvSpPr>
          <p:cNvPr id="29" name="Text 27"/>
          <p:cNvSpPr txBox="1"/>
          <p:nvPr/>
        </p:nvSpPr>
        <p:spPr>
          <a:xfrm>
            <a:off x="4736592" y="4645152"/>
            <a:ext cx="4023360" cy="32004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Evaluación de competencias del equipo de constructabilidad</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Diagnóstico de Constructabilidad en la Empresa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Herramienta de diagnóstico para evaluar el estado actual de la constructabilidad en su organización (basada en investigación CII):</a:t>
            </a:r>
            <a:endParaRPr lang="en-US" sz="1300" dirty="0"/>
          </a:p>
        </p:txBody>
      </p:sp>
      <p:sp>
        <p:nvSpPr>
          <p:cNvPr id="6" name="Shape 4"/>
          <p:cNvSpPr/>
          <p:nvPr/>
        </p:nvSpPr>
        <p:spPr>
          <a:xfrm>
            <a:off x="365760" y="1325880"/>
            <a:ext cx="4206240" cy="1783080"/>
          </a:xfrm>
          <a:prstGeom prst="roundRect">
            <a:avLst>
              <a:gd name="adj" fmla="val 6154"/>
            </a:avLst>
          </a:prstGeom>
          <a:solidFill>
            <a:srgbClr val="2C2C2E"/>
          </a:solidFill>
          <a:ln w="12700">
            <a:solidFill>
              <a:srgbClr val="AF52DE"/>
            </a:solidFill>
            <a:prstDash val="solid"/>
          </a:ln>
        </p:spPr>
      </p:sp>
      <p:sp>
        <p:nvSpPr>
          <p:cNvPr id="7" name="Text 5"/>
          <p:cNvSpPr txBox="1"/>
          <p:nvPr/>
        </p:nvSpPr>
        <p:spPr>
          <a:xfrm>
            <a:off x="502920" y="1417320"/>
            <a:ext cx="3931920" cy="347472"/>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Compromiso y Liderazgo</a:t>
            </a:r>
            <a:endParaRPr lang="en-US" sz="1400" dirty="0"/>
          </a:p>
        </p:txBody>
      </p:sp>
      <p:sp>
        <p:nvSpPr>
          <p:cNvPr id="8" name="Text 6"/>
          <p:cNvSpPr txBox="1"/>
          <p:nvPr/>
        </p:nvSpPr>
        <p:spPr>
          <a:xfrm>
            <a:off x="502920" y="1828800"/>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¿La alta dirección menciona explícitamente la constructabilidad en su comunicación de objetivos?</a:t>
            </a:r>
            <a:endParaRPr lang="en-US" sz="1000" dirty="0"/>
          </a:p>
        </p:txBody>
      </p:sp>
      <p:sp>
        <p:nvSpPr>
          <p:cNvPr id="9" name="Text 7"/>
          <p:cNvSpPr txBox="1"/>
          <p:nvPr/>
        </p:nvSpPr>
        <p:spPr>
          <a:xfrm>
            <a:off x="502920" y="2212848"/>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¿Existe un Gerente de Constructabilidad designado con recursos asignados?</a:t>
            </a:r>
            <a:endParaRPr lang="en-US" sz="1000" dirty="0"/>
          </a:p>
        </p:txBody>
      </p:sp>
      <p:sp>
        <p:nvSpPr>
          <p:cNvPr id="10" name="Text 8"/>
          <p:cNvSpPr txBox="1"/>
          <p:nvPr/>
        </p:nvSpPr>
        <p:spPr>
          <a:xfrm>
            <a:off x="502920" y="2596896"/>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¿El PEP de todos los proyectos incluye un plan de constructabilidad?</a:t>
            </a:r>
            <a:endParaRPr lang="en-US" sz="1000" dirty="0"/>
          </a:p>
        </p:txBody>
      </p:sp>
      <p:sp>
        <p:nvSpPr>
          <p:cNvPr id="11" name="Shape 9"/>
          <p:cNvSpPr/>
          <p:nvPr/>
        </p:nvSpPr>
        <p:spPr>
          <a:xfrm>
            <a:off x="4754880" y="1325880"/>
            <a:ext cx="4206240" cy="1783080"/>
          </a:xfrm>
          <a:prstGeom prst="roundRect">
            <a:avLst>
              <a:gd name="adj" fmla="val 6154"/>
            </a:avLst>
          </a:prstGeom>
          <a:solidFill>
            <a:srgbClr val="2C2C2E"/>
          </a:solidFill>
          <a:ln w="12700">
            <a:solidFill>
              <a:srgbClr val="0A84FF"/>
            </a:solidFill>
            <a:prstDash val="solid"/>
          </a:ln>
        </p:spPr>
      </p:sp>
      <p:sp>
        <p:nvSpPr>
          <p:cNvPr id="12" name="Text 10"/>
          <p:cNvSpPr txBox="1"/>
          <p:nvPr/>
        </p:nvSpPr>
        <p:spPr>
          <a:xfrm>
            <a:off x="4892040" y="1417320"/>
            <a:ext cx="3931920" cy="347472"/>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Capacidades del Equipo</a:t>
            </a:r>
            <a:endParaRPr lang="en-US" sz="1400" dirty="0"/>
          </a:p>
        </p:txBody>
      </p:sp>
      <p:sp>
        <p:nvSpPr>
          <p:cNvPr id="13" name="Text 11"/>
          <p:cNvSpPr txBox="1"/>
          <p:nvPr/>
        </p:nvSpPr>
        <p:spPr>
          <a:xfrm>
            <a:off x="4892040" y="1828800"/>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¿El equipo de diseño tiene experiencia de campo real o acceso a personal con ella?</a:t>
            </a:r>
            <a:endParaRPr lang="en-US" sz="1000" dirty="0"/>
          </a:p>
        </p:txBody>
      </p:sp>
      <p:sp>
        <p:nvSpPr>
          <p:cNvPr id="14" name="Text 12"/>
          <p:cNvSpPr txBox="1"/>
          <p:nvPr/>
        </p:nvSpPr>
        <p:spPr>
          <a:xfrm>
            <a:off x="4892040" y="2212848"/>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¿Existen "campeones de constructabilidad" por especialidad técnica?</a:t>
            </a:r>
            <a:endParaRPr lang="en-US" sz="1000" dirty="0"/>
          </a:p>
        </p:txBody>
      </p:sp>
      <p:sp>
        <p:nvSpPr>
          <p:cNvPr id="15" name="Text 13"/>
          <p:cNvSpPr txBox="1"/>
          <p:nvPr/>
        </p:nvSpPr>
        <p:spPr>
          <a:xfrm>
            <a:off x="4892040" y="2596896"/>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¿Los ingenieros reciben capacitación formal en los conceptos CII?</a:t>
            </a:r>
            <a:endParaRPr lang="en-US" sz="1000" dirty="0"/>
          </a:p>
        </p:txBody>
      </p:sp>
      <p:sp>
        <p:nvSpPr>
          <p:cNvPr id="16" name="Shape 14"/>
          <p:cNvSpPr/>
          <p:nvPr/>
        </p:nvSpPr>
        <p:spPr>
          <a:xfrm>
            <a:off x="365760" y="3246120"/>
            <a:ext cx="4206240" cy="1783080"/>
          </a:xfrm>
          <a:prstGeom prst="roundRect">
            <a:avLst>
              <a:gd name="adj" fmla="val 6154"/>
            </a:avLst>
          </a:prstGeom>
          <a:solidFill>
            <a:srgbClr val="2C2C2E"/>
          </a:solidFill>
          <a:ln w="12700">
            <a:solidFill>
              <a:srgbClr val="30D158"/>
            </a:solidFill>
            <a:prstDash val="solid"/>
          </a:ln>
        </p:spPr>
      </p:sp>
      <p:sp>
        <p:nvSpPr>
          <p:cNvPr id="17" name="Text 15"/>
          <p:cNvSpPr txBox="1"/>
          <p:nvPr/>
        </p:nvSpPr>
        <p:spPr>
          <a:xfrm>
            <a:off x="502920" y="3337560"/>
            <a:ext cx="3931920" cy="347472"/>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Herramientas y Procesos</a:t>
            </a:r>
            <a:endParaRPr lang="en-US" sz="1400" dirty="0"/>
          </a:p>
        </p:txBody>
      </p:sp>
      <p:sp>
        <p:nvSpPr>
          <p:cNvPr id="18" name="Text 16"/>
          <p:cNvSpPr txBox="1"/>
          <p:nvPr/>
        </p:nvSpPr>
        <p:spPr>
          <a:xfrm>
            <a:off x="502920" y="3749040"/>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¿Existe una Base de Datos de Lecciones Aprendidas activa y usada?</a:t>
            </a:r>
            <a:endParaRPr lang="en-US" sz="1000" dirty="0"/>
          </a:p>
        </p:txBody>
      </p:sp>
      <p:sp>
        <p:nvSpPr>
          <p:cNvPr id="19" name="Text 17"/>
          <p:cNvSpPr txBox="1"/>
          <p:nvPr/>
        </p:nvSpPr>
        <p:spPr>
          <a:xfrm>
            <a:off x="502920" y="4133088"/>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¿Se realizan talleres de constructabilidad formales por proyecto?</a:t>
            </a:r>
            <a:endParaRPr lang="en-US" sz="1000" dirty="0"/>
          </a:p>
        </p:txBody>
      </p:sp>
      <p:sp>
        <p:nvSpPr>
          <p:cNvPr id="20" name="Text 18"/>
          <p:cNvSpPr txBox="1"/>
          <p:nvPr/>
        </p:nvSpPr>
        <p:spPr>
          <a:xfrm>
            <a:off x="502920" y="4517136"/>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¿Se usan las herramientas CII (log de ideas, reporte trimestral, matrices de conceptos)?</a:t>
            </a:r>
            <a:endParaRPr lang="en-US" sz="1000" dirty="0"/>
          </a:p>
        </p:txBody>
      </p:sp>
      <p:sp>
        <p:nvSpPr>
          <p:cNvPr id="21" name="Shape 19"/>
          <p:cNvSpPr/>
          <p:nvPr/>
        </p:nvSpPr>
        <p:spPr>
          <a:xfrm>
            <a:off x="4754880" y="3246120"/>
            <a:ext cx="4206240" cy="1783080"/>
          </a:xfrm>
          <a:prstGeom prst="roundRect">
            <a:avLst>
              <a:gd name="adj" fmla="val 6154"/>
            </a:avLst>
          </a:prstGeom>
          <a:solidFill>
            <a:srgbClr val="2C2C2E"/>
          </a:solidFill>
          <a:ln w="12700">
            <a:solidFill>
              <a:srgbClr val="FF9500"/>
            </a:solidFill>
            <a:prstDash val="solid"/>
          </a:ln>
        </p:spPr>
      </p:sp>
      <p:sp>
        <p:nvSpPr>
          <p:cNvPr id="22" name="Text 20"/>
          <p:cNvSpPr txBox="1"/>
          <p:nvPr/>
        </p:nvSpPr>
        <p:spPr>
          <a:xfrm>
            <a:off x="4892040" y="3337560"/>
            <a:ext cx="3931920" cy="347472"/>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Métricas y Resultados</a:t>
            </a:r>
            <a:endParaRPr lang="en-US" sz="1400" dirty="0"/>
          </a:p>
        </p:txBody>
      </p:sp>
      <p:sp>
        <p:nvSpPr>
          <p:cNvPr id="23" name="Text 21"/>
          <p:cNvSpPr txBox="1"/>
          <p:nvPr/>
        </p:nvSpPr>
        <p:spPr>
          <a:xfrm>
            <a:off x="4892040" y="3749040"/>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¿Se mide y reporta el ahorro generado por el programa?</a:t>
            </a:r>
            <a:endParaRPr lang="en-US" sz="1000" dirty="0"/>
          </a:p>
        </p:txBody>
      </p:sp>
      <p:sp>
        <p:nvSpPr>
          <p:cNvPr id="24" name="Text 22"/>
          <p:cNvSpPr txBox="1"/>
          <p:nvPr/>
        </p:nvSpPr>
        <p:spPr>
          <a:xfrm>
            <a:off x="4892040" y="4133088"/>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¿Se calcula el ratio B/C del programa por proyecto?</a:t>
            </a:r>
            <a:endParaRPr lang="en-US" sz="1000" dirty="0"/>
          </a:p>
        </p:txBody>
      </p:sp>
      <p:sp>
        <p:nvSpPr>
          <p:cNvPr id="25" name="Text 23"/>
          <p:cNvSpPr txBox="1"/>
          <p:nvPr/>
        </p:nvSpPr>
        <p:spPr>
          <a:xfrm>
            <a:off x="4892040" y="4517136"/>
            <a:ext cx="3931920" cy="347472"/>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¿Hay evidencia de mejora continua entre proyectos?</a:t>
            </a:r>
            <a:endParaRPr lang="en-US" sz="10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y el Propietario — El Rol Central</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8E8E93"/>
                </a:solidFill>
                <a:latin typeface="Atkinson Hyperlegible" pitchFamily="34" charset="0"/>
                <a:ea typeface="Atkinson Hyperlegible" pitchFamily="34" charset="-122"/>
                <a:cs typeface="Atkinson Hyperlegible" pitchFamily="34" charset="-120"/>
              </a:rPr>
              <a:t>El CII identifica al PROPIETARIO como el actor clave para implementar constructabilidad. Sin el liderazgo del propietario, el programa no puede tener el alcance ni el impacto necesarios.</a:t>
            </a:r>
            <a:endParaRPr lang="en-US" sz="1250" dirty="0"/>
          </a:p>
        </p:txBody>
      </p:sp>
      <p:sp>
        <p:nvSpPr>
          <p:cNvPr id="6" name="Shape 4"/>
          <p:cNvSpPr/>
          <p:nvPr/>
        </p:nvSpPr>
        <p:spPr>
          <a:xfrm>
            <a:off x="365760" y="1444752"/>
            <a:ext cx="4206240" cy="1600200"/>
          </a:xfrm>
          <a:prstGeom prst="roundRect">
            <a:avLst>
              <a:gd name="adj" fmla="val 6857"/>
            </a:avLst>
          </a:prstGeom>
          <a:solidFill>
            <a:srgbClr val="2C2C2E"/>
          </a:solidFill>
          <a:ln w="12700">
            <a:solidFill>
              <a:srgbClr val="0A84FF"/>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¿Por qué el Propietario?</a:t>
            </a:r>
            <a:endParaRPr lang="en-US" sz="14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propietario tiene autoridad sobre TODO el proyecto — diseño, procura y construcción. Puede requerir constructabilidad en contratos. Los contratistas no pueden hacer esto por sí solos.</a:t>
            </a:r>
            <a:endParaRPr lang="en-US" sz="1100" dirty="0"/>
          </a:p>
        </p:txBody>
      </p:sp>
      <p:sp>
        <p:nvSpPr>
          <p:cNvPr id="9" name="Shape 7"/>
          <p:cNvSpPr/>
          <p:nvPr/>
        </p:nvSpPr>
        <p:spPr>
          <a:xfrm>
            <a:off x="4754880" y="1444752"/>
            <a:ext cx="4206240" cy="1600200"/>
          </a:xfrm>
          <a:prstGeom prst="roundRect">
            <a:avLst>
              <a:gd name="adj" fmla="val 6857"/>
            </a:avLst>
          </a:prstGeom>
          <a:solidFill>
            <a:srgbClr val="2C2C2E"/>
          </a:solidFill>
          <a:ln w="12700">
            <a:solidFill>
              <a:srgbClr val="30D158"/>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Rol del Propietario en Diseño</a:t>
            </a:r>
            <a:endParaRPr lang="en-US" sz="14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Requerir que el diseñador integre input constructivo. Facilitar el acceso de constructores al equipo de diseño. Financiar el programa de constructabilidad.</a:t>
            </a:r>
            <a:endParaRPr lang="en-US" sz="1100" dirty="0"/>
          </a:p>
        </p:txBody>
      </p:sp>
      <p:sp>
        <p:nvSpPr>
          <p:cNvPr id="12" name="Shape 10"/>
          <p:cNvSpPr/>
          <p:nvPr/>
        </p:nvSpPr>
        <p:spPr>
          <a:xfrm>
            <a:off x="365760" y="3163824"/>
            <a:ext cx="4206240" cy="1600200"/>
          </a:xfrm>
          <a:prstGeom prst="roundRect">
            <a:avLst>
              <a:gd name="adj" fmla="val 6857"/>
            </a:avLst>
          </a:prstGeom>
          <a:solidFill>
            <a:srgbClr val="2C2C2E"/>
          </a:solidFill>
          <a:ln w="12700">
            <a:solidFill>
              <a:srgbClr val="FF9500"/>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Rol del Propietario en Contratos</a:t>
            </a:r>
            <a:endParaRPr lang="en-US" sz="14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Incluir cláusulas contractuales de constructabilidad. Requerir Gerente de Constructabilidad en los contratos. Implementar sistemas de gain-sharing para incentivos.</a:t>
            </a:r>
            <a:endParaRPr lang="en-US" sz="1100" dirty="0"/>
          </a:p>
        </p:txBody>
      </p:sp>
      <p:sp>
        <p:nvSpPr>
          <p:cNvPr id="15" name="Shape 13"/>
          <p:cNvSpPr/>
          <p:nvPr/>
        </p:nvSpPr>
        <p:spPr>
          <a:xfrm>
            <a:off x="4754880" y="3163824"/>
            <a:ext cx="4206240" cy="1600200"/>
          </a:xfrm>
          <a:prstGeom prst="roundRect">
            <a:avLst>
              <a:gd name="adj" fmla="val 6857"/>
            </a:avLst>
          </a:prstGeom>
          <a:solidFill>
            <a:srgbClr val="2C2C2E"/>
          </a:solidFill>
          <a:ln w="12700">
            <a:solidFill>
              <a:srgbClr val="AF52DE"/>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Rol del Propietario en Campo</a:t>
            </a:r>
            <a:endParaRPr lang="en-US" sz="14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Monitorear la implementación del plan de constructabilidad. Revisar el log de ideas mensualmente. Validar los ahorros reportados. Propagar las lecciones aprendidas.</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vs. "Revisión de Diseño" — La Trampa Común</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8E8E93"/>
                </a:solidFill>
                <a:latin typeface="Atkinson Hyperlegible" pitchFamily="34" charset="0"/>
                <a:ea typeface="Atkinson Hyperlegible" pitchFamily="34" charset="-122"/>
                <a:cs typeface="Atkinson Hyperlegible" pitchFamily="34" charset="-120"/>
              </a:rPr>
              <a:t>La confusión más común en la industria: creer que la constructabilidad es sinónimo de la revisión de documentos de diseño por parte del constructor. Este es solo un componente menor.</a:t>
            </a:r>
            <a:endParaRPr lang="en-US" sz="1250" dirty="0"/>
          </a:p>
        </p:txBody>
      </p:sp>
      <p:sp>
        <p:nvSpPr>
          <p:cNvPr id="6" name="Shape 4"/>
          <p:cNvSpPr/>
          <p:nvPr/>
        </p:nvSpPr>
        <p:spPr>
          <a:xfrm>
            <a:off x="365760" y="1444752"/>
            <a:ext cx="4206240" cy="1600200"/>
          </a:xfrm>
          <a:prstGeom prst="roundRect">
            <a:avLst>
              <a:gd name="adj" fmla="val 6857"/>
            </a:avLst>
          </a:prstGeom>
          <a:solidFill>
            <a:srgbClr val="2C2C2E"/>
          </a:solidFill>
          <a:ln w="12700">
            <a:solidFill>
              <a:srgbClr val="FF453A"/>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La "Revisión" como Componente Parcial</a:t>
            </a:r>
            <a:endParaRPr lang="en-US" sz="14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revisión de documentos es importante, pero llega tarde en la curva de influencia de costos. Para ese momento, muchas decisiones fundamentales ya están tomadas.</a:t>
            </a:r>
            <a:endParaRPr lang="en-US" sz="1100" dirty="0"/>
          </a:p>
        </p:txBody>
      </p:sp>
      <p:sp>
        <p:nvSpPr>
          <p:cNvPr id="9" name="Shape 7"/>
          <p:cNvSpPr/>
          <p:nvPr/>
        </p:nvSpPr>
        <p:spPr>
          <a:xfrm>
            <a:off x="4754880" y="1444752"/>
            <a:ext cx="4206240" cy="1600200"/>
          </a:xfrm>
          <a:prstGeom prst="roundRect">
            <a:avLst>
              <a:gd name="adj" fmla="val 6857"/>
            </a:avLst>
          </a:prstGeom>
          <a:solidFill>
            <a:srgbClr val="2C2C2E"/>
          </a:solidFill>
          <a:ln w="12700">
            <a:solidFill>
              <a:srgbClr val="FF9500"/>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Lo Que NO es Constructabilidad</a:t>
            </a:r>
            <a:endParaRPr lang="en-US" sz="14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No es solo determinar métodos de construcción más eficientes después de la movilización. No es solo asignar personal de construcción a la oficina de diseño.</a:t>
            </a:r>
            <a:endParaRPr lang="en-US" sz="1100" dirty="0"/>
          </a:p>
        </p:txBody>
      </p:sp>
      <p:sp>
        <p:nvSpPr>
          <p:cNvPr id="12" name="Shape 10"/>
          <p:cNvSpPr/>
          <p:nvPr/>
        </p:nvSpPr>
        <p:spPr>
          <a:xfrm>
            <a:off x="365760" y="3163824"/>
            <a:ext cx="4206240" cy="1600200"/>
          </a:xfrm>
          <a:prstGeom prst="roundRect">
            <a:avLst>
              <a:gd name="adj" fmla="val 6857"/>
            </a:avLst>
          </a:prstGeom>
          <a:solidFill>
            <a:srgbClr val="2C2C2E"/>
          </a:solidFill>
          <a:ln w="12700">
            <a:solidFill>
              <a:srgbClr val="30D158"/>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Lo Que SÍ es Constructabilidad</a:t>
            </a:r>
            <a:endParaRPr lang="en-US" sz="14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integración efectiva y oportuna de input constructivo en PLANIFICACIÓN y DISEÑO DESDE EL INICIO. Pensamiento proactivo sobre cómo se construirá antes de diseñarlo.</a:t>
            </a:r>
            <a:endParaRPr lang="en-US" sz="1100" dirty="0"/>
          </a:p>
        </p:txBody>
      </p:sp>
      <p:sp>
        <p:nvSpPr>
          <p:cNvPr id="15" name="Shape 13"/>
          <p:cNvSpPr/>
          <p:nvPr/>
        </p:nvSpPr>
        <p:spPr>
          <a:xfrm>
            <a:off x="4754880" y="3163824"/>
            <a:ext cx="4206240" cy="1600200"/>
          </a:xfrm>
          <a:prstGeom prst="roundRect">
            <a:avLst>
              <a:gd name="adj" fmla="val 6857"/>
            </a:avLst>
          </a:prstGeom>
          <a:solidFill>
            <a:srgbClr val="2C2C2E"/>
          </a:solidFill>
          <a:ln w="12700">
            <a:solidFill>
              <a:srgbClr val="0A84FF"/>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La Diferencia Crítica</a:t>
            </a:r>
            <a:endParaRPr lang="en-US" sz="14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Proactivo vs. Reactivo. La constructabilidad real anticipa. La revisión tardía reacciona. El costo del cambio es 100x más barato en planificación que en campo.</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Los 10 Mandamientos de la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4206240" cy="749808"/>
          </a:xfrm>
          <a:prstGeom prst="roundRect">
            <a:avLst>
              <a:gd name="adj" fmla="val 12195"/>
            </a:avLst>
          </a:prstGeom>
          <a:solidFill>
            <a:srgbClr val="2C2C2E"/>
          </a:solidFill>
          <a:ln w="12700">
            <a:solidFill>
              <a:srgbClr val="3A3A3C"/>
            </a:solidFill>
            <a:prstDash val="solid"/>
          </a:ln>
        </p:spPr>
      </p:sp>
      <p:sp>
        <p:nvSpPr>
          <p:cNvPr id="6" name="Shape 4"/>
          <p:cNvSpPr/>
          <p:nvPr/>
        </p:nvSpPr>
        <p:spPr>
          <a:xfrm>
            <a:off x="457200" y="1042416"/>
            <a:ext cx="402336" cy="402336"/>
          </a:xfrm>
          <a:prstGeom prst="ellipse">
            <a:avLst/>
          </a:prstGeom>
          <a:solidFill>
            <a:srgbClr val="FFD60A"/>
          </a:solidFill>
          <a:ln/>
        </p:spPr>
      </p:sp>
      <p:sp>
        <p:nvSpPr>
          <p:cNvPr id="7" name="Text 5"/>
          <p:cNvSpPr txBox="1"/>
          <p:nvPr/>
        </p:nvSpPr>
        <p:spPr>
          <a:xfrm>
            <a:off x="457200" y="1042416"/>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1</a:t>
            </a:r>
            <a:endParaRPr lang="en-US" sz="1300" dirty="0"/>
          </a:p>
        </p:txBody>
      </p:sp>
      <p:sp>
        <p:nvSpPr>
          <p:cNvPr id="8" name="Text 6"/>
          <p:cNvSpPr txBox="1"/>
          <p:nvPr/>
        </p:nvSpPr>
        <p:spPr>
          <a:xfrm>
            <a:off x="978408" y="1042416"/>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La constructabilidad empieza en la FACTIBILIDAD, no en el diseño de detalle.</a:t>
            </a:r>
            <a:endParaRPr lang="en-US" sz="1150" dirty="0"/>
          </a:p>
        </p:txBody>
      </p:sp>
      <p:sp>
        <p:nvSpPr>
          <p:cNvPr id="9" name="Shape 7"/>
          <p:cNvSpPr/>
          <p:nvPr/>
        </p:nvSpPr>
        <p:spPr>
          <a:xfrm>
            <a:off x="4754880" y="960120"/>
            <a:ext cx="4206240" cy="749808"/>
          </a:xfrm>
          <a:prstGeom prst="roundRect">
            <a:avLst>
              <a:gd name="adj" fmla="val 12195"/>
            </a:avLst>
          </a:prstGeom>
          <a:solidFill>
            <a:srgbClr val="2C2C2E"/>
          </a:solidFill>
          <a:ln w="12700">
            <a:solidFill>
              <a:srgbClr val="3A3A3C"/>
            </a:solidFill>
            <a:prstDash val="solid"/>
          </a:ln>
        </p:spPr>
      </p:sp>
      <p:sp>
        <p:nvSpPr>
          <p:cNvPr id="10" name="Shape 8"/>
          <p:cNvSpPr/>
          <p:nvPr/>
        </p:nvSpPr>
        <p:spPr>
          <a:xfrm>
            <a:off x="4846320" y="1042416"/>
            <a:ext cx="402336" cy="402336"/>
          </a:xfrm>
          <a:prstGeom prst="ellipse">
            <a:avLst/>
          </a:prstGeom>
          <a:solidFill>
            <a:srgbClr val="FF9500"/>
          </a:solidFill>
          <a:ln/>
        </p:spPr>
      </p:sp>
      <p:sp>
        <p:nvSpPr>
          <p:cNvPr id="11" name="Text 9"/>
          <p:cNvSpPr txBox="1"/>
          <p:nvPr/>
        </p:nvSpPr>
        <p:spPr>
          <a:xfrm>
            <a:off x="4846320" y="1042416"/>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2</a:t>
            </a:r>
            <a:endParaRPr lang="en-US" sz="1300" dirty="0"/>
          </a:p>
        </p:txBody>
      </p:sp>
      <p:sp>
        <p:nvSpPr>
          <p:cNvPr id="12" name="Text 10"/>
          <p:cNvSpPr txBox="1"/>
          <p:nvPr/>
        </p:nvSpPr>
        <p:spPr>
          <a:xfrm>
            <a:off x="5367528" y="1042416"/>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El PROPIETARIO lidera — sin su compromiso, no hay programa real.</a:t>
            </a:r>
            <a:endParaRPr lang="en-US" sz="1150" dirty="0"/>
          </a:p>
        </p:txBody>
      </p:sp>
      <p:sp>
        <p:nvSpPr>
          <p:cNvPr id="13" name="Shape 11"/>
          <p:cNvSpPr/>
          <p:nvPr/>
        </p:nvSpPr>
        <p:spPr>
          <a:xfrm>
            <a:off x="365760" y="1801368"/>
            <a:ext cx="4206240" cy="749808"/>
          </a:xfrm>
          <a:prstGeom prst="roundRect">
            <a:avLst>
              <a:gd name="adj" fmla="val 12195"/>
            </a:avLst>
          </a:prstGeom>
          <a:solidFill>
            <a:srgbClr val="2C2C2E"/>
          </a:solidFill>
          <a:ln w="12700">
            <a:solidFill>
              <a:srgbClr val="3A3A3C"/>
            </a:solidFill>
            <a:prstDash val="solid"/>
          </a:ln>
        </p:spPr>
      </p:sp>
      <p:sp>
        <p:nvSpPr>
          <p:cNvPr id="14" name="Shape 12"/>
          <p:cNvSpPr/>
          <p:nvPr/>
        </p:nvSpPr>
        <p:spPr>
          <a:xfrm>
            <a:off x="457200" y="1883664"/>
            <a:ext cx="402336" cy="402336"/>
          </a:xfrm>
          <a:prstGeom prst="ellipse">
            <a:avLst/>
          </a:prstGeom>
          <a:solidFill>
            <a:srgbClr val="30D158"/>
          </a:solidFill>
          <a:ln/>
        </p:spPr>
      </p:sp>
      <p:sp>
        <p:nvSpPr>
          <p:cNvPr id="15" name="Text 13"/>
          <p:cNvSpPr txBox="1"/>
          <p:nvPr/>
        </p:nvSpPr>
        <p:spPr>
          <a:xfrm>
            <a:off x="457200" y="1883664"/>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3</a:t>
            </a:r>
            <a:endParaRPr lang="en-US" sz="1300" dirty="0"/>
          </a:p>
        </p:txBody>
      </p:sp>
      <p:sp>
        <p:nvSpPr>
          <p:cNvPr id="16" name="Text 14"/>
          <p:cNvSpPr txBox="1"/>
          <p:nvPr/>
        </p:nvSpPr>
        <p:spPr>
          <a:xfrm>
            <a:off x="978408" y="1883664"/>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La inversión en constructabilidad tiene retorno de 10:1 — no es un gasto, es una inversión.</a:t>
            </a:r>
            <a:endParaRPr lang="en-US" sz="1150" dirty="0"/>
          </a:p>
        </p:txBody>
      </p:sp>
      <p:sp>
        <p:nvSpPr>
          <p:cNvPr id="17" name="Shape 15"/>
          <p:cNvSpPr/>
          <p:nvPr/>
        </p:nvSpPr>
        <p:spPr>
          <a:xfrm>
            <a:off x="4754880" y="1801368"/>
            <a:ext cx="4206240" cy="749808"/>
          </a:xfrm>
          <a:prstGeom prst="roundRect">
            <a:avLst>
              <a:gd name="adj" fmla="val 12195"/>
            </a:avLst>
          </a:prstGeom>
          <a:solidFill>
            <a:srgbClr val="2C2C2E"/>
          </a:solidFill>
          <a:ln w="12700">
            <a:solidFill>
              <a:srgbClr val="3A3A3C"/>
            </a:solidFill>
            <a:prstDash val="solid"/>
          </a:ln>
        </p:spPr>
      </p:sp>
      <p:sp>
        <p:nvSpPr>
          <p:cNvPr id="18" name="Shape 16"/>
          <p:cNvSpPr/>
          <p:nvPr/>
        </p:nvSpPr>
        <p:spPr>
          <a:xfrm>
            <a:off x="4846320" y="1883664"/>
            <a:ext cx="402336" cy="402336"/>
          </a:xfrm>
          <a:prstGeom prst="ellipse">
            <a:avLst/>
          </a:prstGeom>
          <a:solidFill>
            <a:srgbClr val="0A84FF"/>
          </a:solidFill>
          <a:ln/>
        </p:spPr>
      </p:sp>
      <p:sp>
        <p:nvSpPr>
          <p:cNvPr id="19" name="Text 17"/>
          <p:cNvSpPr txBox="1"/>
          <p:nvPr/>
        </p:nvSpPr>
        <p:spPr>
          <a:xfrm>
            <a:off x="4846320" y="1883664"/>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4</a:t>
            </a:r>
            <a:endParaRPr lang="en-US" sz="1300" dirty="0"/>
          </a:p>
        </p:txBody>
      </p:sp>
      <p:sp>
        <p:nvSpPr>
          <p:cNvPr id="20" name="Text 18"/>
          <p:cNvSpPr txBox="1"/>
          <p:nvPr/>
        </p:nvSpPr>
        <p:spPr>
          <a:xfrm>
            <a:off x="5367528" y="1883664"/>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El diseñador DEBE escuchar al constructor — su resistencia es la barrera #1.</a:t>
            </a:r>
            <a:endParaRPr lang="en-US" sz="1150" dirty="0"/>
          </a:p>
        </p:txBody>
      </p:sp>
      <p:sp>
        <p:nvSpPr>
          <p:cNvPr id="21" name="Shape 19"/>
          <p:cNvSpPr/>
          <p:nvPr/>
        </p:nvSpPr>
        <p:spPr>
          <a:xfrm>
            <a:off x="365760" y="2642616"/>
            <a:ext cx="4206240" cy="749808"/>
          </a:xfrm>
          <a:prstGeom prst="roundRect">
            <a:avLst>
              <a:gd name="adj" fmla="val 12195"/>
            </a:avLst>
          </a:prstGeom>
          <a:solidFill>
            <a:srgbClr val="2C2C2E"/>
          </a:solidFill>
          <a:ln w="12700">
            <a:solidFill>
              <a:srgbClr val="3A3A3C"/>
            </a:solidFill>
            <a:prstDash val="solid"/>
          </a:ln>
        </p:spPr>
      </p:sp>
      <p:sp>
        <p:nvSpPr>
          <p:cNvPr id="22" name="Shape 20"/>
          <p:cNvSpPr/>
          <p:nvPr/>
        </p:nvSpPr>
        <p:spPr>
          <a:xfrm>
            <a:off x="457200" y="2724912"/>
            <a:ext cx="402336" cy="402336"/>
          </a:xfrm>
          <a:prstGeom prst="ellipse">
            <a:avLst/>
          </a:prstGeom>
          <a:solidFill>
            <a:srgbClr val="AF52DE"/>
          </a:solidFill>
          <a:ln/>
        </p:spPr>
      </p:sp>
      <p:sp>
        <p:nvSpPr>
          <p:cNvPr id="23" name="Text 2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5</a:t>
            </a:r>
            <a:endParaRPr lang="en-US" sz="1300" dirty="0"/>
          </a:p>
        </p:txBody>
      </p:sp>
      <p:sp>
        <p:nvSpPr>
          <p:cNvPr id="24" name="Text 22"/>
          <p:cNvSpPr txBox="1"/>
          <p:nvPr/>
        </p:nvSpPr>
        <p:spPr>
          <a:xfrm>
            <a:off x="978408" y="2724912"/>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Estandariza lo que puedas — la variación innecesaria cuesta dinero y tiempo.</a:t>
            </a:r>
            <a:endParaRPr lang="en-US" sz="1150" dirty="0"/>
          </a:p>
        </p:txBody>
      </p:sp>
      <p:sp>
        <p:nvSpPr>
          <p:cNvPr id="25" name="Shape 23"/>
          <p:cNvSpPr/>
          <p:nvPr/>
        </p:nvSpPr>
        <p:spPr>
          <a:xfrm>
            <a:off x="4754880" y="2642616"/>
            <a:ext cx="4206240" cy="749808"/>
          </a:xfrm>
          <a:prstGeom prst="roundRect">
            <a:avLst>
              <a:gd name="adj" fmla="val 12195"/>
            </a:avLst>
          </a:prstGeom>
          <a:solidFill>
            <a:srgbClr val="2C2C2E"/>
          </a:solidFill>
          <a:ln w="12700">
            <a:solidFill>
              <a:srgbClr val="3A3A3C"/>
            </a:solidFill>
            <a:prstDash val="solid"/>
          </a:ln>
        </p:spPr>
      </p:sp>
      <p:sp>
        <p:nvSpPr>
          <p:cNvPr id="26" name="Shape 24"/>
          <p:cNvSpPr/>
          <p:nvPr/>
        </p:nvSpPr>
        <p:spPr>
          <a:xfrm>
            <a:off x="4846320" y="2724912"/>
            <a:ext cx="402336" cy="402336"/>
          </a:xfrm>
          <a:prstGeom prst="ellipse">
            <a:avLst/>
          </a:prstGeom>
          <a:solidFill>
            <a:srgbClr val="FF453A"/>
          </a:solidFill>
          <a:ln/>
        </p:spPr>
      </p:sp>
      <p:sp>
        <p:nvSpPr>
          <p:cNvPr id="27" name="Text 25"/>
          <p:cNvSpPr txBox="1"/>
          <p:nvPr/>
        </p:nvSpPr>
        <p:spPr>
          <a:xfrm>
            <a:off x="4846320" y="2724912"/>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6</a:t>
            </a:r>
            <a:endParaRPr lang="en-US" sz="1300" dirty="0"/>
          </a:p>
        </p:txBody>
      </p:sp>
      <p:sp>
        <p:nvSpPr>
          <p:cNvPr id="28" name="Text 26"/>
          <p:cNvSpPr txBox="1"/>
          <p:nvPr/>
        </p:nvSpPr>
        <p:spPr>
          <a:xfrm>
            <a:off x="5367528" y="2724912"/>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Piensa en el izaje ANTES de diseñar — los izajes pesados son ruta crítica.</a:t>
            </a:r>
            <a:endParaRPr lang="en-US" sz="1150" dirty="0"/>
          </a:p>
        </p:txBody>
      </p:sp>
      <p:sp>
        <p:nvSpPr>
          <p:cNvPr id="29" name="Shape 27"/>
          <p:cNvSpPr/>
          <p:nvPr/>
        </p:nvSpPr>
        <p:spPr>
          <a:xfrm>
            <a:off x="365760" y="3483864"/>
            <a:ext cx="4206240" cy="749808"/>
          </a:xfrm>
          <a:prstGeom prst="roundRect">
            <a:avLst>
              <a:gd name="adj" fmla="val 12195"/>
            </a:avLst>
          </a:prstGeom>
          <a:solidFill>
            <a:srgbClr val="2C2C2E"/>
          </a:solidFill>
          <a:ln w="12700">
            <a:solidFill>
              <a:srgbClr val="3A3A3C"/>
            </a:solidFill>
            <a:prstDash val="solid"/>
          </a:ln>
        </p:spPr>
      </p:sp>
      <p:sp>
        <p:nvSpPr>
          <p:cNvPr id="30" name="Shape 28"/>
          <p:cNvSpPr/>
          <p:nvPr/>
        </p:nvSpPr>
        <p:spPr>
          <a:xfrm>
            <a:off x="457200" y="3566160"/>
            <a:ext cx="402336" cy="402336"/>
          </a:xfrm>
          <a:prstGeom prst="ellipse">
            <a:avLst/>
          </a:prstGeom>
          <a:solidFill>
            <a:srgbClr val="64D2FF"/>
          </a:solidFill>
          <a:ln/>
        </p:spPr>
      </p:sp>
      <p:sp>
        <p:nvSpPr>
          <p:cNvPr id="31" name="Text 29"/>
          <p:cNvSpPr txBox="1"/>
          <p:nvPr/>
        </p:nvSpPr>
        <p:spPr>
          <a:xfrm>
            <a:off x="457200" y="3566160"/>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7</a:t>
            </a:r>
            <a:endParaRPr lang="en-US" sz="1300" dirty="0"/>
          </a:p>
        </p:txBody>
      </p:sp>
      <p:sp>
        <p:nvSpPr>
          <p:cNvPr id="32" name="Text 30"/>
          <p:cNvSpPr txBox="1"/>
          <p:nvPr/>
        </p:nvSpPr>
        <p:spPr>
          <a:xfrm>
            <a:off x="978408" y="3566160"/>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Modulariza cuando el sitio sea adverso, la mano de obra escasa o el cronograma apretado.</a:t>
            </a:r>
            <a:endParaRPr lang="en-US" sz="1150" dirty="0"/>
          </a:p>
        </p:txBody>
      </p:sp>
      <p:sp>
        <p:nvSpPr>
          <p:cNvPr id="33" name="Shape 31"/>
          <p:cNvSpPr/>
          <p:nvPr/>
        </p:nvSpPr>
        <p:spPr>
          <a:xfrm>
            <a:off x="4754880" y="3483864"/>
            <a:ext cx="4206240" cy="749808"/>
          </a:xfrm>
          <a:prstGeom prst="roundRect">
            <a:avLst>
              <a:gd name="adj" fmla="val 12195"/>
            </a:avLst>
          </a:prstGeom>
          <a:solidFill>
            <a:srgbClr val="2C2C2E"/>
          </a:solidFill>
          <a:ln w="12700">
            <a:solidFill>
              <a:srgbClr val="3A3A3C"/>
            </a:solidFill>
            <a:prstDash val="solid"/>
          </a:ln>
        </p:spPr>
      </p:sp>
      <p:sp>
        <p:nvSpPr>
          <p:cNvPr id="34" name="Shape 32"/>
          <p:cNvSpPr/>
          <p:nvPr/>
        </p:nvSpPr>
        <p:spPr>
          <a:xfrm>
            <a:off x="4846320" y="3566160"/>
            <a:ext cx="402336" cy="402336"/>
          </a:xfrm>
          <a:prstGeom prst="ellipse">
            <a:avLst/>
          </a:prstGeom>
          <a:solidFill>
            <a:srgbClr val="FF9500"/>
          </a:solidFill>
          <a:ln/>
        </p:spPr>
      </p:sp>
      <p:sp>
        <p:nvSpPr>
          <p:cNvPr id="35" name="Text 33"/>
          <p:cNvSpPr txBox="1"/>
          <p:nvPr/>
        </p:nvSpPr>
        <p:spPr>
          <a:xfrm>
            <a:off x="4846320" y="3566160"/>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8</a:t>
            </a:r>
            <a:endParaRPr lang="en-US" sz="1300" dirty="0"/>
          </a:p>
        </p:txBody>
      </p:sp>
      <p:sp>
        <p:nvSpPr>
          <p:cNvPr id="36" name="Text 34"/>
          <p:cNvSpPr txBox="1"/>
          <p:nvPr/>
        </p:nvSpPr>
        <p:spPr>
          <a:xfrm>
            <a:off x="5367528" y="3566160"/>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El cronograma del CAMPO define el cronograma de DISEÑO, no al revés.</a:t>
            </a:r>
            <a:endParaRPr lang="en-US" sz="1150" dirty="0"/>
          </a:p>
        </p:txBody>
      </p:sp>
      <p:sp>
        <p:nvSpPr>
          <p:cNvPr id="37" name="Shape 35"/>
          <p:cNvSpPr/>
          <p:nvPr/>
        </p:nvSpPr>
        <p:spPr>
          <a:xfrm>
            <a:off x="365760" y="4325112"/>
            <a:ext cx="4206240" cy="749808"/>
          </a:xfrm>
          <a:prstGeom prst="roundRect">
            <a:avLst>
              <a:gd name="adj" fmla="val 12195"/>
            </a:avLst>
          </a:prstGeom>
          <a:solidFill>
            <a:srgbClr val="2C2C2E"/>
          </a:solidFill>
          <a:ln w="12700">
            <a:solidFill>
              <a:srgbClr val="3A3A3C"/>
            </a:solidFill>
            <a:prstDash val="solid"/>
          </a:ln>
        </p:spPr>
      </p:sp>
      <p:sp>
        <p:nvSpPr>
          <p:cNvPr id="38" name="Shape 36"/>
          <p:cNvSpPr/>
          <p:nvPr/>
        </p:nvSpPr>
        <p:spPr>
          <a:xfrm>
            <a:off x="457200" y="4407408"/>
            <a:ext cx="402336" cy="402336"/>
          </a:xfrm>
          <a:prstGeom prst="ellipse">
            <a:avLst/>
          </a:prstGeom>
          <a:solidFill>
            <a:srgbClr val="30D158"/>
          </a:solidFill>
          <a:ln/>
        </p:spPr>
      </p:sp>
      <p:sp>
        <p:nvSpPr>
          <p:cNvPr id="39" name="Text 37"/>
          <p:cNvSpPr txBox="1"/>
          <p:nvPr/>
        </p:nvSpPr>
        <p:spPr>
          <a:xfrm>
            <a:off x="457200" y="4407408"/>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9</a:t>
            </a:r>
            <a:endParaRPr lang="en-US" sz="1300" dirty="0"/>
          </a:p>
        </p:txBody>
      </p:sp>
      <p:sp>
        <p:nvSpPr>
          <p:cNvPr id="40" name="Text 38"/>
          <p:cNvSpPr txBox="1"/>
          <p:nvPr/>
        </p:nvSpPr>
        <p:spPr>
          <a:xfrm>
            <a:off x="978408" y="4407408"/>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Captura las lecciones aprendidas — sin ellas, repites errores y reinventas ruedas.</a:t>
            </a:r>
            <a:endParaRPr lang="en-US" sz="1150" dirty="0"/>
          </a:p>
        </p:txBody>
      </p:sp>
      <p:sp>
        <p:nvSpPr>
          <p:cNvPr id="41" name="Shape 39"/>
          <p:cNvSpPr/>
          <p:nvPr/>
        </p:nvSpPr>
        <p:spPr>
          <a:xfrm>
            <a:off x="4754880" y="4325112"/>
            <a:ext cx="4206240" cy="749808"/>
          </a:xfrm>
          <a:prstGeom prst="roundRect">
            <a:avLst>
              <a:gd name="adj" fmla="val 12195"/>
            </a:avLst>
          </a:prstGeom>
          <a:solidFill>
            <a:srgbClr val="2C2C2E"/>
          </a:solidFill>
          <a:ln w="12700">
            <a:solidFill>
              <a:srgbClr val="3A3A3C"/>
            </a:solidFill>
            <a:prstDash val="solid"/>
          </a:ln>
        </p:spPr>
      </p:sp>
      <p:sp>
        <p:nvSpPr>
          <p:cNvPr id="42" name="Shape 40"/>
          <p:cNvSpPr/>
          <p:nvPr/>
        </p:nvSpPr>
        <p:spPr>
          <a:xfrm>
            <a:off x="4846320" y="4407408"/>
            <a:ext cx="402336" cy="402336"/>
          </a:xfrm>
          <a:prstGeom prst="ellipse">
            <a:avLst/>
          </a:prstGeom>
          <a:solidFill>
            <a:srgbClr val="0A84FF"/>
          </a:solidFill>
          <a:ln/>
        </p:spPr>
      </p:sp>
      <p:sp>
        <p:nvSpPr>
          <p:cNvPr id="43" name="Text 41"/>
          <p:cNvSpPr txBox="1"/>
          <p:nvPr/>
        </p:nvSpPr>
        <p:spPr>
          <a:xfrm>
            <a:off x="4846320" y="4407408"/>
            <a:ext cx="402336" cy="402336"/>
          </a:xfrm>
          <a:prstGeom prst="rect">
            <a:avLst/>
          </a:prstGeom>
          <a:noFill/>
          <a:ln/>
        </p:spPr>
        <p:txBody>
          <a:bodyPr wrap="square" lIns="0" tIns="0" rIns="0" bIns="0" rtlCol="0" anchor="ctr"/>
          <a:lstStyle/>
          <a:p>
            <a:pPr algn="ctr" indent="0" marL="0">
              <a:buNone/>
            </a:pPr>
            <a:r>
              <a:rPr lang="en-US" sz="1300" b="1" dirty="0">
                <a:solidFill>
                  <a:srgbClr val="1C1C1E"/>
                </a:solidFill>
                <a:latin typeface="Atkinson Hyperlegible" pitchFamily="34" charset="0"/>
                <a:ea typeface="Atkinson Hyperlegible" pitchFamily="34" charset="-122"/>
                <a:cs typeface="Atkinson Hyperlegible" pitchFamily="34" charset="-120"/>
              </a:rPr>
              <a:t>10</a:t>
            </a:r>
            <a:endParaRPr lang="en-US" sz="1300" dirty="0"/>
          </a:p>
        </p:txBody>
      </p:sp>
      <p:sp>
        <p:nvSpPr>
          <p:cNvPr id="44" name="Text 42"/>
          <p:cNvSpPr txBox="1"/>
          <p:nvPr/>
        </p:nvSpPr>
        <p:spPr>
          <a:xfrm>
            <a:off x="5367528" y="4407408"/>
            <a:ext cx="3474720" cy="475488"/>
          </a:xfrm>
          <a:prstGeom prst="rect">
            <a:avLst/>
          </a:prstGeom>
          <a:noFill/>
          <a:ln/>
        </p:spPr>
        <p:txBody>
          <a:bodyPr wrap="square" lIns="0" tIns="0" rIns="0" bIns="0" rtlCol="0" anchor="ctr"/>
          <a:lstStyle/>
          <a:p>
            <a:pPr indent="0" marL="0">
              <a:buNone/>
            </a:pPr>
            <a:r>
              <a:rPr lang="en-US" sz="1150" dirty="0">
                <a:solidFill>
                  <a:srgbClr val="FFFFFF"/>
                </a:solidFill>
                <a:latin typeface="Atkinson Hyperlegible" pitchFamily="34" charset="0"/>
                <a:ea typeface="Atkinson Hyperlegible" pitchFamily="34" charset="-122"/>
                <a:cs typeface="Atkinson Hyperlegible" pitchFamily="34" charset="-120"/>
              </a:rPr>
              <a:t>Mide el programa — lo que no se mide, no se mejora.</a:t>
            </a:r>
            <a:endParaRPr lang="en-US" sz="1150" dirty="0"/>
          </a:p>
        </p:txBody>
      </p:sp>
      <p:sp>
        <p:nvSpPr>
          <p:cNvPr id="45" name="Text 4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Resumen de Beneficios de la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Evidencia consolidada de los beneficios documentados por el CII y la industria:</a:t>
            </a:r>
            <a:endParaRPr lang="en-US" sz="1400" dirty="0"/>
          </a:p>
        </p:txBody>
      </p:sp>
      <p:sp>
        <p:nvSpPr>
          <p:cNvPr id="6" name="Shape 4"/>
          <p:cNvSpPr/>
          <p:nvPr/>
        </p:nvSpPr>
        <p:spPr>
          <a:xfrm>
            <a:off x="274320" y="1298448"/>
            <a:ext cx="1920240" cy="1755648"/>
          </a:xfrm>
          <a:prstGeom prst="roundRect">
            <a:avLst>
              <a:gd name="adj" fmla="val 6250"/>
            </a:avLst>
          </a:prstGeom>
          <a:solidFill>
            <a:srgbClr val="2C2C2E"/>
          </a:solidFill>
          <a:ln w="25400">
            <a:solidFill>
              <a:srgbClr val="30D158"/>
            </a:solidFill>
            <a:prstDash val="solid"/>
          </a:ln>
        </p:spPr>
      </p:sp>
      <p:sp>
        <p:nvSpPr>
          <p:cNvPr id="7" name="Text 5"/>
          <p:cNvSpPr txBox="1"/>
          <p:nvPr/>
        </p:nvSpPr>
        <p:spPr>
          <a:xfrm>
            <a:off x="274320" y="1463040"/>
            <a:ext cx="1920240" cy="965606"/>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6-23%</a:t>
            </a:r>
            <a:endParaRPr lang="en-US" sz="4800" dirty="0"/>
          </a:p>
        </p:txBody>
      </p:sp>
      <p:sp>
        <p:nvSpPr>
          <p:cNvPr id="8" name="Text 6"/>
          <p:cNvSpPr txBox="1"/>
          <p:nvPr/>
        </p:nvSpPr>
        <p:spPr>
          <a:xfrm>
            <a:off x="365760" y="2439619"/>
            <a:ext cx="1737360" cy="561807"/>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costo total</a:t>
            </a:r>
            <a:endParaRPr lang="en-US" sz="1200" dirty="0"/>
          </a:p>
        </p:txBody>
      </p:sp>
      <p:sp>
        <p:nvSpPr>
          <p:cNvPr id="9" name="Shape 7"/>
          <p:cNvSpPr/>
          <p:nvPr/>
        </p:nvSpPr>
        <p:spPr>
          <a:xfrm>
            <a:off x="2331720" y="1298448"/>
            <a:ext cx="1920240" cy="1755648"/>
          </a:xfrm>
          <a:prstGeom prst="roundRect">
            <a:avLst>
              <a:gd name="adj" fmla="val 6250"/>
            </a:avLst>
          </a:prstGeom>
          <a:solidFill>
            <a:srgbClr val="2C2C2E"/>
          </a:solidFill>
          <a:ln w="25400">
            <a:solidFill>
              <a:srgbClr val="0A84FF"/>
            </a:solidFill>
            <a:prstDash val="solid"/>
          </a:ln>
        </p:spPr>
      </p:sp>
      <p:sp>
        <p:nvSpPr>
          <p:cNvPr id="10" name="Text 8"/>
          <p:cNvSpPr txBox="1"/>
          <p:nvPr/>
        </p:nvSpPr>
        <p:spPr>
          <a:xfrm>
            <a:off x="2331720" y="1463040"/>
            <a:ext cx="1920240" cy="965606"/>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7.5%</a:t>
            </a:r>
            <a:endParaRPr lang="en-US" sz="4800" dirty="0"/>
          </a:p>
        </p:txBody>
      </p:sp>
      <p:sp>
        <p:nvSpPr>
          <p:cNvPr id="11" name="Text 9"/>
          <p:cNvSpPr txBox="1"/>
          <p:nvPr/>
        </p:nvSpPr>
        <p:spPr>
          <a:xfrm>
            <a:off x="2423160" y="2439619"/>
            <a:ext cx="1737360" cy="561807"/>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duración</a:t>
            </a:r>
            <a:endParaRPr lang="en-US" sz="1200" dirty="0"/>
          </a:p>
        </p:txBody>
      </p:sp>
      <p:sp>
        <p:nvSpPr>
          <p:cNvPr id="12" name="Shape 10"/>
          <p:cNvSpPr/>
          <p:nvPr/>
        </p:nvSpPr>
        <p:spPr>
          <a:xfrm>
            <a:off x="4389120" y="1298448"/>
            <a:ext cx="1920240" cy="1755648"/>
          </a:xfrm>
          <a:prstGeom prst="roundRect">
            <a:avLst>
              <a:gd name="adj" fmla="val 6250"/>
            </a:avLst>
          </a:prstGeom>
          <a:solidFill>
            <a:srgbClr val="2C2C2E"/>
          </a:solidFill>
          <a:ln w="25400">
            <a:solidFill>
              <a:srgbClr val="FF9500"/>
            </a:solidFill>
            <a:prstDash val="solid"/>
          </a:ln>
        </p:spPr>
      </p:sp>
      <p:sp>
        <p:nvSpPr>
          <p:cNvPr id="13" name="Text 11"/>
          <p:cNvSpPr txBox="1"/>
          <p:nvPr/>
        </p:nvSpPr>
        <p:spPr>
          <a:xfrm>
            <a:off x="4389120" y="1463040"/>
            <a:ext cx="1920240" cy="965606"/>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10:1</a:t>
            </a:r>
            <a:endParaRPr lang="en-US" sz="4800" dirty="0"/>
          </a:p>
        </p:txBody>
      </p:sp>
      <p:sp>
        <p:nvSpPr>
          <p:cNvPr id="14" name="Text 12"/>
          <p:cNvSpPr txBox="1"/>
          <p:nvPr/>
        </p:nvSpPr>
        <p:spPr>
          <a:xfrm>
            <a:off x="4480560" y="2439619"/>
            <a:ext cx="1737360" cy="561807"/>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ratio</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beneficio/costo</a:t>
            </a:r>
            <a:endParaRPr lang="en-US" sz="1200" dirty="0"/>
          </a:p>
        </p:txBody>
      </p:sp>
      <p:sp>
        <p:nvSpPr>
          <p:cNvPr id="15" name="Shape 13"/>
          <p:cNvSpPr/>
          <p:nvPr/>
        </p:nvSpPr>
        <p:spPr>
          <a:xfrm>
            <a:off x="6446520" y="1298448"/>
            <a:ext cx="1920240" cy="1755648"/>
          </a:xfrm>
          <a:prstGeom prst="roundRect">
            <a:avLst>
              <a:gd name="adj" fmla="val 6250"/>
            </a:avLst>
          </a:prstGeom>
          <a:solidFill>
            <a:srgbClr val="2C2C2E"/>
          </a:solidFill>
          <a:ln w="25400">
            <a:solidFill>
              <a:srgbClr val="AF52DE"/>
            </a:solidFill>
            <a:prstDash val="solid"/>
          </a:ln>
        </p:spPr>
      </p:sp>
      <p:sp>
        <p:nvSpPr>
          <p:cNvPr id="16" name="Text 14"/>
          <p:cNvSpPr txBox="1"/>
          <p:nvPr/>
        </p:nvSpPr>
        <p:spPr>
          <a:xfrm>
            <a:off x="6446520" y="1463040"/>
            <a:ext cx="1920240" cy="965606"/>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&lt;2%</a:t>
            </a:r>
            <a:endParaRPr lang="en-US" sz="4800" dirty="0"/>
          </a:p>
        </p:txBody>
      </p:sp>
      <p:sp>
        <p:nvSpPr>
          <p:cNvPr id="17" name="Text 15"/>
          <p:cNvSpPr txBox="1"/>
          <p:nvPr/>
        </p:nvSpPr>
        <p:spPr>
          <a:xfrm>
            <a:off x="6537960" y="2439619"/>
            <a:ext cx="1737360" cy="561807"/>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retrabajo en</a:t>
            </a:r>
            <a:endParaRPr lang="en-US" sz="1200" dirty="0"/>
          </a:p>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proyectos maduros</a:t>
            </a:r>
            <a:endParaRPr lang="en-US" sz="1200" dirty="0"/>
          </a:p>
        </p:txBody>
      </p:sp>
      <p:sp>
        <p:nvSpPr>
          <p:cNvPr id="18" name="Shape 16"/>
          <p:cNvSpPr/>
          <p:nvPr/>
        </p:nvSpPr>
        <p:spPr>
          <a:xfrm>
            <a:off x="274320" y="3154680"/>
            <a:ext cx="4251960" cy="896112"/>
          </a:xfrm>
          <a:prstGeom prst="roundRect">
            <a:avLst>
              <a:gd name="adj" fmla="val 10204"/>
            </a:avLst>
          </a:prstGeom>
          <a:solidFill>
            <a:srgbClr val="2C2C2E"/>
          </a:solidFill>
          <a:ln w="12700">
            <a:solidFill>
              <a:srgbClr val="30D158"/>
            </a:solidFill>
            <a:prstDash val="solid"/>
          </a:ln>
        </p:spPr>
      </p:sp>
      <p:sp>
        <p:nvSpPr>
          <p:cNvPr id="19" name="Text 17"/>
          <p:cNvSpPr txBox="1"/>
          <p:nvPr/>
        </p:nvSpPr>
        <p:spPr>
          <a:xfrm>
            <a:off x="457200" y="3227832"/>
            <a:ext cx="39319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Beneficios en Costo</a:t>
            </a:r>
            <a:endParaRPr lang="en-US" sz="1300" dirty="0"/>
          </a:p>
        </p:txBody>
      </p:sp>
      <p:sp>
        <p:nvSpPr>
          <p:cNvPr id="20" name="Text 18"/>
          <p:cNvSpPr txBox="1"/>
          <p:nvPr/>
        </p:nvSpPr>
        <p:spPr>
          <a:xfrm>
            <a:off x="457200" y="3520440"/>
            <a:ext cx="3931920" cy="45720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4.3% reducción promedio en TIC (CII). Casos extremos: hasta 23% de reducción. ROI de 10:1 a 15:1 sobre la inversión en el programa.</a:t>
            </a:r>
            <a:endParaRPr lang="en-US" sz="1050" dirty="0"/>
          </a:p>
        </p:txBody>
      </p:sp>
      <p:sp>
        <p:nvSpPr>
          <p:cNvPr id="21" name="Shape 19"/>
          <p:cNvSpPr/>
          <p:nvPr/>
        </p:nvSpPr>
        <p:spPr>
          <a:xfrm>
            <a:off x="4709160" y="3154680"/>
            <a:ext cx="4251960" cy="896112"/>
          </a:xfrm>
          <a:prstGeom prst="roundRect">
            <a:avLst>
              <a:gd name="adj" fmla="val 10204"/>
            </a:avLst>
          </a:prstGeom>
          <a:solidFill>
            <a:srgbClr val="2C2C2E"/>
          </a:solidFill>
          <a:ln w="12700">
            <a:solidFill>
              <a:srgbClr val="0A84FF"/>
            </a:solidFill>
            <a:prstDash val="solid"/>
          </a:ln>
        </p:spPr>
      </p:sp>
      <p:sp>
        <p:nvSpPr>
          <p:cNvPr id="22" name="Text 20"/>
          <p:cNvSpPr txBox="1"/>
          <p:nvPr/>
        </p:nvSpPr>
        <p:spPr>
          <a:xfrm>
            <a:off x="4892040" y="3227832"/>
            <a:ext cx="39319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Beneficios en Cronograma</a:t>
            </a:r>
            <a:endParaRPr lang="en-US" sz="1300" dirty="0"/>
          </a:p>
        </p:txBody>
      </p:sp>
      <p:sp>
        <p:nvSpPr>
          <p:cNvPr id="23" name="Text 21"/>
          <p:cNvSpPr txBox="1"/>
          <p:nvPr/>
        </p:nvSpPr>
        <p:spPr>
          <a:xfrm>
            <a:off x="4892040" y="3520440"/>
            <a:ext cx="3931920" cy="45720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7.5% reducción promedio en duración total. Arranque de planta anticipado genera flujo de caja temprano para el propietario.</a:t>
            </a:r>
            <a:endParaRPr lang="en-US" sz="1050" dirty="0"/>
          </a:p>
        </p:txBody>
      </p:sp>
      <p:sp>
        <p:nvSpPr>
          <p:cNvPr id="24" name="Shape 22"/>
          <p:cNvSpPr/>
          <p:nvPr/>
        </p:nvSpPr>
        <p:spPr>
          <a:xfrm>
            <a:off x="274320" y="4160520"/>
            <a:ext cx="4251960" cy="896112"/>
          </a:xfrm>
          <a:prstGeom prst="roundRect">
            <a:avLst>
              <a:gd name="adj" fmla="val 10204"/>
            </a:avLst>
          </a:prstGeom>
          <a:solidFill>
            <a:srgbClr val="2C2C2E"/>
          </a:solidFill>
          <a:ln w="12700">
            <a:solidFill>
              <a:srgbClr val="FF9500"/>
            </a:solidFill>
            <a:prstDash val="solid"/>
          </a:ln>
        </p:spPr>
      </p:sp>
      <p:sp>
        <p:nvSpPr>
          <p:cNvPr id="25" name="Text 23"/>
          <p:cNvSpPr txBox="1"/>
          <p:nvPr/>
        </p:nvSpPr>
        <p:spPr>
          <a:xfrm>
            <a:off x="457200" y="4233672"/>
            <a:ext cx="39319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Beneficios en Calidad</a:t>
            </a:r>
            <a:endParaRPr lang="en-US" sz="1300" dirty="0"/>
          </a:p>
        </p:txBody>
      </p:sp>
      <p:sp>
        <p:nvSpPr>
          <p:cNvPr id="26" name="Text 24"/>
          <p:cNvSpPr txBox="1"/>
          <p:nvPr/>
        </p:nvSpPr>
        <p:spPr>
          <a:xfrm>
            <a:off x="457200" y="4526280"/>
            <a:ext cx="3931920" cy="45720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Diseño más construible produce menos errores en campo. Menos retrabajo (meta: &lt;2%). Mayor satisfacción del equipo de campo.</a:t>
            </a:r>
            <a:endParaRPr lang="en-US" sz="1050" dirty="0"/>
          </a:p>
        </p:txBody>
      </p:sp>
      <p:sp>
        <p:nvSpPr>
          <p:cNvPr id="27" name="Shape 25"/>
          <p:cNvSpPr/>
          <p:nvPr/>
        </p:nvSpPr>
        <p:spPr>
          <a:xfrm>
            <a:off x="4709160" y="4160520"/>
            <a:ext cx="4251960" cy="896112"/>
          </a:xfrm>
          <a:prstGeom prst="roundRect">
            <a:avLst>
              <a:gd name="adj" fmla="val 10204"/>
            </a:avLst>
          </a:prstGeom>
          <a:solidFill>
            <a:srgbClr val="2C2C2E"/>
          </a:solidFill>
          <a:ln w="12700">
            <a:solidFill>
              <a:srgbClr val="FF453A"/>
            </a:solidFill>
            <a:prstDash val="solid"/>
          </a:ln>
        </p:spPr>
      </p:sp>
      <p:sp>
        <p:nvSpPr>
          <p:cNvPr id="28" name="Text 26"/>
          <p:cNvSpPr txBox="1"/>
          <p:nvPr/>
        </p:nvSpPr>
        <p:spPr>
          <a:xfrm>
            <a:off x="4892040" y="4233672"/>
            <a:ext cx="393192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Beneficios en Seguridad</a:t>
            </a:r>
            <a:endParaRPr lang="en-US" sz="1300" dirty="0"/>
          </a:p>
        </p:txBody>
      </p:sp>
      <p:sp>
        <p:nvSpPr>
          <p:cNvPr id="29" name="Text 27"/>
          <p:cNvSpPr txBox="1"/>
          <p:nvPr/>
        </p:nvSpPr>
        <p:spPr>
          <a:xfrm>
            <a:off x="4892040" y="4526280"/>
            <a:ext cx="3931920" cy="45720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Safety by Design reduce exposición a riesgos en campo. Caso Corpus Christi: 0 accidentes en 1.6MM horas-hombre.</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Conclusiones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658368"/>
          </a:xfrm>
          <a:prstGeom prst="roundRect">
            <a:avLst>
              <a:gd name="adj" fmla="val 13889"/>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94360"/>
          </a:xfrm>
          <a:prstGeom prst="rect">
            <a:avLst/>
          </a:prstGeom>
          <a:noFill/>
          <a:ln/>
        </p:spPr>
        <p:txBody>
          <a:bodyPr wrap="square" lIns="0" tIns="0" rIns="0" bIns="0" rtlCol="0" anchor="ctr"/>
          <a:lstStyle/>
          <a:p>
            <a:pPr indent="0" marL="0">
              <a:buNone/>
            </a:pPr>
            <a:r>
              <a:rPr lang="en-US" sz="1300" i="1" dirty="0">
                <a:solidFill>
                  <a:srgbClr val="FFFFFF"/>
                </a:solidFill>
                <a:latin typeface="Atkinson Hyperlegible" pitchFamily="34" charset="0"/>
                <a:ea typeface="Atkinson Hyperlegible" pitchFamily="34" charset="-122"/>
                <a:cs typeface="Atkinson Hyperlegible" pitchFamily="34" charset="-120"/>
              </a:rPr>
              <a:t>"La constructabilidad bien implementada es una de las herramientas más poderosas que los propietarios pueden utilizar en sus proyectos." — CII Publication 3-1</a:t>
            </a:r>
            <a:endParaRPr lang="en-US" sz="1300" dirty="0"/>
          </a:p>
        </p:txBody>
      </p:sp>
      <p:sp>
        <p:nvSpPr>
          <p:cNvPr id="7" name="Shape 5"/>
          <p:cNvSpPr/>
          <p:nvPr/>
        </p:nvSpPr>
        <p:spPr>
          <a:xfrm>
            <a:off x="365760" y="1691640"/>
            <a:ext cx="8412480" cy="621792"/>
          </a:xfrm>
          <a:prstGeom prst="roundRect">
            <a:avLst>
              <a:gd name="adj" fmla="val 14706"/>
            </a:avLst>
          </a:prstGeom>
          <a:solidFill>
            <a:srgbClr val="2C2C2E"/>
          </a:solidFill>
          <a:ln w="12700">
            <a:solidFill>
              <a:srgbClr val="3A3A3C"/>
            </a:solidFill>
            <a:prstDash val="solid"/>
          </a:ln>
        </p:spPr>
      </p:sp>
      <p:sp>
        <p:nvSpPr>
          <p:cNvPr id="8" name="Shape 6"/>
          <p:cNvSpPr/>
          <p:nvPr/>
        </p:nvSpPr>
        <p:spPr>
          <a:xfrm>
            <a:off x="365760" y="1691640"/>
            <a:ext cx="73152" cy="621792"/>
          </a:xfrm>
          <a:prstGeom prst="rect">
            <a:avLst/>
          </a:prstGeom>
          <a:solidFill>
            <a:srgbClr val="0A84FF"/>
          </a:solidFill>
          <a:ln/>
        </p:spPr>
      </p:sp>
      <p:sp>
        <p:nvSpPr>
          <p:cNvPr id="9" name="Text 7"/>
          <p:cNvSpPr txBox="1"/>
          <p:nvPr/>
        </p:nvSpPr>
        <p:spPr>
          <a:xfrm>
            <a:off x="566928" y="1755648"/>
            <a:ext cx="2743200" cy="25603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La oportunidad es mayor en las fases tempranas</a:t>
            </a:r>
            <a:endParaRPr lang="en-US" sz="1250" dirty="0"/>
          </a:p>
        </p:txBody>
      </p:sp>
      <p:sp>
        <p:nvSpPr>
          <p:cNvPr id="10" name="Text 8"/>
          <p:cNvSpPr txBox="1"/>
          <p:nvPr/>
        </p:nvSpPr>
        <p:spPr>
          <a:xfrm>
            <a:off x="3401568" y="1755648"/>
            <a:ext cx="53035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planificación conceptual y el diseño básico son las fases donde el impacto de la constructabilidad es máximo y el costo del cambio mínimo. Actuar tarde reduce exponencialmente los beneficios.</a:t>
            </a:r>
            <a:endParaRPr lang="en-US" sz="1100" dirty="0"/>
          </a:p>
        </p:txBody>
      </p:sp>
      <p:sp>
        <p:nvSpPr>
          <p:cNvPr id="11" name="Shape 9"/>
          <p:cNvSpPr/>
          <p:nvPr/>
        </p:nvSpPr>
        <p:spPr>
          <a:xfrm>
            <a:off x="365760" y="2386584"/>
            <a:ext cx="8412480" cy="621792"/>
          </a:xfrm>
          <a:prstGeom prst="roundRect">
            <a:avLst>
              <a:gd name="adj" fmla="val 14706"/>
            </a:avLst>
          </a:prstGeom>
          <a:solidFill>
            <a:srgbClr val="2C2C2E"/>
          </a:solidFill>
          <a:ln w="12700">
            <a:solidFill>
              <a:srgbClr val="3A3A3C"/>
            </a:solidFill>
            <a:prstDash val="solid"/>
          </a:ln>
        </p:spPr>
      </p:sp>
      <p:sp>
        <p:nvSpPr>
          <p:cNvPr id="12" name="Shape 10"/>
          <p:cNvSpPr/>
          <p:nvPr/>
        </p:nvSpPr>
        <p:spPr>
          <a:xfrm>
            <a:off x="365760" y="2386584"/>
            <a:ext cx="73152" cy="621792"/>
          </a:xfrm>
          <a:prstGeom prst="rect">
            <a:avLst/>
          </a:prstGeom>
          <a:solidFill>
            <a:srgbClr val="30D158"/>
          </a:solidFill>
          <a:ln/>
        </p:spPr>
      </p:sp>
      <p:sp>
        <p:nvSpPr>
          <p:cNvPr id="13" name="Text 11"/>
          <p:cNvSpPr txBox="1"/>
          <p:nvPr/>
        </p:nvSpPr>
        <p:spPr>
          <a:xfrm>
            <a:off x="566928" y="2450592"/>
            <a:ext cx="2743200" cy="25603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Requiere compromiso organizacional</a:t>
            </a:r>
            <a:endParaRPr lang="en-US" sz="1250" dirty="0"/>
          </a:p>
        </p:txBody>
      </p:sp>
      <p:sp>
        <p:nvSpPr>
          <p:cNvPr id="14" name="Text 12"/>
          <p:cNvSpPr txBox="1"/>
          <p:nvPr/>
        </p:nvSpPr>
        <p:spPr>
          <a:xfrm>
            <a:off x="3401568" y="2450592"/>
            <a:ext cx="53035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Sin un compromiso formal de la alta dirección, recursos asignados y un Gerente de Constructabilidad designado, el programa no puede generar beneficios sistémicos. Es un cambio cultural.</a:t>
            </a:r>
            <a:endParaRPr lang="en-US" sz="1100" dirty="0"/>
          </a:p>
        </p:txBody>
      </p:sp>
      <p:sp>
        <p:nvSpPr>
          <p:cNvPr id="15" name="Shape 13"/>
          <p:cNvSpPr/>
          <p:nvPr/>
        </p:nvSpPr>
        <p:spPr>
          <a:xfrm>
            <a:off x="365760" y="3081528"/>
            <a:ext cx="8412480" cy="621792"/>
          </a:xfrm>
          <a:prstGeom prst="roundRect">
            <a:avLst>
              <a:gd name="adj" fmla="val 14706"/>
            </a:avLst>
          </a:prstGeom>
          <a:solidFill>
            <a:srgbClr val="2C2C2E"/>
          </a:solidFill>
          <a:ln w="12700">
            <a:solidFill>
              <a:srgbClr val="3A3A3C"/>
            </a:solidFill>
            <a:prstDash val="solid"/>
          </a:ln>
        </p:spPr>
      </p:sp>
      <p:sp>
        <p:nvSpPr>
          <p:cNvPr id="16" name="Shape 14"/>
          <p:cNvSpPr/>
          <p:nvPr/>
        </p:nvSpPr>
        <p:spPr>
          <a:xfrm>
            <a:off x="365760" y="3081528"/>
            <a:ext cx="73152" cy="621792"/>
          </a:xfrm>
          <a:prstGeom prst="rect">
            <a:avLst/>
          </a:prstGeom>
          <a:solidFill>
            <a:srgbClr val="FF9500"/>
          </a:solidFill>
          <a:ln/>
        </p:spPr>
      </p:sp>
      <p:sp>
        <p:nvSpPr>
          <p:cNvPr id="17" name="Text 15"/>
          <p:cNvSpPr txBox="1"/>
          <p:nvPr/>
        </p:nvSpPr>
        <p:spPr>
          <a:xfrm>
            <a:off x="566928" y="3145536"/>
            <a:ext cx="2743200" cy="25603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Los 17 conceptos son guías, no reglas</a:t>
            </a:r>
            <a:endParaRPr lang="en-US" sz="1250" dirty="0"/>
          </a:p>
        </p:txBody>
      </p:sp>
      <p:sp>
        <p:nvSpPr>
          <p:cNvPr id="18" name="Text 16"/>
          <p:cNvSpPr txBox="1"/>
          <p:nvPr/>
        </p:nvSpPr>
        <p:spPr>
          <a:xfrm>
            <a:off x="3401568" y="3145536"/>
            <a:ext cx="53035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Cada proyecto es distinto. Los 17 conceptos CII son un marco de referencia para pensar constructabilidad, no una receta. La clave es aplicar los más relevantes para el contexto específico.</a:t>
            </a:r>
            <a:endParaRPr lang="en-US" sz="1100" dirty="0"/>
          </a:p>
        </p:txBody>
      </p:sp>
      <p:sp>
        <p:nvSpPr>
          <p:cNvPr id="19" name="Shape 17"/>
          <p:cNvSpPr/>
          <p:nvPr/>
        </p:nvSpPr>
        <p:spPr>
          <a:xfrm>
            <a:off x="365760" y="3776472"/>
            <a:ext cx="8412480" cy="621792"/>
          </a:xfrm>
          <a:prstGeom prst="roundRect">
            <a:avLst>
              <a:gd name="adj" fmla="val 14706"/>
            </a:avLst>
          </a:prstGeom>
          <a:solidFill>
            <a:srgbClr val="2C2C2E"/>
          </a:solidFill>
          <a:ln w="12700">
            <a:solidFill>
              <a:srgbClr val="3A3A3C"/>
            </a:solidFill>
            <a:prstDash val="solid"/>
          </a:ln>
        </p:spPr>
      </p:sp>
      <p:sp>
        <p:nvSpPr>
          <p:cNvPr id="20" name="Shape 18"/>
          <p:cNvSpPr/>
          <p:nvPr/>
        </p:nvSpPr>
        <p:spPr>
          <a:xfrm>
            <a:off x="365760" y="3776472"/>
            <a:ext cx="73152" cy="621792"/>
          </a:xfrm>
          <a:prstGeom prst="rect">
            <a:avLst/>
          </a:prstGeom>
          <a:solidFill>
            <a:srgbClr val="AF52DE"/>
          </a:solidFill>
          <a:ln/>
        </p:spPr>
      </p:sp>
      <p:sp>
        <p:nvSpPr>
          <p:cNvPr id="21" name="Text 19"/>
          <p:cNvSpPr txBox="1"/>
          <p:nvPr/>
        </p:nvSpPr>
        <p:spPr>
          <a:xfrm>
            <a:off x="566928" y="3840480"/>
            <a:ext cx="2743200" cy="25603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El retorno está documentado y es consistente</a:t>
            </a:r>
            <a:endParaRPr lang="en-US" sz="1250" dirty="0"/>
          </a:p>
        </p:txBody>
      </p:sp>
      <p:sp>
        <p:nvSpPr>
          <p:cNvPr id="22" name="Text 20"/>
          <p:cNvSpPr txBox="1"/>
          <p:nvPr/>
        </p:nvSpPr>
        <p:spPr>
          <a:xfrm>
            <a:off x="3401568" y="3840480"/>
            <a:ext cx="53035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evidencia CII de 40 años muestra retornos consistentes: 10:1 en promedio. La pregunta no es si funciona — es cómo implementarlo efectivamente en nuestra organización.</a:t>
            </a:r>
            <a:endParaRPr lang="en-US" sz="1100" dirty="0"/>
          </a:p>
        </p:txBody>
      </p:sp>
      <p:sp>
        <p:nvSpPr>
          <p:cNvPr id="23" name="Shape 21"/>
          <p:cNvSpPr/>
          <p:nvPr/>
        </p:nvSpPr>
        <p:spPr>
          <a:xfrm>
            <a:off x="365760" y="4471416"/>
            <a:ext cx="8412480" cy="621792"/>
          </a:xfrm>
          <a:prstGeom prst="roundRect">
            <a:avLst>
              <a:gd name="adj" fmla="val 14706"/>
            </a:avLst>
          </a:prstGeom>
          <a:solidFill>
            <a:srgbClr val="2C2C2E"/>
          </a:solidFill>
          <a:ln w="12700">
            <a:solidFill>
              <a:srgbClr val="3A3A3C"/>
            </a:solidFill>
            <a:prstDash val="solid"/>
          </a:ln>
        </p:spPr>
      </p:sp>
      <p:sp>
        <p:nvSpPr>
          <p:cNvPr id="24" name="Shape 22"/>
          <p:cNvSpPr/>
          <p:nvPr/>
        </p:nvSpPr>
        <p:spPr>
          <a:xfrm>
            <a:off x="365760" y="4471416"/>
            <a:ext cx="73152" cy="621792"/>
          </a:xfrm>
          <a:prstGeom prst="rect">
            <a:avLst/>
          </a:prstGeom>
          <a:solidFill>
            <a:srgbClr val="FFD60A"/>
          </a:solidFill>
          <a:ln/>
        </p:spPr>
      </p:sp>
      <p:sp>
        <p:nvSpPr>
          <p:cNvPr id="25" name="Text 23"/>
          <p:cNvSpPr txBox="1"/>
          <p:nvPr/>
        </p:nvSpPr>
        <p:spPr>
          <a:xfrm>
            <a:off x="566928" y="4535424"/>
            <a:ext cx="2743200" cy="25603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Las lecciones aprendidas son el activo más valioso</a:t>
            </a:r>
            <a:endParaRPr lang="en-US" sz="1250" dirty="0"/>
          </a:p>
        </p:txBody>
      </p:sp>
      <p:sp>
        <p:nvSpPr>
          <p:cNvPr id="26" name="Text 24"/>
          <p:cNvSpPr txBox="1"/>
          <p:nvPr/>
        </p:nvSpPr>
        <p:spPr>
          <a:xfrm>
            <a:off x="3401568" y="4535424"/>
            <a:ext cx="53035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verdadero poder del programa está en la Base de Datos de Lecciones Aprendidas. Cada proyecto mejora el siguiente. Sin ella, el conocimiento se pierde con la rotación del personal.</a:t>
            </a:r>
            <a:endParaRPr lang="en-US" sz="11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Recomendaciones para Iniciar el Programa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rgbClr val="8E8E93"/>
                </a:solidFill>
                <a:latin typeface="Atkinson Hyperlegible" pitchFamily="34" charset="0"/>
                <a:ea typeface="Atkinson Hyperlegible" pitchFamily="34" charset="-122"/>
                <a:cs typeface="Atkinson Hyperlegible" pitchFamily="34" charset="-120"/>
              </a:rPr>
              <a:t>Pasos concretos para iniciar un programa de constructabilidad en su organización:</a:t>
            </a:r>
            <a:endParaRPr lang="en-US" sz="1400" dirty="0"/>
          </a:p>
        </p:txBody>
      </p:sp>
      <p:sp>
        <p:nvSpPr>
          <p:cNvPr id="6" name="Shape 4"/>
          <p:cNvSpPr/>
          <p:nvPr/>
        </p:nvSpPr>
        <p:spPr>
          <a:xfrm>
            <a:off x="365760" y="1298448"/>
            <a:ext cx="8412480" cy="1188720"/>
          </a:xfrm>
          <a:prstGeom prst="roundRect">
            <a:avLst>
              <a:gd name="adj" fmla="val 7692"/>
            </a:avLst>
          </a:prstGeom>
          <a:solidFill>
            <a:srgbClr val="2C2C2E"/>
          </a:solidFill>
          <a:ln w="12700">
            <a:solidFill>
              <a:srgbClr val="3A3A3C"/>
            </a:solidFill>
            <a:prstDash val="solid"/>
          </a:ln>
        </p:spPr>
      </p:sp>
      <p:sp>
        <p:nvSpPr>
          <p:cNvPr id="7" name="Shape 5"/>
          <p:cNvSpPr/>
          <p:nvPr/>
        </p:nvSpPr>
        <p:spPr>
          <a:xfrm>
            <a:off x="365760" y="1298448"/>
            <a:ext cx="2286000" cy="1188720"/>
          </a:xfrm>
          <a:prstGeom prst="roundRect">
            <a:avLst>
              <a:gd name="adj" fmla="val 7692"/>
            </a:avLst>
          </a:prstGeom>
          <a:solidFill>
            <a:srgbClr val="30D158"/>
          </a:solidFill>
          <a:ln/>
        </p:spPr>
      </p:sp>
      <p:sp>
        <p:nvSpPr>
          <p:cNvPr id="8" name="Shape 6"/>
          <p:cNvSpPr/>
          <p:nvPr/>
        </p:nvSpPr>
        <p:spPr>
          <a:xfrm>
            <a:off x="2377440" y="1298448"/>
            <a:ext cx="274320" cy="1188720"/>
          </a:xfrm>
          <a:prstGeom prst="rect">
            <a:avLst/>
          </a:prstGeom>
          <a:solidFill>
            <a:srgbClr val="30D158"/>
          </a:solidFill>
          <a:ln/>
        </p:spPr>
      </p:sp>
      <p:sp>
        <p:nvSpPr>
          <p:cNvPr id="9" name="Text 7"/>
          <p:cNvSpPr txBox="1"/>
          <p:nvPr/>
        </p:nvSpPr>
        <p:spPr>
          <a:xfrm>
            <a:off x="502920" y="1435608"/>
            <a:ext cx="20116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INMEDIATO (0-3 meses)</a:t>
            </a:r>
            <a:endParaRPr lang="en-US" sz="1300" dirty="0"/>
          </a:p>
        </p:txBody>
      </p:sp>
      <p:sp>
        <p:nvSpPr>
          <p:cNvPr id="10" name="Text 8"/>
          <p:cNvSpPr txBox="1"/>
          <p:nvPr/>
        </p:nvSpPr>
        <p:spPr>
          <a:xfrm>
            <a:off x="2743200" y="1371600"/>
            <a:ext cx="5852160" cy="237744"/>
          </a:xfrm>
          <a:prstGeom prst="rect">
            <a:avLst/>
          </a:prstGeom>
          <a:noFill/>
          <a:ln/>
        </p:spPr>
        <p:txBody>
          <a:bodyPr wrap="square" lIns="0" tIns="0" rIns="0" bIns="0" rtlCol="0" anchor="ctr"/>
          <a:lstStyle/>
          <a:p>
            <a:pPr indent="0" marL="0">
              <a:buNone/>
            </a:pPr>
            <a:r>
              <a:rPr lang="en-US" sz="1050" dirty="0">
                <a:solidFill>
                  <a:srgbClr val="FFFFFF"/>
                </a:solidFill>
                <a:latin typeface="Atkinson Hyperlegible" pitchFamily="34" charset="0"/>
                <a:ea typeface="Atkinson Hyperlegible" pitchFamily="34" charset="-122"/>
                <a:cs typeface="Atkinson Hyperlegible" pitchFamily="34" charset="-120"/>
              </a:rPr>
              <a:t>• Leer la CII Publication 3-1 (Constructability: A Primer) con el equipo de liderazgo</a:t>
            </a:r>
            <a:endParaRPr lang="en-US" sz="1050" dirty="0"/>
          </a:p>
        </p:txBody>
      </p:sp>
      <p:sp>
        <p:nvSpPr>
          <p:cNvPr id="11" name="Text 9"/>
          <p:cNvSpPr txBox="1"/>
          <p:nvPr/>
        </p:nvSpPr>
        <p:spPr>
          <a:xfrm>
            <a:off x="2743200" y="1627632"/>
            <a:ext cx="585216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Revisar los casos de estudio de SP 34-1 con datos de retorno (10:1)</a:t>
            </a:r>
            <a:endParaRPr lang="en-US" sz="1050" dirty="0"/>
          </a:p>
        </p:txBody>
      </p:sp>
      <p:sp>
        <p:nvSpPr>
          <p:cNvPr id="12" name="Text 10"/>
          <p:cNvSpPr txBox="1"/>
          <p:nvPr/>
        </p:nvSpPr>
        <p:spPr>
          <a:xfrm>
            <a:off x="2743200" y="1883664"/>
            <a:ext cx="585216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Designar un Campeón de Constructabilidad provisional</a:t>
            </a:r>
            <a:endParaRPr lang="en-US" sz="1050" dirty="0"/>
          </a:p>
        </p:txBody>
      </p:sp>
      <p:sp>
        <p:nvSpPr>
          <p:cNvPr id="13" name="Text 11"/>
          <p:cNvSpPr txBox="1"/>
          <p:nvPr/>
        </p:nvSpPr>
        <p:spPr>
          <a:xfrm>
            <a:off x="2743200" y="2139696"/>
            <a:ext cx="585216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Evaluar el nivel de madurez actual usando la Matriz de Evaluación (Tool 3)</a:t>
            </a:r>
            <a:endParaRPr lang="en-US" sz="1050" dirty="0"/>
          </a:p>
        </p:txBody>
      </p:sp>
      <p:sp>
        <p:nvSpPr>
          <p:cNvPr id="14" name="Shape 12"/>
          <p:cNvSpPr/>
          <p:nvPr/>
        </p:nvSpPr>
        <p:spPr>
          <a:xfrm>
            <a:off x="365760" y="2596896"/>
            <a:ext cx="8412480" cy="1188720"/>
          </a:xfrm>
          <a:prstGeom prst="roundRect">
            <a:avLst>
              <a:gd name="adj" fmla="val 7692"/>
            </a:avLst>
          </a:prstGeom>
          <a:solidFill>
            <a:srgbClr val="2C2C2E"/>
          </a:solidFill>
          <a:ln w="12700">
            <a:solidFill>
              <a:srgbClr val="3A3A3C"/>
            </a:solidFill>
            <a:prstDash val="solid"/>
          </a:ln>
        </p:spPr>
      </p:sp>
      <p:sp>
        <p:nvSpPr>
          <p:cNvPr id="15" name="Shape 13"/>
          <p:cNvSpPr/>
          <p:nvPr/>
        </p:nvSpPr>
        <p:spPr>
          <a:xfrm>
            <a:off x="365760" y="2596896"/>
            <a:ext cx="2286000" cy="1188720"/>
          </a:xfrm>
          <a:prstGeom prst="roundRect">
            <a:avLst>
              <a:gd name="adj" fmla="val 7692"/>
            </a:avLst>
          </a:prstGeom>
          <a:solidFill>
            <a:srgbClr val="0A84FF"/>
          </a:solidFill>
          <a:ln/>
        </p:spPr>
      </p:sp>
      <p:sp>
        <p:nvSpPr>
          <p:cNvPr id="16" name="Shape 14"/>
          <p:cNvSpPr/>
          <p:nvPr/>
        </p:nvSpPr>
        <p:spPr>
          <a:xfrm>
            <a:off x="2377440" y="2596896"/>
            <a:ext cx="274320" cy="1188720"/>
          </a:xfrm>
          <a:prstGeom prst="rect">
            <a:avLst/>
          </a:prstGeom>
          <a:solidFill>
            <a:srgbClr val="0A84FF"/>
          </a:solidFill>
          <a:ln/>
        </p:spPr>
      </p:sp>
      <p:sp>
        <p:nvSpPr>
          <p:cNvPr id="17" name="Text 15"/>
          <p:cNvSpPr txBox="1"/>
          <p:nvPr/>
        </p:nvSpPr>
        <p:spPr>
          <a:xfrm>
            <a:off x="502920" y="2734056"/>
            <a:ext cx="20116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CORTO PLAZO (3-12 meses)</a:t>
            </a:r>
            <a:endParaRPr lang="en-US" sz="1300" dirty="0"/>
          </a:p>
        </p:txBody>
      </p:sp>
      <p:sp>
        <p:nvSpPr>
          <p:cNvPr id="18" name="Text 16"/>
          <p:cNvSpPr txBox="1"/>
          <p:nvPr/>
        </p:nvSpPr>
        <p:spPr>
          <a:xfrm>
            <a:off x="2743200" y="2670048"/>
            <a:ext cx="5852160" cy="237744"/>
          </a:xfrm>
          <a:prstGeom prst="rect">
            <a:avLst/>
          </a:prstGeom>
          <a:noFill/>
          <a:ln/>
        </p:spPr>
        <p:txBody>
          <a:bodyPr wrap="square" lIns="0" tIns="0" rIns="0" bIns="0" rtlCol="0" anchor="ctr"/>
          <a:lstStyle/>
          <a:p>
            <a:pPr indent="0" marL="0">
              <a:buNone/>
            </a:pPr>
            <a:r>
              <a:rPr lang="en-US" sz="1050" dirty="0">
                <a:solidFill>
                  <a:srgbClr val="FFFFFF"/>
                </a:solidFill>
                <a:latin typeface="Atkinson Hyperlegible" pitchFamily="34" charset="0"/>
                <a:ea typeface="Atkinson Hyperlegible" pitchFamily="34" charset="-122"/>
                <a:cs typeface="Atkinson Hyperlegible" pitchFamily="34" charset="-120"/>
              </a:rPr>
              <a:t>• Diseñar e implementar el programa corporativo formal</a:t>
            </a:r>
            <a:endParaRPr lang="en-US" sz="1050" dirty="0"/>
          </a:p>
        </p:txBody>
      </p:sp>
      <p:sp>
        <p:nvSpPr>
          <p:cNvPr id="19" name="Text 17"/>
          <p:cNvSpPr txBox="1"/>
          <p:nvPr/>
        </p:nvSpPr>
        <p:spPr>
          <a:xfrm>
            <a:off x="2743200" y="2926080"/>
            <a:ext cx="585216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Desarrollar la política de implementación y la estructura organizacional</a:t>
            </a:r>
            <a:endParaRPr lang="en-US" sz="1050" dirty="0"/>
          </a:p>
        </p:txBody>
      </p:sp>
      <p:sp>
        <p:nvSpPr>
          <p:cNvPr id="20" name="Text 18"/>
          <p:cNvSpPr txBox="1"/>
          <p:nvPr/>
        </p:nvSpPr>
        <p:spPr>
          <a:xfrm>
            <a:off x="2743200" y="3182112"/>
            <a:ext cx="585216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Capacitar al equipo en los 17 conceptos CII</a:t>
            </a:r>
            <a:endParaRPr lang="en-US" sz="1050" dirty="0"/>
          </a:p>
        </p:txBody>
      </p:sp>
      <p:sp>
        <p:nvSpPr>
          <p:cNvPr id="21" name="Text 19"/>
          <p:cNvSpPr txBox="1"/>
          <p:nvPr/>
        </p:nvSpPr>
        <p:spPr>
          <a:xfrm>
            <a:off x="2743200" y="3438144"/>
            <a:ext cx="585216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Iniciar la Base de Datos de Lecciones Aprendidas en el próximo proyecto</a:t>
            </a:r>
            <a:endParaRPr lang="en-US" sz="1050" dirty="0"/>
          </a:p>
        </p:txBody>
      </p:sp>
      <p:sp>
        <p:nvSpPr>
          <p:cNvPr id="22" name="Shape 20"/>
          <p:cNvSpPr/>
          <p:nvPr/>
        </p:nvSpPr>
        <p:spPr>
          <a:xfrm>
            <a:off x="365760" y="3895344"/>
            <a:ext cx="8412480" cy="1188720"/>
          </a:xfrm>
          <a:prstGeom prst="roundRect">
            <a:avLst>
              <a:gd name="adj" fmla="val 7692"/>
            </a:avLst>
          </a:prstGeom>
          <a:solidFill>
            <a:srgbClr val="2C2C2E"/>
          </a:solidFill>
          <a:ln w="12700">
            <a:solidFill>
              <a:srgbClr val="3A3A3C"/>
            </a:solidFill>
            <a:prstDash val="solid"/>
          </a:ln>
        </p:spPr>
      </p:sp>
      <p:sp>
        <p:nvSpPr>
          <p:cNvPr id="23" name="Shape 21"/>
          <p:cNvSpPr/>
          <p:nvPr/>
        </p:nvSpPr>
        <p:spPr>
          <a:xfrm>
            <a:off x="365760" y="3895344"/>
            <a:ext cx="2286000" cy="1188720"/>
          </a:xfrm>
          <a:prstGeom prst="roundRect">
            <a:avLst>
              <a:gd name="adj" fmla="val 7692"/>
            </a:avLst>
          </a:prstGeom>
          <a:solidFill>
            <a:srgbClr val="FF9500"/>
          </a:solidFill>
          <a:ln/>
        </p:spPr>
      </p:sp>
      <p:sp>
        <p:nvSpPr>
          <p:cNvPr id="24" name="Shape 22"/>
          <p:cNvSpPr/>
          <p:nvPr/>
        </p:nvSpPr>
        <p:spPr>
          <a:xfrm>
            <a:off x="2377440" y="3895344"/>
            <a:ext cx="274320" cy="1188720"/>
          </a:xfrm>
          <a:prstGeom prst="rect">
            <a:avLst/>
          </a:prstGeom>
          <a:solidFill>
            <a:srgbClr val="FF9500"/>
          </a:solidFill>
          <a:ln/>
        </p:spPr>
      </p:sp>
      <p:sp>
        <p:nvSpPr>
          <p:cNvPr id="25" name="Text 23"/>
          <p:cNvSpPr txBox="1"/>
          <p:nvPr/>
        </p:nvSpPr>
        <p:spPr>
          <a:xfrm>
            <a:off x="502920" y="4032504"/>
            <a:ext cx="20116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MEDIANO PLAZO (1-3 años)</a:t>
            </a:r>
            <a:endParaRPr lang="en-US" sz="1300" dirty="0"/>
          </a:p>
        </p:txBody>
      </p:sp>
      <p:sp>
        <p:nvSpPr>
          <p:cNvPr id="26" name="Text 24"/>
          <p:cNvSpPr txBox="1"/>
          <p:nvPr/>
        </p:nvSpPr>
        <p:spPr>
          <a:xfrm>
            <a:off x="2743200" y="3968496"/>
            <a:ext cx="5852160" cy="237744"/>
          </a:xfrm>
          <a:prstGeom prst="rect">
            <a:avLst/>
          </a:prstGeom>
          <a:noFill/>
          <a:ln/>
        </p:spPr>
        <p:txBody>
          <a:bodyPr wrap="square" lIns="0" tIns="0" rIns="0" bIns="0" rtlCol="0" anchor="ctr"/>
          <a:lstStyle/>
          <a:p>
            <a:pPr indent="0" marL="0">
              <a:buNone/>
            </a:pPr>
            <a:r>
              <a:rPr lang="en-US" sz="1050" dirty="0">
                <a:solidFill>
                  <a:srgbClr val="FFFFFF"/>
                </a:solidFill>
                <a:latin typeface="Atkinson Hyperlegible" pitchFamily="34" charset="0"/>
                <a:ea typeface="Atkinson Hyperlegible" pitchFamily="34" charset="-122"/>
                <a:cs typeface="Atkinson Hyperlegible" pitchFamily="34" charset="-120"/>
              </a:rPr>
              <a:t>• Implementar el programa en todos los proyectos de capital</a:t>
            </a:r>
            <a:endParaRPr lang="en-US" sz="1050" dirty="0"/>
          </a:p>
        </p:txBody>
      </p:sp>
      <p:sp>
        <p:nvSpPr>
          <p:cNvPr id="27" name="Text 25"/>
          <p:cNvSpPr txBox="1"/>
          <p:nvPr/>
        </p:nvSpPr>
        <p:spPr>
          <a:xfrm>
            <a:off x="2743200" y="4224528"/>
            <a:ext cx="585216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Medir y reportar los beneficios del programa sistemáticamente</a:t>
            </a:r>
            <a:endParaRPr lang="en-US" sz="1050" dirty="0"/>
          </a:p>
        </p:txBody>
      </p:sp>
      <p:sp>
        <p:nvSpPr>
          <p:cNvPr id="28" name="Text 26"/>
          <p:cNvSpPr txBox="1"/>
          <p:nvPr/>
        </p:nvSpPr>
        <p:spPr>
          <a:xfrm>
            <a:off x="2743200" y="4480560"/>
            <a:ext cx="585216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Desarrollar la LLDB con lecciones de múltiples proyectos</a:t>
            </a:r>
            <a:endParaRPr lang="en-US" sz="1050" dirty="0"/>
          </a:p>
        </p:txBody>
      </p:sp>
      <p:sp>
        <p:nvSpPr>
          <p:cNvPr id="29" name="Text 27"/>
          <p:cNvSpPr txBox="1"/>
          <p:nvPr/>
        </p:nvSpPr>
        <p:spPr>
          <a:xfrm>
            <a:off x="2743200" y="4736592"/>
            <a:ext cx="5852160" cy="237744"/>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Evaluar y buscar reconocimiento como programa maduro (Nivel 4-5)</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en Proyectos con Restricciones de Sitio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FF9500"/>
            </a:solidFill>
            <a:prstDash val="solid"/>
          </a:ln>
        </p:spPr>
      </p:sp>
      <p:sp>
        <p:nvSpPr>
          <p:cNvPr id="7" name="Shape 5"/>
          <p:cNvSpPr/>
          <p:nvPr/>
        </p:nvSpPr>
        <p:spPr>
          <a:xfrm>
            <a:off x="365760" y="1261872"/>
            <a:ext cx="4206240" cy="420624"/>
          </a:xfrm>
          <a:prstGeom prst="roundRect">
            <a:avLst>
              <a:gd name="adj" fmla="val 26087"/>
            </a:avLst>
          </a:prstGeom>
          <a:solidFill>
            <a:srgbClr val="FF9500"/>
          </a:solidFill>
          <a:ln/>
        </p:spPr>
      </p:sp>
      <p:sp>
        <p:nvSpPr>
          <p:cNvPr id="8" name="Shape 6"/>
          <p:cNvSpPr/>
          <p:nvPr/>
        </p:nvSpPr>
        <p:spPr>
          <a:xfrm>
            <a:off x="365760" y="1481328"/>
            <a:ext cx="4206240" cy="201168"/>
          </a:xfrm>
          <a:prstGeom prst="rect">
            <a:avLst/>
          </a:prstGeom>
          <a:solidFill>
            <a:srgbClr val="FF9500"/>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Sitios Urbanos Congestionados</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constructabilidad en sitios urbanos requiere análisis especial: acceso restringido para equipos, sin espacio de acopio, operaciones de terceros adyacentes, restricciones de horario y ruido.</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FF453A"/>
            </a:solidFill>
            <a:prstDash val="solid"/>
          </a:ln>
        </p:spPr>
      </p:sp>
      <p:sp>
        <p:nvSpPr>
          <p:cNvPr id="12" name="Shape 10"/>
          <p:cNvSpPr/>
          <p:nvPr/>
        </p:nvSpPr>
        <p:spPr>
          <a:xfrm>
            <a:off x="4754880" y="1261872"/>
            <a:ext cx="4206240" cy="420624"/>
          </a:xfrm>
          <a:prstGeom prst="roundRect">
            <a:avLst>
              <a:gd name="adj" fmla="val 26087"/>
            </a:avLst>
          </a:prstGeom>
          <a:solidFill>
            <a:srgbClr val="FF453A"/>
          </a:solidFill>
          <a:ln/>
        </p:spPr>
      </p:sp>
      <p:sp>
        <p:nvSpPr>
          <p:cNvPr id="13" name="Shape 11"/>
          <p:cNvSpPr/>
          <p:nvPr/>
        </p:nvSpPr>
        <p:spPr>
          <a:xfrm>
            <a:off x="4754880" y="1481328"/>
            <a:ext cx="4206240" cy="201168"/>
          </a:xfrm>
          <a:prstGeom prst="rect">
            <a:avLst/>
          </a:prstGeom>
          <a:solidFill>
            <a:srgbClr val="FF453A"/>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Construcción en Sitio Operativo (Brownfield)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proyecto se ejecuta mientras la planta sigue operando. Máxima complejidad de constructabilidad. Permisos de trabajo, aislamientos, HAZOPs, planes de interfaz.</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FFD60A"/>
            </a:solidFill>
            <a:prstDash val="solid"/>
          </a:ln>
        </p:spPr>
      </p:sp>
      <p:sp>
        <p:nvSpPr>
          <p:cNvPr id="17" name="Shape 15"/>
          <p:cNvSpPr/>
          <p:nvPr/>
        </p:nvSpPr>
        <p:spPr>
          <a:xfrm>
            <a:off x="365760" y="3044952"/>
            <a:ext cx="4206240" cy="420624"/>
          </a:xfrm>
          <a:prstGeom prst="roundRect">
            <a:avLst>
              <a:gd name="adj" fmla="val 26087"/>
            </a:avLst>
          </a:prstGeom>
          <a:solidFill>
            <a:srgbClr val="FFD60A"/>
          </a:solidFill>
          <a:ln/>
        </p:spPr>
      </p:sp>
      <p:sp>
        <p:nvSpPr>
          <p:cNvPr id="18" name="Shape 16"/>
          <p:cNvSpPr/>
          <p:nvPr/>
        </p:nvSpPr>
        <p:spPr>
          <a:xfrm>
            <a:off x="365760" y="3264408"/>
            <a:ext cx="4206240" cy="201168"/>
          </a:xfrm>
          <a:prstGeom prst="rect">
            <a:avLst/>
          </a:prstGeom>
          <a:solidFill>
            <a:srgbClr val="FFD60A"/>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Sitios con Contaminación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constructabilidad debe considerar protocolos de manejo de suelos contaminados. Impacto en productividad, costo adicional de disposición, cronograma impactado.</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0A84FF"/>
            </a:solidFill>
            <a:prstDash val="solid"/>
          </a:ln>
        </p:spPr>
      </p:sp>
      <p:sp>
        <p:nvSpPr>
          <p:cNvPr id="22" name="Shape 20"/>
          <p:cNvSpPr/>
          <p:nvPr/>
        </p:nvSpPr>
        <p:spPr>
          <a:xfrm>
            <a:off x="4754880" y="3044952"/>
            <a:ext cx="4206240" cy="420624"/>
          </a:xfrm>
          <a:prstGeom prst="roundRect">
            <a:avLst>
              <a:gd name="adj" fmla="val 26087"/>
            </a:avLst>
          </a:prstGeom>
          <a:solidFill>
            <a:srgbClr val="0A84FF"/>
          </a:solidFill>
          <a:ln/>
        </p:spPr>
      </p:sp>
      <p:sp>
        <p:nvSpPr>
          <p:cNvPr id="23" name="Shape 21"/>
          <p:cNvSpPr/>
          <p:nvPr/>
        </p:nvSpPr>
        <p:spPr>
          <a:xfrm>
            <a:off x="4754880" y="3264408"/>
            <a:ext cx="4206240" cy="201168"/>
          </a:xfrm>
          <a:prstGeom prst="rect">
            <a:avLst/>
          </a:prstGeom>
          <a:solidFill>
            <a:srgbClr val="0A84FF"/>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Sitios Remotos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Transporte de personal y materiales domina el costo. Modularización maximizada. Prefabricación total cuando sea posible. Autosuficiencia del campamento.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para Megaproyectos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AF52DE"/>
            </a:solidFill>
            <a:prstDash val="solid"/>
          </a:ln>
        </p:spPr>
      </p:sp>
      <p:sp>
        <p:nvSpPr>
          <p:cNvPr id="7" name="Shape 5"/>
          <p:cNvSpPr/>
          <p:nvPr/>
        </p:nvSpPr>
        <p:spPr>
          <a:xfrm>
            <a:off x="365760" y="1261872"/>
            <a:ext cx="4206240" cy="420624"/>
          </a:xfrm>
          <a:prstGeom prst="roundRect">
            <a:avLst>
              <a:gd name="adj" fmla="val 26087"/>
            </a:avLst>
          </a:prstGeom>
          <a:solidFill>
            <a:srgbClr val="AF52DE"/>
          </a:solidFill>
          <a:ln/>
        </p:spPr>
      </p:sp>
      <p:sp>
        <p:nvSpPr>
          <p:cNvPr id="8" name="Shape 6"/>
          <p:cNvSpPr/>
          <p:nvPr/>
        </p:nvSpPr>
        <p:spPr>
          <a:xfrm>
            <a:off x="365760" y="1481328"/>
            <a:ext cx="4206240" cy="201168"/>
          </a:xfrm>
          <a:prstGeom prst="rect">
            <a:avLst/>
          </a:prstGeom>
          <a:solidFill>
            <a:srgbClr val="AF52DE"/>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Escala y Complejidad Única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Los megaproyectos (&gt;$1B) tienen una constructabilidad de mayor complejidad. La interfaz entre múltiples contratistas se convierte en la principal fuente de problemas constructivos.</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Gestión de Interfaces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Planes de interfaz entre contratistas. Definición clara de "battery limits". Coordinación de cronogramas de diferentes frentes de trabajo. Arbitraje de conflictos de acceso.</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Logística de Gran Escala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Gestión de miles de trabajadores. Sistema de buses, comedores, alojamiento. Logística de materiales a escala industrial. Plan maestro de tráfico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Programa de Constructabilidad Corporativo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Los megaproyectos requieren un programa de constructabilidad formal con Gerente de Constructabilidad dedicado, múltiples campeones y reportes a la dirección de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y Sostenibilidad — Proyectos Verdes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Sinergia Natural</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constructabilidad y la sostenibilidad comparten el objetivo de optimizar el uso de recursos. Un proyecto bien construible genera menos desperdicios y consume menos energía durante la construcción.</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Reducción de Desperdicios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programa de constructabilidad debe incluir indicadores de minimización de desperdicios de construcción. El proyecto Fjardaál estableció un nuevo estándar de minimización de residuos.</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Construcción Fuera del Sitio</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prefabricación y modularización en taller genera menos desperdicio que el trabajo en campo, mayor control de calidad y menor impacto ambiental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FFD60A"/>
            </a:solidFill>
            <a:prstDash val="solid"/>
          </a:ln>
        </p:spPr>
      </p:sp>
      <p:sp>
        <p:nvSpPr>
          <p:cNvPr id="22" name="Shape 20"/>
          <p:cNvSpPr/>
          <p:nvPr/>
        </p:nvSpPr>
        <p:spPr>
          <a:xfrm>
            <a:off x="4754880" y="3044952"/>
            <a:ext cx="4206240" cy="420624"/>
          </a:xfrm>
          <a:prstGeom prst="roundRect">
            <a:avLst>
              <a:gd name="adj" fmla="val 26087"/>
            </a:avLst>
          </a:prstGeom>
          <a:solidFill>
            <a:srgbClr val="FFD60A"/>
          </a:solidFill>
          <a:ln/>
        </p:spPr>
      </p:sp>
      <p:sp>
        <p:nvSpPr>
          <p:cNvPr id="23" name="Shape 21"/>
          <p:cNvSpPr/>
          <p:nvPr/>
        </p:nvSpPr>
        <p:spPr>
          <a:xfrm>
            <a:off x="4754880" y="3264408"/>
            <a:ext cx="4206240" cy="201168"/>
          </a:xfrm>
          <a:prstGeom prst="rect">
            <a:avLst/>
          </a:prstGeom>
          <a:solidFill>
            <a:srgbClr val="FFD60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Materiales Sostenibles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selección de materiales (Concepto II-2) debe considerar la huella ambiental del proceso de fabricación e instalación, no solo el costo inicial.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El Futuro de la Constructabilidad — Tendencias Emergentes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64D2FF"/>
            </a:solidFill>
            <a:prstDash val="solid"/>
          </a:ln>
        </p:spPr>
      </p:sp>
      <p:sp>
        <p:nvSpPr>
          <p:cNvPr id="7" name="Shape 5"/>
          <p:cNvSpPr/>
          <p:nvPr/>
        </p:nvSpPr>
        <p:spPr>
          <a:xfrm>
            <a:off x="365760" y="1261872"/>
            <a:ext cx="4206240" cy="420624"/>
          </a:xfrm>
          <a:prstGeom prst="roundRect">
            <a:avLst>
              <a:gd name="adj" fmla="val 26087"/>
            </a:avLst>
          </a:prstGeom>
          <a:solidFill>
            <a:srgbClr val="64D2FF"/>
          </a:solidFill>
          <a:ln/>
        </p:spPr>
      </p:sp>
      <p:sp>
        <p:nvSpPr>
          <p:cNvPr id="8" name="Shape 6"/>
          <p:cNvSpPr/>
          <p:nvPr/>
        </p:nvSpPr>
        <p:spPr>
          <a:xfrm>
            <a:off x="365760" y="1481328"/>
            <a:ext cx="4206240" cy="201168"/>
          </a:xfrm>
          <a:prstGeom prst="rect">
            <a:avLst/>
          </a:prstGeom>
          <a:solidFill>
            <a:srgbClr val="64D2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Constructabilidad Digital (DfMA)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Design for Manufacture and Assembly (DfMA) con soporte de BIM. La integración del modelo digital con el proceso de fabricación permite prefabricación de alta precisión a menor costo.</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Inteligencia Artificial en Constructabilidad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IA aplicada a la detección automática de problemas de constructabilidad en modelos BIM. Sistemas que aprenden de la base de datos de lecciones aprendidas de la empresa.</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Impresión 3D en Construcción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impresión 3D de componentes estructurales y no estructurales cambiará la constructabilidad de ciertos tipos de proyectos. Eliminación de encofrados, reducción de labor.</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Robótica en Campo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Robots para soldadura, colocación de ladrillos, instalación de paneles. La constructabilidad del futuro incorporará la accesibilidad y operación de robots en el análisis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Evaluación Final: ¿Está su Empresa Lista para la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FFD60A"/>
            </a:solidFill>
            <a:prstDash val="solid"/>
          </a:ln>
        </p:spPr>
      </p:sp>
      <p:sp>
        <p:nvSpPr>
          <p:cNvPr id="7" name="Shape 5"/>
          <p:cNvSpPr/>
          <p:nvPr/>
        </p:nvSpPr>
        <p:spPr>
          <a:xfrm>
            <a:off x="365760" y="1261872"/>
            <a:ext cx="4206240" cy="420624"/>
          </a:xfrm>
          <a:prstGeom prst="roundRect">
            <a:avLst>
              <a:gd name="adj" fmla="val 26087"/>
            </a:avLst>
          </a:prstGeom>
          <a:solidFill>
            <a:srgbClr val="FFD60A"/>
          </a:solidFill>
          <a:ln/>
        </p:spPr>
      </p:sp>
      <p:sp>
        <p:nvSpPr>
          <p:cNvPr id="8" name="Shape 6"/>
          <p:cNvSpPr/>
          <p:nvPr/>
        </p:nvSpPr>
        <p:spPr>
          <a:xfrm>
            <a:off x="365760" y="1481328"/>
            <a:ext cx="4206240" cy="201168"/>
          </a:xfrm>
          <a:prstGeom prst="rect">
            <a:avLst/>
          </a:prstGeom>
          <a:solidFill>
            <a:srgbClr val="FFD60A"/>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Nivel de Comprensión</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equipo directivo entiende la diferencia entre constructabilidad y revisión de diseño? ¿Conocen los datos CII sobre retorno de la inversión? Primer paso: educación del liderazgo.</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FF9500"/>
            </a:solidFill>
            <a:prstDash val="solid"/>
          </a:ln>
        </p:spPr>
      </p:sp>
      <p:sp>
        <p:nvSpPr>
          <p:cNvPr id="12" name="Shape 10"/>
          <p:cNvSpPr/>
          <p:nvPr/>
        </p:nvSpPr>
        <p:spPr>
          <a:xfrm>
            <a:off x="4754880" y="1261872"/>
            <a:ext cx="4206240" cy="420624"/>
          </a:xfrm>
          <a:prstGeom prst="roundRect">
            <a:avLst>
              <a:gd name="adj" fmla="val 26087"/>
            </a:avLst>
          </a:prstGeom>
          <a:solidFill>
            <a:srgbClr val="FF9500"/>
          </a:solidFill>
          <a:ln/>
        </p:spPr>
      </p:sp>
      <p:sp>
        <p:nvSpPr>
          <p:cNvPr id="13" name="Shape 11"/>
          <p:cNvSpPr/>
          <p:nvPr/>
        </p:nvSpPr>
        <p:spPr>
          <a:xfrm>
            <a:off x="4754880" y="1481328"/>
            <a:ext cx="4206240" cy="201168"/>
          </a:xfrm>
          <a:prstGeom prst="rect">
            <a:avLst/>
          </a:prstGeom>
          <a:solidFill>
            <a:srgbClr val="FF9500"/>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Nivel de Compromiso</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¿Hay voluntad de asignar recursos al programa? ¿Existe un campeón con autoridad real? ¿La dirección está dispuesta a cambiar contratos para incluir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0A84FF"/>
            </a:solidFill>
            <a:prstDash val="solid"/>
          </a:ln>
        </p:spPr>
      </p:sp>
      <p:sp>
        <p:nvSpPr>
          <p:cNvPr id="17" name="Shape 15"/>
          <p:cNvSpPr/>
          <p:nvPr/>
        </p:nvSpPr>
        <p:spPr>
          <a:xfrm>
            <a:off x="365760" y="3044952"/>
            <a:ext cx="4206240" cy="420624"/>
          </a:xfrm>
          <a:prstGeom prst="roundRect">
            <a:avLst>
              <a:gd name="adj" fmla="val 26087"/>
            </a:avLst>
          </a:prstGeom>
          <a:solidFill>
            <a:srgbClr val="0A84FF"/>
          </a:solidFill>
          <a:ln/>
        </p:spPr>
      </p:sp>
      <p:sp>
        <p:nvSpPr>
          <p:cNvPr id="18" name="Shape 16"/>
          <p:cNvSpPr/>
          <p:nvPr/>
        </p:nvSpPr>
        <p:spPr>
          <a:xfrm>
            <a:off x="365760" y="3264408"/>
            <a:ext cx="4206240" cy="201168"/>
          </a:xfrm>
          <a:prstGeom prst="rect">
            <a:avLst/>
          </a:prstGeom>
          <a:solidFill>
            <a:srgbClr val="0A84FF"/>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Nivel de Capacidad</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¿Tienen personal con experiencia dual E+C? ¿Existe una LLDB aunque sea básica? ¿Los diseñadores tienen acceso a constructores durante el diseño?</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30D158"/>
            </a:solidFill>
            <a:prstDash val="solid"/>
          </a:ln>
        </p:spPr>
      </p:sp>
      <p:sp>
        <p:nvSpPr>
          <p:cNvPr id="22" name="Shape 20"/>
          <p:cNvSpPr/>
          <p:nvPr/>
        </p:nvSpPr>
        <p:spPr>
          <a:xfrm>
            <a:off x="4754880" y="3044952"/>
            <a:ext cx="4206240" cy="420624"/>
          </a:xfrm>
          <a:prstGeom prst="roundRect">
            <a:avLst>
              <a:gd name="adj" fmla="val 26087"/>
            </a:avLst>
          </a:prstGeom>
          <a:solidFill>
            <a:srgbClr val="30D158"/>
          </a:solidFill>
          <a:ln/>
        </p:spPr>
      </p:sp>
      <p:sp>
        <p:nvSpPr>
          <p:cNvPr id="23" name="Shape 21"/>
          <p:cNvSpPr/>
          <p:nvPr/>
        </p:nvSpPr>
        <p:spPr>
          <a:xfrm>
            <a:off x="4754880" y="3264408"/>
            <a:ext cx="4206240" cy="201168"/>
          </a:xfrm>
          <a:prstGeom prst="rect">
            <a:avLst/>
          </a:prstGeom>
          <a:solidFill>
            <a:srgbClr val="30D158"/>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Nivel de Integración</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PEP incluye constructabilidad? ¿Los cronogramas se construyen desde el campo hacia atrás? ¿La procura considera las necesidades de campo antes que las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Las Publicaciones CII que Todo Director de Proyecto Debe Conocer</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Constructability: A Primer (3-1)</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documento introductorio. Para ejecutivos y directores. 15 páginas que resumen el concepto y presentan 7 mini-casos con beneficios cuantificados. Lectura obligatoria.</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Constructability Implementation Guide (SP 34-1)</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guía completa. 19 herramientas, hoja de ruta, 4 casos de estudio detallados. Para el Gerente de Proyecto y el Gerente de Constructabilidad. La biblia del programa.</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Constructability Concepts File (3-3)</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Descripción detallada de los 14 conceptos originales. Base conceptual para la capacitación del equipo.</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SD-4, SD-5, SD-25, SD-34</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Los 4 Source Documents de la Constructability Task Force (1984-1987). Investigación original que fundamenta todos los conceptos. Para especialistas que quieren profundizar.</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Recursos Adicionales para Profundizar en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CII Website (construction-institute.org)</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Biblioteca completa de publicaciones CII. Membresía para propietarios, diseñadores y constructores. Acceso a herramientas, talleres y benchmarking.</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Universidad de Texas at Austin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Programa de capacitación en Constructabilidad con Dr. James T. O'Connor. Curso CIV 1278: Pre-Project Planning &amp; Constructability Analysis.</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Diagnóstico Empresarial CII</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Construction Industry Institute ofrece diagnósticos de madurez de constructabilidad para organizaciones miembro. Benchmark contra la industria.</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FF453A"/>
            </a:solidFill>
            <a:prstDash val="solid"/>
          </a:ln>
        </p:spPr>
      </p:sp>
      <p:sp>
        <p:nvSpPr>
          <p:cNvPr id="22" name="Shape 20"/>
          <p:cNvSpPr/>
          <p:nvPr/>
        </p:nvSpPr>
        <p:spPr>
          <a:xfrm>
            <a:off x="4754880" y="3044952"/>
            <a:ext cx="4206240" cy="420624"/>
          </a:xfrm>
          <a:prstGeom prst="roundRect">
            <a:avLst>
              <a:gd name="adj" fmla="val 26087"/>
            </a:avLst>
          </a:prstGeom>
          <a:solidFill>
            <a:srgbClr val="FF453A"/>
          </a:solidFill>
          <a:ln/>
        </p:spPr>
      </p:sp>
      <p:sp>
        <p:nvSpPr>
          <p:cNvPr id="23" name="Shape 21"/>
          <p:cNvSpPr/>
          <p:nvPr/>
        </p:nvSpPr>
        <p:spPr>
          <a:xfrm>
            <a:off x="4754880" y="3264408"/>
            <a:ext cx="4206240" cy="201168"/>
          </a:xfrm>
          <a:prstGeom prst="rect">
            <a:avLst/>
          </a:prstGeom>
          <a:solidFill>
            <a:srgbClr val="FF453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Lean Construction Institute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LCI complementa la constructabilidad con herramientas Lean (Last Planner, Big Room, Target Value Design). La intersección entre ambas filosofías es altamente productiva.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E8E93"/>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Glosario de Términos de Constructabilidad — Parte 1</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 — CII</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PEP (Project Execution Plan)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Documento maestro del proyecto que formaliza objetivos, estrategias, organización y planes de implementación de todas las áreas clave, incluyendo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PPMOF (Prefab/Pre-assembly/Modularization/Off-site Fabrication)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Familia de técnicas que trasladan trabajo del sitio de construcción a talleres controlados para mejorar eficiencia, calidad y seguridad.</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TIC (Total Installed Cost)</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Costo total instalado del proyecto: incluye ingeniería, procura, construcción, comisionamiento y los costos indirectos del propietario.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E8E93"/>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Glosario de Términos de Constructabilidad — Parte 2</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Fast-Track</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Estrategia de proyecto donde la construcción se inicia antes de completar el diseño. Requiere constructabilidad avanzada para gestionar el traslape entre fases.</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Path of Construction (Camino de Construcción)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secuencia óptima de actividades de construcción que maximiza la productividad, minimiza interferencias y respeta las restricciones de sitio y clima.</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Gain-Share</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Mecanismo contractual donde los ahorros generados (incluyendo los de constructabilidad) se comparten entre el propietario y el contratista según una fórmula acordada.</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IWP (Installation Work Package)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Paquete de trabajo de instalación: unidad básica de planificación de campo que incluye planos, materiales, herramientas, secuencia y criterios de calidad para una cuadrilla.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Indicadores de Madurez de la Constructabilidad — Cuadro de Mando</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2C2C2E"/>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Madurez Programa (1-5)</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Evaluado con la Matriz de 15 parámetros CII. Meta de primer año: pasar de Nivel 1-2 a Nivel 3. Meta a 3 años: Nivel 4 o superior.</a:t>
            </a:r>
            <a:endParaRPr lang="en-US" sz="1100" dirty="0"/>
          </a:p>
        </p:txBody>
      </p:sp>
      <p:sp>
        <p:nvSpPr>
          <p:cNvPr id="11" name="Shape 9"/>
          <p:cNvSpPr/>
          <p:nvPr/>
        </p:nvSpPr>
        <p:spPr>
          <a:xfrm>
            <a:off x="4754880" y="1261872"/>
            <a:ext cx="4206240" cy="1645920"/>
          </a:xfrm>
          <a:prstGeom prst="roundRect">
            <a:avLst>
              <a:gd name="adj" fmla="val 6667"/>
            </a:avLst>
          </a:prstGeom>
          <a:solidFill>
            <a:srgbClr val="2C2C2E"/>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Ideas/Millón de Dólares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Meta: ≥5 ideas por millón de dólares de TIC. Proyectos maduros generan 10-15 ideas/M$. Indicador de cultura de constructabilidad del equipo.</a:t>
            </a:r>
            <a:endParaRPr lang="en-US" sz="1100" dirty="0"/>
          </a:p>
        </p:txBody>
      </p:sp>
      <p:sp>
        <p:nvSpPr>
          <p:cNvPr id="16" name="Shape 14"/>
          <p:cNvSpPr/>
          <p:nvPr/>
        </p:nvSpPr>
        <p:spPr>
          <a:xfrm>
            <a:off x="365760" y="3044952"/>
            <a:ext cx="4206240" cy="1645920"/>
          </a:xfrm>
          <a:prstGeom prst="roundRect">
            <a:avLst>
              <a:gd name="adj" fmla="val 6667"/>
            </a:avLst>
          </a:prstGeom>
          <a:solidFill>
            <a:srgbClr val="2C2C2E"/>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B/C Ratio del Programa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Meta: ≥10:1. Calcular al cierre de cada fase y al cierre del proyecto. Comparar contra el promedio histórico de proyectos de la empresa.</a:t>
            </a:r>
            <a:endParaRPr lang="en-US" sz="1100" dirty="0"/>
          </a:p>
        </p:txBody>
      </p:sp>
      <p:sp>
        <p:nvSpPr>
          <p:cNvPr id="21" name="Shape 19"/>
          <p:cNvSpPr/>
          <p:nvPr/>
        </p:nvSpPr>
        <p:spPr>
          <a:xfrm>
            <a:off x="4754880" y="3044952"/>
            <a:ext cx="4206240" cy="1645920"/>
          </a:xfrm>
          <a:prstGeom prst="roundRect">
            <a:avLst>
              <a:gd name="adj" fmla="val 6667"/>
            </a:avLst>
          </a:prstGeom>
          <a:solidFill>
            <a:srgbClr val="2C2C2E"/>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FFFFFF"/>
                </a:solidFill>
                <a:latin typeface="Atkinson Hyperlegible" pitchFamily="34" charset="0"/>
                <a:ea typeface="Atkinson Hyperlegible" pitchFamily="34" charset="-122"/>
                <a:cs typeface="Atkinson Hyperlegible" pitchFamily="34" charset="-120"/>
              </a:rPr>
              <a:t>% Retrabajo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Meta: &lt;2% del costo directo. El retrabajo es el indicador más directo de falla en constructabilidad. Proyectos sin programa: 10-15% de retrabajo.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4800" dirty="0"/>
          </a:p>
        </p:txBody>
      </p:sp>
      <p:sp>
        <p:nvSpPr>
          <p:cNvPr id="5" name="Text 3"/>
          <p:cNvSpPr txBox="1"/>
          <p:nvPr/>
        </p:nvSpPr>
        <p:spPr>
          <a:xfrm>
            <a:off x="502920" y="1572768"/>
            <a:ext cx="8138160" cy="475488"/>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Camino hacia Proyectos más Eficientes</a:t>
            </a:r>
            <a:endParaRPr lang="en-US" sz="2200" dirty="0"/>
          </a:p>
        </p:txBody>
      </p:sp>
      <p:sp>
        <p:nvSpPr>
          <p:cNvPr id="6" name="Shape 4"/>
          <p:cNvSpPr/>
          <p:nvPr/>
        </p:nvSpPr>
        <p:spPr>
          <a:xfrm>
            <a:off x="2286000" y="2148840"/>
            <a:ext cx="4572000" cy="36576"/>
          </a:xfrm>
          <a:prstGeom prst="rect">
            <a:avLst/>
          </a:prstGeom>
          <a:solidFill>
            <a:srgbClr val="3A3A3C"/>
          </a:solidFill>
          <a:ln/>
        </p:spPr>
      </p:sp>
      <p:sp>
        <p:nvSpPr>
          <p:cNvPr id="7" name="Text 5"/>
          <p:cNvSpPr txBox="1"/>
          <p:nvPr/>
        </p:nvSpPr>
        <p:spPr>
          <a:xfrm>
            <a:off x="731520" y="2286000"/>
            <a:ext cx="7680960" cy="914400"/>
          </a:xfrm>
          <a:prstGeom prst="rect">
            <a:avLst/>
          </a:prstGeom>
          <a:noFill/>
          <a:ln/>
        </p:spPr>
        <p:txBody>
          <a:bodyPr wrap="square" lIns="0" tIns="0" rIns="0" bIns="0" rtlCol="0" anchor="ctr"/>
          <a:lstStyle/>
          <a:p>
            <a:pPr algn="ctr" indent="0" marL="0">
              <a:buNone/>
            </a:pPr>
            <a:r>
              <a:rPr lang="en-US" sz="1600" i="1" dirty="0">
                <a:solidFill>
                  <a:srgbClr val="8E8E93"/>
                </a:solidFill>
                <a:latin typeface="Atkinson Hyperlegible" pitchFamily="34" charset="0"/>
                <a:ea typeface="Atkinson Hyperlegible" pitchFamily="34" charset="-122"/>
                <a:cs typeface="Atkinson Hyperlegible" pitchFamily="34" charset="-120"/>
              </a:rPr>
              <a:t>"Constructabilidad significa mejores proyectos — menores costos, mejor productividad, terminaciones anticipadas e inicios de operación más tempranos."</a:t>
            </a:r>
            <a:endParaRPr lang="en-US" sz="1600" dirty="0"/>
          </a:p>
        </p:txBody>
      </p:sp>
      <p:sp>
        <p:nvSpPr>
          <p:cNvPr id="8" name="Text 6"/>
          <p:cNvSpPr txBox="1"/>
          <p:nvPr/>
        </p:nvSpPr>
        <p:spPr>
          <a:xfrm>
            <a:off x="731520" y="3218688"/>
            <a:ext cx="7680960" cy="256032"/>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 CII Publication 3-1, 1986</a:t>
            </a:r>
            <a:endParaRPr lang="en-US" sz="1200" dirty="0"/>
          </a:p>
        </p:txBody>
      </p:sp>
      <p:sp>
        <p:nvSpPr>
          <p:cNvPr id="9" name="Text 7"/>
          <p:cNvSpPr txBox="1"/>
          <p:nvPr/>
        </p:nvSpPr>
        <p:spPr>
          <a:xfrm>
            <a:off x="731520" y="3749040"/>
            <a:ext cx="7680960" cy="256032"/>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10" name="Text 8"/>
          <p:cNvSpPr txBox="1"/>
          <p:nvPr/>
        </p:nvSpPr>
        <p:spPr>
          <a:xfrm>
            <a:off x="731520" y="4023360"/>
            <a:ext cx="7680960" cy="256032"/>
          </a:xfrm>
          <a:prstGeom prst="rect">
            <a:avLst/>
          </a:prstGeom>
          <a:noFill/>
          <a:ln/>
        </p:spPr>
        <p:txBody>
          <a:bodyPr wrap="square" lIns="0" tIns="0" rIns="0" bIns="0" rtlCol="0" anchor="ctr"/>
          <a:lstStyle/>
          <a:p>
            <a:pPr algn="ctr" indent="0" marL="0">
              <a:buNone/>
            </a:pPr>
            <a:r>
              <a:rPr lang="en-US" sz="1100" dirty="0">
                <a:solidFill>
                  <a:srgbClr val="3A3A3C"/>
                </a:solidFill>
                <a:latin typeface="Atkinson Hyperlegible" pitchFamily="34" charset="0"/>
                <a:ea typeface="Atkinson Hyperlegible" pitchFamily="34" charset="-122"/>
                <a:cs typeface="Atkinson Hyperlegible" pitchFamily="34" charset="-120"/>
              </a:rPr>
              <a:t>SP 34-1  ·  Publication 3-1  ·  SD-4  ·  SD-5  ·  SD-25  ·  SD-34</a:t>
            </a:r>
            <a:endParaRPr lang="en-US" sz="11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Herramientas CII SP 34-1: Descripción Detallada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868680"/>
          </a:xfrm>
          <a:prstGeom prst="roundRect">
            <a:avLst>
              <a:gd name="adj" fmla="val 8421"/>
            </a:avLst>
          </a:prstGeom>
          <a:solidFill>
            <a:srgbClr val="2C2C2E"/>
          </a:solidFill>
          <a:ln w="12700">
            <a:solidFill>
              <a:srgbClr val="3A3A3C"/>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T-1</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Revisión Temprana de Constructabilidad</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Evalúa el proyecto en etapa conceptual antes de comprometer el 15% del costo total</a:t>
            </a:r>
            <a:endParaRPr lang="en-US" sz="1100" dirty="0"/>
          </a:p>
        </p:txBody>
      </p:sp>
      <p:sp>
        <p:nvSpPr>
          <p:cNvPr id="9" name="Shape 7"/>
          <p:cNvSpPr/>
          <p:nvPr/>
        </p:nvSpPr>
        <p:spPr>
          <a:xfrm>
            <a:off x="365760" y="1920240"/>
            <a:ext cx="8412480" cy="868680"/>
          </a:xfrm>
          <a:prstGeom prst="roundRect">
            <a:avLst>
              <a:gd name="adj" fmla="val 8421"/>
            </a:avLst>
          </a:prstGeom>
          <a:solidFill>
            <a:srgbClr val="2C2C2E"/>
          </a:solidFill>
          <a:ln w="12700">
            <a:solidFill>
              <a:srgbClr val="3A3A3C"/>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T-2</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Equipo Constructabilidad Multidisciplinario</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Integra CM, PM, ingenieros, constructores desde el inicio</a:t>
            </a:r>
            <a:endParaRPr lang="en-US" sz="1100" dirty="0"/>
          </a:p>
        </p:txBody>
      </p:sp>
      <p:sp>
        <p:nvSpPr>
          <p:cNvPr id="13" name="Shape 11"/>
          <p:cNvSpPr/>
          <p:nvPr/>
        </p:nvSpPr>
        <p:spPr>
          <a:xfrm>
            <a:off x="365760" y="2880360"/>
            <a:ext cx="8412480" cy="868680"/>
          </a:xfrm>
          <a:prstGeom prst="roundRect">
            <a:avLst>
              <a:gd name="adj" fmla="val 8421"/>
            </a:avLst>
          </a:prstGeom>
          <a:solidFill>
            <a:srgbClr val="2C2C2E"/>
          </a:solidFill>
          <a:ln w="12700">
            <a:solidFill>
              <a:srgbClr val="3A3A3C"/>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T-3</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Simplificación del Diseño</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Reduce complejidad sin afectar función: menos juntas, interfaces, piezas</a:t>
            </a:r>
            <a:endParaRPr lang="en-US" sz="1100" dirty="0"/>
          </a:p>
        </p:txBody>
      </p:sp>
      <p:sp>
        <p:nvSpPr>
          <p:cNvPr id="17" name="Shape 15"/>
          <p:cNvSpPr/>
          <p:nvPr/>
        </p:nvSpPr>
        <p:spPr>
          <a:xfrm>
            <a:off x="365760" y="3840480"/>
            <a:ext cx="8412480" cy="868680"/>
          </a:xfrm>
          <a:prstGeom prst="roundRect">
            <a:avLst>
              <a:gd name="adj" fmla="val 8421"/>
            </a:avLst>
          </a:prstGeom>
          <a:solidFill>
            <a:srgbClr val="2C2C2E"/>
          </a:solidFill>
          <a:ln w="12700">
            <a:solidFill>
              <a:srgbClr val="3A3A3C"/>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T-4</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Estandarización de Componentes</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Reutiliza soluciones probadas; reduce curva de aprendizaje en campo</a:t>
            </a:r>
            <a:endParaRPr lang="en-US" sz="1100" dirty="0"/>
          </a:p>
        </p:txBody>
      </p:sp>
      <p:sp>
        <p:nvSpPr>
          <p:cNvPr id="21" name="Shape 19"/>
          <p:cNvSpPr/>
          <p:nvPr/>
        </p:nvSpPr>
        <p:spPr>
          <a:xfrm>
            <a:off x="365760" y="4800600"/>
            <a:ext cx="8412480" cy="868680"/>
          </a:xfrm>
          <a:prstGeom prst="roundRect">
            <a:avLst>
              <a:gd name="adj" fmla="val 8421"/>
            </a:avLst>
          </a:prstGeom>
          <a:solidFill>
            <a:srgbClr val="2C2C2E"/>
          </a:solidFill>
          <a:ln w="12700">
            <a:solidFill>
              <a:srgbClr val="3A3A3C"/>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T-5</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Modularización / Pre-ensamble</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Traslada trabajo del campo a taller controlado; hasta 40% reducción horas-campo</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Herramientas CII SP 34-1: T-6 a T-10</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868680"/>
          </a:xfrm>
          <a:prstGeom prst="roundRect">
            <a:avLst>
              <a:gd name="adj" fmla="val 8421"/>
            </a:avLst>
          </a:prstGeom>
          <a:solidFill>
            <a:srgbClr val="2C2C2E"/>
          </a:solidFill>
          <a:ln w="12700">
            <a:solidFill>
              <a:srgbClr val="3A3A3C"/>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T-6</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Accesibilidad en Diseño</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Diseña rutas de acceso para construcción, mantenimiento y retiro de equipos</a:t>
            </a:r>
            <a:endParaRPr lang="en-US" sz="1100" dirty="0"/>
          </a:p>
        </p:txBody>
      </p:sp>
      <p:sp>
        <p:nvSpPr>
          <p:cNvPr id="9" name="Shape 7"/>
          <p:cNvSpPr/>
          <p:nvPr/>
        </p:nvSpPr>
        <p:spPr>
          <a:xfrm>
            <a:off x="365760" y="1920240"/>
            <a:ext cx="8412480" cy="868680"/>
          </a:xfrm>
          <a:prstGeom prst="roundRect">
            <a:avLst>
              <a:gd name="adj" fmla="val 8421"/>
            </a:avLst>
          </a:prstGeom>
          <a:solidFill>
            <a:srgbClr val="2C2C2E"/>
          </a:solidFill>
          <a:ln w="12700">
            <a:solidFill>
              <a:srgbClr val="3A3A3C"/>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T-7</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Secuenciación Constructiva</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Define la lógica de construcción desde diseño; evita conflictos de interferencias</a:t>
            </a:r>
            <a:endParaRPr lang="en-US" sz="1100" dirty="0"/>
          </a:p>
        </p:txBody>
      </p:sp>
      <p:sp>
        <p:nvSpPr>
          <p:cNvPr id="13" name="Shape 11"/>
          <p:cNvSpPr/>
          <p:nvPr/>
        </p:nvSpPr>
        <p:spPr>
          <a:xfrm>
            <a:off x="365760" y="2880360"/>
            <a:ext cx="8412480" cy="868680"/>
          </a:xfrm>
          <a:prstGeom prst="roundRect">
            <a:avLst>
              <a:gd name="adj" fmla="val 8421"/>
            </a:avLst>
          </a:prstGeom>
          <a:solidFill>
            <a:srgbClr val="2C2C2E"/>
          </a:solidFill>
          <a:ln w="12700">
            <a:solidFill>
              <a:srgbClr val="3A3A3C"/>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T-8</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Diseño para Condiciones Climáticas</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Considera clima local; techos provisionales, orientación, estaciones lluviosas</a:t>
            </a:r>
            <a:endParaRPr lang="en-US" sz="1100" dirty="0"/>
          </a:p>
        </p:txBody>
      </p:sp>
      <p:sp>
        <p:nvSpPr>
          <p:cNvPr id="17" name="Shape 15"/>
          <p:cNvSpPr/>
          <p:nvPr/>
        </p:nvSpPr>
        <p:spPr>
          <a:xfrm>
            <a:off x="365760" y="3840480"/>
            <a:ext cx="8412480" cy="868680"/>
          </a:xfrm>
          <a:prstGeom prst="roundRect">
            <a:avLst>
              <a:gd name="adj" fmla="val 8421"/>
            </a:avLst>
          </a:prstGeom>
          <a:solidFill>
            <a:srgbClr val="2C2C2E"/>
          </a:solidFill>
          <a:ln w="12700">
            <a:solidFill>
              <a:srgbClr val="3A3A3C"/>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T-9</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Interfaz Diseño-Campo Temprana</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Involucra al superintendente de campo en revisiones de diseño</a:t>
            </a:r>
            <a:endParaRPr lang="en-US" sz="1100" dirty="0"/>
          </a:p>
        </p:txBody>
      </p:sp>
      <p:sp>
        <p:nvSpPr>
          <p:cNvPr id="21" name="Shape 19"/>
          <p:cNvSpPr/>
          <p:nvPr/>
        </p:nvSpPr>
        <p:spPr>
          <a:xfrm>
            <a:off x="365760" y="4800600"/>
            <a:ext cx="8412480" cy="868680"/>
          </a:xfrm>
          <a:prstGeom prst="roundRect">
            <a:avLst>
              <a:gd name="adj" fmla="val 8421"/>
            </a:avLst>
          </a:prstGeom>
          <a:solidFill>
            <a:srgbClr val="2C2C2E"/>
          </a:solidFill>
          <a:ln w="12700">
            <a:solidFill>
              <a:srgbClr val="3A3A3C"/>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T-10</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Revisión de Especificaciones</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Elimina requisitos innecesariamente restrictivos que aumentan costo sin valor</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Herramientas CII SP 34-1: T-11 a T-19 (Resumen)</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Las 9 herramientas restantes cubren procura, operaciones de campo y medición del programa:</a:t>
            </a:r>
            <a:endParaRPr lang="en-US" sz="1300" dirty="0"/>
          </a:p>
        </p:txBody>
      </p:sp>
      <p:sp>
        <p:nvSpPr>
          <p:cNvPr id="6" name="Shape 4"/>
          <p:cNvSpPr/>
          <p:nvPr/>
        </p:nvSpPr>
        <p:spPr>
          <a:xfrm>
            <a:off x="365760" y="1298448"/>
            <a:ext cx="4114800" cy="749808"/>
          </a:xfrm>
          <a:prstGeom prst="roundRect">
            <a:avLst>
              <a:gd name="adj" fmla="val 8537"/>
            </a:avLst>
          </a:prstGeom>
          <a:solidFill>
            <a:srgbClr val="2C2C2E"/>
          </a:solidFill>
          <a:ln w="12700">
            <a:solidFill>
              <a:srgbClr val="3A3A3C"/>
            </a:solidFill>
            <a:prstDash val="solid"/>
          </a:ln>
        </p:spPr>
      </p:sp>
      <p:sp>
        <p:nvSpPr>
          <p:cNvPr id="7" name="Text 5"/>
          <p:cNvSpPr txBox="1"/>
          <p:nvPr/>
        </p:nvSpPr>
        <p:spPr>
          <a:xfrm>
            <a:off x="47548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T-11</a:t>
            </a:r>
            <a:endParaRPr lang="en-US" sz="1200" dirty="0"/>
          </a:p>
        </p:txBody>
      </p:sp>
      <p:sp>
        <p:nvSpPr>
          <p:cNvPr id="8" name="Text 6"/>
          <p:cNvSpPr txBox="1"/>
          <p:nvPr/>
        </p:nvSpPr>
        <p:spPr>
          <a:xfrm>
            <a:off x="1005840" y="1353312"/>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Plan de Procura Constructabilidad</a:t>
            </a:r>
            <a:endParaRPr lang="en-US" sz="1100" dirty="0"/>
          </a:p>
        </p:txBody>
      </p:sp>
      <p:sp>
        <p:nvSpPr>
          <p:cNvPr id="9" name="Text 7"/>
          <p:cNvSpPr txBox="1"/>
          <p:nvPr/>
        </p:nvSpPr>
        <p:spPr>
          <a:xfrm>
            <a:off x="475488" y="1682496"/>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Lotes de compra alineados con secuencia constructiva</a:t>
            </a:r>
            <a:endParaRPr lang="en-US" sz="1000" dirty="0"/>
          </a:p>
        </p:txBody>
      </p:sp>
      <p:sp>
        <p:nvSpPr>
          <p:cNvPr id="10" name="Shape 8"/>
          <p:cNvSpPr/>
          <p:nvPr/>
        </p:nvSpPr>
        <p:spPr>
          <a:xfrm>
            <a:off x="365760" y="2139696"/>
            <a:ext cx="4114800" cy="749808"/>
          </a:xfrm>
          <a:prstGeom prst="roundRect">
            <a:avLst>
              <a:gd name="adj" fmla="val 8537"/>
            </a:avLst>
          </a:prstGeom>
          <a:solidFill>
            <a:srgbClr val="2C2C2E"/>
          </a:solidFill>
          <a:ln w="12700">
            <a:solidFill>
              <a:srgbClr val="3A3A3C"/>
            </a:solidFill>
            <a:prstDash val="solid"/>
          </a:ln>
        </p:spPr>
      </p:sp>
      <p:sp>
        <p:nvSpPr>
          <p:cNvPr id="11" name="Text 9"/>
          <p:cNvSpPr txBox="1"/>
          <p:nvPr/>
        </p:nvSpPr>
        <p:spPr>
          <a:xfrm>
            <a:off x="47548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T-12</a:t>
            </a:r>
            <a:endParaRPr lang="en-US" sz="1200" dirty="0"/>
          </a:p>
        </p:txBody>
      </p:sp>
      <p:sp>
        <p:nvSpPr>
          <p:cNvPr id="12" name="Text 10"/>
          <p:cNvSpPr txBox="1"/>
          <p:nvPr/>
        </p:nvSpPr>
        <p:spPr>
          <a:xfrm>
            <a:off x="1005840" y="2194560"/>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Empaque de Trabajo de Ingeniería (EWP)</a:t>
            </a:r>
            <a:endParaRPr lang="en-US" sz="1100" dirty="0"/>
          </a:p>
        </p:txBody>
      </p:sp>
      <p:sp>
        <p:nvSpPr>
          <p:cNvPr id="13" name="Text 11"/>
          <p:cNvSpPr txBox="1"/>
          <p:nvPr/>
        </p:nvSpPr>
        <p:spPr>
          <a:xfrm>
            <a:off x="475488" y="2523744"/>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Paquetes de diseño que alimentan AWP directamente</a:t>
            </a:r>
            <a:endParaRPr lang="en-US" sz="1000" dirty="0"/>
          </a:p>
        </p:txBody>
      </p:sp>
      <p:sp>
        <p:nvSpPr>
          <p:cNvPr id="14" name="Shape 12"/>
          <p:cNvSpPr/>
          <p:nvPr/>
        </p:nvSpPr>
        <p:spPr>
          <a:xfrm>
            <a:off x="365760" y="2980944"/>
            <a:ext cx="4114800" cy="749808"/>
          </a:xfrm>
          <a:prstGeom prst="roundRect">
            <a:avLst>
              <a:gd name="adj" fmla="val 8537"/>
            </a:avLst>
          </a:prstGeom>
          <a:solidFill>
            <a:srgbClr val="2C2C2E"/>
          </a:solidFill>
          <a:ln w="12700">
            <a:solidFill>
              <a:srgbClr val="3A3A3C"/>
            </a:solidFill>
            <a:prstDash val="solid"/>
          </a:ln>
        </p:spPr>
      </p:sp>
      <p:sp>
        <p:nvSpPr>
          <p:cNvPr id="15" name="Text 13"/>
          <p:cNvSpPr txBox="1"/>
          <p:nvPr/>
        </p:nvSpPr>
        <p:spPr>
          <a:xfrm>
            <a:off x="47548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T-13</a:t>
            </a:r>
            <a:endParaRPr lang="en-US" sz="1200" dirty="0"/>
          </a:p>
        </p:txBody>
      </p:sp>
      <p:sp>
        <p:nvSpPr>
          <p:cNvPr id="16" name="Text 14"/>
          <p:cNvSpPr txBox="1"/>
          <p:nvPr/>
        </p:nvSpPr>
        <p:spPr>
          <a:xfrm>
            <a:off x="1005840" y="3035808"/>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Zonas de Construcción Delimitadas</a:t>
            </a:r>
            <a:endParaRPr lang="en-US" sz="1100" dirty="0"/>
          </a:p>
        </p:txBody>
      </p:sp>
      <p:sp>
        <p:nvSpPr>
          <p:cNvPr id="17" name="Text 15"/>
          <p:cNvSpPr txBox="1"/>
          <p:nvPr/>
        </p:nvSpPr>
        <p:spPr>
          <a:xfrm>
            <a:off x="475488" y="3364992"/>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Divide el sitio en zonas manejables para asignación de cuadrillas</a:t>
            </a:r>
            <a:endParaRPr lang="en-US" sz="1000" dirty="0"/>
          </a:p>
        </p:txBody>
      </p:sp>
      <p:sp>
        <p:nvSpPr>
          <p:cNvPr id="18" name="Shape 16"/>
          <p:cNvSpPr/>
          <p:nvPr/>
        </p:nvSpPr>
        <p:spPr>
          <a:xfrm>
            <a:off x="365760" y="3822192"/>
            <a:ext cx="4114800" cy="749808"/>
          </a:xfrm>
          <a:prstGeom prst="roundRect">
            <a:avLst>
              <a:gd name="adj" fmla="val 8537"/>
            </a:avLst>
          </a:prstGeom>
          <a:solidFill>
            <a:srgbClr val="2C2C2E"/>
          </a:solidFill>
          <a:ln w="12700">
            <a:solidFill>
              <a:srgbClr val="3A3A3C"/>
            </a:solidFill>
            <a:prstDash val="solid"/>
          </a:ln>
        </p:spPr>
      </p:sp>
      <p:sp>
        <p:nvSpPr>
          <p:cNvPr id="19" name="Text 17"/>
          <p:cNvSpPr txBox="1"/>
          <p:nvPr/>
        </p:nvSpPr>
        <p:spPr>
          <a:xfrm>
            <a:off x="47548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T-14</a:t>
            </a:r>
            <a:endParaRPr lang="en-US" sz="1200" dirty="0"/>
          </a:p>
        </p:txBody>
      </p:sp>
      <p:sp>
        <p:nvSpPr>
          <p:cNvPr id="20" name="Text 18"/>
          <p:cNvSpPr txBox="1"/>
          <p:nvPr/>
        </p:nvSpPr>
        <p:spPr>
          <a:xfrm>
            <a:off x="1005840" y="3877056"/>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Plan de Manejo de Materiales en Sitio</a:t>
            </a:r>
            <a:endParaRPr lang="en-US" sz="1100" dirty="0"/>
          </a:p>
        </p:txBody>
      </p:sp>
      <p:sp>
        <p:nvSpPr>
          <p:cNvPr id="21" name="Text 19"/>
          <p:cNvSpPr txBox="1"/>
          <p:nvPr/>
        </p:nvSpPr>
        <p:spPr>
          <a:xfrm>
            <a:off x="475488" y="4206240"/>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Reduce doble manejo; define áreas de almacenamiento</a:t>
            </a:r>
            <a:endParaRPr lang="en-US" sz="1000" dirty="0"/>
          </a:p>
        </p:txBody>
      </p:sp>
      <p:sp>
        <p:nvSpPr>
          <p:cNvPr id="22" name="Shape 20"/>
          <p:cNvSpPr/>
          <p:nvPr/>
        </p:nvSpPr>
        <p:spPr>
          <a:xfrm>
            <a:off x="365760" y="4663440"/>
            <a:ext cx="4114800" cy="749808"/>
          </a:xfrm>
          <a:prstGeom prst="roundRect">
            <a:avLst>
              <a:gd name="adj" fmla="val 8537"/>
            </a:avLst>
          </a:prstGeom>
          <a:solidFill>
            <a:srgbClr val="2C2C2E"/>
          </a:solidFill>
          <a:ln w="12700">
            <a:solidFill>
              <a:srgbClr val="3A3A3C"/>
            </a:solidFill>
            <a:prstDash val="solid"/>
          </a:ln>
        </p:spPr>
      </p:sp>
      <p:sp>
        <p:nvSpPr>
          <p:cNvPr id="23" name="Text 21"/>
          <p:cNvSpPr txBox="1"/>
          <p:nvPr/>
        </p:nvSpPr>
        <p:spPr>
          <a:xfrm>
            <a:off x="475488" y="4736592"/>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T-15</a:t>
            </a:r>
            <a:endParaRPr lang="en-US" sz="1200" dirty="0"/>
          </a:p>
        </p:txBody>
      </p:sp>
      <p:sp>
        <p:nvSpPr>
          <p:cNvPr id="24" name="Text 22"/>
          <p:cNvSpPr txBox="1"/>
          <p:nvPr/>
        </p:nvSpPr>
        <p:spPr>
          <a:xfrm>
            <a:off x="1005840" y="4718304"/>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Revisiones de Constructabilidad de Diseño</a:t>
            </a:r>
            <a:endParaRPr lang="en-US" sz="1100" dirty="0"/>
          </a:p>
        </p:txBody>
      </p:sp>
      <p:sp>
        <p:nvSpPr>
          <p:cNvPr id="25" name="Text 23"/>
          <p:cNvSpPr txBox="1"/>
          <p:nvPr/>
        </p:nvSpPr>
        <p:spPr>
          <a:xfrm>
            <a:off x="475488" y="504748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Checkpoints formales en 30%, 60%, 90% de diseño</a:t>
            </a:r>
            <a:endParaRPr lang="en-US" sz="1000" dirty="0"/>
          </a:p>
        </p:txBody>
      </p:sp>
      <p:sp>
        <p:nvSpPr>
          <p:cNvPr id="26" name="Shape 24"/>
          <p:cNvSpPr/>
          <p:nvPr/>
        </p:nvSpPr>
        <p:spPr>
          <a:xfrm>
            <a:off x="4663440" y="1298448"/>
            <a:ext cx="4114800" cy="749808"/>
          </a:xfrm>
          <a:prstGeom prst="roundRect">
            <a:avLst>
              <a:gd name="adj" fmla="val 8537"/>
            </a:avLst>
          </a:prstGeom>
          <a:solidFill>
            <a:srgbClr val="2C2C2E"/>
          </a:solidFill>
          <a:ln w="12700">
            <a:solidFill>
              <a:srgbClr val="3A3A3C"/>
            </a:solidFill>
            <a:prstDash val="solid"/>
          </a:ln>
        </p:spPr>
      </p:sp>
      <p:sp>
        <p:nvSpPr>
          <p:cNvPr id="27" name="Text 25"/>
          <p:cNvSpPr txBox="1"/>
          <p:nvPr/>
        </p:nvSpPr>
        <p:spPr>
          <a:xfrm>
            <a:off x="477316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T-16</a:t>
            </a:r>
            <a:endParaRPr lang="en-US" sz="1200" dirty="0"/>
          </a:p>
        </p:txBody>
      </p:sp>
      <p:sp>
        <p:nvSpPr>
          <p:cNvPr id="28" name="Text 26"/>
          <p:cNvSpPr txBox="1"/>
          <p:nvPr/>
        </p:nvSpPr>
        <p:spPr>
          <a:xfrm>
            <a:off x="5303520" y="1353312"/>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Métricas del Programa Constructabilidad</a:t>
            </a:r>
            <a:endParaRPr lang="en-US" sz="1100" dirty="0"/>
          </a:p>
        </p:txBody>
      </p:sp>
      <p:sp>
        <p:nvSpPr>
          <p:cNvPr id="29" name="Text 27"/>
          <p:cNvSpPr txBox="1"/>
          <p:nvPr/>
        </p:nvSpPr>
        <p:spPr>
          <a:xfrm>
            <a:off x="4773168" y="1682496"/>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KPIs: # revisiones, # ideas implementadas, ahorro documentado</a:t>
            </a:r>
            <a:endParaRPr lang="en-US" sz="1000" dirty="0"/>
          </a:p>
        </p:txBody>
      </p:sp>
      <p:sp>
        <p:nvSpPr>
          <p:cNvPr id="30" name="Shape 28"/>
          <p:cNvSpPr/>
          <p:nvPr/>
        </p:nvSpPr>
        <p:spPr>
          <a:xfrm>
            <a:off x="4663440" y="2139696"/>
            <a:ext cx="4114800" cy="749808"/>
          </a:xfrm>
          <a:prstGeom prst="roundRect">
            <a:avLst>
              <a:gd name="adj" fmla="val 8537"/>
            </a:avLst>
          </a:prstGeom>
          <a:solidFill>
            <a:srgbClr val="2C2C2E"/>
          </a:solidFill>
          <a:ln w="12700">
            <a:solidFill>
              <a:srgbClr val="3A3A3C"/>
            </a:solidFill>
            <a:prstDash val="solid"/>
          </a:ln>
        </p:spPr>
      </p:sp>
      <p:sp>
        <p:nvSpPr>
          <p:cNvPr id="31" name="Text 29"/>
          <p:cNvSpPr txBox="1"/>
          <p:nvPr/>
        </p:nvSpPr>
        <p:spPr>
          <a:xfrm>
            <a:off x="477316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T-17</a:t>
            </a:r>
            <a:endParaRPr lang="en-US" sz="1200" dirty="0"/>
          </a:p>
        </p:txBody>
      </p:sp>
      <p:sp>
        <p:nvSpPr>
          <p:cNvPr id="32" name="Text 30"/>
          <p:cNvSpPr txBox="1"/>
          <p:nvPr/>
        </p:nvSpPr>
        <p:spPr>
          <a:xfrm>
            <a:off x="5303520" y="2194560"/>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Lecciones Aprendidas Constructabilidad</a:t>
            </a:r>
            <a:endParaRPr lang="en-US" sz="1100" dirty="0"/>
          </a:p>
        </p:txBody>
      </p:sp>
      <p:sp>
        <p:nvSpPr>
          <p:cNvPr id="33" name="Text 31"/>
          <p:cNvSpPr txBox="1"/>
          <p:nvPr/>
        </p:nvSpPr>
        <p:spPr>
          <a:xfrm>
            <a:off x="4773168" y="2523744"/>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Base de datos de oportunidades y soluciones probadas</a:t>
            </a:r>
            <a:endParaRPr lang="en-US" sz="1000" dirty="0"/>
          </a:p>
        </p:txBody>
      </p:sp>
      <p:sp>
        <p:nvSpPr>
          <p:cNvPr id="34" name="Shape 32"/>
          <p:cNvSpPr/>
          <p:nvPr/>
        </p:nvSpPr>
        <p:spPr>
          <a:xfrm>
            <a:off x="4663440" y="2980944"/>
            <a:ext cx="4114800" cy="749808"/>
          </a:xfrm>
          <a:prstGeom prst="roundRect">
            <a:avLst>
              <a:gd name="adj" fmla="val 8537"/>
            </a:avLst>
          </a:prstGeom>
          <a:solidFill>
            <a:srgbClr val="2C2C2E"/>
          </a:solidFill>
          <a:ln w="12700">
            <a:solidFill>
              <a:srgbClr val="3A3A3C"/>
            </a:solidFill>
            <a:prstDash val="solid"/>
          </a:ln>
        </p:spPr>
      </p:sp>
      <p:sp>
        <p:nvSpPr>
          <p:cNvPr id="35" name="Text 33"/>
          <p:cNvSpPr txBox="1"/>
          <p:nvPr/>
        </p:nvSpPr>
        <p:spPr>
          <a:xfrm>
            <a:off x="477316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T-18</a:t>
            </a:r>
            <a:endParaRPr lang="en-US" sz="1200" dirty="0"/>
          </a:p>
        </p:txBody>
      </p:sp>
      <p:sp>
        <p:nvSpPr>
          <p:cNvPr id="36" name="Text 34"/>
          <p:cNvSpPr txBox="1"/>
          <p:nvPr/>
        </p:nvSpPr>
        <p:spPr>
          <a:xfrm>
            <a:off x="5303520" y="3035808"/>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Constructabilidad en Contratos EPC</a:t>
            </a:r>
            <a:endParaRPr lang="en-US" sz="1100" dirty="0"/>
          </a:p>
        </p:txBody>
      </p:sp>
      <p:sp>
        <p:nvSpPr>
          <p:cNvPr id="37" name="Text 35"/>
          <p:cNvSpPr txBox="1"/>
          <p:nvPr/>
        </p:nvSpPr>
        <p:spPr>
          <a:xfrm>
            <a:off x="4773168" y="3364992"/>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Cláusulas que exigen plan constructabilidad al contratista EPC</a:t>
            </a:r>
            <a:endParaRPr lang="en-US" sz="1000" dirty="0"/>
          </a:p>
        </p:txBody>
      </p:sp>
      <p:sp>
        <p:nvSpPr>
          <p:cNvPr id="38" name="Shape 36"/>
          <p:cNvSpPr/>
          <p:nvPr/>
        </p:nvSpPr>
        <p:spPr>
          <a:xfrm>
            <a:off x="4663440" y="3822192"/>
            <a:ext cx="4114800" cy="749808"/>
          </a:xfrm>
          <a:prstGeom prst="roundRect">
            <a:avLst>
              <a:gd name="adj" fmla="val 8537"/>
            </a:avLst>
          </a:prstGeom>
          <a:solidFill>
            <a:srgbClr val="2C2C2E"/>
          </a:solidFill>
          <a:ln w="12700">
            <a:solidFill>
              <a:srgbClr val="3A3A3C"/>
            </a:solidFill>
            <a:prstDash val="solid"/>
          </a:ln>
        </p:spPr>
      </p:sp>
      <p:sp>
        <p:nvSpPr>
          <p:cNvPr id="39" name="Text 37"/>
          <p:cNvSpPr txBox="1"/>
          <p:nvPr/>
        </p:nvSpPr>
        <p:spPr>
          <a:xfrm>
            <a:off x="477316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T-19</a:t>
            </a:r>
            <a:endParaRPr lang="en-US" sz="1200" dirty="0"/>
          </a:p>
        </p:txBody>
      </p:sp>
      <p:sp>
        <p:nvSpPr>
          <p:cNvPr id="40" name="Text 38"/>
          <p:cNvSpPr txBox="1"/>
          <p:nvPr/>
        </p:nvSpPr>
        <p:spPr>
          <a:xfrm>
            <a:off x="5303520" y="3877056"/>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Evaluación Post-Proyecto</a:t>
            </a:r>
            <a:endParaRPr lang="en-US" sz="1100" dirty="0"/>
          </a:p>
        </p:txBody>
      </p:sp>
      <p:sp>
        <p:nvSpPr>
          <p:cNvPr id="41" name="Text 39"/>
          <p:cNvSpPr txBox="1"/>
          <p:nvPr/>
        </p:nvSpPr>
        <p:spPr>
          <a:xfrm>
            <a:off x="4773168" y="4206240"/>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Mide beneficios reales vs. proyectados; alimenta futuros proyectos</a:t>
            </a:r>
            <a:endParaRPr lang="en-US" sz="100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Cuantificación del ROI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CII SP 34-1 provee metodología de medición basada en datos reales de 50+ proyectos:</a:t>
            </a:r>
            <a:endParaRPr lang="en-US" sz="1300" dirty="0"/>
          </a:p>
        </p:txBody>
      </p:sp>
      <p:sp>
        <p:nvSpPr>
          <p:cNvPr id="6" name="Shape 4"/>
          <p:cNvSpPr/>
          <p:nvPr/>
        </p:nvSpPr>
        <p:spPr>
          <a:xfrm>
            <a:off x="1371600" y="1298448"/>
            <a:ext cx="6400800" cy="1005840"/>
          </a:xfrm>
          <a:prstGeom prst="roundRect">
            <a:avLst>
              <a:gd name="adj" fmla="val 10909"/>
            </a:avLst>
          </a:prstGeom>
          <a:solidFill>
            <a:srgbClr val="2C2C2E"/>
          </a:solidFill>
          <a:ln w="25400">
            <a:solidFill>
              <a:srgbClr val="30D158"/>
            </a:solidFill>
            <a:prstDash val="solid"/>
          </a:ln>
        </p:spPr>
      </p:sp>
      <p:sp>
        <p:nvSpPr>
          <p:cNvPr id="7" name="Text 5"/>
          <p:cNvSpPr txBox="1"/>
          <p:nvPr/>
        </p:nvSpPr>
        <p:spPr>
          <a:xfrm>
            <a:off x="1554480" y="1444752"/>
            <a:ext cx="6035040" cy="685800"/>
          </a:xfrm>
          <a:prstGeom prst="rect">
            <a:avLst/>
          </a:prstGeom>
          <a:noFill/>
          <a:ln/>
        </p:spPr>
        <p:txBody>
          <a:bodyPr wrap="square" lIns="0" tIns="0" rIns="0" bIns="0" rtlCol="0" anchor="ctr"/>
          <a:lstStyle/>
          <a:p>
            <a:pPr algn="ct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ROI Constructabilidad = (Ahorro Total - Costo del Programa) / Costo del Programa × 100</a:t>
            </a:r>
            <a:endParaRPr lang="en-US" sz="1600" dirty="0"/>
          </a:p>
        </p:txBody>
      </p:sp>
      <p:sp>
        <p:nvSpPr>
          <p:cNvPr id="8" name="Shape 6"/>
          <p:cNvSpPr/>
          <p:nvPr/>
        </p:nvSpPr>
        <p:spPr>
          <a:xfrm>
            <a:off x="365760" y="2487168"/>
            <a:ext cx="4114800" cy="1051560"/>
          </a:xfrm>
          <a:prstGeom prst="roundRect">
            <a:avLst>
              <a:gd name="adj" fmla="val 8696"/>
            </a:avLst>
          </a:prstGeom>
          <a:solidFill>
            <a:srgbClr val="2C2C2E"/>
          </a:solidFill>
          <a:ln w="12700">
            <a:solidFill>
              <a:srgbClr val="3A3A3C"/>
            </a:solidFill>
            <a:prstDash val="solid"/>
          </a:ln>
        </p:spPr>
      </p:sp>
      <p:sp>
        <p:nvSpPr>
          <p:cNvPr id="9" name="Text 7"/>
          <p:cNvSpPr txBox="1"/>
          <p:nvPr/>
        </p:nvSpPr>
        <p:spPr>
          <a:xfrm>
            <a:off x="548640" y="2596896"/>
            <a:ext cx="3749040" cy="50292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Costo del programa</a:t>
            </a:r>
            <a:endParaRPr lang="en-US" sz="1200" dirty="0"/>
          </a:p>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(equipo + reuniones + tools)</a:t>
            </a:r>
            <a:endParaRPr lang="en-US" sz="1200" dirty="0"/>
          </a:p>
        </p:txBody>
      </p:sp>
      <p:sp>
        <p:nvSpPr>
          <p:cNvPr id="10" name="Text 8"/>
          <p:cNvSpPr txBox="1"/>
          <p:nvPr/>
        </p:nvSpPr>
        <p:spPr>
          <a:xfrm>
            <a:off x="548640" y="3081528"/>
            <a:ext cx="3749040" cy="365760"/>
          </a:xfrm>
          <a:prstGeom prst="rect">
            <a:avLst/>
          </a:prstGeom>
          <a:noFill/>
          <a:ln/>
        </p:spPr>
        <p:txBody>
          <a:bodyPr wrap="square" lIns="0" tIns="0" rIns="0" bIns="0" rtlCol="0" anchor="ctr"/>
          <a:lstStyle/>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0.2 - 0.5%</a:t>
            </a:r>
            <a:endParaRPr lang="en-US" sz="1600" dirty="0"/>
          </a:p>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600" dirty="0"/>
          </a:p>
        </p:txBody>
      </p:sp>
      <p:sp>
        <p:nvSpPr>
          <p:cNvPr id="11" name="Shape 9"/>
          <p:cNvSpPr/>
          <p:nvPr/>
        </p:nvSpPr>
        <p:spPr>
          <a:xfrm>
            <a:off x="4754880" y="2487168"/>
            <a:ext cx="4114800" cy="1051560"/>
          </a:xfrm>
          <a:prstGeom prst="roundRect">
            <a:avLst>
              <a:gd name="adj" fmla="val 8696"/>
            </a:avLst>
          </a:prstGeom>
          <a:solidFill>
            <a:srgbClr val="2C2C2E"/>
          </a:solidFill>
          <a:ln w="12700">
            <a:solidFill>
              <a:srgbClr val="3A3A3C"/>
            </a:solidFill>
            <a:prstDash val="solid"/>
          </a:ln>
        </p:spPr>
      </p:sp>
      <p:sp>
        <p:nvSpPr>
          <p:cNvPr id="12" name="Text 10"/>
          <p:cNvSpPr txBox="1"/>
          <p:nvPr/>
        </p:nvSpPr>
        <p:spPr>
          <a:xfrm>
            <a:off x="4937760" y="2596896"/>
            <a:ext cx="3749040" cy="50292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Ahorro típico documentado</a:t>
            </a:r>
            <a:endParaRPr lang="en-US" sz="1200" dirty="0"/>
          </a:p>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(CII promedio 50+ proyectos)</a:t>
            </a:r>
            <a:endParaRPr lang="en-US" sz="1200" dirty="0"/>
          </a:p>
        </p:txBody>
      </p:sp>
      <p:sp>
        <p:nvSpPr>
          <p:cNvPr id="13" name="Text 11"/>
          <p:cNvSpPr txBox="1"/>
          <p:nvPr/>
        </p:nvSpPr>
        <p:spPr>
          <a:xfrm>
            <a:off x="4937760" y="3081528"/>
            <a:ext cx="3749040" cy="365760"/>
          </a:xfrm>
          <a:prstGeom prst="rect">
            <a:avLst/>
          </a:prstGeom>
          <a:noFill/>
          <a:ln/>
        </p:spPr>
        <p:txBody>
          <a:bodyPr wrap="square" lIns="0" tIns="0" rIns="0" bIns="0" rtlCol="0" anchor="ctr"/>
          <a:lstStyle/>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3 - 8%</a:t>
            </a:r>
            <a:endParaRPr lang="en-US" sz="1600" dirty="0"/>
          </a:p>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600" dirty="0"/>
          </a:p>
        </p:txBody>
      </p:sp>
      <p:sp>
        <p:nvSpPr>
          <p:cNvPr id="14" name="Shape 12"/>
          <p:cNvSpPr/>
          <p:nvPr/>
        </p:nvSpPr>
        <p:spPr>
          <a:xfrm>
            <a:off x="365760" y="3721608"/>
            <a:ext cx="4114800" cy="1051560"/>
          </a:xfrm>
          <a:prstGeom prst="roundRect">
            <a:avLst>
              <a:gd name="adj" fmla="val 8696"/>
            </a:avLst>
          </a:prstGeom>
          <a:solidFill>
            <a:srgbClr val="2C2C2E"/>
          </a:solidFill>
          <a:ln w="12700">
            <a:solidFill>
              <a:srgbClr val="3A3A3C"/>
            </a:solidFill>
            <a:prstDash val="solid"/>
          </a:ln>
        </p:spPr>
      </p:sp>
      <p:sp>
        <p:nvSpPr>
          <p:cNvPr id="15" name="Text 13"/>
          <p:cNvSpPr txBox="1"/>
          <p:nvPr/>
        </p:nvSpPr>
        <p:spPr>
          <a:xfrm>
            <a:off x="548640" y="3831336"/>
            <a:ext cx="3749040" cy="50292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Ratio beneficio/costo</a:t>
            </a:r>
            <a:endParaRPr lang="en-US" sz="1200" dirty="0"/>
          </a:p>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(ROI)</a:t>
            </a:r>
            <a:endParaRPr lang="en-US" sz="1200" dirty="0"/>
          </a:p>
        </p:txBody>
      </p:sp>
      <p:sp>
        <p:nvSpPr>
          <p:cNvPr id="16" name="Text 14"/>
          <p:cNvSpPr txBox="1"/>
          <p:nvPr/>
        </p:nvSpPr>
        <p:spPr>
          <a:xfrm>
            <a:off x="548640" y="4315968"/>
            <a:ext cx="3749040" cy="365760"/>
          </a:xfrm>
          <a:prstGeom prst="rect">
            <a:avLst/>
          </a:prstGeom>
          <a:noFill/>
          <a:ln/>
        </p:spPr>
        <p:txBody>
          <a:bodyPr wrap="square" lIns="0" tIns="0" rIns="0" bIns="0" rtlCol="0" anchor="ctr"/>
          <a:lstStyle/>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10:1 a 40:1</a:t>
            </a:r>
            <a:endParaRPr lang="en-US" sz="1600" dirty="0"/>
          </a:p>
        </p:txBody>
      </p:sp>
      <p:sp>
        <p:nvSpPr>
          <p:cNvPr id="17" name="Shape 15"/>
          <p:cNvSpPr/>
          <p:nvPr/>
        </p:nvSpPr>
        <p:spPr>
          <a:xfrm>
            <a:off x="4754880" y="3721608"/>
            <a:ext cx="4114800" cy="1051560"/>
          </a:xfrm>
          <a:prstGeom prst="roundRect">
            <a:avLst>
              <a:gd name="adj" fmla="val 8696"/>
            </a:avLst>
          </a:prstGeom>
          <a:solidFill>
            <a:srgbClr val="2C2C2E"/>
          </a:solidFill>
          <a:ln w="12700">
            <a:solidFill>
              <a:srgbClr val="3A3A3C"/>
            </a:solidFill>
            <a:prstDash val="solid"/>
          </a:ln>
        </p:spPr>
      </p:sp>
      <p:sp>
        <p:nvSpPr>
          <p:cNvPr id="18" name="Text 16"/>
          <p:cNvSpPr txBox="1"/>
          <p:nvPr/>
        </p:nvSpPr>
        <p:spPr>
          <a:xfrm>
            <a:off x="4937760" y="3831336"/>
            <a:ext cx="3749040" cy="50292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Reducción de duración</a:t>
            </a:r>
            <a:endParaRPr lang="en-US" sz="1200" dirty="0"/>
          </a:p>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típica</a:t>
            </a:r>
            <a:endParaRPr lang="en-US" sz="1200" dirty="0"/>
          </a:p>
        </p:txBody>
      </p:sp>
      <p:sp>
        <p:nvSpPr>
          <p:cNvPr id="19" name="Text 17"/>
          <p:cNvSpPr txBox="1"/>
          <p:nvPr/>
        </p:nvSpPr>
        <p:spPr>
          <a:xfrm>
            <a:off x="4937760" y="4315968"/>
            <a:ext cx="3749040" cy="365760"/>
          </a:xfrm>
          <a:prstGeom prst="rect">
            <a:avLst/>
          </a:prstGeom>
          <a:noFill/>
          <a:ln/>
        </p:spPr>
        <p:txBody>
          <a:bodyPr wrap="square" lIns="0" tIns="0" rIns="0" bIns="0" rtlCol="0" anchor="ctr"/>
          <a:lstStyle/>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5 - 10%</a:t>
            </a:r>
            <a:endParaRPr lang="en-US" sz="1600" dirty="0"/>
          </a:p>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del cronograma</a:t>
            </a:r>
            <a:endParaRPr lang="en-US" sz="16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en Contratos EPC / EPCM</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En contratos EPC, la constructabilidad es responsabilidad compartida entre owner y contratista principal:</a:t>
            </a:r>
            <a:endParaRPr lang="en-US" sz="1300" dirty="0"/>
          </a:p>
        </p:txBody>
      </p:sp>
      <p:sp>
        <p:nvSpPr>
          <p:cNvPr id="6" name="Shape 4"/>
          <p:cNvSpPr/>
          <p:nvPr/>
        </p:nvSpPr>
        <p:spPr>
          <a:xfrm>
            <a:off x="365760" y="1298448"/>
            <a:ext cx="8412480" cy="1051560"/>
          </a:xfrm>
          <a:prstGeom prst="roundRect">
            <a:avLst>
              <a:gd name="adj" fmla="val 8696"/>
            </a:avLst>
          </a:prstGeom>
          <a:solidFill>
            <a:srgbClr val="2C2C2E"/>
          </a:solidFill>
          <a:ln w="25400">
            <a:solidFill>
              <a:srgbClr val="FFD60A"/>
            </a:solidFill>
            <a:prstDash val="solid"/>
          </a:ln>
        </p:spPr>
      </p:sp>
      <p:sp>
        <p:nvSpPr>
          <p:cNvPr id="7" name="Text 5"/>
          <p:cNvSpPr txBox="1"/>
          <p:nvPr/>
        </p:nvSpPr>
        <p:spPr>
          <a:xfrm>
            <a:off x="548640" y="1408176"/>
            <a:ext cx="182880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Licitación / FEL</a:t>
            </a:r>
            <a:endParaRPr lang="en-US" sz="1300" dirty="0"/>
          </a:p>
        </p:txBody>
      </p:sp>
      <p:sp>
        <p:nvSpPr>
          <p:cNvPr id="8" name="Text 6"/>
          <p:cNvSpPr txBox="1"/>
          <p:nvPr/>
        </p:nvSpPr>
        <p:spPr>
          <a:xfrm>
            <a:off x="2468880" y="1371600"/>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Owner incluye requerimientos de constructabilidad en los documentos de licitación</a:t>
            </a:r>
            <a:endParaRPr lang="en-US" sz="1100" dirty="0"/>
          </a:p>
        </p:txBody>
      </p:sp>
      <p:sp>
        <p:nvSpPr>
          <p:cNvPr id="9" name="Text 7"/>
          <p:cNvSpPr txBox="1"/>
          <p:nvPr/>
        </p:nvSpPr>
        <p:spPr>
          <a:xfrm>
            <a:off x="2468880" y="1673352"/>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Contratistas EPC proponen su plan constructabilidad como parte de la oferta técnica</a:t>
            </a:r>
            <a:endParaRPr lang="en-US" sz="1100" dirty="0"/>
          </a:p>
        </p:txBody>
      </p:sp>
      <p:sp>
        <p:nvSpPr>
          <p:cNvPr id="10" name="Text 8"/>
          <p:cNvSpPr txBox="1"/>
          <p:nvPr/>
        </p:nvSpPr>
        <p:spPr>
          <a:xfrm>
            <a:off x="2468880" y="1975104"/>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Evaluación de propuestas incluye criterio de madurez constructabilidad</a:t>
            </a:r>
            <a:endParaRPr lang="en-US" sz="1100" dirty="0"/>
          </a:p>
        </p:txBody>
      </p:sp>
      <p:sp>
        <p:nvSpPr>
          <p:cNvPr id="11" name="Shape 9"/>
          <p:cNvSpPr/>
          <p:nvPr/>
        </p:nvSpPr>
        <p:spPr>
          <a:xfrm>
            <a:off x="365760" y="2487168"/>
            <a:ext cx="8412480" cy="1051560"/>
          </a:xfrm>
          <a:prstGeom prst="roundRect">
            <a:avLst>
              <a:gd name="adj" fmla="val 8696"/>
            </a:avLst>
          </a:prstGeom>
          <a:solidFill>
            <a:srgbClr val="2C2C2E"/>
          </a:solidFill>
          <a:ln w="25400">
            <a:solidFill>
              <a:srgbClr val="0A84FF"/>
            </a:solidFill>
            <a:prstDash val="solid"/>
          </a:ln>
        </p:spPr>
      </p:sp>
      <p:sp>
        <p:nvSpPr>
          <p:cNvPr id="12" name="Text 10"/>
          <p:cNvSpPr txBox="1"/>
          <p:nvPr/>
        </p:nvSpPr>
        <p:spPr>
          <a:xfrm>
            <a:off x="548640" y="2596896"/>
            <a:ext cx="182880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Ingeniería Básica (FEED)</a:t>
            </a:r>
            <a:endParaRPr lang="en-US" sz="1300" dirty="0"/>
          </a:p>
        </p:txBody>
      </p:sp>
      <p:sp>
        <p:nvSpPr>
          <p:cNvPr id="13" name="Text 11"/>
          <p:cNvSpPr txBox="1"/>
          <p:nvPr/>
        </p:nvSpPr>
        <p:spPr>
          <a:xfrm>
            <a:off x="2468880" y="2560320"/>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Equipo constructabilidad del contratista inicia revisiones en IFC inicial</a:t>
            </a:r>
            <a:endParaRPr lang="en-US" sz="1100" dirty="0"/>
          </a:p>
        </p:txBody>
      </p:sp>
      <p:sp>
        <p:nvSpPr>
          <p:cNvPr id="14" name="Text 12"/>
          <p:cNvSpPr txBox="1"/>
          <p:nvPr/>
        </p:nvSpPr>
        <p:spPr>
          <a:xfrm>
            <a:off x="2468880" y="2862072"/>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Estudios de modularización y pre-ensamble se definen en FEED</a:t>
            </a:r>
            <a:endParaRPr lang="en-US" sz="1100" dirty="0"/>
          </a:p>
        </p:txBody>
      </p:sp>
      <p:sp>
        <p:nvSpPr>
          <p:cNvPr id="15" name="Text 13"/>
          <p:cNvSpPr txBox="1"/>
          <p:nvPr/>
        </p:nvSpPr>
        <p:spPr>
          <a:xfrm>
            <a:off x="2468880" y="3163824"/>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Se establecen zonas de construcción y acceso temprano</a:t>
            </a:r>
            <a:endParaRPr lang="en-US" sz="1100" dirty="0"/>
          </a:p>
        </p:txBody>
      </p:sp>
      <p:sp>
        <p:nvSpPr>
          <p:cNvPr id="16" name="Shape 14"/>
          <p:cNvSpPr/>
          <p:nvPr/>
        </p:nvSpPr>
        <p:spPr>
          <a:xfrm>
            <a:off x="365760" y="3675888"/>
            <a:ext cx="8412480" cy="1051560"/>
          </a:xfrm>
          <a:prstGeom prst="roundRect">
            <a:avLst>
              <a:gd name="adj" fmla="val 8696"/>
            </a:avLst>
          </a:prstGeom>
          <a:solidFill>
            <a:srgbClr val="2C2C2E"/>
          </a:solidFill>
          <a:ln w="25400">
            <a:solidFill>
              <a:srgbClr val="30D158"/>
            </a:solidFill>
            <a:prstDash val="solid"/>
          </a:ln>
        </p:spPr>
      </p:sp>
      <p:sp>
        <p:nvSpPr>
          <p:cNvPr id="17" name="Text 15"/>
          <p:cNvSpPr txBox="1"/>
          <p:nvPr/>
        </p:nvSpPr>
        <p:spPr>
          <a:xfrm>
            <a:off x="548640" y="3785616"/>
            <a:ext cx="182880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Ingeniería Detalle</a:t>
            </a:r>
            <a:endParaRPr lang="en-US" sz="1300" dirty="0"/>
          </a:p>
        </p:txBody>
      </p:sp>
      <p:sp>
        <p:nvSpPr>
          <p:cNvPr id="18" name="Text 16"/>
          <p:cNvSpPr txBox="1"/>
          <p:nvPr/>
        </p:nvSpPr>
        <p:spPr>
          <a:xfrm>
            <a:off x="2468880" y="3749040"/>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Revisiones formales T-15 en 30%, 60%, 90%</a:t>
            </a:r>
            <a:endParaRPr lang="en-US" sz="1100" dirty="0"/>
          </a:p>
        </p:txBody>
      </p:sp>
      <p:sp>
        <p:nvSpPr>
          <p:cNvPr id="19" name="Text 17"/>
          <p:cNvSpPr txBox="1"/>
          <p:nvPr/>
        </p:nvSpPr>
        <p:spPr>
          <a:xfrm>
            <a:off x="2468880" y="4050792"/>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EWP / AWP integrados con constructabilidad</a:t>
            </a:r>
            <a:endParaRPr lang="en-US" sz="1100" dirty="0"/>
          </a:p>
        </p:txBody>
      </p:sp>
      <p:sp>
        <p:nvSpPr>
          <p:cNvPr id="20" name="Text 18"/>
          <p:cNvSpPr txBox="1"/>
          <p:nvPr/>
        </p:nvSpPr>
        <p:spPr>
          <a:xfrm>
            <a:off x="2468880" y="4352544"/>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Especificaciones revisadas para eliminar restricciones innecesarias</a:t>
            </a:r>
            <a:endParaRPr lang="en-US" sz="1100" dirty="0"/>
          </a:p>
        </p:txBody>
      </p:sp>
      <p:sp>
        <p:nvSpPr>
          <p:cNvPr id="21" name="Shape 19"/>
          <p:cNvSpPr/>
          <p:nvPr/>
        </p:nvSpPr>
        <p:spPr>
          <a:xfrm>
            <a:off x="365760" y="4864608"/>
            <a:ext cx="8412480" cy="1051560"/>
          </a:xfrm>
          <a:prstGeom prst="roundRect">
            <a:avLst>
              <a:gd name="adj" fmla="val 8696"/>
            </a:avLst>
          </a:prstGeom>
          <a:solidFill>
            <a:srgbClr val="2C2C2E"/>
          </a:solidFill>
          <a:ln w="25400">
            <a:solidFill>
              <a:srgbClr val="FF9500"/>
            </a:solidFill>
            <a:prstDash val="solid"/>
          </a:ln>
        </p:spPr>
      </p:sp>
      <p:sp>
        <p:nvSpPr>
          <p:cNvPr id="22" name="Text 20"/>
          <p:cNvSpPr txBox="1"/>
          <p:nvPr/>
        </p:nvSpPr>
        <p:spPr>
          <a:xfrm>
            <a:off x="548640" y="4974336"/>
            <a:ext cx="182880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300" dirty="0"/>
          </a:p>
        </p:txBody>
      </p:sp>
      <p:sp>
        <p:nvSpPr>
          <p:cNvPr id="23" name="Text 21"/>
          <p:cNvSpPr txBox="1"/>
          <p:nvPr/>
        </p:nvSpPr>
        <p:spPr>
          <a:xfrm>
            <a:off x="2468880" y="4937760"/>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Implementación de AWP basada en constructabilidad</a:t>
            </a:r>
            <a:endParaRPr lang="en-US" sz="1100" dirty="0"/>
          </a:p>
        </p:txBody>
      </p:sp>
      <p:sp>
        <p:nvSpPr>
          <p:cNvPr id="24" name="Text 22"/>
          <p:cNvSpPr txBox="1"/>
          <p:nvPr/>
        </p:nvSpPr>
        <p:spPr>
          <a:xfrm>
            <a:off x="2468880" y="5239512"/>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WFP alineada con IWP derivados de diseño constructible</a:t>
            </a:r>
            <a:endParaRPr lang="en-US" sz="1100" dirty="0"/>
          </a:p>
        </p:txBody>
      </p:sp>
      <p:sp>
        <p:nvSpPr>
          <p:cNvPr id="25" name="Text 23"/>
          <p:cNvSpPr txBox="1"/>
          <p:nvPr/>
        </p:nvSpPr>
        <p:spPr>
          <a:xfrm>
            <a:off x="2468880" y="5541264"/>
            <a:ext cx="6217920" cy="27432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Métricas T-16 de seguimiento mensual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Advanced Work Packaging (AWP) y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AWP es la metodología de ejecución que implementa los principios de constructabilidad en campo:</a:t>
            </a:r>
            <a:endParaRPr lang="en-US" sz="1300" dirty="0"/>
          </a:p>
        </p:txBody>
      </p:sp>
      <p:sp>
        <p:nvSpPr>
          <p:cNvPr id="6" name="Shape 4"/>
          <p:cNvSpPr/>
          <p:nvPr/>
        </p:nvSpPr>
        <p:spPr>
          <a:xfrm>
            <a:off x="365760" y="1298448"/>
            <a:ext cx="3840480" cy="4023360"/>
          </a:xfrm>
          <a:prstGeom prst="roundRect">
            <a:avLst>
              <a:gd name="adj" fmla="val 2857"/>
            </a:avLst>
          </a:prstGeom>
          <a:solidFill>
            <a:srgbClr val="2C2C2E"/>
          </a:solidFill>
          <a:ln w="25400">
            <a:solidFill>
              <a:srgbClr val="AF52DE"/>
            </a:solidFill>
            <a:prstDash val="solid"/>
          </a:ln>
        </p:spPr>
      </p:sp>
      <p:sp>
        <p:nvSpPr>
          <p:cNvPr id="7" name="Text 5"/>
          <p:cNvSpPr txBox="1"/>
          <p:nvPr/>
        </p:nvSpPr>
        <p:spPr>
          <a:xfrm>
            <a:off x="548640" y="1417320"/>
            <a:ext cx="3474720" cy="594360"/>
          </a:xfrm>
          <a:prstGeom prst="rect">
            <a:avLst/>
          </a:prstGeom>
          <a:noFill/>
          <a:ln/>
        </p:spPr>
        <p:txBody>
          <a:bodyPr wrap="square" lIns="0" tIns="0" rIns="0" bIns="0" rtlCol="0" anchor="ctr"/>
          <a:lstStyle/>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CONSTRUCTABILIDAD</a:t>
            </a:r>
            <a:endParaRPr lang="en-US" sz="1500" dirty="0"/>
          </a:p>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(Principios y Diseño)</a:t>
            </a:r>
            <a:endParaRPr lang="en-US" sz="1500" dirty="0"/>
          </a:p>
        </p:txBody>
      </p:sp>
      <p:sp>
        <p:nvSpPr>
          <p:cNvPr id="8" name="Text 6"/>
          <p:cNvSpPr txBox="1"/>
          <p:nvPr/>
        </p:nvSpPr>
        <p:spPr>
          <a:xfrm>
            <a:off x="548640" y="210312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Secuencia lógica de construcción definida desde diseño</a:t>
            </a:r>
            <a:endParaRPr lang="en-US" sz="1100" dirty="0"/>
          </a:p>
        </p:txBody>
      </p:sp>
      <p:sp>
        <p:nvSpPr>
          <p:cNvPr id="9" name="Text 7"/>
          <p:cNvSpPr txBox="1"/>
          <p:nvPr/>
        </p:nvSpPr>
        <p:spPr>
          <a:xfrm>
            <a:off x="548640" y="265176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Zonas de trabajo delimitadas en planos</a:t>
            </a:r>
            <a:endParaRPr lang="en-US" sz="1100" dirty="0"/>
          </a:p>
        </p:txBody>
      </p:sp>
      <p:sp>
        <p:nvSpPr>
          <p:cNvPr id="10" name="Text 8"/>
          <p:cNvSpPr txBox="1"/>
          <p:nvPr/>
        </p:nvSpPr>
        <p:spPr>
          <a:xfrm>
            <a:off x="548640" y="320040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Modularización planificada para fabricación en taller</a:t>
            </a:r>
            <a:endParaRPr lang="en-US" sz="1100" dirty="0"/>
          </a:p>
        </p:txBody>
      </p:sp>
      <p:sp>
        <p:nvSpPr>
          <p:cNvPr id="11" name="Text 9"/>
          <p:cNvSpPr txBox="1"/>
          <p:nvPr/>
        </p:nvSpPr>
        <p:spPr>
          <a:xfrm>
            <a:off x="548640" y="374904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Acceso y grúas considerados en diseño</a:t>
            </a:r>
            <a:endParaRPr lang="en-US" sz="1100" dirty="0"/>
          </a:p>
        </p:txBody>
      </p:sp>
      <p:sp>
        <p:nvSpPr>
          <p:cNvPr id="12" name="Text 10"/>
          <p:cNvSpPr txBox="1"/>
          <p:nvPr/>
        </p:nvSpPr>
        <p:spPr>
          <a:xfrm>
            <a:off x="548640" y="429768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IWPs derivados del modelo de diseño</a:t>
            </a:r>
            <a:endParaRPr lang="en-US" sz="1100" dirty="0"/>
          </a:p>
        </p:txBody>
      </p:sp>
      <p:sp>
        <p:nvSpPr>
          <p:cNvPr id="13" name="Shape 11"/>
          <p:cNvSpPr/>
          <p:nvPr/>
        </p:nvSpPr>
        <p:spPr>
          <a:xfrm>
            <a:off x="4937760" y="1298448"/>
            <a:ext cx="3840480" cy="4023360"/>
          </a:xfrm>
          <a:prstGeom prst="roundRect">
            <a:avLst>
              <a:gd name="adj" fmla="val 2857"/>
            </a:avLst>
          </a:prstGeom>
          <a:solidFill>
            <a:srgbClr val="2C2C2E"/>
          </a:solidFill>
          <a:ln w="25400">
            <a:solidFill>
              <a:srgbClr val="0A84FF"/>
            </a:solidFill>
            <a:prstDash val="solid"/>
          </a:ln>
        </p:spPr>
      </p:sp>
      <p:sp>
        <p:nvSpPr>
          <p:cNvPr id="14" name="Text 12"/>
          <p:cNvSpPr txBox="1"/>
          <p:nvPr/>
        </p:nvSpPr>
        <p:spPr>
          <a:xfrm>
            <a:off x="5120640" y="1417320"/>
            <a:ext cx="3474720" cy="594360"/>
          </a:xfrm>
          <a:prstGeom prst="rect">
            <a:avLst/>
          </a:prstGeom>
          <a:noFill/>
          <a:ln/>
        </p:spPr>
        <p:txBody>
          <a:bodyPr wrap="square" lIns="0" tIns="0" rIns="0" bIns="0" rtlCol="0" anchor="ctr"/>
          <a:lstStyle/>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AWP</a:t>
            </a:r>
            <a:endParaRPr lang="en-US" sz="1500" dirty="0"/>
          </a:p>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(Ejecución en Campo)</a:t>
            </a:r>
            <a:endParaRPr lang="en-US" sz="1500" dirty="0"/>
          </a:p>
        </p:txBody>
      </p:sp>
      <p:sp>
        <p:nvSpPr>
          <p:cNvPr id="15" name="Text 13"/>
          <p:cNvSpPr txBox="1"/>
          <p:nvPr/>
        </p:nvSpPr>
        <p:spPr>
          <a:xfrm>
            <a:off x="5120640" y="210312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EWP → CWP → IWP (jerarquía de paquetes)</a:t>
            </a:r>
            <a:endParaRPr lang="en-US" sz="1100" dirty="0"/>
          </a:p>
        </p:txBody>
      </p:sp>
      <p:sp>
        <p:nvSpPr>
          <p:cNvPr id="16" name="Text 14"/>
          <p:cNvSpPr txBox="1"/>
          <p:nvPr/>
        </p:nvSpPr>
        <p:spPr>
          <a:xfrm>
            <a:off x="5120640" y="265176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Paquete de trabajo instalable (IWP) = unidad de planificación</a:t>
            </a:r>
            <a:endParaRPr lang="en-US" sz="1100" dirty="0"/>
          </a:p>
        </p:txBody>
      </p:sp>
      <p:sp>
        <p:nvSpPr>
          <p:cNvPr id="17" name="Text 15"/>
          <p:cNvSpPr txBox="1"/>
          <p:nvPr/>
        </p:nvSpPr>
        <p:spPr>
          <a:xfrm>
            <a:off x="5120640" y="320040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Constraint management antes de liberar IWP</a:t>
            </a:r>
            <a:endParaRPr lang="en-US" sz="1100" dirty="0"/>
          </a:p>
        </p:txBody>
      </p:sp>
      <p:sp>
        <p:nvSpPr>
          <p:cNvPr id="18" name="Text 16"/>
          <p:cNvSpPr txBox="1"/>
          <p:nvPr/>
        </p:nvSpPr>
        <p:spPr>
          <a:xfrm>
            <a:off x="5120640" y="374904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WFP: asignación diaria de cuadrillas por IWP</a:t>
            </a:r>
            <a:endParaRPr lang="en-US" sz="1100" dirty="0"/>
          </a:p>
        </p:txBody>
      </p:sp>
      <p:sp>
        <p:nvSpPr>
          <p:cNvPr id="19" name="Text 17"/>
          <p:cNvSpPr txBox="1"/>
          <p:nvPr/>
        </p:nvSpPr>
        <p:spPr>
          <a:xfrm>
            <a:off x="5120640" y="4297680"/>
            <a:ext cx="3474720" cy="45720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Medición de progreso por IWP completados</a:t>
            </a:r>
            <a:endParaRPr lang="en-US" sz="1100" dirty="0"/>
          </a:p>
        </p:txBody>
      </p:sp>
      <p:sp>
        <p:nvSpPr>
          <p:cNvPr id="20" name="Shape 18"/>
          <p:cNvSpPr/>
          <p:nvPr/>
        </p:nvSpPr>
        <p:spPr>
          <a:xfrm>
            <a:off x="4251960" y="3200400"/>
            <a:ext cx="640080" cy="54864"/>
          </a:xfrm>
          <a:prstGeom prst="rect">
            <a:avLst/>
          </a:prstGeom>
          <a:solidFill>
            <a:srgbClr val="30D158"/>
          </a:solidFill>
          <a:ln/>
        </p:spPr>
      </p:sp>
      <p:sp>
        <p:nvSpPr>
          <p:cNvPr id="21" name="Text 19"/>
          <p:cNvSpPr txBox="1"/>
          <p:nvPr/>
        </p:nvSpPr>
        <p:spPr>
          <a:xfrm>
            <a:off x="4224528" y="3035808"/>
            <a:ext cx="694944" cy="347472"/>
          </a:xfrm>
          <a:prstGeom prst="rect">
            <a:avLst/>
          </a:prstGeom>
          <a:noFill/>
          <a:ln/>
        </p:spPr>
        <p:txBody>
          <a:bodyPr wrap="square" lIns="0" tIns="0" rIns="0" bIns="0" rtlCol="0" anchor="ctr"/>
          <a:lstStyle/>
          <a:p>
            <a:pPr algn="ctr" indent="0" marL="0">
              <a:buNone/>
            </a:pPr>
            <a:r>
              <a:rPr lang="en-US" sz="2200" b="1" dirty="0">
                <a:solidFill>
                  <a:srgbClr val="30D158"/>
                </a:solidFill>
                <a:latin typeface="Atkinson Hyperlegible" pitchFamily="34" charset="0"/>
                <a:ea typeface="Atkinson Hyperlegible" pitchFamily="34" charset="-122"/>
                <a:cs typeface="Atkinson Hyperlegible" pitchFamily="34" charset="-120"/>
              </a:rPr>
              <a:t>↔</a:t>
            </a:r>
            <a:endParaRPr lang="en-US" sz="22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en Proyectos de Infraestructura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Los principios CII aplican directamente a carreteras, puentes, túneles, presas y ferrocarriles:</a:t>
            </a:r>
            <a:endParaRPr lang="en-US" sz="1300" dirty="0"/>
          </a:p>
        </p:txBody>
      </p:sp>
      <p:sp>
        <p:nvSpPr>
          <p:cNvPr id="6" name="Shape 4"/>
          <p:cNvSpPr/>
          <p:nvPr/>
        </p:nvSpPr>
        <p:spPr>
          <a:xfrm>
            <a:off x="365760" y="1298448"/>
            <a:ext cx="8412480" cy="1417320"/>
          </a:xfrm>
          <a:prstGeom prst="roundRect">
            <a:avLst>
              <a:gd name="adj" fmla="val 6452"/>
            </a:avLst>
          </a:prstGeom>
          <a:solidFill>
            <a:srgbClr val="2C2C2E"/>
          </a:solidFill>
          <a:ln w="25400">
            <a:solidFill>
              <a:srgbClr val="0A84FF"/>
            </a:solidFill>
            <a:prstDash val="solid"/>
          </a:ln>
        </p:spPr>
      </p:sp>
      <p:sp>
        <p:nvSpPr>
          <p:cNvPr id="7" name="Text 5"/>
          <p:cNvSpPr txBox="1"/>
          <p:nvPr/>
        </p:nvSpPr>
        <p:spPr>
          <a:xfrm>
            <a:off x="594360" y="1408176"/>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Carreteras y Autopistas</a:t>
            </a:r>
            <a:endParaRPr lang="en-US" sz="1500" dirty="0"/>
          </a:p>
        </p:txBody>
      </p:sp>
      <p:sp>
        <p:nvSpPr>
          <p:cNvPr id="8" name="Text 6"/>
          <p:cNvSpPr txBox="1"/>
          <p:nvPr/>
        </p:nvSpPr>
        <p:spPr>
          <a:xfrm>
            <a:off x="594360" y="1801368"/>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Traslapes de subbase/base/pavimento optimizados</a:t>
            </a:r>
            <a:endParaRPr lang="en-US" sz="1100" dirty="0"/>
          </a:p>
        </p:txBody>
      </p:sp>
      <p:sp>
        <p:nvSpPr>
          <p:cNvPr id="9" name="Text 7"/>
          <p:cNvSpPr txBox="1"/>
          <p:nvPr/>
        </p:nvSpPr>
        <p:spPr>
          <a:xfrm>
            <a:off x="4800600" y="1801368"/>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Alineamiento que minimiza movimiento de tierras neto</a:t>
            </a:r>
            <a:endParaRPr lang="en-US" sz="1100" dirty="0"/>
          </a:p>
        </p:txBody>
      </p:sp>
      <p:sp>
        <p:nvSpPr>
          <p:cNvPr id="10" name="Text 8"/>
          <p:cNvSpPr txBox="1"/>
          <p:nvPr/>
        </p:nvSpPr>
        <p:spPr>
          <a:xfrm>
            <a:off x="594360" y="2185416"/>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Prefabricación de alcantarillas y muros de contención</a:t>
            </a:r>
            <a:endParaRPr lang="en-US" sz="1100" dirty="0"/>
          </a:p>
        </p:txBody>
      </p:sp>
      <p:sp>
        <p:nvSpPr>
          <p:cNvPr id="11" name="Text 9"/>
          <p:cNvSpPr txBox="1"/>
          <p:nvPr/>
        </p:nvSpPr>
        <p:spPr>
          <a:xfrm>
            <a:off x="4800600" y="2185416"/>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Método constructivo considerado desde diseño geométrico</a:t>
            </a:r>
            <a:endParaRPr lang="en-US" sz="1100" dirty="0"/>
          </a:p>
        </p:txBody>
      </p:sp>
      <p:sp>
        <p:nvSpPr>
          <p:cNvPr id="12" name="Shape 10"/>
          <p:cNvSpPr/>
          <p:nvPr/>
        </p:nvSpPr>
        <p:spPr>
          <a:xfrm>
            <a:off x="365760" y="2852928"/>
            <a:ext cx="8412480" cy="1417320"/>
          </a:xfrm>
          <a:prstGeom prst="roundRect">
            <a:avLst>
              <a:gd name="adj" fmla="val 6452"/>
            </a:avLst>
          </a:prstGeom>
          <a:solidFill>
            <a:srgbClr val="2C2C2E"/>
          </a:solidFill>
          <a:ln w="25400">
            <a:solidFill>
              <a:srgbClr val="30D158"/>
            </a:solidFill>
            <a:prstDash val="solid"/>
          </a:ln>
        </p:spPr>
      </p:sp>
      <p:sp>
        <p:nvSpPr>
          <p:cNvPr id="13" name="Text 11"/>
          <p:cNvSpPr txBox="1"/>
          <p:nvPr/>
        </p:nvSpPr>
        <p:spPr>
          <a:xfrm>
            <a:off x="594360" y="2962656"/>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Puentes y Viaductos</a:t>
            </a:r>
            <a:endParaRPr lang="en-US" sz="1500" dirty="0"/>
          </a:p>
        </p:txBody>
      </p:sp>
      <p:sp>
        <p:nvSpPr>
          <p:cNvPr id="14" name="Text 12"/>
          <p:cNvSpPr txBox="1"/>
          <p:nvPr/>
        </p:nvSpPr>
        <p:spPr>
          <a:xfrm>
            <a:off x="594360" y="3355848"/>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Dovelas prefabricadas vs. concreto in situ: análisis constructabilidad</a:t>
            </a:r>
            <a:endParaRPr lang="en-US" sz="1100" dirty="0"/>
          </a:p>
        </p:txBody>
      </p:sp>
      <p:sp>
        <p:nvSpPr>
          <p:cNvPr id="15" name="Text 13"/>
          <p:cNvSpPr txBox="1"/>
          <p:nvPr/>
        </p:nvSpPr>
        <p:spPr>
          <a:xfrm>
            <a:off x="4800600" y="3355848"/>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Secuencia de izado y colocación de vigas definida en diseño</a:t>
            </a:r>
            <a:endParaRPr lang="en-US" sz="1100" dirty="0"/>
          </a:p>
        </p:txBody>
      </p:sp>
      <p:sp>
        <p:nvSpPr>
          <p:cNvPr id="16" name="Text 14"/>
          <p:cNvSpPr txBox="1"/>
          <p:nvPr/>
        </p:nvSpPr>
        <p:spPr>
          <a:xfrm>
            <a:off x="594360" y="3739896"/>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Acceso de equipos de montaje planificado</a:t>
            </a:r>
            <a:endParaRPr lang="en-US" sz="1100" dirty="0"/>
          </a:p>
        </p:txBody>
      </p:sp>
      <p:sp>
        <p:nvSpPr>
          <p:cNvPr id="17" name="Text 15"/>
          <p:cNvSpPr txBox="1"/>
          <p:nvPr/>
        </p:nvSpPr>
        <p:spPr>
          <a:xfrm>
            <a:off x="4800600" y="3739896"/>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Interferencia con tráfico existente resuelta en diseño</a:t>
            </a:r>
            <a:endParaRPr lang="en-US" sz="1100" dirty="0"/>
          </a:p>
        </p:txBody>
      </p:sp>
      <p:sp>
        <p:nvSpPr>
          <p:cNvPr id="18" name="Shape 16"/>
          <p:cNvSpPr/>
          <p:nvPr/>
        </p:nvSpPr>
        <p:spPr>
          <a:xfrm>
            <a:off x="365760" y="4407408"/>
            <a:ext cx="8412480" cy="1417320"/>
          </a:xfrm>
          <a:prstGeom prst="roundRect">
            <a:avLst>
              <a:gd name="adj" fmla="val 6452"/>
            </a:avLst>
          </a:prstGeom>
          <a:solidFill>
            <a:srgbClr val="2C2C2E"/>
          </a:solidFill>
          <a:ln w="25400">
            <a:solidFill>
              <a:srgbClr val="FF9500"/>
            </a:solidFill>
            <a:prstDash val="solid"/>
          </a:ln>
        </p:spPr>
      </p:sp>
      <p:sp>
        <p:nvSpPr>
          <p:cNvPr id="19" name="Text 17"/>
          <p:cNvSpPr txBox="1"/>
          <p:nvPr/>
        </p:nvSpPr>
        <p:spPr>
          <a:xfrm>
            <a:off x="594360" y="4517136"/>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Túneles</a:t>
            </a:r>
            <a:endParaRPr lang="en-US" sz="1500" dirty="0"/>
          </a:p>
        </p:txBody>
      </p:sp>
      <p:sp>
        <p:nvSpPr>
          <p:cNvPr id="20" name="Text 18"/>
          <p:cNvSpPr txBox="1"/>
          <p:nvPr/>
        </p:nvSpPr>
        <p:spPr>
          <a:xfrm>
            <a:off x="594360" y="4910328"/>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Método de excavación (NATM, TBM, cut-and-cover) define diseño</a:t>
            </a:r>
            <a:endParaRPr lang="en-US" sz="1100" dirty="0"/>
          </a:p>
        </p:txBody>
      </p:sp>
      <p:sp>
        <p:nvSpPr>
          <p:cNvPr id="21" name="Text 19"/>
          <p:cNvSpPr txBox="1"/>
          <p:nvPr/>
        </p:nvSpPr>
        <p:spPr>
          <a:xfrm>
            <a:off x="4800600" y="4910328"/>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Logística de extracción de material considerada</a:t>
            </a:r>
            <a:endParaRPr lang="en-US" sz="1100" dirty="0"/>
          </a:p>
        </p:txBody>
      </p:sp>
      <p:sp>
        <p:nvSpPr>
          <p:cNvPr id="22" name="Text 20"/>
          <p:cNvSpPr txBox="1"/>
          <p:nvPr/>
        </p:nvSpPr>
        <p:spPr>
          <a:xfrm>
            <a:off x="594360" y="5294376"/>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Ventilación provisional integrada con definitiva</a:t>
            </a:r>
            <a:endParaRPr lang="en-US" sz="1100" dirty="0"/>
          </a:p>
        </p:txBody>
      </p:sp>
      <p:sp>
        <p:nvSpPr>
          <p:cNvPr id="23" name="Text 21"/>
          <p:cNvSpPr txBox="1"/>
          <p:nvPr/>
        </p:nvSpPr>
        <p:spPr>
          <a:xfrm>
            <a:off x="4800600" y="5294376"/>
            <a:ext cx="4023360" cy="347472"/>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Segmentos de revestimiento estandarizados para velocidad</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en Plantas Industriales y Process</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1600200"/>
          </a:xfrm>
          <a:prstGeom prst="roundRect">
            <a:avLst>
              <a:gd name="adj" fmla="val 5714"/>
            </a:avLst>
          </a:prstGeom>
          <a:solidFill>
            <a:srgbClr val="2C2C2E"/>
          </a:solidFill>
          <a:ln w="25400">
            <a:solidFill>
              <a:srgbClr val="0A84FF"/>
            </a:solidFill>
            <a:prstDash val="solid"/>
          </a:ln>
        </p:spPr>
      </p:sp>
      <p:sp>
        <p:nvSpPr>
          <p:cNvPr id="6" name="Text 4"/>
          <p:cNvSpPr txBox="1"/>
          <p:nvPr/>
        </p:nvSpPr>
        <p:spPr>
          <a:xfrm>
            <a:off x="594360" y="1069848"/>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Oil &amp; Gas / Petroquímica</a:t>
            </a:r>
            <a:endParaRPr lang="en-US" sz="1500" dirty="0"/>
          </a:p>
        </p:txBody>
      </p:sp>
      <p:sp>
        <p:nvSpPr>
          <p:cNvPr id="7" name="Text 5"/>
          <p:cNvSpPr txBox="1"/>
          <p:nvPr/>
        </p:nvSpPr>
        <p:spPr>
          <a:xfrm>
            <a:off x="594360" y="146304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Modularización offshore/onshore (topside modules, compressor skids)</a:t>
            </a:r>
            <a:endParaRPr lang="en-US" sz="1100" dirty="0"/>
          </a:p>
        </p:txBody>
      </p:sp>
      <p:sp>
        <p:nvSpPr>
          <p:cNvPr id="8" name="Text 6"/>
          <p:cNvSpPr txBox="1"/>
          <p:nvPr/>
        </p:nvSpPr>
        <p:spPr>
          <a:xfrm>
            <a:off x="4800600" y="146304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Secuencia de montaje de estructuras metálicas pesadas</a:t>
            </a:r>
            <a:endParaRPr lang="en-US" sz="1100" dirty="0"/>
          </a:p>
        </p:txBody>
      </p:sp>
      <p:sp>
        <p:nvSpPr>
          <p:cNvPr id="9" name="Text 7"/>
          <p:cNvSpPr txBox="1"/>
          <p:nvPr/>
        </p:nvSpPr>
        <p:spPr>
          <a:xfrm>
            <a:off x="594360" y="192024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Gestión de hot work y safety en ambientes ATEX</a:t>
            </a:r>
            <a:endParaRPr lang="en-US" sz="1100" dirty="0"/>
          </a:p>
        </p:txBody>
      </p:sp>
      <p:sp>
        <p:nvSpPr>
          <p:cNvPr id="10" name="Text 8"/>
          <p:cNvSpPr txBox="1"/>
          <p:nvPr/>
        </p:nvSpPr>
        <p:spPr>
          <a:xfrm>
            <a:off x="4800600" y="192024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Tie-ins planificados para minimizar paradas de planta</a:t>
            </a:r>
            <a:endParaRPr lang="en-US" sz="1100" dirty="0"/>
          </a:p>
        </p:txBody>
      </p:sp>
      <p:sp>
        <p:nvSpPr>
          <p:cNvPr id="11" name="Shape 9"/>
          <p:cNvSpPr/>
          <p:nvPr/>
        </p:nvSpPr>
        <p:spPr>
          <a:xfrm>
            <a:off x="365760" y="2697480"/>
            <a:ext cx="8412480" cy="1600200"/>
          </a:xfrm>
          <a:prstGeom prst="roundRect">
            <a:avLst>
              <a:gd name="adj" fmla="val 5714"/>
            </a:avLst>
          </a:prstGeom>
          <a:solidFill>
            <a:srgbClr val="2C2C2E"/>
          </a:solidFill>
          <a:ln w="25400">
            <a:solidFill>
              <a:srgbClr val="FF9500"/>
            </a:solidFill>
            <a:prstDash val="solid"/>
          </a:ln>
        </p:spPr>
      </p:sp>
      <p:sp>
        <p:nvSpPr>
          <p:cNvPr id="12" name="Text 10"/>
          <p:cNvSpPr txBox="1"/>
          <p:nvPr/>
        </p:nvSpPr>
        <p:spPr>
          <a:xfrm>
            <a:off x="594360" y="2807208"/>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Minería y Procesamiento</a:t>
            </a:r>
            <a:endParaRPr lang="en-US" sz="1500" dirty="0"/>
          </a:p>
        </p:txBody>
      </p:sp>
      <p:sp>
        <p:nvSpPr>
          <p:cNvPr id="13" name="Text 11"/>
          <p:cNvSpPr txBox="1"/>
          <p:nvPr/>
        </p:nvSpPr>
        <p:spPr>
          <a:xfrm>
            <a:off x="594360" y="320040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Acceso remoto: equipos de gran porte, logística de transporte</a:t>
            </a:r>
            <a:endParaRPr lang="en-US" sz="1100" dirty="0"/>
          </a:p>
        </p:txBody>
      </p:sp>
      <p:sp>
        <p:nvSpPr>
          <p:cNvPr id="14" name="Text 12"/>
          <p:cNvSpPr txBox="1"/>
          <p:nvPr/>
        </p:nvSpPr>
        <p:spPr>
          <a:xfrm>
            <a:off x="4800600" y="320040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Fundaciones de molinos y equipos críticos: secuencia detallada</a:t>
            </a:r>
            <a:endParaRPr lang="en-US" sz="1100" dirty="0"/>
          </a:p>
        </p:txBody>
      </p:sp>
      <p:sp>
        <p:nvSpPr>
          <p:cNvPr id="15" name="Text 13"/>
          <p:cNvSpPr txBox="1"/>
          <p:nvPr/>
        </p:nvSpPr>
        <p:spPr>
          <a:xfrm>
            <a:off x="594360" y="365760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Conveyors y estructuras metálicas en terrenos difíciles</a:t>
            </a:r>
            <a:endParaRPr lang="en-US" sz="1100" dirty="0"/>
          </a:p>
        </p:txBody>
      </p:sp>
      <p:sp>
        <p:nvSpPr>
          <p:cNvPr id="16" name="Text 14"/>
          <p:cNvSpPr txBox="1"/>
          <p:nvPr/>
        </p:nvSpPr>
        <p:spPr>
          <a:xfrm>
            <a:off x="4800600" y="365760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Pre-ensamble de subestaciones eléctricas en taller</a:t>
            </a:r>
            <a:endParaRPr lang="en-US" sz="1100" dirty="0"/>
          </a:p>
        </p:txBody>
      </p:sp>
      <p:sp>
        <p:nvSpPr>
          <p:cNvPr id="17" name="Shape 15"/>
          <p:cNvSpPr/>
          <p:nvPr/>
        </p:nvSpPr>
        <p:spPr>
          <a:xfrm>
            <a:off x="365760" y="4434840"/>
            <a:ext cx="8412480" cy="1600200"/>
          </a:xfrm>
          <a:prstGeom prst="roundRect">
            <a:avLst>
              <a:gd name="adj" fmla="val 5714"/>
            </a:avLst>
          </a:prstGeom>
          <a:solidFill>
            <a:srgbClr val="2C2C2E"/>
          </a:solidFill>
          <a:ln w="25400">
            <a:solidFill>
              <a:srgbClr val="30D158"/>
            </a:solidFill>
            <a:prstDash val="solid"/>
          </a:ln>
        </p:spPr>
      </p:sp>
      <p:sp>
        <p:nvSpPr>
          <p:cNvPr id="18" name="Text 16"/>
          <p:cNvSpPr txBox="1"/>
          <p:nvPr/>
        </p:nvSpPr>
        <p:spPr>
          <a:xfrm>
            <a:off x="594360" y="4544568"/>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Energía (Plantas Power)</a:t>
            </a:r>
            <a:endParaRPr lang="en-US" sz="1500" dirty="0"/>
          </a:p>
        </p:txBody>
      </p:sp>
      <p:sp>
        <p:nvSpPr>
          <p:cNvPr id="19" name="Text 17"/>
          <p:cNvSpPr txBox="1"/>
          <p:nvPr/>
        </p:nvSpPr>
        <p:spPr>
          <a:xfrm>
            <a:off x="594360" y="493776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Secuencia de montaje de turbinas y generadores</a:t>
            </a:r>
            <a:endParaRPr lang="en-US" sz="1100" dirty="0"/>
          </a:p>
        </p:txBody>
      </p:sp>
      <p:sp>
        <p:nvSpPr>
          <p:cNvPr id="20" name="Text 18"/>
          <p:cNvSpPr txBox="1"/>
          <p:nvPr/>
        </p:nvSpPr>
        <p:spPr>
          <a:xfrm>
            <a:off x="4800600" y="493776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Sistemas de enfriamiento: obra civil + mecánica integradas</a:t>
            </a:r>
            <a:endParaRPr lang="en-US" sz="1100" dirty="0"/>
          </a:p>
        </p:txBody>
      </p:sp>
      <p:sp>
        <p:nvSpPr>
          <p:cNvPr id="21" name="Text 19"/>
          <p:cNvSpPr txBox="1"/>
          <p:nvPr/>
        </p:nvSpPr>
        <p:spPr>
          <a:xfrm>
            <a:off x="594360" y="539496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Tendido de cable de alta tensión planificado desde diseño</a:t>
            </a:r>
            <a:endParaRPr lang="en-US" sz="1100" dirty="0"/>
          </a:p>
        </p:txBody>
      </p:sp>
      <p:sp>
        <p:nvSpPr>
          <p:cNvPr id="22" name="Text 20"/>
          <p:cNvSpPr txBox="1"/>
          <p:nvPr/>
        </p:nvSpPr>
        <p:spPr>
          <a:xfrm>
            <a:off x="4800600" y="5394960"/>
            <a:ext cx="4023360" cy="41148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Comisionamiento por fases considerado en diseño de sistemas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109</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Gestión del Conocimiento: Base de Datos LLDB</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La Lessons Learned Database (LLDB) es el corazón del aprendizaje organizacional en constructabilidad:</a:t>
            </a:r>
            <a:endParaRPr lang="en-US" sz="1300" dirty="0"/>
          </a:p>
        </p:txBody>
      </p:sp>
      <p:sp>
        <p:nvSpPr>
          <p:cNvPr id="6" name="Shape 4"/>
          <p:cNvSpPr/>
          <p:nvPr/>
        </p:nvSpPr>
        <p:spPr>
          <a:xfrm>
            <a:off x="365760" y="1298448"/>
            <a:ext cx="2651760" cy="1508760"/>
          </a:xfrm>
          <a:prstGeom prst="roundRect">
            <a:avLst>
              <a:gd name="adj" fmla="val 6061"/>
            </a:avLst>
          </a:prstGeom>
          <a:solidFill>
            <a:srgbClr val="2C2C2E"/>
          </a:solidFill>
          <a:ln w="25400">
            <a:solidFill>
              <a:srgbClr val="0A84FF"/>
            </a:solidFill>
            <a:prstDash val="solid"/>
          </a:ln>
        </p:spPr>
      </p:sp>
      <p:sp>
        <p:nvSpPr>
          <p:cNvPr id="7" name="Text 5"/>
          <p:cNvSpPr txBox="1"/>
          <p:nvPr/>
        </p:nvSpPr>
        <p:spPr>
          <a:xfrm>
            <a:off x="502920" y="1408176"/>
            <a:ext cx="502920" cy="384048"/>
          </a:xfrm>
          <a:prstGeom prst="rect">
            <a:avLst/>
          </a:prstGeom>
          <a:noFill/>
          <a:ln/>
        </p:spPr>
        <p:txBody>
          <a:bodyPr wrap="square" lIns="0" tIns="0" rIns="0" bIns="0" rtlCol="0" anchor="ctr"/>
          <a:lstStyle/>
          <a:p>
            <a:pPr indent="0" marL="0">
              <a:buNone/>
            </a:pPr>
            <a:r>
              <a:rPr lang="en-US" sz="2000" b="1" dirty="0">
                <a:solidFill>
                  <a:srgbClr val="0A84FF"/>
                </a:solidFill>
                <a:latin typeface="Atkinson Hyperlegible" pitchFamily="34" charset="0"/>
                <a:ea typeface="Atkinson Hyperlegible" pitchFamily="34" charset="-122"/>
                <a:cs typeface="Atkinson Hyperlegible" pitchFamily="34" charset="-120"/>
              </a:rPr>
              <a:t>01</a:t>
            </a:r>
            <a:endParaRPr lang="en-US" sz="2000" dirty="0"/>
          </a:p>
        </p:txBody>
      </p:sp>
      <p:sp>
        <p:nvSpPr>
          <p:cNvPr id="8" name="Text 6"/>
          <p:cNvSpPr txBox="1"/>
          <p:nvPr/>
        </p:nvSpPr>
        <p:spPr>
          <a:xfrm>
            <a:off x="1051560" y="1435608"/>
            <a:ext cx="182880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Captura</a:t>
            </a:r>
            <a:endParaRPr lang="en-US" sz="1400" dirty="0"/>
          </a:p>
        </p:txBody>
      </p:sp>
      <p:sp>
        <p:nvSpPr>
          <p:cNvPr id="9" name="Text 7"/>
          <p:cNvSpPr txBox="1"/>
          <p:nvPr/>
        </p:nvSpPr>
        <p:spPr>
          <a:xfrm>
            <a:off x="502920" y="1865376"/>
            <a:ext cx="2377440" cy="841248"/>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Ideas y observaciones de constructabilidad se registran en campo y diseño mediante formularios estándar</a:t>
            </a:r>
            <a:endParaRPr lang="en-US" sz="1000" dirty="0"/>
          </a:p>
        </p:txBody>
      </p:sp>
      <p:sp>
        <p:nvSpPr>
          <p:cNvPr id="10" name="Shape 8"/>
          <p:cNvSpPr/>
          <p:nvPr/>
        </p:nvSpPr>
        <p:spPr>
          <a:xfrm>
            <a:off x="3246120" y="1298448"/>
            <a:ext cx="2651760" cy="1508760"/>
          </a:xfrm>
          <a:prstGeom prst="roundRect">
            <a:avLst>
              <a:gd name="adj" fmla="val 6061"/>
            </a:avLst>
          </a:prstGeom>
          <a:solidFill>
            <a:srgbClr val="2C2C2E"/>
          </a:solidFill>
          <a:ln w="25400">
            <a:solidFill>
              <a:srgbClr val="30D158"/>
            </a:solidFill>
            <a:prstDash val="solid"/>
          </a:ln>
        </p:spPr>
      </p:sp>
      <p:sp>
        <p:nvSpPr>
          <p:cNvPr id="11" name="Text 9"/>
          <p:cNvSpPr txBox="1"/>
          <p:nvPr/>
        </p:nvSpPr>
        <p:spPr>
          <a:xfrm>
            <a:off x="3383280" y="1408176"/>
            <a:ext cx="502920" cy="384048"/>
          </a:xfrm>
          <a:prstGeom prst="rect">
            <a:avLst/>
          </a:prstGeom>
          <a:noFill/>
          <a:ln/>
        </p:spPr>
        <p:txBody>
          <a:bodyPr wrap="square" lIns="0" tIns="0" rIns="0" bIns="0" rtlCol="0" anchor="ctr"/>
          <a:lstStyle/>
          <a:p>
            <a:pPr indent="0" marL="0">
              <a:buNone/>
            </a:pPr>
            <a:r>
              <a:rPr lang="en-US" sz="2000" b="1" dirty="0">
                <a:solidFill>
                  <a:srgbClr val="30D158"/>
                </a:solidFill>
                <a:latin typeface="Atkinson Hyperlegible" pitchFamily="34" charset="0"/>
                <a:ea typeface="Atkinson Hyperlegible" pitchFamily="34" charset="-122"/>
                <a:cs typeface="Atkinson Hyperlegible" pitchFamily="34" charset="-120"/>
              </a:rPr>
              <a:t>02</a:t>
            </a:r>
            <a:endParaRPr lang="en-US" sz="2000" dirty="0"/>
          </a:p>
        </p:txBody>
      </p:sp>
      <p:sp>
        <p:nvSpPr>
          <p:cNvPr id="12" name="Text 10"/>
          <p:cNvSpPr txBox="1"/>
          <p:nvPr/>
        </p:nvSpPr>
        <p:spPr>
          <a:xfrm>
            <a:off x="3931920" y="1435608"/>
            <a:ext cx="182880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Clasificación</a:t>
            </a:r>
            <a:endParaRPr lang="en-US" sz="1400" dirty="0"/>
          </a:p>
        </p:txBody>
      </p:sp>
      <p:sp>
        <p:nvSpPr>
          <p:cNvPr id="13" name="Text 11"/>
          <p:cNvSpPr txBox="1"/>
          <p:nvPr/>
        </p:nvSpPr>
        <p:spPr>
          <a:xfrm>
            <a:off x="3383280" y="1865376"/>
            <a:ext cx="2377440" cy="841248"/>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Cada lección se categoriza por fase (I/II/III), concepto CII, tipo de proyecto y sector industrial</a:t>
            </a:r>
            <a:endParaRPr lang="en-US" sz="1000" dirty="0"/>
          </a:p>
        </p:txBody>
      </p:sp>
      <p:sp>
        <p:nvSpPr>
          <p:cNvPr id="14" name="Shape 12"/>
          <p:cNvSpPr/>
          <p:nvPr/>
        </p:nvSpPr>
        <p:spPr>
          <a:xfrm>
            <a:off x="6126480" y="1298448"/>
            <a:ext cx="2651760" cy="1508760"/>
          </a:xfrm>
          <a:prstGeom prst="roundRect">
            <a:avLst>
              <a:gd name="adj" fmla="val 6061"/>
            </a:avLst>
          </a:prstGeom>
          <a:solidFill>
            <a:srgbClr val="2C2C2E"/>
          </a:solidFill>
          <a:ln w="25400">
            <a:solidFill>
              <a:srgbClr val="FF9500"/>
            </a:solidFill>
            <a:prstDash val="solid"/>
          </a:ln>
        </p:spPr>
      </p:sp>
      <p:sp>
        <p:nvSpPr>
          <p:cNvPr id="15" name="Text 13"/>
          <p:cNvSpPr txBox="1"/>
          <p:nvPr/>
        </p:nvSpPr>
        <p:spPr>
          <a:xfrm>
            <a:off x="6263640" y="1408176"/>
            <a:ext cx="502920" cy="384048"/>
          </a:xfrm>
          <a:prstGeom prst="rect">
            <a:avLst/>
          </a:prstGeom>
          <a:noFill/>
          <a:ln/>
        </p:spPr>
        <p:txBody>
          <a:bodyPr wrap="square" lIns="0" tIns="0" rIns="0" bIns="0" rtlCol="0" anchor="ctr"/>
          <a:lstStyle/>
          <a:p>
            <a:pPr indent="0" marL="0">
              <a:buNone/>
            </a:pPr>
            <a:r>
              <a:rPr lang="en-US" sz="2000" b="1" dirty="0">
                <a:solidFill>
                  <a:srgbClr val="FF9500"/>
                </a:solidFill>
                <a:latin typeface="Atkinson Hyperlegible" pitchFamily="34" charset="0"/>
                <a:ea typeface="Atkinson Hyperlegible" pitchFamily="34" charset="-122"/>
                <a:cs typeface="Atkinson Hyperlegible" pitchFamily="34" charset="-120"/>
              </a:rPr>
              <a:t>03</a:t>
            </a:r>
            <a:endParaRPr lang="en-US" sz="2000" dirty="0"/>
          </a:p>
        </p:txBody>
      </p:sp>
      <p:sp>
        <p:nvSpPr>
          <p:cNvPr id="16" name="Text 14"/>
          <p:cNvSpPr txBox="1"/>
          <p:nvPr/>
        </p:nvSpPr>
        <p:spPr>
          <a:xfrm>
            <a:off x="6812280" y="1435608"/>
            <a:ext cx="182880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Validación</a:t>
            </a:r>
            <a:endParaRPr lang="en-US" sz="1400" dirty="0"/>
          </a:p>
        </p:txBody>
      </p:sp>
      <p:sp>
        <p:nvSpPr>
          <p:cNvPr id="17" name="Text 15"/>
          <p:cNvSpPr txBox="1"/>
          <p:nvPr/>
        </p:nvSpPr>
        <p:spPr>
          <a:xfrm>
            <a:off x="6263640" y="1865376"/>
            <a:ext cx="2377440" cy="841248"/>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El equipo constructabilidad revisa, valida y cuantifica el ahorro/beneficio de cada lección</a:t>
            </a:r>
            <a:endParaRPr lang="en-US" sz="1000" dirty="0"/>
          </a:p>
        </p:txBody>
      </p:sp>
      <p:sp>
        <p:nvSpPr>
          <p:cNvPr id="18" name="Shape 16"/>
          <p:cNvSpPr/>
          <p:nvPr/>
        </p:nvSpPr>
        <p:spPr>
          <a:xfrm>
            <a:off x="365760" y="2990088"/>
            <a:ext cx="2651760" cy="1508760"/>
          </a:xfrm>
          <a:prstGeom prst="roundRect">
            <a:avLst>
              <a:gd name="adj" fmla="val 6061"/>
            </a:avLst>
          </a:prstGeom>
          <a:solidFill>
            <a:srgbClr val="2C2C2E"/>
          </a:solidFill>
          <a:ln w="25400">
            <a:solidFill>
              <a:srgbClr val="FFD60A"/>
            </a:solidFill>
            <a:prstDash val="solid"/>
          </a:ln>
        </p:spPr>
      </p:sp>
      <p:sp>
        <p:nvSpPr>
          <p:cNvPr id="19" name="Text 17"/>
          <p:cNvSpPr txBox="1"/>
          <p:nvPr/>
        </p:nvSpPr>
        <p:spPr>
          <a:xfrm>
            <a:off x="502920" y="3099816"/>
            <a:ext cx="502920" cy="384048"/>
          </a:xfrm>
          <a:prstGeom prst="rect">
            <a:avLst/>
          </a:prstGeom>
          <a:noFill/>
          <a:ln/>
        </p:spPr>
        <p:txBody>
          <a:bodyPr wrap="square" lIns="0" tIns="0" rIns="0" bIns="0" rtlCol="0" anchor="ctr"/>
          <a:lstStyle/>
          <a:p>
            <a:pPr indent="0" marL="0">
              <a:buNone/>
            </a:pPr>
            <a:r>
              <a:rPr lang="en-US" sz="2000" b="1" dirty="0">
                <a:solidFill>
                  <a:srgbClr val="FFD60A"/>
                </a:solidFill>
                <a:latin typeface="Atkinson Hyperlegible" pitchFamily="34" charset="0"/>
                <a:ea typeface="Atkinson Hyperlegible" pitchFamily="34" charset="-122"/>
                <a:cs typeface="Atkinson Hyperlegible" pitchFamily="34" charset="-120"/>
              </a:rPr>
              <a:t>04</a:t>
            </a:r>
            <a:endParaRPr lang="en-US" sz="2000" dirty="0"/>
          </a:p>
        </p:txBody>
      </p:sp>
      <p:sp>
        <p:nvSpPr>
          <p:cNvPr id="20" name="Text 18"/>
          <p:cNvSpPr txBox="1"/>
          <p:nvPr/>
        </p:nvSpPr>
        <p:spPr>
          <a:xfrm>
            <a:off x="1051560" y="3127248"/>
            <a:ext cx="182880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Diseminación</a:t>
            </a:r>
            <a:endParaRPr lang="en-US" sz="1400" dirty="0"/>
          </a:p>
        </p:txBody>
      </p:sp>
      <p:sp>
        <p:nvSpPr>
          <p:cNvPr id="21" name="Text 19"/>
          <p:cNvSpPr txBox="1"/>
          <p:nvPr/>
        </p:nvSpPr>
        <p:spPr>
          <a:xfrm>
            <a:off x="502920" y="3557016"/>
            <a:ext cx="2377440" cy="841248"/>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Lecciones aprobadas se comparten en talleres, boletines técnicos y plataformas digitales internas</a:t>
            </a:r>
            <a:endParaRPr lang="en-US" sz="1000" dirty="0"/>
          </a:p>
        </p:txBody>
      </p:sp>
      <p:sp>
        <p:nvSpPr>
          <p:cNvPr id="22" name="Shape 20"/>
          <p:cNvSpPr/>
          <p:nvPr/>
        </p:nvSpPr>
        <p:spPr>
          <a:xfrm>
            <a:off x="3246120" y="2990088"/>
            <a:ext cx="2651760" cy="1508760"/>
          </a:xfrm>
          <a:prstGeom prst="roundRect">
            <a:avLst>
              <a:gd name="adj" fmla="val 6061"/>
            </a:avLst>
          </a:prstGeom>
          <a:solidFill>
            <a:srgbClr val="2C2C2E"/>
          </a:solidFill>
          <a:ln w="25400">
            <a:solidFill>
              <a:srgbClr val="AF52DE"/>
            </a:solidFill>
            <a:prstDash val="solid"/>
          </a:ln>
        </p:spPr>
      </p:sp>
      <p:sp>
        <p:nvSpPr>
          <p:cNvPr id="23" name="Text 21"/>
          <p:cNvSpPr txBox="1"/>
          <p:nvPr/>
        </p:nvSpPr>
        <p:spPr>
          <a:xfrm>
            <a:off x="3383280" y="3099816"/>
            <a:ext cx="502920" cy="384048"/>
          </a:xfrm>
          <a:prstGeom prst="rect">
            <a:avLst/>
          </a:prstGeom>
          <a:noFill/>
          <a:ln/>
        </p:spPr>
        <p:txBody>
          <a:bodyPr wrap="square" lIns="0" tIns="0" rIns="0" bIns="0" rtlCol="0" anchor="ctr"/>
          <a:lstStyle/>
          <a:p>
            <a:pPr indent="0" marL="0">
              <a:buNone/>
            </a:pPr>
            <a:r>
              <a:rPr lang="en-US" sz="2000" b="1" dirty="0">
                <a:solidFill>
                  <a:srgbClr val="AF52DE"/>
                </a:solidFill>
                <a:latin typeface="Atkinson Hyperlegible" pitchFamily="34" charset="0"/>
                <a:ea typeface="Atkinson Hyperlegible" pitchFamily="34" charset="-122"/>
                <a:cs typeface="Atkinson Hyperlegible" pitchFamily="34" charset="-120"/>
              </a:rPr>
              <a:t>05</a:t>
            </a:r>
            <a:endParaRPr lang="en-US" sz="2000" dirty="0"/>
          </a:p>
        </p:txBody>
      </p:sp>
      <p:sp>
        <p:nvSpPr>
          <p:cNvPr id="24" name="Text 22"/>
          <p:cNvSpPr txBox="1"/>
          <p:nvPr/>
        </p:nvSpPr>
        <p:spPr>
          <a:xfrm>
            <a:off x="3931920" y="3127248"/>
            <a:ext cx="182880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Aplicación</a:t>
            </a:r>
            <a:endParaRPr lang="en-US" sz="1400" dirty="0"/>
          </a:p>
        </p:txBody>
      </p:sp>
      <p:sp>
        <p:nvSpPr>
          <p:cNvPr id="25" name="Text 23"/>
          <p:cNvSpPr txBox="1"/>
          <p:nvPr/>
        </p:nvSpPr>
        <p:spPr>
          <a:xfrm>
            <a:off x="3383280" y="3557016"/>
            <a:ext cx="2377440" cy="841248"/>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En proyectos nuevos, el equipo consulta LLDB durante revisiones de constructabilidad y FEL</a:t>
            </a:r>
            <a:endParaRPr lang="en-US" sz="1000" dirty="0"/>
          </a:p>
        </p:txBody>
      </p:sp>
      <p:sp>
        <p:nvSpPr>
          <p:cNvPr id="26" name="Shape 24"/>
          <p:cNvSpPr/>
          <p:nvPr/>
        </p:nvSpPr>
        <p:spPr>
          <a:xfrm>
            <a:off x="6126480" y="2990088"/>
            <a:ext cx="2651760" cy="1508760"/>
          </a:xfrm>
          <a:prstGeom prst="roundRect">
            <a:avLst>
              <a:gd name="adj" fmla="val 6061"/>
            </a:avLst>
          </a:prstGeom>
          <a:solidFill>
            <a:srgbClr val="2C2C2E"/>
          </a:solidFill>
          <a:ln w="25400">
            <a:solidFill>
              <a:srgbClr val="FF453A"/>
            </a:solidFill>
            <a:prstDash val="solid"/>
          </a:ln>
        </p:spPr>
      </p:sp>
      <p:sp>
        <p:nvSpPr>
          <p:cNvPr id="27" name="Text 25"/>
          <p:cNvSpPr txBox="1"/>
          <p:nvPr/>
        </p:nvSpPr>
        <p:spPr>
          <a:xfrm>
            <a:off x="6263640" y="3099816"/>
            <a:ext cx="502920" cy="384048"/>
          </a:xfrm>
          <a:prstGeom prst="rect">
            <a:avLst/>
          </a:prstGeom>
          <a:noFill/>
          <a:ln/>
        </p:spPr>
        <p:txBody>
          <a:bodyPr wrap="square" lIns="0" tIns="0" rIns="0" bIns="0" rtlCol="0" anchor="ctr"/>
          <a:lstStyle/>
          <a:p>
            <a:pPr indent="0" marL="0">
              <a:buNone/>
            </a:pPr>
            <a:r>
              <a:rPr lang="en-US" sz="2000" b="1" dirty="0">
                <a:solidFill>
                  <a:srgbClr val="FF453A"/>
                </a:solidFill>
                <a:latin typeface="Atkinson Hyperlegible" pitchFamily="34" charset="0"/>
                <a:ea typeface="Atkinson Hyperlegible" pitchFamily="34" charset="-122"/>
                <a:cs typeface="Atkinson Hyperlegible" pitchFamily="34" charset="-120"/>
              </a:rPr>
              <a:t>06</a:t>
            </a:r>
            <a:endParaRPr lang="en-US" sz="2000" dirty="0"/>
          </a:p>
        </p:txBody>
      </p:sp>
      <p:sp>
        <p:nvSpPr>
          <p:cNvPr id="28" name="Text 26"/>
          <p:cNvSpPr txBox="1"/>
          <p:nvPr/>
        </p:nvSpPr>
        <p:spPr>
          <a:xfrm>
            <a:off x="6812280" y="3127248"/>
            <a:ext cx="1828800" cy="347472"/>
          </a:xfrm>
          <a:prstGeom prst="rect">
            <a:avLst/>
          </a:prstGeom>
          <a:noFill/>
          <a:ln/>
        </p:spPr>
        <p:txBody>
          <a:bodyPr wrap="square" lIns="0" tIns="0" rIns="0" bIns="0" rtlCol="0" anchor="ctr"/>
          <a:lstStyle/>
          <a:p>
            <a:pPr indent="0" marL="0">
              <a:buNone/>
            </a:pPr>
            <a:r>
              <a:rPr lang="en-US" sz="1400" b="1" dirty="0">
                <a:solidFill>
                  <a:srgbClr val="FFFFFF"/>
                </a:solidFill>
                <a:latin typeface="Atkinson Hyperlegible" pitchFamily="34" charset="0"/>
                <a:ea typeface="Atkinson Hyperlegible" pitchFamily="34" charset="-122"/>
                <a:cs typeface="Atkinson Hyperlegible" pitchFamily="34" charset="-120"/>
              </a:rPr>
              <a:t>Medición</a:t>
            </a:r>
            <a:endParaRPr lang="en-US" sz="1400" dirty="0"/>
          </a:p>
        </p:txBody>
      </p:sp>
      <p:sp>
        <p:nvSpPr>
          <p:cNvPr id="29" name="Text 27"/>
          <p:cNvSpPr txBox="1"/>
          <p:nvPr/>
        </p:nvSpPr>
        <p:spPr>
          <a:xfrm>
            <a:off x="6263640" y="3557016"/>
            <a:ext cx="2377440" cy="841248"/>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Se mide la tasa de reutilización y el ahorro acumulado para justificar el programa</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Factores Críticos de Éxito del Programa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CII SP 34-1 identifica 8 factores que determinan si un programa de constructabilidad prospera o fracasa:</a:t>
            </a:r>
            <a:endParaRPr lang="en-US" sz="1300" dirty="0"/>
          </a:p>
        </p:txBody>
      </p:sp>
      <p:sp>
        <p:nvSpPr>
          <p:cNvPr id="6" name="Shape 4"/>
          <p:cNvSpPr/>
          <p:nvPr/>
        </p:nvSpPr>
        <p:spPr>
          <a:xfrm>
            <a:off x="365760" y="1298448"/>
            <a:ext cx="4160520" cy="1051560"/>
          </a:xfrm>
          <a:prstGeom prst="roundRect">
            <a:avLst>
              <a:gd name="adj" fmla="val 6957"/>
            </a:avLst>
          </a:prstGeom>
          <a:solidFill>
            <a:srgbClr val="2C2C2E"/>
          </a:solidFill>
          <a:ln w="12700">
            <a:solidFill>
              <a:srgbClr val="FF453A"/>
            </a:solidFill>
            <a:prstDash val="solid"/>
          </a:ln>
        </p:spPr>
      </p:sp>
      <p:sp>
        <p:nvSpPr>
          <p:cNvPr id="7" name="Text 5"/>
          <p:cNvSpPr txBox="1"/>
          <p:nvPr/>
        </p:nvSpPr>
        <p:spPr>
          <a:xfrm>
            <a:off x="502920" y="1408176"/>
            <a:ext cx="411480" cy="365760"/>
          </a:xfrm>
          <a:prstGeom prst="rect">
            <a:avLst/>
          </a:prstGeom>
          <a:noFill/>
          <a:ln/>
        </p:spPr>
        <p:txBody>
          <a:bodyPr wrap="square" lIns="0" tIns="0" rIns="0" bIns="0" rtlCol="0" anchor="ctr"/>
          <a:lstStyle/>
          <a:p>
            <a:pPr indent="0" marL="0">
              <a:buNone/>
            </a:pPr>
            <a:r>
              <a:rPr lang="en-US" sz="1800" b="1" dirty="0">
                <a:solidFill>
                  <a:srgbClr val="FF453A"/>
                </a:solidFill>
                <a:latin typeface="Atkinson Hyperlegible" pitchFamily="34" charset="0"/>
                <a:ea typeface="Atkinson Hyperlegible" pitchFamily="34" charset="-122"/>
                <a:cs typeface="Atkinson Hyperlegible" pitchFamily="34" charset="-120"/>
              </a:rPr>
              <a:t>1</a:t>
            </a:r>
            <a:endParaRPr lang="en-US" sz="1800" dirty="0"/>
          </a:p>
        </p:txBody>
      </p:sp>
      <p:sp>
        <p:nvSpPr>
          <p:cNvPr id="8" name="Text 6"/>
          <p:cNvSpPr txBox="1"/>
          <p:nvPr/>
        </p:nvSpPr>
        <p:spPr>
          <a:xfrm>
            <a:off x="960120" y="1389888"/>
            <a:ext cx="34290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Patrocinio Ejecutivo</a:t>
            </a:r>
            <a:endParaRPr lang="en-US" sz="1300" dirty="0"/>
          </a:p>
        </p:txBody>
      </p:sp>
      <p:sp>
        <p:nvSpPr>
          <p:cNvPr id="9" name="Text 7"/>
          <p:cNvSpPr txBox="1"/>
          <p:nvPr/>
        </p:nvSpPr>
        <p:spPr>
          <a:xfrm>
            <a:off x="502920" y="1755648"/>
            <a:ext cx="388620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El CEO / Project Director debe creer, defender y financiar activamente el programa. Sin esto, todo esfuerzo es frágil.</a:t>
            </a:r>
            <a:endParaRPr lang="en-US" sz="1050" dirty="0"/>
          </a:p>
        </p:txBody>
      </p:sp>
      <p:sp>
        <p:nvSpPr>
          <p:cNvPr id="10" name="Shape 8"/>
          <p:cNvSpPr/>
          <p:nvPr/>
        </p:nvSpPr>
        <p:spPr>
          <a:xfrm>
            <a:off x="4754880" y="1298448"/>
            <a:ext cx="4160520" cy="1051560"/>
          </a:xfrm>
          <a:prstGeom prst="roundRect">
            <a:avLst>
              <a:gd name="adj" fmla="val 6957"/>
            </a:avLst>
          </a:prstGeom>
          <a:solidFill>
            <a:srgbClr val="2C2C2E"/>
          </a:solidFill>
          <a:ln w="12700">
            <a:solidFill>
              <a:srgbClr val="FF9500"/>
            </a:solidFill>
            <a:prstDash val="solid"/>
          </a:ln>
        </p:spPr>
      </p:sp>
      <p:sp>
        <p:nvSpPr>
          <p:cNvPr id="11" name="Text 9"/>
          <p:cNvSpPr txBox="1"/>
          <p:nvPr/>
        </p:nvSpPr>
        <p:spPr>
          <a:xfrm>
            <a:off x="4892040" y="1408176"/>
            <a:ext cx="411480" cy="365760"/>
          </a:xfrm>
          <a:prstGeom prst="rect">
            <a:avLst/>
          </a:prstGeom>
          <a:noFill/>
          <a:ln/>
        </p:spPr>
        <p:txBody>
          <a:bodyPr wrap="square" lIns="0" tIns="0" rIns="0" bIns="0" rtlCol="0" anchor="ctr"/>
          <a:lstStyle/>
          <a:p>
            <a:pPr indent="0" marL="0">
              <a:buNone/>
            </a:pPr>
            <a:r>
              <a:rPr lang="en-US" sz="1800" b="1" dirty="0">
                <a:solidFill>
                  <a:srgbClr val="FF9500"/>
                </a:solidFill>
                <a:latin typeface="Atkinson Hyperlegible" pitchFamily="34" charset="0"/>
                <a:ea typeface="Atkinson Hyperlegible" pitchFamily="34" charset="-122"/>
                <a:cs typeface="Atkinson Hyperlegible" pitchFamily="34" charset="-120"/>
              </a:rPr>
              <a:t>2</a:t>
            </a:r>
            <a:endParaRPr lang="en-US" sz="1800" dirty="0"/>
          </a:p>
        </p:txBody>
      </p:sp>
      <p:sp>
        <p:nvSpPr>
          <p:cNvPr id="12" name="Text 10"/>
          <p:cNvSpPr txBox="1"/>
          <p:nvPr/>
        </p:nvSpPr>
        <p:spPr>
          <a:xfrm>
            <a:off x="5349240" y="1389888"/>
            <a:ext cx="34290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Integración desde FEL-1</a:t>
            </a:r>
            <a:endParaRPr lang="en-US" sz="1300" dirty="0"/>
          </a:p>
        </p:txBody>
      </p:sp>
      <p:sp>
        <p:nvSpPr>
          <p:cNvPr id="13" name="Text 11"/>
          <p:cNvSpPr txBox="1"/>
          <p:nvPr/>
        </p:nvSpPr>
        <p:spPr>
          <a:xfrm>
            <a:off x="4892040" y="1755648"/>
            <a:ext cx="388620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Constructabilidad en etapa de factibilidad captura el mayor potencial de ahorro (curva de influencia de costos).</a:t>
            </a:r>
            <a:endParaRPr lang="en-US" sz="1050" dirty="0"/>
          </a:p>
        </p:txBody>
      </p:sp>
      <p:sp>
        <p:nvSpPr>
          <p:cNvPr id="14" name="Shape 12"/>
          <p:cNvSpPr/>
          <p:nvPr/>
        </p:nvSpPr>
        <p:spPr>
          <a:xfrm>
            <a:off x="365760" y="2487168"/>
            <a:ext cx="4160520" cy="1051560"/>
          </a:xfrm>
          <a:prstGeom prst="roundRect">
            <a:avLst>
              <a:gd name="adj" fmla="val 6957"/>
            </a:avLst>
          </a:prstGeom>
          <a:solidFill>
            <a:srgbClr val="2C2C2E"/>
          </a:solidFill>
          <a:ln w="12700">
            <a:solidFill>
              <a:srgbClr val="FFD60A"/>
            </a:solidFill>
            <a:prstDash val="solid"/>
          </a:ln>
        </p:spPr>
      </p:sp>
      <p:sp>
        <p:nvSpPr>
          <p:cNvPr id="15" name="Text 13"/>
          <p:cNvSpPr txBox="1"/>
          <p:nvPr/>
        </p:nvSpPr>
        <p:spPr>
          <a:xfrm>
            <a:off x="502920" y="2596896"/>
            <a:ext cx="411480" cy="365760"/>
          </a:xfrm>
          <a:prstGeom prst="rect">
            <a:avLst/>
          </a:prstGeom>
          <a:noFill/>
          <a:ln/>
        </p:spPr>
        <p:txBody>
          <a:bodyPr wrap="square" lIns="0" tIns="0" rIns="0" bIns="0" rtlCol="0" anchor="ctr"/>
          <a:lstStyle/>
          <a:p>
            <a:pPr indent="0" marL="0">
              <a:buNone/>
            </a:pPr>
            <a:r>
              <a:rPr lang="en-US" sz="1800" b="1" dirty="0">
                <a:solidFill>
                  <a:srgbClr val="FFD60A"/>
                </a:solidFill>
                <a:latin typeface="Atkinson Hyperlegible" pitchFamily="34" charset="0"/>
                <a:ea typeface="Atkinson Hyperlegible" pitchFamily="34" charset="-122"/>
                <a:cs typeface="Atkinson Hyperlegible" pitchFamily="34" charset="-120"/>
              </a:rPr>
              <a:t>3</a:t>
            </a:r>
            <a:endParaRPr lang="en-US" sz="1800" dirty="0"/>
          </a:p>
        </p:txBody>
      </p:sp>
      <p:sp>
        <p:nvSpPr>
          <p:cNvPr id="16" name="Text 14"/>
          <p:cNvSpPr txBox="1"/>
          <p:nvPr/>
        </p:nvSpPr>
        <p:spPr>
          <a:xfrm>
            <a:off x="960120" y="2578608"/>
            <a:ext cx="34290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Recursos Dedicados</a:t>
            </a:r>
            <a:endParaRPr lang="en-US" sz="1300" dirty="0"/>
          </a:p>
        </p:txBody>
      </p:sp>
      <p:sp>
        <p:nvSpPr>
          <p:cNvPr id="17" name="Text 15"/>
          <p:cNvSpPr txBox="1"/>
          <p:nvPr/>
        </p:nvSpPr>
        <p:spPr>
          <a:xfrm>
            <a:off x="502920" y="2944368"/>
            <a:ext cx="388620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Un Construction Manager de tiempo completo asignado al equipo de ingeniería, no solo disponible cuando se le llama.</a:t>
            </a:r>
            <a:endParaRPr lang="en-US" sz="1050" dirty="0"/>
          </a:p>
        </p:txBody>
      </p:sp>
      <p:sp>
        <p:nvSpPr>
          <p:cNvPr id="18" name="Shape 16"/>
          <p:cNvSpPr/>
          <p:nvPr/>
        </p:nvSpPr>
        <p:spPr>
          <a:xfrm>
            <a:off x="4754880" y="2487168"/>
            <a:ext cx="4160520" cy="1051560"/>
          </a:xfrm>
          <a:prstGeom prst="roundRect">
            <a:avLst>
              <a:gd name="adj" fmla="val 6957"/>
            </a:avLst>
          </a:prstGeom>
          <a:solidFill>
            <a:srgbClr val="2C2C2E"/>
          </a:solidFill>
          <a:ln w="12700">
            <a:solidFill>
              <a:srgbClr val="30D158"/>
            </a:solidFill>
            <a:prstDash val="solid"/>
          </a:ln>
        </p:spPr>
      </p:sp>
      <p:sp>
        <p:nvSpPr>
          <p:cNvPr id="19" name="Text 17"/>
          <p:cNvSpPr txBox="1"/>
          <p:nvPr/>
        </p:nvSpPr>
        <p:spPr>
          <a:xfrm>
            <a:off x="4892040" y="2596896"/>
            <a:ext cx="411480" cy="365760"/>
          </a:xfrm>
          <a:prstGeom prst="rect">
            <a:avLst/>
          </a:prstGeom>
          <a:noFill/>
          <a:ln/>
        </p:spPr>
        <p:txBody>
          <a:bodyPr wrap="square" lIns="0" tIns="0" rIns="0" bIns="0" rtlCol="0" anchor="ctr"/>
          <a:lstStyle/>
          <a:p>
            <a:pPr indent="0" marL="0">
              <a:buNone/>
            </a:pPr>
            <a:r>
              <a:rPr lang="en-US" sz="1800" b="1" dirty="0">
                <a:solidFill>
                  <a:srgbClr val="30D158"/>
                </a:solidFill>
                <a:latin typeface="Atkinson Hyperlegible" pitchFamily="34" charset="0"/>
                <a:ea typeface="Atkinson Hyperlegible" pitchFamily="34" charset="-122"/>
                <a:cs typeface="Atkinson Hyperlegible" pitchFamily="34" charset="-120"/>
              </a:rPr>
              <a:t>4</a:t>
            </a:r>
            <a:endParaRPr lang="en-US" sz="1800" dirty="0"/>
          </a:p>
        </p:txBody>
      </p:sp>
      <p:sp>
        <p:nvSpPr>
          <p:cNvPr id="20" name="Text 18"/>
          <p:cNvSpPr txBox="1"/>
          <p:nvPr/>
        </p:nvSpPr>
        <p:spPr>
          <a:xfrm>
            <a:off x="5349240" y="2578608"/>
            <a:ext cx="34290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Proceso Formal Documentado</a:t>
            </a:r>
            <a:endParaRPr lang="en-US" sz="1300" dirty="0"/>
          </a:p>
        </p:txBody>
      </p:sp>
      <p:sp>
        <p:nvSpPr>
          <p:cNvPr id="21" name="Text 19"/>
          <p:cNvSpPr txBox="1"/>
          <p:nvPr/>
        </p:nvSpPr>
        <p:spPr>
          <a:xfrm>
            <a:off x="4892040" y="2944368"/>
            <a:ext cx="388620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Procedimientos, checklists y criterios de revisión escritos, no solo reuniones informales.</a:t>
            </a:r>
            <a:endParaRPr lang="en-US" sz="1050" dirty="0"/>
          </a:p>
        </p:txBody>
      </p:sp>
      <p:sp>
        <p:nvSpPr>
          <p:cNvPr id="22" name="Shape 20"/>
          <p:cNvSpPr/>
          <p:nvPr/>
        </p:nvSpPr>
        <p:spPr>
          <a:xfrm>
            <a:off x="365760" y="3675888"/>
            <a:ext cx="4160520" cy="1051560"/>
          </a:xfrm>
          <a:prstGeom prst="roundRect">
            <a:avLst>
              <a:gd name="adj" fmla="val 6957"/>
            </a:avLst>
          </a:prstGeom>
          <a:solidFill>
            <a:srgbClr val="2C2C2E"/>
          </a:solidFill>
          <a:ln w="12700">
            <a:solidFill>
              <a:srgbClr val="0A84FF"/>
            </a:solidFill>
            <a:prstDash val="solid"/>
          </a:ln>
        </p:spPr>
      </p:sp>
      <p:sp>
        <p:nvSpPr>
          <p:cNvPr id="23" name="Text 21"/>
          <p:cNvSpPr txBox="1"/>
          <p:nvPr/>
        </p:nvSpPr>
        <p:spPr>
          <a:xfrm>
            <a:off x="502920" y="3785616"/>
            <a:ext cx="411480" cy="365760"/>
          </a:xfrm>
          <a:prstGeom prst="rect">
            <a:avLst/>
          </a:prstGeom>
          <a:noFill/>
          <a:ln/>
        </p:spPr>
        <p:txBody>
          <a:bodyPr wrap="square" lIns="0" tIns="0" rIns="0" bIns="0" rtlCol="0" anchor="ctr"/>
          <a:lstStyle/>
          <a:p>
            <a:pPr indent="0" marL="0">
              <a:buNone/>
            </a:pPr>
            <a:r>
              <a:rPr lang="en-US" sz="1800" b="1" dirty="0">
                <a:solidFill>
                  <a:srgbClr val="0A84FF"/>
                </a:solidFill>
                <a:latin typeface="Atkinson Hyperlegible" pitchFamily="34" charset="0"/>
                <a:ea typeface="Atkinson Hyperlegible" pitchFamily="34" charset="-122"/>
                <a:cs typeface="Atkinson Hyperlegible" pitchFamily="34" charset="-120"/>
              </a:rPr>
              <a:t>5</a:t>
            </a:r>
            <a:endParaRPr lang="en-US" sz="1800" dirty="0"/>
          </a:p>
        </p:txBody>
      </p:sp>
      <p:sp>
        <p:nvSpPr>
          <p:cNvPr id="24" name="Text 22"/>
          <p:cNvSpPr txBox="1"/>
          <p:nvPr/>
        </p:nvSpPr>
        <p:spPr>
          <a:xfrm>
            <a:off x="960120" y="3767328"/>
            <a:ext cx="34290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Métricas y Reporte</a:t>
            </a:r>
            <a:endParaRPr lang="en-US" sz="1300" dirty="0"/>
          </a:p>
        </p:txBody>
      </p:sp>
      <p:sp>
        <p:nvSpPr>
          <p:cNvPr id="25" name="Text 23"/>
          <p:cNvSpPr txBox="1"/>
          <p:nvPr/>
        </p:nvSpPr>
        <p:spPr>
          <a:xfrm>
            <a:off x="502920" y="4133088"/>
            <a:ext cx="388620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KPIs del programa reportados mensualmente con beneficios cuantificados para mantener la justificación.</a:t>
            </a:r>
            <a:endParaRPr lang="en-US" sz="1050" dirty="0"/>
          </a:p>
        </p:txBody>
      </p:sp>
      <p:sp>
        <p:nvSpPr>
          <p:cNvPr id="26" name="Shape 24"/>
          <p:cNvSpPr/>
          <p:nvPr/>
        </p:nvSpPr>
        <p:spPr>
          <a:xfrm>
            <a:off x="4754880" y="3675888"/>
            <a:ext cx="4160520" cy="1051560"/>
          </a:xfrm>
          <a:prstGeom prst="roundRect">
            <a:avLst>
              <a:gd name="adj" fmla="val 6957"/>
            </a:avLst>
          </a:prstGeom>
          <a:solidFill>
            <a:srgbClr val="2C2C2E"/>
          </a:solidFill>
          <a:ln w="12700">
            <a:solidFill>
              <a:srgbClr val="64D2FF"/>
            </a:solidFill>
            <a:prstDash val="solid"/>
          </a:ln>
        </p:spPr>
      </p:sp>
      <p:sp>
        <p:nvSpPr>
          <p:cNvPr id="27" name="Text 25"/>
          <p:cNvSpPr txBox="1"/>
          <p:nvPr/>
        </p:nvSpPr>
        <p:spPr>
          <a:xfrm>
            <a:off x="4892040" y="3785616"/>
            <a:ext cx="411480" cy="365760"/>
          </a:xfrm>
          <a:prstGeom prst="rect">
            <a:avLst/>
          </a:prstGeom>
          <a:noFill/>
          <a:ln/>
        </p:spPr>
        <p:txBody>
          <a:bodyPr wrap="square" lIns="0" tIns="0" rIns="0" bIns="0" rtlCol="0" anchor="ctr"/>
          <a:lstStyle/>
          <a:p>
            <a:pPr indent="0" marL="0">
              <a:buNone/>
            </a:pPr>
            <a:r>
              <a:rPr lang="en-US" sz="1800" b="1" dirty="0">
                <a:solidFill>
                  <a:srgbClr val="64D2FF"/>
                </a:solidFill>
                <a:latin typeface="Atkinson Hyperlegible" pitchFamily="34" charset="0"/>
                <a:ea typeface="Atkinson Hyperlegible" pitchFamily="34" charset="-122"/>
                <a:cs typeface="Atkinson Hyperlegible" pitchFamily="34" charset="-120"/>
              </a:rPr>
              <a:t>6</a:t>
            </a:r>
            <a:endParaRPr lang="en-US" sz="1800" dirty="0"/>
          </a:p>
        </p:txBody>
      </p:sp>
      <p:sp>
        <p:nvSpPr>
          <p:cNvPr id="28" name="Text 26"/>
          <p:cNvSpPr txBox="1"/>
          <p:nvPr/>
        </p:nvSpPr>
        <p:spPr>
          <a:xfrm>
            <a:off x="5349240" y="3767328"/>
            <a:ext cx="34290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Base de Lecciones Aprendidas</a:t>
            </a:r>
            <a:endParaRPr lang="en-US" sz="1300" dirty="0"/>
          </a:p>
        </p:txBody>
      </p:sp>
      <p:sp>
        <p:nvSpPr>
          <p:cNvPr id="29" name="Text 27"/>
          <p:cNvSpPr txBox="1"/>
          <p:nvPr/>
        </p:nvSpPr>
        <p:spPr>
          <a:xfrm>
            <a:off x="4892040" y="4133088"/>
            <a:ext cx="388620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LLDB activa, accesible y actualizada; tasa de reutilización medida por proyecto.</a:t>
            </a:r>
            <a:endParaRPr lang="en-US" sz="1050" dirty="0"/>
          </a:p>
        </p:txBody>
      </p:sp>
      <p:sp>
        <p:nvSpPr>
          <p:cNvPr id="30" name="Shape 28"/>
          <p:cNvSpPr/>
          <p:nvPr/>
        </p:nvSpPr>
        <p:spPr>
          <a:xfrm>
            <a:off x="365760" y="4864608"/>
            <a:ext cx="4160520" cy="1051560"/>
          </a:xfrm>
          <a:prstGeom prst="roundRect">
            <a:avLst>
              <a:gd name="adj" fmla="val 6957"/>
            </a:avLst>
          </a:prstGeom>
          <a:solidFill>
            <a:srgbClr val="2C2C2E"/>
          </a:solidFill>
          <a:ln w="12700">
            <a:solidFill>
              <a:srgbClr val="AF52DE"/>
            </a:solidFill>
            <a:prstDash val="solid"/>
          </a:ln>
        </p:spPr>
      </p:sp>
      <p:sp>
        <p:nvSpPr>
          <p:cNvPr id="31" name="Text 29"/>
          <p:cNvSpPr txBox="1"/>
          <p:nvPr/>
        </p:nvSpPr>
        <p:spPr>
          <a:xfrm>
            <a:off x="502920" y="4974336"/>
            <a:ext cx="411480" cy="365760"/>
          </a:xfrm>
          <a:prstGeom prst="rect">
            <a:avLst/>
          </a:prstGeom>
          <a:noFill/>
          <a:ln/>
        </p:spPr>
        <p:txBody>
          <a:bodyPr wrap="square" lIns="0" tIns="0" rIns="0" bIns="0" rtlCol="0" anchor="ctr"/>
          <a:lstStyle/>
          <a:p>
            <a:pPr indent="0" marL="0">
              <a:buNone/>
            </a:pPr>
            <a:r>
              <a:rPr lang="en-US" sz="1800" b="1" dirty="0">
                <a:solidFill>
                  <a:srgbClr val="AF52DE"/>
                </a:solidFill>
                <a:latin typeface="Atkinson Hyperlegible" pitchFamily="34" charset="0"/>
                <a:ea typeface="Atkinson Hyperlegible" pitchFamily="34" charset="-122"/>
                <a:cs typeface="Atkinson Hyperlegible" pitchFamily="34" charset="-120"/>
              </a:rPr>
              <a:t>7</a:t>
            </a:r>
            <a:endParaRPr lang="en-US" sz="1800" dirty="0"/>
          </a:p>
        </p:txBody>
      </p:sp>
      <p:sp>
        <p:nvSpPr>
          <p:cNvPr id="32" name="Text 30"/>
          <p:cNvSpPr txBox="1"/>
          <p:nvPr/>
        </p:nvSpPr>
        <p:spPr>
          <a:xfrm>
            <a:off x="960120" y="4956048"/>
            <a:ext cx="34290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Capacitación Continua</a:t>
            </a:r>
            <a:endParaRPr lang="en-US" sz="1300" dirty="0"/>
          </a:p>
        </p:txBody>
      </p:sp>
      <p:sp>
        <p:nvSpPr>
          <p:cNvPr id="33" name="Text 31"/>
          <p:cNvSpPr txBox="1"/>
          <p:nvPr/>
        </p:nvSpPr>
        <p:spPr>
          <a:xfrm>
            <a:off x="502920" y="5321808"/>
            <a:ext cx="388620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Talleres anuales de constructabilidad para nuevos integrantes de equipos de proyecto.</a:t>
            </a:r>
            <a:endParaRPr lang="en-US" sz="1050" dirty="0"/>
          </a:p>
        </p:txBody>
      </p:sp>
      <p:sp>
        <p:nvSpPr>
          <p:cNvPr id="34" name="Shape 32"/>
          <p:cNvSpPr/>
          <p:nvPr/>
        </p:nvSpPr>
        <p:spPr>
          <a:xfrm>
            <a:off x="4754880" y="4864608"/>
            <a:ext cx="4160520" cy="1051560"/>
          </a:xfrm>
          <a:prstGeom prst="roundRect">
            <a:avLst>
              <a:gd name="adj" fmla="val 6957"/>
            </a:avLst>
          </a:prstGeom>
          <a:solidFill>
            <a:srgbClr val="2C2C2E"/>
          </a:solidFill>
          <a:ln w="12700">
            <a:solidFill>
              <a:srgbClr val="8E8E93"/>
            </a:solidFill>
            <a:prstDash val="solid"/>
          </a:ln>
        </p:spPr>
      </p:sp>
      <p:sp>
        <p:nvSpPr>
          <p:cNvPr id="35" name="Text 33"/>
          <p:cNvSpPr txBox="1"/>
          <p:nvPr/>
        </p:nvSpPr>
        <p:spPr>
          <a:xfrm>
            <a:off x="4892040" y="4974336"/>
            <a:ext cx="411480" cy="365760"/>
          </a:xfrm>
          <a:prstGeom prst="rect">
            <a:avLst/>
          </a:prstGeom>
          <a:noFill/>
          <a:ln/>
        </p:spPr>
        <p:txBody>
          <a:bodyPr wrap="square" lIns="0" tIns="0" rIns="0" bIns="0" rtlCol="0" anchor="ctr"/>
          <a:lstStyle/>
          <a:p>
            <a:pPr indent="0" marL="0">
              <a:buNone/>
            </a:pPr>
            <a:r>
              <a:rPr lang="en-US" sz="1800" b="1" dirty="0">
                <a:solidFill>
                  <a:srgbClr val="8E8E93"/>
                </a:solidFill>
                <a:latin typeface="Atkinson Hyperlegible" pitchFamily="34" charset="0"/>
                <a:ea typeface="Atkinson Hyperlegible" pitchFamily="34" charset="-122"/>
                <a:cs typeface="Atkinson Hyperlegible" pitchFamily="34" charset="-120"/>
              </a:rPr>
              <a:t>8</a:t>
            </a:r>
            <a:endParaRPr lang="en-US" sz="1800" dirty="0"/>
          </a:p>
        </p:txBody>
      </p:sp>
      <p:sp>
        <p:nvSpPr>
          <p:cNvPr id="36" name="Text 34"/>
          <p:cNvSpPr txBox="1"/>
          <p:nvPr/>
        </p:nvSpPr>
        <p:spPr>
          <a:xfrm>
            <a:off x="5349240" y="4956048"/>
            <a:ext cx="342900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Aplicación en Contratos</a:t>
            </a:r>
            <a:endParaRPr lang="en-US" sz="1300" dirty="0"/>
          </a:p>
        </p:txBody>
      </p:sp>
      <p:sp>
        <p:nvSpPr>
          <p:cNvPr id="37" name="Text 35"/>
          <p:cNvSpPr txBox="1"/>
          <p:nvPr/>
        </p:nvSpPr>
        <p:spPr>
          <a:xfrm>
            <a:off x="4892040" y="5321808"/>
            <a:ext cx="3886200" cy="50292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Cláusulas contractuales que exigen plan constructabilidad a contratistas EPC/EPCm.</a:t>
            </a:r>
            <a:endParaRPr lang="en-US" sz="105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Errores Comunes en Programas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CII documenta los errores más frecuentes que sabotean los programas, y sus contramedidas:</a:t>
            </a:r>
            <a:endParaRPr lang="en-US" sz="1300" dirty="0"/>
          </a:p>
        </p:txBody>
      </p:sp>
      <p:sp>
        <p:nvSpPr>
          <p:cNvPr id="6" name="Shape 4"/>
          <p:cNvSpPr/>
          <p:nvPr/>
        </p:nvSpPr>
        <p:spPr>
          <a:xfrm>
            <a:off x="365760" y="1298448"/>
            <a:ext cx="8412480" cy="841248"/>
          </a:xfrm>
          <a:prstGeom prst="roundRect">
            <a:avLst>
              <a:gd name="adj" fmla="val 8696"/>
            </a:avLst>
          </a:prstGeom>
          <a:solidFill>
            <a:srgbClr val="2C2C2E"/>
          </a:solidFill>
          <a:ln w="12700">
            <a:solidFill>
              <a:srgbClr val="3A3A3C"/>
            </a:solidFill>
            <a:prstDash val="solid"/>
          </a:ln>
        </p:spPr>
      </p:sp>
      <p:sp>
        <p:nvSpPr>
          <p:cNvPr id="7" name="Text 5"/>
          <p:cNvSpPr txBox="1"/>
          <p:nvPr/>
        </p:nvSpPr>
        <p:spPr>
          <a:xfrm>
            <a:off x="548640" y="137160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Iniciativa tardía</a:t>
            </a:r>
            <a:endParaRPr lang="en-US" sz="1200" dirty="0"/>
          </a:p>
        </p:txBody>
      </p:sp>
      <p:sp>
        <p:nvSpPr>
          <p:cNvPr id="8" name="Text 6"/>
          <p:cNvSpPr txBox="1"/>
          <p:nvPr/>
        </p:nvSpPr>
        <p:spPr>
          <a:xfrm>
            <a:off x="2514600" y="1353312"/>
            <a:ext cx="2926080" cy="34747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Incorporar constructabilidad en diseño detalle (&gt;30%) en lugar de desde FEED o antes</a:t>
            </a:r>
            <a:endParaRPr lang="en-US" sz="1050" dirty="0"/>
          </a:p>
        </p:txBody>
      </p:sp>
      <p:sp>
        <p:nvSpPr>
          <p:cNvPr id="9" name="Text 7"/>
          <p:cNvSpPr txBox="1"/>
          <p:nvPr/>
        </p:nvSpPr>
        <p:spPr>
          <a:xfrm>
            <a:off x="5532120" y="135331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Agendar primer taller de constructabilidad durante FEL-2, antes de IFR de ingeniería básica</a:t>
            </a:r>
            <a:endParaRPr lang="en-US" sz="1050" dirty="0"/>
          </a:p>
        </p:txBody>
      </p:sp>
      <p:sp>
        <p:nvSpPr>
          <p:cNvPr id="10" name="Shape 8"/>
          <p:cNvSpPr/>
          <p:nvPr/>
        </p:nvSpPr>
        <p:spPr>
          <a:xfrm>
            <a:off x="2423160" y="1353312"/>
            <a:ext cx="18288" cy="713232"/>
          </a:xfrm>
          <a:prstGeom prst="rect">
            <a:avLst/>
          </a:prstGeom>
          <a:solidFill>
            <a:srgbClr val="3A3A3C"/>
          </a:solidFill>
          <a:ln/>
        </p:spPr>
      </p:sp>
      <p:sp>
        <p:nvSpPr>
          <p:cNvPr id="11" name="Shape 9"/>
          <p:cNvSpPr/>
          <p:nvPr/>
        </p:nvSpPr>
        <p:spPr>
          <a:xfrm>
            <a:off x="5440680" y="1353312"/>
            <a:ext cx="18288" cy="713232"/>
          </a:xfrm>
          <a:prstGeom prst="rect">
            <a:avLst/>
          </a:prstGeom>
          <a:solidFill>
            <a:srgbClr val="3A3A3C"/>
          </a:solidFill>
          <a:ln/>
        </p:spPr>
      </p:sp>
      <p:sp>
        <p:nvSpPr>
          <p:cNvPr id="12" name="Shape 10"/>
          <p:cNvSpPr/>
          <p:nvPr/>
        </p:nvSpPr>
        <p:spPr>
          <a:xfrm>
            <a:off x="365760" y="2258568"/>
            <a:ext cx="8412480" cy="841248"/>
          </a:xfrm>
          <a:prstGeom prst="roundRect">
            <a:avLst>
              <a:gd name="adj" fmla="val 8696"/>
            </a:avLst>
          </a:prstGeom>
          <a:solidFill>
            <a:srgbClr val="2C2C2E"/>
          </a:solidFill>
          <a:ln w="12700">
            <a:solidFill>
              <a:srgbClr val="3A3A3C"/>
            </a:solidFill>
            <a:prstDash val="solid"/>
          </a:ln>
        </p:spPr>
      </p:sp>
      <p:sp>
        <p:nvSpPr>
          <p:cNvPr id="13" name="Text 11"/>
          <p:cNvSpPr txBox="1"/>
          <p:nvPr/>
        </p:nvSpPr>
        <p:spPr>
          <a:xfrm>
            <a:off x="548640" y="233172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CM sin autoridad</a:t>
            </a:r>
            <a:endParaRPr lang="en-US" sz="1200" dirty="0"/>
          </a:p>
        </p:txBody>
      </p:sp>
      <p:sp>
        <p:nvSpPr>
          <p:cNvPr id="14" name="Text 12"/>
          <p:cNvSpPr txBox="1"/>
          <p:nvPr/>
        </p:nvSpPr>
        <p:spPr>
          <a:xfrm>
            <a:off x="2514600" y="2313432"/>
            <a:ext cx="2926080" cy="34747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CM de constructabilidad es consultor opcional sin poder de decisión en el equipo</a:t>
            </a:r>
            <a:endParaRPr lang="en-US" sz="1050" dirty="0"/>
          </a:p>
        </p:txBody>
      </p:sp>
      <p:sp>
        <p:nvSpPr>
          <p:cNvPr id="15" name="Text 13"/>
          <p:cNvSpPr txBox="1"/>
          <p:nvPr/>
        </p:nvSpPr>
        <p:spPr>
          <a:xfrm>
            <a:off x="5532120" y="231343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CM de constructabilidad tiene voto en revisiones de diseño y acceso directo al PM</a:t>
            </a:r>
            <a:endParaRPr lang="en-US" sz="1050" dirty="0"/>
          </a:p>
        </p:txBody>
      </p:sp>
      <p:sp>
        <p:nvSpPr>
          <p:cNvPr id="16" name="Shape 14"/>
          <p:cNvSpPr/>
          <p:nvPr/>
        </p:nvSpPr>
        <p:spPr>
          <a:xfrm>
            <a:off x="2423160" y="2313432"/>
            <a:ext cx="18288" cy="713232"/>
          </a:xfrm>
          <a:prstGeom prst="rect">
            <a:avLst/>
          </a:prstGeom>
          <a:solidFill>
            <a:srgbClr val="3A3A3C"/>
          </a:solidFill>
          <a:ln/>
        </p:spPr>
      </p:sp>
      <p:sp>
        <p:nvSpPr>
          <p:cNvPr id="17" name="Shape 15"/>
          <p:cNvSpPr/>
          <p:nvPr/>
        </p:nvSpPr>
        <p:spPr>
          <a:xfrm>
            <a:off x="5440680" y="2313432"/>
            <a:ext cx="18288" cy="713232"/>
          </a:xfrm>
          <a:prstGeom prst="rect">
            <a:avLst/>
          </a:prstGeom>
          <a:solidFill>
            <a:srgbClr val="3A3A3C"/>
          </a:solidFill>
          <a:ln/>
        </p:spPr>
      </p:sp>
      <p:sp>
        <p:nvSpPr>
          <p:cNvPr id="18" name="Shape 16"/>
          <p:cNvSpPr/>
          <p:nvPr/>
        </p:nvSpPr>
        <p:spPr>
          <a:xfrm>
            <a:off x="365760" y="3218688"/>
            <a:ext cx="8412480" cy="841248"/>
          </a:xfrm>
          <a:prstGeom prst="roundRect">
            <a:avLst>
              <a:gd name="adj" fmla="val 8696"/>
            </a:avLst>
          </a:prstGeom>
          <a:solidFill>
            <a:srgbClr val="2C2C2E"/>
          </a:solidFill>
          <a:ln w="12700">
            <a:solidFill>
              <a:srgbClr val="3A3A3C"/>
            </a:solidFill>
            <a:prstDash val="solid"/>
          </a:ln>
        </p:spPr>
      </p:sp>
      <p:sp>
        <p:nvSpPr>
          <p:cNvPr id="19" name="Text 17"/>
          <p:cNvSpPr txBox="1"/>
          <p:nvPr/>
        </p:nvSpPr>
        <p:spPr>
          <a:xfrm>
            <a:off x="548640" y="329184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Sin métricas</a:t>
            </a:r>
            <a:endParaRPr lang="en-US" sz="1200" dirty="0"/>
          </a:p>
        </p:txBody>
      </p:sp>
      <p:sp>
        <p:nvSpPr>
          <p:cNvPr id="20" name="Text 18"/>
          <p:cNvSpPr txBox="1"/>
          <p:nvPr/>
        </p:nvSpPr>
        <p:spPr>
          <a:xfrm>
            <a:off x="2514600" y="3273552"/>
            <a:ext cx="2926080" cy="34747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No se mide cuántas ideas se generan, implementan ni cuánto ahorran; el programa muere en austeridad</a:t>
            </a:r>
            <a:endParaRPr lang="en-US" sz="1050" dirty="0"/>
          </a:p>
        </p:txBody>
      </p:sp>
      <p:sp>
        <p:nvSpPr>
          <p:cNvPr id="21" name="Text 19"/>
          <p:cNvSpPr txBox="1"/>
          <p:nvPr/>
        </p:nvSpPr>
        <p:spPr>
          <a:xfrm>
            <a:off x="5532120" y="327355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KPI mensual: # ideas → implementadas → $ ahorrados; reportado al sponsor ejecutivo</a:t>
            </a:r>
            <a:endParaRPr lang="en-US" sz="1050" dirty="0"/>
          </a:p>
        </p:txBody>
      </p:sp>
      <p:sp>
        <p:nvSpPr>
          <p:cNvPr id="22" name="Shape 20"/>
          <p:cNvSpPr/>
          <p:nvPr/>
        </p:nvSpPr>
        <p:spPr>
          <a:xfrm>
            <a:off x="2423160" y="3273552"/>
            <a:ext cx="18288" cy="713232"/>
          </a:xfrm>
          <a:prstGeom prst="rect">
            <a:avLst/>
          </a:prstGeom>
          <a:solidFill>
            <a:srgbClr val="3A3A3C"/>
          </a:solidFill>
          <a:ln/>
        </p:spPr>
      </p:sp>
      <p:sp>
        <p:nvSpPr>
          <p:cNvPr id="23" name="Shape 21"/>
          <p:cNvSpPr/>
          <p:nvPr/>
        </p:nvSpPr>
        <p:spPr>
          <a:xfrm>
            <a:off x="5440680" y="3273552"/>
            <a:ext cx="18288" cy="713232"/>
          </a:xfrm>
          <a:prstGeom prst="rect">
            <a:avLst/>
          </a:prstGeom>
          <a:solidFill>
            <a:srgbClr val="3A3A3C"/>
          </a:solidFill>
          <a:ln/>
        </p:spPr>
      </p:sp>
      <p:sp>
        <p:nvSpPr>
          <p:cNvPr id="24" name="Shape 22"/>
          <p:cNvSpPr/>
          <p:nvPr/>
        </p:nvSpPr>
        <p:spPr>
          <a:xfrm>
            <a:off x="365760" y="4178808"/>
            <a:ext cx="8412480" cy="841248"/>
          </a:xfrm>
          <a:prstGeom prst="roundRect">
            <a:avLst>
              <a:gd name="adj" fmla="val 8696"/>
            </a:avLst>
          </a:prstGeom>
          <a:solidFill>
            <a:srgbClr val="2C2C2E"/>
          </a:solidFill>
          <a:ln w="12700">
            <a:solidFill>
              <a:srgbClr val="3A3A3C"/>
            </a:solidFill>
            <a:prstDash val="solid"/>
          </a:ln>
        </p:spPr>
      </p:sp>
      <p:sp>
        <p:nvSpPr>
          <p:cNvPr id="25" name="Text 23"/>
          <p:cNvSpPr txBox="1"/>
          <p:nvPr/>
        </p:nvSpPr>
        <p:spPr>
          <a:xfrm>
            <a:off x="548640" y="425196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Silos de información</a:t>
            </a:r>
            <a:endParaRPr lang="en-US" sz="1200" dirty="0"/>
          </a:p>
        </p:txBody>
      </p:sp>
      <p:sp>
        <p:nvSpPr>
          <p:cNvPr id="26" name="Text 24"/>
          <p:cNvSpPr txBox="1"/>
          <p:nvPr/>
        </p:nvSpPr>
        <p:spPr>
          <a:xfrm>
            <a:off x="2514600" y="4233672"/>
            <a:ext cx="2926080" cy="34747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Ingeniería y construcción no comparten modelos, planos actualizados ni información a tiempo</a:t>
            </a:r>
            <a:endParaRPr lang="en-US" sz="1050" dirty="0"/>
          </a:p>
        </p:txBody>
      </p:sp>
      <p:sp>
        <p:nvSpPr>
          <p:cNvPr id="27" name="Text 25"/>
          <p:cNvSpPr txBox="1"/>
          <p:nvPr/>
        </p:nvSpPr>
        <p:spPr>
          <a:xfrm>
            <a:off x="5532120" y="423367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BIM 3D/4D compartido con constructores desde ingeniería básica; modelo único de referencia</a:t>
            </a:r>
            <a:endParaRPr lang="en-US" sz="1050" dirty="0"/>
          </a:p>
        </p:txBody>
      </p:sp>
      <p:sp>
        <p:nvSpPr>
          <p:cNvPr id="28" name="Shape 26"/>
          <p:cNvSpPr/>
          <p:nvPr/>
        </p:nvSpPr>
        <p:spPr>
          <a:xfrm>
            <a:off x="2423160" y="4233672"/>
            <a:ext cx="18288" cy="713232"/>
          </a:xfrm>
          <a:prstGeom prst="rect">
            <a:avLst/>
          </a:prstGeom>
          <a:solidFill>
            <a:srgbClr val="3A3A3C"/>
          </a:solidFill>
          <a:ln/>
        </p:spPr>
      </p:sp>
      <p:sp>
        <p:nvSpPr>
          <p:cNvPr id="29" name="Shape 27"/>
          <p:cNvSpPr/>
          <p:nvPr/>
        </p:nvSpPr>
        <p:spPr>
          <a:xfrm>
            <a:off x="5440680" y="4233672"/>
            <a:ext cx="18288" cy="713232"/>
          </a:xfrm>
          <a:prstGeom prst="rect">
            <a:avLst/>
          </a:prstGeom>
          <a:solidFill>
            <a:srgbClr val="3A3A3C"/>
          </a:solidFill>
          <a:ln/>
        </p:spPr>
      </p:sp>
      <p:sp>
        <p:nvSpPr>
          <p:cNvPr id="30" name="Shape 28"/>
          <p:cNvSpPr/>
          <p:nvPr/>
        </p:nvSpPr>
        <p:spPr>
          <a:xfrm>
            <a:off x="365760" y="5138928"/>
            <a:ext cx="8412480" cy="841248"/>
          </a:xfrm>
          <a:prstGeom prst="roundRect">
            <a:avLst>
              <a:gd name="adj" fmla="val 8696"/>
            </a:avLst>
          </a:prstGeom>
          <a:solidFill>
            <a:srgbClr val="2C2C2E"/>
          </a:solidFill>
          <a:ln w="12700">
            <a:solidFill>
              <a:srgbClr val="3A3A3C"/>
            </a:solidFill>
            <a:prstDash val="solid"/>
          </a:ln>
        </p:spPr>
      </p:sp>
      <p:sp>
        <p:nvSpPr>
          <p:cNvPr id="31" name="Text 29"/>
          <p:cNvSpPr txBox="1"/>
          <p:nvPr/>
        </p:nvSpPr>
        <p:spPr>
          <a:xfrm>
            <a:off x="548640" y="521208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Capacitación única</a:t>
            </a:r>
            <a:endParaRPr lang="en-US" sz="1200" dirty="0"/>
          </a:p>
        </p:txBody>
      </p:sp>
      <p:sp>
        <p:nvSpPr>
          <p:cNvPr id="32" name="Text 30"/>
          <p:cNvSpPr txBox="1"/>
          <p:nvPr/>
        </p:nvSpPr>
        <p:spPr>
          <a:xfrm>
            <a:off x="2514600" y="5193792"/>
            <a:ext cx="2926080" cy="347472"/>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Un solo taller inicial y luego el equipo cambia sin transferir conocimiento</a:t>
            </a:r>
            <a:endParaRPr lang="en-US" sz="1050" dirty="0"/>
          </a:p>
        </p:txBody>
      </p:sp>
      <p:sp>
        <p:nvSpPr>
          <p:cNvPr id="33" name="Text 31"/>
          <p:cNvSpPr txBox="1"/>
          <p:nvPr/>
        </p:nvSpPr>
        <p:spPr>
          <a:xfrm>
            <a:off x="5532120" y="519379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Programa de inducción de constructabilidad para cada nuevo miembro del equipo de proyecto</a:t>
            </a:r>
            <a:endParaRPr lang="en-US" sz="1050" dirty="0"/>
          </a:p>
        </p:txBody>
      </p:sp>
      <p:sp>
        <p:nvSpPr>
          <p:cNvPr id="34" name="Shape 32"/>
          <p:cNvSpPr/>
          <p:nvPr/>
        </p:nvSpPr>
        <p:spPr>
          <a:xfrm>
            <a:off x="2423160" y="5193792"/>
            <a:ext cx="18288" cy="713232"/>
          </a:xfrm>
          <a:prstGeom prst="rect">
            <a:avLst/>
          </a:prstGeom>
          <a:solidFill>
            <a:srgbClr val="3A3A3C"/>
          </a:solidFill>
          <a:ln/>
        </p:spPr>
      </p:sp>
      <p:sp>
        <p:nvSpPr>
          <p:cNvPr id="35" name="Shape 33"/>
          <p:cNvSpPr/>
          <p:nvPr/>
        </p:nvSpPr>
        <p:spPr>
          <a:xfrm>
            <a:off x="5440680" y="5193792"/>
            <a:ext cx="18288" cy="713232"/>
          </a:xfrm>
          <a:prstGeom prst="rect">
            <a:avLst/>
          </a:prstGeom>
          <a:solidFill>
            <a:srgbClr val="3A3A3C"/>
          </a:solidFill>
          <a:ln/>
        </p:spPr>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112</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y Sostenibilidad: Sinergia Natural</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Un diseño constructible es también más sostenible: menos desperdicios, menos energía, menos tiempo:</a:t>
            </a:r>
            <a:endParaRPr lang="en-US" sz="1300" dirty="0"/>
          </a:p>
        </p:txBody>
      </p:sp>
      <p:sp>
        <p:nvSpPr>
          <p:cNvPr id="6" name="Shape 4"/>
          <p:cNvSpPr/>
          <p:nvPr/>
        </p:nvSpPr>
        <p:spPr>
          <a:xfrm>
            <a:off x="365760" y="1298448"/>
            <a:ext cx="2697480" cy="3977640"/>
          </a:xfrm>
          <a:prstGeom prst="roundRect">
            <a:avLst>
              <a:gd name="adj" fmla="val 4068"/>
            </a:avLst>
          </a:prstGeom>
          <a:solidFill>
            <a:srgbClr val="2C2C2E"/>
          </a:solidFill>
          <a:ln w="25400">
            <a:solidFill>
              <a:srgbClr val="30D158"/>
            </a:solidFill>
            <a:prstDash val="solid"/>
          </a:ln>
        </p:spPr>
      </p:sp>
      <p:sp>
        <p:nvSpPr>
          <p:cNvPr id="7" name="Text 5"/>
          <p:cNvSpPr txBox="1"/>
          <p:nvPr/>
        </p:nvSpPr>
        <p:spPr>
          <a:xfrm>
            <a:off x="365760" y="1417320"/>
            <a:ext cx="2697480" cy="502920"/>
          </a:xfrm>
          <a:prstGeom prst="rect">
            <a:avLst/>
          </a:prstGeom>
          <a:noFill/>
          <a:ln/>
        </p:spPr>
        <p:txBody>
          <a:bodyPr wrap="square" lIns="0" tIns="0" rIns="0" bIns="0" rtlCol="0" anchor="ctr"/>
          <a:lstStyle/>
          <a:p>
            <a:pPr algn="ctr" indent="0" marL="0">
              <a:buNone/>
            </a:pPr>
            <a:r>
              <a:rPr lang="en-US" sz="2600" dirty="0">
                <a:solidFill>
                  <a:srgbClr val="30D158"/>
                </a:solidFill>
                <a:latin typeface="Atkinson Hyperlegible" pitchFamily="34" charset="0"/>
                <a:ea typeface="Atkinson Hyperlegible" pitchFamily="34" charset="-122"/>
                <a:cs typeface="Atkinson Hyperlegible" pitchFamily="34" charset="-120"/>
              </a:rPr>
              <a:t>♻</a:t>
            </a:r>
            <a:endParaRPr lang="en-US" sz="2600" dirty="0"/>
          </a:p>
        </p:txBody>
      </p:sp>
      <p:sp>
        <p:nvSpPr>
          <p:cNvPr id="8" name="Text 6"/>
          <p:cNvSpPr txBox="1"/>
          <p:nvPr/>
        </p:nvSpPr>
        <p:spPr>
          <a:xfrm>
            <a:off x="502920" y="1965960"/>
            <a:ext cx="2423160" cy="502920"/>
          </a:xfrm>
          <a:prstGeom prst="rect">
            <a:avLst/>
          </a:prstGeom>
          <a:noFill/>
          <a:ln/>
        </p:spPr>
        <p:txBody>
          <a:bodyPr wrap="square" lIns="0" tIns="0" rIns="0" bIns="0" rtlCol="0" anchor="ctr"/>
          <a:lstStyle/>
          <a:p>
            <a:pPr algn="ct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Reducción de Desperdicios</a:t>
            </a:r>
            <a:endParaRPr lang="en-US" sz="1300" dirty="0"/>
          </a:p>
        </p:txBody>
      </p:sp>
      <p:sp>
        <p:nvSpPr>
          <p:cNvPr id="9" name="Text 7"/>
          <p:cNvSpPr txBox="1"/>
          <p:nvPr/>
        </p:nvSpPr>
        <p:spPr>
          <a:xfrm>
            <a:off x="502920" y="2578608"/>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Prefabricación → reduce scrap en campo 60-80%</a:t>
            </a:r>
            <a:endParaRPr lang="en-US" sz="1050" dirty="0"/>
          </a:p>
        </p:txBody>
      </p:sp>
      <p:sp>
        <p:nvSpPr>
          <p:cNvPr id="10" name="Text 8"/>
          <p:cNvSpPr txBox="1"/>
          <p:nvPr/>
        </p:nvSpPr>
        <p:spPr>
          <a:xfrm>
            <a:off x="502920" y="3236976"/>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Estandarización → menos material sobrante</a:t>
            </a:r>
            <a:endParaRPr lang="en-US" sz="1050" dirty="0"/>
          </a:p>
        </p:txBody>
      </p:sp>
      <p:sp>
        <p:nvSpPr>
          <p:cNvPr id="11" name="Text 9"/>
          <p:cNvSpPr txBox="1"/>
          <p:nvPr/>
        </p:nvSpPr>
        <p:spPr>
          <a:xfrm>
            <a:off x="502920" y="3895344"/>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Paquetes de trabajo precisos → menos over-ordering</a:t>
            </a:r>
            <a:endParaRPr lang="en-US" sz="1050" dirty="0"/>
          </a:p>
        </p:txBody>
      </p:sp>
      <p:sp>
        <p:nvSpPr>
          <p:cNvPr id="12" name="Text 10"/>
          <p:cNvSpPr txBox="1"/>
          <p:nvPr/>
        </p:nvSpPr>
        <p:spPr>
          <a:xfrm>
            <a:off x="502920" y="4553712"/>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Menos re-trabajo → menos material desperdiciado</a:t>
            </a:r>
            <a:endParaRPr lang="en-US" sz="1050" dirty="0"/>
          </a:p>
        </p:txBody>
      </p:sp>
      <p:sp>
        <p:nvSpPr>
          <p:cNvPr id="13" name="Shape 11"/>
          <p:cNvSpPr/>
          <p:nvPr/>
        </p:nvSpPr>
        <p:spPr>
          <a:xfrm>
            <a:off x="3246120" y="1298448"/>
            <a:ext cx="2697480" cy="3977640"/>
          </a:xfrm>
          <a:prstGeom prst="roundRect">
            <a:avLst>
              <a:gd name="adj" fmla="val 4068"/>
            </a:avLst>
          </a:prstGeom>
          <a:solidFill>
            <a:srgbClr val="2C2C2E"/>
          </a:solidFill>
          <a:ln w="25400">
            <a:solidFill>
              <a:srgbClr val="0A84FF"/>
            </a:solidFill>
            <a:prstDash val="solid"/>
          </a:ln>
        </p:spPr>
      </p:sp>
      <p:sp>
        <p:nvSpPr>
          <p:cNvPr id="14" name="Text 12"/>
          <p:cNvSpPr txBox="1"/>
          <p:nvPr/>
        </p:nvSpPr>
        <p:spPr>
          <a:xfrm>
            <a:off x="3246120" y="1417320"/>
            <a:ext cx="2697480" cy="502920"/>
          </a:xfrm>
          <a:prstGeom prst="rect">
            <a:avLst/>
          </a:prstGeom>
          <a:noFill/>
          <a:ln/>
        </p:spPr>
        <p:txBody>
          <a:bodyPr wrap="square" lIns="0" tIns="0" rIns="0" bIns="0" rtlCol="0" anchor="ctr"/>
          <a:lstStyle/>
          <a:p>
            <a:pPr algn="ctr" indent="0" marL="0">
              <a:buNone/>
            </a:pPr>
            <a:r>
              <a:rPr lang="en-US" sz="2600" dirty="0">
                <a:solidFill>
                  <a:srgbClr val="0A84FF"/>
                </a:solidFill>
                <a:latin typeface="Atkinson Hyperlegible" pitchFamily="34" charset="0"/>
                <a:ea typeface="Atkinson Hyperlegible" pitchFamily="34" charset="-122"/>
                <a:cs typeface="Atkinson Hyperlegible" pitchFamily="34" charset="-120"/>
              </a:rPr>
              <a:t>⚡</a:t>
            </a:r>
            <a:endParaRPr lang="en-US" sz="2600" dirty="0"/>
          </a:p>
        </p:txBody>
      </p:sp>
      <p:sp>
        <p:nvSpPr>
          <p:cNvPr id="15" name="Text 13"/>
          <p:cNvSpPr txBox="1"/>
          <p:nvPr/>
        </p:nvSpPr>
        <p:spPr>
          <a:xfrm>
            <a:off x="3383280" y="1965960"/>
            <a:ext cx="2423160" cy="50292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Eficiencia Energética</a:t>
            </a:r>
            <a:endParaRPr lang="en-US" sz="1300" dirty="0"/>
          </a:p>
        </p:txBody>
      </p:sp>
      <p:sp>
        <p:nvSpPr>
          <p:cNvPr id="16" name="Text 14"/>
          <p:cNvSpPr txBox="1"/>
          <p:nvPr/>
        </p:nvSpPr>
        <p:spPr>
          <a:xfrm>
            <a:off x="3383280" y="2578608"/>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Menos horas-hombre = menos energía consumida</a:t>
            </a:r>
            <a:endParaRPr lang="en-US" sz="1050" dirty="0"/>
          </a:p>
        </p:txBody>
      </p:sp>
      <p:sp>
        <p:nvSpPr>
          <p:cNvPr id="17" name="Text 15"/>
          <p:cNvSpPr txBox="1"/>
          <p:nvPr/>
        </p:nvSpPr>
        <p:spPr>
          <a:xfrm>
            <a:off x="3383280" y="3236976"/>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Menor duración = menos equipos y maquinaria activos</a:t>
            </a:r>
            <a:endParaRPr lang="en-US" sz="1050" dirty="0"/>
          </a:p>
        </p:txBody>
      </p:sp>
      <p:sp>
        <p:nvSpPr>
          <p:cNvPr id="18" name="Text 16"/>
          <p:cNvSpPr txBox="1"/>
          <p:nvPr/>
        </p:nvSpPr>
        <p:spPr>
          <a:xfrm>
            <a:off x="3383280" y="3895344"/>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Construcción eficiente = menor huella de carbono</a:t>
            </a:r>
            <a:endParaRPr lang="en-US" sz="1050" dirty="0"/>
          </a:p>
        </p:txBody>
      </p:sp>
      <p:sp>
        <p:nvSpPr>
          <p:cNvPr id="19" name="Text 17"/>
          <p:cNvSpPr txBox="1"/>
          <p:nvPr/>
        </p:nvSpPr>
        <p:spPr>
          <a:xfrm>
            <a:off x="3383280" y="4553712"/>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Modular = fabricación en talleres con energía renovable</a:t>
            </a:r>
            <a:endParaRPr lang="en-US" sz="1050" dirty="0"/>
          </a:p>
        </p:txBody>
      </p:sp>
      <p:sp>
        <p:nvSpPr>
          <p:cNvPr id="20" name="Shape 18"/>
          <p:cNvSpPr/>
          <p:nvPr/>
        </p:nvSpPr>
        <p:spPr>
          <a:xfrm>
            <a:off x="6126480" y="1298448"/>
            <a:ext cx="2697480" cy="3977640"/>
          </a:xfrm>
          <a:prstGeom prst="roundRect">
            <a:avLst>
              <a:gd name="adj" fmla="val 4068"/>
            </a:avLst>
          </a:prstGeom>
          <a:solidFill>
            <a:srgbClr val="2C2C2E"/>
          </a:solidFill>
          <a:ln w="25400">
            <a:solidFill>
              <a:srgbClr val="FF9500"/>
            </a:solidFill>
            <a:prstDash val="solid"/>
          </a:ln>
        </p:spPr>
      </p:sp>
      <p:sp>
        <p:nvSpPr>
          <p:cNvPr id="21" name="Text 19"/>
          <p:cNvSpPr txBox="1"/>
          <p:nvPr/>
        </p:nvSpPr>
        <p:spPr>
          <a:xfrm>
            <a:off x="6126480" y="1417320"/>
            <a:ext cx="2697480" cy="502920"/>
          </a:xfrm>
          <a:prstGeom prst="rect">
            <a:avLst/>
          </a:prstGeom>
          <a:noFill/>
          <a:ln/>
        </p:spPr>
        <p:txBody>
          <a:bodyPr wrap="square" lIns="0" tIns="0" rIns="0" bIns="0" rtlCol="0" anchor="ctr"/>
          <a:lstStyle/>
          <a:p>
            <a:pPr algn="ctr" indent="0" marL="0">
              <a:buNone/>
            </a:pPr>
            <a:r>
              <a:rPr lang="en-US" sz="2600" dirty="0">
                <a:solidFill>
                  <a:srgbClr val="FF9500"/>
                </a:solidFill>
                <a:latin typeface="Atkinson Hyperlegible" pitchFamily="34" charset="0"/>
                <a:ea typeface="Atkinson Hyperlegible" pitchFamily="34" charset="-122"/>
                <a:cs typeface="Atkinson Hyperlegible" pitchFamily="34" charset="-120"/>
              </a:rPr>
              <a:t>🛡</a:t>
            </a:r>
            <a:endParaRPr lang="en-US" sz="2600" dirty="0"/>
          </a:p>
        </p:txBody>
      </p:sp>
      <p:sp>
        <p:nvSpPr>
          <p:cNvPr id="22" name="Text 20"/>
          <p:cNvSpPr txBox="1"/>
          <p:nvPr/>
        </p:nvSpPr>
        <p:spPr>
          <a:xfrm>
            <a:off x="6263640" y="1965960"/>
            <a:ext cx="2423160" cy="502920"/>
          </a:xfrm>
          <a:prstGeom prst="rect">
            <a:avLst/>
          </a:prstGeom>
          <a:noFill/>
          <a:ln/>
        </p:spPr>
        <p:txBody>
          <a:bodyPr wrap="square" lIns="0" tIns="0" rIns="0" bIns="0" rtlCol="0" anchor="ctr"/>
          <a:lstStyle/>
          <a:p>
            <a:pPr algn="ct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 Segura</a:t>
            </a:r>
            <a:endParaRPr lang="en-US" sz="1300" dirty="0"/>
          </a:p>
        </p:txBody>
      </p:sp>
      <p:sp>
        <p:nvSpPr>
          <p:cNvPr id="23" name="Text 21"/>
          <p:cNvSpPr txBox="1"/>
          <p:nvPr/>
        </p:nvSpPr>
        <p:spPr>
          <a:xfrm>
            <a:off x="6263640" y="2578608"/>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Diseño para seguridad reduce incidentes en campo</a:t>
            </a:r>
            <a:endParaRPr lang="en-US" sz="1050" dirty="0"/>
          </a:p>
        </p:txBody>
      </p:sp>
      <p:sp>
        <p:nvSpPr>
          <p:cNvPr id="24" name="Text 22"/>
          <p:cNvSpPr txBox="1"/>
          <p:nvPr/>
        </p:nvSpPr>
        <p:spPr>
          <a:xfrm>
            <a:off x="6263640" y="3236976"/>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Trabajo en altura minimizado con pre-ensamble</a:t>
            </a:r>
            <a:endParaRPr lang="en-US" sz="1050" dirty="0"/>
          </a:p>
        </p:txBody>
      </p:sp>
      <p:sp>
        <p:nvSpPr>
          <p:cNvPr id="25" name="Text 23"/>
          <p:cNvSpPr txBox="1"/>
          <p:nvPr/>
        </p:nvSpPr>
        <p:spPr>
          <a:xfrm>
            <a:off x="6263640" y="3895344"/>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Accesos planificados evitan maniobras improvisadas</a:t>
            </a:r>
            <a:endParaRPr lang="en-US" sz="1050" dirty="0"/>
          </a:p>
        </p:txBody>
      </p:sp>
      <p:sp>
        <p:nvSpPr>
          <p:cNvPr id="26" name="Text 24"/>
          <p:cNvSpPr txBox="1"/>
          <p:nvPr/>
        </p:nvSpPr>
        <p:spPr>
          <a:xfrm>
            <a:off x="6263640" y="4553712"/>
            <a:ext cx="242316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Menos tiempo en campo = menos exposición al riesgo</a:t>
            </a:r>
            <a:endParaRPr lang="en-US" sz="105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113</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Modelo de Madurez del Programa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CII define 5 niveles de madurez para evaluar y mejorar progresivamente el programa:</a:t>
            </a:r>
            <a:endParaRPr lang="en-US" sz="1300" dirty="0"/>
          </a:p>
        </p:txBody>
      </p:sp>
      <p:sp>
        <p:nvSpPr>
          <p:cNvPr id="6" name="Shape 4"/>
          <p:cNvSpPr/>
          <p:nvPr/>
        </p:nvSpPr>
        <p:spPr>
          <a:xfrm>
            <a:off x="365760" y="1298448"/>
            <a:ext cx="8412480" cy="804672"/>
          </a:xfrm>
          <a:prstGeom prst="roundRect">
            <a:avLst>
              <a:gd name="adj" fmla="val 7955"/>
            </a:avLst>
          </a:prstGeom>
          <a:solidFill>
            <a:srgbClr val="2C2C2E"/>
          </a:solidFill>
          <a:ln w="12700">
            <a:solidFill>
              <a:srgbClr val="FF453A"/>
            </a:solidFill>
            <a:prstDash val="solid"/>
          </a:ln>
        </p:spPr>
      </p:sp>
      <p:sp>
        <p:nvSpPr>
          <p:cNvPr id="7" name="Shape 5"/>
          <p:cNvSpPr/>
          <p:nvPr/>
        </p:nvSpPr>
        <p:spPr>
          <a:xfrm>
            <a:off x="365760" y="2048256"/>
            <a:ext cx="1097280" cy="54864"/>
          </a:xfrm>
          <a:prstGeom prst="rect">
            <a:avLst/>
          </a:prstGeom>
          <a:solidFill>
            <a:srgbClr val="FF453A"/>
          </a:solidFill>
          <a:ln/>
        </p:spPr>
      </p:sp>
      <p:sp>
        <p:nvSpPr>
          <p:cNvPr id="8" name="Text 6"/>
          <p:cNvSpPr txBox="1"/>
          <p:nvPr/>
        </p:nvSpPr>
        <p:spPr>
          <a:xfrm>
            <a:off x="548640" y="1408176"/>
            <a:ext cx="77724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Nivel 1</a:t>
            </a:r>
            <a:endParaRPr lang="en-US" sz="1200" dirty="0"/>
          </a:p>
        </p:txBody>
      </p:sp>
      <p:sp>
        <p:nvSpPr>
          <p:cNvPr id="9" name="Text 7"/>
          <p:cNvSpPr txBox="1"/>
          <p:nvPr/>
        </p:nvSpPr>
        <p:spPr>
          <a:xfrm>
            <a:off x="1371600" y="1389888"/>
            <a:ext cx="201168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Inicial / Ad-hoc</a:t>
            </a:r>
            <a:endParaRPr lang="en-US" sz="1300" dirty="0"/>
          </a:p>
        </p:txBody>
      </p:sp>
      <p:sp>
        <p:nvSpPr>
          <p:cNvPr id="10" name="Text 8"/>
          <p:cNvSpPr txBox="1"/>
          <p:nvPr/>
        </p:nvSpPr>
        <p:spPr>
          <a:xfrm>
            <a:off x="3474720" y="1389888"/>
            <a:ext cx="516636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Sin proceso formal. Constructabilidad ocurre por casualidad o iniciativa personal. No hay métricas ni documentación sistemática.</a:t>
            </a:r>
            <a:endParaRPr lang="en-US" sz="1100" dirty="0"/>
          </a:p>
        </p:txBody>
      </p:sp>
      <p:sp>
        <p:nvSpPr>
          <p:cNvPr id="11" name="Shape 9"/>
          <p:cNvSpPr/>
          <p:nvPr/>
        </p:nvSpPr>
        <p:spPr>
          <a:xfrm>
            <a:off x="365760" y="2231136"/>
            <a:ext cx="8412480" cy="804672"/>
          </a:xfrm>
          <a:prstGeom prst="roundRect">
            <a:avLst>
              <a:gd name="adj" fmla="val 7955"/>
            </a:avLst>
          </a:prstGeom>
          <a:solidFill>
            <a:srgbClr val="2C2C2E"/>
          </a:solidFill>
          <a:ln w="12700">
            <a:solidFill>
              <a:srgbClr val="FF9500"/>
            </a:solidFill>
            <a:prstDash val="solid"/>
          </a:ln>
        </p:spPr>
      </p:sp>
      <p:sp>
        <p:nvSpPr>
          <p:cNvPr id="12" name="Shape 10"/>
          <p:cNvSpPr/>
          <p:nvPr/>
        </p:nvSpPr>
        <p:spPr>
          <a:xfrm>
            <a:off x="365760" y="2980944"/>
            <a:ext cx="2468880" cy="54864"/>
          </a:xfrm>
          <a:prstGeom prst="rect">
            <a:avLst/>
          </a:prstGeom>
          <a:solidFill>
            <a:srgbClr val="FF9500"/>
          </a:solidFill>
          <a:ln/>
        </p:spPr>
      </p:sp>
      <p:sp>
        <p:nvSpPr>
          <p:cNvPr id="13" name="Text 11"/>
          <p:cNvSpPr txBox="1"/>
          <p:nvPr/>
        </p:nvSpPr>
        <p:spPr>
          <a:xfrm>
            <a:off x="548640" y="2340864"/>
            <a:ext cx="777240" cy="29260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Nivel 2</a:t>
            </a:r>
            <a:endParaRPr lang="en-US" sz="1200" dirty="0"/>
          </a:p>
        </p:txBody>
      </p:sp>
      <p:sp>
        <p:nvSpPr>
          <p:cNvPr id="14" name="Text 12"/>
          <p:cNvSpPr txBox="1"/>
          <p:nvPr/>
        </p:nvSpPr>
        <p:spPr>
          <a:xfrm>
            <a:off x="1371600" y="2322576"/>
            <a:ext cx="201168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Repetible</a:t>
            </a:r>
            <a:endParaRPr lang="en-US" sz="1300" dirty="0"/>
          </a:p>
        </p:txBody>
      </p:sp>
      <p:sp>
        <p:nvSpPr>
          <p:cNvPr id="15" name="Text 13"/>
          <p:cNvSpPr txBox="1"/>
          <p:nvPr/>
        </p:nvSpPr>
        <p:spPr>
          <a:xfrm>
            <a:off x="3474720" y="2322576"/>
            <a:ext cx="516636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Proceso básico documentado. Se realizan revisiones formales pero no en todos los proyectos. LLDB incipiente.</a:t>
            </a:r>
            <a:endParaRPr lang="en-US" sz="1100" dirty="0"/>
          </a:p>
        </p:txBody>
      </p:sp>
      <p:sp>
        <p:nvSpPr>
          <p:cNvPr id="16" name="Shape 14"/>
          <p:cNvSpPr/>
          <p:nvPr/>
        </p:nvSpPr>
        <p:spPr>
          <a:xfrm>
            <a:off x="365760" y="3163824"/>
            <a:ext cx="8412480" cy="804672"/>
          </a:xfrm>
          <a:prstGeom prst="roundRect">
            <a:avLst>
              <a:gd name="adj" fmla="val 7955"/>
            </a:avLst>
          </a:prstGeom>
          <a:solidFill>
            <a:srgbClr val="2C2C2E"/>
          </a:solidFill>
          <a:ln w="12700">
            <a:solidFill>
              <a:srgbClr val="FFD60A"/>
            </a:solidFill>
            <a:prstDash val="solid"/>
          </a:ln>
        </p:spPr>
      </p:sp>
      <p:sp>
        <p:nvSpPr>
          <p:cNvPr id="17" name="Shape 15"/>
          <p:cNvSpPr/>
          <p:nvPr/>
        </p:nvSpPr>
        <p:spPr>
          <a:xfrm>
            <a:off x="365760" y="3913632"/>
            <a:ext cx="3840480" cy="54864"/>
          </a:xfrm>
          <a:prstGeom prst="rect">
            <a:avLst/>
          </a:prstGeom>
          <a:solidFill>
            <a:srgbClr val="FFD60A"/>
          </a:solidFill>
          <a:ln/>
        </p:spPr>
      </p:sp>
      <p:sp>
        <p:nvSpPr>
          <p:cNvPr id="18" name="Text 16"/>
          <p:cNvSpPr txBox="1"/>
          <p:nvPr/>
        </p:nvSpPr>
        <p:spPr>
          <a:xfrm>
            <a:off x="548640" y="3273552"/>
            <a:ext cx="777240" cy="292608"/>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Nivel 3</a:t>
            </a:r>
            <a:endParaRPr lang="en-US" sz="1200" dirty="0"/>
          </a:p>
        </p:txBody>
      </p:sp>
      <p:sp>
        <p:nvSpPr>
          <p:cNvPr id="19" name="Text 17"/>
          <p:cNvSpPr txBox="1"/>
          <p:nvPr/>
        </p:nvSpPr>
        <p:spPr>
          <a:xfrm>
            <a:off x="1371600" y="3255264"/>
            <a:ext cx="201168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Definido</a:t>
            </a:r>
            <a:endParaRPr lang="en-US" sz="1300" dirty="0"/>
          </a:p>
        </p:txBody>
      </p:sp>
      <p:sp>
        <p:nvSpPr>
          <p:cNvPr id="20" name="Text 18"/>
          <p:cNvSpPr txBox="1"/>
          <p:nvPr/>
        </p:nvSpPr>
        <p:spPr>
          <a:xfrm>
            <a:off x="3474720" y="3255264"/>
            <a:ext cx="516636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Proceso estándar aplicado en todos los proyectos mayores. CM de constructabilidad asignado. LLDB activa con historial.</a:t>
            </a:r>
            <a:endParaRPr lang="en-US" sz="1100" dirty="0"/>
          </a:p>
        </p:txBody>
      </p:sp>
      <p:sp>
        <p:nvSpPr>
          <p:cNvPr id="21" name="Shape 19"/>
          <p:cNvSpPr/>
          <p:nvPr/>
        </p:nvSpPr>
        <p:spPr>
          <a:xfrm>
            <a:off x="365760" y="4096512"/>
            <a:ext cx="8412480" cy="804672"/>
          </a:xfrm>
          <a:prstGeom prst="roundRect">
            <a:avLst>
              <a:gd name="adj" fmla="val 7955"/>
            </a:avLst>
          </a:prstGeom>
          <a:solidFill>
            <a:srgbClr val="2C2C2E"/>
          </a:solidFill>
          <a:ln w="12700">
            <a:solidFill>
              <a:srgbClr val="30D158"/>
            </a:solidFill>
            <a:prstDash val="solid"/>
          </a:ln>
        </p:spPr>
      </p:sp>
      <p:sp>
        <p:nvSpPr>
          <p:cNvPr id="22" name="Shape 20"/>
          <p:cNvSpPr/>
          <p:nvPr/>
        </p:nvSpPr>
        <p:spPr>
          <a:xfrm>
            <a:off x="365760" y="4846320"/>
            <a:ext cx="5212080" cy="54864"/>
          </a:xfrm>
          <a:prstGeom prst="rect">
            <a:avLst/>
          </a:prstGeom>
          <a:solidFill>
            <a:srgbClr val="30D158"/>
          </a:solidFill>
          <a:ln/>
        </p:spPr>
      </p:sp>
      <p:sp>
        <p:nvSpPr>
          <p:cNvPr id="23" name="Text 21"/>
          <p:cNvSpPr txBox="1"/>
          <p:nvPr/>
        </p:nvSpPr>
        <p:spPr>
          <a:xfrm>
            <a:off x="548640" y="4206240"/>
            <a:ext cx="7772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Nivel 4</a:t>
            </a:r>
            <a:endParaRPr lang="en-US" sz="1200" dirty="0"/>
          </a:p>
        </p:txBody>
      </p:sp>
      <p:sp>
        <p:nvSpPr>
          <p:cNvPr id="24" name="Text 22"/>
          <p:cNvSpPr txBox="1"/>
          <p:nvPr/>
        </p:nvSpPr>
        <p:spPr>
          <a:xfrm>
            <a:off x="1371600" y="4187952"/>
            <a:ext cx="201168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Gestionado</a:t>
            </a:r>
            <a:endParaRPr lang="en-US" sz="1300" dirty="0"/>
          </a:p>
        </p:txBody>
      </p:sp>
      <p:sp>
        <p:nvSpPr>
          <p:cNvPr id="25" name="Text 23"/>
          <p:cNvSpPr txBox="1"/>
          <p:nvPr/>
        </p:nvSpPr>
        <p:spPr>
          <a:xfrm>
            <a:off x="3474720" y="4187952"/>
            <a:ext cx="516636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KPIs medidos mensualmente. Beneficios cuantificados por proyecto. Capacitación formal. Cláusulas contractuales estándar.</a:t>
            </a:r>
            <a:endParaRPr lang="en-US" sz="1100" dirty="0"/>
          </a:p>
        </p:txBody>
      </p:sp>
      <p:sp>
        <p:nvSpPr>
          <p:cNvPr id="26" name="Shape 24"/>
          <p:cNvSpPr/>
          <p:nvPr/>
        </p:nvSpPr>
        <p:spPr>
          <a:xfrm>
            <a:off x="365760" y="5029200"/>
            <a:ext cx="8412480" cy="804672"/>
          </a:xfrm>
          <a:prstGeom prst="roundRect">
            <a:avLst>
              <a:gd name="adj" fmla="val 7955"/>
            </a:avLst>
          </a:prstGeom>
          <a:solidFill>
            <a:srgbClr val="2C2C2E"/>
          </a:solidFill>
          <a:ln w="12700">
            <a:solidFill>
              <a:srgbClr val="0A84FF"/>
            </a:solidFill>
            <a:prstDash val="solid"/>
          </a:ln>
        </p:spPr>
      </p:sp>
      <p:sp>
        <p:nvSpPr>
          <p:cNvPr id="27" name="Shape 25"/>
          <p:cNvSpPr/>
          <p:nvPr/>
        </p:nvSpPr>
        <p:spPr>
          <a:xfrm>
            <a:off x="365760" y="5779008"/>
            <a:ext cx="6583680" cy="54864"/>
          </a:xfrm>
          <a:prstGeom prst="rect">
            <a:avLst/>
          </a:prstGeom>
          <a:solidFill>
            <a:srgbClr val="0A84FF"/>
          </a:solidFill>
          <a:ln/>
        </p:spPr>
      </p:sp>
      <p:sp>
        <p:nvSpPr>
          <p:cNvPr id="28" name="Text 26"/>
          <p:cNvSpPr txBox="1"/>
          <p:nvPr/>
        </p:nvSpPr>
        <p:spPr>
          <a:xfrm>
            <a:off x="548640" y="5138928"/>
            <a:ext cx="77724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Nivel 5</a:t>
            </a:r>
            <a:endParaRPr lang="en-US" sz="1200" dirty="0"/>
          </a:p>
        </p:txBody>
      </p:sp>
      <p:sp>
        <p:nvSpPr>
          <p:cNvPr id="29" name="Text 27"/>
          <p:cNvSpPr txBox="1"/>
          <p:nvPr/>
        </p:nvSpPr>
        <p:spPr>
          <a:xfrm>
            <a:off x="1371600" y="5120640"/>
            <a:ext cx="2011680" cy="320040"/>
          </a:xfrm>
          <a:prstGeom prst="rect">
            <a:avLst/>
          </a:prstGeom>
          <a:noFill/>
          <a:ln/>
        </p:spPr>
        <p:txBody>
          <a:bodyPr wrap="square" lIns="0" tIns="0" rIns="0" bIns="0" rtlCol="0" anchor="ctr"/>
          <a:lstStyle/>
          <a:p>
            <a:pPr indent="0" marL="0">
              <a:buNone/>
            </a:pPr>
            <a:r>
              <a:rPr lang="en-US" sz="1300" b="1" dirty="0">
                <a:solidFill>
                  <a:srgbClr val="FFFFFF"/>
                </a:solidFill>
                <a:latin typeface="Atkinson Hyperlegible" pitchFamily="34" charset="0"/>
                <a:ea typeface="Atkinson Hyperlegible" pitchFamily="34" charset="-122"/>
                <a:cs typeface="Atkinson Hyperlegible" pitchFamily="34" charset="-120"/>
              </a:rPr>
              <a:t>Optimizando</a:t>
            </a:r>
            <a:endParaRPr lang="en-US" sz="1300" dirty="0"/>
          </a:p>
        </p:txBody>
      </p:sp>
      <p:sp>
        <p:nvSpPr>
          <p:cNvPr id="30" name="Text 28"/>
          <p:cNvSpPr txBox="1"/>
          <p:nvPr/>
        </p:nvSpPr>
        <p:spPr>
          <a:xfrm>
            <a:off x="3474720" y="5120640"/>
            <a:ext cx="5166360" cy="5943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Mejora continua basada en datos. Benchmarking con industria. Integración total con BIM/AWP/WFP. Innovación sistemática.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114</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Constructabilidad Digital: BIM, Digital Twin e IA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La transformación digital amplifica el alcance y velocidad de los principios de constructabilidad CII:</a:t>
            </a:r>
            <a:endParaRPr lang="en-US" sz="1300" dirty="0"/>
          </a:p>
        </p:txBody>
      </p:sp>
      <p:sp>
        <p:nvSpPr>
          <p:cNvPr id="6" name="Shape 4"/>
          <p:cNvSpPr/>
          <p:nvPr/>
        </p:nvSpPr>
        <p:spPr>
          <a:xfrm>
            <a:off x="365760" y="1298448"/>
            <a:ext cx="4160520" cy="2176272"/>
          </a:xfrm>
          <a:prstGeom prst="roundRect">
            <a:avLst>
              <a:gd name="adj" fmla="val 4202"/>
            </a:avLst>
          </a:prstGeom>
          <a:solidFill>
            <a:srgbClr val="2C2C2E"/>
          </a:solidFill>
          <a:ln w="25400">
            <a:solidFill>
              <a:srgbClr val="0A84FF"/>
            </a:solidFill>
            <a:prstDash val="solid"/>
          </a:ln>
        </p:spPr>
      </p:sp>
      <p:sp>
        <p:nvSpPr>
          <p:cNvPr id="7" name="Text 5"/>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BIM 3D/4D/5D</a:t>
            </a:r>
            <a:endParaRPr lang="en-US" sz="1500" dirty="0"/>
          </a:p>
        </p:txBody>
      </p:sp>
      <p:sp>
        <p:nvSpPr>
          <p:cNvPr id="8" name="Text 6"/>
          <p:cNvSpPr txBox="1"/>
          <p:nvPr/>
        </p:nvSpPr>
        <p:spPr>
          <a:xfrm>
            <a:off x="548640" y="1847088"/>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3D: detección de interferencias 100x más rápido que en 2D</a:t>
            </a:r>
            <a:endParaRPr lang="en-US" sz="1100" dirty="0"/>
          </a:p>
        </p:txBody>
      </p:sp>
      <p:sp>
        <p:nvSpPr>
          <p:cNvPr id="9" name="Text 7"/>
          <p:cNvSpPr txBox="1"/>
          <p:nvPr/>
        </p:nvSpPr>
        <p:spPr>
          <a:xfrm>
            <a:off x="548640" y="2249424"/>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4D: simulación de secuencia constructiva visualizada</a:t>
            </a:r>
            <a:endParaRPr lang="en-US" sz="1100" dirty="0"/>
          </a:p>
        </p:txBody>
      </p:sp>
      <p:sp>
        <p:nvSpPr>
          <p:cNvPr id="10" name="Text 8"/>
          <p:cNvSpPr txBox="1"/>
          <p:nvPr/>
        </p:nvSpPr>
        <p:spPr>
          <a:xfrm>
            <a:off x="548640" y="2651760"/>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5D: integración de costos y cronograma con el modelo</a:t>
            </a:r>
            <a:endParaRPr lang="en-US" sz="1100" dirty="0"/>
          </a:p>
        </p:txBody>
      </p:sp>
      <p:sp>
        <p:nvSpPr>
          <p:cNvPr id="11" name="Text 9"/>
          <p:cNvSpPr txBox="1"/>
          <p:nvPr/>
        </p:nvSpPr>
        <p:spPr>
          <a:xfrm>
            <a:off x="548640" y="3054096"/>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Revisiones de constructabilidad directamente en el modelo</a:t>
            </a:r>
            <a:endParaRPr lang="en-US" sz="1100" dirty="0"/>
          </a:p>
        </p:txBody>
      </p:sp>
      <p:sp>
        <p:nvSpPr>
          <p:cNvPr id="12" name="Shape 10"/>
          <p:cNvSpPr/>
          <p:nvPr/>
        </p:nvSpPr>
        <p:spPr>
          <a:xfrm>
            <a:off x="4754880" y="1298448"/>
            <a:ext cx="4160520" cy="2176272"/>
          </a:xfrm>
          <a:prstGeom prst="roundRect">
            <a:avLst>
              <a:gd name="adj" fmla="val 4202"/>
            </a:avLst>
          </a:prstGeom>
          <a:solidFill>
            <a:srgbClr val="2C2C2E"/>
          </a:solidFill>
          <a:ln w="25400">
            <a:solidFill>
              <a:srgbClr val="30D158"/>
            </a:solidFill>
            <a:prstDash val="solid"/>
          </a:ln>
        </p:spPr>
      </p:sp>
      <p:sp>
        <p:nvSpPr>
          <p:cNvPr id="13" name="Text 11"/>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Digital Twin</a:t>
            </a:r>
            <a:endParaRPr lang="en-US" sz="1500" dirty="0"/>
          </a:p>
        </p:txBody>
      </p:sp>
      <p:sp>
        <p:nvSpPr>
          <p:cNvPr id="14" name="Text 12"/>
          <p:cNvSpPr txBox="1"/>
          <p:nvPr/>
        </p:nvSpPr>
        <p:spPr>
          <a:xfrm>
            <a:off x="4937760" y="1847088"/>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Gemelo digital del proyecto desde diseño hasta operación</a:t>
            </a:r>
            <a:endParaRPr lang="en-US" sz="1100" dirty="0"/>
          </a:p>
        </p:txBody>
      </p:sp>
      <p:sp>
        <p:nvSpPr>
          <p:cNvPr id="15" name="Text 13"/>
          <p:cNvSpPr txBox="1"/>
          <p:nvPr/>
        </p:nvSpPr>
        <p:spPr>
          <a:xfrm>
            <a:off x="4937760" y="2249424"/>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Simulación de constructibilidad en entorno virtual antes de campo</a:t>
            </a:r>
            <a:endParaRPr lang="en-US" sz="1100" dirty="0"/>
          </a:p>
        </p:txBody>
      </p:sp>
      <p:sp>
        <p:nvSpPr>
          <p:cNvPr id="16" name="Text 14"/>
          <p:cNvSpPr txBox="1"/>
          <p:nvPr/>
        </p:nvSpPr>
        <p:spPr>
          <a:xfrm>
            <a:off x="4937760" y="2651760"/>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Actualización en tiempo real con datos de campo IoT</a:t>
            </a:r>
            <a:endParaRPr lang="en-US" sz="1100" dirty="0"/>
          </a:p>
        </p:txBody>
      </p:sp>
      <p:sp>
        <p:nvSpPr>
          <p:cNvPr id="17" name="Text 15"/>
          <p:cNvSpPr txBox="1"/>
          <p:nvPr/>
        </p:nvSpPr>
        <p:spPr>
          <a:xfrm>
            <a:off x="4937760" y="3054096"/>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Identificación temprana de conflictos constructivos</a:t>
            </a:r>
            <a:endParaRPr lang="en-US" sz="1100" dirty="0"/>
          </a:p>
        </p:txBody>
      </p:sp>
      <p:sp>
        <p:nvSpPr>
          <p:cNvPr id="18" name="Shape 16"/>
          <p:cNvSpPr/>
          <p:nvPr/>
        </p:nvSpPr>
        <p:spPr>
          <a:xfrm>
            <a:off x="365760" y="3675888"/>
            <a:ext cx="4160520" cy="2176272"/>
          </a:xfrm>
          <a:prstGeom prst="roundRect">
            <a:avLst>
              <a:gd name="adj" fmla="val 4202"/>
            </a:avLst>
          </a:prstGeom>
          <a:solidFill>
            <a:srgbClr val="2C2C2E"/>
          </a:solidFill>
          <a:ln w="25400">
            <a:solidFill>
              <a:srgbClr val="AF52DE"/>
            </a:solidFill>
            <a:prstDash val="solid"/>
          </a:ln>
        </p:spPr>
      </p:sp>
      <p:sp>
        <p:nvSpPr>
          <p:cNvPr id="19" name="Text 17"/>
          <p:cNvSpPr txBox="1"/>
          <p:nvPr/>
        </p:nvSpPr>
        <p:spPr>
          <a:xfrm>
            <a:off x="548640" y="3785616"/>
            <a:ext cx="379476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Inteligencia Artificial</a:t>
            </a:r>
            <a:endParaRPr lang="en-US" sz="1500" dirty="0"/>
          </a:p>
        </p:txBody>
      </p:sp>
      <p:sp>
        <p:nvSpPr>
          <p:cNvPr id="20" name="Text 18"/>
          <p:cNvSpPr txBox="1"/>
          <p:nvPr/>
        </p:nvSpPr>
        <p:spPr>
          <a:xfrm>
            <a:off x="548640" y="4224528"/>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ML para predecir problemas de constructabilidad en nuevos proyectos</a:t>
            </a:r>
            <a:endParaRPr lang="en-US" sz="1100" dirty="0"/>
          </a:p>
        </p:txBody>
      </p:sp>
      <p:sp>
        <p:nvSpPr>
          <p:cNvPr id="21" name="Text 19"/>
          <p:cNvSpPr txBox="1"/>
          <p:nvPr/>
        </p:nvSpPr>
        <p:spPr>
          <a:xfrm>
            <a:off x="548640" y="4626864"/>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NLP para extraer lecciones aprendidas automáticamente</a:t>
            </a:r>
            <a:endParaRPr lang="en-US" sz="1100" dirty="0"/>
          </a:p>
        </p:txBody>
      </p:sp>
      <p:sp>
        <p:nvSpPr>
          <p:cNvPr id="22" name="Text 20"/>
          <p:cNvSpPr txBox="1"/>
          <p:nvPr/>
        </p:nvSpPr>
        <p:spPr>
          <a:xfrm>
            <a:off x="548640" y="5029200"/>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Optimización automática de secuencias constructivas</a:t>
            </a:r>
            <a:endParaRPr lang="en-US" sz="1100" dirty="0"/>
          </a:p>
        </p:txBody>
      </p:sp>
      <p:sp>
        <p:nvSpPr>
          <p:cNvPr id="23" name="Text 21"/>
          <p:cNvSpPr txBox="1"/>
          <p:nvPr/>
        </p:nvSpPr>
        <p:spPr>
          <a:xfrm>
            <a:off x="548640" y="5431536"/>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Detección de patrones de diseño no-constructible</a:t>
            </a:r>
            <a:endParaRPr lang="en-US" sz="1100" dirty="0"/>
          </a:p>
        </p:txBody>
      </p:sp>
      <p:sp>
        <p:nvSpPr>
          <p:cNvPr id="24" name="Shape 22"/>
          <p:cNvSpPr/>
          <p:nvPr/>
        </p:nvSpPr>
        <p:spPr>
          <a:xfrm>
            <a:off x="4754880" y="3675888"/>
            <a:ext cx="4160520" cy="2176272"/>
          </a:xfrm>
          <a:prstGeom prst="roundRect">
            <a:avLst>
              <a:gd name="adj" fmla="val 4202"/>
            </a:avLst>
          </a:prstGeom>
          <a:solidFill>
            <a:srgbClr val="2C2C2E"/>
          </a:solidFill>
          <a:ln w="25400">
            <a:solidFill>
              <a:srgbClr val="FF9500"/>
            </a:solidFill>
            <a:prstDash val="solid"/>
          </a:ln>
        </p:spPr>
      </p:sp>
      <p:sp>
        <p:nvSpPr>
          <p:cNvPr id="25" name="Text 23"/>
          <p:cNvSpPr txBox="1"/>
          <p:nvPr/>
        </p:nvSpPr>
        <p:spPr>
          <a:xfrm>
            <a:off x="4937760" y="3785616"/>
            <a:ext cx="379476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Realidad Aumentada / VR</a:t>
            </a:r>
            <a:endParaRPr lang="en-US" sz="1500" dirty="0"/>
          </a:p>
        </p:txBody>
      </p:sp>
      <p:sp>
        <p:nvSpPr>
          <p:cNvPr id="26" name="Text 24"/>
          <p:cNvSpPr txBox="1"/>
          <p:nvPr/>
        </p:nvSpPr>
        <p:spPr>
          <a:xfrm>
            <a:off x="4937760" y="4224528"/>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Walkthroughs virtuales de constructabilidad con el equipo</a:t>
            </a:r>
            <a:endParaRPr lang="en-US" sz="1100" dirty="0"/>
          </a:p>
        </p:txBody>
      </p:sp>
      <p:sp>
        <p:nvSpPr>
          <p:cNvPr id="27" name="Text 25"/>
          <p:cNvSpPr txBox="1"/>
          <p:nvPr/>
        </p:nvSpPr>
        <p:spPr>
          <a:xfrm>
            <a:off x="4937760" y="4626864"/>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Operarios en campo con AR para instrucciones de IWP</a:t>
            </a:r>
            <a:endParaRPr lang="en-US" sz="1100" dirty="0"/>
          </a:p>
        </p:txBody>
      </p:sp>
      <p:sp>
        <p:nvSpPr>
          <p:cNvPr id="28" name="Text 26"/>
          <p:cNvSpPr txBox="1"/>
          <p:nvPr/>
        </p:nvSpPr>
        <p:spPr>
          <a:xfrm>
            <a:off x="4937760" y="5029200"/>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Revisiones de seguridad en entorno virtual antes de campo</a:t>
            </a:r>
            <a:endParaRPr lang="en-US" sz="1100" dirty="0"/>
          </a:p>
        </p:txBody>
      </p:sp>
      <p:sp>
        <p:nvSpPr>
          <p:cNvPr id="29" name="Text 27"/>
          <p:cNvSpPr txBox="1"/>
          <p:nvPr/>
        </p:nvSpPr>
        <p:spPr>
          <a:xfrm>
            <a:off x="4937760" y="5431536"/>
            <a:ext cx="3794760" cy="3657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Entrenamiento de constructabilidad en simulador inmersivo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115</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KPIs Avanzados del Programa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Sistema completo de indicadores para medir el impacto real del programa en cada proyecto:</a:t>
            </a:r>
            <a:endParaRPr lang="en-US" sz="1300" dirty="0"/>
          </a:p>
        </p:txBody>
      </p:sp>
      <p:sp>
        <p:nvSpPr>
          <p:cNvPr id="6" name="Shape 4"/>
          <p:cNvSpPr/>
          <p:nvPr/>
        </p:nvSpPr>
        <p:spPr>
          <a:xfrm>
            <a:off x="365760" y="1298448"/>
            <a:ext cx="8412480" cy="347472"/>
          </a:xfrm>
          <a:prstGeom prst="rect">
            <a:avLst/>
          </a:prstGeom>
          <a:solidFill>
            <a:srgbClr val="3A3A3C"/>
          </a:solidFill>
          <a:ln/>
        </p:spPr>
      </p:sp>
      <p:sp>
        <p:nvSpPr>
          <p:cNvPr id="7" name="Text 5"/>
          <p:cNvSpPr txBox="1"/>
          <p:nvPr/>
        </p:nvSpPr>
        <p:spPr>
          <a:xfrm>
            <a:off x="502920" y="1344168"/>
            <a:ext cx="141732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KPI</a:t>
            </a:r>
            <a:endParaRPr lang="en-US" sz="1200" dirty="0"/>
          </a:p>
        </p:txBody>
      </p:sp>
      <p:sp>
        <p:nvSpPr>
          <p:cNvPr id="8" name="Text 6"/>
          <p:cNvSpPr txBox="1"/>
          <p:nvPr/>
        </p:nvSpPr>
        <p:spPr>
          <a:xfrm>
            <a:off x="2011680" y="1344168"/>
            <a:ext cx="3840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Fórmula / Definición</a:t>
            </a:r>
            <a:endParaRPr lang="en-US" sz="1200" dirty="0"/>
          </a:p>
        </p:txBody>
      </p:sp>
      <p:sp>
        <p:nvSpPr>
          <p:cNvPr id="9" name="Text 7"/>
          <p:cNvSpPr txBox="1"/>
          <p:nvPr/>
        </p:nvSpPr>
        <p:spPr>
          <a:xfrm>
            <a:off x="5943600" y="1344168"/>
            <a:ext cx="10972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Unidad</a:t>
            </a:r>
            <a:endParaRPr lang="en-US" sz="1200" dirty="0"/>
          </a:p>
        </p:txBody>
      </p:sp>
      <p:sp>
        <p:nvSpPr>
          <p:cNvPr id="10" name="Text 8"/>
          <p:cNvSpPr txBox="1"/>
          <p:nvPr/>
        </p:nvSpPr>
        <p:spPr>
          <a:xfrm>
            <a:off x="7132320" y="1344168"/>
            <a:ext cx="1554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Benchmark CII</a:t>
            </a:r>
            <a:endParaRPr lang="en-US" sz="1200" dirty="0"/>
          </a:p>
        </p:txBody>
      </p:sp>
      <p:sp>
        <p:nvSpPr>
          <p:cNvPr id="11" name="Shape 9"/>
          <p:cNvSpPr/>
          <p:nvPr/>
        </p:nvSpPr>
        <p:spPr>
          <a:xfrm>
            <a:off x="365760" y="1719072"/>
            <a:ext cx="8412480" cy="438912"/>
          </a:xfrm>
          <a:prstGeom prst="rect">
            <a:avLst/>
          </a:prstGeom>
          <a:solidFill>
            <a:srgbClr val="2C2C2E"/>
          </a:solidFill>
          <a:ln/>
        </p:spPr>
      </p:sp>
      <p:sp>
        <p:nvSpPr>
          <p:cNvPr id="12" name="Text 10"/>
          <p:cNvSpPr txBox="1"/>
          <p:nvPr/>
        </p:nvSpPr>
        <p:spPr>
          <a:xfrm>
            <a:off x="502920" y="1801368"/>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Tasa de Ideas</a:t>
            </a:r>
            <a:endParaRPr lang="en-US" sz="1100" dirty="0"/>
          </a:p>
        </p:txBody>
      </p:sp>
      <p:sp>
        <p:nvSpPr>
          <p:cNvPr id="13" name="Text 11"/>
          <p:cNvSpPr txBox="1"/>
          <p:nvPr/>
        </p:nvSpPr>
        <p:spPr>
          <a:xfrm>
            <a:off x="2011680" y="180136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 Ideas implementadas / # Ideas generadas × 100</a:t>
            </a:r>
            <a:endParaRPr lang="en-US" sz="1000" dirty="0"/>
          </a:p>
        </p:txBody>
      </p:sp>
      <p:sp>
        <p:nvSpPr>
          <p:cNvPr id="14" name="Text 12"/>
          <p:cNvSpPr txBox="1"/>
          <p:nvPr/>
        </p:nvSpPr>
        <p:spPr>
          <a:xfrm>
            <a:off x="5943600" y="1801368"/>
            <a:ext cx="1097280" cy="27432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t>
            </a:r>
            <a:endParaRPr lang="en-US" sz="1100" dirty="0"/>
          </a:p>
        </p:txBody>
      </p:sp>
      <p:sp>
        <p:nvSpPr>
          <p:cNvPr id="15" name="Text 13"/>
          <p:cNvSpPr txBox="1"/>
          <p:nvPr/>
        </p:nvSpPr>
        <p:spPr>
          <a:xfrm>
            <a:off x="7132320" y="18013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60%</a:t>
            </a:r>
            <a:endParaRPr lang="en-US" sz="1100" dirty="0"/>
          </a:p>
        </p:txBody>
      </p:sp>
      <p:sp>
        <p:nvSpPr>
          <p:cNvPr id="16" name="Shape 14"/>
          <p:cNvSpPr/>
          <p:nvPr/>
        </p:nvSpPr>
        <p:spPr>
          <a:xfrm>
            <a:off x="365760" y="2221992"/>
            <a:ext cx="8412480" cy="438912"/>
          </a:xfrm>
          <a:prstGeom prst="rect">
            <a:avLst/>
          </a:prstGeom>
          <a:solidFill>
            <a:srgbClr val="3A3A3C"/>
          </a:solidFill>
          <a:ln/>
        </p:spPr>
      </p:sp>
      <p:sp>
        <p:nvSpPr>
          <p:cNvPr id="17" name="Text 15"/>
          <p:cNvSpPr txBox="1"/>
          <p:nvPr/>
        </p:nvSpPr>
        <p:spPr>
          <a:xfrm>
            <a:off x="502920" y="2304288"/>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Ahorro por Idea</a:t>
            </a:r>
            <a:endParaRPr lang="en-US" sz="1100" dirty="0"/>
          </a:p>
        </p:txBody>
      </p:sp>
      <p:sp>
        <p:nvSpPr>
          <p:cNvPr id="18" name="Text 16"/>
          <p:cNvSpPr txBox="1"/>
          <p:nvPr/>
        </p:nvSpPr>
        <p:spPr>
          <a:xfrm>
            <a:off x="2011680" y="230428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Ahorro total ($) / Ideas implementadas</a:t>
            </a:r>
            <a:endParaRPr lang="en-US" sz="1000" dirty="0"/>
          </a:p>
        </p:txBody>
      </p:sp>
      <p:sp>
        <p:nvSpPr>
          <p:cNvPr id="19" name="Text 17"/>
          <p:cNvSpPr txBox="1"/>
          <p:nvPr/>
        </p:nvSpPr>
        <p:spPr>
          <a:xfrm>
            <a:off x="5943600" y="2304288"/>
            <a:ext cx="1097280" cy="27432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$/idea</a:t>
            </a:r>
            <a:endParaRPr lang="en-US" sz="1100" dirty="0"/>
          </a:p>
        </p:txBody>
      </p:sp>
      <p:sp>
        <p:nvSpPr>
          <p:cNvPr id="20" name="Text 18"/>
          <p:cNvSpPr txBox="1"/>
          <p:nvPr/>
        </p:nvSpPr>
        <p:spPr>
          <a:xfrm>
            <a:off x="7132320" y="23042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Var.</a:t>
            </a:r>
            <a:endParaRPr lang="en-US" sz="1100" dirty="0"/>
          </a:p>
        </p:txBody>
      </p:sp>
      <p:sp>
        <p:nvSpPr>
          <p:cNvPr id="21" name="Shape 19"/>
          <p:cNvSpPr/>
          <p:nvPr/>
        </p:nvSpPr>
        <p:spPr>
          <a:xfrm>
            <a:off x="365760" y="2724912"/>
            <a:ext cx="8412480" cy="438912"/>
          </a:xfrm>
          <a:prstGeom prst="rect">
            <a:avLst/>
          </a:prstGeom>
          <a:solidFill>
            <a:srgbClr val="2C2C2E"/>
          </a:solidFill>
          <a:ln/>
        </p:spPr>
      </p:sp>
      <p:sp>
        <p:nvSpPr>
          <p:cNvPr id="22" name="Text 20"/>
          <p:cNvSpPr txBox="1"/>
          <p:nvPr/>
        </p:nvSpPr>
        <p:spPr>
          <a:xfrm>
            <a:off x="502920" y="2807208"/>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ROI Programa</a:t>
            </a:r>
            <a:endParaRPr lang="en-US" sz="1100" dirty="0"/>
          </a:p>
        </p:txBody>
      </p:sp>
      <p:sp>
        <p:nvSpPr>
          <p:cNvPr id="23" name="Text 21"/>
          <p:cNvSpPr txBox="1"/>
          <p:nvPr/>
        </p:nvSpPr>
        <p:spPr>
          <a:xfrm>
            <a:off x="2011680" y="280720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(Ahorro - Costo programa) / Costo programa × 100</a:t>
            </a:r>
            <a:endParaRPr lang="en-US" sz="1000" dirty="0"/>
          </a:p>
        </p:txBody>
      </p:sp>
      <p:sp>
        <p:nvSpPr>
          <p:cNvPr id="24" name="Text 22"/>
          <p:cNvSpPr txBox="1"/>
          <p:nvPr/>
        </p:nvSpPr>
        <p:spPr>
          <a:xfrm>
            <a:off x="5943600" y="2807208"/>
            <a:ext cx="1097280" cy="27432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t>
            </a:r>
            <a:endParaRPr lang="en-US" sz="1100" dirty="0"/>
          </a:p>
        </p:txBody>
      </p:sp>
      <p:sp>
        <p:nvSpPr>
          <p:cNvPr id="25" name="Text 23"/>
          <p:cNvSpPr txBox="1"/>
          <p:nvPr/>
        </p:nvSpPr>
        <p:spPr>
          <a:xfrm>
            <a:off x="7132320" y="28072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1,000%</a:t>
            </a:r>
            <a:endParaRPr lang="en-US" sz="1100" dirty="0"/>
          </a:p>
        </p:txBody>
      </p:sp>
      <p:sp>
        <p:nvSpPr>
          <p:cNvPr id="26" name="Shape 24"/>
          <p:cNvSpPr/>
          <p:nvPr/>
        </p:nvSpPr>
        <p:spPr>
          <a:xfrm>
            <a:off x="365760" y="3227832"/>
            <a:ext cx="8412480" cy="438912"/>
          </a:xfrm>
          <a:prstGeom prst="rect">
            <a:avLst/>
          </a:prstGeom>
          <a:solidFill>
            <a:srgbClr val="3A3A3C"/>
          </a:solidFill>
          <a:ln/>
        </p:spPr>
      </p:sp>
      <p:sp>
        <p:nvSpPr>
          <p:cNvPr id="27" name="Text 25"/>
          <p:cNvSpPr txBox="1"/>
          <p:nvPr/>
        </p:nvSpPr>
        <p:spPr>
          <a:xfrm>
            <a:off x="502920" y="3310128"/>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Cobertura Fases</a:t>
            </a:r>
            <a:endParaRPr lang="en-US" sz="1100" dirty="0"/>
          </a:p>
        </p:txBody>
      </p:sp>
      <p:sp>
        <p:nvSpPr>
          <p:cNvPr id="28" name="Text 26"/>
          <p:cNvSpPr txBox="1"/>
          <p:nvPr/>
        </p:nvSpPr>
        <p:spPr>
          <a:xfrm>
            <a:off x="2011680" y="331012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Proyectos con constructabilidad FEL-2 / Total proyectos</a:t>
            </a:r>
            <a:endParaRPr lang="en-US" sz="1000" dirty="0"/>
          </a:p>
        </p:txBody>
      </p:sp>
      <p:sp>
        <p:nvSpPr>
          <p:cNvPr id="29" name="Text 27"/>
          <p:cNvSpPr txBox="1"/>
          <p:nvPr/>
        </p:nvSpPr>
        <p:spPr>
          <a:xfrm>
            <a:off x="5943600" y="3310128"/>
            <a:ext cx="1097280" cy="27432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t>
            </a:r>
            <a:endParaRPr lang="en-US" sz="1100" dirty="0"/>
          </a:p>
        </p:txBody>
      </p:sp>
      <p:sp>
        <p:nvSpPr>
          <p:cNvPr id="30" name="Text 28"/>
          <p:cNvSpPr txBox="1"/>
          <p:nvPr/>
        </p:nvSpPr>
        <p:spPr>
          <a:xfrm>
            <a:off x="7132320" y="331012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80%</a:t>
            </a:r>
            <a:endParaRPr lang="en-US" sz="1100" dirty="0"/>
          </a:p>
        </p:txBody>
      </p:sp>
      <p:sp>
        <p:nvSpPr>
          <p:cNvPr id="31" name="Shape 29"/>
          <p:cNvSpPr/>
          <p:nvPr/>
        </p:nvSpPr>
        <p:spPr>
          <a:xfrm>
            <a:off x="365760" y="3730752"/>
            <a:ext cx="8412480" cy="438912"/>
          </a:xfrm>
          <a:prstGeom prst="rect">
            <a:avLst/>
          </a:prstGeom>
          <a:solidFill>
            <a:srgbClr val="2C2C2E"/>
          </a:solidFill>
          <a:ln/>
        </p:spPr>
      </p:sp>
      <p:sp>
        <p:nvSpPr>
          <p:cNvPr id="32" name="Text 30"/>
          <p:cNvSpPr txBox="1"/>
          <p:nvPr/>
        </p:nvSpPr>
        <p:spPr>
          <a:xfrm>
            <a:off x="502920" y="3813048"/>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Velocidad Revisión</a:t>
            </a:r>
            <a:endParaRPr lang="en-US" sz="1100" dirty="0"/>
          </a:p>
        </p:txBody>
      </p:sp>
      <p:sp>
        <p:nvSpPr>
          <p:cNvPr id="33" name="Text 31"/>
          <p:cNvSpPr txBox="1"/>
          <p:nvPr/>
        </p:nvSpPr>
        <p:spPr>
          <a:xfrm>
            <a:off x="2011680" y="381304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Días promedio desde solicitud a revisión completada</a:t>
            </a:r>
            <a:endParaRPr lang="en-US" sz="1000" dirty="0"/>
          </a:p>
        </p:txBody>
      </p:sp>
      <p:sp>
        <p:nvSpPr>
          <p:cNvPr id="34" name="Text 32"/>
          <p:cNvSpPr txBox="1"/>
          <p:nvPr/>
        </p:nvSpPr>
        <p:spPr>
          <a:xfrm>
            <a:off x="5943600" y="3813048"/>
            <a:ext cx="1097280" cy="27432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días</a:t>
            </a:r>
            <a:endParaRPr lang="en-US" sz="1100" dirty="0"/>
          </a:p>
        </p:txBody>
      </p:sp>
      <p:sp>
        <p:nvSpPr>
          <p:cNvPr id="35" name="Text 33"/>
          <p:cNvSpPr txBox="1"/>
          <p:nvPr/>
        </p:nvSpPr>
        <p:spPr>
          <a:xfrm>
            <a:off x="7132320" y="381304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&lt; 5 días</a:t>
            </a:r>
            <a:endParaRPr lang="en-US" sz="1100" dirty="0"/>
          </a:p>
        </p:txBody>
      </p:sp>
      <p:sp>
        <p:nvSpPr>
          <p:cNvPr id="36" name="Shape 34"/>
          <p:cNvSpPr/>
          <p:nvPr/>
        </p:nvSpPr>
        <p:spPr>
          <a:xfrm>
            <a:off x="365760" y="4233672"/>
            <a:ext cx="8412480" cy="438912"/>
          </a:xfrm>
          <a:prstGeom prst="rect">
            <a:avLst/>
          </a:prstGeom>
          <a:solidFill>
            <a:srgbClr val="3A3A3C"/>
          </a:solidFill>
          <a:ln/>
        </p:spPr>
      </p:sp>
      <p:sp>
        <p:nvSpPr>
          <p:cNvPr id="37" name="Text 35"/>
          <p:cNvSpPr txBox="1"/>
          <p:nvPr/>
        </p:nvSpPr>
        <p:spPr>
          <a:xfrm>
            <a:off x="502920" y="4315968"/>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Satisfacción Equipo</a:t>
            </a:r>
            <a:endParaRPr lang="en-US" sz="1100" dirty="0"/>
          </a:p>
        </p:txBody>
      </p:sp>
      <p:sp>
        <p:nvSpPr>
          <p:cNvPr id="38" name="Text 36"/>
          <p:cNvSpPr txBox="1"/>
          <p:nvPr/>
        </p:nvSpPr>
        <p:spPr>
          <a:xfrm>
            <a:off x="2011680" y="431596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NPS del programa entre PMs e ingenieros de proyecto</a:t>
            </a:r>
            <a:endParaRPr lang="en-US" sz="1000" dirty="0"/>
          </a:p>
        </p:txBody>
      </p:sp>
      <p:sp>
        <p:nvSpPr>
          <p:cNvPr id="39" name="Text 37"/>
          <p:cNvSpPr txBox="1"/>
          <p:nvPr/>
        </p:nvSpPr>
        <p:spPr>
          <a:xfrm>
            <a:off x="5943600" y="4315968"/>
            <a:ext cx="1097280" cy="27432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NPS</a:t>
            </a:r>
            <a:endParaRPr lang="en-US" sz="1100" dirty="0"/>
          </a:p>
        </p:txBody>
      </p:sp>
      <p:sp>
        <p:nvSpPr>
          <p:cNvPr id="40" name="Text 38"/>
          <p:cNvSpPr txBox="1"/>
          <p:nvPr/>
        </p:nvSpPr>
        <p:spPr>
          <a:xfrm>
            <a:off x="7132320" y="43159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30</a:t>
            </a:r>
            <a:endParaRPr lang="en-US" sz="1100" dirty="0"/>
          </a:p>
        </p:txBody>
      </p:sp>
      <p:sp>
        <p:nvSpPr>
          <p:cNvPr id="41" name="Shape 39"/>
          <p:cNvSpPr/>
          <p:nvPr/>
        </p:nvSpPr>
        <p:spPr>
          <a:xfrm>
            <a:off x="365760" y="4736592"/>
            <a:ext cx="8412480" cy="438912"/>
          </a:xfrm>
          <a:prstGeom prst="rect">
            <a:avLst/>
          </a:prstGeom>
          <a:solidFill>
            <a:srgbClr val="2C2C2E"/>
          </a:solidFill>
          <a:ln/>
        </p:spPr>
      </p:sp>
      <p:sp>
        <p:nvSpPr>
          <p:cNvPr id="42" name="Text 40"/>
          <p:cNvSpPr txBox="1"/>
          <p:nvPr/>
        </p:nvSpPr>
        <p:spPr>
          <a:xfrm>
            <a:off x="502920" y="4818888"/>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Reutilización LLDB</a:t>
            </a:r>
            <a:endParaRPr lang="en-US" sz="1100" dirty="0"/>
          </a:p>
        </p:txBody>
      </p:sp>
      <p:sp>
        <p:nvSpPr>
          <p:cNvPr id="43" name="Text 41"/>
          <p:cNvSpPr txBox="1"/>
          <p:nvPr/>
        </p:nvSpPr>
        <p:spPr>
          <a:xfrm>
            <a:off x="2011680" y="481888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Ideas de LLDB usadas / Total ideas revisadas × 100</a:t>
            </a:r>
            <a:endParaRPr lang="en-US" sz="1000" dirty="0"/>
          </a:p>
        </p:txBody>
      </p:sp>
      <p:sp>
        <p:nvSpPr>
          <p:cNvPr id="44" name="Text 42"/>
          <p:cNvSpPr txBox="1"/>
          <p:nvPr/>
        </p:nvSpPr>
        <p:spPr>
          <a:xfrm>
            <a:off x="5943600" y="4818888"/>
            <a:ext cx="1097280" cy="27432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t>
            </a:r>
            <a:endParaRPr lang="en-US" sz="1100" dirty="0"/>
          </a:p>
        </p:txBody>
      </p:sp>
      <p:sp>
        <p:nvSpPr>
          <p:cNvPr id="45" name="Text 43"/>
          <p:cNvSpPr txBox="1"/>
          <p:nvPr/>
        </p:nvSpPr>
        <p:spPr>
          <a:xfrm>
            <a:off x="7132320" y="48188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40%</a:t>
            </a:r>
            <a:endParaRPr lang="en-US" sz="1100" dirty="0"/>
          </a:p>
        </p:txBody>
      </p:sp>
      <p:sp>
        <p:nvSpPr>
          <p:cNvPr id="46" name="Shape 44"/>
          <p:cNvSpPr/>
          <p:nvPr/>
        </p:nvSpPr>
        <p:spPr>
          <a:xfrm>
            <a:off x="365760" y="5239512"/>
            <a:ext cx="8412480" cy="438912"/>
          </a:xfrm>
          <a:prstGeom prst="rect">
            <a:avLst/>
          </a:prstGeom>
          <a:solidFill>
            <a:srgbClr val="3A3A3C"/>
          </a:solidFill>
          <a:ln/>
        </p:spPr>
      </p:sp>
      <p:sp>
        <p:nvSpPr>
          <p:cNvPr id="47" name="Text 45"/>
          <p:cNvSpPr txBox="1"/>
          <p:nvPr/>
        </p:nvSpPr>
        <p:spPr>
          <a:xfrm>
            <a:off x="502920" y="5321808"/>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Atkinson Hyperlegible" pitchFamily="34" charset="0"/>
                <a:ea typeface="Atkinson Hyperlegible" pitchFamily="34" charset="-122"/>
                <a:cs typeface="Atkinson Hyperlegible" pitchFamily="34" charset="-120"/>
              </a:rPr>
              <a:t>CPI Proyectos</a:t>
            </a:r>
            <a:endParaRPr lang="en-US" sz="1100" dirty="0"/>
          </a:p>
        </p:txBody>
      </p:sp>
      <p:sp>
        <p:nvSpPr>
          <p:cNvPr id="48" name="Text 46"/>
          <p:cNvSpPr txBox="1"/>
          <p:nvPr/>
        </p:nvSpPr>
        <p:spPr>
          <a:xfrm>
            <a:off x="2011680" y="5321808"/>
            <a:ext cx="3840480" cy="27432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Cost Performance Index de proyectos con vs. sin prog.</a:t>
            </a:r>
            <a:endParaRPr lang="en-US" sz="1000" dirty="0"/>
          </a:p>
        </p:txBody>
      </p:sp>
      <p:sp>
        <p:nvSpPr>
          <p:cNvPr id="49" name="Text 47"/>
          <p:cNvSpPr txBox="1"/>
          <p:nvPr/>
        </p:nvSpPr>
        <p:spPr>
          <a:xfrm>
            <a:off x="5943600" y="5321808"/>
            <a:ext cx="1097280" cy="274320"/>
          </a:xfrm>
          <a:prstGeom prst="rect">
            <a:avLst/>
          </a:prstGeom>
          <a:noFill/>
          <a:ln/>
        </p:spPr>
        <p:txBody>
          <a:bodyPr wrap="square" lIns="0" tIns="0" rIns="0" bIns="0" rtlCol="0" anchor="ctr"/>
          <a:lstStyle/>
          <a:p>
            <a:pPr algn="ct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ratio</a:t>
            </a:r>
            <a:endParaRPr lang="en-US" sz="1100" dirty="0"/>
          </a:p>
        </p:txBody>
      </p:sp>
      <p:sp>
        <p:nvSpPr>
          <p:cNvPr id="50" name="Text 48"/>
          <p:cNvSpPr txBox="1"/>
          <p:nvPr/>
        </p:nvSpPr>
        <p:spPr>
          <a:xfrm>
            <a:off x="7132320" y="53218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1.05</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Plan de Acción: Primeros 90 Días del Programa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Hoja de ruta práctica para establecer un programa de constructabilidad desde cero:</a:t>
            </a:r>
            <a:endParaRPr lang="en-US" sz="1300" dirty="0"/>
          </a:p>
        </p:txBody>
      </p:sp>
      <p:sp>
        <p:nvSpPr>
          <p:cNvPr id="6" name="Shape 4"/>
          <p:cNvSpPr/>
          <p:nvPr/>
        </p:nvSpPr>
        <p:spPr>
          <a:xfrm>
            <a:off x="365760" y="1298448"/>
            <a:ext cx="8412480" cy="1508760"/>
          </a:xfrm>
          <a:prstGeom prst="roundRect">
            <a:avLst>
              <a:gd name="adj" fmla="val 6061"/>
            </a:avLst>
          </a:prstGeom>
          <a:solidFill>
            <a:srgbClr val="2C2C2E"/>
          </a:solidFill>
          <a:ln w="25400">
            <a:solidFill>
              <a:srgbClr val="FF453A"/>
            </a:solidFill>
            <a:prstDash val="solid"/>
          </a:ln>
        </p:spPr>
      </p:sp>
      <p:sp>
        <p:nvSpPr>
          <p:cNvPr id="7" name="Text 5"/>
          <p:cNvSpPr txBox="1"/>
          <p:nvPr/>
        </p:nvSpPr>
        <p:spPr>
          <a:xfrm>
            <a:off x="548640" y="1408176"/>
            <a:ext cx="1371600" cy="365760"/>
          </a:xfrm>
          <a:prstGeom prst="rect">
            <a:avLst/>
          </a:prstGeom>
          <a:noFill/>
          <a:ln/>
        </p:spPr>
        <p:txBody>
          <a:bodyPr wrap="square" lIns="0" tIns="0" rIns="0" bIns="0" rtlCol="0" anchor="ctr"/>
          <a:lstStyle/>
          <a:p>
            <a:pPr indent="0" marL="0">
              <a:buNone/>
            </a:pPr>
            <a:r>
              <a:rPr lang="en-US" sz="1600" b="1" dirty="0">
                <a:solidFill>
                  <a:srgbClr val="FF453A"/>
                </a:solidFill>
                <a:latin typeface="Atkinson Hyperlegible" pitchFamily="34" charset="0"/>
                <a:ea typeface="Atkinson Hyperlegible" pitchFamily="34" charset="-122"/>
                <a:cs typeface="Atkinson Hyperlegible" pitchFamily="34" charset="-120"/>
              </a:rPr>
              <a:t>Días 1-30</a:t>
            </a:r>
            <a:endParaRPr lang="en-US" sz="1600" dirty="0"/>
          </a:p>
        </p:txBody>
      </p:sp>
      <p:sp>
        <p:nvSpPr>
          <p:cNvPr id="8" name="Text 6"/>
          <p:cNvSpPr txBox="1"/>
          <p:nvPr/>
        </p:nvSpPr>
        <p:spPr>
          <a:xfrm>
            <a:off x="2011680" y="1408176"/>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Diagnóstico del estado actual: entrevistas a PMs, CMs e ingenieros</a:t>
            </a:r>
            <a:endParaRPr lang="en-US" sz="1050" dirty="0"/>
          </a:p>
        </p:txBody>
      </p:sp>
      <p:sp>
        <p:nvSpPr>
          <p:cNvPr id="9" name="Text 7"/>
          <p:cNvSpPr txBox="1"/>
          <p:nvPr/>
        </p:nvSpPr>
        <p:spPr>
          <a:xfrm>
            <a:off x="5349240" y="1408176"/>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Análisis de 3-5 proyectos recientes: identificar pérdidas no-constructibles</a:t>
            </a:r>
            <a:endParaRPr lang="en-US" sz="1050" dirty="0"/>
          </a:p>
        </p:txBody>
      </p:sp>
      <p:sp>
        <p:nvSpPr>
          <p:cNvPr id="10" name="Text 8"/>
          <p:cNvSpPr txBox="1"/>
          <p:nvPr/>
        </p:nvSpPr>
        <p:spPr>
          <a:xfrm>
            <a:off x="2011680" y="2066544"/>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Definir campeón del programa (Construction Champion) con autoridad real</a:t>
            </a:r>
            <a:endParaRPr lang="en-US" sz="1050" dirty="0"/>
          </a:p>
        </p:txBody>
      </p:sp>
      <p:sp>
        <p:nvSpPr>
          <p:cNvPr id="11" name="Text 9"/>
          <p:cNvSpPr txBox="1"/>
          <p:nvPr/>
        </p:nvSpPr>
        <p:spPr>
          <a:xfrm>
            <a:off x="5349240" y="2066544"/>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Propuesta al CEO: caso de negocio con ROI esperado basado en datos propios</a:t>
            </a:r>
            <a:endParaRPr lang="en-US" sz="1050" dirty="0"/>
          </a:p>
        </p:txBody>
      </p:sp>
      <p:sp>
        <p:nvSpPr>
          <p:cNvPr id="12" name="Shape 10"/>
          <p:cNvSpPr/>
          <p:nvPr/>
        </p:nvSpPr>
        <p:spPr>
          <a:xfrm>
            <a:off x="365760" y="2962656"/>
            <a:ext cx="8412480" cy="1508760"/>
          </a:xfrm>
          <a:prstGeom prst="roundRect">
            <a:avLst>
              <a:gd name="adj" fmla="val 6061"/>
            </a:avLst>
          </a:prstGeom>
          <a:solidFill>
            <a:srgbClr val="2C2C2E"/>
          </a:solidFill>
          <a:ln w="25400">
            <a:solidFill>
              <a:srgbClr val="FF9500"/>
            </a:solidFill>
            <a:prstDash val="solid"/>
          </a:ln>
        </p:spPr>
      </p:sp>
      <p:sp>
        <p:nvSpPr>
          <p:cNvPr id="13" name="Text 11"/>
          <p:cNvSpPr txBox="1"/>
          <p:nvPr/>
        </p:nvSpPr>
        <p:spPr>
          <a:xfrm>
            <a:off x="548640" y="3072384"/>
            <a:ext cx="1371600" cy="365760"/>
          </a:xfrm>
          <a:prstGeom prst="rect">
            <a:avLst/>
          </a:prstGeom>
          <a:noFill/>
          <a:ln/>
        </p:spPr>
        <p:txBody>
          <a:bodyPr wrap="square" lIns="0" tIns="0" rIns="0" bIns="0" rtlCol="0" anchor="ctr"/>
          <a:lstStyle/>
          <a:p>
            <a:pPr indent="0" marL="0">
              <a:buNone/>
            </a:pPr>
            <a:r>
              <a:rPr lang="en-US" sz="1600" b="1" dirty="0">
                <a:solidFill>
                  <a:srgbClr val="FF9500"/>
                </a:solidFill>
                <a:latin typeface="Atkinson Hyperlegible" pitchFamily="34" charset="0"/>
                <a:ea typeface="Atkinson Hyperlegible" pitchFamily="34" charset="-122"/>
                <a:cs typeface="Atkinson Hyperlegible" pitchFamily="34" charset="-120"/>
              </a:rPr>
              <a:t>Días 31-60</a:t>
            </a:r>
            <a:endParaRPr lang="en-US" sz="1600" dirty="0"/>
          </a:p>
        </p:txBody>
      </p:sp>
      <p:sp>
        <p:nvSpPr>
          <p:cNvPr id="14" name="Text 12"/>
          <p:cNvSpPr txBox="1"/>
          <p:nvPr/>
        </p:nvSpPr>
        <p:spPr>
          <a:xfrm>
            <a:off x="2011680" y="3072384"/>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Redactar procedimiento del programa (estándar corporativo)</a:t>
            </a:r>
            <a:endParaRPr lang="en-US" sz="1050" dirty="0"/>
          </a:p>
        </p:txBody>
      </p:sp>
      <p:sp>
        <p:nvSpPr>
          <p:cNvPr id="15" name="Text 13"/>
          <p:cNvSpPr txBox="1"/>
          <p:nvPr/>
        </p:nvSpPr>
        <p:spPr>
          <a:xfrm>
            <a:off x="5349240" y="3072384"/>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Desarrollar checklist de revisión de constructabilidad por fase</a:t>
            </a:r>
            <a:endParaRPr lang="en-US" sz="1050" dirty="0"/>
          </a:p>
        </p:txBody>
      </p:sp>
      <p:sp>
        <p:nvSpPr>
          <p:cNvPr id="16" name="Text 14"/>
          <p:cNvSpPr txBox="1"/>
          <p:nvPr/>
        </p:nvSpPr>
        <p:spPr>
          <a:xfrm>
            <a:off x="2011680" y="3730752"/>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Seleccionar proyecto piloto: ideal mid-size, en FEED, con CM receptivo</a:t>
            </a:r>
            <a:endParaRPr lang="en-US" sz="1050" dirty="0"/>
          </a:p>
        </p:txBody>
      </p:sp>
      <p:sp>
        <p:nvSpPr>
          <p:cNvPr id="17" name="Text 15"/>
          <p:cNvSpPr txBox="1"/>
          <p:nvPr/>
        </p:nvSpPr>
        <p:spPr>
          <a:xfrm>
            <a:off x="5349240" y="3730752"/>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Capacitación inicial del equipo piloto (taller 8 horas, basado en CII)</a:t>
            </a:r>
            <a:endParaRPr lang="en-US" sz="1050" dirty="0"/>
          </a:p>
        </p:txBody>
      </p:sp>
      <p:sp>
        <p:nvSpPr>
          <p:cNvPr id="18" name="Shape 16"/>
          <p:cNvSpPr/>
          <p:nvPr/>
        </p:nvSpPr>
        <p:spPr>
          <a:xfrm>
            <a:off x="365760" y="4626864"/>
            <a:ext cx="8412480" cy="1508760"/>
          </a:xfrm>
          <a:prstGeom prst="roundRect">
            <a:avLst>
              <a:gd name="adj" fmla="val 6061"/>
            </a:avLst>
          </a:prstGeom>
          <a:solidFill>
            <a:srgbClr val="2C2C2E"/>
          </a:solidFill>
          <a:ln w="25400">
            <a:solidFill>
              <a:srgbClr val="30D158"/>
            </a:solidFill>
            <a:prstDash val="solid"/>
          </a:ln>
        </p:spPr>
      </p:sp>
      <p:sp>
        <p:nvSpPr>
          <p:cNvPr id="19" name="Text 17"/>
          <p:cNvSpPr txBox="1"/>
          <p:nvPr/>
        </p:nvSpPr>
        <p:spPr>
          <a:xfrm>
            <a:off x="548640" y="4736592"/>
            <a:ext cx="1371600" cy="365760"/>
          </a:xfrm>
          <a:prstGeom prst="rect">
            <a:avLst/>
          </a:prstGeom>
          <a:noFill/>
          <a:ln/>
        </p:spPr>
        <p:txBody>
          <a:bodyPr wrap="square" lIns="0" tIns="0" rIns="0" bIns="0" rtlCol="0" anchor="ctr"/>
          <a:lstStyle/>
          <a:p>
            <a:pPr indent="0" marL="0">
              <a:buNone/>
            </a:pPr>
            <a:r>
              <a:rPr lang="en-US" sz="1600" b="1" dirty="0">
                <a:solidFill>
                  <a:srgbClr val="30D158"/>
                </a:solidFill>
                <a:latin typeface="Atkinson Hyperlegible" pitchFamily="34" charset="0"/>
                <a:ea typeface="Atkinson Hyperlegible" pitchFamily="34" charset="-122"/>
                <a:cs typeface="Atkinson Hyperlegible" pitchFamily="34" charset="-120"/>
              </a:rPr>
              <a:t>Días 61-90</a:t>
            </a:r>
            <a:endParaRPr lang="en-US" sz="1600" dirty="0"/>
          </a:p>
        </p:txBody>
      </p:sp>
      <p:sp>
        <p:nvSpPr>
          <p:cNvPr id="20" name="Text 18"/>
          <p:cNvSpPr txBox="1"/>
          <p:nvPr/>
        </p:nvSpPr>
        <p:spPr>
          <a:xfrm>
            <a:off x="2011680" y="4736592"/>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Primera revisión formal de constructabilidad en proyecto piloto</a:t>
            </a:r>
            <a:endParaRPr lang="en-US" sz="1050" dirty="0"/>
          </a:p>
        </p:txBody>
      </p:sp>
      <p:sp>
        <p:nvSpPr>
          <p:cNvPr id="21" name="Text 19"/>
          <p:cNvSpPr txBox="1"/>
          <p:nvPr/>
        </p:nvSpPr>
        <p:spPr>
          <a:xfrm>
            <a:off x="5349240" y="4736592"/>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Documentar 10-15 primeras lecciones aprendidas en LLDB</a:t>
            </a:r>
            <a:endParaRPr lang="en-US" sz="1050" dirty="0"/>
          </a:p>
        </p:txBody>
      </p:sp>
      <p:sp>
        <p:nvSpPr>
          <p:cNvPr id="22" name="Text 20"/>
          <p:cNvSpPr txBox="1"/>
          <p:nvPr/>
        </p:nvSpPr>
        <p:spPr>
          <a:xfrm>
            <a:off x="2011680" y="5394960"/>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Reporte de avance al sponsor ejecutivo con primeros beneficios identificados</a:t>
            </a:r>
            <a:endParaRPr lang="en-US" sz="1050" dirty="0"/>
          </a:p>
        </p:txBody>
      </p:sp>
      <p:sp>
        <p:nvSpPr>
          <p:cNvPr id="23" name="Text 21"/>
          <p:cNvSpPr txBox="1"/>
          <p:nvPr/>
        </p:nvSpPr>
        <p:spPr>
          <a:xfrm>
            <a:off x="5349240" y="5394960"/>
            <a:ext cx="3200400" cy="594360"/>
          </a:xfrm>
          <a:prstGeom prst="rect">
            <a:avLst/>
          </a:prstGeom>
          <a:noFill/>
          <a:ln/>
        </p:spPr>
        <p:txBody>
          <a:bodyPr wrap="square" lIns="0" tIns="0" rIns="0" bIns="0" rtlCol="0" anchor="ctr"/>
          <a:lstStyle/>
          <a:p>
            <a:pPr indent="0" marL="0">
              <a:buNone/>
            </a:pPr>
            <a:r>
              <a:rPr lang="en-US" sz="1050" dirty="0">
                <a:solidFill>
                  <a:srgbClr val="8E8E93"/>
                </a:solidFill>
                <a:latin typeface="Atkinson Hyperlegible" pitchFamily="34" charset="0"/>
                <a:ea typeface="Atkinson Hyperlegible" pitchFamily="34" charset="-122"/>
                <a:cs typeface="Atkinson Hyperlegible" pitchFamily="34" charset="-120"/>
              </a:rPr>
              <a:t>• Plan del programa para siguiente año: proyectos, recursos, métricas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117</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Construcción vs. Constructabilidad: La Diferencia Clave</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14400"/>
            <a:ext cx="8412480" cy="713232"/>
          </a:xfrm>
          <a:prstGeom prst="roundRect">
            <a:avLst>
              <a:gd name="adj" fmla="val 12821"/>
            </a:avLst>
          </a:prstGeom>
          <a:solidFill>
            <a:srgbClr val="2C2C2E"/>
          </a:solidFill>
          <a:ln w="25400">
            <a:solidFill>
              <a:srgbClr val="FF9500"/>
            </a:solidFill>
            <a:prstDash val="solid"/>
          </a:ln>
        </p:spPr>
      </p:sp>
      <p:sp>
        <p:nvSpPr>
          <p:cNvPr id="6" name="Text 4"/>
          <p:cNvSpPr txBox="1"/>
          <p:nvPr/>
        </p:nvSpPr>
        <p:spPr>
          <a:xfrm>
            <a:off x="594360" y="1024128"/>
            <a:ext cx="7955280" cy="502920"/>
          </a:xfrm>
          <a:prstGeom prst="rect">
            <a:avLst/>
          </a:prstGeom>
          <a:noFill/>
          <a:ln/>
        </p:spPr>
        <p:txBody>
          <a:bodyPr wrap="square" lIns="0" tIns="0" rIns="0" bIns="0" rtlCol="0" anchor="ctr"/>
          <a:lstStyle/>
          <a:p>
            <a:pPr algn="ctr" indent="0" marL="0">
              <a:buNone/>
            </a:pPr>
            <a:r>
              <a:rPr lang="en-US" sz="1800" b="1" i="1" dirty="0">
                <a:solidFill>
                  <a:srgbClr val="FF9500"/>
                </a:solidFill>
                <a:latin typeface="Atkinson Hyperlegible" pitchFamily="34" charset="0"/>
                <a:ea typeface="Atkinson Hyperlegible" pitchFamily="34" charset="-122"/>
                <a:cs typeface="Atkinson Hyperlegible" pitchFamily="34" charset="-120"/>
              </a:rPr>
              <a:t>"Construcción es hacer. Constructabilidad es pensar antes de hacer."</a:t>
            </a:r>
            <a:endParaRPr lang="en-US" sz="1800" dirty="0"/>
          </a:p>
        </p:txBody>
      </p:sp>
      <p:sp>
        <p:nvSpPr>
          <p:cNvPr id="7" name="Shape 5"/>
          <p:cNvSpPr/>
          <p:nvPr/>
        </p:nvSpPr>
        <p:spPr>
          <a:xfrm>
            <a:off x="365760" y="1755648"/>
            <a:ext cx="8412480" cy="475488"/>
          </a:xfrm>
          <a:prstGeom prst="rect">
            <a:avLst/>
          </a:prstGeom>
          <a:solidFill>
            <a:srgbClr val="3A3A3C"/>
          </a:solidFill>
          <a:ln/>
        </p:spPr>
      </p:sp>
      <p:sp>
        <p:nvSpPr>
          <p:cNvPr id="8" name="Text 6"/>
          <p:cNvSpPr txBox="1"/>
          <p:nvPr/>
        </p:nvSpPr>
        <p:spPr>
          <a:xfrm>
            <a:off x="502920" y="1847088"/>
            <a:ext cx="256032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Dimensión</a:t>
            </a:r>
            <a:endParaRPr lang="en-US" sz="1100" dirty="0"/>
          </a:p>
        </p:txBody>
      </p:sp>
      <p:sp>
        <p:nvSpPr>
          <p:cNvPr id="9" name="Text 7"/>
          <p:cNvSpPr txBox="1"/>
          <p:nvPr/>
        </p:nvSpPr>
        <p:spPr>
          <a:xfrm>
            <a:off x="3154680" y="1847088"/>
            <a:ext cx="2743200" cy="292608"/>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100" dirty="0"/>
          </a:p>
        </p:txBody>
      </p:sp>
      <p:sp>
        <p:nvSpPr>
          <p:cNvPr id="10" name="Text 8"/>
          <p:cNvSpPr txBox="1"/>
          <p:nvPr/>
        </p:nvSpPr>
        <p:spPr>
          <a:xfrm>
            <a:off x="5989320" y="1847088"/>
            <a:ext cx="2651760" cy="29260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Constructabilidad</a:t>
            </a:r>
            <a:endParaRPr lang="en-US" sz="1100" dirty="0"/>
          </a:p>
        </p:txBody>
      </p:sp>
      <p:sp>
        <p:nvSpPr>
          <p:cNvPr id="11" name="Shape 9"/>
          <p:cNvSpPr/>
          <p:nvPr/>
        </p:nvSpPr>
        <p:spPr>
          <a:xfrm>
            <a:off x="365760" y="2286000"/>
            <a:ext cx="8412480" cy="475488"/>
          </a:xfrm>
          <a:prstGeom prst="rect">
            <a:avLst/>
          </a:prstGeom>
          <a:solidFill>
            <a:srgbClr val="3A3A3C"/>
          </a:solidFill>
          <a:ln/>
        </p:spPr>
      </p:sp>
      <p:sp>
        <p:nvSpPr>
          <p:cNvPr id="12" name="Text 10"/>
          <p:cNvSpPr txBox="1"/>
          <p:nvPr/>
        </p:nvSpPr>
        <p:spPr>
          <a:xfrm>
            <a:off x="502920" y="2377440"/>
            <a:ext cx="256032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¿Cuándo?</a:t>
            </a:r>
            <a:endParaRPr lang="en-US" sz="1100" dirty="0"/>
          </a:p>
        </p:txBody>
      </p:sp>
      <p:sp>
        <p:nvSpPr>
          <p:cNvPr id="13" name="Text 11"/>
          <p:cNvSpPr txBox="1"/>
          <p:nvPr/>
        </p:nvSpPr>
        <p:spPr>
          <a:xfrm>
            <a:off x="3154680" y="2377440"/>
            <a:ext cx="274320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Etapa de ejecución en campo</a:t>
            </a:r>
            <a:endParaRPr lang="en-US" sz="1100" dirty="0"/>
          </a:p>
        </p:txBody>
      </p:sp>
      <p:sp>
        <p:nvSpPr>
          <p:cNvPr id="14" name="Text 12"/>
          <p:cNvSpPr txBox="1"/>
          <p:nvPr/>
        </p:nvSpPr>
        <p:spPr>
          <a:xfrm>
            <a:off x="5989320" y="237744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factibilidad hasta campo</a:t>
            </a:r>
            <a:endParaRPr lang="en-US" sz="1100" dirty="0"/>
          </a:p>
        </p:txBody>
      </p:sp>
      <p:sp>
        <p:nvSpPr>
          <p:cNvPr id="15" name="Shape 13"/>
          <p:cNvSpPr/>
          <p:nvPr/>
        </p:nvSpPr>
        <p:spPr>
          <a:xfrm>
            <a:off x="3090672" y="2286000"/>
            <a:ext cx="18288" cy="475488"/>
          </a:xfrm>
          <a:prstGeom prst="rect">
            <a:avLst/>
          </a:prstGeom>
          <a:solidFill>
            <a:srgbClr val="2C2C2E"/>
          </a:solidFill>
          <a:ln/>
        </p:spPr>
      </p:sp>
      <p:sp>
        <p:nvSpPr>
          <p:cNvPr id="16" name="Shape 14"/>
          <p:cNvSpPr/>
          <p:nvPr/>
        </p:nvSpPr>
        <p:spPr>
          <a:xfrm>
            <a:off x="5925312" y="2286000"/>
            <a:ext cx="18288" cy="475488"/>
          </a:xfrm>
          <a:prstGeom prst="rect">
            <a:avLst/>
          </a:prstGeom>
          <a:solidFill>
            <a:srgbClr val="2C2C2E"/>
          </a:solidFill>
          <a:ln/>
        </p:spPr>
      </p:sp>
      <p:sp>
        <p:nvSpPr>
          <p:cNvPr id="17" name="Shape 15"/>
          <p:cNvSpPr/>
          <p:nvPr/>
        </p:nvSpPr>
        <p:spPr>
          <a:xfrm>
            <a:off x="365760" y="2816352"/>
            <a:ext cx="8412480" cy="475488"/>
          </a:xfrm>
          <a:prstGeom prst="rect">
            <a:avLst/>
          </a:prstGeom>
          <a:solidFill>
            <a:srgbClr val="2C2C2E"/>
          </a:solidFill>
          <a:ln/>
        </p:spPr>
      </p:sp>
      <p:sp>
        <p:nvSpPr>
          <p:cNvPr id="18" name="Text 16"/>
          <p:cNvSpPr txBox="1"/>
          <p:nvPr/>
        </p:nvSpPr>
        <p:spPr>
          <a:xfrm>
            <a:off x="502920" y="2907792"/>
            <a:ext cx="256032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¿Quién?</a:t>
            </a:r>
            <a:endParaRPr lang="en-US" sz="1100" dirty="0"/>
          </a:p>
        </p:txBody>
      </p:sp>
      <p:sp>
        <p:nvSpPr>
          <p:cNvPr id="19" name="Text 17"/>
          <p:cNvSpPr txBox="1"/>
          <p:nvPr/>
        </p:nvSpPr>
        <p:spPr>
          <a:xfrm>
            <a:off x="3154680" y="2907792"/>
            <a:ext cx="274320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Constructores y supervisores</a:t>
            </a:r>
            <a:endParaRPr lang="en-US" sz="1100" dirty="0"/>
          </a:p>
        </p:txBody>
      </p:sp>
      <p:sp>
        <p:nvSpPr>
          <p:cNvPr id="20" name="Text 18"/>
          <p:cNvSpPr txBox="1"/>
          <p:nvPr/>
        </p:nvSpPr>
        <p:spPr>
          <a:xfrm>
            <a:off x="5989320" y="290779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Equipo integrado (ingeniería + campo)</a:t>
            </a:r>
            <a:endParaRPr lang="en-US" sz="1100" dirty="0"/>
          </a:p>
        </p:txBody>
      </p:sp>
      <p:sp>
        <p:nvSpPr>
          <p:cNvPr id="21" name="Shape 19"/>
          <p:cNvSpPr/>
          <p:nvPr/>
        </p:nvSpPr>
        <p:spPr>
          <a:xfrm>
            <a:off x="3090672" y="2816352"/>
            <a:ext cx="18288" cy="475488"/>
          </a:xfrm>
          <a:prstGeom prst="rect">
            <a:avLst/>
          </a:prstGeom>
          <a:solidFill>
            <a:srgbClr val="2C2C2E"/>
          </a:solidFill>
          <a:ln/>
        </p:spPr>
      </p:sp>
      <p:sp>
        <p:nvSpPr>
          <p:cNvPr id="22" name="Shape 20"/>
          <p:cNvSpPr/>
          <p:nvPr/>
        </p:nvSpPr>
        <p:spPr>
          <a:xfrm>
            <a:off x="5925312" y="2816352"/>
            <a:ext cx="18288" cy="475488"/>
          </a:xfrm>
          <a:prstGeom prst="rect">
            <a:avLst/>
          </a:prstGeom>
          <a:solidFill>
            <a:srgbClr val="2C2C2E"/>
          </a:solidFill>
          <a:ln/>
        </p:spPr>
      </p:sp>
      <p:sp>
        <p:nvSpPr>
          <p:cNvPr id="23" name="Shape 21"/>
          <p:cNvSpPr/>
          <p:nvPr/>
        </p:nvSpPr>
        <p:spPr>
          <a:xfrm>
            <a:off x="365760" y="3346704"/>
            <a:ext cx="8412480" cy="475488"/>
          </a:xfrm>
          <a:prstGeom prst="rect">
            <a:avLst/>
          </a:prstGeom>
          <a:solidFill>
            <a:srgbClr val="3A3A3C"/>
          </a:solidFill>
          <a:ln/>
        </p:spPr>
      </p:sp>
      <p:sp>
        <p:nvSpPr>
          <p:cNvPr id="24" name="Text 22"/>
          <p:cNvSpPr txBox="1"/>
          <p:nvPr/>
        </p:nvSpPr>
        <p:spPr>
          <a:xfrm>
            <a:off x="502920" y="3438144"/>
            <a:ext cx="256032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¿Qué problema resuelve?</a:t>
            </a:r>
            <a:endParaRPr lang="en-US" sz="1100" dirty="0"/>
          </a:p>
        </p:txBody>
      </p:sp>
      <p:sp>
        <p:nvSpPr>
          <p:cNvPr id="25" name="Text 23"/>
          <p:cNvSpPr txBox="1"/>
          <p:nvPr/>
        </p:nvSpPr>
        <p:spPr>
          <a:xfrm>
            <a:off x="3154680" y="3438144"/>
            <a:ext cx="274320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Ejecutar lo que se diseñó</a:t>
            </a:r>
            <a:endParaRPr lang="en-US" sz="1100" dirty="0"/>
          </a:p>
        </p:txBody>
      </p:sp>
      <p:sp>
        <p:nvSpPr>
          <p:cNvPr id="26" name="Text 24"/>
          <p:cNvSpPr txBox="1"/>
          <p:nvPr/>
        </p:nvSpPr>
        <p:spPr>
          <a:xfrm>
            <a:off x="5989320" y="3438144"/>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Hacer que lo diseñado sea ejecutable</a:t>
            </a:r>
            <a:endParaRPr lang="en-US" sz="1100" dirty="0"/>
          </a:p>
        </p:txBody>
      </p:sp>
      <p:sp>
        <p:nvSpPr>
          <p:cNvPr id="27" name="Shape 25"/>
          <p:cNvSpPr/>
          <p:nvPr/>
        </p:nvSpPr>
        <p:spPr>
          <a:xfrm>
            <a:off x="3090672" y="3346704"/>
            <a:ext cx="18288" cy="475488"/>
          </a:xfrm>
          <a:prstGeom prst="rect">
            <a:avLst/>
          </a:prstGeom>
          <a:solidFill>
            <a:srgbClr val="2C2C2E"/>
          </a:solidFill>
          <a:ln/>
        </p:spPr>
      </p:sp>
      <p:sp>
        <p:nvSpPr>
          <p:cNvPr id="28" name="Shape 26"/>
          <p:cNvSpPr/>
          <p:nvPr/>
        </p:nvSpPr>
        <p:spPr>
          <a:xfrm>
            <a:off x="5925312" y="3346704"/>
            <a:ext cx="18288" cy="475488"/>
          </a:xfrm>
          <a:prstGeom prst="rect">
            <a:avLst/>
          </a:prstGeom>
          <a:solidFill>
            <a:srgbClr val="2C2C2E"/>
          </a:solidFill>
          <a:ln/>
        </p:spPr>
      </p:sp>
      <p:sp>
        <p:nvSpPr>
          <p:cNvPr id="29" name="Shape 27"/>
          <p:cNvSpPr/>
          <p:nvPr/>
        </p:nvSpPr>
        <p:spPr>
          <a:xfrm>
            <a:off x="365760" y="3877056"/>
            <a:ext cx="8412480" cy="475488"/>
          </a:xfrm>
          <a:prstGeom prst="rect">
            <a:avLst/>
          </a:prstGeom>
          <a:solidFill>
            <a:srgbClr val="2C2C2E"/>
          </a:solidFill>
          <a:ln/>
        </p:spPr>
      </p:sp>
      <p:sp>
        <p:nvSpPr>
          <p:cNvPr id="30" name="Text 28"/>
          <p:cNvSpPr txBox="1"/>
          <p:nvPr/>
        </p:nvSpPr>
        <p:spPr>
          <a:xfrm>
            <a:off x="502920" y="3968496"/>
            <a:ext cx="256032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¿Cuándo ve el diseño?</a:t>
            </a:r>
            <a:endParaRPr lang="en-US" sz="1100" dirty="0"/>
          </a:p>
        </p:txBody>
      </p:sp>
      <p:sp>
        <p:nvSpPr>
          <p:cNvPr id="31" name="Text 29"/>
          <p:cNvSpPr txBox="1"/>
          <p:nvPr/>
        </p:nvSpPr>
        <p:spPr>
          <a:xfrm>
            <a:off x="3154680" y="3968496"/>
            <a:ext cx="274320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Cuando llega al campo (tarde)</a:t>
            </a:r>
            <a:endParaRPr lang="en-US" sz="1100" dirty="0"/>
          </a:p>
        </p:txBody>
      </p:sp>
      <p:sp>
        <p:nvSpPr>
          <p:cNvPr id="32" name="Text 30"/>
          <p:cNvSpPr txBox="1"/>
          <p:nvPr/>
        </p:nvSpPr>
        <p:spPr>
          <a:xfrm>
            <a:off x="5989320" y="3968496"/>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que se genera (temprano)</a:t>
            </a:r>
            <a:endParaRPr lang="en-US" sz="1100" dirty="0"/>
          </a:p>
        </p:txBody>
      </p:sp>
      <p:sp>
        <p:nvSpPr>
          <p:cNvPr id="33" name="Shape 31"/>
          <p:cNvSpPr/>
          <p:nvPr/>
        </p:nvSpPr>
        <p:spPr>
          <a:xfrm>
            <a:off x="3090672" y="3877056"/>
            <a:ext cx="18288" cy="475488"/>
          </a:xfrm>
          <a:prstGeom prst="rect">
            <a:avLst/>
          </a:prstGeom>
          <a:solidFill>
            <a:srgbClr val="2C2C2E"/>
          </a:solidFill>
          <a:ln/>
        </p:spPr>
      </p:sp>
      <p:sp>
        <p:nvSpPr>
          <p:cNvPr id="34" name="Shape 32"/>
          <p:cNvSpPr/>
          <p:nvPr/>
        </p:nvSpPr>
        <p:spPr>
          <a:xfrm>
            <a:off x="5925312" y="3877056"/>
            <a:ext cx="18288" cy="475488"/>
          </a:xfrm>
          <a:prstGeom prst="rect">
            <a:avLst/>
          </a:prstGeom>
          <a:solidFill>
            <a:srgbClr val="2C2C2E"/>
          </a:solidFill>
          <a:ln/>
        </p:spPr>
      </p:sp>
      <p:sp>
        <p:nvSpPr>
          <p:cNvPr id="35" name="Shape 33"/>
          <p:cNvSpPr/>
          <p:nvPr/>
        </p:nvSpPr>
        <p:spPr>
          <a:xfrm>
            <a:off x="365760" y="4407408"/>
            <a:ext cx="8412480" cy="475488"/>
          </a:xfrm>
          <a:prstGeom prst="rect">
            <a:avLst/>
          </a:prstGeom>
          <a:solidFill>
            <a:srgbClr val="3A3A3C"/>
          </a:solidFill>
          <a:ln/>
        </p:spPr>
      </p:sp>
      <p:sp>
        <p:nvSpPr>
          <p:cNvPr id="36" name="Text 34"/>
          <p:cNvSpPr txBox="1"/>
          <p:nvPr/>
        </p:nvSpPr>
        <p:spPr>
          <a:xfrm>
            <a:off x="502920" y="4498848"/>
            <a:ext cx="256032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¿Impacto en costo?</a:t>
            </a:r>
            <a:endParaRPr lang="en-US" sz="1100" dirty="0"/>
          </a:p>
        </p:txBody>
      </p:sp>
      <p:sp>
        <p:nvSpPr>
          <p:cNvPr id="37" name="Text 35"/>
          <p:cNvSpPr txBox="1"/>
          <p:nvPr/>
        </p:nvSpPr>
        <p:spPr>
          <a:xfrm>
            <a:off x="3154680" y="4498848"/>
            <a:ext cx="274320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Construir al costo del diseño dado</a:t>
            </a:r>
            <a:endParaRPr lang="en-US" sz="1100" dirty="0"/>
          </a:p>
        </p:txBody>
      </p:sp>
      <p:sp>
        <p:nvSpPr>
          <p:cNvPr id="38" name="Text 36"/>
          <p:cNvSpPr txBox="1"/>
          <p:nvPr/>
        </p:nvSpPr>
        <p:spPr>
          <a:xfrm>
            <a:off x="5989320" y="4498848"/>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Reducir el costo total del proyecto</a:t>
            </a:r>
            <a:endParaRPr lang="en-US" sz="1100" dirty="0"/>
          </a:p>
        </p:txBody>
      </p:sp>
      <p:sp>
        <p:nvSpPr>
          <p:cNvPr id="39" name="Shape 37"/>
          <p:cNvSpPr/>
          <p:nvPr/>
        </p:nvSpPr>
        <p:spPr>
          <a:xfrm>
            <a:off x="3090672" y="4407408"/>
            <a:ext cx="18288" cy="475488"/>
          </a:xfrm>
          <a:prstGeom prst="rect">
            <a:avLst/>
          </a:prstGeom>
          <a:solidFill>
            <a:srgbClr val="2C2C2E"/>
          </a:solidFill>
          <a:ln/>
        </p:spPr>
      </p:sp>
      <p:sp>
        <p:nvSpPr>
          <p:cNvPr id="40" name="Shape 38"/>
          <p:cNvSpPr/>
          <p:nvPr/>
        </p:nvSpPr>
        <p:spPr>
          <a:xfrm>
            <a:off x="5925312" y="4407408"/>
            <a:ext cx="18288" cy="475488"/>
          </a:xfrm>
          <a:prstGeom prst="rect">
            <a:avLst/>
          </a:prstGeom>
          <a:solidFill>
            <a:srgbClr val="2C2C2E"/>
          </a:solidFill>
          <a:ln/>
        </p:spPr>
      </p:sp>
      <p:sp>
        <p:nvSpPr>
          <p:cNvPr id="41" name="Shape 39"/>
          <p:cNvSpPr/>
          <p:nvPr/>
        </p:nvSpPr>
        <p:spPr>
          <a:xfrm>
            <a:off x="365760" y="4937760"/>
            <a:ext cx="8412480" cy="475488"/>
          </a:xfrm>
          <a:prstGeom prst="rect">
            <a:avLst/>
          </a:prstGeom>
          <a:solidFill>
            <a:srgbClr val="2C2C2E"/>
          </a:solidFill>
          <a:ln/>
        </p:spPr>
      </p:sp>
      <p:sp>
        <p:nvSpPr>
          <p:cNvPr id="42" name="Text 40"/>
          <p:cNvSpPr txBox="1"/>
          <p:nvPr/>
        </p:nvSpPr>
        <p:spPr>
          <a:xfrm>
            <a:off x="502920" y="5029200"/>
            <a:ext cx="256032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¿Herramienta principal?</a:t>
            </a:r>
            <a:endParaRPr lang="en-US" sz="1100" dirty="0"/>
          </a:p>
        </p:txBody>
      </p:sp>
      <p:sp>
        <p:nvSpPr>
          <p:cNvPr id="43" name="Text 41"/>
          <p:cNvSpPr txBox="1"/>
          <p:nvPr/>
        </p:nvSpPr>
        <p:spPr>
          <a:xfrm>
            <a:off x="3154680" y="5029200"/>
            <a:ext cx="274320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Programación y recursos</a:t>
            </a:r>
            <a:endParaRPr lang="en-US" sz="1100" dirty="0"/>
          </a:p>
        </p:txBody>
      </p:sp>
      <p:sp>
        <p:nvSpPr>
          <p:cNvPr id="44" name="Text 42"/>
          <p:cNvSpPr txBox="1"/>
          <p:nvPr/>
        </p:nvSpPr>
        <p:spPr>
          <a:xfrm>
            <a:off x="5989320" y="502920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Revisiones tempranas + BIM + LLDB</a:t>
            </a:r>
            <a:endParaRPr lang="en-US" sz="1100" dirty="0"/>
          </a:p>
        </p:txBody>
      </p:sp>
      <p:sp>
        <p:nvSpPr>
          <p:cNvPr id="45" name="Shape 43"/>
          <p:cNvSpPr/>
          <p:nvPr/>
        </p:nvSpPr>
        <p:spPr>
          <a:xfrm>
            <a:off x="3090672" y="4937760"/>
            <a:ext cx="18288" cy="475488"/>
          </a:xfrm>
          <a:prstGeom prst="rect">
            <a:avLst/>
          </a:prstGeom>
          <a:solidFill>
            <a:srgbClr val="2C2C2E"/>
          </a:solidFill>
          <a:ln/>
        </p:spPr>
      </p:sp>
      <p:sp>
        <p:nvSpPr>
          <p:cNvPr id="46" name="Shape 44"/>
          <p:cNvSpPr/>
          <p:nvPr/>
        </p:nvSpPr>
        <p:spPr>
          <a:xfrm>
            <a:off x="5925312" y="4937760"/>
            <a:ext cx="18288" cy="475488"/>
          </a:xfrm>
          <a:prstGeom prst="rect">
            <a:avLst/>
          </a:prstGeom>
          <a:solidFill>
            <a:srgbClr val="2C2C2E"/>
          </a:solidFill>
          <a:ln/>
        </p:spPr>
      </p:sp>
      <p:sp>
        <p:nvSpPr>
          <p:cNvPr id="47" name="Shape 45"/>
          <p:cNvSpPr/>
          <p:nvPr/>
        </p:nvSpPr>
        <p:spPr>
          <a:xfrm>
            <a:off x="365760" y="5468112"/>
            <a:ext cx="8412480" cy="475488"/>
          </a:xfrm>
          <a:prstGeom prst="rect">
            <a:avLst/>
          </a:prstGeom>
          <a:solidFill>
            <a:srgbClr val="3A3A3C"/>
          </a:solidFill>
          <a:ln/>
        </p:spPr>
      </p:sp>
      <p:sp>
        <p:nvSpPr>
          <p:cNvPr id="48" name="Text 46"/>
          <p:cNvSpPr txBox="1"/>
          <p:nvPr/>
        </p:nvSpPr>
        <p:spPr>
          <a:xfrm>
            <a:off x="502920" y="5559552"/>
            <a:ext cx="256032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Resultado si falla</a:t>
            </a:r>
            <a:endParaRPr lang="en-US" sz="1100" dirty="0"/>
          </a:p>
        </p:txBody>
      </p:sp>
      <p:sp>
        <p:nvSpPr>
          <p:cNvPr id="49" name="Text 47"/>
          <p:cNvSpPr txBox="1"/>
          <p:nvPr/>
        </p:nvSpPr>
        <p:spPr>
          <a:xfrm>
            <a:off x="3154680" y="5559552"/>
            <a:ext cx="2743200" cy="29260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Re-trabajo caro y tardío</a:t>
            </a:r>
            <a:endParaRPr lang="en-US" sz="1100" dirty="0"/>
          </a:p>
        </p:txBody>
      </p:sp>
      <p:sp>
        <p:nvSpPr>
          <p:cNvPr id="50" name="Text 48"/>
          <p:cNvSpPr txBox="1"/>
          <p:nvPr/>
        </p:nvSpPr>
        <p:spPr>
          <a:xfrm>
            <a:off x="5989320" y="555955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Costos evitados proactivamente</a:t>
            </a:r>
            <a:endParaRPr lang="en-US" sz="1100" dirty="0"/>
          </a:p>
        </p:txBody>
      </p:sp>
      <p:sp>
        <p:nvSpPr>
          <p:cNvPr id="51" name="Shape 49"/>
          <p:cNvSpPr/>
          <p:nvPr/>
        </p:nvSpPr>
        <p:spPr>
          <a:xfrm>
            <a:off x="3090672" y="5468112"/>
            <a:ext cx="18288" cy="475488"/>
          </a:xfrm>
          <a:prstGeom prst="rect">
            <a:avLst/>
          </a:prstGeom>
          <a:solidFill>
            <a:srgbClr val="2C2C2E"/>
          </a:solidFill>
          <a:ln/>
        </p:spPr>
      </p:sp>
      <p:sp>
        <p:nvSpPr>
          <p:cNvPr id="52" name="Shape 50"/>
          <p:cNvSpPr/>
          <p:nvPr/>
        </p:nvSpPr>
        <p:spPr>
          <a:xfrm>
            <a:off x="5925312" y="5468112"/>
            <a:ext cx="18288" cy="475488"/>
          </a:xfrm>
          <a:prstGeom prst="rect">
            <a:avLst/>
          </a:prstGeom>
          <a:solidFill>
            <a:srgbClr val="2C2C2E"/>
          </a:solidFill>
          <a:ln/>
        </p:spPr>
      </p:sp>
      <p:sp>
        <p:nvSpPr>
          <p:cNvPr id="53" name="Text 5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118</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Construyendo una Cultura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La mayor barrera no es técnica — es cultural. CII SP 34-1 aborda el cambio cultural explícitamente:</a:t>
            </a:r>
            <a:endParaRPr lang="en-US" sz="1300" dirty="0"/>
          </a:p>
        </p:txBody>
      </p:sp>
      <p:sp>
        <p:nvSpPr>
          <p:cNvPr id="6" name="Shape 4"/>
          <p:cNvSpPr/>
          <p:nvPr/>
        </p:nvSpPr>
        <p:spPr>
          <a:xfrm>
            <a:off x="365760" y="1298448"/>
            <a:ext cx="4160520" cy="1444752"/>
          </a:xfrm>
          <a:prstGeom prst="roundRect">
            <a:avLst>
              <a:gd name="adj" fmla="val 6329"/>
            </a:avLst>
          </a:prstGeom>
          <a:solidFill>
            <a:srgbClr val="2C2C2E"/>
          </a:solidFill>
          <a:ln w="25400">
            <a:solidFill>
              <a:srgbClr val="0A84FF"/>
            </a:solidFill>
            <a:prstDash val="solid"/>
          </a:ln>
        </p:spPr>
      </p:sp>
      <p:sp>
        <p:nvSpPr>
          <p:cNvPr id="7" name="Shape 5"/>
          <p:cNvSpPr/>
          <p:nvPr/>
        </p:nvSpPr>
        <p:spPr>
          <a:xfrm>
            <a:off x="365760" y="2688336"/>
            <a:ext cx="4160520" cy="54864"/>
          </a:xfrm>
          <a:prstGeom prst="rect">
            <a:avLst/>
          </a:prstGeom>
          <a:solidFill>
            <a:srgbClr val="0A84FF"/>
          </a:solidFill>
          <a:ln/>
        </p:spPr>
      </p:sp>
      <p:sp>
        <p:nvSpPr>
          <p:cNvPr id="8" name="Text 6"/>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400" b="1" dirty="0">
                <a:solidFill>
                  <a:srgbClr val="0A84FF"/>
                </a:solidFill>
                <a:latin typeface="Atkinson Hyperlegible" pitchFamily="34" charset="0"/>
                <a:ea typeface="Atkinson Hyperlegible" pitchFamily="34" charset="-122"/>
                <a:cs typeface="Atkinson Hyperlegible" pitchFamily="34" charset="-120"/>
              </a:rPr>
              <a:t>Lenguaje Común</a:t>
            </a:r>
            <a:endParaRPr lang="en-US" sz="1400" dirty="0"/>
          </a:p>
        </p:txBody>
      </p:sp>
      <p:sp>
        <p:nvSpPr>
          <p:cNvPr id="9" name="Text 7"/>
          <p:cNvSpPr txBox="1"/>
          <p:nvPr/>
        </p:nvSpPr>
        <p:spPr>
          <a:xfrm>
            <a:off x="548640" y="1801368"/>
            <a:ext cx="3794760" cy="8229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Todos hablan de "constructabilidad" con la misma definición. Los 17 conceptos CII son el vocabulario estándar del equipo.</a:t>
            </a:r>
            <a:endParaRPr lang="en-US" sz="1100" dirty="0"/>
          </a:p>
        </p:txBody>
      </p:sp>
      <p:sp>
        <p:nvSpPr>
          <p:cNvPr id="10" name="Shape 8"/>
          <p:cNvSpPr/>
          <p:nvPr/>
        </p:nvSpPr>
        <p:spPr>
          <a:xfrm>
            <a:off x="4754880" y="1298448"/>
            <a:ext cx="4160520" cy="1444752"/>
          </a:xfrm>
          <a:prstGeom prst="roundRect">
            <a:avLst>
              <a:gd name="adj" fmla="val 6329"/>
            </a:avLst>
          </a:prstGeom>
          <a:solidFill>
            <a:srgbClr val="2C2C2E"/>
          </a:solidFill>
          <a:ln w="25400">
            <a:solidFill>
              <a:srgbClr val="30D158"/>
            </a:solidFill>
            <a:prstDash val="solid"/>
          </a:ln>
        </p:spPr>
      </p:sp>
      <p:sp>
        <p:nvSpPr>
          <p:cNvPr id="11" name="Shape 9"/>
          <p:cNvSpPr/>
          <p:nvPr/>
        </p:nvSpPr>
        <p:spPr>
          <a:xfrm>
            <a:off x="4754880" y="2688336"/>
            <a:ext cx="4160520" cy="54864"/>
          </a:xfrm>
          <a:prstGeom prst="rect">
            <a:avLst/>
          </a:prstGeom>
          <a:solidFill>
            <a:srgbClr val="30D158"/>
          </a:solidFill>
          <a:ln/>
        </p:spPr>
      </p:sp>
      <p:sp>
        <p:nvSpPr>
          <p:cNvPr id="12" name="Text 10"/>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400" b="1" dirty="0">
                <a:solidFill>
                  <a:srgbClr val="30D158"/>
                </a:solidFill>
                <a:latin typeface="Atkinson Hyperlegible" pitchFamily="34" charset="0"/>
                <a:ea typeface="Atkinson Hyperlegible" pitchFamily="34" charset="-122"/>
                <a:cs typeface="Atkinson Hyperlegible" pitchFamily="34" charset="-120"/>
              </a:rPr>
              <a:t>Curiosidad Constructiva</a:t>
            </a:r>
            <a:endParaRPr lang="en-US" sz="1400" dirty="0"/>
          </a:p>
        </p:txBody>
      </p:sp>
      <p:sp>
        <p:nvSpPr>
          <p:cNvPr id="13" name="Text 11"/>
          <p:cNvSpPr txBox="1"/>
          <p:nvPr/>
        </p:nvSpPr>
        <p:spPr>
          <a:xfrm>
            <a:off x="4937760" y="1801368"/>
            <a:ext cx="3794760" cy="8229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"¿Cómo se va a construir esto?" es la pregunta que todo ingeniero de diseño se hace a sí mismo antes de emitir cualquier plano.</a:t>
            </a:r>
            <a:endParaRPr lang="en-US" sz="1100" dirty="0"/>
          </a:p>
        </p:txBody>
      </p:sp>
      <p:sp>
        <p:nvSpPr>
          <p:cNvPr id="14" name="Shape 12"/>
          <p:cNvSpPr/>
          <p:nvPr/>
        </p:nvSpPr>
        <p:spPr>
          <a:xfrm>
            <a:off x="365760" y="2898648"/>
            <a:ext cx="4160520" cy="1444752"/>
          </a:xfrm>
          <a:prstGeom prst="roundRect">
            <a:avLst>
              <a:gd name="adj" fmla="val 6329"/>
            </a:avLst>
          </a:prstGeom>
          <a:solidFill>
            <a:srgbClr val="2C2C2E"/>
          </a:solidFill>
          <a:ln w="25400">
            <a:solidFill>
              <a:srgbClr val="FF9500"/>
            </a:solidFill>
            <a:prstDash val="solid"/>
          </a:ln>
        </p:spPr>
      </p:sp>
      <p:sp>
        <p:nvSpPr>
          <p:cNvPr id="15" name="Shape 13"/>
          <p:cNvSpPr/>
          <p:nvPr/>
        </p:nvSpPr>
        <p:spPr>
          <a:xfrm>
            <a:off x="365760" y="4288536"/>
            <a:ext cx="4160520" cy="54864"/>
          </a:xfrm>
          <a:prstGeom prst="rect">
            <a:avLst/>
          </a:prstGeom>
          <a:solidFill>
            <a:srgbClr val="FF9500"/>
          </a:solidFill>
          <a:ln/>
        </p:spPr>
      </p:sp>
      <p:sp>
        <p:nvSpPr>
          <p:cNvPr id="16" name="Text 14"/>
          <p:cNvSpPr txBox="1"/>
          <p:nvPr/>
        </p:nvSpPr>
        <p:spPr>
          <a:xfrm>
            <a:off x="548640" y="3008376"/>
            <a:ext cx="3794760" cy="347472"/>
          </a:xfrm>
          <a:prstGeom prst="rect">
            <a:avLst/>
          </a:prstGeom>
          <a:noFill/>
          <a:ln/>
        </p:spPr>
        <p:txBody>
          <a:bodyPr wrap="square" lIns="0" tIns="0" rIns="0" bIns="0" rtlCol="0" anchor="ctr"/>
          <a:lstStyle/>
          <a:p>
            <a:pPr indent="0" marL="0">
              <a:buNone/>
            </a:pPr>
            <a:r>
              <a:rPr lang="en-US" sz="1400" b="1" dirty="0">
                <a:solidFill>
                  <a:srgbClr val="FF9500"/>
                </a:solidFill>
                <a:latin typeface="Atkinson Hyperlegible" pitchFamily="34" charset="0"/>
                <a:ea typeface="Atkinson Hyperlegible" pitchFamily="34" charset="-122"/>
                <a:cs typeface="Atkinson Hyperlegible" pitchFamily="34" charset="-120"/>
              </a:rPr>
              <a:t>Respeto al Conocimiento de Campo</a:t>
            </a:r>
            <a:endParaRPr lang="en-US" sz="1400" dirty="0"/>
          </a:p>
        </p:txBody>
      </p:sp>
      <p:sp>
        <p:nvSpPr>
          <p:cNvPr id="17" name="Text 15"/>
          <p:cNvSpPr txBox="1"/>
          <p:nvPr/>
        </p:nvSpPr>
        <p:spPr>
          <a:xfrm>
            <a:off x="548640" y="3401568"/>
            <a:ext cx="3794760" cy="8229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 experiencia del constructor se valora tanto como el análisis del ingeniero. No hay jerarquía en las revisiones de constructabilidad.</a:t>
            </a:r>
            <a:endParaRPr lang="en-US" sz="1100" dirty="0"/>
          </a:p>
        </p:txBody>
      </p:sp>
      <p:sp>
        <p:nvSpPr>
          <p:cNvPr id="18" name="Shape 16"/>
          <p:cNvSpPr/>
          <p:nvPr/>
        </p:nvSpPr>
        <p:spPr>
          <a:xfrm>
            <a:off x="4754880" y="2898648"/>
            <a:ext cx="4160520" cy="1444752"/>
          </a:xfrm>
          <a:prstGeom prst="roundRect">
            <a:avLst>
              <a:gd name="adj" fmla="val 6329"/>
            </a:avLst>
          </a:prstGeom>
          <a:solidFill>
            <a:srgbClr val="2C2C2E"/>
          </a:solidFill>
          <a:ln w="25400">
            <a:solidFill>
              <a:srgbClr val="FFD60A"/>
            </a:solidFill>
            <a:prstDash val="solid"/>
          </a:ln>
        </p:spPr>
      </p:sp>
      <p:sp>
        <p:nvSpPr>
          <p:cNvPr id="19" name="Shape 17"/>
          <p:cNvSpPr/>
          <p:nvPr/>
        </p:nvSpPr>
        <p:spPr>
          <a:xfrm>
            <a:off x="4754880" y="4288536"/>
            <a:ext cx="4160520" cy="54864"/>
          </a:xfrm>
          <a:prstGeom prst="rect">
            <a:avLst/>
          </a:prstGeom>
          <a:solidFill>
            <a:srgbClr val="FFD60A"/>
          </a:solidFill>
          <a:ln/>
        </p:spPr>
      </p:sp>
      <p:sp>
        <p:nvSpPr>
          <p:cNvPr id="20" name="Text 18"/>
          <p:cNvSpPr txBox="1"/>
          <p:nvPr/>
        </p:nvSpPr>
        <p:spPr>
          <a:xfrm>
            <a:off x="4937760" y="3008376"/>
            <a:ext cx="3794760" cy="347472"/>
          </a:xfrm>
          <a:prstGeom prst="rect">
            <a:avLst/>
          </a:prstGeom>
          <a:noFill/>
          <a:ln/>
        </p:spPr>
        <p:txBody>
          <a:bodyPr wrap="square" lIns="0" tIns="0" rIns="0" bIns="0" rtlCol="0" anchor="ctr"/>
          <a:lstStyle/>
          <a:p>
            <a:pPr indent="0" marL="0">
              <a:buNone/>
            </a:pPr>
            <a:r>
              <a:rPr lang="en-US" sz="1400" b="1" dirty="0">
                <a:solidFill>
                  <a:srgbClr val="FFD60A"/>
                </a:solidFill>
                <a:latin typeface="Atkinson Hyperlegible" pitchFamily="34" charset="0"/>
                <a:ea typeface="Atkinson Hyperlegible" pitchFamily="34" charset="-122"/>
                <a:cs typeface="Atkinson Hyperlegible" pitchFamily="34" charset="-120"/>
              </a:rPr>
              <a:t>Reconocimiento de Ideas</a:t>
            </a:r>
            <a:endParaRPr lang="en-US" sz="1400" dirty="0"/>
          </a:p>
        </p:txBody>
      </p:sp>
      <p:sp>
        <p:nvSpPr>
          <p:cNvPr id="21" name="Text 19"/>
          <p:cNvSpPr txBox="1"/>
          <p:nvPr/>
        </p:nvSpPr>
        <p:spPr>
          <a:xfrm>
            <a:off x="4937760" y="3401568"/>
            <a:ext cx="3794760" cy="8229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Las ideas implementadas de constructabilidad se celebran y atribuyen. El aportador ve su lección en la LLDB con su nombre.</a:t>
            </a:r>
            <a:endParaRPr lang="en-US" sz="1100" dirty="0"/>
          </a:p>
        </p:txBody>
      </p:sp>
      <p:sp>
        <p:nvSpPr>
          <p:cNvPr id="22" name="Shape 20"/>
          <p:cNvSpPr/>
          <p:nvPr/>
        </p:nvSpPr>
        <p:spPr>
          <a:xfrm>
            <a:off x="365760" y="4498848"/>
            <a:ext cx="4160520" cy="1444752"/>
          </a:xfrm>
          <a:prstGeom prst="roundRect">
            <a:avLst>
              <a:gd name="adj" fmla="val 6329"/>
            </a:avLst>
          </a:prstGeom>
          <a:solidFill>
            <a:srgbClr val="2C2C2E"/>
          </a:solidFill>
          <a:ln w="25400">
            <a:solidFill>
              <a:srgbClr val="AF52DE"/>
            </a:solidFill>
            <a:prstDash val="solid"/>
          </a:ln>
        </p:spPr>
      </p:sp>
      <p:sp>
        <p:nvSpPr>
          <p:cNvPr id="23" name="Shape 21"/>
          <p:cNvSpPr/>
          <p:nvPr/>
        </p:nvSpPr>
        <p:spPr>
          <a:xfrm>
            <a:off x="365760" y="5888736"/>
            <a:ext cx="4160520" cy="54864"/>
          </a:xfrm>
          <a:prstGeom prst="rect">
            <a:avLst/>
          </a:prstGeom>
          <a:solidFill>
            <a:srgbClr val="AF52DE"/>
          </a:solidFill>
          <a:ln/>
        </p:spPr>
      </p:sp>
      <p:sp>
        <p:nvSpPr>
          <p:cNvPr id="24" name="Text 22"/>
          <p:cNvSpPr txBox="1"/>
          <p:nvPr/>
        </p:nvSpPr>
        <p:spPr>
          <a:xfrm>
            <a:off x="548640" y="4608576"/>
            <a:ext cx="3794760" cy="347472"/>
          </a:xfrm>
          <a:prstGeom prst="rect">
            <a:avLst/>
          </a:prstGeom>
          <a:noFill/>
          <a:ln/>
        </p:spPr>
        <p:txBody>
          <a:bodyPr wrap="square" lIns="0" tIns="0" rIns="0" bIns="0" rtlCol="0" anchor="ctr"/>
          <a:lstStyle/>
          <a:p>
            <a:pPr indent="0" marL="0">
              <a:buNone/>
            </a:pPr>
            <a:r>
              <a:rPr lang="en-US" sz="1400" b="1" dirty="0">
                <a:solidFill>
                  <a:srgbClr val="AF52DE"/>
                </a:solidFill>
                <a:latin typeface="Atkinson Hyperlegible" pitchFamily="34" charset="0"/>
                <a:ea typeface="Atkinson Hyperlegible" pitchFamily="34" charset="-122"/>
                <a:cs typeface="Atkinson Hyperlegible" pitchFamily="34" charset="-120"/>
              </a:rPr>
              <a:t>Tolerancia al Error Temprano</a:t>
            </a:r>
            <a:endParaRPr lang="en-US" sz="1400" dirty="0"/>
          </a:p>
        </p:txBody>
      </p:sp>
      <p:sp>
        <p:nvSpPr>
          <p:cNvPr id="25" name="Text 23"/>
          <p:cNvSpPr txBox="1"/>
          <p:nvPr/>
        </p:nvSpPr>
        <p:spPr>
          <a:xfrm>
            <a:off x="548640" y="5001768"/>
            <a:ext cx="3794760" cy="8229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Equivocarse en papel (en revisión de constructabilidad) es bueno. Equivocarse en campo es caro. Se celebra el "error evitado".</a:t>
            </a:r>
            <a:endParaRPr lang="en-US" sz="1100" dirty="0"/>
          </a:p>
        </p:txBody>
      </p:sp>
      <p:sp>
        <p:nvSpPr>
          <p:cNvPr id="26" name="Shape 24"/>
          <p:cNvSpPr/>
          <p:nvPr/>
        </p:nvSpPr>
        <p:spPr>
          <a:xfrm>
            <a:off x="4754880" y="4498848"/>
            <a:ext cx="4160520" cy="1444752"/>
          </a:xfrm>
          <a:prstGeom prst="roundRect">
            <a:avLst>
              <a:gd name="adj" fmla="val 6329"/>
            </a:avLst>
          </a:prstGeom>
          <a:solidFill>
            <a:srgbClr val="2C2C2E"/>
          </a:solidFill>
          <a:ln w="25400">
            <a:solidFill>
              <a:srgbClr val="FF453A"/>
            </a:solidFill>
            <a:prstDash val="solid"/>
          </a:ln>
        </p:spPr>
      </p:sp>
      <p:sp>
        <p:nvSpPr>
          <p:cNvPr id="27" name="Shape 25"/>
          <p:cNvSpPr/>
          <p:nvPr/>
        </p:nvSpPr>
        <p:spPr>
          <a:xfrm>
            <a:off x="4754880" y="5888736"/>
            <a:ext cx="4160520" cy="54864"/>
          </a:xfrm>
          <a:prstGeom prst="rect">
            <a:avLst/>
          </a:prstGeom>
          <a:solidFill>
            <a:srgbClr val="FF453A"/>
          </a:solidFill>
          <a:ln/>
        </p:spPr>
      </p:sp>
      <p:sp>
        <p:nvSpPr>
          <p:cNvPr id="28" name="Text 26"/>
          <p:cNvSpPr txBox="1"/>
          <p:nvPr/>
        </p:nvSpPr>
        <p:spPr>
          <a:xfrm>
            <a:off x="4937760" y="4608576"/>
            <a:ext cx="3794760" cy="347472"/>
          </a:xfrm>
          <a:prstGeom prst="rect">
            <a:avLst/>
          </a:prstGeom>
          <a:noFill/>
          <a:ln/>
        </p:spPr>
        <p:txBody>
          <a:bodyPr wrap="square" lIns="0" tIns="0" rIns="0" bIns="0" rtlCol="0" anchor="ctr"/>
          <a:lstStyle/>
          <a:p>
            <a:pPr indent="0" marL="0">
              <a:buNone/>
            </a:pPr>
            <a:r>
              <a:rPr lang="en-US" sz="1400" b="1" dirty="0">
                <a:solidFill>
                  <a:srgbClr val="FF453A"/>
                </a:solidFill>
                <a:latin typeface="Atkinson Hyperlegible" pitchFamily="34" charset="0"/>
                <a:ea typeface="Atkinson Hyperlegible" pitchFamily="34" charset="-122"/>
                <a:cs typeface="Atkinson Hyperlegible" pitchFamily="34" charset="-120"/>
              </a:rPr>
              <a:t>Aprendizaje Continuo</a:t>
            </a:r>
            <a:endParaRPr lang="en-US" sz="1400" dirty="0"/>
          </a:p>
        </p:txBody>
      </p:sp>
      <p:sp>
        <p:nvSpPr>
          <p:cNvPr id="29" name="Text 27"/>
          <p:cNvSpPr txBox="1"/>
          <p:nvPr/>
        </p:nvSpPr>
        <p:spPr>
          <a:xfrm>
            <a:off x="4937760" y="5001768"/>
            <a:ext cx="3794760" cy="822960"/>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Cada proyecto termina con un Post-Project Constructability Review. Lo aprendido entra a LLDB antes de que el equipo se disuelva.</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119</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Checklist Ejecutivo: 20 Preguntas de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Un PM debe poder responder SÍ a estas 20 preguntas para confirmar que el proyecto es constructible:</a:t>
            </a:r>
            <a:endParaRPr lang="en-US" sz="1300" dirty="0"/>
          </a:p>
        </p:txBody>
      </p:sp>
      <p:sp>
        <p:nvSpPr>
          <p:cNvPr id="6" name="Shape 4"/>
          <p:cNvSpPr/>
          <p:nvPr/>
        </p:nvSpPr>
        <p:spPr>
          <a:xfrm>
            <a:off x="365760" y="1298448"/>
            <a:ext cx="347472" cy="347472"/>
          </a:xfrm>
          <a:prstGeom prst="roundRect">
            <a:avLst>
              <a:gd name="adj" fmla="val 13158"/>
            </a:avLst>
          </a:prstGeom>
          <a:solidFill>
            <a:srgbClr val="3A3A3C"/>
          </a:solidFill>
          <a:ln w="12700">
            <a:solidFill>
              <a:srgbClr val="3A3A3C"/>
            </a:solidFill>
            <a:prstDash val="solid"/>
          </a:ln>
        </p:spPr>
      </p:sp>
      <p:sp>
        <p:nvSpPr>
          <p:cNvPr id="7" name="Text 5"/>
          <p:cNvSpPr txBox="1"/>
          <p:nvPr/>
        </p:nvSpPr>
        <p:spPr>
          <a:xfrm>
            <a:off x="42062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a:t>
            </a:r>
            <a:endParaRPr lang="en-US" sz="1100" dirty="0"/>
          </a:p>
        </p:txBody>
      </p:sp>
      <p:sp>
        <p:nvSpPr>
          <p:cNvPr id="8" name="Text 6"/>
          <p:cNvSpPr txBox="1"/>
          <p:nvPr/>
        </p:nvSpPr>
        <p:spPr>
          <a:xfrm>
            <a:off x="777240" y="1353312"/>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¿Se realizó una revisión de constructabilidad en FEL-2 o antes?</a:t>
            </a:r>
            <a:endParaRPr lang="en-US" sz="1000" dirty="0"/>
          </a:p>
        </p:txBody>
      </p:sp>
      <p:sp>
        <p:nvSpPr>
          <p:cNvPr id="9" name="Shape 7"/>
          <p:cNvSpPr/>
          <p:nvPr/>
        </p:nvSpPr>
        <p:spPr>
          <a:xfrm>
            <a:off x="365760" y="1792224"/>
            <a:ext cx="347472" cy="347472"/>
          </a:xfrm>
          <a:prstGeom prst="roundRect">
            <a:avLst>
              <a:gd name="adj" fmla="val 13158"/>
            </a:avLst>
          </a:prstGeom>
          <a:solidFill>
            <a:srgbClr val="3A3A3C"/>
          </a:solidFill>
          <a:ln w="12700">
            <a:solidFill>
              <a:srgbClr val="3A3A3C"/>
            </a:solidFill>
            <a:prstDash val="solid"/>
          </a:ln>
        </p:spPr>
      </p:sp>
      <p:sp>
        <p:nvSpPr>
          <p:cNvPr id="10" name="Text 8"/>
          <p:cNvSpPr txBox="1"/>
          <p:nvPr/>
        </p:nvSpPr>
        <p:spPr>
          <a:xfrm>
            <a:off x="42062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a:t>
            </a:r>
            <a:endParaRPr lang="en-US" sz="1100" dirty="0"/>
          </a:p>
        </p:txBody>
      </p:sp>
      <p:sp>
        <p:nvSpPr>
          <p:cNvPr id="11" name="Text 9"/>
          <p:cNvSpPr txBox="1"/>
          <p:nvPr/>
        </p:nvSpPr>
        <p:spPr>
          <a:xfrm>
            <a:off x="777240" y="1847088"/>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¿El CM de constructabilidad tiene voto en las revisiones de diseño?</a:t>
            </a:r>
            <a:endParaRPr lang="en-US" sz="1000" dirty="0"/>
          </a:p>
        </p:txBody>
      </p:sp>
      <p:sp>
        <p:nvSpPr>
          <p:cNvPr id="12" name="Shape 10"/>
          <p:cNvSpPr/>
          <p:nvPr/>
        </p:nvSpPr>
        <p:spPr>
          <a:xfrm>
            <a:off x="365760" y="2286000"/>
            <a:ext cx="347472" cy="347472"/>
          </a:xfrm>
          <a:prstGeom prst="roundRect">
            <a:avLst>
              <a:gd name="adj" fmla="val 13158"/>
            </a:avLst>
          </a:prstGeom>
          <a:solidFill>
            <a:srgbClr val="3A3A3C"/>
          </a:solidFill>
          <a:ln w="12700">
            <a:solidFill>
              <a:srgbClr val="3A3A3C"/>
            </a:solidFill>
            <a:prstDash val="solid"/>
          </a:ln>
        </p:spPr>
      </p:sp>
      <p:sp>
        <p:nvSpPr>
          <p:cNvPr id="13" name="Text 11"/>
          <p:cNvSpPr txBox="1"/>
          <p:nvPr/>
        </p:nvSpPr>
        <p:spPr>
          <a:xfrm>
            <a:off x="42062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3</a:t>
            </a:r>
            <a:endParaRPr lang="en-US" sz="1100" dirty="0"/>
          </a:p>
        </p:txBody>
      </p:sp>
      <p:sp>
        <p:nvSpPr>
          <p:cNvPr id="14" name="Text 12"/>
          <p:cNvSpPr txBox="1"/>
          <p:nvPr/>
        </p:nvSpPr>
        <p:spPr>
          <a:xfrm>
            <a:off x="777240" y="2340864"/>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¿Existe un plan documentado de constructabilidad aprobado por el PM?</a:t>
            </a:r>
            <a:endParaRPr lang="en-US" sz="1000" dirty="0"/>
          </a:p>
        </p:txBody>
      </p:sp>
      <p:sp>
        <p:nvSpPr>
          <p:cNvPr id="15" name="Shape 13"/>
          <p:cNvSpPr/>
          <p:nvPr/>
        </p:nvSpPr>
        <p:spPr>
          <a:xfrm>
            <a:off x="365760" y="2779776"/>
            <a:ext cx="347472" cy="347472"/>
          </a:xfrm>
          <a:prstGeom prst="roundRect">
            <a:avLst>
              <a:gd name="adj" fmla="val 13158"/>
            </a:avLst>
          </a:prstGeom>
          <a:solidFill>
            <a:srgbClr val="3A3A3C"/>
          </a:solidFill>
          <a:ln w="12700">
            <a:solidFill>
              <a:srgbClr val="3A3A3C"/>
            </a:solidFill>
            <a:prstDash val="solid"/>
          </a:ln>
        </p:spPr>
      </p:sp>
      <p:sp>
        <p:nvSpPr>
          <p:cNvPr id="16" name="Text 14"/>
          <p:cNvSpPr txBox="1"/>
          <p:nvPr/>
        </p:nvSpPr>
        <p:spPr>
          <a:xfrm>
            <a:off x="42062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4</a:t>
            </a:r>
            <a:endParaRPr lang="en-US" sz="1100" dirty="0"/>
          </a:p>
        </p:txBody>
      </p:sp>
      <p:sp>
        <p:nvSpPr>
          <p:cNvPr id="17" name="Text 15"/>
          <p:cNvSpPr txBox="1"/>
          <p:nvPr/>
        </p:nvSpPr>
        <p:spPr>
          <a:xfrm>
            <a:off x="777240" y="2834640"/>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¿El diseño considera la secuencia de construcción lógica?</a:t>
            </a:r>
            <a:endParaRPr lang="en-US" sz="1000" dirty="0"/>
          </a:p>
        </p:txBody>
      </p:sp>
      <p:sp>
        <p:nvSpPr>
          <p:cNvPr id="18" name="Shape 16"/>
          <p:cNvSpPr/>
          <p:nvPr/>
        </p:nvSpPr>
        <p:spPr>
          <a:xfrm>
            <a:off x="365760" y="3273552"/>
            <a:ext cx="347472" cy="347472"/>
          </a:xfrm>
          <a:prstGeom prst="roundRect">
            <a:avLst>
              <a:gd name="adj" fmla="val 13158"/>
            </a:avLst>
          </a:prstGeom>
          <a:solidFill>
            <a:srgbClr val="3A3A3C"/>
          </a:solidFill>
          <a:ln w="12700">
            <a:solidFill>
              <a:srgbClr val="3A3A3C"/>
            </a:solidFill>
            <a:prstDash val="solid"/>
          </a:ln>
        </p:spPr>
      </p:sp>
      <p:sp>
        <p:nvSpPr>
          <p:cNvPr id="19" name="Text 17"/>
          <p:cNvSpPr txBox="1"/>
          <p:nvPr/>
        </p:nvSpPr>
        <p:spPr>
          <a:xfrm>
            <a:off x="42062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5</a:t>
            </a:r>
            <a:endParaRPr lang="en-US" sz="1100" dirty="0"/>
          </a:p>
        </p:txBody>
      </p:sp>
      <p:sp>
        <p:nvSpPr>
          <p:cNvPr id="20" name="Text 18"/>
          <p:cNvSpPr txBox="1"/>
          <p:nvPr/>
        </p:nvSpPr>
        <p:spPr>
          <a:xfrm>
            <a:off x="777240" y="3328416"/>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¿Se han identificado oportunidades de modularización / pre-ensamble?</a:t>
            </a:r>
            <a:endParaRPr lang="en-US" sz="1000" dirty="0"/>
          </a:p>
        </p:txBody>
      </p:sp>
      <p:sp>
        <p:nvSpPr>
          <p:cNvPr id="21" name="Shape 19"/>
          <p:cNvSpPr/>
          <p:nvPr/>
        </p:nvSpPr>
        <p:spPr>
          <a:xfrm>
            <a:off x="365760" y="3767328"/>
            <a:ext cx="347472" cy="347472"/>
          </a:xfrm>
          <a:prstGeom prst="roundRect">
            <a:avLst>
              <a:gd name="adj" fmla="val 13158"/>
            </a:avLst>
          </a:prstGeom>
          <a:solidFill>
            <a:srgbClr val="3A3A3C"/>
          </a:solidFill>
          <a:ln w="12700">
            <a:solidFill>
              <a:srgbClr val="3A3A3C"/>
            </a:solidFill>
            <a:prstDash val="solid"/>
          </a:ln>
        </p:spPr>
      </p:sp>
      <p:sp>
        <p:nvSpPr>
          <p:cNvPr id="22" name="Text 20"/>
          <p:cNvSpPr txBox="1"/>
          <p:nvPr/>
        </p:nvSpPr>
        <p:spPr>
          <a:xfrm>
            <a:off x="42062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6</a:t>
            </a:r>
            <a:endParaRPr lang="en-US" sz="1100" dirty="0"/>
          </a:p>
        </p:txBody>
      </p:sp>
      <p:sp>
        <p:nvSpPr>
          <p:cNvPr id="23" name="Text 21"/>
          <p:cNvSpPr txBox="1"/>
          <p:nvPr/>
        </p:nvSpPr>
        <p:spPr>
          <a:xfrm>
            <a:off x="777240" y="3822192"/>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¿Los accesos de construcción y grúas están definidos en el diseño?</a:t>
            </a:r>
            <a:endParaRPr lang="en-US" sz="1000" dirty="0"/>
          </a:p>
        </p:txBody>
      </p:sp>
      <p:sp>
        <p:nvSpPr>
          <p:cNvPr id="24" name="Shape 22"/>
          <p:cNvSpPr/>
          <p:nvPr/>
        </p:nvSpPr>
        <p:spPr>
          <a:xfrm>
            <a:off x="365760" y="4261104"/>
            <a:ext cx="347472" cy="347472"/>
          </a:xfrm>
          <a:prstGeom prst="roundRect">
            <a:avLst>
              <a:gd name="adj" fmla="val 13158"/>
            </a:avLst>
          </a:prstGeom>
          <a:solidFill>
            <a:srgbClr val="3A3A3C"/>
          </a:solidFill>
          <a:ln w="12700">
            <a:solidFill>
              <a:srgbClr val="3A3A3C"/>
            </a:solidFill>
            <a:prstDash val="solid"/>
          </a:ln>
        </p:spPr>
      </p:sp>
      <p:sp>
        <p:nvSpPr>
          <p:cNvPr id="25" name="Text 23"/>
          <p:cNvSpPr txBox="1"/>
          <p:nvPr/>
        </p:nvSpPr>
        <p:spPr>
          <a:xfrm>
            <a:off x="42062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7</a:t>
            </a:r>
            <a:endParaRPr lang="en-US" sz="1100" dirty="0"/>
          </a:p>
        </p:txBody>
      </p:sp>
      <p:sp>
        <p:nvSpPr>
          <p:cNvPr id="26" name="Text 24"/>
          <p:cNvSpPr txBox="1"/>
          <p:nvPr/>
        </p:nvSpPr>
        <p:spPr>
          <a:xfrm>
            <a:off x="777240" y="4315968"/>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¿Las especificaciones se han revisado para eliminar restricciones innecesarias?</a:t>
            </a:r>
            <a:endParaRPr lang="en-US" sz="1000" dirty="0"/>
          </a:p>
        </p:txBody>
      </p:sp>
      <p:sp>
        <p:nvSpPr>
          <p:cNvPr id="27" name="Shape 25"/>
          <p:cNvSpPr/>
          <p:nvPr/>
        </p:nvSpPr>
        <p:spPr>
          <a:xfrm>
            <a:off x="365760" y="4754880"/>
            <a:ext cx="347472" cy="347472"/>
          </a:xfrm>
          <a:prstGeom prst="roundRect">
            <a:avLst>
              <a:gd name="adj" fmla="val 13158"/>
            </a:avLst>
          </a:prstGeom>
          <a:solidFill>
            <a:srgbClr val="3A3A3C"/>
          </a:solidFill>
          <a:ln w="12700">
            <a:solidFill>
              <a:srgbClr val="3A3A3C"/>
            </a:solidFill>
            <a:prstDash val="solid"/>
          </a:ln>
        </p:spPr>
      </p:sp>
      <p:sp>
        <p:nvSpPr>
          <p:cNvPr id="28" name="Text 26"/>
          <p:cNvSpPr txBox="1"/>
          <p:nvPr/>
        </p:nvSpPr>
        <p:spPr>
          <a:xfrm>
            <a:off x="42062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8</a:t>
            </a:r>
            <a:endParaRPr lang="en-US" sz="1100" dirty="0"/>
          </a:p>
        </p:txBody>
      </p:sp>
      <p:sp>
        <p:nvSpPr>
          <p:cNvPr id="29" name="Text 27"/>
          <p:cNvSpPr txBox="1"/>
          <p:nvPr/>
        </p:nvSpPr>
        <p:spPr>
          <a:xfrm>
            <a:off x="777240" y="4809744"/>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¿El plan de procura está alineado con la secuencia constructiva?</a:t>
            </a:r>
            <a:endParaRPr lang="en-US" sz="1000" dirty="0"/>
          </a:p>
        </p:txBody>
      </p:sp>
      <p:sp>
        <p:nvSpPr>
          <p:cNvPr id="30" name="Shape 28"/>
          <p:cNvSpPr/>
          <p:nvPr/>
        </p:nvSpPr>
        <p:spPr>
          <a:xfrm>
            <a:off x="365760" y="5248656"/>
            <a:ext cx="347472" cy="347472"/>
          </a:xfrm>
          <a:prstGeom prst="roundRect">
            <a:avLst>
              <a:gd name="adj" fmla="val 13158"/>
            </a:avLst>
          </a:prstGeom>
          <a:solidFill>
            <a:srgbClr val="3A3A3C"/>
          </a:solidFill>
          <a:ln w="12700">
            <a:solidFill>
              <a:srgbClr val="3A3A3C"/>
            </a:solidFill>
            <a:prstDash val="solid"/>
          </a:ln>
        </p:spPr>
      </p:sp>
      <p:sp>
        <p:nvSpPr>
          <p:cNvPr id="31" name="Text 29"/>
          <p:cNvSpPr txBox="1"/>
          <p:nvPr/>
        </p:nvSpPr>
        <p:spPr>
          <a:xfrm>
            <a:off x="42062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9</a:t>
            </a:r>
            <a:endParaRPr lang="en-US" sz="1100" dirty="0"/>
          </a:p>
        </p:txBody>
      </p:sp>
      <p:sp>
        <p:nvSpPr>
          <p:cNvPr id="32" name="Text 30"/>
          <p:cNvSpPr txBox="1"/>
          <p:nvPr/>
        </p:nvSpPr>
        <p:spPr>
          <a:xfrm>
            <a:off x="777240" y="5303520"/>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¿Se usa BIM 3D para detección de interferencias constructivas?</a:t>
            </a:r>
            <a:endParaRPr lang="en-US" sz="1000" dirty="0"/>
          </a:p>
        </p:txBody>
      </p:sp>
      <p:sp>
        <p:nvSpPr>
          <p:cNvPr id="33" name="Shape 31"/>
          <p:cNvSpPr/>
          <p:nvPr/>
        </p:nvSpPr>
        <p:spPr>
          <a:xfrm>
            <a:off x="365760" y="5742432"/>
            <a:ext cx="347472" cy="347472"/>
          </a:xfrm>
          <a:prstGeom prst="roundRect">
            <a:avLst>
              <a:gd name="adj" fmla="val 13158"/>
            </a:avLst>
          </a:prstGeom>
          <a:solidFill>
            <a:srgbClr val="3A3A3C"/>
          </a:solidFill>
          <a:ln w="12700">
            <a:solidFill>
              <a:srgbClr val="3A3A3C"/>
            </a:solidFill>
            <a:prstDash val="solid"/>
          </a:ln>
        </p:spPr>
      </p:sp>
      <p:sp>
        <p:nvSpPr>
          <p:cNvPr id="34" name="Text 32"/>
          <p:cNvSpPr txBox="1"/>
          <p:nvPr/>
        </p:nvSpPr>
        <p:spPr>
          <a:xfrm>
            <a:off x="42062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10</a:t>
            </a:r>
            <a:endParaRPr lang="en-US" sz="1100" dirty="0"/>
          </a:p>
        </p:txBody>
      </p:sp>
      <p:sp>
        <p:nvSpPr>
          <p:cNvPr id="35" name="Text 33"/>
          <p:cNvSpPr txBox="1"/>
          <p:nvPr/>
        </p:nvSpPr>
        <p:spPr>
          <a:xfrm>
            <a:off x="777240" y="5797296"/>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¿El programa (cronograma) refleja la lógica constructiva real?</a:t>
            </a:r>
            <a:endParaRPr lang="en-US" sz="1000" dirty="0"/>
          </a:p>
        </p:txBody>
      </p:sp>
      <p:sp>
        <p:nvSpPr>
          <p:cNvPr id="36" name="Shape 34"/>
          <p:cNvSpPr/>
          <p:nvPr/>
        </p:nvSpPr>
        <p:spPr>
          <a:xfrm>
            <a:off x="4754880" y="1298448"/>
            <a:ext cx="347472" cy="347472"/>
          </a:xfrm>
          <a:prstGeom prst="roundRect">
            <a:avLst>
              <a:gd name="adj" fmla="val 13158"/>
            </a:avLst>
          </a:prstGeom>
          <a:solidFill>
            <a:srgbClr val="3A3A3C"/>
          </a:solidFill>
          <a:ln w="12700">
            <a:solidFill>
              <a:srgbClr val="3A3A3C"/>
            </a:solidFill>
            <a:prstDash val="solid"/>
          </a:ln>
        </p:spPr>
      </p:sp>
      <p:sp>
        <p:nvSpPr>
          <p:cNvPr id="37" name="Text 35"/>
          <p:cNvSpPr txBox="1"/>
          <p:nvPr/>
        </p:nvSpPr>
        <p:spPr>
          <a:xfrm>
            <a:off x="480974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11</a:t>
            </a:r>
            <a:endParaRPr lang="en-US" sz="1100" dirty="0"/>
          </a:p>
        </p:txBody>
      </p:sp>
      <p:sp>
        <p:nvSpPr>
          <p:cNvPr id="38" name="Text 36"/>
          <p:cNvSpPr txBox="1"/>
          <p:nvPr/>
        </p:nvSpPr>
        <p:spPr>
          <a:xfrm>
            <a:off x="5166360" y="1353312"/>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¿Existe una LLDB con lecciones de proyectos similares consultada?</a:t>
            </a:r>
            <a:endParaRPr lang="en-US" sz="1000" dirty="0"/>
          </a:p>
        </p:txBody>
      </p:sp>
      <p:sp>
        <p:nvSpPr>
          <p:cNvPr id="39" name="Shape 37"/>
          <p:cNvSpPr/>
          <p:nvPr/>
        </p:nvSpPr>
        <p:spPr>
          <a:xfrm>
            <a:off x="4754880" y="1792224"/>
            <a:ext cx="347472" cy="347472"/>
          </a:xfrm>
          <a:prstGeom prst="roundRect">
            <a:avLst>
              <a:gd name="adj" fmla="val 13158"/>
            </a:avLst>
          </a:prstGeom>
          <a:solidFill>
            <a:srgbClr val="3A3A3C"/>
          </a:solidFill>
          <a:ln w="12700">
            <a:solidFill>
              <a:srgbClr val="3A3A3C"/>
            </a:solidFill>
            <a:prstDash val="solid"/>
          </a:ln>
        </p:spPr>
      </p:sp>
      <p:sp>
        <p:nvSpPr>
          <p:cNvPr id="40" name="Text 38"/>
          <p:cNvSpPr txBox="1"/>
          <p:nvPr/>
        </p:nvSpPr>
        <p:spPr>
          <a:xfrm>
            <a:off x="480974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12</a:t>
            </a:r>
            <a:endParaRPr lang="en-US" sz="1100" dirty="0"/>
          </a:p>
        </p:txBody>
      </p:sp>
      <p:sp>
        <p:nvSpPr>
          <p:cNvPr id="41" name="Text 39"/>
          <p:cNvSpPr txBox="1"/>
          <p:nvPr/>
        </p:nvSpPr>
        <p:spPr>
          <a:xfrm>
            <a:off x="5166360" y="1847088"/>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¿Los subcontratistas conocen y cumplen los requisitos de constructabilidad?</a:t>
            </a:r>
            <a:endParaRPr lang="en-US" sz="1000" dirty="0"/>
          </a:p>
        </p:txBody>
      </p:sp>
      <p:sp>
        <p:nvSpPr>
          <p:cNvPr id="42" name="Shape 40"/>
          <p:cNvSpPr/>
          <p:nvPr/>
        </p:nvSpPr>
        <p:spPr>
          <a:xfrm>
            <a:off x="4754880" y="2286000"/>
            <a:ext cx="347472" cy="347472"/>
          </a:xfrm>
          <a:prstGeom prst="roundRect">
            <a:avLst>
              <a:gd name="adj" fmla="val 13158"/>
            </a:avLst>
          </a:prstGeom>
          <a:solidFill>
            <a:srgbClr val="3A3A3C"/>
          </a:solidFill>
          <a:ln w="12700">
            <a:solidFill>
              <a:srgbClr val="3A3A3C"/>
            </a:solidFill>
            <a:prstDash val="solid"/>
          </a:ln>
        </p:spPr>
      </p:sp>
      <p:sp>
        <p:nvSpPr>
          <p:cNvPr id="43" name="Text 41"/>
          <p:cNvSpPr txBox="1"/>
          <p:nvPr/>
        </p:nvSpPr>
        <p:spPr>
          <a:xfrm>
            <a:off x="480974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13</a:t>
            </a:r>
            <a:endParaRPr lang="en-US" sz="1100" dirty="0"/>
          </a:p>
        </p:txBody>
      </p:sp>
      <p:sp>
        <p:nvSpPr>
          <p:cNvPr id="44" name="Text 42"/>
          <p:cNvSpPr txBox="1"/>
          <p:nvPr/>
        </p:nvSpPr>
        <p:spPr>
          <a:xfrm>
            <a:off x="5166360" y="2340864"/>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¿Se han realizado talleres de constructabilidad con el equipo de campo?</a:t>
            </a:r>
            <a:endParaRPr lang="en-US" sz="1000" dirty="0"/>
          </a:p>
        </p:txBody>
      </p:sp>
      <p:sp>
        <p:nvSpPr>
          <p:cNvPr id="45" name="Shape 43"/>
          <p:cNvSpPr/>
          <p:nvPr/>
        </p:nvSpPr>
        <p:spPr>
          <a:xfrm>
            <a:off x="4754880" y="2779776"/>
            <a:ext cx="347472" cy="347472"/>
          </a:xfrm>
          <a:prstGeom prst="roundRect">
            <a:avLst>
              <a:gd name="adj" fmla="val 13158"/>
            </a:avLst>
          </a:prstGeom>
          <a:solidFill>
            <a:srgbClr val="3A3A3C"/>
          </a:solidFill>
          <a:ln w="12700">
            <a:solidFill>
              <a:srgbClr val="3A3A3C"/>
            </a:solidFill>
            <a:prstDash val="solid"/>
          </a:ln>
        </p:spPr>
      </p:sp>
      <p:sp>
        <p:nvSpPr>
          <p:cNvPr id="46" name="Text 44"/>
          <p:cNvSpPr txBox="1"/>
          <p:nvPr/>
        </p:nvSpPr>
        <p:spPr>
          <a:xfrm>
            <a:off x="480974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14</a:t>
            </a:r>
            <a:endParaRPr lang="en-US" sz="1100" dirty="0"/>
          </a:p>
        </p:txBody>
      </p:sp>
      <p:sp>
        <p:nvSpPr>
          <p:cNvPr id="47" name="Text 45"/>
          <p:cNvSpPr txBox="1"/>
          <p:nvPr/>
        </p:nvSpPr>
        <p:spPr>
          <a:xfrm>
            <a:off x="5166360" y="2834640"/>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¿El plan de workface planning está integrado con constructabilidad?</a:t>
            </a:r>
            <a:endParaRPr lang="en-US" sz="1000" dirty="0"/>
          </a:p>
        </p:txBody>
      </p:sp>
      <p:sp>
        <p:nvSpPr>
          <p:cNvPr id="48" name="Shape 46"/>
          <p:cNvSpPr/>
          <p:nvPr/>
        </p:nvSpPr>
        <p:spPr>
          <a:xfrm>
            <a:off x="4754880" y="3273552"/>
            <a:ext cx="347472" cy="347472"/>
          </a:xfrm>
          <a:prstGeom prst="roundRect">
            <a:avLst>
              <a:gd name="adj" fmla="val 13158"/>
            </a:avLst>
          </a:prstGeom>
          <a:solidFill>
            <a:srgbClr val="3A3A3C"/>
          </a:solidFill>
          <a:ln w="12700">
            <a:solidFill>
              <a:srgbClr val="3A3A3C"/>
            </a:solidFill>
            <a:prstDash val="solid"/>
          </a:ln>
        </p:spPr>
      </p:sp>
      <p:sp>
        <p:nvSpPr>
          <p:cNvPr id="49" name="Text 47"/>
          <p:cNvSpPr txBox="1"/>
          <p:nvPr/>
        </p:nvSpPr>
        <p:spPr>
          <a:xfrm>
            <a:off x="480974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15</a:t>
            </a:r>
            <a:endParaRPr lang="en-US" sz="1100" dirty="0"/>
          </a:p>
        </p:txBody>
      </p:sp>
      <p:sp>
        <p:nvSpPr>
          <p:cNvPr id="50" name="Text 48"/>
          <p:cNvSpPr txBox="1"/>
          <p:nvPr/>
        </p:nvSpPr>
        <p:spPr>
          <a:xfrm>
            <a:off x="5166360" y="3328416"/>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¿Se miden KPIs del programa mensualmente y se reportan al PM?</a:t>
            </a:r>
            <a:endParaRPr lang="en-US" sz="1000" dirty="0"/>
          </a:p>
        </p:txBody>
      </p:sp>
      <p:sp>
        <p:nvSpPr>
          <p:cNvPr id="51" name="Shape 49"/>
          <p:cNvSpPr/>
          <p:nvPr/>
        </p:nvSpPr>
        <p:spPr>
          <a:xfrm>
            <a:off x="4754880" y="3767328"/>
            <a:ext cx="347472" cy="347472"/>
          </a:xfrm>
          <a:prstGeom prst="roundRect">
            <a:avLst>
              <a:gd name="adj" fmla="val 13158"/>
            </a:avLst>
          </a:prstGeom>
          <a:solidFill>
            <a:srgbClr val="3A3A3C"/>
          </a:solidFill>
          <a:ln w="12700">
            <a:solidFill>
              <a:srgbClr val="3A3A3C"/>
            </a:solidFill>
            <a:prstDash val="solid"/>
          </a:ln>
        </p:spPr>
      </p:sp>
      <p:sp>
        <p:nvSpPr>
          <p:cNvPr id="52" name="Text 50"/>
          <p:cNvSpPr txBox="1"/>
          <p:nvPr/>
        </p:nvSpPr>
        <p:spPr>
          <a:xfrm>
            <a:off x="480974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16</a:t>
            </a:r>
            <a:endParaRPr lang="en-US" sz="1100" dirty="0"/>
          </a:p>
        </p:txBody>
      </p:sp>
      <p:sp>
        <p:nvSpPr>
          <p:cNvPr id="53" name="Text 51"/>
          <p:cNvSpPr txBox="1"/>
          <p:nvPr/>
        </p:nvSpPr>
        <p:spPr>
          <a:xfrm>
            <a:off x="5166360" y="3822192"/>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¿El contrato EPC incluye cláusulas de constructabilidad?</a:t>
            </a:r>
            <a:endParaRPr lang="en-US" sz="1000" dirty="0"/>
          </a:p>
        </p:txBody>
      </p:sp>
      <p:sp>
        <p:nvSpPr>
          <p:cNvPr id="54" name="Shape 52"/>
          <p:cNvSpPr/>
          <p:nvPr/>
        </p:nvSpPr>
        <p:spPr>
          <a:xfrm>
            <a:off x="4754880" y="4261104"/>
            <a:ext cx="347472" cy="347472"/>
          </a:xfrm>
          <a:prstGeom prst="roundRect">
            <a:avLst>
              <a:gd name="adj" fmla="val 13158"/>
            </a:avLst>
          </a:prstGeom>
          <a:solidFill>
            <a:srgbClr val="3A3A3C"/>
          </a:solidFill>
          <a:ln w="12700">
            <a:solidFill>
              <a:srgbClr val="3A3A3C"/>
            </a:solidFill>
            <a:prstDash val="solid"/>
          </a:ln>
        </p:spPr>
      </p:sp>
      <p:sp>
        <p:nvSpPr>
          <p:cNvPr id="55" name="Text 53"/>
          <p:cNvSpPr txBox="1"/>
          <p:nvPr/>
        </p:nvSpPr>
        <p:spPr>
          <a:xfrm>
            <a:off x="480974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17</a:t>
            </a:r>
            <a:endParaRPr lang="en-US" sz="1100" dirty="0"/>
          </a:p>
        </p:txBody>
      </p:sp>
      <p:sp>
        <p:nvSpPr>
          <p:cNvPr id="56" name="Text 54"/>
          <p:cNvSpPr txBox="1"/>
          <p:nvPr/>
        </p:nvSpPr>
        <p:spPr>
          <a:xfrm>
            <a:off x="5166360" y="4315968"/>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¿Las revisiones formales en 30%-60%-90% de diseño están programadas?</a:t>
            </a:r>
            <a:endParaRPr lang="en-US" sz="1000" dirty="0"/>
          </a:p>
        </p:txBody>
      </p:sp>
      <p:sp>
        <p:nvSpPr>
          <p:cNvPr id="57" name="Shape 55"/>
          <p:cNvSpPr/>
          <p:nvPr/>
        </p:nvSpPr>
        <p:spPr>
          <a:xfrm>
            <a:off x="4754880" y="4754880"/>
            <a:ext cx="347472" cy="347472"/>
          </a:xfrm>
          <a:prstGeom prst="roundRect">
            <a:avLst>
              <a:gd name="adj" fmla="val 13158"/>
            </a:avLst>
          </a:prstGeom>
          <a:solidFill>
            <a:srgbClr val="3A3A3C"/>
          </a:solidFill>
          <a:ln w="12700">
            <a:solidFill>
              <a:srgbClr val="3A3A3C"/>
            </a:solidFill>
            <a:prstDash val="solid"/>
          </a:ln>
        </p:spPr>
      </p:sp>
      <p:sp>
        <p:nvSpPr>
          <p:cNvPr id="58" name="Text 56"/>
          <p:cNvSpPr txBox="1"/>
          <p:nvPr/>
        </p:nvSpPr>
        <p:spPr>
          <a:xfrm>
            <a:off x="480974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18</a:t>
            </a:r>
            <a:endParaRPr lang="en-US" sz="1100" dirty="0"/>
          </a:p>
        </p:txBody>
      </p:sp>
      <p:sp>
        <p:nvSpPr>
          <p:cNvPr id="59" name="Text 57"/>
          <p:cNvSpPr txBox="1"/>
          <p:nvPr/>
        </p:nvSpPr>
        <p:spPr>
          <a:xfrm>
            <a:off x="5166360" y="4809744"/>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¿El plan de comisionamiento fue considerado en el diseño de sistemas?</a:t>
            </a:r>
            <a:endParaRPr lang="en-US" sz="1000" dirty="0"/>
          </a:p>
        </p:txBody>
      </p:sp>
      <p:sp>
        <p:nvSpPr>
          <p:cNvPr id="60" name="Shape 58"/>
          <p:cNvSpPr/>
          <p:nvPr/>
        </p:nvSpPr>
        <p:spPr>
          <a:xfrm>
            <a:off x="4754880" y="5248656"/>
            <a:ext cx="347472" cy="347472"/>
          </a:xfrm>
          <a:prstGeom prst="roundRect">
            <a:avLst>
              <a:gd name="adj" fmla="val 13158"/>
            </a:avLst>
          </a:prstGeom>
          <a:solidFill>
            <a:srgbClr val="3A3A3C"/>
          </a:solidFill>
          <a:ln w="12700">
            <a:solidFill>
              <a:srgbClr val="3A3A3C"/>
            </a:solidFill>
            <a:prstDash val="solid"/>
          </a:ln>
        </p:spPr>
      </p:sp>
      <p:sp>
        <p:nvSpPr>
          <p:cNvPr id="61" name="Text 59"/>
          <p:cNvSpPr txBox="1"/>
          <p:nvPr/>
        </p:nvSpPr>
        <p:spPr>
          <a:xfrm>
            <a:off x="480974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19</a:t>
            </a:r>
            <a:endParaRPr lang="en-US" sz="1100" dirty="0"/>
          </a:p>
        </p:txBody>
      </p:sp>
      <p:sp>
        <p:nvSpPr>
          <p:cNvPr id="62" name="Text 60"/>
          <p:cNvSpPr txBox="1"/>
          <p:nvPr/>
        </p:nvSpPr>
        <p:spPr>
          <a:xfrm>
            <a:off x="5166360" y="5303520"/>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¿La seguridad durante la construcción fue revisada en diseño?</a:t>
            </a:r>
            <a:endParaRPr lang="en-US" sz="1000" dirty="0"/>
          </a:p>
        </p:txBody>
      </p:sp>
      <p:sp>
        <p:nvSpPr>
          <p:cNvPr id="63" name="Shape 61"/>
          <p:cNvSpPr/>
          <p:nvPr/>
        </p:nvSpPr>
        <p:spPr>
          <a:xfrm>
            <a:off x="4754880" y="5742432"/>
            <a:ext cx="347472" cy="347472"/>
          </a:xfrm>
          <a:prstGeom prst="roundRect">
            <a:avLst>
              <a:gd name="adj" fmla="val 13158"/>
            </a:avLst>
          </a:prstGeom>
          <a:solidFill>
            <a:srgbClr val="3A3A3C"/>
          </a:solidFill>
          <a:ln w="12700">
            <a:solidFill>
              <a:srgbClr val="3A3A3C"/>
            </a:solidFill>
            <a:prstDash val="solid"/>
          </a:ln>
        </p:spPr>
      </p:sp>
      <p:sp>
        <p:nvSpPr>
          <p:cNvPr id="64" name="Text 62"/>
          <p:cNvSpPr txBox="1"/>
          <p:nvPr/>
        </p:nvSpPr>
        <p:spPr>
          <a:xfrm>
            <a:off x="480974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20</a:t>
            </a:r>
            <a:endParaRPr lang="en-US" sz="1100" dirty="0"/>
          </a:p>
        </p:txBody>
      </p:sp>
      <p:sp>
        <p:nvSpPr>
          <p:cNvPr id="65" name="Text 63"/>
          <p:cNvSpPr txBox="1"/>
          <p:nvPr/>
        </p:nvSpPr>
        <p:spPr>
          <a:xfrm>
            <a:off x="5166360" y="5797296"/>
            <a:ext cx="3886200" cy="365760"/>
          </a:xfrm>
          <a:prstGeom prst="rect">
            <a:avLst/>
          </a:prstGeom>
          <a:noFill/>
          <a:ln/>
        </p:spPr>
        <p:txBody>
          <a:bodyPr wrap="square" lIns="0" tIns="0" rIns="0" bIns="0" rtlCol="0" anchor="ctr"/>
          <a:lstStyle/>
          <a:p>
            <a:pPr indent="0" marL="0">
              <a:buNone/>
            </a:pPr>
            <a:r>
              <a:rPr lang="en-US" sz="1000" dirty="0">
                <a:solidFill>
                  <a:srgbClr val="8E8E93"/>
                </a:solidFill>
                <a:latin typeface="Atkinson Hyperlegible" pitchFamily="34" charset="0"/>
                <a:ea typeface="Atkinson Hyperlegible" pitchFamily="34" charset="-122"/>
                <a:cs typeface="Atkinson Hyperlegible" pitchFamily="34" charset="-120"/>
              </a:rPr>
              <a:t>¿Hay un plan de post-project review de constructabilidad al final?</a:t>
            </a:r>
            <a:endParaRPr lang="en-US" sz="1000" dirty="0"/>
          </a:p>
        </p:txBody>
      </p:sp>
      <p:sp>
        <p:nvSpPr>
          <p:cNvPr id="66" name="Text 6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120</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Los 17 Conceptos CII: Síntesis Visual Completa</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Referencia rápida de los 17 conceptos organizados por fase del proyecto:</a:t>
            </a:r>
            <a:endParaRPr lang="en-US" sz="1200" dirty="0"/>
          </a:p>
        </p:txBody>
      </p:sp>
      <p:sp>
        <p:nvSpPr>
          <p:cNvPr id="6" name="Shape 4"/>
          <p:cNvSpPr/>
          <p:nvPr/>
        </p:nvSpPr>
        <p:spPr>
          <a:xfrm>
            <a:off x="365760" y="1261872"/>
            <a:ext cx="2606040" cy="347472"/>
          </a:xfrm>
          <a:prstGeom prst="roundRect">
            <a:avLst>
              <a:gd name="adj" fmla="val 15789"/>
            </a:avLst>
          </a:prstGeom>
          <a:solidFill>
            <a:srgbClr val="30D158"/>
          </a:solidFill>
          <a:ln/>
        </p:spPr>
      </p:sp>
      <p:sp>
        <p:nvSpPr>
          <p:cNvPr id="7" name="Text 5"/>
          <p:cNvSpPr txBox="1"/>
          <p:nvPr/>
        </p:nvSpPr>
        <p:spPr>
          <a:xfrm>
            <a:off x="457200" y="1298448"/>
            <a:ext cx="2423160" cy="274320"/>
          </a:xfrm>
          <a:prstGeom prst="rect">
            <a:avLst/>
          </a:prstGeom>
          <a:noFill/>
          <a:ln/>
        </p:spPr>
        <p:txBody>
          <a:bodyPr wrap="square" lIns="0" tIns="0" rIns="0" bIns="0" rtlCol="0" anchor="ctr"/>
          <a:lstStyle/>
          <a:p>
            <a:pPr indent="0" marL="0">
              <a:buNone/>
            </a:pPr>
            <a:r>
              <a:rPr lang="en-US" sz="900" b="1" dirty="0">
                <a:solidFill>
                  <a:srgbClr val="1C1C1E"/>
                </a:solidFill>
                <a:latin typeface="Atkinson Hyperlegible" pitchFamily="34" charset="0"/>
                <a:ea typeface="Atkinson Hyperlegible" pitchFamily="34" charset="-122"/>
                <a:cs typeface="Atkinson Hyperlegible" pitchFamily="34" charset="-120"/>
              </a:rPr>
              <a:t>FASE I: Planificación Conceptual (I-1 a I-7)</a:t>
            </a:r>
            <a:endParaRPr lang="en-US" sz="900" dirty="0"/>
          </a:p>
        </p:txBody>
      </p:sp>
      <p:sp>
        <p:nvSpPr>
          <p:cNvPr id="8" name="Shape 6"/>
          <p:cNvSpPr/>
          <p:nvPr/>
        </p:nvSpPr>
        <p:spPr>
          <a:xfrm>
            <a:off x="3063240" y="1261872"/>
            <a:ext cx="2606040" cy="347472"/>
          </a:xfrm>
          <a:prstGeom prst="roundRect">
            <a:avLst>
              <a:gd name="adj" fmla="val 15789"/>
            </a:avLst>
          </a:prstGeom>
          <a:solidFill>
            <a:srgbClr val="FF9500"/>
          </a:solidFill>
          <a:ln/>
        </p:spPr>
      </p:sp>
      <p:sp>
        <p:nvSpPr>
          <p:cNvPr id="9" name="Text 7"/>
          <p:cNvSpPr txBox="1"/>
          <p:nvPr/>
        </p:nvSpPr>
        <p:spPr>
          <a:xfrm>
            <a:off x="3154680" y="1298448"/>
            <a:ext cx="2423160" cy="274320"/>
          </a:xfrm>
          <a:prstGeom prst="rect">
            <a:avLst/>
          </a:prstGeom>
          <a:noFill/>
          <a:ln/>
        </p:spPr>
        <p:txBody>
          <a:bodyPr wrap="square" lIns="0" tIns="0" rIns="0" bIns="0" rtlCol="0" anchor="ctr"/>
          <a:lstStyle/>
          <a:p>
            <a:pPr indent="0" marL="0">
              <a:buNone/>
            </a:pPr>
            <a:r>
              <a:rPr lang="en-US" sz="900" b="1" dirty="0">
                <a:solidFill>
                  <a:srgbClr val="1C1C1E"/>
                </a:solidFill>
                <a:latin typeface="Atkinson Hyperlegible" pitchFamily="34" charset="0"/>
                <a:ea typeface="Atkinson Hyperlegible" pitchFamily="34" charset="-122"/>
                <a:cs typeface="Atkinson Hyperlegible" pitchFamily="34" charset="-120"/>
              </a:rPr>
              <a:t>FASE II: Diseño y Procura (II-1 a II-8)</a:t>
            </a:r>
            <a:endParaRPr lang="en-US" sz="900" dirty="0"/>
          </a:p>
        </p:txBody>
      </p:sp>
      <p:sp>
        <p:nvSpPr>
          <p:cNvPr id="10" name="Shape 8"/>
          <p:cNvSpPr/>
          <p:nvPr/>
        </p:nvSpPr>
        <p:spPr>
          <a:xfrm>
            <a:off x="5760720" y="1261872"/>
            <a:ext cx="2606040" cy="347472"/>
          </a:xfrm>
          <a:prstGeom prst="roundRect">
            <a:avLst>
              <a:gd name="adj" fmla="val 15789"/>
            </a:avLst>
          </a:prstGeom>
          <a:solidFill>
            <a:srgbClr val="FF453A"/>
          </a:solidFill>
          <a:ln/>
        </p:spPr>
      </p:sp>
      <p:sp>
        <p:nvSpPr>
          <p:cNvPr id="11" name="Text 9"/>
          <p:cNvSpPr txBox="1"/>
          <p:nvPr/>
        </p:nvSpPr>
        <p:spPr>
          <a:xfrm>
            <a:off x="5852160" y="1298448"/>
            <a:ext cx="2423160" cy="274320"/>
          </a:xfrm>
          <a:prstGeom prst="rect">
            <a:avLst/>
          </a:prstGeom>
          <a:noFill/>
          <a:ln/>
        </p:spPr>
        <p:txBody>
          <a:bodyPr wrap="square" lIns="0" tIns="0" rIns="0" bIns="0" rtlCol="0" anchor="ctr"/>
          <a:lstStyle/>
          <a:p>
            <a:pPr indent="0" marL="0">
              <a:buNone/>
            </a:pPr>
            <a:r>
              <a:rPr lang="en-US" sz="900" b="1" dirty="0">
                <a:solidFill>
                  <a:srgbClr val="1C1C1E"/>
                </a:solidFill>
                <a:latin typeface="Atkinson Hyperlegible" pitchFamily="34" charset="0"/>
                <a:ea typeface="Atkinson Hyperlegible" pitchFamily="34" charset="-122"/>
                <a:cs typeface="Atkinson Hyperlegible" pitchFamily="34" charset="-120"/>
              </a:rPr>
              <a:t>FASE III: Campo (III-1)</a:t>
            </a:r>
            <a:endParaRPr lang="en-US" sz="900" dirty="0"/>
          </a:p>
        </p:txBody>
      </p:sp>
      <p:sp>
        <p:nvSpPr>
          <p:cNvPr id="12" name="Shape 10"/>
          <p:cNvSpPr/>
          <p:nvPr/>
        </p:nvSpPr>
        <p:spPr>
          <a:xfrm>
            <a:off x="365760" y="1700784"/>
            <a:ext cx="2103120" cy="914400"/>
          </a:xfrm>
          <a:prstGeom prst="roundRect">
            <a:avLst>
              <a:gd name="adj" fmla="val 7000"/>
            </a:avLst>
          </a:prstGeom>
          <a:solidFill>
            <a:srgbClr val="2C2C2E"/>
          </a:solidFill>
          <a:ln w="12700">
            <a:solidFill>
              <a:srgbClr val="30D158"/>
            </a:solidFill>
            <a:prstDash val="solid"/>
          </a:ln>
        </p:spPr>
      </p:sp>
      <p:sp>
        <p:nvSpPr>
          <p:cNvPr id="13" name="Text 11"/>
          <p:cNvSpPr txBox="1"/>
          <p:nvPr/>
        </p:nvSpPr>
        <p:spPr>
          <a:xfrm>
            <a:off x="47548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I-1</a:t>
            </a:r>
            <a:endParaRPr lang="en-US" sz="1200" dirty="0"/>
          </a:p>
        </p:txBody>
      </p:sp>
      <p:sp>
        <p:nvSpPr>
          <p:cNvPr id="14" name="Text 12"/>
          <p:cNvSpPr txBox="1"/>
          <p:nvPr/>
        </p:nvSpPr>
        <p:spPr>
          <a:xfrm>
            <a:off x="475488" y="208483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Objetivos Corporativos</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en Constructabilidad</a:t>
            </a:r>
            <a:endParaRPr lang="en-US" sz="950" dirty="0"/>
          </a:p>
        </p:txBody>
      </p:sp>
      <p:sp>
        <p:nvSpPr>
          <p:cNvPr id="15" name="Shape 13"/>
          <p:cNvSpPr/>
          <p:nvPr/>
        </p:nvSpPr>
        <p:spPr>
          <a:xfrm>
            <a:off x="365760" y="2752344"/>
            <a:ext cx="2103120" cy="914400"/>
          </a:xfrm>
          <a:prstGeom prst="roundRect">
            <a:avLst>
              <a:gd name="adj" fmla="val 7000"/>
            </a:avLst>
          </a:prstGeom>
          <a:solidFill>
            <a:srgbClr val="2C2C2E"/>
          </a:solidFill>
          <a:ln w="12700">
            <a:solidFill>
              <a:srgbClr val="30D158"/>
            </a:solidFill>
            <a:prstDash val="solid"/>
          </a:ln>
        </p:spPr>
      </p:sp>
      <p:sp>
        <p:nvSpPr>
          <p:cNvPr id="16" name="Text 14"/>
          <p:cNvSpPr txBox="1"/>
          <p:nvPr/>
        </p:nvSpPr>
        <p:spPr>
          <a:xfrm>
            <a:off x="47548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I-2</a:t>
            </a:r>
            <a:endParaRPr lang="en-US" sz="1200" dirty="0"/>
          </a:p>
        </p:txBody>
      </p:sp>
      <p:sp>
        <p:nvSpPr>
          <p:cNvPr id="17" name="Text 15"/>
          <p:cNvSpPr txBox="1"/>
          <p:nvPr/>
        </p:nvSpPr>
        <p:spPr>
          <a:xfrm>
            <a:off x="475488" y="313639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Integración Temprana del</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Equipo Constructabilidad</a:t>
            </a:r>
            <a:endParaRPr lang="en-US" sz="950" dirty="0"/>
          </a:p>
        </p:txBody>
      </p:sp>
      <p:sp>
        <p:nvSpPr>
          <p:cNvPr id="18" name="Shape 16"/>
          <p:cNvSpPr/>
          <p:nvPr/>
        </p:nvSpPr>
        <p:spPr>
          <a:xfrm>
            <a:off x="365760" y="3803904"/>
            <a:ext cx="2103120" cy="914400"/>
          </a:xfrm>
          <a:prstGeom prst="roundRect">
            <a:avLst>
              <a:gd name="adj" fmla="val 7000"/>
            </a:avLst>
          </a:prstGeom>
          <a:solidFill>
            <a:srgbClr val="2C2C2E"/>
          </a:solidFill>
          <a:ln w="12700">
            <a:solidFill>
              <a:srgbClr val="30D158"/>
            </a:solidFill>
            <a:prstDash val="solid"/>
          </a:ln>
        </p:spPr>
      </p:sp>
      <p:sp>
        <p:nvSpPr>
          <p:cNvPr id="19" name="Text 17"/>
          <p:cNvSpPr txBox="1"/>
          <p:nvPr/>
        </p:nvSpPr>
        <p:spPr>
          <a:xfrm>
            <a:off x="47548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20" name="Text 18"/>
          <p:cNvSpPr txBox="1"/>
          <p:nvPr/>
        </p:nvSpPr>
        <p:spPr>
          <a:xfrm>
            <a:off x="475488" y="418795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Planificación Avanzada</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del Proyecto</a:t>
            </a:r>
            <a:endParaRPr lang="en-US" sz="950" dirty="0"/>
          </a:p>
        </p:txBody>
      </p:sp>
      <p:sp>
        <p:nvSpPr>
          <p:cNvPr id="21" name="Shape 19"/>
          <p:cNvSpPr/>
          <p:nvPr/>
        </p:nvSpPr>
        <p:spPr>
          <a:xfrm>
            <a:off x="365760" y="4855464"/>
            <a:ext cx="2103120" cy="914400"/>
          </a:xfrm>
          <a:prstGeom prst="roundRect">
            <a:avLst>
              <a:gd name="adj" fmla="val 7000"/>
            </a:avLst>
          </a:prstGeom>
          <a:solidFill>
            <a:srgbClr val="2C2C2E"/>
          </a:solidFill>
          <a:ln w="12700">
            <a:solidFill>
              <a:srgbClr val="30D158"/>
            </a:solidFill>
            <a:prstDash val="solid"/>
          </a:ln>
        </p:spPr>
      </p:sp>
      <p:sp>
        <p:nvSpPr>
          <p:cNvPr id="22" name="Text 20"/>
          <p:cNvSpPr txBox="1"/>
          <p:nvPr/>
        </p:nvSpPr>
        <p:spPr>
          <a:xfrm>
            <a:off x="475488" y="492861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I-4</a:t>
            </a:r>
            <a:endParaRPr lang="en-US" sz="1200" dirty="0"/>
          </a:p>
        </p:txBody>
      </p:sp>
      <p:sp>
        <p:nvSpPr>
          <p:cNvPr id="23" name="Text 21"/>
          <p:cNvSpPr txBox="1"/>
          <p:nvPr/>
        </p:nvSpPr>
        <p:spPr>
          <a:xfrm>
            <a:off x="475488" y="523951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Experiencia de</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Contratistas Clave</a:t>
            </a:r>
            <a:endParaRPr lang="en-US" sz="950" dirty="0"/>
          </a:p>
        </p:txBody>
      </p:sp>
      <p:sp>
        <p:nvSpPr>
          <p:cNvPr id="24" name="Shape 22"/>
          <p:cNvSpPr/>
          <p:nvPr/>
        </p:nvSpPr>
        <p:spPr>
          <a:xfrm>
            <a:off x="2606040" y="1700784"/>
            <a:ext cx="2103120" cy="914400"/>
          </a:xfrm>
          <a:prstGeom prst="roundRect">
            <a:avLst>
              <a:gd name="adj" fmla="val 7000"/>
            </a:avLst>
          </a:prstGeom>
          <a:solidFill>
            <a:srgbClr val="2C2C2E"/>
          </a:solidFill>
          <a:ln w="12700">
            <a:solidFill>
              <a:srgbClr val="30D158"/>
            </a:solidFill>
            <a:prstDash val="solid"/>
          </a:ln>
        </p:spPr>
      </p:sp>
      <p:sp>
        <p:nvSpPr>
          <p:cNvPr id="25" name="Text 23"/>
          <p:cNvSpPr txBox="1"/>
          <p:nvPr/>
        </p:nvSpPr>
        <p:spPr>
          <a:xfrm>
            <a:off x="271576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I-5</a:t>
            </a:r>
            <a:endParaRPr lang="en-US" sz="1200" dirty="0"/>
          </a:p>
        </p:txBody>
      </p:sp>
      <p:sp>
        <p:nvSpPr>
          <p:cNvPr id="26" name="Text 24"/>
          <p:cNvSpPr txBox="1"/>
          <p:nvPr/>
        </p:nvSpPr>
        <p:spPr>
          <a:xfrm>
            <a:off x="2715768" y="208483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Factibilidad de</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Configuración del Proyecto</a:t>
            </a:r>
            <a:endParaRPr lang="en-US" sz="950" dirty="0"/>
          </a:p>
        </p:txBody>
      </p:sp>
      <p:sp>
        <p:nvSpPr>
          <p:cNvPr id="27" name="Shape 25"/>
          <p:cNvSpPr/>
          <p:nvPr/>
        </p:nvSpPr>
        <p:spPr>
          <a:xfrm>
            <a:off x="2606040" y="2752344"/>
            <a:ext cx="2103120" cy="914400"/>
          </a:xfrm>
          <a:prstGeom prst="roundRect">
            <a:avLst>
              <a:gd name="adj" fmla="val 7000"/>
            </a:avLst>
          </a:prstGeom>
          <a:solidFill>
            <a:srgbClr val="2C2C2E"/>
          </a:solidFill>
          <a:ln w="12700">
            <a:solidFill>
              <a:srgbClr val="30D158"/>
            </a:solidFill>
            <a:prstDash val="solid"/>
          </a:ln>
        </p:spPr>
      </p:sp>
      <p:sp>
        <p:nvSpPr>
          <p:cNvPr id="28" name="Text 26"/>
          <p:cNvSpPr txBox="1"/>
          <p:nvPr/>
        </p:nvSpPr>
        <p:spPr>
          <a:xfrm>
            <a:off x="271576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I-6</a:t>
            </a:r>
            <a:endParaRPr lang="en-US" sz="1200" dirty="0"/>
          </a:p>
        </p:txBody>
      </p:sp>
      <p:sp>
        <p:nvSpPr>
          <p:cNvPr id="29" name="Text 27"/>
          <p:cNvSpPr txBox="1"/>
          <p:nvPr/>
        </p:nvSpPr>
        <p:spPr>
          <a:xfrm>
            <a:off x="2715768" y="313639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Factibilidad de Métodos</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y Secuencias</a:t>
            </a:r>
            <a:endParaRPr lang="en-US" sz="950" dirty="0"/>
          </a:p>
        </p:txBody>
      </p:sp>
      <p:sp>
        <p:nvSpPr>
          <p:cNvPr id="30" name="Shape 28"/>
          <p:cNvSpPr/>
          <p:nvPr/>
        </p:nvSpPr>
        <p:spPr>
          <a:xfrm>
            <a:off x="2606040" y="3803904"/>
            <a:ext cx="2103120" cy="914400"/>
          </a:xfrm>
          <a:prstGeom prst="roundRect">
            <a:avLst>
              <a:gd name="adj" fmla="val 7000"/>
            </a:avLst>
          </a:prstGeom>
          <a:solidFill>
            <a:srgbClr val="2C2C2E"/>
          </a:solidFill>
          <a:ln w="12700">
            <a:solidFill>
              <a:srgbClr val="30D158"/>
            </a:solidFill>
            <a:prstDash val="solid"/>
          </a:ln>
        </p:spPr>
      </p:sp>
      <p:sp>
        <p:nvSpPr>
          <p:cNvPr id="31" name="Text 29"/>
          <p:cNvSpPr txBox="1"/>
          <p:nvPr/>
        </p:nvSpPr>
        <p:spPr>
          <a:xfrm>
            <a:off x="271576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I-7</a:t>
            </a:r>
            <a:endParaRPr lang="en-US" sz="1200" dirty="0"/>
          </a:p>
        </p:txBody>
      </p:sp>
      <p:sp>
        <p:nvSpPr>
          <p:cNvPr id="32" name="Text 30"/>
          <p:cNvSpPr txBox="1"/>
          <p:nvPr/>
        </p:nvSpPr>
        <p:spPr>
          <a:xfrm>
            <a:off x="2715768" y="418795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Planificación y Comunicación</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con Tecnología de Información</a:t>
            </a:r>
            <a:endParaRPr lang="en-US" sz="950" dirty="0"/>
          </a:p>
        </p:txBody>
      </p:sp>
      <p:sp>
        <p:nvSpPr>
          <p:cNvPr id="33" name="Shape 31"/>
          <p:cNvSpPr/>
          <p:nvPr/>
        </p:nvSpPr>
        <p:spPr>
          <a:xfrm>
            <a:off x="2606040" y="4855464"/>
            <a:ext cx="2103120" cy="914400"/>
          </a:xfrm>
          <a:prstGeom prst="roundRect">
            <a:avLst>
              <a:gd name="adj" fmla="val 7000"/>
            </a:avLst>
          </a:prstGeom>
          <a:solidFill>
            <a:srgbClr val="2C2C2E"/>
          </a:solidFill>
          <a:ln w="12700">
            <a:solidFill>
              <a:srgbClr val="FF9500"/>
            </a:solidFill>
            <a:prstDash val="solid"/>
          </a:ln>
        </p:spPr>
      </p:sp>
      <p:sp>
        <p:nvSpPr>
          <p:cNvPr id="34" name="Text 32"/>
          <p:cNvSpPr txBox="1"/>
          <p:nvPr/>
        </p:nvSpPr>
        <p:spPr>
          <a:xfrm>
            <a:off x="271576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II-1</a:t>
            </a:r>
            <a:endParaRPr lang="en-US" sz="1200" dirty="0"/>
          </a:p>
        </p:txBody>
      </p:sp>
      <p:sp>
        <p:nvSpPr>
          <p:cNvPr id="35" name="Text 33"/>
          <p:cNvSpPr txBox="1"/>
          <p:nvPr/>
        </p:nvSpPr>
        <p:spPr>
          <a:xfrm>
            <a:off x="2715768" y="523951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Programación de</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Ingeniería Basada en Constr.</a:t>
            </a:r>
            <a:endParaRPr lang="en-US" sz="950" dirty="0"/>
          </a:p>
        </p:txBody>
      </p:sp>
      <p:sp>
        <p:nvSpPr>
          <p:cNvPr id="36" name="Shape 34"/>
          <p:cNvSpPr/>
          <p:nvPr/>
        </p:nvSpPr>
        <p:spPr>
          <a:xfrm>
            <a:off x="4846320" y="1700784"/>
            <a:ext cx="2103120" cy="914400"/>
          </a:xfrm>
          <a:prstGeom prst="roundRect">
            <a:avLst>
              <a:gd name="adj" fmla="val 7000"/>
            </a:avLst>
          </a:prstGeom>
          <a:solidFill>
            <a:srgbClr val="2C2C2E"/>
          </a:solidFill>
          <a:ln w="12700">
            <a:solidFill>
              <a:srgbClr val="FF9500"/>
            </a:solidFill>
            <a:prstDash val="solid"/>
          </a:ln>
        </p:spPr>
      </p:sp>
      <p:sp>
        <p:nvSpPr>
          <p:cNvPr id="37" name="Text 35"/>
          <p:cNvSpPr txBox="1"/>
          <p:nvPr/>
        </p:nvSpPr>
        <p:spPr>
          <a:xfrm>
            <a:off x="495604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II-2</a:t>
            </a:r>
            <a:endParaRPr lang="en-US" sz="1200" dirty="0"/>
          </a:p>
        </p:txBody>
      </p:sp>
      <p:sp>
        <p:nvSpPr>
          <p:cNvPr id="38" name="Text 36"/>
          <p:cNvSpPr txBox="1"/>
          <p:nvPr/>
        </p:nvSpPr>
        <p:spPr>
          <a:xfrm>
            <a:off x="4956048" y="208483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Innovación y Simplif.</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del Diseño</a:t>
            </a:r>
            <a:endParaRPr lang="en-US" sz="950" dirty="0"/>
          </a:p>
        </p:txBody>
      </p:sp>
      <p:sp>
        <p:nvSpPr>
          <p:cNvPr id="39" name="Shape 37"/>
          <p:cNvSpPr/>
          <p:nvPr/>
        </p:nvSpPr>
        <p:spPr>
          <a:xfrm>
            <a:off x="4846320" y="2752344"/>
            <a:ext cx="2103120" cy="914400"/>
          </a:xfrm>
          <a:prstGeom prst="roundRect">
            <a:avLst>
              <a:gd name="adj" fmla="val 7000"/>
            </a:avLst>
          </a:prstGeom>
          <a:solidFill>
            <a:srgbClr val="2C2C2E"/>
          </a:solidFill>
          <a:ln w="12700">
            <a:solidFill>
              <a:srgbClr val="FF9500"/>
            </a:solidFill>
            <a:prstDash val="solid"/>
          </a:ln>
        </p:spPr>
      </p:sp>
      <p:sp>
        <p:nvSpPr>
          <p:cNvPr id="40" name="Text 38"/>
          <p:cNvSpPr txBox="1"/>
          <p:nvPr/>
        </p:nvSpPr>
        <p:spPr>
          <a:xfrm>
            <a:off x="495604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II-3</a:t>
            </a:r>
            <a:endParaRPr lang="en-US" sz="1200" dirty="0"/>
          </a:p>
        </p:txBody>
      </p:sp>
      <p:sp>
        <p:nvSpPr>
          <p:cNvPr id="41" name="Text 39"/>
          <p:cNvSpPr txBox="1"/>
          <p:nvPr/>
        </p:nvSpPr>
        <p:spPr>
          <a:xfrm>
            <a:off x="4956048" y="313639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Estandarización</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de Elementos</a:t>
            </a:r>
            <a:endParaRPr lang="en-US" sz="950" dirty="0"/>
          </a:p>
        </p:txBody>
      </p:sp>
      <p:sp>
        <p:nvSpPr>
          <p:cNvPr id="42" name="Shape 40"/>
          <p:cNvSpPr/>
          <p:nvPr/>
        </p:nvSpPr>
        <p:spPr>
          <a:xfrm>
            <a:off x="4846320" y="3803904"/>
            <a:ext cx="2103120" cy="914400"/>
          </a:xfrm>
          <a:prstGeom prst="roundRect">
            <a:avLst>
              <a:gd name="adj" fmla="val 7000"/>
            </a:avLst>
          </a:prstGeom>
          <a:solidFill>
            <a:srgbClr val="2C2C2E"/>
          </a:solidFill>
          <a:ln w="12700">
            <a:solidFill>
              <a:srgbClr val="FF9500"/>
            </a:solidFill>
            <a:prstDash val="solid"/>
          </a:ln>
        </p:spPr>
      </p:sp>
      <p:sp>
        <p:nvSpPr>
          <p:cNvPr id="43" name="Text 41"/>
          <p:cNvSpPr txBox="1"/>
          <p:nvPr/>
        </p:nvSpPr>
        <p:spPr>
          <a:xfrm>
            <a:off x="495604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II-4</a:t>
            </a:r>
            <a:endParaRPr lang="en-US" sz="1200" dirty="0"/>
          </a:p>
        </p:txBody>
      </p:sp>
      <p:sp>
        <p:nvSpPr>
          <p:cNvPr id="44" name="Text 42"/>
          <p:cNvSpPr txBox="1"/>
          <p:nvPr/>
        </p:nvSpPr>
        <p:spPr>
          <a:xfrm>
            <a:off x="4956048" y="418795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Pre-ensamble,</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Modularización, Pre-fab</a:t>
            </a:r>
            <a:endParaRPr lang="en-US" sz="950" dirty="0"/>
          </a:p>
        </p:txBody>
      </p:sp>
      <p:sp>
        <p:nvSpPr>
          <p:cNvPr id="45" name="Shape 43"/>
          <p:cNvSpPr/>
          <p:nvPr/>
        </p:nvSpPr>
        <p:spPr>
          <a:xfrm>
            <a:off x="4846320" y="4855464"/>
            <a:ext cx="2103120" cy="914400"/>
          </a:xfrm>
          <a:prstGeom prst="roundRect">
            <a:avLst>
              <a:gd name="adj" fmla="val 7000"/>
            </a:avLst>
          </a:prstGeom>
          <a:solidFill>
            <a:srgbClr val="2C2C2E"/>
          </a:solidFill>
          <a:ln w="12700">
            <a:solidFill>
              <a:srgbClr val="FF9500"/>
            </a:solidFill>
            <a:prstDash val="solid"/>
          </a:ln>
        </p:spPr>
      </p:sp>
      <p:sp>
        <p:nvSpPr>
          <p:cNvPr id="46" name="Text 44"/>
          <p:cNvSpPr txBox="1"/>
          <p:nvPr/>
        </p:nvSpPr>
        <p:spPr>
          <a:xfrm>
            <a:off x="495604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II-5</a:t>
            </a:r>
            <a:endParaRPr lang="en-US" sz="1200" dirty="0"/>
          </a:p>
        </p:txBody>
      </p:sp>
      <p:sp>
        <p:nvSpPr>
          <p:cNvPr id="47" name="Text 45"/>
          <p:cNvSpPr txBox="1"/>
          <p:nvPr/>
        </p:nvSpPr>
        <p:spPr>
          <a:xfrm>
            <a:off x="4956048" y="523951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Diseño para Condiciones</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y Restricciones del Sitio</a:t>
            </a:r>
            <a:endParaRPr lang="en-US" sz="950" dirty="0"/>
          </a:p>
        </p:txBody>
      </p:sp>
      <p:sp>
        <p:nvSpPr>
          <p:cNvPr id="48" name="Shape 46"/>
          <p:cNvSpPr/>
          <p:nvPr/>
        </p:nvSpPr>
        <p:spPr>
          <a:xfrm>
            <a:off x="7086600" y="1700784"/>
            <a:ext cx="2103120" cy="914400"/>
          </a:xfrm>
          <a:prstGeom prst="roundRect">
            <a:avLst>
              <a:gd name="adj" fmla="val 7000"/>
            </a:avLst>
          </a:prstGeom>
          <a:solidFill>
            <a:srgbClr val="2C2C2E"/>
          </a:solidFill>
          <a:ln w="12700">
            <a:solidFill>
              <a:srgbClr val="FF9500"/>
            </a:solidFill>
            <a:prstDash val="solid"/>
          </a:ln>
        </p:spPr>
      </p:sp>
      <p:sp>
        <p:nvSpPr>
          <p:cNvPr id="49" name="Text 47"/>
          <p:cNvSpPr txBox="1"/>
          <p:nvPr/>
        </p:nvSpPr>
        <p:spPr>
          <a:xfrm>
            <a:off x="719632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II-6</a:t>
            </a:r>
            <a:endParaRPr lang="en-US" sz="1200" dirty="0"/>
          </a:p>
        </p:txBody>
      </p:sp>
      <p:sp>
        <p:nvSpPr>
          <p:cNvPr id="50" name="Text 48"/>
          <p:cNvSpPr txBox="1"/>
          <p:nvPr/>
        </p:nvSpPr>
        <p:spPr>
          <a:xfrm>
            <a:off x="7196328" y="208483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Diseño para Acceso,</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Espacio y Tolerancias</a:t>
            </a:r>
            <a:endParaRPr lang="en-US" sz="950" dirty="0"/>
          </a:p>
        </p:txBody>
      </p:sp>
      <p:sp>
        <p:nvSpPr>
          <p:cNvPr id="51" name="Shape 49"/>
          <p:cNvSpPr/>
          <p:nvPr/>
        </p:nvSpPr>
        <p:spPr>
          <a:xfrm>
            <a:off x="7086600" y="2752344"/>
            <a:ext cx="2103120" cy="914400"/>
          </a:xfrm>
          <a:prstGeom prst="roundRect">
            <a:avLst>
              <a:gd name="adj" fmla="val 7000"/>
            </a:avLst>
          </a:prstGeom>
          <a:solidFill>
            <a:srgbClr val="2C2C2E"/>
          </a:solidFill>
          <a:ln w="12700">
            <a:solidFill>
              <a:srgbClr val="FF9500"/>
            </a:solidFill>
            <a:prstDash val="solid"/>
          </a:ln>
        </p:spPr>
      </p:sp>
      <p:sp>
        <p:nvSpPr>
          <p:cNvPr id="52" name="Text 50"/>
          <p:cNvSpPr txBox="1"/>
          <p:nvPr/>
        </p:nvSpPr>
        <p:spPr>
          <a:xfrm>
            <a:off x="719632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II-7</a:t>
            </a:r>
            <a:endParaRPr lang="en-US" sz="1200" dirty="0"/>
          </a:p>
        </p:txBody>
      </p:sp>
      <p:sp>
        <p:nvSpPr>
          <p:cNvPr id="53" name="Text 51"/>
          <p:cNvSpPr txBox="1"/>
          <p:nvPr/>
        </p:nvSpPr>
        <p:spPr>
          <a:xfrm>
            <a:off x="7196328" y="313639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Diseño para Constructabilidad</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en Climas Adversos</a:t>
            </a:r>
            <a:endParaRPr lang="en-US" sz="950" dirty="0"/>
          </a:p>
        </p:txBody>
      </p:sp>
      <p:sp>
        <p:nvSpPr>
          <p:cNvPr id="54" name="Shape 52"/>
          <p:cNvSpPr/>
          <p:nvPr/>
        </p:nvSpPr>
        <p:spPr>
          <a:xfrm>
            <a:off x="7086600" y="3803904"/>
            <a:ext cx="2103120" cy="914400"/>
          </a:xfrm>
          <a:prstGeom prst="roundRect">
            <a:avLst>
              <a:gd name="adj" fmla="val 7000"/>
            </a:avLst>
          </a:prstGeom>
          <a:solidFill>
            <a:srgbClr val="2C2C2E"/>
          </a:solidFill>
          <a:ln w="12700">
            <a:solidFill>
              <a:srgbClr val="FF9500"/>
            </a:solidFill>
            <a:prstDash val="solid"/>
          </a:ln>
        </p:spPr>
      </p:sp>
      <p:sp>
        <p:nvSpPr>
          <p:cNvPr id="55" name="Text 53"/>
          <p:cNvSpPr txBox="1"/>
          <p:nvPr/>
        </p:nvSpPr>
        <p:spPr>
          <a:xfrm>
            <a:off x="719632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II-8</a:t>
            </a:r>
            <a:endParaRPr lang="en-US" sz="1200" dirty="0"/>
          </a:p>
        </p:txBody>
      </p:sp>
      <p:sp>
        <p:nvSpPr>
          <p:cNvPr id="56" name="Text 54"/>
          <p:cNvSpPr txBox="1"/>
          <p:nvPr/>
        </p:nvSpPr>
        <p:spPr>
          <a:xfrm>
            <a:off x="7196328" y="418795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Estrategia de Procura</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Influenciada por Constr.</a:t>
            </a:r>
            <a:endParaRPr lang="en-US" sz="950" dirty="0"/>
          </a:p>
        </p:txBody>
      </p:sp>
      <p:sp>
        <p:nvSpPr>
          <p:cNvPr id="57" name="Shape 55"/>
          <p:cNvSpPr/>
          <p:nvPr/>
        </p:nvSpPr>
        <p:spPr>
          <a:xfrm>
            <a:off x="7086600" y="4855464"/>
            <a:ext cx="2103120" cy="914400"/>
          </a:xfrm>
          <a:prstGeom prst="roundRect">
            <a:avLst>
              <a:gd name="adj" fmla="val 7000"/>
            </a:avLst>
          </a:prstGeom>
          <a:solidFill>
            <a:srgbClr val="2C2C2E"/>
          </a:solidFill>
          <a:ln w="12700">
            <a:solidFill>
              <a:srgbClr val="FF453A"/>
            </a:solidFill>
            <a:prstDash val="solid"/>
          </a:ln>
        </p:spPr>
      </p:sp>
      <p:sp>
        <p:nvSpPr>
          <p:cNvPr id="58" name="Text 56"/>
          <p:cNvSpPr txBox="1"/>
          <p:nvPr/>
        </p:nvSpPr>
        <p:spPr>
          <a:xfrm>
            <a:off x="7196328" y="492861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59" name="Text 57"/>
          <p:cNvSpPr txBox="1"/>
          <p:nvPr/>
        </p:nvSpPr>
        <p:spPr>
          <a:xfrm>
            <a:off x="7196328" y="523951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Mejoras Innovadoras</a:t>
            </a:r>
            <a:endParaRPr lang="en-US" sz="950" dirty="0"/>
          </a:p>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del Proceso de Campo</a:t>
            </a:r>
            <a:endParaRPr lang="en-US" sz="950" dirty="0"/>
          </a:p>
        </p:txBody>
      </p:sp>
      <p:sp>
        <p:nvSpPr>
          <p:cNvPr id="60" name="Shape 58"/>
          <p:cNvSpPr/>
          <p:nvPr/>
        </p:nvSpPr>
        <p:spPr>
          <a:xfrm>
            <a:off x="6675120" y="1700784"/>
            <a:ext cx="2103120" cy="914400"/>
          </a:xfrm>
          <a:prstGeom prst="roundRect">
            <a:avLst>
              <a:gd name="adj" fmla="val 7000"/>
            </a:avLst>
          </a:prstGeom>
          <a:solidFill>
            <a:srgbClr val="2C2C2E"/>
          </a:solidFill>
          <a:ln w="25400">
            <a:solidFill>
              <a:srgbClr val="FF453A"/>
            </a:solidFill>
            <a:prstDash val="solid"/>
          </a:ln>
        </p:spPr>
      </p:sp>
      <p:sp>
        <p:nvSpPr>
          <p:cNvPr id="61" name="Text 59"/>
          <p:cNvSpPr txBox="1"/>
          <p:nvPr/>
        </p:nvSpPr>
        <p:spPr>
          <a:xfrm>
            <a:off x="6784848" y="177393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62" name="Text 60"/>
          <p:cNvSpPr txBox="1"/>
          <p:nvPr/>
        </p:nvSpPr>
        <p:spPr>
          <a:xfrm>
            <a:off x="6784848" y="2084832"/>
            <a:ext cx="1874520" cy="475488"/>
          </a:xfrm>
          <a:prstGeom prst="rect">
            <a:avLst/>
          </a:prstGeom>
          <a:noFill/>
          <a:ln/>
        </p:spPr>
        <p:txBody>
          <a:bodyPr wrap="square" lIns="0" tIns="0" rIns="0" bIns="0" rtlCol="0" anchor="ctr"/>
          <a:lstStyle/>
          <a:p>
            <a:pPr indent="0" marL="0">
              <a:buNone/>
            </a:pPr>
            <a:r>
              <a:rPr lang="en-US" sz="950" dirty="0">
                <a:solidFill>
                  <a:srgbClr val="8E8E93"/>
                </a:solidFill>
                <a:latin typeface="Atkinson Hyperlegible" pitchFamily="34" charset="0"/>
                <a:ea typeface="Atkinson Hyperlegible" pitchFamily="34" charset="-122"/>
                <a:cs typeface="Atkinson Hyperlegible" pitchFamily="34" charset="-120"/>
              </a:rPr>
              <a:t>Mejoras Innovadoras del Proceso de Campo</a:t>
            </a:r>
            <a:endParaRPr lang="en-US" sz="950" dirty="0"/>
          </a:p>
        </p:txBody>
      </p:sp>
      <p:sp>
        <p:nvSpPr>
          <p:cNvPr id="63" name="Text 6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121</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E8E93"/>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Evolución Histórica de la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La constructabilidad formal nació de la necesidad de reducir el enorme desperdicio de los proyectos de los 70s:</a:t>
            </a:r>
            <a:endParaRPr lang="en-US" sz="1300" dirty="0"/>
          </a:p>
        </p:txBody>
      </p:sp>
      <p:sp>
        <p:nvSpPr>
          <p:cNvPr id="6" name="Shape 4"/>
          <p:cNvSpPr/>
          <p:nvPr/>
        </p:nvSpPr>
        <p:spPr>
          <a:xfrm>
            <a:off x="365760" y="1517904"/>
            <a:ext cx="8412480" cy="18288"/>
          </a:xfrm>
          <a:prstGeom prst="rect">
            <a:avLst/>
          </a:prstGeom>
          <a:solidFill>
            <a:srgbClr val="3A3A3C"/>
          </a:solidFill>
          <a:ln/>
        </p:spPr>
      </p:sp>
      <p:sp>
        <p:nvSpPr>
          <p:cNvPr id="7" name="Shape 5"/>
          <p:cNvSpPr/>
          <p:nvPr/>
        </p:nvSpPr>
        <p:spPr>
          <a:xfrm>
            <a:off x="365760" y="1389888"/>
            <a:ext cx="777240" cy="347472"/>
          </a:xfrm>
          <a:prstGeom prst="roundRect">
            <a:avLst>
              <a:gd name="adj" fmla="val 13158"/>
            </a:avLst>
          </a:prstGeom>
          <a:solidFill>
            <a:srgbClr val="8E8E93"/>
          </a:solidFill>
          <a:ln/>
        </p:spPr>
      </p:sp>
      <p:sp>
        <p:nvSpPr>
          <p:cNvPr id="8" name="Text 6"/>
          <p:cNvSpPr txBox="1"/>
          <p:nvPr/>
        </p:nvSpPr>
        <p:spPr>
          <a:xfrm>
            <a:off x="384048" y="1417320"/>
            <a:ext cx="749808" cy="274320"/>
          </a:xfrm>
          <a:prstGeom prst="rect">
            <a:avLst/>
          </a:prstGeom>
          <a:noFill/>
          <a:ln/>
        </p:spPr>
        <p:txBody>
          <a:bodyPr wrap="square" lIns="0" tIns="0" rIns="0" bIns="0" rtlCol="0" anchor="ctr"/>
          <a:lstStyle/>
          <a:p>
            <a:pPr algn="ctr" indent="0" marL="0">
              <a:buNone/>
            </a:pPr>
            <a:r>
              <a:rPr lang="en-US" sz="1100" b="1" dirty="0">
                <a:solidFill>
                  <a:srgbClr val="1C1C1E"/>
                </a:solidFill>
                <a:latin typeface="Atkinson Hyperlegible" pitchFamily="34" charset="0"/>
                <a:ea typeface="Atkinson Hyperlegible" pitchFamily="34" charset="-122"/>
                <a:cs typeface="Atkinson Hyperlegible" pitchFamily="34" charset="-120"/>
              </a:rPr>
              <a:t>1969</a:t>
            </a:r>
            <a:endParaRPr lang="en-US" sz="1100" dirty="0"/>
          </a:p>
        </p:txBody>
      </p:sp>
      <p:sp>
        <p:nvSpPr>
          <p:cNvPr id="9" name="Text 7"/>
          <p:cNvSpPr txBox="1"/>
          <p:nvPr/>
        </p:nvSpPr>
        <p:spPr>
          <a:xfrm>
            <a:off x="1261872" y="1417320"/>
            <a:ext cx="745236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US Army Corps of Engineers publica primeros estudios de "buildability" como concepto técnico formal</a:t>
            </a:r>
            <a:endParaRPr lang="en-US" sz="1100" dirty="0"/>
          </a:p>
        </p:txBody>
      </p:sp>
      <p:sp>
        <p:nvSpPr>
          <p:cNvPr id="10" name="Shape 8"/>
          <p:cNvSpPr/>
          <p:nvPr/>
        </p:nvSpPr>
        <p:spPr>
          <a:xfrm>
            <a:off x="365760" y="2139696"/>
            <a:ext cx="8412480" cy="18288"/>
          </a:xfrm>
          <a:prstGeom prst="rect">
            <a:avLst/>
          </a:prstGeom>
          <a:solidFill>
            <a:srgbClr val="3A3A3C"/>
          </a:solidFill>
          <a:ln/>
        </p:spPr>
      </p:sp>
      <p:sp>
        <p:nvSpPr>
          <p:cNvPr id="11" name="Shape 9"/>
          <p:cNvSpPr/>
          <p:nvPr/>
        </p:nvSpPr>
        <p:spPr>
          <a:xfrm>
            <a:off x="365760" y="2011680"/>
            <a:ext cx="777240" cy="347472"/>
          </a:xfrm>
          <a:prstGeom prst="roundRect">
            <a:avLst>
              <a:gd name="adj" fmla="val 13158"/>
            </a:avLst>
          </a:prstGeom>
          <a:solidFill>
            <a:srgbClr val="64D2FF"/>
          </a:solidFill>
          <a:ln/>
        </p:spPr>
      </p:sp>
      <p:sp>
        <p:nvSpPr>
          <p:cNvPr id="12" name="Text 10"/>
          <p:cNvSpPr txBox="1"/>
          <p:nvPr/>
        </p:nvSpPr>
        <p:spPr>
          <a:xfrm>
            <a:off x="384048" y="2039112"/>
            <a:ext cx="749808" cy="274320"/>
          </a:xfrm>
          <a:prstGeom prst="rect">
            <a:avLst/>
          </a:prstGeom>
          <a:noFill/>
          <a:ln/>
        </p:spPr>
        <p:txBody>
          <a:bodyPr wrap="square" lIns="0" tIns="0" rIns="0" bIns="0" rtlCol="0" anchor="ctr"/>
          <a:lstStyle/>
          <a:p>
            <a:pPr algn="ctr" indent="0" marL="0">
              <a:buNone/>
            </a:pPr>
            <a:r>
              <a:rPr lang="en-US" sz="1100" b="1" dirty="0">
                <a:solidFill>
                  <a:srgbClr val="1C1C1E"/>
                </a:solidFill>
                <a:latin typeface="Atkinson Hyperlegible" pitchFamily="34" charset="0"/>
                <a:ea typeface="Atkinson Hyperlegible" pitchFamily="34" charset="-122"/>
                <a:cs typeface="Atkinson Hyperlegible" pitchFamily="34" charset="-120"/>
              </a:rPr>
              <a:t>1979</a:t>
            </a:r>
            <a:endParaRPr lang="en-US" sz="1100" dirty="0"/>
          </a:p>
        </p:txBody>
      </p:sp>
      <p:sp>
        <p:nvSpPr>
          <p:cNvPr id="13" name="Text 11"/>
          <p:cNvSpPr txBox="1"/>
          <p:nvPr/>
        </p:nvSpPr>
        <p:spPr>
          <a:xfrm>
            <a:off x="1261872" y="2039112"/>
            <a:ext cx="745236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CIRIA (UK) publica "Buildability: an assessment" — primera guía práctica sobre constructabilidad en Europa</a:t>
            </a:r>
            <a:endParaRPr lang="en-US" sz="1100" dirty="0"/>
          </a:p>
        </p:txBody>
      </p:sp>
      <p:sp>
        <p:nvSpPr>
          <p:cNvPr id="14" name="Shape 12"/>
          <p:cNvSpPr/>
          <p:nvPr/>
        </p:nvSpPr>
        <p:spPr>
          <a:xfrm>
            <a:off x="365760" y="2761488"/>
            <a:ext cx="8412480" cy="18288"/>
          </a:xfrm>
          <a:prstGeom prst="rect">
            <a:avLst/>
          </a:prstGeom>
          <a:solidFill>
            <a:srgbClr val="3A3A3C"/>
          </a:solidFill>
          <a:ln/>
        </p:spPr>
      </p:sp>
      <p:sp>
        <p:nvSpPr>
          <p:cNvPr id="15" name="Shape 13"/>
          <p:cNvSpPr/>
          <p:nvPr/>
        </p:nvSpPr>
        <p:spPr>
          <a:xfrm>
            <a:off x="365760" y="2633472"/>
            <a:ext cx="777240" cy="347472"/>
          </a:xfrm>
          <a:prstGeom prst="roundRect">
            <a:avLst>
              <a:gd name="adj" fmla="val 13158"/>
            </a:avLst>
          </a:prstGeom>
          <a:solidFill>
            <a:srgbClr val="0A84FF"/>
          </a:solidFill>
          <a:ln/>
        </p:spPr>
      </p:sp>
      <p:sp>
        <p:nvSpPr>
          <p:cNvPr id="16" name="Text 14"/>
          <p:cNvSpPr txBox="1"/>
          <p:nvPr/>
        </p:nvSpPr>
        <p:spPr>
          <a:xfrm>
            <a:off x="384048" y="2660904"/>
            <a:ext cx="749808" cy="274320"/>
          </a:xfrm>
          <a:prstGeom prst="rect">
            <a:avLst/>
          </a:prstGeom>
          <a:noFill/>
          <a:ln/>
        </p:spPr>
        <p:txBody>
          <a:bodyPr wrap="square" lIns="0" tIns="0" rIns="0" bIns="0" rtlCol="0" anchor="ctr"/>
          <a:lstStyle/>
          <a:p>
            <a:pPr algn="ctr" indent="0" marL="0">
              <a:buNone/>
            </a:pPr>
            <a:r>
              <a:rPr lang="en-US" sz="1100" b="1" dirty="0">
                <a:solidFill>
                  <a:srgbClr val="1C1C1E"/>
                </a:solidFill>
                <a:latin typeface="Atkinson Hyperlegible" pitchFamily="34" charset="0"/>
                <a:ea typeface="Atkinson Hyperlegible" pitchFamily="34" charset="-122"/>
                <a:cs typeface="Atkinson Hyperlegible" pitchFamily="34" charset="-120"/>
              </a:rPr>
              <a:t>1983</a:t>
            </a:r>
            <a:endParaRPr lang="en-US" sz="1100" dirty="0"/>
          </a:p>
        </p:txBody>
      </p:sp>
      <p:sp>
        <p:nvSpPr>
          <p:cNvPr id="17" name="Text 15"/>
          <p:cNvSpPr txBox="1"/>
          <p:nvPr/>
        </p:nvSpPr>
        <p:spPr>
          <a:xfrm>
            <a:off x="1261872" y="2660904"/>
            <a:ext cx="745236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CII se funda en la Universidad de Texas en Austin con el mandato de mejorar los proyectos de capital</a:t>
            </a:r>
            <a:endParaRPr lang="en-US" sz="1100" dirty="0"/>
          </a:p>
        </p:txBody>
      </p:sp>
      <p:sp>
        <p:nvSpPr>
          <p:cNvPr id="18" name="Shape 16"/>
          <p:cNvSpPr/>
          <p:nvPr/>
        </p:nvSpPr>
        <p:spPr>
          <a:xfrm>
            <a:off x="365760" y="3383280"/>
            <a:ext cx="8412480" cy="18288"/>
          </a:xfrm>
          <a:prstGeom prst="rect">
            <a:avLst/>
          </a:prstGeom>
          <a:solidFill>
            <a:srgbClr val="3A3A3C"/>
          </a:solidFill>
          <a:ln/>
        </p:spPr>
      </p:sp>
      <p:sp>
        <p:nvSpPr>
          <p:cNvPr id="19" name="Shape 17"/>
          <p:cNvSpPr/>
          <p:nvPr/>
        </p:nvSpPr>
        <p:spPr>
          <a:xfrm>
            <a:off x="365760" y="3255264"/>
            <a:ext cx="777240" cy="347472"/>
          </a:xfrm>
          <a:prstGeom prst="roundRect">
            <a:avLst>
              <a:gd name="adj" fmla="val 13158"/>
            </a:avLst>
          </a:prstGeom>
          <a:solidFill>
            <a:srgbClr val="30D158"/>
          </a:solidFill>
          <a:ln/>
        </p:spPr>
      </p:sp>
      <p:sp>
        <p:nvSpPr>
          <p:cNvPr id="20" name="Text 18"/>
          <p:cNvSpPr txBox="1"/>
          <p:nvPr/>
        </p:nvSpPr>
        <p:spPr>
          <a:xfrm>
            <a:off x="384048" y="3282696"/>
            <a:ext cx="749808" cy="274320"/>
          </a:xfrm>
          <a:prstGeom prst="rect">
            <a:avLst/>
          </a:prstGeom>
          <a:noFill/>
          <a:ln/>
        </p:spPr>
        <p:txBody>
          <a:bodyPr wrap="square" lIns="0" tIns="0" rIns="0" bIns="0" rtlCol="0" anchor="ctr"/>
          <a:lstStyle/>
          <a:p>
            <a:pPr algn="ctr" indent="0" marL="0">
              <a:buNone/>
            </a:pPr>
            <a:r>
              <a:rPr lang="en-US" sz="1100" b="1" dirty="0">
                <a:solidFill>
                  <a:srgbClr val="1C1C1E"/>
                </a:solidFill>
                <a:latin typeface="Atkinson Hyperlegible" pitchFamily="34" charset="0"/>
                <a:ea typeface="Atkinson Hyperlegible" pitchFamily="34" charset="-122"/>
                <a:cs typeface="Atkinson Hyperlegible" pitchFamily="34" charset="-120"/>
              </a:rPr>
              <a:t>1986</a:t>
            </a:r>
            <a:endParaRPr lang="en-US" sz="1100" dirty="0"/>
          </a:p>
        </p:txBody>
      </p:sp>
      <p:sp>
        <p:nvSpPr>
          <p:cNvPr id="21" name="Text 19"/>
          <p:cNvSpPr txBox="1"/>
          <p:nvPr/>
        </p:nvSpPr>
        <p:spPr>
          <a:xfrm>
            <a:off x="1261872" y="3282696"/>
            <a:ext cx="745236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CII publica la definición canónica de Constructabilidad en Publication 3-1 (CII Primer)</a:t>
            </a:r>
            <a:endParaRPr lang="en-US" sz="1100" dirty="0"/>
          </a:p>
        </p:txBody>
      </p:sp>
      <p:sp>
        <p:nvSpPr>
          <p:cNvPr id="22" name="Shape 20"/>
          <p:cNvSpPr/>
          <p:nvPr/>
        </p:nvSpPr>
        <p:spPr>
          <a:xfrm>
            <a:off x="365760" y="4005072"/>
            <a:ext cx="8412480" cy="18288"/>
          </a:xfrm>
          <a:prstGeom prst="rect">
            <a:avLst/>
          </a:prstGeom>
          <a:solidFill>
            <a:srgbClr val="3A3A3C"/>
          </a:solidFill>
          <a:ln/>
        </p:spPr>
      </p:sp>
      <p:sp>
        <p:nvSpPr>
          <p:cNvPr id="23" name="Shape 21"/>
          <p:cNvSpPr/>
          <p:nvPr/>
        </p:nvSpPr>
        <p:spPr>
          <a:xfrm>
            <a:off x="365760" y="3877056"/>
            <a:ext cx="777240" cy="347472"/>
          </a:xfrm>
          <a:prstGeom prst="roundRect">
            <a:avLst>
              <a:gd name="adj" fmla="val 13158"/>
            </a:avLst>
          </a:prstGeom>
          <a:solidFill>
            <a:srgbClr val="FF9500"/>
          </a:solidFill>
          <a:ln/>
        </p:spPr>
      </p:sp>
      <p:sp>
        <p:nvSpPr>
          <p:cNvPr id="24" name="Text 22"/>
          <p:cNvSpPr txBox="1"/>
          <p:nvPr/>
        </p:nvSpPr>
        <p:spPr>
          <a:xfrm>
            <a:off x="384048" y="3904488"/>
            <a:ext cx="749808" cy="274320"/>
          </a:xfrm>
          <a:prstGeom prst="rect">
            <a:avLst/>
          </a:prstGeom>
          <a:noFill/>
          <a:ln/>
        </p:spPr>
        <p:txBody>
          <a:bodyPr wrap="square" lIns="0" tIns="0" rIns="0" bIns="0" rtlCol="0" anchor="ctr"/>
          <a:lstStyle/>
          <a:p>
            <a:pPr algn="ctr" indent="0" marL="0">
              <a:buNone/>
            </a:pPr>
            <a:r>
              <a:rPr lang="en-US" sz="1100" b="1" dirty="0">
                <a:solidFill>
                  <a:srgbClr val="1C1C1E"/>
                </a:solidFill>
                <a:latin typeface="Atkinson Hyperlegible" pitchFamily="34" charset="0"/>
                <a:ea typeface="Atkinson Hyperlegible" pitchFamily="34" charset="-122"/>
                <a:cs typeface="Atkinson Hyperlegible" pitchFamily="34" charset="-120"/>
              </a:rPr>
              <a:t>1993</a:t>
            </a:r>
            <a:endParaRPr lang="en-US" sz="1100" dirty="0"/>
          </a:p>
        </p:txBody>
      </p:sp>
      <p:sp>
        <p:nvSpPr>
          <p:cNvPr id="25" name="Text 23"/>
          <p:cNvSpPr txBox="1"/>
          <p:nvPr/>
        </p:nvSpPr>
        <p:spPr>
          <a:xfrm>
            <a:off x="1261872" y="3904488"/>
            <a:ext cx="745236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CII lanza SP 34-1 — la guía de implementación más completa jamás publicada (19 herramientas)</a:t>
            </a:r>
            <a:endParaRPr lang="en-US" sz="1100" dirty="0"/>
          </a:p>
        </p:txBody>
      </p:sp>
      <p:sp>
        <p:nvSpPr>
          <p:cNvPr id="26" name="Shape 24"/>
          <p:cNvSpPr/>
          <p:nvPr/>
        </p:nvSpPr>
        <p:spPr>
          <a:xfrm>
            <a:off x="365760" y="4626864"/>
            <a:ext cx="8412480" cy="18288"/>
          </a:xfrm>
          <a:prstGeom prst="rect">
            <a:avLst/>
          </a:prstGeom>
          <a:solidFill>
            <a:srgbClr val="3A3A3C"/>
          </a:solidFill>
          <a:ln/>
        </p:spPr>
      </p:sp>
      <p:sp>
        <p:nvSpPr>
          <p:cNvPr id="27" name="Shape 25"/>
          <p:cNvSpPr/>
          <p:nvPr/>
        </p:nvSpPr>
        <p:spPr>
          <a:xfrm>
            <a:off x="365760" y="4498848"/>
            <a:ext cx="777240" cy="347472"/>
          </a:xfrm>
          <a:prstGeom prst="roundRect">
            <a:avLst>
              <a:gd name="adj" fmla="val 13158"/>
            </a:avLst>
          </a:prstGeom>
          <a:solidFill>
            <a:srgbClr val="FFD60A"/>
          </a:solidFill>
          <a:ln/>
        </p:spPr>
      </p:sp>
      <p:sp>
        <p:nvSpPr>
          <p:cNvPr id="28" name="Text 26"/>
          <p:cNvSpPr txBox="1"/>
          <p:nvPr/>
        </p:nvSpPr>
        <p:spPr>
          <a:xfrm>
            <a:off x="384048" y="4526280"/>
            <a:ext cx="749808" cy="274320"/>
          </a:xfrm>
          <a:prstGeom prst="rect">
            <a:avLst/>
          </a:prstGeom>
          <a:noFill/>
          <a:ln/>
        </p:spPr>
        <p:txBody>
          <a:bodyPr wrap="square" lIns="0" tIns="0" rIns="0" bIns="0" rtlCol="0" anchor="ctr"/>
          <a:lstStyle/>
          <a:p>
            <a:pPr algn="ctr" indent="0" marL="0">
              <a:buNone/>
            </a:pPr>
            <a:r>
              <a:rPr lang="en-US" sz="1100" b="1" dirty="0">
                <a:solidFill>
                  <a:srgbClr val="1C1C1E"/>
                </a:solidFill>
                <a:latin typeface="Atkinson Hyperlegible" pitchFamily="34" charset="0"/>
                <a:ea typeface="Atkinson Hyperlegible" pitchFamily="34" charset="-122"/>
                <a:cs typeface="Atkinson Hyperlegible" pitchFamily="34" charset="-120"/>
              </a:rPr>
              <a:t>2000s</a:t>
            </a:r>
            <a:endParaRPr lang="en-US" sz="1100" dirty="0"/>
          </a:p>
        </p:txBody>
      </p:sp>
      <p:sp>
        <p:nvSpPr>
          <p:cNvPr id="29" name="Text 27"/>
          <p:cNvSpPr txBox="1"/>
          <p:nvPr/>
        </p:nvSpPr>
        <p:spPr>
          <a:xfrm>
            <a:off x="1261872" y="4526280"/>
            <a:ext cx="745236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Integración de constructabilidad con BIM: los modelos 3D permiten revisiones visuales constructivas</a:t>
            </a:r>
            <a:endParaRPr lang="en-US" sz="1100" dirty="0"/>
          </a:p>
        </p:txBody>
      </p:sp>
      <p:sp>
        <p:nvSpPr>
          <p:cNvPr id="30" name="Shape 28"/>
          <p:cNvSpPr/>
          <p:nvPr/>
        </p:nvSpPr>
        <p:spPr>
          <a:xfrm>
            <a:off x="365760" y="5248656"/>
            <a:ext cx="8412480" cy="18288"/>
          </a:xfrm>
          <a:prstGeom prst="rect">
            <a:avLst/>
          </a:prstGeom>
          <a:solidFill>
            <a:srgbClr val="3A3A3C"/>
          </a:solidFill>
          <a:ln/>
        </p:spPr>
      </p:sp>
      <p:sp>
        <p:nvSpPr>
          <p:cNvPr id="31" name="Shape 29"/>
          <p:cNvSpPr/>
          <p:nvPr/>
        </p:nvSpPr>
        <p:spPr>
          <a:xfrm>
            <a:off x="365760" y="5120640"/>
            <a:ext cx="777240" cy="347472"/>
          </a:xfrm>
          <a:prstGeom prst="roundRect">
            <a:avLst>
              <a:gd name="adj" fmla="val 13158"/>
            </a:avLst>
          </a:prstGeom>
          <a:solidFill>
            <a:srgbClr val="AF52DE"/>
          </a:solidFill>
          <a:ln/>
        </p:spPr>
      </p:sp>
      <p:sp>
        <p:nvSpPr>
          <p:cNvPr id="32" name="Text 30"/>
          <p:cNvSpPr txBox="1"/>
          <p:nvPr/>
        </p:nvSpPr>
        <p:spPr>
          <a:xfrm>
            <a:off x="384048" y="5148072"/>
            <a:ext cx="749808" cy="274320"/>
          </a:xfrm>
          <a:prstGeom prst="rect">
            <a:avLst/>
          </a:prstGeom>
          <a:noFill/>
          <a:ln/>
        </p:spPr>
        <p:txBody>
          <a:bodyPr wrap="square" lIns="0" tIns="0" rIns="0" bIns="0" rtlCol="0" anchor="ctr"/>
          <a:lstStyle/>
          <a:p>
            <a:pPr algn="ctr" indent="0" marL="0">
              <a:buNone/>
            </a:pPr>
            <a:r>
              <a:rPr lang="en-US" sz="1100" b="1" dirty="0">
                <a:solidFill>
                  <a:srgbClr val="1C1C1E"/>
                </a:solidFill>
                <a:latin typeface="Atkinson Hyperlegible" pitchFamily="34" charset="0"/>
                <a:ea typeface="Atkinson Hyperlegible" pitchFamily="34" charset="-122"/>
                <a:cs typeface="Atkinson Hyperlegible" pitchFamily="34" charset="-120"/>
              </a:rPr>
              <a:t>2010s</a:t>
            </a:r>
            <a:endParaRPr lang="en-US" sz="1100" dirty="0"/>
          </a:p>
        </p:txBody>
      </p:sp>
      <p:sp>
        <p:nvSpPr>
          <p:cNvPr id="33" name="Text 31"/>
          <p:cNvSpPr txBox="1"/>
          <p:nvPr/>
        </p:nvSpPr>
        <p:spPr>
          <a:xfrm>
            <a:off x="1261872" y="5148072"/>
            <a:ext cx="745236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AWP emerge como metodología de ejecución: implementa constructabilidad sistemáticamente en campo</a:t>
            </a:r>
            <a:endParaRPr lang="en-US" sz="1100" dirty="0"/>
          </a:p>
        </p:txBody>
      </p:sp>
      <p:sp>
        <p:nvSpPr>
          <p:cNvPr id="34" name="Shape 32"/>
          <p:cNvSpPr/>
          <p:nvPr/>
        </p:nvSpPr>
        <p:spPr>
          <a:xfrm>
            <a:off x="365760" y="5870448"/>
            <a:ext cx="8412480" cy="18288"/>
          </a:xfrm>
          <a:prstGeom prst="rect">
            <a:avLst/>
          </a:prstGeom>
          <a:solidFill>
            <a:srgbClr val="3A3A3C"/>
          </a:solidFill>
          <a:ln/>
        </p:spPr>
      </p:sp>
      <p:sp>
        <p:nvSpPr>
          <p:cNvPr id="35" name="Shape 33"/>
          <p:cNvSpPr/>
          <p:nvPr/>
        </p:nvSpPr>
        <p:spPr>
          <a:xfrm>
            <a:off x="365760" y="5742432"/>
            <a:ext cx="777240" cy="347472"/>
          </a:xfrm>
          <a:prstGeom prst="roundRect">
            <a:avLst>
              <a:gd name="adj" fmla="val 13158"/>
            </a:avLst>
          </a:prstGeom>
          <a:solidFill>
            <a:srgbClr val="FF453A"/>
          </a:solidFill>
          <a:ln/>
        </p:spPr>
      </p:sp>
      <p:sp>
        <p:nvSpPr>
          <p:cNvPr id="36" name="Text 34"/>
          <p:cNvSpPr txBox="1"/>
          <p:nvPr/>
        </p:nvSpPr>
        <p:spPr>
          <a:xfrm>
            <a:off x="384048" y="5769864"/>
            <a:ext cx="749808" cy="274320"/>
          </a:xfrm>
          <a:prstGeom prst="rect">
            <a:avLst/>
          </a:prstGeom>
          <a:noFill/>
          <a:ln/>
        </p:spPr>
        <p:txBody>
          <a:bodyPr wrap="square" lIns="0" tIns="0" rIns="0" bIns="0" rtlCol="0" anchor="ctr"/>
          <a:lstStyle/>
          <a:p>
            <a:pPr algn="ctr" indent="0" marL="0">
              <a:buNone/>
            </a:pPr>
            <a:r>
              <a:rPr lang="en-US" sz="1100" b="1" dirty="0">
                <a:solidFill>
                  <a:srgbClr val="1C1C1E"/>
                </a:solidFill>
                <a:latin typeface="Atkinson Hyperlegible" pitchFamily="34" charset="0"/>
                <a:ea typeface="Atkinson Hyperlegible" pitchFamily="34" charset="-122"/>
                <a:cs typeface="Atkinson Hyperlegible" pitchFamily="34" charset="-120"/>
              </a:rPr>
              <a:t>2020s</a:t>
            </a:r>
            <a:endParaRPr lang="en-US" sz="1100" dirty="0"/>
          </a:p>
        </p:txBody>
      </p:sp>
      <p:sp>
        <p:nvSpPr>
          <p:cNvPr id="37" name="Text 35"/>
          <p:cNvSpPr txBox="1"/>
          <p:nvPr/>
        </p:nvSpPr>
        <p:spPr>
          <a:xfrm>
            <a:off x="1261872" y="5769864"/>
            <a:ext cx="745236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IA, Digital Twin y AR transforman constructabilidad: simulaciones en tiempo real y ML predictivo</a:t>
            </a:r>
            <a:endParaRPr lang="en-US" sz="11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122</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Preguntas Frecuentes sobre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Shape 3"/>
          <p:cNvSpPr/>
          <p:nvPr/>
        </p:nvSpPr>
        <p:spPr>
          <a:xfrm>
            <a:off x="365760" y="960120"/>
            <a:ext cx="8412480" cy="987552"/>
          </a:xfrm>
          <a:prstGeom prst="roundRect">
            <a:avLst>
              <a:gd name="adj" fmla="val 7407"/>
            </a:avLst>
          </a:prstGeom>
          <a:solidFill>
            <a:srgbClr val="2C2C2E"/>
          </a:solidFill>
          <a:ln w="12700">
            <a:solidFill>
              <a:srgbClr val="3A3A3C"/>
            </a:solidFill>
            <a:prstDash val="solid"/>
          </a:ln>
        </p:spPr>
      </p:sp>
      <p:sp>
        <p:nvSpPr>
          <p:cNvPr id="6" name="Text 4"/>
          <p:cNvSpPr txBox="1"/>
          <p:nvPr/>
        </p:nvSpPr>
        <p:spPr>
          <a:xfrm>
            <a:off x="548640" y="1033272"/>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¿Cuál es la diferencia entre constructabilidad y Value Engineering?</a:t>
            </a:r>
            <a:endParaRPr lang="en-US" sz="1200" dirty="0"/>
          </a:p>
        </p:txBody>
      </p:sp>
      <p:sp>
        <p:nvSpPr>
          <p:cNvPr id="7" name="Text 5"/>
          <p:cNvSpPr txBox="1"/>
          <p:nvPr/>
        </p:nvSpPr>
        <p:spPr>
          <a:xfrm>
            <a:off x="548640" y="1399032"/>
            <a:ext cx="8046720" cy="47548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 VE elimina costo sin perder función — puede aplicarse a cualquier etapa. Constructabilidad optimiza cómo se ejecuta el proyecto. Son complementarias, pero constructabilidad influye más en el costo total al actuar antes.</a:t>
            </a:r>
            <a:endParaRPr lang="en-US" sz="1100" dirty="0"/>
          </a:p>
        </p:txBody>
      </p:sp>
      <p:sp>
        <p:nvSpPr>
          <p:cNvPr id="8" name="Shape 6"/>
          <p:cNvSpPr/>
          <p:nvPr/>
        </p:nvSpPr>
        <p:spPr>
          <a:xfrm>
            <a:off x="365760" y="2075688"/>
            <a:ext cx="8412480" cy="987552"/>
          </a:xfrm>
          <a:prstGeom prst="roundRect">
            <a:avLst>
              <a:gd name="adj" fmla="val 7407"/>
            </a:avLst>
          </a:prstGeom>
          <a:solidFill>
            <a:srgbClr val="2C2C2E"/>
          </a:solidFill>
          <a:ln w="12700">
            <a:solidFill>
              <a:srgbClr val="3A3A3C"/>
            </a:solidFill>
            <a:prstDash val="solid"/>
          </a:ln>
        </p:spPr>
      </p:sp>
      <p:sp>
        <p:nvSpPr>
          <p:cNvPr id="9" name="Text 7"/>
          <p:cNvSpPr txBox="1"/>
          <p:nvPr/>
        </p:nvSpPr>
        <p:spPr>
          <a:xfrm>
            <a:off x="548640" y="2148840"/>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¿Cuánto cuesta implementar un programa de constructabilidad?</a:t>
            </a:r>
            <a:endParaRPr lang="en-US" sz="1200" dirty="0"/>
          </a:p>
        </p:txBody>
      </p:sp>
      <p:sp>
        <p:nvSpPr>
          <p:cNvPr id="10" name="Text 8"/>
          <p:cNvSpPr txBox="1"/>
          <p:nvPr/>
        </p:nvSpPr>
        <p:spPr>
          <a:xfrm>
            <a:off x="548640" y="2514600"/>
            <a:ext cx="8046720" cy="47548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 Típicamente 0.2 a 0.5% del costo total del proyecto. Con un ROI documentado por CII de 10:1 a 40:1, es una de las inversiones de mayor retorno disponibles en gestión de proyectos.</a:t>
            </a:r>
            <a:endParaRPr lang="en-US" sz="1100" dirty="0"/>
          </a:p>
        </p:txBody>
      </p:sp>
      <p:sp>
        <p:nvSpPr>
          <p:cNvPr id="11" name="Shape 9"/>
          <p:cNvSpPr/>
          <p:nvPr/>
        </p:nvSpPr>
        <p:spPr>
          <a:xfrm>
            <a:off x="365760" y="3191256"/>
            <a:ext cx="8412480" cy="987552"/>
          </a:xfrm>
          <a:prstGeom prst="roundRect">
            <a:avLst>
              <a:gd name="adj" fmla="val 7407"/>
            </a:avLst>
          </a:prstGeom>
          <a:solidFill>
            <a:srgbClr val="2C2C2E"/>
          </a:solidFill>
          <a:ln w="12700">
            <a:solidFill>
              <a:srgbClr val="3A3A3C"/>
            </a:solidFill>
            <a:prstDash val="solid"/>
          </a:ln>
        </p:spPr>
      </p:sp>
      <p:sp>
        <p:nvSpPr>
          <p:cNvPr id="12" name="Text 10"/>
          <p:cNvSpPr txBox="1"/>
          <p:nvPr/>
        </p:nvSpPr>
        <p:spPr>
          <a:xfrm>
            <a:off x="548640" y="3264408"/>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¿Aplica constructabilidad a proyectos pequeños?</a:t>
            </a:r>
            <a:endParaRPr lang="en-US" sz="1200" dirty="0"/>
          </a:p>
        </p:txBody>
      </p:sp>
      <p:sp>
        <p:nvSpPr>
          <p:cNvPr id="13" name="Text 11"/>
          <p:cNvSpPr txBox="1"/>
          <p:nvPr/>
        </p:nvSpPr>
        <p:spPr>
          <a:xfrm>
            <a:off x="548640" y="3630168"/>
            <a:ext cx="8046720" cy="47548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 Sí, aunque con herramientas simplificadas. CII documenta constructabilidad para proyectos desde $5M. Para proyectos menores, checklists y una revisión informal por CM experimentado capturan el 80% del valor.</a:t>
            </a:r>
            <a:endParaRPr lang="en-US" sz="1100" dirty="0"/>
          </a:p>
        </p:txBody>
      </p:sp>
      <p:sp>
        <p:nvSpPr>
          <p:cNvPr id="14" name="Shape 12"/>
          <p:cNvSpPr/>
          <p:nvPr/>
        </p:nvSpPr>
        <p:spPr>
          <a:xfrm>
            <a:off x="365760" y="4306824"/>
            <a:ext cx="8412480" cy="987552"/>
          </a:xfrm>
          <a:prstGeom prst="roundRect">
            <a:avLst>
              <a:gd name="adj" fmla="val 7407"/>
            </a:avLst>
          </a:prstGeom>
          <a:solidFill>
            <a:srgbClr val="2C2C2E"/>
          </a:solidFill>
          <a:ln w="12700">
            <a:solidFill>
              <a:srgbClr val="3A3A3C"/>
            </a:solidFill>
            <a:prstDash val="solid"/>
          </a:ln>
        </p:spPr>
      </p:sp>
      <p:sp>
        <p:nvSpPr>
          <p:cNvPr id="15" name="Text 13"/>
          <p:cNvSpPr txBox="1"/>
          <p:nvPr/>
        </p:nvSpPr>
        <p:spPr>
          <a:xfrm>
            <a:off x="548640" y="4379976"/>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¿Qué pasa si el contratista de construcción no es conocido en diseño?</a:t>
            </a:r>
            <a:endParaRPr lang="en-US" sz="1200" dirty="0"/>
          </a:p>
        </p:txBody>
      </p:sp>
      <p:sp>
        <p:nvSpPr>
          <p:cNvPr id="16" name="Text 14"/>
          <p:cNvSpPr txBox="1"/>
          <p:nvPr/>
        </p:nvSpPr>
        <p:spPr>
          <a:xfrm>
            <a:off x="548640" y="4745736"/>
            <a:ext cx="8046720" cy="47548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 Se puede contratar a un Independent Construction Reviewer o usar el historial de LLDB corporativa. CII también ofrece benchmarks de constructabilidad por tipo de proyecto para el Owner.</a:t>
            </a:r>
            <a:endParaRPr lang="en-US" sz="1100" dirty="0"/>
          </a:p>
        </p:txBody>
      </p:sp>
      <p:sp>
        <p:nvSpPr>
          <p:cNvPr id="17" name="Shape 15"/>
          <p:cNvSpPr/>
          <p:nvPr/>
        </p:nvSpPr>
        <p:spPr>
          <a:xfrm>
            <a:off x="365760" y="5422392"/>
            <a:ext cx="8412480" cy="987552"/>
          </a:xfrm>
          <a:prstGeom prst="roundRect">
            <a:avLst>
              <a:gd name="adj" fmla="val 7407"/>
            </a:avLst>
          </a:prstGeom>
          <a:solidFill>
            <a:srgbClr val="2C2C2E"/>
          </a:solidFill>
          <a:ln w="12700">
            <a:solidFill>
              <a:srgbClr val="3A3A3C"/>
            </a:solidFill>
            <a:prstDash val="solid"/>
          </a:ln>
        </p:spPr>
      </p:sp>
      <p:sp>
        <p:nvSpPr>
          <p:cNvPr id="18" name="Text 16"/>
          <p:cNvSpPr txBox="1"/>
          <p:nvPr/>
        </p:nvSpPr>
        <p:spPr>
          <a:xfrm>
            <a:off x="548640" y="5495544"/>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¿Cómo medir si una revisión de constructabilidad fue exitosa?</a:t>
            </a:r>
            <a:endParaRPr lang="en-US" sz="1200" dirty="0"/>
          </a:p>
        </p:txBody>
      </p:sp>
      <p:sp>
        <p:nvSpPr>
          <p:cNvPr id="19" name="Text 17"/>
          <p:cNvSpPr txBox="1"/>
          <p:nvPr/>
        </p:nvSpPr>
        <p:spPr>
          <a:xfrm>
            <a:off x="548640" y="5861304"/>
            <a:ext cx="8046720" cy="47548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R: Por número de ideas generadas, porcentaje implementadas, ahorro documentado, y tiempo de revisión. Una revisión que genera 0 ideas probablemente fue poco profunda.</a:t>
            </a:r>
            <a:endParaRPr lang="en-US" sz="11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123</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Benchmarking: Promedio Industria vs. Mejores Prácticas CII</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Los datos de CII muestran la brecha entre proyectos típicos y proyectos con constructabilidad madura:</a:t>
            </a:r>
            <a:endParaRPr lang="en-US" sz="1300" dirty="0"/>
          </a:p>
        </p:txBody>
      </p:sp>
      <p:sp>
        <p:nvSpPr>
          <p:cNvPr id="6" name="Shape 4"/>
          <p:cNvSpPr/>
          <p:nvPr/>
        </p:nvSpPr>
        <p:spPr>
          <a:xfrm>
            <a:off x="365760" y="1298448"/>
            <a:ext cx="8412480" cy="502920"/>
          </a:xfrm>
          <a:prstGeom prst="rect">
            <a:avLst/>
          </a:prstGeom>
          <a:solidFill>
            <a:srgbClr val="3A3A3C"/>
          </a:solidFill>
          <a:ln/>
        </p:spPr>
      </p:sp>
      <p:sp>
        <p:nvSpPr>
          <p:cNvPr id="7" name="Text 5"/>
          <p:cNvSpPr txBox="1"/>
          <p:nvPr/>
        </p:nvSpPr>
        <p:spPr>
          <a:xfrm>
            <a:off x="502920" y="1408176"/>
            <a:ext cx="201168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Indicador</a:t>
            </a:r>
            <a:endParaRPr lang="en-US" sz="1100" dirty="0"/>
          </a:p>
        </p:txBody>
      </p:sp>
      <p:sp>
        <p:nvSpPr>
          <p:cNvPr id="8" name="Text 6"/>
          <p:cNvSpPr txBox="1"/>
          <p:nvPr/>
        </p:nvSpPr>
        <p:spPr>
          <a:xfrm>
            <a:off x="2606040" y="1408176"/>
            <a:ext cx="219456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Promedio Industria</a:t>
            </a:r>
            <a:endParaRPr lang="en-US" sz="1100" dirty="0"/>
          </a:p>
        </p:txBody>
      </p:sp>
      <p:sp>
        <p:nvSpPr>
          <p:cNvPr id="9" name="Text 7"/>
          <p:cNvSpPr txBox="1"/>
          <p:nvPr/>
        </p:nvSpPr>
        <p:spPr>
          <a:xfrm>
            <a:off x="4892040" y="1408176"/>
            <a:ext cx="228600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Con Constructabilidad CII</a:t>
            </a:r>
            <a:endParaRPr lang="en-US" sz="1100" dirty="0"/>
          </a:p>
        </p:txBody>
      </p:sp>
      <p:sp>
        <p:nvSpPr>
          <p:cNvPr id="10" name="Text 8"/>
          <p:cNvSpPr txBox="1"/>
          <p:nvPr/>
        </p:nvSpPr>
        <p:spPr>
          <a:xfrm>
            <a:off x="7269480" y="1408176"/>
            <a:ext cx="1371600" cy="292608"/>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Mejora</a:t>
            </a:r>
            <a:endParaRPr lang="en-US" sz="1100" dirty="0"/>
          </a:p>
        </p:txBody>
      </p:sp>
      <p:sp>
        <p:nvSpPr>
          <p:cNvPr id="11" name="Shape 9"/>
          <p:cNvSpPr/>
          <p:nvPr/>
        </p:nvSpPr>
        <p:spPr>
          <a:xfrm>
            <a:off x="365760" y="1865376"/>
            <a:ext cx="8412480" cy="502920"/>
          </a:xfrm>
          <a:prstGeom prst="rect">
            <a:avLst/>
          </a:prstGeom>
          <a:solidFill>
            <a:srgbClr val="3A3A3C"/>
          </a:solidFill>
          <a:ln/>
        </p:spPr>
      </p:sp>
      <p:sp>
        <p:nvSpPr>
          <p:cNvPr id="12" name="Text 10"/>
          <p:cNvSpPr txBox="1"/>
          <p:nvPr/>
        </p:nvSpPr>
        <p:spPr>
          <a:xfrm>
            <a:off x="502920" y="1975104"/>
            <a:ext cx="201168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Desviación de Costo</a:t>
            </a:r>
            <a:endParaRPr lang="en-US" sz="1100" dirty="0"/>
          </a:p>
        </p:txBody>
      </p:sp>
      <p:sp>
        <p:nvSpPr>
          <p:cNvPr id="13" name="Text 11"/>
          <p:cNvSpPr txBox="1"/>
          <p:nvPr/>
        </p:nvSpPr>
        <p:spPr>
          <a:xfrm>
            <a:off x="2606040" y="197510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+20 a +35%</a:t>
            </a:r>
            <a:endParaRPr lang="en-US" sz="1100" dirty="0"/>
          </a:p>
        </p:txBody>
      </p:sp>
      <p:sp>
        <p:nvSpPr>
          <p:cNvPr id="14" name="Text 12"/>
          <p:cNvSpPr txBox="1"/>
          <p:nvPr/>
        </p:nvSpPr>
        <p:spPr>
          <a:xfrm>
            <a:off x="4892040" y="197510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+10%</a:t>
            </a:r>
            <a:endParaRPr lang="en-US" sz="1100" dirty="0"/>
          </a:p>
        </p:txBody>
      </p:sp>
      <p:sp>
        <p:nvSpPr>
          <p:cNvPr id="15" name="Text 13"/>
          <p:cNvSpPr txBox="1"/>
          <p:nvPr/>
        </p:nvSpPr>
        <p:spPr>
          <a:xfrm>
            <a:off x="7269480" y="197510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16" name="Shape 14"/>
          <p:cNvSpPr/>
          <p:nvPr/>
        </p:nvSpPr>
        <p:spPr>
          <a:xfrm>
            <a:off x="365760" y="2432304"/>
            <a:ext cx="8412480" cy="502920"/>
          </a:xfrm>
          <a:prstGeom prst="rect">
            <a:avLst/>
          </a:prstGeom>
          <a:solidFill>
            <a:srgbClr val="2C2C2E"/>
          </a:solidFill>
          <a:ln/>
        </p:spPr>
      </p:sp>
      <p:sp>
        <p:nvSpPr>
          <p:cNvPr id="17" name="Text 15"/>
          <p:cNvSpPr txBox="1"/>
          <p:nvPr/>
        </p:nvSpPr>
        <p:spPr>
          <a:xfrm>
            <a:off x="502920" y="2542032"/>
            <a:ext cx="201168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Desviación de Plazo</a:t>
            </a:r>
            <a:endParaRPr lang="en-US" sz="1100" dirty="0"/>
          </a:p>
        </p:txBody>
      </p:sp>
      <p:sp>
        <p:nvSpPr>
          <p:cNvPr id="18" name="Text 16"/>
          <p:cNvSpPr txBox="1"/>
          <p:nvPr/>
        </p:nvSpPr>
        <p:spPr>
          <a:xfrm>
            <a:off x="2606040" y="254203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+30 a +50%</a:t>
            </a:r>
            <a:endParaRPr lang="en-US" sz="1100" dirty="0"/>
          </a:p>
        </p:txBody>
      </p:sp>
      <p:sp>
        <p:nvSpPr>
          <p:cNvPr id="19" name="Text 17"/>
          <p:cNvSpPr txBox="1"/>
          <p:nvPr/>
        </p:nvSpPr>
        <p:spPr>
          <a:xfrm>
            <a:off x="4892040" y="254203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+15%</a:t>
            </a:r>
            <a:endParaRPr lang="en-US" sz="1100" dirty="0"/>
          </a:p>
        </p:txBody>
      </p:sp>
      <p:sp>
        <p:nvSpPr>
          <p:cNvPr id="20" name="Text 18"/>
          <p:cNvSpPr txBox="1"/>
          <p:nvPr/>
        </p:nvSpPr>
        <p:spPr>
          <a:xfrm>
            <a:off x="7269480" y="254203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21" name="Shape 19"/>
          <p:cNvSpPr/>
          <p:nvPr/>
        </p:nvSpPr>
        <p:spPr>
          <a:xfrm>
            <a:off x="365760" y="2999232"/>
            <a:ext cx="8412480" cy="502920"/>
          </a:xfrm>
          <a:prstGeom prst="rect">
            <a:avLst/>
          </a:prstGeom>
          <a:solidFill>
            <a:srgbClr val="3A3A3C"/>
          </a:solidFill>
          <a:ln/>
        </p:spPr>
      </p:sp>
      <p:sp>
        <p:nvSpPr>
          <p:cNvPr id="22" name="Text 20"/>
          <p:cNvSpPr txBox="1"/>
          <p:nvPr/>
        </p:nvSpPr>
        <p:spPr>
          <a:xfrm>
            <a:off x="502920" y="3108960"/>
            <a:ext cx="201168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Re-trabajo (%)</a:t>
            </a:r>
            <a:endParaRPr lang="en-US" sz="1100" dirty="0"/>
          </a:p>
        </p:txBody>
      </p:sp>
      <p:sp>
        <p:nvSpPr>
          <p:cNvPr id="23" name="Text 21"/>
          <p:cNvSpPr txBox="1"/>
          <p:nvPr/>
        </p:nvSpPr>
        <p:spPr>
          <a:xfrm>
            <a:off x="2606040" y="310896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5 - 15% de horas</a:t>
            </a:r>
            <a:endParaRPr lang="en-US" sz="1100" dirty="0"/>
          </a:p>
        </p:txBody>
      </p:sp>
      <p:sp>
        <p:nvSpPr>
          <p:cNvPr id="24" name="Text 22"/>
          <p:cNvSpPr txBox="1"/>
          <p:nvPr/>
        </p:nvSpPr>
        <p:spPr>
          <a:xfrm>
            <a:off x="4892040" y="310896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&lt; 3% de horas</a:t>
            </a:r>
            <a:endParaRPr lang="en-US" sz="1100" dirty="0"/>
          </a:p>
        </p:txBody>
      </p:sp>
      <p:sp>
        <p:nvSpPr>
          <p:cNvPr id="25" name="Text 23"/>
          <p:cNvSpPr txBox="1"/>
          <p:nvPr/>
        </p:nvSpPr>
        <p:spPr>
          <a:xfrm>
            <a:off x="7269480" y="310896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3-5x</a:t>
            </a:r>
            <a:endParaRPr lang="en-US" sz="1100" dirty="0"/>
          </a:p>
        </p:txBody>
      </p:sp>
      <p:sp>
        <p:nvSpPr>
          <p:cNvPr id="26" name="Shape 24"/>
          <p:cNvSpPr/>
          <p:nvPr/>
        </p:nvSpPr>
        <p:spPr>
          <a:xfrm>
            <a:off x="365760" y="3566160"/>
            <a:ext cx="8412480" cy="502920"/>
          </a:xfrm>
          <a:prstGeom prst="rect">
            <a:avLst/>
          </a:prstGeom>
          <a:solidFill>
            <a:srgbClr val="2C2C2E"/>
          </a:solidFill>
          <a:ln/>
        </p:spPr>
      </p:sp>
      <p:sp>
        <p:nvSpPr>
          <p:cNvPr id="27" name="Text 25"/>
          <p:cNvSpPr txBox="1"/>
          <p:nvPr/>
        </p:nvSpPr>
        <p:spPr>
          <a:xfrm>
            <a:off x="502920" y="3675888"/>
            <a:ext cx="201168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CPI (Cost Perf. Index)</a:t>
            </a:r>
            <a:endParaRPr lang="en-US" sz="1100" dirty="0"/>
          </a:p>
        </p:txBody>
      </p:sp>
      <p:sp>
        <p:nvSpPr>
          <p:cNvPr id="28" name="Text 26"/>
          <p:cNvSpPr txBox="1"/>
          <p:nvPr/>
        </p:nvSpPr>
        <p:spPr>
          <a:xfrm>
            <a:off x="2606040" y="3675888"/>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0.78 - 0.92</a:t>
            </a:r>
            <a:endParaRPr lang="en-US" sz="1100" dirty="0"/>
          </a:p>
        </p:txBody>
      </p:sp>
      <p:sp>
        <p:nvSpPr>
          <p:cNvPr id="29" name="Text 27"/>
          <p:cNvSpPr txBox="1"/>
          <p:nvPr/>
        </p:nvSpPr>
        <p:spPr>
          <a:xfrm>
            <a:off x="4892040" y="3675888"/>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0.95 - 1.05</a:t>
            </a:r>
            <a:endParaRPr lang="en-US" sz="1100" dirty="0"/>
          </a:p>
        </p:txBody>
      </p:sp>
      <p:sp>
        <p:nvSpPr>
          <p:cNvPr id="30" name="Text 28"/>
          <p:cNvSpPr txBox="1"/>
          <p:nvPr/>
        </p:nvSpPr>
        <p:spPr>
          <a:xfrm>
            <a:off x="7269480" y="3675888"/>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a:t>
            </a:r>
            <a:endParaRPr lang="en-US" sz="1100" dirty="0"/>
          </a:p>
        </p:txBody>
      </p:sp>
      <p:sp>
        <p:nvSpPr>
          <p:cNvPr id="31" name="Shape 29"/>
          <p:cNvSpPr/>
          <p:nvPr/>
        </p:nvSpPr>
        <p:spPr>
          <a:xfrm>
            <a:off x="365760" y="4133088"/>
            <a:ext cx="8412480" cy="502920"/>
          </a:xfrm>
          <a:prstGeom prst="rect">
            <a:avLst/>
          </a:prstGeom>
          <a:solidFill>
            <a:srgbClr val="3A3A3C"/>
          </a:solidFill>
          <a:ln/>
        </p:spPr>
      </p:sp>
      <p:sp>
        <p:nvSpPr>
          <p:cNvPr id="32" name="Text 30"/>
          <p:cNvSpPr txBox="1"/>
          <p:nvPr/>
        </p:nvSpPr>
        <p:spPr>
          <a:xfrm>
            <a:off x="502920" y="4242816"/>
            <a:ext cx="201168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SPI (Schedule Perf. Index)</a:t>
            </a:r>
            <a:endParaRPr lang="en-US" sz="1100" dirty="0"/>
          </a:p>
        </p:txBody>
      </p:sp>
      <p:sp>
        <p:nvSpPr>
          <p:cNvPr id="33" name="Text 31"/>
          <p:cNvSpPr txBox="1"/>
          <p:nvPr/>
        </p:nvSpPr>
        <p:spPr>
          <a:xfrm>
            <a:off x="2606040" y="4242816"/>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0.72 - 0.88</a:t>
            </a:r>
            <a:endParaRPr lang="en-US" sz="1100" dirty="0"/>
          </a:p>
        </p:txBody>
      </p:sp>
      <p:sp>
        <p:nvSpPr>
          <p:cNvPr id="34" name="Text 32"/>
          <p:cNvSpPr txBox="1"/>
          <p:nvPr/>
        </p:nvSpPr>
        <p:spPr>
          <a:xfrm>
            <a:off x="4892040" y="4242816"/>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0.92 - 1.02</a:t>
            </a:r>
            <a:endParaRPr lang="en-US" sz="1100" dirty="0"/>
          </a:p>
        </p:txBody>
      </p:sp>
      <p:sp>
        <p:nvSpPr>
          <p:cNvPr id="35" name="Text 33"/>
          <p:cNvSpPr txBox="1"/>
          <p:nvPr/>
        </p:nvSpPr>
        <p:spPr>
          <a:xfrm>
            <a:off x="7269480" y="4242816"/>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+25%</a:t>
            </a:r>
            <a:endParaRPr lang="en-US" sz="1100" dirty="0"/>
          </a:p>
        </p:txBody>
      </p:sp>
      <p:sp>
        <p:nvSpPr>
          <p:cNvPr id="36" name="Shape 34"/>
          <p:cNvSpPr/>
          <p:nvPr/>
        </p:nvSpPr>
        <p:spPr>
          <a:xfrm>
            <a:off x="365760" y="4700016"/>
            <a:ext cx="8412480" cy="502920"/>
          </a:xfrm>
          <a:prstGeom prst="rect">
            <a:avLst/>
          </a:prstGeom>
          <a:solidFill>
            <a:srgbClr val="2C2C2E"/>
          </a:solidFill>
          <a:ln/>
        </p:spPr>
      </p:sp>
      <p:sp>
        <p:nvSpPr>
          <p:cNvPr id="37" name="Text 35"/>
          <p:cNvSpPr txBox="1"/>
          <p:nvPr/>
        </p:nvSpPr>
        <p:spPr>
          <a:xfrm>
            <a:off x="502920" y="4809744"/>
            <a:ext cx="201168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Horas-hombre por unidad</a:t>
            </a:r>
            <a:endParaRPr lang="en-US" sz="1100" dirty="0"/>
          </a:p>
        </p:txBody>
      </p:sp>
      <p:sp>
        <p:nvSpPr>
          <p:cNvPr id="38" name="Text 36"/>
          <p:cNvSpPr txBox="1"/>
          <p:nvPr/>
        </p:nvSpPr>
        <p:spPr>
          <a:xfrm>
            <a:off x="2606040" y="480974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39" name="Text 37"/>
          <p:cNvSpPr txBox="1"/>
          <p:nvPr/>
        </p:nvSpPr>
        <p:spPr>
          <a:xfrm>
            <a:off x="4892040" y="480974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0.75 - 0.88</a:t>
            </a:r>
            <a:endParaRPr lang="en-US" sz="1100" dirty="0"/>
          </a:p>
        </p:txBody>
      </p:sp>
      <p:sp>
        <p:nvSpPr>
          <p:cNvPr id="40" name="Text 38"/>
          <p:cNvSpPr txBox="1"/>
          <p:nvPr/>
        </p:nvSpPr>
        <p:spPr>
          <a:xfrm>
            <a:off x="7269480" y="480974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-15 a 25%</a:t>
            </a:r>
            <a:endParaRPr lang="en-US" sz="1100" dirty="0"/>
          </a:p>
        </p:txBody>
      </p:sp>
      <p:sp>
        <p:nvSpPr>
          <p:cNvPr id="41" name="Shape 39"/>
          <p:cNvSpPr/>
          <p:nvPr/>
        </p:nvSpPr>
        <p:spPr>
          <a:xfrm>
            <a:off x="365760" y="5266944"/>
            <a:ext cx="8412480" cy="502920"/>
          </a:xfrm>
          <a:prstGeom prst="rect">
            <a:avLst/>
          </a:prstGeom>
          <a:solidFill>
            <a:srgbClr val="3A3A3C"/>
          </a:solidFill>
          <a:ln/>
        </p:spPr>
      </p:sp>
      <p:sp>
        <p:nvSpPr>
          <p:cNvPr id="42" name="Text 40"/>
          <p:cNvSpPr txBox="1"/>
          <p:nvPr/>
        </p:nvSpPr>
        <p:spPr>
          <a:xfrm>
            <a:off x="502920" y="5376672"/>
            <a:ext cx="201168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Incidentes (TRIR)</a:t>
            </a:r>
            <a:endParaRPr lang="en-US" sz="1100" dirty="0"/>
          </a:p>
        </p:txBody>
      </p:sp>
      <p:sp>
        <p:nvSpPr>
          <p:cNvPr id="43" name="Text 41"/>
          <p:cNvSpPr txBox="1"/>
          <p:nvPr/>
        </p:nvSpPr>
        <p:spPr>
          <a:xfrm>
            <a:off x="2606040" y="537667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44" name="Text 42"/>
          <p:cNvSpPr txBox="1"/>
          <p:nvPr/>
        </p:nvSpPr>
        <p:spPr>
          <a:xfrm>
            <a:off x="4892040" y="537667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0.6 - 0.8</a:t>
            </a:r>
            <a:endParaRPr lang="en-US" sz="1100" dirty="0"/>
          </a:p>
        </p:txBody>
      </p:sp>
      <p:sp>
        <p:nvSpPr>
          <p:cNvPr id="45" name="Text 43"/>
          <p:cNvSpPr txBox="1"/>
          <p:nvPr/>
        </p:nvSpPr>
        <p:spPr>
          <a:xfrm>
            <a:off x="7269480" y="537667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a 40%</a:t>
            </a:r>
            <a:endParaRPr lang="en-US" sz="1100" dirty="0"/>
          </a:p>
        </p:txBody>
      </p:sp>
      <p:sp>
        <p:nvSpPr>
          <p:cNvPr id="46" name="Shape 44"/>
          <p:cNvSpPr/>
          <p:nvPr/>
        </p:nvSpPr>
        <p:spPr>
          <a:xfrm>
            <a:off x="365760" y="5833872"/>
            <a:ext cx="8412480" cy="502920"/>
          </a:xfrm>
          <a:prstGeom prst="rect">
            <a:avLst/>
          </a:prstGeom>
          <a:solidFill>
            <a:srgbClr val="2C2C2E"/>
          </a:solidFill>
          <a:ln/>
        </p:spPr>
      </p:sp>
      <p:sp>
        <p:nvSpPr>
          <p:cNvPr id="47" name="Text 45"/>
          <p:cNvSpPr txBox="1"/>
          <p:nvPr/>
        </p:nvSpPr>
        <p:spPr>
          <a:xfrm>
            <a:off x="502920" y="5943600"/>
            <a:ext cx="2011680" cy="292608"/>
          </a:xfrm>
          <a:prstGeom prst="rect">
            <a:avLst/>
          </a:prstGeom>
          <a:noFill/>
          <a:ln/>
        </p:spPr>
        <p:txBody>
          <a:bodyPr wrap="square" lIns="0" tIns="0" rIns="0" bIns="0" rtlCol="0" anchor="ctr"/>
          <a:lstStyle/>
          <a:p>
            <a:pPr indent="0" marL="0">
              <a:buNone/>
            </a:pPr>
            <a:r>
              <a:rPr lang="en-US" sz="1100" dirty="0">
                <a:solidFill>
                  <a:srgbClr val="FFFFFF"/>
                </a:solidFill>
                <a:latin typeface="Atkinson Hyperlegible" pitchFamily="34" charset="0"/>
                <a:ea typeface="Atkinson Hyperlegible" pitchFamily="34" charset="-122"/>
                <a:cs typeface="Atkinson Hyperlegible" pitchFamily="34" charset="-120"/>
              </a:rPr>
              <a:t>Satisfacción del Cliente</a:t>
            </a:r>
            <a:endParaRPr lang="en-US" sz="1100" dirty="0"/>
          </a:p>
        </p:txBody>
      </p:sp>
      <p:sp>
        <p:nvSpPr>
          <p:cNvPr id="48" name="Text 46"/>
          <p:cNvSpPr txBox="1"/>
          <p:nvPr/>
        </p:nvSpPr>
        <p:spPr>
          <a:xfrm>
            <a:off x="2606040" y="594360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65 - 75 NPS</a:t>
            </a:r>
            <a:endParaRPr lang="en-US" sz="1100" dirty="0"/>
          </a:p>
        </p:txBody>
      </p:sp>
      <p:sp>
        <p:nvSpPr>
          <p:cNvPr id="49" name="Text 47"/>
          <p:cNvSpPr txBox="1"/>
          <p:nvPr/>
        </p:nvSpPr>
        <p:spPr>
          <a:xfrm>
            <a:off x="4892040" y="594360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80 - 92 NPS</a:t>
            </a:r>
            <a:endParaRPr lang="en-US" sz="1100" dirty="0"/>
          </a:p>
        </p:txBody>
      </p:sp>
      <p:sp>
        <p:nvSpPr>
          <p:cNvPr id="50" name="Text 48"/>
          <p:cNvSpPr txBox="1"/>
          <p:nvPr/>
        </p:nvSpPr>
        <p:spPr>
          <a:xfrm>
            <a:off x="7269480" y="594360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pts</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124</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Atkinson Hyperlegible" pitchFamily="34" charset="0"/>
                <a:ea typeface="Atkinson Hyperlegible" pitchFamily="34" charset="-122"/>
                <a:cs typeface="Atkinson Hyperlegible" pitchFamily="34" charset="-120"/>
              </a:rPr>
              <a:t>Formación y Certificaciones en Constructabilidad</a:t>
            </a:r>
            <a:endParaRPr lang="en-US" sz="2800" dirty="0"/>
          </a:p>
        </p:txBody>
      </p:sp>
      <p:sp>
        <p:nvSpPr>
          <p:cNvPr id="4" name="Shape 2"/>
          <p:cNvSpPr/>
          <p:nvPr/>
        </p:nvSpPr>
        <p:spPr>
          <a:xfrm>
            <a:off x="457200" y="804672"/>
            <a:ext cx="8229600" cy="18288"/>
          </a:xfrm>
          <a:prstGeom prst="rect">
            <a:avLst/>
          </a:prstGeom>
          <a:solidFill>
            <a:srgbClr val="3A3A3C"/>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8E8E93"/>
                </a:solidFill>
                <a:latin typeface="Atkinson Hyperlegible" pitchFamily="34" charset="0"/>
                <a:ea typeface="Atkinson Hyperlegible" pitchFamily="34" charset="-122"/>
                <a:cs typeface="Atkinson Hyperlegible" pitchFamily="34" charset="-120"/>
              </a:rPr>
              <a:t>El conocimiento formal de constructabilidad se adquiere a través de CII, universidades y programas corporativos:</a:t>
            </a:r>
            <a:endParaRPr lang="en-US" sz="1300" dirty="0"/>
          </a:p>
        </p:txBody>
      </p:sp>
      <p:sp>
        <p:nvSpPr>
          <p:cNvPr id="6" name="Shape 4"/>
          <p:cNvSpPr/>
          <p:nvPr/>
        </p:nvSpPr>
        <p:spPr>
          <a:xfrm>
            <a:off x="365760" y="1298448"/>
            <a:ext cx="8412480" cy="1481328"/>
          </a:xfrm>
          <a:prstGeom prst="roundRect">
            <a:avLst>
              <a:gd name="adj" fmla="val 6173"/>
            </a:avLst>
          </a:prstGeom>
          <a:solidFill>
            <a:srgbClr val="2C2C2E"/>
          </a:solidFill>
          <a:ln w="25400">
            <a:solidFill>
              <a:srgbClr val="FF9500"/>
            </a:solidFill>
            <a:prstDash val="solid"/>
          </a:ln>
        </p:spPr>
      </p:sp>
      <p:sp>
        <p:nvSpPr>
          <p:cNvPr id="7" name="Text 5"/>
          <p:cNvSpPr txBox="1"/>
          <p:nvPr/>
        </p:nvSpPr>
        <p:spPr>
          <a:xfrm>
            <a:off x="594360" y="1408176"/>
            <a:ext cx="795528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CII (Construction Industry Institute)</a:t>
            </a:r>
            <a:endParaRPr lang="en-US" sz="1500" dirty="0"/>
          </a:p>
        </p:txBody>
      </p:sp>
      <p:sp>
        <p:nvSpPr>
          <p:cNvPr id="8" name="Text 6"/>
          <p:cNvSpPr txBox="1"/>
          <p:nvPr/>
        </p:nvSpPr>
        <p:spPr>
          <a:xfrm>
            <a:off x="594360" y="1810512"/>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CII Best Practices Training: cursos online de 4-8 horas por práctica</a:t>
            </a:r>
            <a:endParaRPr lang="en-US" sz="1100" dirty="0"/>
          </a:p>
        </p:txBody>
      </p:sp>
      <p:sp>
        <p:nvSpPr>
          <p:cNvPr id="9" name="Text 7"/>
          <p:cNvSpPr txBox="1"/>
          <p:nvPr/>
        </p:nvSpPr>
        <p:spPr>
          <a:xfrm>
            <a:off x="4846320" y="1810512"/>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Annual CII Conference: talleres de constructabilidad con líderes globales</a:t>
            </a:r>
            <a:endParaRPr lang="en-US" sz="1100" dirty="0"/>
          </a:p>
        </p:txBody>
      </p:sp>
      <p:sp>
        <p:nvSpPr>
          <p:cNvPr id="10" name="Text 8"/>
          <p:cNvSpPr txBox="1"/>
          <p:nvPr/>
        </p:nvSpPr>
        <p:spPr>
          <a:xfrm>
            <a:off x="594360" y="2249424"/>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CII Research Teams: participación en investigación sobre constructabilidad</a:t>
            </a:r>
            <a:endParaRPr lang="en-US" sz="1100" dirty="0"/>
          </a:p>
        </p:txBody>
      </p:sp>
      <p:sp>
        <p:nvSpPr>
          <p:cNvPr id="11" name="Text 9"/>
          <p:cNvSpPr txBox="1"/>
          <p:nvPr/>
        </p:nvSpPr>
        <p:spPr>
          <a:xfrm>
            <a:off x="4846320" y="2249424"/>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CII Benchmarking &amp; Metrics: herramienta comparativa para programas</a:t>
            </a:r>
            <a:endParaRPr lang="en-US" sz="1100" dirty="0"/>
          </a:p>
        </p:txBody>
      </p:sp>
      <p:sp>
        <p:nvSpPr>
          <p:cNvPr id="12" name="Shape 10"/>
          <p:cNvSpPr/>
          <p:nvPr/>
        </p:nvSpPr>
        <p:spPr>
          <a:xfrm>
            <a:off x="365760" y="2926080"/>
            <a:ext cx="8412480" cy="1481328"/>
          </a:xfrm>
          <a:prstGeom prst="roundRect">
            <a:avLst>
              <a:gd name="adj" fmla="val 6173"/>
            </a:avLst>
          </a:prstGeom>
          <a:solidFill>
            <a:srgbClr val="2C2C2E"/>
          </a:solidFill>
          <a:ln w="25400">
            <a:solidFill>
              <a:srgbClr val="0A84FF"/>
            </a:solidFill>
            <a:prstDash val="solid"/>
          </a:ln>
        </p:spPr>
      </p:sp>
      <p:sp>
        <p:nvSpPr>
          <p:cNvPr id="13" name="Text 11"/>
          <p:cNvSpPr txBox="1"/>
          <p:nvPr/>
        </p:nvSpPr>
        <p:spPr>
          <a:xfrm>
            <a:off x="594360" y="3035808"/>
            <a:ext cx="795528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AACE International</a:t>
            </a:r>
            <a:endParaRPr lang="en-US" sz="1500" dirty="0"/>
          </a:p>
        </p:txBody>
      </p:sp>
      <p:sp>
        <p:nvSpPr>
          <p:cNvPr id="14" name="Text 12"/>
          <p:cNvSpPr txBox="1"/>
          <p:nvPr/>
        </p:nvSpPr>
        <p:spPr>
          <a:xfrm>
            <a:off x="594360" y="3438144"/>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Certified Construction Project Manager (CCPM): incluye módulo de constructabilidad</a:t>
            </a:r>
            <a:endParaRPr lang="en-US" sz="1100" dirty="0"/>
          </a:p>
        </p:txBody>
      </p:sp>
      <p:sp>
        <p:nvSpPr>
          <p:cNvPr id="15" name="Text 13"/>
          <p:cNvSpPr txBox="1"/>
          <p:nvPr/>
        </p:nvSpPr>
        <p:spPr>
          <a:xfrm>
            <a:off x="4846320" y="3438144"/>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Total Cost Management Framework: sección de constructabilidad en FEED</a:t>
            </a:r>
            <a:endParaRPr lang="en-US" sz="1100" dirty="0"/>
          </a:p>
        </p:txBody>
      </p:sp>
      <p:sp>
        <p:nvSpPr>
          <p:cNvPr id="16" name="Text 14"/>
          <p:cNvSpPr txBox="1"/>
          <p:nvPr/>
        </p:nvSpPr>
        <p:spPr>
          <a:xfrm>
            <a:off x="594360" y="3877056"/>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Recommended Practices: RP 57R-09 "Integrated Project Planning &amp; Control"</a:t>
            </a:r>
            <a:endParaRPr lang="en-US" sz="1100" dirty="0"/>
          </a:p>
        </p:txBody>
      </p:sp>
      <p:sp>
        <p:nvSpPr>
          <p:cNvPr id="17" name="Text 15"/>
          <p:cNvSpPr txBox="1"/>
          <p:nvPr/>
        </p:nvSpPr>
        <p:spPr>
          <a:xfrm>
            <a:off x="4846320" y="3877056"/>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Talleres técnicos de estimación y constructabilidad en proyectos capital</a:t>
            </a:r>
            <a:endParaRPr lang="en-US" sz="1100" dirty="0"/>
          </a:p>
        </p:txBody>
      </p:sp>
      <p:sp>
        <p:nvSpPr>
          <p:cNvPr id="18" name="Shape 16"/>
          <p:cNvSpPr/>
          <p:nvPr/>
        </p:nvSpPr>
        <p:spPr>
          <a:xfrm>
            <a:off x="365760" y="4553712"/>
            <a:ext cx="8412480" cy="1481328"/>
          </a:xfrm>
          <a:prstGeom prst="roundRect">
            <a:avLst>
              <a:gd name="adj" fmla="val 6173"/>
            </a:avLst>
          </a:prstGeom>
          <a:solidFill>
            <a:srgbClr val="2C2C2E"/>
          </a:solidFill>
          <a:ln w="25400">
            <a:solidFill>
              <a:srgbClr val="30D158"/>
            </a:solidFill>
            <a:prstDash val="solid"/>
          </a:ln>
        </p:spPr>
      </p:sp>
      <p:sp>
        <p:nvSpPr>
          <p:cNvPr id="19" name="Text 17"/>
          <p:cNvSpPr txBox="1"/>
          <p:nvPr/>
        </p:nvSpPr>
        <p:spPr>
          <a:xfrm>
            <a:off x="594360" y="4663440"/>
            <a:ext cx="795528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PMI / Universidades</a:t>
            </a:r>
            <a:endParaRPr lang="en-US" sz="1500" dirty="0"/>
          </a:p>
        </p:txBody>
      </p:sp>
      <p:sp>
        <p:nvSpPr>
          <p:cNvPr id="20" name="Text 18"/>
          <p:cNvSpPr txBox="1"/>
          <p:nvPr/>
        </p:nvSpPr>
        <p:spPr>
          <a:xfrm>
            <a:off x="594360" y="5065776"/>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PMI-CP (Capital Projects): new credential with constructability module</a:t>
            </a:r>
            <a:endParaRPr lang="en-US" sz="1100" dirty="0"/>
          </a:p>
        </p:txBody>
      </p:sp>
      <p:sp>
        <p:nvSpPr>
          <p:cNvPr id="21" name="Text 19"/>
          <p:cNvSpPr txBox="1"/>
          <p:nvPr/>
        </p:nvSpPr>
        <p:spPr>
          <a:xfrm>
            <a:off x="4846320" y="5065776"/>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UT Austin: cursos de posgrado en Project Management con énfasis CII</a:t>
            </a:r>
            <a:endParaRPr lang="en-US" sz="1100" dirty="0"/>
          </a:p>
        </p:txBody>
      </p:sp>
      <p:sp>
        <p:nvSpPr>
          <p:cNvPr id="22" name="Text 20"/>
          <p:cNvSpPr txBox="1"/>
          <p:nvPr/>
        </p:nvSpPr>
        <p:spPr>
          <a:xfrm>
            <a:off x="594360" y="5504688"/>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Universidad de Calgary: formación en AWP/WFP (sinergia constructabilidad)</a:t>
            </a:r>
            <a:endParaRPr lang="en-US" sz="1100" dirty="0"/>
          </a:p>
        </p:txBody>
      </p:sp>
      <p:sp>
        <p:nvSpPr>
          <p:cNvPr id="23" name="Text 21"/>
          <p:cNvSpPr txBox="1"/>
          <p:nvPr/>
        </p:nvSpPr>
        <p:spPr>
          <a:xfrm>
            <a:off x="4846320" y="5504688"/>
            <a:ext cx="4069080" cy="384048"/>
          </a:xfrm>
          <a:prstGeom prst="rect">
            <a:avLst/>
          </a:prstGeom>
          <a:noFill/>
          <a:ln/>
        </p:spPr>
        <p:txBody>
          <a:bodyPr wrap="square" lIns="0" tIns="0" rIns="0" bIns="0" rtlCol="0" anchor="ctr"/>
          <a:lstStyle/>
          <a:p>
            <a:pPr indent="0" marL="0">
              <a:buNone/>
            </a:pPr>
            <a:r>
              <a:rPr lang="en-US" sz="1100" dirty="0">
                <a:solidFill>
                  <a:srgbClr val="8E8E93"/>
                </a:solidFill>
                <a:latin typeface="Atkinson Hyperlegible" pitchFamily="34" charset="0"/>
                <a:ea typeface="Atkinson Hyperlegible" pitchFamily="34" charset="-122"/>
                <a:cs typeface="Atkinson Hyperlegible" pitchFamily="34" charset="-120"/>
              </a:rPr>
              <a:t>• Programas corporativos in-house basados en publicaciones CII</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125</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C1C1E"/>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C1C1E"/>
          </a:solidFill>
          <a:ln/>
        </p:spPr>
      </p:sp>
      <p:sp>
        <p:nvSpPr>
          <p:cNvPr id="3" name="Shape 1"/>
          <p:cNvSpPr/>
          <p:nvPr/>
        </p:nvSpPr>
        <p:spPr>
          <a:xfrm>
            <a:off x="0" y="0"/>
            <a:ext cx="2286000" cy="54864"/>
          </a:xfrm>
          <a:prstGeom prst="rect">
            <a:avLst/>
          </a:prstGeom>
          <a:solidFill>
            <a:srgbClr val="0A84FF"/>
          </a:solidFill>
          <a:ln/>
        </p:spPr>
      </p:sp>
      <p:sp>
        <p:nvSpPr>
          <p:cNvPr id="4" name="Shape 2"/>
          <p:cNvSpPr/>
          <p:nvPr/>
        </p:nvSpPr>
        <p:spPr>
          <a:xfrm>
            <a:off x="2286000" y="0"/>
            <a:ext cx="2286000" cy="54864"/>
          </a:xfrm>
          <a:prstGeom prst="rect">
            <a:avLst/>
          </a:prstGeom>
          <a:solidFill>
            <a:srgbClr val="30D158"/>
          </a:solidFill>
          <a:ln/>
        </p:spPr>
      </p:sp>
      <p:sp>
        <p:nvSpPr>
          <p:cNvPr id="5" name="Shape 3"/>
          <p:cNvSpPr/>
          <p:nvPr/>
        </p:nvSpPr>
        <p:spPr>
          <a:xfrm>
            <a:off x="4572000" y="0"/>
            <a:ext cx="2286000" cy="54864"/>
          </a:xfrm>
          <a:prstGeom prst="rect">
            <a:avLst/>
          </a:prstGeom>
          <a:solidFill>
            <a:srgbClr val="FF9500"/>
          </a:solidFill>
          <a:ln/>
        </p:spPr>
      </p:sp>
      <p:sp>
        <p:nvSpPr>
          <p:cNvPr id="6" name="Shape 4"/>
          <p:cNvSpPr/>
          <p:nvPr/>
        </p:nvSpPr>
        <p:spPr>
          <a:xfrm>
            <a:off x="6858000" y="0"/>
            <a:ext cx="2286000" cy="54864"/>
          </a:xfrm>
          <a:prstGeom prst="rect">
            <a:avLst/>
          </a:prstGeom>
          <a:solidFill>
            <a:srgbClr val="AF52DE"/>
          </a:solidFill>
          <a:ln/>
        </p:spPr>
      </p:sp>
      <p:sp>
        <p:nvSpPr>
          <p:cNvPr id="7" name="Text 5"/>
          <p:cNvSpPr txBox="1"/>
          <p:nvPr/>
        </p:nvSpPr>
        <p:spPr>
          <a:xfrm>
            <a:off x="457200" y="1097280"/>
            <a:ext cx="8229600"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Atkinson Hyperlegible" pitchFamily="34" charset="0"/>
                <a:ea typeface="Atkinson Hyperlegible" pitchFamily="34" charset="-122"/>
                <a:cs typeface="Atkinson Hyperlegible" pitchFamily="34" charset="-120"/>
              </a:rPr>
              <a:t>Constructabilidad</a:t>
            </a:r>
            <a:endParaRPr lang="en-US" sz="4000" dirty="0"/>
          </a:p>
        </p:txBody>
      </p:sp>
      <p:sp>
        <p:nvSpPr>
          <p:cNvPr id="8" name="Text 6"/>
          <p:cNvSpPr txBox="1"/>
          <p:nvPr/>
        </p:nvSpPr>
        <p:spPr>
          <a:xfrm>
            <a:off x="502920" y="2057400"/>
            <a:ext cx="8138160" cy="502920"/>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Compromiso de Construir Mejor</a:t>
            </a:r>
            <a:endParaRPr lang="en-US" sz="2200" dirty="0"/>
          </a:p>
        </p:txBody>
      </p:sp>
      <p:sp>
        <p:nvSpPr>
          <p:cNvPr id="9" name="Shape 7"/>
          <p:cNvSpPr/>
          <p:nvPr/>
        </p:nvSpPr>
        <p:spPr>
          <a:xfrm>
            <a:off x="2286000" y="2651760"/>
            <a:ext cx="4572000" cy="36576"/>
          </a:xfrm>
          <a:prstGeom prst="rect">
            <a:avLst/>
          </a:prstGeom>
          <a:solidFill>
            <a:srgbClr val="3A3A3C"/>
          </a:solidFill>
          <a:ln/>
        </p:spPr>
      </p:sp>
      <p:sp>
        <p:nvSpPr>
          <p:cNvPr id="10" name="Text 8"/>
          <p:cNvSpPr txBox="1"/>
          <p:nvPr/>
        </p:nvSpPr>
        <p:spPr>
          <a:xfrm>
            <a:off x="731520" y="2788920"/>
            <a:ext cx="7680960" cy="1005840"/>
          </a:xfrm>
          <a:prstGeom prst="rect">
            <a:avLst/>
          </a:prstGeom>
          <a:noFill/>
          <a:ln/>
        </p:spPr>
        <p:txBody>
          <a:bodyPr wrap="square" lIns="0" tIns="0" rIns="0" bIns="0" rtlCol="0" anchor="ctr"/>
          <a:lstStyle/>
          <a:p>
            <a:pPr algn="ctr" indent="0" marL="0">
              <a:buNone/>
            </a:pPr>
            <a:r>
              <a:rPr lang="en-US" sz="1600" i="1" dirty="0">
                <a:solidFill>
                  <a:srgbClr val="8E8E93"/>
                </a:solidFill>
                <a:latin typeface="Atkinson Hyperlegible" pitchFamily="34" charset="0"/>
                <a:ea typeface="Atkinson Hyperlegible" pitchFamily="34" charset="-122"/>
                <a:cs typeface="Atkinson Hyperlegible" pitchFamily="34" charset="-120"/>
              </a:rPr>
              <a:t>"La constructabilidad no es una técnica especial ni una habilidad mística — es simplemente sentido común aplicado de manera sistemática desde el inicio del proyecto."</a:t>
            </a:r>
            <a:endParaRPr lang="en-US" sz="1600" dirty="0"/>
          </a:p>
        </p:txBody>
      </p:sp>
      <p:sp>
        <p:nvSpPr>
          <p:cNvPr id="11" name="Text 9"/>
          <p:cNvSpPr txBox="1"/>
          <p:nvPr/>
        </p:nvSpPr>
        <p:spPr>
          <a:xfrm>
            <a:off x="731520" y="3822192"/>
            <a:ext cx="7680960" cy="274320"/>
          </a:xfrm>
          <a:prstGeom prst="rect">
            <a:avLst/>
          </a:prstGeom>
          <a:noFill/>
          <a:ln/>
        </p:spPr>
        <p:txBody>
          <a:bodyPr wrap="square" lIns="0" tIns="0" rIns="0" bIns="0" rtlCol="0" anchor="ctr"/>
          <a:lstStyle/>
          <a:p>
            <a:pPr algn="ctr" indent="0" marL="0">
              <a:buNone/>
            </a:pPr>
            <a:r>
              <a:rPr lang="en-US" sz="1200" dirty="0">
                <a:solidFill>
                  <a:srgbClr val="8E8E93"/>
                </a:solidFill>
                <a:latin typeface="Atkinson Hyperlegible" pitchFamily="34" charset="0"/>
                <a:ea typeface="Atkinson Hyperlegible" pitchFamily="34" charset="-122"/>
                <a:cs typeface="Atkinson Hyperlegible" pitchFamily="34" charset="-120"/>
              </a:rPr>
              <a:t>— CII, Construction Industry Institute</a:t>
            </a:r>
            <a:endParaRPr lang="en-US" sz="1200" dirty="0"/>
          </a:p>
        </p:txBody>
      </p:sp>
      <p:sp>
        <p:nvSpPr>
          <p:cNvPr id="12" name="Shape 10"/>
          <p:cNvSpPr/>
          <p:nvPr/>
        </p:nvSpPr>
        <p:spPr>
          <a:xfrm>
            <a:off x="1828800" y="4251960"/>
            <a:ext cx="5486400" cy="777240"/>
          </a:xfrm>
          <a:prstGeom prst="roundRect">
            <a:avLst>
              <a:gd name="adj" fmla="val 14118"/>
            </a:avLst>
          </a:prstGeom>
          <a:solidFill>
            <a:srgbClr val="0A84FF"/>
          </a:solidFill>
          <a:ln/>
        </p:spPr>
      </p:sp>
      <p:sp>
        <p:nvSpPr>
          <p:cNvPr id="13" name="Text 11"/>
          <p:cNvSpPr txBox="1"/>
          <p:nvPr/>
        </p:nvSpPr>
        <p:spPr>
          <a:xfrm>
            <a:off x="1965960" y="4361688"/>
            <a:ext cx="5212080"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Atkinson Hyperlegible" pitchFamily="34" charset="0"/>
                <a:ea typeface="Atkinson Hyperlegible" pitchFamily="34" charset="-122"/>
                <a:cs typeface="Atkinson Hyperlegible" pitchFamily="34" charset="-120"/>
              </a:rPr>
              <a:t>Aplicar los 17 Conceptos CII desde el próximo FEL</a:t>
            </a:r>
            <a:endParaRPr lang="en-US" sz="1700" dirty="0"/>
          </a:p>
        </p:txBody>
      </p:sp>
      <p:sp>
        <p:nvSpPr>
          <p:cNvPr id="14" name="Text 12"/>
          <p:cNvSpPr txBox="1"/>
          <p:nvPr/>
        </p:nvSpPr>
        <p:spPr>
          <a:xfrm>
            <a:off x="731520" y="5230368"/>
            <a:ext cx="7680960" cy="256032"/>
          </a:xfrm>
          <a:prstGeom prst="rect">
            <a:avLst/>
          </a:prstGeom>
          <a:noFill/>
          <a:ln/>
        </p:spPr>
        <p:txBody>
          <a:bodyPr wrap="square" lIns="0" tIns="0" rIns="0" bIns="0" rtlCol="0" anchor="ctr"/>
          <a:lstStyle/>
          <a:p>
            <a:pPr algn="ctr" indent="0" marL="0">
              <a:buNone/>
            </a:pPr>
            <a:r>
              <a:rPr lang="en-US" sz="1100" dirty="0">
                <a:solidFill>
                  <a:srgbClr val="3A3A3C"/>
                </a:solidFill>
                <a:latin typeface="Atkinson Hyperlegible" pitchFamily="34" charset="0"/>
                <a:ea typeface="Atkinson Hyperlegible" pitchFamily="34" charset="-122"/>
                <a:cs typeface="Atkinson Hyperlegible" pitchFamily="34" charset="-120"/>
              </a:rPr>
              <a:t>CII SP 34-1  ·  Publication 3-1  ·  SD-4  ·  SD-5  ·  SD-25  ·  SD-34</a:t>
            </a:r>
            <a:endParaRPr lang="en-US" sz="1100" dirty="0"/>
          </a:p>
        </p:txBody>
      </p:sp>
      <p:sp>
        <p:nvSpPr>
          <p:cNvPr id="15" name="Text 1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8E8E93"/>
                </a:solidFill>
                <a:latin typeface="Atkinson Hyperlegible" pitchFamily="34" charset="0"/>
                <a:ea typeface="Atkinson Hyperlegible" pitchFamily="34" charset="-122"/>
                <a:cs typeface="Atkinson Hyperlegible" pitchFamily="34" charset="-120"/>
              </a:rPr>
              <a:t>126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126</Slides>
  <Notes>126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126</vt:i4>
      </vt:variant>
    </vt:vector>
  </HeadingPairs>
  <TitlesOfParts>
    <vt:vector size="1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2026-10-01T00:31:52Z</dcterms:created>
  <dcterms:modified xsi:type="dcterms:W3CDTF">2026-10-01T00:31:52Z</dcterms:modified>
</cp:coreProperties>
</file>