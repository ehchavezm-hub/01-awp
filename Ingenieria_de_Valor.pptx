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Ingeniería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9BD5"/>
                </a:solidFill>
                <a:latin typeface="Calibri"/>
              </a:rPr>
              <a:t>Metodología sistemática para maximizar el valor en proyectos de construcción e infraestructura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Índice de la Presentación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01 — Historia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Origen en GE 1947, Lawrence Miles, expansión global, DoD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02 — Fundamentos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Función, Costo, Valor — Los tres pilares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03 — Metodología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Plan de Trabajo: 8 fases, FAST, Índice de 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04 —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Composición, Coordinador, Certificación CVS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05 — Aplicaciones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091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Construcción, vías, puentes, VECP, casos de éxito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06 — Implementación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86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Programa institucional, métricas,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07 — Tendencias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263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Digital, BIM, IA, futuro de la IV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Introducción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¿Qué es la Ingeniería de Valor?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Metodología sistemática que maximiza el VALOR de un producto, servicio o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Analiza las FUNCIONES requeridas e identifica alternativas creativas al menor costo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No es recorte de gastos — es optimización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Desarrollada por Lawrence D. Miles en GE (1947), hoy estándar mundial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Ecuación fundamental: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63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Calibri"/>
              </a:rPr>
              <a:t>Valor = Función / Costo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107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Calibri"/>
              </a:rPr>
              <a:t>Mejor función al menor costo = Mayor valor para el 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Introducción —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La IV en Cifras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10–40% de reducción de costos en proyectos típicos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ROI promedio de 20:1 (US$20 ahorrados por cada US$1 invertido)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US$140,000 millones ahorrados solo en el DoD de EE.UU.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Aplicada en +50 países en construcción, defensa, manufactura y servicios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SAVE International: organización madre con miembros en 5 continentes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Obligatoria en contratos federales de EE.UU. &gt; US$5 millones (1996)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Historia de la Ingeniería de Valor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Historia — Origen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General Electric, 1947: El Accidente que Cambió 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Posguerra: escasez de materiales y mano de obra especializada en EE.UU.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Lawrence Miles, ingeniero de compras de GE, enfrenta la crisis con creatividad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Pregunta clave: '¿Qué función cumple este componente?'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'¿Cómo podemos lograr esa misma función de otra manera, más económica?'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Descubrió que los sustitutos a menudo superaban a los originales en costo y desempeño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De emergencia improvisada nació una metodología formal: el Análisis de Valor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Historia — Fundador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Lawrence D. Miles: Padre de la Ingeniería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1947–1952: Desarrolló el Análisis de Valor en General Electric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1954: El Departamento de Defensa de EE.UU. adopta formalmente el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1959: Fundación de la Sociedad Americana de Ingenieros de Valor (SAVE)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1961: Publica 'Techniques of Value Analysis and Engineering' — la biblia de la 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Su legado: metodología aplicada globalmente en miles de proyectos anuales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Premio Miles: máximo reconocimiento en IV, otorgado en su honor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Historia — Expansión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De la Manufactura al Mundo: Expansión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1950s: Manufactura y defensa en EE.UU. — los primeros 10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1960s: Expansión a la industria de construcción e infraestructura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1970s: Europa adopta la metodología — UK, Alemania, Francia, Japón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1980s: Asia se suma — Japón lidera con programas nacionales obligatorios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1990s: Norma ISO 13407, VE en gestión pública internacional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2000s–hoy: LATAM, África y economías emergentes integran la metodología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Historia — DoD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La IV en el Departamento de Defensa de EE.UU.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1954: DoD adopta Value Engineering como política oficial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1962: FAR (Federal Acquisition Regulation) incluye cláusulas de 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1996: Obligatoria en contratos &gt; US$5M (Public Law 104-106)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Manual DoD 4245.8-H: guía técnica para aplicación en proyectos de defensa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VECP (Value Engineering Change Proposal): mecanismo contractual para ahorros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Resultado: US$140B+ en ahorros documentados en 70 años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Historia — 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La IV en la Industria de la Construcción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Adopción masiva en los años 1960s en proyectos gubernamentales de infraestructura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Curva del impacto: las decisiones tempranas definen el 80% del costo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Aplicación óptima: en diseño esquemático (fase de mayor impacto)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Aplicación tardía: durante construcción, solo a través de VECP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Sectores líderes en construcción: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63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Calibri"/>
              </a:rPr>
              <a:t>Transporte (autopistas, puentes, aeropuertos, puertos)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107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Calibri"/>
              </a:rPr>
              <a:t>Infraestructura hidráulica y saneamiento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5818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Calibri"/>
              </a:rPr>
              <a:t>Edificaciones públicas (hospitales, escuelas, cárceles)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Fundamentos de la Ingeniería de Valor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Fundamentos — Pilares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Los Tres Pilares: Función, Costo,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#FUNCIÓN (F)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Lo que el elemento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568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expresa como VERBO + SUSTANTIVO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4086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Ej: 'Soportar carga', 'Conducir fluido'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249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clasifica en Básica o Secundaria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 función básica es el propósito esencial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#COSTO (C)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7276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precio de la alternativa elegida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5681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Incluye todos los costos del ciclo de vida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4086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Comparado con el costo mínimo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249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#VALOR = F /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Valor &gt; 1: se puede mejorar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Fundamentos —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Tipos de Función: Básica vs. Secundaria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#FUNCIÓN BÁSICA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Razón de ser del elemento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568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Sin ella el producto no tiene sentido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4086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NUNCA se elimina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249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Ej: puente → 'cruzar obstáculo'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Ej: tubería → 'conducir fluido'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930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Recibe mayor presupuesto justificado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#FUNCIONES SECUNDARIAS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7276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Apoyan la función básica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5681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Pueden ser de uso o estéticas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4086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Pueden ser eliminadas/reducidas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249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Ej: 'absorber vibración'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Ej: 'mejorar apariencia'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9300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Aquí está el mayor potencial de ahorro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Fundamentos —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Los Cuatro Tipos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#VALOR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Propiedades para cumplir la función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568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Tangible, medible, 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4086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#VALOR ESTÉTICO / DE ESTIMA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249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Apariencia, prestigio, percepción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Varía según el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#VALOR DE INTERCAMBIO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7276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Precio justo de mercado (fair market value)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5681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Referencia objetiva de lo que 'debería costar'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4086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#VALOR DE COSTO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249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Lo que realmente se está pagando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Si V.costo &gt;&gt; V.uso: oportunidad de IV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Fundamentos — LCC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Costo del Ciclo de Vida (LCC)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LCC = Costo Inicial + VPN(Operación) + VPN(Mantenimiento) + VPN(Disposición)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Una solución más cara inicialmente puede ser más económica en el ciclo de vida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Ejemplo ilustrativo: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Calibri"/>
              </a:rPr>
              <a:t>Opción A: $100K inicial + $15K/año mantenimiento = LCC $350K (30 años)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791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Calibri"/>
              </a:rPr>
              <a:t>Opción B: $130K inicial + $5K/año mantenimiento = LCC $280K (30 años)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Calibri"/>
              </a:rPr>
              <a:t>→ Opción B ahorra $70K aunque cuesta $30K más al inicio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741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 IV siempre evalúa en base a LCC, no solo costo inicial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Fundamentos — Aclaración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Lo que NO es la Ingeniería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❌ No es reducción arbitraria de costos — no se recorta sin análisis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❌ No es un buzón de ideas ni revisión de rutina — requiere taller 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❌ No es revisión de diseño — cuestiona si el diseño logra las funciones óptimamente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❌ No aplica a proyectos de bajo impacto económico (costo/beneficio no se justifica)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❌ No cuestiona si el proyecto debe existir — eso es análisis estratégico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✅ SÍ es un proceso creativo, sistemático y orientado al valor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Fundamentos — Barreras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Obstáculos Comunes para la Efectividad de Costos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Falta de información: decisiones basadas en suposiciones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Pensamiento habitual: aplicación rígida de estándares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568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Riesgo de pérdida personal: nadie quiere 'mover el barco'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4086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Creencias erróneas: mala experiencia previa descontextualizada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Renuencia a consultar: ego profesional vs. innovación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7276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Actitudes negativas: falta de reconocimiento a la creatividad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5681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Sobre-especificación: tolerancias más estrechas de lo necesario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4086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Malas relaciones humanas: fricción entre equipos → duplicaciones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Metodología — El Plan de Trabajo 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Visión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El Plan de Trabajo VE: 8 Fases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0: Orientación — Selección y preparación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1: Información — Recopilación exhaustiva de datos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2: Análisis Funcional — Identificar y costear todas las funciones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23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3: Especulación / Creatividad — Generar ideas alternativas sin límites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4: Evaluación — Filtrar y seleccionar las mejores ideas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5: Desarrollo — Elaborar en detalle las alternativas seleccionadas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6: Presentación — Comunicar propuestas a los tomadores de decisión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Fase 7: Implementación y Auditoría — Ejecutar y verificar los ahorros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Orientación: Seleccionando el Proyecto Correcto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Criterios de selección: costo elevado, diseño repetitivo, potencial de ahorro &gt;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Definición del alcance: qué elementos del proyecto se incluyen en el estudio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Formación del equipo multidisciplinario con las competencias requeridas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Recopilación inicial de información disponible (planos, costos, programa)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Establecimiento de restricciones, normativas y criterios de evaluación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Confirmación del cronograma del taller y compromisos de los participantes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Información: Conocer el Proyecto a Fondo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equipo de diseño original presenta el proyecto al equipo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estudian en detalle: planos, especificaciones, estimados de costo, programa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identifican los elementos de mayor costo y las restricciones de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formulan preguntas clave: '¿Por qué se diseñó así?', '¿Qué función cumple?'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determinan los modelos de costo: desglose hasta el nivel de subcomponentes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Todos los miembros del equipo deben tener comprensión profunda antes de avanzar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Análisis Funcional: El Corazón de la 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Identificar TODAS las funciones con pares verbo-sustantivo (activo/pasivo)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Clasificar: básicas (F.B.) vs. secundarias (F.S.) vs. no deseadas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Asignar el costo actual a cada función (porcentaje del costo total)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Calcular el costo mínimo teórico para cada función (¿cuánto debería costar?)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Índice de Valor = Costo Mínimo Teórico / Costo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Priorizar funciones con IV &lt; 1 — ahí está el mayor potencial de mejora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Construir el Diagrama FAST para visualizar relaciones entre funciones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El Diagrama FAST: Mapeando las Relaciones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FAST = Function Analysis System Technique (Miles &amp; Bytheway, 1965)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Eje horizontal (izq→der): '¿CÓMO?' — descomposición de funciones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Eje horizontal (der→izq): '¿POR QUÉ?' — justificación de funciones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Eje vertical: funciones que ocurren SIMULTÁNEAMENTE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Línea de alcance izquierda: Función Básica de Orden Superior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Línea de alcance derecha: funciones de apoyo externas al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Resultado: mapa visual completo de la lógica funcional del proyecto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Índice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Costo por Función e Índice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Pasos del análisis de costo por función: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1. Descomponer el proyecto en subcomponentes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2. Asignar % de cada componente a cada función que cumple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3. Multiplicar costo × % de función = Costo Asignado a la Función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4. Estimar Costo Mínimo Teórico con ingeniería básica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  <a:latin typeface="Calibri"/>
              </a:rPr>
              <a:t>Índice de Valor = CMT / CA (donde CMT = Costo Mínimo Teórico, CA = Costo Actual)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1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  <a:latin typeface="Calibri"/>
              </a:rPr>
              <a:t>IV &lt; 0.5 = oportunidad ALTA  |  0.5–0.8 = media  |  &gt; 0.8 = baja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Especulación: Liberando la Creatividad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Regla 1: NO CRITICAR las ideas durante la generación — aplazar el juicio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Regla 2: Cantidad sobre calidad — más ideas = mayor probabilidad de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Regla 3: Ideas descabelladas son bienvenidas — catalizan soluciones viables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Regla 4: Combinar y mejorar las ideas de otros (cross-pollination)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Preguntas detonantes: '¿Qué más podría hacer X?', '¿Cómo lo haría la naturaleza?'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Técnicas: Lluvia de Ideas, Delphi, SCAMPER, Analogías, Listado de Atributos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Meta: 50–200 ideas por sesión en proyectos de mediana complejidad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Creatividad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Técnicas Creativas para Generar Alternativas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#Lluvia de Ideas (Osborn)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Sesión grupal, sin crítica, 20–30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568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Moderador activo, ideas escritas en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4086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249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#Método Delphi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Rondas de consulta anónima a expertos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930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Converge hacia consenso sin presión social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#Analogías Forzadas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7276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Conectar el problema con dominios ajenos (biología, arte)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5681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Rompe el pensamiento lineal efectivamente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4086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249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#SCAMPER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Sustituir, Combinar, Adaptar, Modificar,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9300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Poner otro uso, Eliminar, Reorganizar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Evaluación: Del Caos Creativo a las Mejores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1: Eliminación básica — descartar inviables técnica o legalmente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2: Combinación — agrupar ideas relacionadas o complementarias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3: Evaluación técnica con criterios ponderados (matriz de decisión)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Criterios típicos: factibilidad técnica, costo, plazo, mantenibilidad, riesgo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4: Análisis de ciclo de vida de las alternativas finalistas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Resultado: 5–15 propuestas seleccionadas para desarrollo detallado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 decisión es del equipo completo, no solo del coordinador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Desarrollo: Convirtiendo Ideas en Propuestas Sólidas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Para cada propuesta seleccionada se prepara: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• Descripción técnica detallada y comparación con el diseño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• Croquis o diseño preliminar con suficiente detalle para evaluación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• Estimado de costo detallado (diseño + construcción + O&amp;M + LCC)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• Análisis de ventajas técnicas, económicas y de sostenibilidad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• Identificación de riesgos y plan de mitigación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• Requisitos de implementación: permisos, estudios adicionales, plazos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Presentación: Comunicando el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Presentación formal ante propietario, financiadores y equipo de 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Formato: resumen ejecutivo + fichas técnicas por propuesta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Para cada propuesta se muestra: ahorro estimado, riesgo, implementación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Tabla resumen: Costo actual vs. Costo propuesto vs. Ahorro neto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equipo de diseño evalúa cada propuesta y emite su decisión formal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Propuestas: Aceptadas / Aceptadas con modificaciones / Rechazadas (con justificación)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informe final queda como documento oficial del proyecto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Metodología — Fase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Fase de Implementación y Auditoría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Las propuestas aceptadas se incorporan formalmente al diseño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coordinador hace seguimiento al proceso de incorporación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registran los ahorros reales vs. los proyectados en el estudio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Auditoría post-construcción (12–24 meses después):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Calibri"/>
              </a:rPr>
              <a:t>¿Se implementaron las propuestas aceptadas?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44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Calibri"/>
              </a:rPr>
              <a:t>¿Los ahorros proyectados se materializaron?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9242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Calibri"/>
              </a:rPr>
              <a:t>Lecciones aprendidas para futuros estudios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398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ciclo completo cierra la metodología y alimenta la mejora continua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Equipo de Trabajo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Equipo — Composición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Composición del Equipo Multidisciplinario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Coordinador IV (obligatorio): profesional certificado CVS o certificación equivalente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Propietario / Cliente: quien toma las decisiones de inversión y define los objetivos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Equipo de diseño original: arquitectos, ingenieros responsables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Especialistas técnicos: estructural, hidráulico, geotécnico, MEP según aplique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Especialista en costos / estimador: clave para el análisis económico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Especialista en construcción: para verificar factibilidad constructiva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899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Usuarios o representantes de operación: visión del ciclo de vida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Equipo — Coordinador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El Coordinador IV: Líder del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Planificar y preparar el estudio: agenda, materiales, información previa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Facilitar el taller manteniendo el proceso metodológico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Crear ambiente de confianza y participación igualitaria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Resolver conflictos y mantener el enfoque en funciones, no en soluciones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Documentar con rigor cada fase del proceso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Asegurar la calidad técnica y económica de las propuestas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Dar seguimiento post-taller a la implementación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Equipo — Dinámica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Dinámica del Taller: Donde Ocurre la Magia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Duración típica: 3 a 5 días continuos (taller intensivo) + 1–2 días de 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Tamaño óptimo: 8–12 participantes (más pequeño: pocos puntos de vista; mayor: lento)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Regla de oro durante especulación: NO hay jerarquías, todas las ideas son iguales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coordinador protege al equipo de la crítica prematura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Herramientas visuales: post-its, pizarras grandes, diagramas FAST en papel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taller produce el 80% de los resultados — la preparación produce el otro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Un buen taller cambia la cultura organizacional, no solo el proyecto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Equipo — CVS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Certificación CVS: El Estándar Internacional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CVS = Certified Value Specialist (SAVE International)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Requisitos para la certificación: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Formación: 40 horas de educación formal en 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Experiencia: participación comprobada en mínimo 2 estudios de 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Documentación: portafolio de proyectos revisado por pares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Examen: prueba escrita de 4 horas sobre metodología y aplicación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Niveles de certificación: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40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  <a:latin typeface="Calibri"/>
              </a:rPr>
              <a:t>AVS: Associate Value Specialist (nivel inicial)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87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  <a:latin typeface="Calibri"/>
              </a:rPr>
              <a:t>CVS: Certified Value Specialist (nivel avanzado)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Aplicaciones de la Ingeniería de Valor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Aplicaciones — 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IV en Edificaciones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Hospitales: 15–25% de reducción de costos manteniendo estándares clínicos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Escuelas y universidades: optimización de sistemas HVAC, estructura, fachadas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Edificios gubernamentales: balance entre funcionalidad, estética y costo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Proyectos industriales: plantas de manufactura, bodegas, centros de distribución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Elementos más frecuentemente optimizados: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63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Calibri"/>
              </a:rPr>
              <a:t>Sistema estructural (tipo, material, modulación)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107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Calibri"/>
              </a:rPr>
              <a:t>Sistemas mecánicos y eléctricos (MEP)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5818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Calibri"/>
              </a:rPr>
              <a:t>Fachadas y cerramientos (balance térmica-costo-mantenimiento)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Aplicaciones — Carreteras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IV en Vialidades y Carreteras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Diseño geométrico: alineamiento horizontal y vertical, radios de curvatura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Pavimentos: comparación de opciones (rígido vs. flexible, espesores de capa)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Estructuras de drenaje: alcantarillas, cunetas, estructuras hidráulicas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Puentes y pasos a desnivel: tipología estructural, materiales, vanos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Señalización e iluminación: tecnología LED, postes, controladores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Manual West Virginia DOT: referencia técnica con +200 casos documentados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ROI típico en proyectos viales: 15–35% sobre el costo original de diseño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Aplicaciones — Puentes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Caso de Estudio: Puente Las Lajas III (México)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Proyecto: Puente carretero Las Lajas III, México (caso de tesis UNAM 2012)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Investigador: Ing. Manuel Calzeta Valdés — Facultad de Ingeniería, UNAM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Resultados del estudio de IV: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Reducción de costos de construcción: 22% sobre el presupuesto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Ahorro equivalente a varios millones de pesos en ese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Mejora en la vida útil estimada de la estructura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Optimización del sistema estructural y los materiales de construcción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caso demuestra la aplicabilidad de IV en infraestructura latinoamericana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Aplicaciones — Hidráulica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IV en Obras Hidráulicas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Presas: tipología (concreto, tierra, arco), altura, sistema de descarga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Sistemas de riego: canales vs. tuberías, revestimientos, eficiencia hidráulica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Plantas de tratamiento: procesos de tratamiento, materiales, automatización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Control de inundaciones: variantes de diseño, capacidad hidráulica vs. costo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Redes de agua potable: materiales de tubería, trazado, presiones de 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Equilibrio clave en hidráulica: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Calibri"/>
              </a:rPr>
              <a:t>Inversión inicial ↔ Confiabilidad operativa ↔ Mantenimiento a largo plazo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Aplicaciones — VECP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VECP: Value Engineering Change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Mecanismo formal para proponer cambios de IV durante la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contratista identifica una mejora al diseño original aprobado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Prepara y presenta la propuesta VECP al propietario con análisis costo-beneficio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Si el propietario acepta la VECP: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 modifica el contrato para incorporar el cambio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Los ahorros se dividen según porcentaje pactado (típicamente 50/50)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contratista recibe incentivo económico por su iniciativa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propietario obtiene ahorro sin comprometer la funcionalidad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Aplicaciones —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Casos Documentados de Éxito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DoD EE.UU.: US$140B+ ahorrados en 70 años de programa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Federal Highway Administration: ROI promedio de 45:1 en proyectos viales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VA (Veterans Affairs): 20–30% de reducción en hospitales de veteranos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Japan Value Engineering Association: programa obligatorio en proyectos públicos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Korea: VE obligatorio para proyectos gubernamentales &gt; $8.5M 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UK: OGC Gateway Reviews incluyen VE en todos los proyectos mayores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Banco Mundial: recomienda VE en proyectos de infraestructura financiados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Implementación Organizacional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Implementación —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Factores Críticos de Éxito del Programa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Compromiso de la alta dirección: el programa necesita un 'campeón' ejecutivo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Personal certificado: al menos un CVS o AVS en la organización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Integración al proceso: IV no es opcional — está en el flujo de aprobación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Seguimiento sistemático: todas las propuestas tienen dueño y fecha de 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Cultura abierta: el equipo de diseño no debe percibir la IV como amenaza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Comunicación de resultados: los ahorros se reportan a la alta dirección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Mejora continua: cada estudio retroalimenta el siguiente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Implementación —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Creación de un Programa Institucional de 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1: Política institucional formal aprobada por la alta dirección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2: Designar un responsable del programa con presupuesto propio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3: Capacitar al personal clave (40h mínimo + estudios de campo)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4: Definir criterios de selección de proyectos 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5: Establecer procedimientos de proceso y documentación estándar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6: Implementar primeros estudios piloto con proyectos de alto perfil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Paso 7: Reportar resultados y expandir el programa con el éxito demostrado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Implementación — Métricas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Métricas del Programa: Demostrando el Valor del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ROI del programa: (Ahorros implementados) / (Costo del programa) — meta: &gt; 20:1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Tasa de implementación: % de propuestas aceptadas que se ejecutaron — meta: &gt; 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Ahorro acumulado anual: total de ahorros en costos de construcción + LCC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Estudios realizados por año: indicador de alcance y profundidad del programa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Costo promedio por estudio vs. ahorro promedio por estudio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Tiempo de implementación de propuestas: eficiencia del proceso de 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Satisfacción del equipo de diseño: indicador de integración cultural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Implementación — Sostenibilidad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Sostenibilidad del Programa a Largo Plazo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principal enemigo: la rotación de personal clave sin transferencia de conocimiento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Solución: documentación de procesos, base de datos de estudios y lecciones aprendidas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Integración en normativas internas: el programa sobrevive al cambio de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Presupuesto propio: no depender de financiamiento variable o discrecional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Red de practicantes: comunidad interna que se apoya y retroalimenta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Conexión con SAVE International o capítulo local para actualización técnica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Auditorías externas periódicas para mantener rigor metodológico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Implementación — LATAM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IV en América Latina: Avances y Retos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Países líderes: México (más maduro), Brasil, Colombia, Chile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Impulsores: Ministerios de Transporte, Bancos de Desarrollo, BIRF, BID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México: SAVE México activa, programa en SCT para carreteras federales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Brasil: programa en DNIT (carreteras) y CODEVASF (recursos hídricos)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Barreras principales: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Pocos CVS certificados (&lt; 200 en toda LATAM vs. miles en EE.UU.)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Resistencia cultural: 'ya tenemos el diseño, ¿para qué cambiarlo?'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Falta de cláusulas contractuales de IV en licitaciones públicas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Implementación — Obstáculos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Obstáculos Frecuentes en la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Resistencia del equipo de diseño original: perciben IV como cuestionamiento 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Solución: encuadrar la IV como mejora colaborativa, no como auditoría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Falta de tiempo en el cronograma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Solución: programar el estudio en la fase de diseño esquemático desde el inicio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Presupuesto insuficiente para el estudio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Solución: demostrar con casos previos que el estudio se paga a sí mismo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Falta de seguimiento a propuestas generadas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490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Solución: asignar responsables y fechas en el informe final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097280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472C4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Tendencias y Futuro de la IV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Tendencias —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IV en la Era Digital: BIM e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BIM + IV: análisis funcional sobre el modelo 3D — visualización inmediata de alternativas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Estimación de costos automatizada: reducción del tiempo de análisis en 60–70%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Simulación de LCC: comparación de alternativas en tiempo real con Monte Carlo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IA generativa: asiste en la fase de especulación generando alternativas preliminares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Machine learning: identifica patrones de valor en proyectos históricos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Plataformas colaborativas: equipos de IV remotos con herramientas digitales compartidas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El futuro: IV aumentada con IA, no reemplazada — el juicio humano sigue siendo central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Tendencias — Educación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Educación y Certificación: El Capital Humano de la 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SAVE International: el organismo global con capítulos en 20+ países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Universidades líderes: MIT, Purdue, Virginia Tech (EE.UU.); UNAM, IPN (México)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Ruta de certificación SAVE: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AVS: 40h educación + 1 estudio de campo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CVS: 80h educación + 2 estudios documentados + examen 4 horas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FSAVE: Fellow of SAVE — máximo reconocimiento, por contribución a la disciplina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Premio Lawrence Miles: otorgado anualmente al profesional más destacado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Tendencias — Privado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IV en el Sector Privado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Proyectos industriales: plantas de manufactura, refinería, minería — ROI de 15–40%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Desarrollos inmobiliarios: optimización de tipología, sistemas y especificaciones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Infraestructura concesionada: APP (Asociaciones Público-Privadas) aplican IV en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Ventaja competitiva: empresas que aplican IV sistemáticamente ganan más licitaciones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Sectores con mayor adopción privada: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Petroquímica y energía (alto costo de inversión justifica el estudio)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Manufactura automotriz (herencia directa del origen industrial de la IV)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Tendencias — Integración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Integración con Otras Metodologías Modernas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+ Lean Construction: eliminar desperdicios + maximizar valor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+ Six Sigma: reducir variabilidad del proceso + optimizar funciones del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+ Análisis de Riesgo: cuantificar incertidumbre en alternativas evaluadas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+ BIM: visualización 3D + análisis funcional + estimación integrada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+ Sostenibilidad: optimizar funciones ambientales al menor impacto/costo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+ Agile/Scrum: aplicación iterativa en proyectos de tecnología y sistemas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 IV no compite — se potencia cuando se combina con otras metodologías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Tendencias — Futuro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El Futuro de la Ingeniería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Tendencia 1: Digitalización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IA y BIM como aceleradores del análisis funcional y de alternativas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Tendencia 2: Sostenibilidad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IV aplicada a funciones ambientales: huella de carbono, agua, biodiversidad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Tendencia 3: Democratización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Herramientas digitales llevan la IV a proyectos de menor escala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Calibri"/>
              </a:rPr>
              <a:t>Tendencia 4: Globalización del conocimiento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Redes internacionales de practicantes → base de datos global de soluciones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" cy="5852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libri"/>
              </a:rPr>
              <a:t>Conclusiones: El Caso para la Ingeniería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La IV es una INVERSIÓN con ROI de 20:1 promedio — no un gasto 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Funciona mejor cuando se aplica TEMPRANO — en diseño, no en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Requiere equipo MULTIDISCIPLINARIO con coordinador calificado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Sus resultados deben MEDIRSE y COMUNICARSE para sostener el programa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No es exclusiva de grandes proyectos — se adapta al contexto y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En LATAM hay una oportunidad enorme con pocos profesionales especializados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Es una de las herramientas de mayor retorno disponibles para gestores de proyectos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¡Gracias por su Atención!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9BD5"/>
                </a:solidFill>
                <a:latin typeface="Calibri"/>
              </a:rPr>
              <a:t>La IV no es solo una metodología — es una forma de pensar orientada al valor que transforma cómo diseñamos y construimos.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