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88952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2743200" cy="2743200"/>
          </a:xfrm>
          <a:prstGeom prst="ellipse">
            <a:avLst/>
          </a:prstGeom>
          <a:noFill/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182880"/>
            <a:ext cx="3200400" cy="3200400"/>
          </a:xfrm>
          <a:prstGeom prst="ellipse">
            <a:avLst/>
          </a:prstGeom>
          <a:noFill/>
          <a:ln w="11429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-91439"/>
            <a:ext cx="3657600" cy="3657600"/>
          </a:xfrm>
          <a:prstGeom prst="ellipse">
            <a:avLst/>
          </a:prstGeom>
          <a:noFill/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INGENIERÍA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Maximizando el valor en proyectos de infraestructura y construcción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18096"/>
                </a:solidFill>
                <a:latin typeface="Calibri"/>
              </a:rPr>
              <a:t>Metodología sistemática · Plan de Trabajo VE · Aplicaciones LATAM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411480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VALOR = FUNCIÓN / COSTO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Agenda — 7 Secciones Temáticas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15568"/>
            <a:ext cx="2834640" cy="1234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1556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72C4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Historia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Origen GE 1947 · Miles · DoD · Expansión global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15568"/>
            <a:ext cx="2834640" cy="12344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111556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546A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Fundamentos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Función · Costo · Valor · LCC · FAST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115568"/>
            <a:ext cx="2834640" cy="1234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11556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72C4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Plan de Trabajo VE · 8 Fases · Índice de 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4" y="1115568"/>
            <a:ext cx="2834640" cy="1234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111556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0AD47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463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Equipo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1965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Composición · Coordinador · CVS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532888"/>
            <a:ext cx="2834640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253288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2532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2880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Aplicaciones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Construcción · Vías · Puentes · VECP · Casos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18688" y="2532888"/>
            <a:ext cx="2834640" cy="1234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18688" y="253288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8688" y="2532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9BD5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8688" y="2880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Implementación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688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Programa · Métricas · ROI · LATAM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2532888"/>
            <a:ext cx="2834640" cy="1234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08776" y="2532888"/>
            <a:ext cx="2834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25328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6" y="2880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Tendencias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08776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F7FA"/>
                </a:solidFill>
                <a:latin typeface="Calibri"/>
              </a:rPr>
              <a:t>BIM · IA · Sostenibilidad ·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¿Qué es la Ingeniería de Valor?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11612880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2344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4546A"/>
                </a:solidFill>
                <a:latin typeface="Calibri"/>
              </a:rPr>
              <a:t>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234440"/>
            <a:ext cx="640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472C4"/>
                </a:solidFill>
                <a:latin typeface="Calibri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AD47"/>
                </a:solidFill>
                <a:latin typeface="Calibri"/>
              </a:rPr>
              <a:t>FUNCIÓN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64208"/>
            <a:ext cx="2743200" cy="3657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7099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D7D31"/>
                </a:solidFill>
                <a:latin typeface="Calibri"/>
              </a:rPr>
              <a:t>COSTO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3716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→ Mayor valor = misma función a menor costo, O mejor función al mismo costo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97480"/>
            <a:ext cx="374903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697480"/>
            <a:ext cx="3749039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715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📐 SISTEMÁTICA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45536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Proceso estructurado en 8 fases con herramientas probadas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2697480"/>
            <a:ext cx="374903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2697480"/>
            <a:ext cx="3749039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2715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🔍 FUNCIONAL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3145536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Analiza QUÉ hace cada elemento, no cómo está construido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697480"/>
            <a:ext cx="3749039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697480"/>
            <a:ext cx="3749039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715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💡 CREATIVA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45536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Genera alternativas innovadoras para cumplir las funciones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" y="4334255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20624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No es recorte de gastos — es optimización de la función al menor costo posible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" y="470001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457200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Desarrollada por Lawrence D. Miles en GE (1947) · Estándar mundial en 50+ países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" y="506577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493776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ROI promedio 20:1 · Obligatoria en contratos federales EE.UU. &gt; US$5M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Introducción —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La IV en Cifras: Resultados Documentados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3749039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3749039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887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72C4"/>
                </a:solidFill>
                <a:latin typeface="Calibri"/>
              </a:rPr>
              <a:t>10–40%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103120"/>
            <a:ext cx="37490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Reducción de costos
en proyectos típicos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749039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749039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887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7D31"/>
                </a:solidFill>
                <a:latin typeface="Calibri"/>
              </a:rPr>
              <a:t>20:1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03120"/>
            <a:ext cx="37490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ROI promedio
documentado globalmente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097280"/>
            <a:ext cx="3749039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97280"/>
            <a:ext cx="3749039" cy="731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18872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546A"/>
                </a:solidFill>
                <a:latin typeface="Calibri"/>
              </a:rPr>
              <a:t>US$140B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03120"/>
            <a:ext cx="37490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Ahorros del DoD
EE.UU. en 70 años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108960"/>
            <a:ext cx="3749039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108960"/>
            <a:ext cx="3749039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32004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0AD47"/>
                </a:solidFill>
                <a:latin typeface="Calibri"/>
              </a:rPr>
              <a:t>50+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4114800"/>
            <a:ext cx="37490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Países con programas
activos de 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108960"/>
            <a:ext cx="3749039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108960"/>
            <a:ext cx="3749039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2004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B9BD5"/>
                </a:solidFill>
                <a:latin typeface="Calibri"/>
              </a:rPr>
              <a:t>3–5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14800"/>
            <a:ext cx="37490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Días por taller VE
(proceso intensivo)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108960"/>
            <a:ext cx="3749039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108960"/>
            <a:ext cx="3749039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2004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000"/>
                </a:solidFill>
                <a:latin typeface="Calibri"/>
              </a:rPr>
              <a:t>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114800"/>
            <a:ext cx="37490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Herramienta de mayor
ROI en gestión proyectos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4472C4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HISTORIA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De una crisis de posguerra a estándar mundial en 50+ países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Historia — Origen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General Electric 1947: El Nacimiento de una Metodología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114300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834640"/>
            <a:ext cx="201168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1947
Miles en GE
Crea el método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834640"/>
            <a:ext cx="201168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3246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1952
Primeras
aplicaciones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834640"/>
            <a:ext cx="201168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246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1954
DoD adopta
formalmente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834640"/>
            <a:ext cx="201168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246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1959
Funda SAVE
International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2834640"/>
            <a:ext cx="201168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2461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1961
Publica el libro
fundamental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0515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051560"/>
            <a:ext cx="539496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0607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🔴  CRISIS: LA SITUACIÓN EN GE (1947)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152704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1399032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Posguerra: escasez crítica de materiales y mano de obra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189280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1764792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Plazos imposibles, proveedores sin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225856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130552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GE necesitaba soluciones urgentes y económicas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051560"/>
            <a:ext cx="5852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051560"/>
            <a:ext cx="5852160" cy="3200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106070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🟢  SOLUCIÓN: EL ENFOQUE DE MILES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52704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1399032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Pregunta clave: "¿Qué FUNCIÓN cumple este componente?"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189280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764792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"¿Cómo logramos ESA función de otra forma?"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225856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2130552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Los sustitutos a menudo superaban a los originales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2519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546A"/>
                </a:solidFill>
                <a:latin typeface="Calibri"/>
              </a:rPr>
              <a:t>💡 El "accidente" se convirtió en la metodología de mayor ROI en la historia de la gestión de proyectos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Historia — Fundador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Lawrence D. Miles: El Padre de la Ingeniería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657600" cy="53949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L.D.
MILES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9BD5"/>
                </a:solidFill>
                <a:latin typeface="Calibri"/>
              </a:rPr>
              <a:t>1904 – 1985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2062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F7FA"/>
                </a:solidFill>
                <a:latin typeface="Calibri"/>
              </a:rPr>
              <a:t>Ingeniero de Compras
General Electric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029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C000"/>
                </a:solidFill>
                <a:latin typeface="Calibri"/>
              </a:rPr>
              <a:t>"Value Analysis
Father"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61288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097280"/>
            <a:ext cx="7571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Su Legado Técnico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59105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1463040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Desarrolló el Análisis de Valor en GE (1947–1952)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6" y="195681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1" y="1828800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Formalizó el concepto de FUNCIÓN como eje del análisis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32257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1" y="2194560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Creó el método de identificación verbo-sustantivo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697479"/>
            <a:ext cx="7680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916935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2852927"/>
            <a:ext cx="7571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Sus Publicaciones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334670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3218687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Techniques of Value Analysis and Engineering (1961)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71246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1" y="3584447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Referencia fundamental usada 60+ años después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087368"/>
            <a:ext cx="7680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4306824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4242816"/>
            <a:ext cx="7571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Su Impacto Institucional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4736592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1" y="4608576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1954: DoD adopta su metodología formalmente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42816" y="5102352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1" y="4974336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1959: Co-funda SAVE International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5468112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1" y="5340096"/>
            <a:ext cx="75163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Premio Lawrence Miles: máximo honor en la disciplina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Historia — Expansión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De la Manufactura al Mundo: Expansión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3749039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1940s–50s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5087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EE.UU.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9385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Manufactura y Defensa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31343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🏭 GE · DoD · Boeing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5384" y="1097280"/>
            <a:ext cx="3749039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4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1960s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15087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Construcción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19385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Infraestructura pública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31343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🏗️ Hospitales · Carreteras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8" y="1097280"/>
            <a:ext cx="3749039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1970s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5087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Europa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19385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UK · Alemania · Francia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231343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🌍 CIVE · VDI · AFAV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3703320"/>
            <a:ext cx="3749039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1980s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Asia-Pacífico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4544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Japón lidera Asia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91947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🌏 SJVE · KVEA · Mandatoria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5384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15384" y="3703320"/>
            <a:ext cx="3749039" cy="3840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15384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1990s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5384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Normas globales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5384" y="4544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ISO · Regulaciones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491947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📋 ISO 13407 · FAR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02168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02168" y="3703320"/>
            <a:ext cx="3749039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2168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2000s+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4114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LATAM y Mundo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45445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BID · Banco Mundial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491947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🌎 México · Brasil · Colombia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Historia — DoD EE.UU.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La IV en el Departamento de Defensa: 70 Años de Resultados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4747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474720" cy="7315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546A"/>
                </a:solidFill>
                <a:latin typeface="Calibri"/>
              </a:rPr>
              <a:t>US$140B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3474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Ahorros totales
1954–2024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097280"/>
            <a:ext cx="34747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1097280"/>
            <a:ext cx="3474720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72C4"/>
                </a:solidFill>
                <a:latin typeface="Calibri"/>
              </a:rPr>
              <a:t>US$5M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03120"/>
            <a:ext cx="3474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Umbral obligatorio
cont. federales (1996)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097280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097280"/>
            <a:ext cx="411480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1887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7D31"/>
                </a:solidFill>
                <a:latin typeface="Calibri"/>
              </a:rPr>
              <a:t>20:1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103120"/>
            <a:ext cx="4114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ROI promedio
programa DoD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27248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063240"/>
            <a:ext cx="1150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Marco Legal y Normativo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" y="355701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42900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1954: DoD Policy — Ingeniería de Valor como política oficial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" y="392277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379476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1962: FAR (Federal Acquisition Regulation) — cláusulas de IV en contratos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428853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16052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1996: Public Law 104-106 — obligatoria en contratos &gt; US$5M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" y="465429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52628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Manual DoD 4245.8-H: guía técnica oficial para aplicación en proyectos de defensa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29200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248656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184648"/>
            <a:ext cx="1150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VECP: El Mecanismo de Incentivo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" y="5678424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5550408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Contratistas proponen cambios y comparten ahorros 50/50 con el gobierno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" y="6044184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5916168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Los mejores contratistas generan millones en propuestas VECP por proyecto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Historia — Construcción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La Curva del Impacto: Cuándo Aplicar la IV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7498079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  <a:latin typeface="Calibri"/>
              </a:rPr>
              <a:t>Capacidad de influir en el costo final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868680" cy="3703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0AD47"/>
                </a:solidFill>
                <a:latin typeface="Calibr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Concepto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4248" y="2446020"/>
            <a:ext cx="868680" cy="30861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4248" y="20802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0AD47"/>
                </a:solidFill>
                <a:latin typeface="Calibri"/>
              </a:rP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557784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Diseño
Esquemático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5536" y="3474720"/>
            <a:ext cx="868680" cy="2057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31089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000"/>
                </a:solidFill>
                <a:latin typeface="Calibri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557784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Diseño
Preliminar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4297680"/>
            <a:ext cx="868680" cy="123443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393192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D7D31"/>
                </a:solidFill>
                <a:latin typeface="Calibri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557784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Diseño
Final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8112" y="5120640"/>
            <a:ext cx="8686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4754879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D7D31"/>
                </a:solidFill>
                <a:latin typeface="Calibri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557784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Construcción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5408676"/>
            <a:ext cx="868680" cy="1234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0429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0000"/>
                </a:solidFill>
                <a:latin typeface="Calibri"/>
              </a:rPr>
              <a:t>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577840"/>
            <a:ext cx="868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Operación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051560"/>
            <a:ext cx="384048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051560"/>
            <a:ext cx="384048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06070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APLICAR EN FASE TEMPRANA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5" y="1554480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1426464"/>
            <a:ext cx="358444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80% del costo se define antes del diseño final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5" y="1920240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1792224"/>
            <a:ext cx="358444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Cada $1 invertido en IV temprana → $20+ en ahorros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5" y="2286000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1" y="2157984"/>
            <a:ext cx="358444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Fase óptima: diseño esquemático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3611880"/>
            <a:ext cx="384048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611880"/>
            <a:ext cx="3840480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3621024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⚠️ APLICACIÓN TARDÍA (VECP)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0455" y="4114800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1" y="3986784"/>
            <a:ext cx="358444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Durante construcción: solo vía VECP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0455" y="4480560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1" y="4352544"/>
            <a:ext cx="358444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Impacto limitado al 10–30% del costo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0455" y="4846320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1" y="4718304"/>
            <a:ext cx="3584447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Aún válido — pero menos potente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ED7D31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Función · Costo · Valor — Los tres pilares de la metodología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Fundamentos — Pilares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Los Tres Pilares: Función · Costo ·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698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📐 FUNCIÓN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4447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Lo que el elemento HACE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5" y="202996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90195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Se expresa como VERBO + SUSTANTIVO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5" y="239572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26771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"Soportar carga" / "Conducir fluido"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5" y="276148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63347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Básica (razón de ser) o Secundaria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5" y="312724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299923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El QUÉ, nunca el CÓMO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4" y="1051560"/>
            <a:ext cx="3749039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15384" y="1051560"/>
            <a:ext cx="3749039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4" y="10698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💰 COSTO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4" y="14447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Lo que se paga por lograrlo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029968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190195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Costo actual de la alternativa elegida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395728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226771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Incluye todo el ciclo de vida (LCC)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2761488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263347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Comparado con el Costo Mínimo Teórico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127248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416" y="299923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Base del Índice de Valor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02168" y="1051560"/>
            <a:ext cx="3749039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02168" y="1051560"/>
            <a:ext cx="3749039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10698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⭐ VALOR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14447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La relación entre ambos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0183" y="202996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190195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VALOR = FUNCIÓN / COSTO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0183" y="239572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26771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Valor &gt; 1: función supera el costo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0183" y="276148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63347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Valor &lt; 1: función cuesta MÁS de lo que vale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0183" y="312724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299923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El objetivo es MAXIMIZAR el valor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Fundamentos — Funciones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Clasificación de Funciones: Básica vs. Secundaria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39496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39496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69848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✅ FUNCIÓN BÁSICA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70078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72768"/>
            <a:ext cx="48646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Razón de ser del elemento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06654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38528"/>
            <a:ext cx="48646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Sin ella el producto no tiene sentido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43230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04288"/>
            <a:ext cx="48646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NUNCA se elimina en el proceso de IV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07208"/>
            <a:ext cx="5029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26663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62656"/>
            <a:ext cx="4919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Ejemplos reales: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2841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70AD47"/>
                </a:solidFill>
                <a:latin typeface="Calibri"/>
              </a:rPr>
              <a:t>Puente → "Cruzar obstáculo"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30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70AD47"/>
                </a:solidFill>
                <a:latin typeface="Calibri"/>
              </a:rPr>
              <a:t>Tubería → "Conducir fluido"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70AD47"/>
                </a:solidFill>
                <a:latin typeface="Calibri"/>
              </a:rPr>
              <a:t>Columna → "Soportar carga"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33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70AD47"/>
                </a:solidFill>
                <a:latin typeface="Calibri"/>
              </a:rPr>
              <a:t>Ventana → "Transmitir luz"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72584"/>
            <a:ext cx="5029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" y="495604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828032"/>
            <a:ext cx="48646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Recibe la mayor parte del presupuesto justificado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051560"/>
            <a:ext cx="594360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1051560"/>
            <a:ext cx="59436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069848"/>
            <a:ext cx="5943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⚡ FUNCIONES SECUNDARIAS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170078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1572768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Apoyan la función básica (F.S. de uso)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206654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1938528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Satisfacen deseos del usuario (F.S. estéticas)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243230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304288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PUEDEN ser eliminadas o reducidas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807208"/>
            <a:ext cx="55778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026663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2962656"/>
            <a:ext cx="5468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Tipos de funciones secundarias: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328415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D7D31"/>
                </a:solidFill>
                <a:latin typeface="Calibri"/>
              </a:rPr>
              <a:t>De uso → apoyo funcional requerido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6301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D7D31"/>
                </a:solidFill>
                <a:latin typeface="Calibri"/>
              </a:rPr>
              <a:t>Estéticas → apariencia, percepción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3192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ED7D31"/>
                </a:solidFill>
                <a:latin typeface="Calibri"/>
              </a:rPr>
              <a:t>No deseadas → costo sin beneficio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370832"/>
            <a:ext cx="55778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3056" y="465429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4526280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💡 Aquí está el MAYOR POTENCIAL de ahorro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3056" y="502005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4892040"/>
            <a:ext cx="54132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Son el objetivo principal del análisis IV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Fundamentos —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Los Cuatro Tipos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457200" cy="2423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  <a:latin typeface="Calibri"/>
              </a:rPr>
              <a:t>🔧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Calibri"/>
              </a:rPr>
              <a:t>Propiedades para cumplir la función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Tangible, medible, objetivo.
Ej: resistencia de un puente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72C4"/>
                </a:solidFill>
                <a:latin typeface="Calibri"/>
              </a:rPr>
              <a:t>★★★★★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9728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97280"/>
            <a:ext cx="457200" cy="24231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  <a:latin typeface="Calibri"/>
              </a:rPr>
              <a:t>✨ ESTÉTICO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Calibri"/>
              </a:rPr>
              <a:t>Apariencia, prestigio, percepción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Varía por usuario y contexto.
Ej: diseño arquitectónico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9BD5"/>
                </a:solidFill>
                <a:latin typeface="Calibri"/>
              </a:rPr>
              <a:t>★★★☆☆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70332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703320"/>
            <a:ext cx="457200" cy="2423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947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  <a:latin typeface="Calibri"/>
              </a:rPr>
              <a:t>💱 INTERCAMBIO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Calibri"/>
              </a:rPr>
              <a:t>Precio justo de mercado (FMV)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Referencia objetiva del valor
justo de mercado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D47"/>
                </a:solidFill>
                <a:latin typeface="Calibri"/>
              </a:rPr>
              <a:t>★★★☆☆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70332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03320"/>
            <a:ext cx="457200" cy="2423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7947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4546A"/>
                </a:solidFill>
                <a:latin typeface="Calibri"/>
              </a:rPr>
              <a:t>💰 COSTO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206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Calibri"/>
              </a:rPr>
              <a:t>Lo que realmente se está pagando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572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Si C.costo &gt;&gt; V.uso:
¡OPORTUNIDAD DE IV!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623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7D31"/>
                </a:solidFill>
                <a:latin typeface="Calibri"/>
              </a:rPr>
              <a:t>★★☆☆☆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Fundamentos — LCC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Costo del Ciclo de Vida: La Visión Completa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11612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4546A"/>
                </a:solidFill>
                <a:latin typeface="Calibri"/>
              </a:rPr>
              <a:t>LCC = Costo Inicial  +  VPN(Operación)  +  VPN(Mantenimiento)  +  VPN(Disposición)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288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46A"/>
                </a:solidFill>
                <a:latin typeface="Calibri"/>
              </a:rPr>
              <a:t>Comparación de Alternativas en LCC (30 años)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216151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Costo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2286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Calibri"/>
              </a:rPr>
              <a:t>$35k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972921" cy="4114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Operación VPN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1561" y="2926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9BD5"/>
                </a:solidFill>
                <a:latin typeface="Calibri"/>
              </a:rPr>
              <a:t>$28k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285646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Mantenim. VPN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4286" y="35661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AD47"/>
                </a:solidFill>
                <a:latin typeface="Calibri"/>
              </a:rPr>
              <a:t>$37k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OPCIÓN A: Costo Inicial $100k → LCC $350k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1598371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Costo Inicial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7011" y="3474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Calibri"/>
              </a:rPr>
              <a:t>$46k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59"/>
            <a:ext cx="868680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Operación VPN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233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9BD5"/>
                </a:solidFill>
                <a:latin typeface="Calibri"/>
              </a:rPr>
              <a:t>$25k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625449" cy="365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Mantenim. VPN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4089" y="4572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AD47"/>
                </a:solidFill>
                <a:latin typeface="Calibri"/>
              </a:rPr>
              <a:t>$18k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AD47"/>
                </a:solidFill>
                <a:latin typeface="Calibri"/>
              </a:rPr>
              <a:t>OPCIÓN B: Costo Inicial $130k → LCC $280k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828800"/>
            <a:ext cx="56692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828800"/>
            <a:ext cx="566928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837943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💡 LA LECCIÓN DEL LCC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234086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221284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Opción B ahorra $70k aunque cuesta $30k más al inicio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270662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257860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El costo inicial es solo UNA PARTE de la historia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081527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3300983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236975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Componentes del LCC: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4496" y="3730751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3602735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Diseño y construcción (inversión inicial)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4496" y="4096511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3968496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Energía y servicios (operación anual)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54496" y="4462272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4334256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Reparaciones y reemplazos (mantenimiento)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4828032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700016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Desmantelamiento o reconversión (disposición)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5202936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5486400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5358384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La IV siempre evalúa en base a LCC, no solo costo inicial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Fundamentos — Aclaración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Lo que NO es la Ingeniería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347472" cy="1691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❌ Recorte de costos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6002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La IV no recorta arbitrariamente. Analiza funciones y busca alternativas equivalentes o mejores al menor costo. Nunca sacrifica calidad.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347472" cy="1691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188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❌ Buzón de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16002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Requiere un taller formal estructurado con un equipo certificado, metodología definida y análisis funcional riguroso.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260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926080"/>
            <a:ext cx="347472" cy="1691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❌ Revisión de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290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La revisión busca errores. La IV cuestiona si el diseño logra las funciones de la manera más eficiente — cuestionamiento más profundo.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347472" cy="1691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017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❌ Para todo proyecto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34290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Tiene su propio costo. No es eficiente en proyectos pequeños donde la relación costo/beneficio del estudio no se justifica.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7548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754880"/>
            <a:ext cx="347472" cy="1691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846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❌ Cuestiona la necesidad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52578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La IV parte de que el proyecto es necesario. Optimiza CÓMO se logran las funciones, no SI el proyecto debe existir.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7548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754880"/>
            <a:ext cx="347472" cy="1691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846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✅ SÍ ES...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525780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Un proceso creativo, sistemático, orientado al VALOR, aplicado por un equipo multidisciplinario con metodología probada.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Fundamentos — Barreras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Obstáculos que Generan Costos Innecesarios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3749039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📊 Falta de información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Decisiones basadas en suposiciones y sentimientos por falta de tiempo para recopilar datos reales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4" y="1097280"/>
            <a:ext cx="3749039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🔄 Pensamiento habitual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1554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Aplicación rígida de estándares y tradiciones sin considerar cambios en tecnología o contexto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2168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2168" y="1097280"/>
            <a:ext cx="3749039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😰 Riesgo personal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5544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Comodidad de seguir lo establecido. "Nadie despide a quien siguió el manual anterior"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703320"/>
            <a:ext cx="3749039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🧠 Creencias erróneas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1605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Mala experiencia previa con materiales en contextos distintos. Generalización incorrecta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5384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15384" y="3703320"/>
            <a:ext cx="3749039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4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🤐 Renuencia a consultar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41605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Ego profesional impide admitir ignorancia en aspectos especializados. Oportunidades perdidas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8" y="3703320"/>
            <a:ext cx="3749039" cy="3840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📏 Sobre-especificación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1605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Costos crecen exponencialmente con tolerancias más estrechas de las funcionalmente necesarias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70AD47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Plan de Trabajo VE · 8 Fases · FAST · Índice de Valor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Visión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El Plan de Trabajo VE: 8 Fases Estructuradas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1417320" cy="19202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Orientación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4208" y="1051560"/>
            <a:ext cx="1417320" cy="1920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Información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5536" y="1051560"/>
            <a:ext cx="1417320" cy="19202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Análisis
Funcional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1051560"/>
            <a:ext cx="1417320" cy="1920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Especulación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8192" y="1051560"/>
            <a:ext cx="1417320" cy="192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8192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Evaluación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1051560"/>
            <a:ext cx="1417320" cy="1920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Desarrollo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70848" y="1051560"/>
            <a:ext cx="1417320" cy="1920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Presentación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42448" y="1572768"/>
            <a:ext cx="228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52176" y="1051560"/>
            <a:ext cx="1417320" cy="19202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52176" y="107899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1399031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Implementación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Selección y preparación del proyecto y equipo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4208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09928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Recopilación y análisis de toda la información disponible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45536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91256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Identificar, clasificar y costear TODAS las funciones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26864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72584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Generación masiva de ideas sin restricciones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08192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53912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Filtrar, combinar y seleccionar mejores propuestas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Elaborar propuestas con diseño y costo detallados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70848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16568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Presentar al propietario y obtener decisiones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52176" y="3063240"/>
            <a:ext cx="141732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97896" y="3108960"/>
            <a:ext cx="1325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D3748"/>
                </a:solidFill>
                <a:latin typeface="Calibri"/>
              </a:rPr>
              <a:t>Incorporar cambios, seguimiento y auditoría post-obra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El Diagrama FAST: Mapa Lógico de Funciones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143000"/>
            <a:ext cx="36576" cy="52120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0" y="1143000"/>
            <a:ext cx="36576" cy="52120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46A"/>
                </a:solidFill>
                <a:latin typeface="Calibri"/>
              </a:rPr>
              <a:t>← ALCANCE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72C4"/>
                </a:solidFill>
                <a:latin typeface="Calibri"/>
              </a:rPr>
              <a:t>← ¿POR QUÉ?  (función de orden superior)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72C4"/>
                </a:solidFill>
                <a:latin typeface="Calibri"/>
              </a:rPr>
              <a:t>¿CÓMO? → (funciones de apoyo)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651760"/>
            <a:ext cx="1645920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670048"/>
            <a:ext cx="1645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CRUZAR
OBSTÁCULO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443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65176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670048"/>
            <a:ext cx="1645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SOPORTAR
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443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651760"/>
            <a:ext cx="1645920" cy="914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670048"/>
            <a:ext cx="1645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DISTRIBUIR
FUERZAS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9443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51760"/>
            <a:ext cx="1645920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670048"/>
            <a:ext cx="1645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RESISTIR
CORROSIÓN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9443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651760"/>
            <a:ext cx="164592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670048"/>
            <a:ext cx="1645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PROTEGER
ESTRUCTURA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155448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15544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B9BD5"/>
                </a:solidFill>
                <a:latin typeface="Calibri"/>
              </a:rPr>
              <a:t>ABSORBER
VIBRACIÓN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2331720"/>
            <a:ext cx="36576" cy="3200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41148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11480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AD47"/>
                </a:solidFill>
                <a:latin typeface="Calibri"/>
              </a:rPr>
              <a:t>DRENAR
AGUA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79" y="2651760"/>
            <a:ext cx="36576" cy="3657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55448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55448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C000"/>
                </a:solidFill>
                <a:latin typeface="Calibri"/>
              </a:rPr>
              <a:t>SEÑALIZAR
RUTA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2331720"/>
            <a:ext cx="36576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754880"/>
            <a:ext cx="11430000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546A"/>
                </a:solidFill>
                <a:latin typeface="Calibri"/>
              </a:rPr>
              <a:t>📖 Cómo leer el diagrama FAST: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389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Eje horizontal izq→der: responde "¿CÓMO?" — descomposición funcional   |   Eje horizontal der→izq: responde "¿POR QUÉ?" — justificación   |   Eje vertical: funciones SIMULTÁNEAS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Índice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Costo por Función e Índice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128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4546A"/>
                </a:solidFill>
                <a:latin typeface="Calibri"/>
              </a:rPr>
              <a:t>ÍNDICE DE VALOR (IV) = Costo Mínimo Teórico (CMT) ÷ Costo Actual (CA)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743200" cy="1645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7451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IV &lt; 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9572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ALTA OPORTUNIDAD
Aqui se enfoca el equipo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3" y="1828800"/>
            <a:ext cx="2743200" cy="1645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3" y="187451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0.5–0.8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3" y="239572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OPORTUNIDAD MEDIA
Revisar alternativas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1828800"/>
            <a:ext cx="2743200" cy="1645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87451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0.8–1.0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39572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OPORTUNIDAD BAJA
Monitorear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1828800"/>
            <a:ext cx="2743200" cy="1645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87451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IV &gt; 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39572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VALOR ADECUADO
Función bien optimizada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11880"/>
            <a:ext cx="11612880" cy="3657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6301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Función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6301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Costo 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6301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301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Índice 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6301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Prioridad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23360"/>
            <a:ext cx="116128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0599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Soportar carga estructural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0599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$850,000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0599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$620,000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059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000"/>
                </a:solidFill>
                <a:latin typeface="Calibri"/>
              </a:rPr>
              <a:t>0.73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0599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000"/>
                </a:solidFill>
                <a:latin typeface="Calibri"/>
              </a:rPr>
              <a:t>MEDIA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498848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5354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Conducir tráfico vehicular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5354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$240,000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5354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$190,000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53542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000"/>
                </a:solidFill>
                <a:latin typeface="Calibri"/>
              </a:rPr>
              <a:t>0.79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5354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000"/>
                </a:solidFill>
                <a:latin typeface="Calibri"/>
              </a:rPr>
              <a:t>MEDIA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974336"/>
            <a:ext cx="116128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0109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Drenar aguas pluviales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0109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$180,000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50109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$45,000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0109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0.25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0109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ALTA 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49824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486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Señalizar carretera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486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$95,000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5486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$80,000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54864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0AD47"/>
                </a:solidFill>
                <a:latin typeface="Calibri"/>
              </a:rPr>
              <a:t>0.84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486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0AD47"/>
                </a:solidFill>
                <a:latin typeface="Calibri"/>
              </a:rPr>
              <a:t>BAJA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925312"/>
            <a:ext cx="116128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5961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Iluminar vía nocturna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59618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$320,000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03520" y="59618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748"/>
                </a:solidFill>
                <a:latin typeface="Calibri"/>
              </a:rPr>
              <a:t>$210,000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59618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000"/>
                </a:solidFill>
                <a:latin typeface="Calibri"/>
              </a:rPr>
              <a:t>0.66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9618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000"/>
                </a:solidFill>
                <a:latin typeface="Calibri"/>
              </a:rPr>
              <a:t>MEDIA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0: Orientación: Preparando el Terreno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Selección del Proyecto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Costo elevado o repetitivo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Potencial de ahorro &gt;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Diseño no definitivo aún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Suficiente información disponible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323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282695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21868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Reunión de Arranque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Presentación del proyecto al equipo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Definición de restricciones y normativas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Establecer criterios de evaluación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Formación del Equipo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Coordinador IV (obligatorio CVS)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Propietario / representante del cliente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Equipo de diseño original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68833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56032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Especialistas técnicos relevantes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305409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26079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Estimador de costos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42899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648455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358444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Logística del Taller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Agenda detallada (3–5 días)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Sala de trabajo dedicada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4809744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68172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Materiales y herramientas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Equipo listo, alcance definido, agenda aprobada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1: Información: Conociendo el Proyecto a Fondo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Presentación del Equipo de Diseño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Planos y especificaciones técnicas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Estimado de costos detallado por partida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Programa de obra y plazos clave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Restricciones del sitio y normativas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323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282695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21868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Análisis Crítico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¿Por qué se diseñó así?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¿Qué restricciones llevaron a esta solución?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¿Qué elementos tienen mayor costo relativo?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Modelo de Costos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Desglose por disciplinas: estructural, civil, MEP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% de cada partida sobre el total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Identificación de elementos de alto costo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69747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916935"/>
            <a:ext cx="36576" cy="20116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285292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Preguntas Clave del Equipo IV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37376" y="334670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21868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"¿Podría hacerse de otra manera?"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7376" y="371246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58444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"¿Esta especificación es necesaria?"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"¿Qué función cumple este elemento?"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Las preguntas incómodas generan el valor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Modelo de costos validado, funciones preliminares identificadas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2: Análisis Funcional: El Corazón de la IV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Identificación de Funciones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Verbo activo + sustantivo medible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Por cada elemento: ¿qué hace?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Básica (B) vs. Secundaria (S)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No deseadas (ND): costo sin beneficio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323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282695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21868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Construcción del FAST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Organizar funciones en jerarquía lógica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Identificar relaciones cómo/por qué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Validar con todo el equipo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Asignación de Costos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% de cada componente por función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Costo Asignado = Costo × % función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Estimación del Costo Mínimo Teórico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69747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916935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285292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Índice de Valor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37376" y="334670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21868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IV = CMT / CA (&lt; 1 = oportunidad)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7376" y="371246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58444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Priorizar funciones con IV &lt; 0.5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Estas son las candidatas a especulación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Documentar en matriz función-costo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FAST completo + matriz función-costo + candidatos priorizados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3: Especulación / Creatividad: Liberando el Potencial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Reglas de la Especulación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NO criticar — aplazar el juicio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Cantidad sobre calidad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Ideas descabelladas son bienvenidas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Combinar y mejorar ideas de otros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323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282695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21868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Preguntas Detonadoras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"¿Qué más podría hacer esta función?"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"¿Cómo lo haría la naturaleza?"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"¿Si el costo no importara, cómo sería?"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" y="480974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468172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"¿Qué haría el equipo contrario?"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Técnicas Principales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Lluvia de Ideas: 20–30 min, sin jerarquías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SCAMPER: Sustituir, Combinar, Adaptar...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Analogías Forzadas: naturaleza, biología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268833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56032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Listado de Atributos del diseño actual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06323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282695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321868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Meta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371246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58444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50–200 ideas por proyecto mediano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Todas escritas en visible para el equipo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Sin descarte durante la sesión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480974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468172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El moderador protege el proceso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100+ ideas generadas, todas documentadas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4: Evaluación: Seleccionando las Mejores Alternativas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Filtro 1: Viabilidad Básica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Eliminar inviables técnica o legalmente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Sin análisis profundo — intuición del equipo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Quedarse con el 50–60% de las ideas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69747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2916935"/>
            <a:ext cx="36576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285292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Filtro 2: Análisis con Criterios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" y="3346703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321868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Matriz de decisión ponderada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Criterios: técnica, costo, plazo, riesgo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Puntuación 1–5 por criterio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Seleccionar las 5–15 propuestas finalistas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Criterios de Evaluación Típicos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Factibilidad técnica (peso: 30%)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Impacto en costo (peso: 25%)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Impacto en plazo (peso: 20%)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68833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56032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Mantenibilidad en operación (peso: 15%)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3054096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26079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Riesgo de implementación (peso: 10%)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42899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648455"/>
            <a:ext cx="36576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358444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Resultado Esperado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5–15 propuestas para desarrollo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Ranking documentado con justificación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4809744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68172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Consenso del equipo en la selección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5–15 propuestas seleccionadas para desarrollo detallado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5: Desarrollo: Construyendo las Propuestas Sólidas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Contenido de Cada Propuesta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Descripción técnica completa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Comparación lado a lado con diseño original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Croquis o diseño preliminar ilustrativo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Estimado de costo detallado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" y="305409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2926079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Análisis de LCC si es relevante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42899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648455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358444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Análisis Técnico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Ventajas e implicaciones técnicas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Requisitos de implementación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" y="480974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468172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Permisos o estudios adicionales necesarios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Análisis Económico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Costo actual (diseño original)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Costo propuesto (alternativa IV)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Ahorro estimado bruto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7376" y="268833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56032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Costo adicional de implementación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7376" y="305409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2926079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Ahorro neto = bruto − implementación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7376" y="341985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3291839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ROI de la propuesta específica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79475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014215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395020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Gestión del Riesgo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Identificar 3 principales riesgos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480974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468172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Probabilidad e impacto por riesgo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37376" y="517550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504748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Plan de mitigación por riesgo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Propuestas documentadas con suficiente detalle para decisión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6: Presentación: Comunicando el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Estructura del Informe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Resumen ejecutivo (1 pág): ahorro total + 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Ficha técnica por cada propuesta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Tabla comparativa de todas las propuestas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Análisis de riesgo consolidado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323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282695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21868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La Presentación Formal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2–4 horas con propietario y tomadores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Equipo IV presenta cada propuesta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Discusión técnica por propuesta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" y="4809744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468172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El equipo de diseño puede comentar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Decisiones del Propietario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✅ Aceptada: se incorpora al diseño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🔄 Aceptada con modificaciones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❌ Rechazada: debe justificarse por escrito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69747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916935"/>
            <a:ext cx="36576" cy="20116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285292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Documentación Final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7376" y="334670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21868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Acta de decisiones firmada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371246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58444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Lista de propuestas con estatus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Compromisos de implementación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Ahorros proyectados documentados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4809744"/>
            <a:ext cx="54864" cy="5486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468172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Informe final del estudio 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Informe final aprobado + decisiones documentadas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Metodología — Fase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Fase 7: Implementación y Auditoría: Cerrando el Ciclo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" cy="5394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0160"/>
            <a:ext cx="502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61288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09728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Proceso de Implementación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159105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46304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Responsable asignado por cada propuesta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" y="195681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182880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Incorporación formal al diseño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" y="232257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19456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Seguimiento de cambios en planos y specs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" y="268833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2560320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Verificación de costos reales vs. proyectados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063239"/>
            <a:ext cx="5303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282695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218687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Durante la Construcción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" y="371246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58444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Supervisar que los cambios se ejecuten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" y="407822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" y="3950207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Documentar cualquier ajuste a las propuestas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" y="444398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315968"/>
            <a:ext cx="5138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Registro de ahorros parciales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161288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097280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Auditoría Post-Construcción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7376" y="159105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46304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Realizada 12–24 meses después del inicio de obra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7376" y="195681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82880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¿Se implementaron todas las propuestas aceptadas?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7376" y="232257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219456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¿Los ahorros proyectados se materializaron?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688336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560320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Diferencias entre proyectado y real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063239"/>
            <a:ext cx="5486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282695"/>
            <a:ext cx="36576" cy="20116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218687"/>
            <a:ext cx="5376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Lecciones Aprendidas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37376" y="371246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58444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Documentar para futuros estudios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407822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950207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Retroalimentar al equipo de diseño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4443983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31596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Actualizar la base de datos institucional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4809744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2" y="4681728"/>
            <a:ext cx="5321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Mejorar el proceso en el próximo estudio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126480"/>
            <a:ext cx="1161288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14476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✅ Resultado: Ahorros verificados + lecciones documentadas + ciclo completo cerrado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5B9BD5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EQUIPO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Composición · Coordinador · Dinámica · Certificación CVS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Equipo — Composición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El Equipo Multidisciplinario: Cada Rol Importa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3749039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🎯 COORDINADOR 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508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Certificado CVS / AVS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901952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Lidera el proceso metodológico
Facilita el taller · Asegura calidad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4" y="1097280"/>
            <a:ext cx="3749039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4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🏛️ PROPIETARIO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508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Cliente / Contratante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1901952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Toma decisiones de inversión
Define objetivos y restricciones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2168" y="109728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8" y="1097280"/>
            <a:ext cx="3749039" cy="3840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1064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📐 EQUIPO 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508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Arquitectos e Ingenieros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1901952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Presenta el proyecto
Conoce las restricciones técnicas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703320"/>
            <a:ext cx="3749039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⚙️ ESPECIALISTAS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114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Por disciplina requerida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4507992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Structural · Hidráulico · MEP
Geotécnico · Ambiental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4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4" y="3703320"/>
            <a:ext cx="3749039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5384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💰 ESTIMADOR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5384" y="4114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Costos / Presupuestos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4507992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Análisis económico de alternativas
LCC · Costos de implementación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2168" y="3703320"/>
            <a:ext cx="3749039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2168" y="3703320"/>
            <a:ext cx="3749039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2168" y="37124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🔨 CONSTRUCTOR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4114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Superintendente experto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8" y="4507992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Valida factibilidad constructiva
Identifica oportunidades en campo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Equipo — Certificación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Certificación CVS: El Estándar Internacional SAVE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0" cy="53949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C000"/>
                </a:solidFill>
                <a:latin typeface="Calibri"/>
              </a:rPr>
              <a:t>CVS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017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Certified
Value Specialist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B9BD5"/>
                </a:solidFill>
                <a:latin typeface="Calibri"/>
              </a:rPr>
              <a:t>SAVE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572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  <a:latin typeface="Calibri"/>
              </a:rPr>
              <a:t>El estándar global
de la profesión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161288"/>
            <a:ext cx="36576" cy="201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1097280"/>
            <a:ext cx="6199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Niveles de Certificación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46304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FC000"/>
                </a:solidFill>
                <a:latin typeface="Calibri"/>
              </a:rPr>
              <a:t>AVS — Associate Value Specialist (nivel inicial)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4416" y="189280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1" y="176479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Formación: 40 horas de educación formal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4416" y="225856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1" y="213055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Experiencia: participación en mínimo 1 estudio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633472"/>
            <a:ext cx="6309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78892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FC000"/>
                </a:solidFill>
                <a:latin typeface="Calibri"/>
              </a:rPr>
              <a:t>CVS — Certified Value Specialist (avanzado)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14416" y="321868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1" y="309067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Formación: 80 horas educación formal en 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14416" y="358444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431" y="345643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Experiencia: 2 estudios documentados con informes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416" y="3950207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1" y="3822191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Examen: prueba escrita de 4 horas (metodología + aplicación)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431596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2431" y="418795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Portafolio: revisado y aprobado por pares CVS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4690872"/>
            <a:ext cx="6309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4846320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FC000"/>
                </a:solidFill>
                <a:latin typeface="Calibri"/>
              </a:rPr>
              <a:t>FSAVE — Fellow of SAVE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14416" y="527608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2431" y="514807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Máximo reconocimiento por contribución a la disciplina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14416" y="5641848"/>
            <a:ext cx="54864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1" y="5513832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Premio Lawrence Miles: anual al profesional más destacado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ED7D31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APLICACIONES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Construcción · Vías · Puentes · Hidráulica · VECP · Casos de éxito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Aplicaciones — Sectores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Sectores de Aplicación y Ahorros Típicos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46A"/>
                </a:solidFill>
                <a:latin typeface="Calibri"/>
              </a:rPr>
              <a:t>% de ahorro típico logrado por sector (sobre costo de construcción)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417319"/>
            <a:ext cx="6400800" cy="5101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19"/>
            <a:ext cx="214884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Edificaciones públicas (hospitales, escuelas)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417319"/>
            <a:ext cx="45720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28%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79" y="2202180"/>
            <a:ext cx="5029200" cy="5101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02180"/>
            <a:ext cx="214884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Carreteras y puentes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02180"/>
            <a:ext cx="45720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22%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79" y="2987040"/>
            <a:ext cx="4572000" cy="5101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87040"/>
            <a:ext cx="214884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Infraestructura hidráulica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2987040"/>
            <a:ext cx="45720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79" y="3771900"/>
            <a:ext cx="5715000" cy="5101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771900"/>
            <a:ext cx="214884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Proyectos industriales y energía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771900"/>
            <a:ext cx="45720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79" y="4556760"/>
            <a:ext cx="8001000" cy="5101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556760"/>
            <a:ext cx="214884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Defensa y gobierno (DoD)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556760"/>
            <a:ext cx="45720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79" y="5341620"/>
            <a:ext cx="4114800" cy="5101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41620"/>
            <a:ext cx="214884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Transporte masivo y aeropuertos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399" y="5341620"/>
            <a:ext cx="457200" cy="510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18%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Aplicaciones —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Puente Las Lajas III, México: IV en Acción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029200" cy="53949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D3748"/>
                </a:solidFill>
                <a:latin typeface="Calibri"/>
              </a:rPr>
              <a:t>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PUENTE
LAS LAJAS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B9BD5"/>
                </a:solidFill>
                <a:latin typeface="Calibri"/>
              </a:rPr>
              <a:t>México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5F7FA"/>
                </a:solidFill>
                <a:latin typeface="Calibri"/>
              </a:rPr>
              <a:t>Caso documentado
Tesis UNAM 2012
Ing. Manuel Calzeta Valdés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93776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937760"/>
            <a:ext cx="219456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029200"/>
            <a:ext cx="219456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000"/>
                </a:solidFill>
                <a:latin typeface="Calibri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692140"/>
            <a:ext cx="2194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Reducción de
costo de construcción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93776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0" y="4937760"/>
            <a:ext cx="2194560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5029200"/>
            <a:ext cx="219456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0AD47"/>
                </a:solidFill>
                <a:latin typeface="Calibri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692140"/>
            <a:ext cx="2194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Mayor vida útil
estimada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161288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1097280"/>
            <a:ext cx="6199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Contexto del Proyecto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14416" y="159105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1" y="1463040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Puente carretero de mediana escala en México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195681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2431" y="1828800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Diseño original con alto potencial de optimización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14416" y="2322576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1" y="2194560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Estudio realizado durante fase de diseño final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697479"/>
            <a:ext cx="6309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2916935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87568" y="2852927"/>
            <a:ext cx="6199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Metodología Aplicada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14416" y="334670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42431" y="3218687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Equipo multidisciplinario (estructura, vías, costos)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14416" y="371246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1" y="3584447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Taller intensivo de 4 días + presentación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14416" y="407822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2431" y="3950207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Análisis FAST del sistema estructural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14416" y="4443983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1" y="4315968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Evaluación de 3 tipologías estructurales alternativas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4818888"/>
            <a:ext cx="6309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77840" y="5038344"/>
            <a:ext cx="36576" cy="20116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87568" y="4974336"/>
            <a:ext cx="6199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Propuestas Aceptadas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14416" y="5468112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42431" y="5340096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Cambio en tipología estructural → mayor eficiencia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4416" y="5833872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2431" y="5705856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Optimización del sistema de cimentación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14416" y="6199632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42431" y="6071616"/>
            <a:ext cx="61447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Reducción de secciones en elementos secundarios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6574536"/>
            <a:ext cx="6309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Aplicaciones — VECP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VECP: Value Engineering Change Proposal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1737360" cy="1554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9728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CONTRATISTA
identifica 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5544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051560"/>
            <a:ext cx="1737360" cy="15544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09728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Prepara y documenta
la propuesta VECP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544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051560"/>
            <a:ext cx="1737360" cy="1554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09728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Presenta al
propietario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15544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051560"/>
            <a:ext cx="1737360" cy="1554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09728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Propietario
evalúa y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5544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051560"/>
            <a:ext cx="1737360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09728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 acepta:
modifica contrato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5544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1809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1051560"/>
            <a:ext cx="1737360" cy="15544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09728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Ahorros se
DIVIDEN 50/50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07208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743200"/>
            <a:ext cx="1150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Beneficios del Sistema VECP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323697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10896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✅ Para el propietario: ahorro sin gestión directa — el contratista propone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" y="360273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47472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✅ Para el contratista: incentivo económico directo por innovación técnica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" y="3968496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840480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✅ Para el proyecto: mejoras durante construcción que los diseñadores no previeron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43400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562856"/>
            <a:ext cx="36576" cy="2011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498848"/>
            <a:ext cx="11503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Requisitos de una VECP Válida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" y="499262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864608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Descripción técnica del cambio propuesto vs. diseño original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" y="535838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5230368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Estimado de ahorro detallado y auditado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" y="572414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5596128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Análisis de riesgo técnico y de plazo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" y="6089904"/>
            <a:ext cx="548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961888"/>
            <a:ext cx="1144828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Demostración de que la función original se mantiene o mejora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464808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5B9BD5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IMPLEMENTACIÓN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Programa institucional · Métricas · ROI · Sostenibilidad · LATAM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Implementación — Métricas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Métricas del Programa y ROI Documentado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4747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47472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347472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000"/>
                </a:solidFill>
                <a:latin typeface="Calibri"/>
              </a:rPr>
              <a:t>20:1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03704"/>
            <a:ext cx="34747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ROI promedio
global documentado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097280"/>
            <a:ext cx="34747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1097280"/>
            <a:ext cx="3474720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188720"/>
            <a:ext cx="347472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0AD47"/>
                </a:solidFill>
                <a:latin typeface="Calibri"/>
              </a:rPr>
              <a:t>&gt;70%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03704"/>
            <a:ext cx="347472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Meta: propuestas
implementadas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097280"/>
            <a:ext cx="41148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097280"/>
            <a:ext cx="4114800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188720"/>
            <a:ext cx="411480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472C4"/>
                </a:solidFill>
                <a:latin typeface="Calibri"/>
              </a:rPr>
              <a:t>$2–5k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03704"/>
            <a:ext cx="4114800" cy="84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Costo típico por
propuesta desarrollada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46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546A"/>
                </a:solidFill>
                <a:latin typeface="Calibri"/>
              </a:rPr>
              <a:t>KPIs del programa IV — benchmarks internacionales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79" y="3566160"/>
            <a:ext cx="4064000" cy="5126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566160"/>
            <a:ext cx="214884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ROI del programa (meta: &gt;20:1)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8599" y="3566160"/>
            <a:ext cx="45720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79" y="4354829"/>
            <a:ext cx="6400800" cy="5126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354829"/>
            <a:ext cx="214884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Tasa de implementación (meta: &gt;70%)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354829"/>
            <a:ext cx="45720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79" y="5143500"/>
            <a:ext cx="5943600" cy="5126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143500"/>
            <a:ext cx="214884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Satisfacción del equipo diseño (%)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143500"/>
            <a:ext cx="45720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65%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79" y="5932169"/>
            <a:ext cx="5029200" cy="5126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932169"/>
            <a:ext cx="214884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748"/>
                </a:solidFill>
                <a:latin typeface="Calibri"/>
              </a:rPr>
              <a:t>% proyectos con ahorro &gt; 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932169"/>
            <a:ext cx="457200" cy="51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55%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Implementación — LATAM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IV en América Latina: Avances y Oportunidades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576072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15568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🇲🇽 MÉXICO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5727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Más maduro en LATAM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938528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SAVE México · SCT · FONATUR
Programa en carreteras federales
~50 CVS certificados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760720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15568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🇧🇷 BRASIL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727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Sector de infraestructura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38528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DNIT carreteras · CODEVASF
Banco do Brasil aplica IV
Legislación municipal en São Paulo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70332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703320"/>
            <a:ext cx="57607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721607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🇨🇴 COLOMBIA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41788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Banco Interamericano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" y="4544568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BID impulsó primeros programas
IDU Bogotá: estudios de IV
Creciente interés universitario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576072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576072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21607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🇨🇱 CHILE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1788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18096"/>
                </a:solidFill>
                <a:latin typeface="Calibri"/>
              </a:rPr>
              <a:t>APPs y concesiones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44568"/>
            <a:ext cx="5760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748"/>
                </a:solidFill>
                <a:latin typeface="Calibri"/>
              </a:rPr>
              <a:t>Ministerio de Obras Públicas
Proyectos de concesión vial
Conocimiento técnico creciente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C000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TENDENCIAS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9BD5"/>
                </a:solidFill>
                <a:latin typeface="Calibri"/>
              </a:rPr>
              <a:t>BIM · Inteligencia Artificial · Sostenibilidad · Futuro de la IV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Tendencias —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BIM e Inteligencia Artificial: Potenciando la IV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49039" cy="566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47548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6984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🏗️ BIM + IV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5" y="170992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58191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Análisis funcional sobre modelo 3D — visualización inmediata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5" y="207568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94767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Estimación automatizada: reduce tiempo de análisis 60–70%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5" y="244144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31343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Simulación de LCC en tiempo real con Monte Carlo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5" y="280720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679191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Detección automática de elementos de alto costo/función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5" y="3172968"/>
            <a:ext cx="54864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44951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Colaboración remota: equipos IV distribuidos globalmente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5384" y="1051560"/>
            <a:ext cx="3749039" cy="566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5384" y="1051560"/>
            <a:ext cx="3749039" cy="47548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5384" y="106984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🤖 IA + 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1709928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158191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IA generativa: propone alternativas preliminares en segundos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075688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194767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Machine learning: patrones de valor en proyectos históricos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2441448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231343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NLP: análisis de especificaciones en lenguaje natural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2807208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416" y="2679191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Computer vision: extracción de funciones desde planos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172968"/>
            <a:ext cx="54864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3044951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Optimización multiobjetivo: costo + sostenibilidad + plazo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2168" y="1051560"/>
            <a:ext cx="3749039" cy="566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02168" y="1051560"/>
            <a:ext cx="3749039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8" y="106984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📊 Datos + 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0183" y="170992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158191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Base de datos global de soluciones y costos de referencia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0183" y="207568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194767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Benchmarking automático por tipo de proyecto y región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30183" y="244144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313432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Dashboard en tiempo real del programa institucional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0183" y="280720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2679191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Reportes ejecutivos generados automáticamente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3" y="3172968"/>
            <a:ext cx="54864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044951"/>
            <a:ext cx="340156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748"/>
                </a:solidFill>
                <a:latin typeface="Calibri"/>
              </a:rPr>
              <a:t>Trazabilidad completa función → costo → ahorro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Tendencias —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El Futuro de la Ingeniería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5760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411480" cy="1737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🤖 IA y Digitalización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1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La IA asiste — no reemplaza — el juicio humano del equipo IV. El análisis funcional y la creatividad siguen siendo centrales.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760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411480" cy="1737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🌱 Sostenibilidad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627631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Las funciones ambientales (huella de carbono, agua, biodiversidad) se incorporan al análisis de valor como funciones básicas.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71800"/>
            <a:ext cx="5760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971800"/>
            <a:ext cx="411480" cy="1737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🌎 Democratización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0215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Herramientas digitales llevan la IV a proyectos de menor escala. El umbral de aplicación baja significativamente.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71800"/>
            <a:ext cx="5760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971800"/>
            <a:ext cx="411480" cy="1737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🤝 Globalización del saber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50215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Redes internacionales de practicantes y bases de datos globales de soluciones aceleran el aprendizaje colectivo.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846320"/>
            <a:ext cx="5760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846320"/>
            <a:ext cx="411480" cy="17373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📐 Integración metodológica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7667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IV + Lean + BIM + Agile: una suite integrada para proyectos de alta complejidad y grandes inversiones.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5760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846320"/>
            <a:ext cx="411480" cy="17373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93775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🎓 Educación continua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37667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Universidades de LATAM integran la IV en currículos de ingeniería civil y arquitectura. La próxima generación la conoce.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86968"/>
            <a:ext cx="12188952" cy="50292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4747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546A"/>
                </a:solidFill>
                <a:latin typeface="Calibri"/>
              </a:rPr>
              <a:t>El Caso para la Ingeniería de 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640080" cy="1691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188720"/>
            <a:ext cx="640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1887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Es una INVERSIÓN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27631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ROI de 20:1 promedio global — cada peso gastado en el estudio genera 20 en ahorros para el proyecto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640080" cy="1691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640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1887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Actúa TEMPRANO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627631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El 80% del costo se define antes del diseño final. La IV en fase temprana maximiza exponencialmente su impacto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260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926080"/>
            <a:ext cx="640080" cy="1691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017520"/>
            <a:ext cx="640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0175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Equipo DIVERSO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5643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Un equipo multidisciplinario con coordinador calificado es la condición sine qua non del éxito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926080"/>
            <a:ext cx="640080" cy="1691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017520"/>
            <a:ext cx="640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0175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MIDE y COMUNICA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45643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Los resultados deben medirse con KPIs claros y comunicarse a la dirección para sostener el programa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7548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4754880"/>
            <a:ext cx="640080" cy="169164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4846320"/>
            <a:ext cx="640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463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OPORTUNIDAD LATAM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8523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Con pocos CVS y poca adopción institucional, el primer movedor tiene ventaja competitiva significativa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54880"/>
            <a:ext cx="57607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754880"/>
            <a:ext cx="640080" cy="16916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846320"/>
            <a:ext cx="640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463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Calibri"/>
              </a:rPr>
              <a:t>Metodología VIVA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285232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La IV evoluciona con BIM, IA y sostenibilidad — pero su núcleo funcional de 80 años sigue inalterable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"/>
            <a:ext cx="2286000" cy="2286000"/>
          </a:xfrm>
          <a:prstGeom prst="ellipse">
            <a:avLst/>
          </a:prstGeom>
          <a:noFill/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91439"/>
            <a:ext cx="2834640" cy="2834640"/>
          </a:xfrm>
          <a:prstGeom prst="ellipse">
            <a:avLst/>
          </a:prstGeom>
          <a:noFill/>
          <a:ln w="1206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-91440"/>
            <a:ext cx="3383280" cy="3383280"/>
          </a:xfrm>
          <a:prstGeom prst="ellipse">
            <a:avLst/>
          </a:prstGeom>
          <a:noFill/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-274320"/>
            <a:ext cx="3931920" cy="3931920"/>
          </a:xfrm>
          <a:prstGeom prst="ellipse">
            <a:avLst/>
          </a:prstGeom>
          <a:noFill/>
          <a:ln w="5714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029200"/>
            <a:ext cx="12188952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093208"/>
            <a:ext cx="12188952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¡GRACIAS POR SU ATENCIÓN!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B9BD5"/>
                </a:solidFill>
                <a:latin typeface="Calibri"/>
              </a:rPr>
              <a:t>"La Ingeniería de Valor no es solo una metodología —
es una forma de pensar orientada al valor."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Calibri"/>
              </a:rPr>
              <a:t>Lawrence D. Miles, Padre de la Ingeniería 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4572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  <a:latin typeface="Calibri"/>
              </a:rPr>
              <a:t>VALOR = FUNCIÓN / COSTO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