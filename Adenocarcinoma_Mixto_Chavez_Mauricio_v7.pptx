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charts/chart1.xml" ContentType="application/vnd.openxmlformats-officedocument.drawingml.chart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charts/chart2.xml" ContentType="application/vnd.openxmlformats-officedocument.drawingml.chart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charts/chart3.xml" ContentType="application/vnd.openxmlformats-officedocument.drawingml.chart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charts/chart4.xml" ContentType="application/vnd.openxmlformats-officedocument.drawingml.chart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charts/chart5.xml" ContentType="application/vnd.openxmlformats-officedocument.drawingml.chart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</p:sldIdLst>
  <p:notesMasterIdLst>
    <p:notesMasterId r:id="rId1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notesMaster" Target="notesMasters/notesMaster1.xml"/><Relationship Id="rId150" Type="http://schemas.openxmlformats.org/officeDocument/2006/relationships/presProps" Target="presProps.xml"/><Relationship Id="rId151" Type="http://schemas.openxmlformats.org/officeDocument/2006/relationships/viewProps" Target="viewProps.xml"/><Relationship Id="rId152" Type="http://schemas.openxmlformats.org/officeDocument/2006/relationships/theme" Target="theme/theme1.xml"/><Relationship Id="rId15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km/día caminados</c:v>
                </c:pt>
              </c:strCache>
            </c:strRef>
          </c:tx>
          <c:spPr>
            <a:solidFill>
              <a:srgbClr val="2E86AB"/>
            </a:solidFill>
            <a:ln w="2540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Sem 1-2
(Jul 2026)</c:v>
                  </c:pt>
                  <c:pt idx="1">
                    <c:v>Mes 1
(Ago)</c:v>
                  </c:pt>
                  <c:pt idx="2">
                    <c:v>Mes 2
(Sep)</c:v>
                  </c:pt>
                  <c:pt idx="3">
                    <c:v>Mes 3
(Oct)</c:v>
                  </c:pt>
                  <c:pt idx="4">
                    <c:v>Mes 6
(Ene 2027)</c:v>
                  </c:pt>
                  <c:pt idx="5">
                    <c:v>Mes 9
(Abr)</c:v>
                  </c:pt>
                  <c:pt idx="6">
                    <c:v>Mes 12
(Jul)</c:v>
                  </c:pt>
                  <c:pt idx="7">
                    <c:v>Mes 18
(Ene 2028)</c:v>
                  </c:pt>
                  <c:pt idx="8">
                    <c:v>Mes 24
(Jul 2028)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12</c:v>
                </c:pt>
                <c:pt idx="6">
                  <c:v>15</c:v>
                </c:pt>
                <c:pt idx="7">
                  <c:v>18</c:v>
                </c:pt>
                <c:pt idx="8">
                  <c:v>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(cells/μL)</c:v>
                </c:pt>
              </c:strCache>
            </c:strRef>
          </c:tx>
          <c:spPr>
            <a:solidFill>
              <a:srgbClr val="1259A3"/>
            </a:solidFill>
            <a:ln w="25400" cap="flat">
              <a:solidFill>
                <a:srgbClr val="1259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59A3"/>
              </a:solidFill>
              <a:ln w="9525" cap="flat">
                <a:solidFill>
                  <a:srgbClr val="1259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4500</c:v>
                </c:pt>
                <c:pt idx="1">
                  <c:v>4320</c:v>
                </c:pt>
                <c:pt idx="2">
                  <c:v>4050</c:v>
                </c:pt>
                <c:pt idx="3">
                  <c:v>3690</c:v>
                </c:pt>
                <c:pt idx="4">
                  <c:v>3150</c:v>
                </c:pt>
                <c:pt idx="5">
                  <c:v>2565</c:v>
                </c:pt>
                <c:pt idx="6">
                  <c:v>1980</c:v>
                </c:pt>
                <c:pt idx="7">
                  <c:v>1485</c:v>
                </c:pt>
                <c:pt idx="8">
                  <c:v>1080</c:v>
                </c:pt>
                <c:pt idx="9">
                  <c:v>810</c:v>
                </c:pt>
                <c:pt idx="10">
                  <c:v>675</c:v>
                </c:pt>
                <c:pt idx="11">
                  <c:v>720</c:v>
                </c:pt>
                <c:pt idx="12">
                  <c:v>900</c:v>
                </c:pt>
                <c:pt idx="13">
                  <c:v>1215</c:v>
                </c:pt>
                <c:pt idx="14">
                  <c:v>1665</c:v>
                </c:pt>
                <c:pt idx="15">
                  <c:v>2205</c:v>
                </c:pt>
                <c:pt idx="16">
                  <c:v>2745</c:v>
                </c:pt>
                <c:pt idx="17">
                  <c:v>3240</c:v>
                </c:pt>
                <c:pt idx="18">
                  <c:v>3645</c:v>
                </c:pt>
                <c:pt idx="19">
                  <c:v>3960</c:v>
                </c:pt>
                <c:pt idx="20">
                  <c:v>4185</c:v>
                </c:pt>
                <c:pt idx="21">
                  <c:v>4365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Crítico &lt;500</c:v>
                </c:pt>
              </c:strCache>
            </c:strRef>
          </c:tx>
          <c:spPr>
            <a:solidFill>
              <a:srgbClr val="C0281C"/>
            </a:solidFill>
            <a:ln w="25400" cap="flat">
              <a:solidFill>
                <a:srgbClr val="C028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281C"/>
              </a:solidFill>
              <a:ln w="9525" cap="flat">
                <a:solidFill>
                  <a:srgbClr val="C028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500</c:v>
                </c:pt>
                <c:pt idx="1">
                  <c:v>500</c:v>
                </c:pt>
                <c:pt idx="2">
                  <c:v>500</c:v>
                </c:pt>
                <c:pt idx="3">
                  <c:v>500</c:v>
                </c:pt>
                <c:pt idx="4">
                  <c:v>500</c:v>
                </c:pt>
                <c:pt idx="5">
                  <c:v>500</c:v>
                </c:pt>
                <c:pt idx="6">
                  <c:v>500</c:v>
                </c:pt>
                <c:pt idx="7">
                  <c:v>500</c:v>
                </c:pt>
                <c:pt idx="8">
                  <c:v>500</c:v>
                </c:pt>
                <c:pt idx="9">
                  <c:v>500</c:v>
                </c:pt>
                <c:pt idx="10">
                  <c:v>500</c:v>
                </c:pt>
                <c:pt idx="11">
                  <c:v>500</c:v>
                </c:pt>
                <c:pt idx="12">
                  <c:v>500</c:v>
                </c:pt>
                <c:pt idx="13">
                  <c:v>500</c:v>
                </c:pt>
                <c:pt idx="14">
                  <c:v>500</c:v>
                </c:pt>
                <c:pt idx="15">
                  <c:v>500</c:v>
                </c:pt>
                <c:pt idx="16">
                  <c:v>500</c:v>
                </c:pt>
                <c:pt idx="17">
                  <c:v>500</c:v>
                </c:pt>
                <c:pt idx="18">
                  <c:v>500</c:v>
                </c:pt>
                <c:pt idx="19">
                  <c:v>500</c:v>
                </c:pt>
                <c:pt idx="20">
                  <c:v>500</c:v>
                </c:pt>
                <c:pt idx="21">
                  <c:v>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Precaución &lt;1,000</c:v>
                </c:pt>
              </c:strCache>
            </c:strRef>
          </c:tx>
          <c:spPr>
            <a:solidFill>
              <a:srgbClr val="B86800"/>
            </a:solidFill>
            <a:ln w="25400" cap="flat">
              <a:solidFill>
                <a:srgbClr val="B868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6800"/>
              </a:solidFill>
              <a:ln w="9525" cap="flat">
                <a:solidFill>
                  <a:srgbClr val="B868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  <c:pt idx="3">
                  <c:v>1000</c:v>
                </c:pt>
                <c:pt idx="4">
                  <c:v>1000</c:v>
                </c:pt>
                <c:pt idx="5">
                  <c:v>1000</c:v>
                </c:pt>
                <c:pt idx="6">
                  <c:v>1000</c:v>
                </c:pt>
                <c:pt idx="7">
                  <c:v>1000</c:v>
                </c:pt>
                <c:pt idx="8">
                  <c:v>1000</c:v>
                </c:pt>
                <c:pt idx="9">
                  <c:v>1000</c:v>
                </c:pt>
                <c:pt idx="10">
                  <c:v>1000</c:v>
                </c:pt>
                <c:pt idx="11">
                  <c:v>1000</c:v>
                </c:pt>
                <c:pt idx="12">
                  <c:v>1000</c:v>
                </c:pt>
                <c:pt idx="13">
                  <c:v>1000</c:v>
                </c:pt>
                <c:pt idx="14">
                  <c:v>1000</c:v>
                </c:pt>
                <c:pt idx="15">
                  <c:v>1000</c:v>
                </c:pt>
                <c:pt idx="16">
                  <c:v>1000</c:v>
                </c:pt>
                <c:pt idx="17">
                  <c:v>1000</c:v>
                </c:pt>
                <c:pt idx="18">
                  <c:v>1000</c:v>
                </c:pt>
                <c:pt idx="19">
                  <c:v>1000</c:v>
                </c:pt>
                <c:pt idx="20">
                  <c:v>1000</c:v>
                </c:pt>
                <c:pt idx="21">
                  <c:v>1000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Día del ciclo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0"/>
        </c:scaling>
        <c:delete val="0"/>
        <c:axPos val="l"/>
        <c:majorGridlines>
          <c:spPr>
            <a:ln w="12700" cap="flat">
              <a:solidFill>
                <a:srgbClr val="D5D8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cells/μL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solidFill>
          <a:srgbClr val="F4F8FB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Plaquetas (/μL)</c:v>
                </c:pt>
              </c:strCache>
            </c:strRef>
          </c:tx>
          <c:spPr>
            <a:solidFill>
              <a:srgbClr val="A86000"/>
            </a:solidFill>
            <a:ln w="25400" cap="flat">
              <a:solidFill>
                <a:srgbClr val="A86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86000"/>
              </a:solidFill>
              <a:ln w="9525" cap="flat">
                <a:solidFill>
                  <a:srgbClr val="A86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250000</c:v>
                </c:pt>
                <c:pt idx="1">
                  <c:v>247500</c:v>
                </c:pt>
                <c:pt idx="2">
                  <c:v>242500</c:v>
                </c:pt>
                <c:pt idx="3">
                  <c:v>232500</c:v>
                </c:pt>
                <c:pt idx="4">
                  <c:v>215000</c:v>
                </c:pt>
                <c:pt idx="5">
                  <c:v>190000</c:v>
                </c:pt>
                <c:pt idx="6">
                  <c:v>162500</c:v>
                </c:pt>
                <c:pt idx="7">
                  <c:v>135000</c:v>
                </c:pt>
                <c:pt idx="8">
                  <c:v>107500</c:v>
                </c:pt>
                <c:pt idx="9">
                  <c:v>87500</c:v>
                </c:pt>
                <c:pt idx="10">
                  <c:v>72500</c:v>
                </c:pt>
                <c:pt idx="11">
                  <c:v>62500</c:v>
                </c:pt>
                <c:pt idx="12">
                  <c:v>57500</c:v>
                </c:pt>
                <c:pt idx="13">
                  <c:v>65000</c:v>
                </c:pt>
                <c:pt idx="14">
                  <c:v>82500</c:v>
                </c:pt>
                <c:pt idx="15">
                  <c:v>107500</c:v>
                </c:pt>
                <c:pt idx="16">
                  <c:v>137500</c:v>
                </c:pt>
                <c:pt idx="17">
                  <c:v>165000</c:v>
                </c:pt>
                <c:pt idx="18">
                  <c:v>190000</c:v>
                </c:pt>
                <c:pt idx="19">
                  <c:v>210000</c:v>
                </c:pt>
                <c:pt idx="20">
                  <c:v>227500</c:v>
                </c:pt>
                <c:pt idx="21">
                  <c:v>242500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Crítico &lt;50,000</c:v>
                </c:pt>
              </c:strCache>
            </c:strRef>
          </c:tx>
          <c:spPr>
            <a:solidFill>
              <a:srgbClr val="C0281C"/>
            </a:solidFill>
            <a:ln w="25400" cap="flat">
              <a:solidFill>
                <a:srgbClr val="C028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281C"/>
              </a:solidFill>
              <a:ln w="9525" cap="flat">
                <a:solidFill>
                  <a:srgbClr val="C028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50000</c:v>
                </c:pt>
                <c:pt idx="1">
                  <c:v>50000</c:v>
                </c:pt>
                <c:pt idx="2">
                  <c:v>50000</c:v>
                </c:pt>
                <c:pt idx="3">
                  <c:v>50000</c:v>
                </c:pt>
                <c:pt idx="4">
                  <c:v>50000</c:v>
                </c:pt>
                <c:pt idx="5">
                  <c:v>50000</c:v>
                </c:pt>
                <c:pt idx="6">
                  <c:v>50000</c:v>
                </c:pt>
                <c:pt idx="7">
                  <c:v>50000</c:v>
                </c:pt>
                <c:pt idx="8">
                  <c:v>50000</c:v>
                </c:pt>
                <c:pt idx="9">
                  <c:v>50000</c:v>
                </c:pt>
                <c:pt idx="10">
                  <c:v>50000</c:v>
                </c:pt>
                <c:pt idx="11">
                  <c:v>50000</c:v>
                </c:pt>
                <c:pt idx="12">
                  <c:v>50000</c:v>
                </c:pt>
                <c:pt idx="13">
                  <c:v>50000</c:v>
                </c:pt>
                <c:pt idx="14">
                  <c:v>50000</c:v>
                </c:pt>
                <c:pt idx="15">
                  <c:v>50000</c:v>
                </c:pt>
                <c:pt idx="16">
                  <c:v>50000</c:v>
                </c:pt>
                <c:pt idx="17">
                  <c:v>50000</c:v>
                </c:pt>
                <c:pt idx="18">
                  <c:v>50000</c:v>
                </c:pt>
                <c:pt idx="19">
                  <c:v>50000</c:v>
                </c:pt>
                <c:pt idx="20">
                  <c:v>50000</c:v>
                </c:pt>
                <c:pt idx="21">
                  <c:v>50000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Precaución &lt;75,000</c:v>
                </c:pt>
              </c:strCache>
            </c:strRef>
          </c:tx>
          <c:spPr>
            <a:solidFill>
              <a:srgbClr val="B86800"/>
            </a:solidFill>
            <a:ln w="25400" cap="flat">
              <a:solidFill>
                <a:srgbClr val="B868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6800"/>
              </a:solidFill>
              <a:ln w="9525" cap="flat">
                <a:solidFill>
                  <a:srgbClr val="B868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75000</c:v>
                </c:pt>
                <c:pt idx="1">
                  <c:v>75000</c:v>
                </c:pt>
                <c:pt idx="2">
                  <c:v>75000</c:v>
                </c:pt>
                <c:pt idx="3">
                  <c:v>75000</c:v>
                </c:pt>
                <c:pt idx="4">
                  <c:v>75000</c:v>
                </c:pt>
                <c:pt idx="5">
                  <c:v>75000</c:v>
                </c:pt>
                <c:pt idx="6">
                  <c:v>75000</c:v>
                </c:pt>
                <c:pt idx="7">
                  <c:v>75000</c:v>
                </c:pt>
                <c:pt idx="8">
                  <c:v>75000</c:v>
                </c:pt>
                <c:pt idx="9">
                  <c:v>75000</c:v>
                </c:pt>
                <c:pt idx="10">
                  <c:v>75000</c:v>
                </c:pt>
                <c:pt idx="11">
                  <c:v>75000</c:v>
                </c:pt>
                <c:pt idx="12">
                  <c:v>75000</c:v>
                </c:pt>
                <c:pt idx="13">
                  <c:v>75000</c:v>
                </c:pt>
                <c:pt idx="14">
                  <c:v>75000</c:v>
                </c:pt>
                <c:pt idx="15">
                  <c:v>75000</c:v>
                </c:pt>
                <c:pt idx="16">
                  <c:v>75000</c:v>
                </c:pt>
                <c:pt idx="17">
                  <c:v>75000</c:v>
                </c:pt>
                <c:pt idx="18">
                  <c:v>75000</c:v>
                </c:pt>
                <c:pt idx="19">
                  <c:v>75000</c:v>
                </c:pt>
                <c:pt idx="20">
                  <c:v>75000</c:v>
                </c:pt>
                <c:pt idx="21">
                  <c:v>75000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Día del ciclo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000"/>
          <c:min val="0"/>
        </c:scaling>
        <c:delete val="0"/>
        <c:axPos val="l"/>
        <c:majorGridlines>
          <c:spPr>
            <a:ln w="12700" cap="flat">
              <a:solidFill>
                <a:srgbClr val="D5D8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/μL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00"/>
      </c:valAx>
      <c:spPr>
        <a:solidFill>
          <a:srgbClr val="FEFDF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Hemoglobina (g/dL)</c:v>
                </c:pt>
              </c:strCache>
            </c:strRef>
          </c:tx>
          <c:spPr>
            <a:solidFill>
              <a:srgbClr val="157040"/>
            </a:solidFill>
            <a:ln w="25400" cap="flat">
              <a:solidFill>
                <a:srgbClr val="1570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7040"/>
              </a:solidFill>
              <a:ln w="9525" cap="flat">
                <a:solidFill>
                  <a:srgbClr val="1570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14</c:v>
                </c:pt>
                <c:pt idx="1">
                  <c:v>13.86</c:v>
                </c:pt>
                <c:pt idx="2">
                  <c:v>13.72</c:v>
                </c:pt>
                <c:pt idx="3">
                  <c:v>13.58</c:v>
                </c:pt>
                <c:pt idx="4">
                  <c:v>13.3</c:v>
                </c:pt>
                <c:pt idx="5">
                  <c:v>13.02</c:v>
                </c:pt>
                <c:pt idx="6">
                  <c:v>12.74</c:v>
                </c:pt>
                <c:pt idx="7">
                  <c:v>12.46</c:v>
                </c:pt>
                <c:pt idx="8">
                  <c:v>12.18</c:v>
                </c:pt>
                <c:pt idx="9">
                  <c:v>11.9</c:v>
                </c:pt>
                <c:pt idx="10">
                  <c:v>11.62</c:v>
                </c:pt>
                <c:pt idx="11">
                  <c:v>11.34</c:v>
                </c:pt>
                <c:pt idx="12">
                  <c:v>11.2</c:v>
                </c:pt>
                <c:pt idx="13">
                  <c:v>11.06</c:v>
                </c:pt>
                <c:pt idx="14">
                  <c:v>10.92</c:v>
                </c:pt>
                <c:pt idx="15">
                  <c:v>10.92</c:v>
                </c:pt>
                <c:pt idx="16">
                  <c:v>11.06</c:v>
                </c:pt>
                <c:pt idx="17">
                  <c:v>11.2</c:v>
                </c:pt>
                <c:pt idx="18">
                  <c:v>11.48</c:v>
                </c:pt>
                <c:pt idx="19">
                  <c:v>11.9</c:v>
                </c:pt>
                <c:pt idx="20">
                  <c:v>12.32</c:v>
                </c:pt>
                <c:pt idx="21">
                  <c:v>12.74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Crítico &lt;8 g/dL</c:v>
                </c:pt>
              </c:strCache>
            </c:strRef>
          </c:tx>
          <c:spPr>
            <a:solidFill>
              <a:srgbClr val="C0281C"/>
            </a:solidFill>
            <a:ln w="25400" cap="flat">
              <a:solidFill>
                <a:srgbClr val="C028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281C"/>
              </a:solidFill>
              <a:ln w="9525" cap="flat">
                <a:solidFill>
                  <a:srgbClr val="C028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8</c:v>
                </c:pt>
                <c:pt idx="15">
                  <c:v>8</c:v>
                </c:pt>
                <c:pt idx="16">
                  <c:v>8</c:v>
                </c:pt>
                <c:pt idx="17">
                  <c:v>8</c:v>
                </c:pt>
                <c:pt idx="18">
                  <c:v>8</c:v>
                </c:pt>
                <c:pt idx="19">
                  <c:v>8</c:v>
                </c:pt>
                <c:pt idx="20">
                  <c:v>8</c:v>
                </c:pt>
                <c:pt idx="21">
                  <c:v>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Precaución &lt;10 g/dL</c:v>
                </c:pt>
              </c:strCache>
            </c:strRef>
          </c:tx>
          <c:spPr>
            <a:solidFill>
              <a:srgbClr val="B86800"/>
            </a:solidFill>
            <a:ln w="25400" cap="flat">
              <a:solidFill>
                <a:srgbClr val="B868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6800"/>
              </a:solidFill>
              <a:ln w="9525" cap="flat">
                <a:solidFill>
                  <a:srgbClr val="B868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Día del ciclo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7"/>
        </c:scaling>
        <c:delete val="0"/>
        <c:axPos val="l"/>
        <c:majorGridlines>
          <c:spPr>
            <a:ln w="12700" cap="flat">
              <a:solidFill>
                <a:srgbClr val="D5D8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g/dL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0FBF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Neutrófilos (ANC)</c:v>
                </c:pt>
              </c:strCache>
            </c:strRef>
          </c:tx>
          <c:spPr>
            <a:solidFill>
              <a:srgbClr val="1E6FA3"/>
            </a:solidFill>
            <a:ln w="25400" cap="flat">
              <a:solidFill>
                <a:srgbClr val="1E6F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6FA3"/>
              </a:solidFill>
              <a:ln w="9525" cap="flat">
                <a:solidFill>
                  <a:srgbClr val="1E6F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100</c:v>
                </c:pt>
                <c:pt idx="1">
                  <c:v>96</c:v>
                </c:pt>
                <c:pt idx="2">
                  <c:v>90</c:v>
                </c:pt>
                <c:pt idx="3">
                  <c:v>82</c:v>
                </c:pt>
                <c:pt idx="4">
                  <c:v>70</c:v>
                </c:pt>
                <c:pt idx="5">
                  <c:v>57</c:v>
                </c:pt>
                <c:pt idx="6">
                  <c:v>44</c:v>
                </c:pt>
                <c:pt idx="7">
                  <c:v>33</c:v>
                </c:pt>
                <c:pt idx="8">
                  <c:v>24</c:v>
                </c:pt>
                <c:pt idx="9">
                  <c:v>18</c:v>
                </c:pt>
                <c:pt idx="10">
                  <c:v>15</c:v>
                </c:pt>
                <c:pt idx="11">
                  <c:v>16</c:v>
                </c:pt>
                <c:pt idx="12">
                  <c:v>20</c:v>
                </c:pt>
                <c:pt idx="13">
                  <c:v>27</c:v>
                </c:pt>
                <c:pt idx="14">
                  <c:v>37</c:v>
                </c:pt>
                <c:pt idx="15">
                  <c:v>49</c:v>
                </c:pt>
                <c:pt idx="16">
                  <c:v>61</c:v>
                </c:pt>
                <c:pt idx="17">
                  <c:v>72</c:v>
                </c:pt>
                <c:pt idx="18">
                  <c:v>81</c:v>
                </c:pt>
                <c:pt idx="19">
                  <c:v>88</c:v>
                </c:pt>
                <c:pt idx="20">
                  <c:v>93</c:v>
                </c:pt>
                <c:pt idx="21">
                  <c:v>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Plaquetas</c:v>
                </c:pt>
              </c:strCache>
            </c:strRef>
          </c:tx>
          <c:spPr>
            <a:solidFill>
              <a:srgbClr val="B87012"/>
            </a:solidFill>
            <a:ln w="25400" cap="flat">
              <a:solidFill>
                <a:srgbClr val="B870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7012"/>
              </a:solidFill>
              <a:ln w="9525" cap="flat">
                <a:solidFill>
                  <a:srgbClr val="B870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100</c:v>
                </c:pt>
                <c:pt idx="1">
                  <c:v>99</c:v>
                </c:pt>
                <c:pt idx="2">
                  <c:v>97</c:v>
                </c:pt>
                <c:pt idx="3">
                  <c:v>93</c:v>
                </c:pt>
                <c:pt idx="4">
                  <c:v>86</c:v>
                </c:pt>
                <c:pt idx="5">
                  <c:v>76</c:v>
                </c:pt>
                <c:pt idx="6">
                  <c:v>65</c:v>
                </c:pt>
                <c:pt idx="7">
                  <c:v>54</c:v>
                </c:pt>
                <c:pt idx="8">
                  <c:v>43</c:v>
                </c:pt>
                <c:pt idx="9">
                  <c:v>35</c:v>
                </c:pt>
                <c:pt idx="10">
                  <c:v>29</c:v>
                </c:pt>
                <c:pt idx="11">
                  <c:v>25</c:v>
                </c:pt>
                <c:pt idx="12">
                  <c:v>23</c:v>
                </c:pt>
                <c:pt idx="13">
                  <c:v>26</c:v>
                </c:pt>
                <c:pt idx="14">
                  <c:v>33</c:v>
                </c:pt>
                <c:pt idx="15">
                  <c:v>43</c:v>
                </c:pt>
                <c:pt idx="16">
                  <c:v>55</c:v>
                </c:pt>
                <c:pt idx="17">
                  <c:v>66</c:v>
                </c:pt>
                <c:pt idx="18">
                  <c:v>76</c:v>
                </c:pt>
                <c:pt idx="19">
                  <c:v>84</c:v>
                </c:pt>
                <c:pt idx="20">
                  <c:v>91</c:v>
                </c:pt>
                <c:pt idx="21">
                  <c:v>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Hemoglobina</c:v>
                </c:pt>
              </c:strCache>
            </c:strRef>
          </c:tx>
          <c:spPr>
            <a:solidFill>
              <a:srgbClr val="1A8C50"/>
            </a:solidFill>
            <a:ln w="25400" cap="flat">
              <a:solidFill>
                <a:srgbClr val="1A8C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8C50"/>
              </a:solidFill>
              <a:ln w="9525" cap="flat">
                <a:solidFill>
                  <a:srgbClr val="1A8C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100</c:v>
                </c:pt>
                <c:pt idx="1">
                  <c:v>99</c:v>
                </c:pt>
                <c:pt idx="2">
                  <c:v>98</c:v>
                </c:pt>
                <c:pt idx="3">
                  <c:v>97</c:v>
                </c:pt>
                <c:pt idx="4">
                  <c:v>95</c:v>
                </c:pt>
                <c:pt idx="5">
                  <c:v>93</c:v>
                </c:pt>
                <c:pt idx="6">
                  <c:v>91</c:v>
                </c:pt>
                <c:pt idx="7">
                  <c:v>89</c:v>
                </c:pt>
                <c:pt idx="8">
                  <c:v>87</c:v>
                </c:pt>
                <c:pt idx="9">
                  <c:v>85</c:v>
                </c:pt>
                <c:pt idx="10">
                  <c:v>83</c:v>
                </c:pt>
                <c:pt idx="11">
                  <c:v>81</c:v>
                </c:pt>
                <c:pt idx="12">
                  <c:v>80</c:v>
                </c:pt>
                <c:pt idx="13">
                  <c:v>79</c:v>
                </c:pt>
                <c:pt idx="14">
                  <c:v>78</c:v>
                </c:pt>
                <c:pt idx="15">
                  <c:v>78</c:v>
                </c:pt>
                <c:pt idx="16">
                  <c:v>79</c:v>
                </c:pt>
                <c:pt idx="17">
                  <c:v>80</c:v>
                </c:pt>
                <c:pt idx="18">
                  <c:v>82</c:v>
                </c:pt>
                <c:pt idx="19">
                  <c:v>85</c:v>
                </c:pt>
                <c:pt idx="20">
                  <c:v>88</c:v>
                </c:pt>
                <c:pt idx="21">
                  <c:v>91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Umbral crítico 25%</c:v>
                </c:pt>
              </c:strCache>
            </c:strRef>
          </c:tx>
          <c:spPr>
            <a:solidFill>
              <a:srgbClr val="CC2020"/>
            </a:solidFill>
            <a:ln w="25400" cap="flat">
              <a:solidFill>
                <a:srgbClr val="CC2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2020"/>
              </a:solidFill>
              <a:ln w="9525" cap="flat">
                <a:solidFill>
                  <a:srgbClr val="CC2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25</c:v>
                </c:pt>
                <c:pt idx="18">
                  <c:v>25</c:v>
                </c:pt>
                <c:pt idx="19">
                  <c:v>25</c:v>
                </c:pt>
                <c:pt idx="20">
                  <c:v>25</c:v>
                </c:pt>
                <c:pt idx="21">
                  <c:v>25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Umbral caución 50%</c:v>
                </c:pt>
              </c:strCache>
            </c:strRef>
          </c:tx>
          <c:spPr>
            <a:solidFill>
              <a:srgbClr val="E8A000"/>
            </a:solidFill>
            <a:ln w="25400" cap="flat">
              <a:solidFill>
                <a:srgbClr val="E8A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000"/>
              </a:solidFill>
              <a:ln w="9525" cap="flat">
                <a:solidFill>
                  <a:srgbClr val="E8A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D0</c:v>
                  </c:pt>
                  <c:pt idx="1">
                    <c:v>D1</c:v>
                  </c:pt>
                  <c:pt idx="2">
                    <c:v>D2</c:v>
                  </c:pt>
                  <c:pt idx="3">
                    <c:v>D3</c:v>
                  </c:pt>
                  <c:pt idx="4">
                    <c:v>D4</c:v>
                  </c:pt>
                  <c:pt idx="5">
                    <c:v>D5</c:v>
                  </c:pt>
                  <c:pt idx="6">
                    <c:v>D6</c:v>
                  </c:pt>
                  <c:pt idx="7">
                    <c:v>D7</c:v>
                  </c:pt>
                  <c:pt idx="8">
                    <c:v>D8</c:v>
                  </c:pt>
                  <c:pt idx="9">
                    <c:v>D9</c:v>
                  </c:pt>
                  <c:pt idx="10">
                    <c:v>D10</c:v>
                  </c:pt>
                  <c:pt idx="11">
                    <c:v>D11</c:v>
                  </c:pt>
                  <c:pt idx="12">
                    <c:v>D12</c:v>
                  </c:pt>
                  <c:pt idx="13">
                    <c:v>D13</c:v>
                  </c:pt>
                  <c:pt idx="14">
                    <c:v>D14</c:v>
                  </c:pt>
                  <c:pt idx="15">
                    <c:v>D15</c:v>
                  </c:pt>
                  <c:pt idx="16">
                    <c:v>D16</c:v>
                  </c:pt>
                  <c:pt idx="17">
                    <c:v>D17</c:v>
                  </c:pt>
                  <c:pt idx="18">
                    <c:v>D18</c:v>
                  </c:pt>
                  <c:pt idx="19">
                    <c:v>D19</c:v>
                  </c:pt>
                  <c:pt idx="20">
                    <c:v>D20</c:v>
                  </c:pt>
                  <c:pt idx="21">
                    <c:v>D21</c:v>
                  </c:pt>
                </c:lvl>
              </c:multiLvlStrCache>
            </c:multiLvl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Día del ciclo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5D8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% de línea base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7FB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Informe H26-08979 firmado digitalmente el 19-06-2026 por Dra. Angela Gabriela Chamochumbi Vicuña CMP 07431.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O'Brien (Non-small-cell lung cancer), Giaccone (Systemic treatment). G1 bien diferenciado: mejor pronóstico en adenocarcinoma de pulmón.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Supervivencia a 5 años estimada para CPNM por estadio. Los valores son aproximados y dependen de múltiples factores individuales. Fuente: Giaccone (Systemic treatment), IASLC 8ª Ed. (Rami-Porta). Estadio IIB ~50% promedio poblacional; con factores favorables (G1+N0+R0) el rango se desplaza hacia ~55%.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 base 4,500 cells/μL. Nadir día 10-12: ~675 cells/μL. Umbral crítico &lt;500 (neutropenia severa, riesgo máximo). Umbral precaución &lt;1,000. Fuente: O'Brien; Giaccone — perfil Pemetrexed + Carboplatino ciclo 21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Plaquetas base 250,000/μL. Nadir día 12-13: ~57,500/μL. Umbral crítico &lt;50,000 (suspender siguiente ciclo). Umbral precaución &lt;75,000. Transfusión de plaquetas si &lt;20,000 o sangrado activo. Fuente: O'Brien; Giaccone.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Hgb base 14.0 g/dL. Nadir día 13-15: ~10.9 g/dL. Descenso gradual y acumulativo entre ciclos. Si Hgb &lt;10: considerar eritropoyetina + hierro IV. Si &lt;8 g/dL: transfusión. Fuente: O'Brien; Giaccone.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Umbrales clinicos standard oncologia. Valores nadir estimados para perfil paciente con Pemetrexed + Carboplatino ciclo 21 dias. ANC = Absolute Neutrophil Count. Fuente: O'Brien; Giaccone.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Sintomas clinicos por supresion de cada linea celular. Fuente: O'Brien; Giaccone — manejo de mielotoxicidad por quimioterapia.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Efecto acumulativo de Pemetrexed + Carboplatino en 4 ciclos. Recuperacion medular completa esperada 4-6 semanas post ultimo ciclo (Oct 2026). Fuente: O'Brien; Giaccone.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mielotoxicidad basados en el perfil farmacodinámico de Pemetrexed + Carboplatino (O'Brien, Giaccone). Los valores son porcentajes de la línea base del paciente. Los umbrales son guía clínica estándar: &lt;25% zona crítica (riesgo alto de complicaciones), 25-50% zona de precaución.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Umbrales clínicos estándar en oncología. Los valores de nadir son estimaciones basadas en el perfil del paciente con Pemetrexed + Carboplatino ciclo 21 días. Fuente: O'Brien; Giaccone. ANC = Absolute Neutrophil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7315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Adenocarcinoma Mixto Infiltrante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Mucinoso y Lepídico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completa: diagnóstico, tratamiento y plan de vida — VERSIÓN 7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Paciente: Elmer Humberto Chavez Mauricio — 52 años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Actualizado: Octubre 2026  |  Incluye esperanza de vida, calidad de vida y planificación personal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— Versión 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9052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diagnóstico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9052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399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389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este cáncer?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389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del tumor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1874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359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quirúrgico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2359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52928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2843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adyuvante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2843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34–41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3328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y factores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33284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42–46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22192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977640" y="38130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47–52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306824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4306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977640" y="4297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53–59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791456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4791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4782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NGS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977640" y="47823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914400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663440" y="914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983480" y="905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adyuvante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790688" y="905256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66–74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1344168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663440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983480" y="1335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Esperanza de vida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790688" y="133502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75–78 ✦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1773936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66344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98348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vida personal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790688" y="176479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79–93 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2203704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663440" y="2203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4983480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vs. Bibliografía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7790688" y="219456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94–100 ★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633472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66344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983480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(análisis)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7790688" y="26243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101–107 ★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3063240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66344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4983480" y="3054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Oncológica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7790688" y="3054096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108–114 ★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3493008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66344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4983480" y="3483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Recurrencia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7790688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115–120 ★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3922776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66344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498348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Molecular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790688" y="391363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121–126 ★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4352544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66344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498348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Largo Plazo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7790688" y="434340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127–134 ★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63440" y="4782312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4663440" y="4782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4983480" y="4773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Mielotoxicidad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7790688" y="477316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135–146 ★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480560" y="822960"/>
            <a:ext cx="36576" cy="5029200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457200" y="5074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Secciones 13-19: Análisis clínico exhaustivo + Mielotoxicidad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Diagnóstico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Cronología completa de sus estudios,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y cirugía — Mayo a Junio 2026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ficha clínica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Elmer Humberto Chavez Mauricio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años  |  Sexo: Masculino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09842800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clínica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638327 / 120658702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Institución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 Felipe  |  CSF Jesús María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RIMAC S.A. — Entidad Prestadora de Salud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Cronología de su diagnóstico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May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 Biopsia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mucinosa lepídica. Posible adenocarcinoma in situ.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358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77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May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negativos para malignidad.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790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Jun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 + ganglios.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Jun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final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G1 pT3N0Mx.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biopsia — 14 de mayo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Unilabs / Arias Stella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Jesús María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patólogo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Isthvan Torres Pérez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Anátomo-Patólogo CMP 30077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Macroscopía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fragmentos filiformes blanquecinos.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Mayor: 2 cm | Menor: 0.7 cm de longitud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Microscopía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con mucina intracitoplasmática y células caliciformes a lo largo de paredes alveolares. Espacios alveolares llenos de mucina.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Neoplasia mucinosa de patrón LEPÍDICO en relación a adenocarcinoma mucinoso IN SITU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importante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podía descartar adenocarcinoma infiltrante → Se recomendó correlación con imágenes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EBUS — Ecografía endobronquial — 30 de mayo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EBUS?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para evaluar ganglios del mediastino (zona central del tórax) mediante ultrasonido a través del bronquio.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4R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11R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 + Antracosis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 Mediastinal 11L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NO SE OBSERVA NEOPLASIA MALIGNA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Linfadenitis reactiva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responsable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Grisnery Maquera Torres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Anatomopatólogo CMP 49647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Significado para usted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ganglios del mediastino NO tenían células cancerosas antes de la cirugía. Esto es una excelente noticia.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Cirugía — 13 de junio 2026: ¿Qué se operó?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 principal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(extirpación del lóbulo inferior del pulmón derecho)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del espécimen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 gramos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Medida: 18.5 × 12.5 × 9.0 cm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tumor encontrado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 5.5 × 4.0 × 6.5 cm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mucinoso, color pardo claro, consistencia firme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difusos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la pleura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impresionaba estar en contacto con la pleura, aunque la superficie pleural adyacente estaba LISA.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Ganglios extirpados también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mediastinal subcarinal (grupo 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interlobar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lobar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mediastinal grupo 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grupo 4 (7 ganglios)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cirujano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Edgar Amorin Kajatt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Cirugía Oncológica Torácica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Anatomopatológico Final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24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histológico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00584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10241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INFILTRANTE — COMPONENTE MUCINOSO Y LEPÍDICO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80744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399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histológico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380744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13990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G1: BIEN DIFERENCIADO (el mejor grado posible)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17739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tumoral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755648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0" y="177393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cm (dimensión mayor)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Focalidad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2130552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00400" y="214884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UNIFOCAL (un solo tumor)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05456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2523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linfovascular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2505456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00400" y="252374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2898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perineural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288036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00400" y="289864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55264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Diseminación aérea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54680" y="3255264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200400" y="327355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— extensión tumoral microscópica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630168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2920" y="36484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Invasión pleura visceral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54680" y="3630168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200400" y="364845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005072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292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154680" y="4005072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200400" y="402336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— Margen bronquial: libre | Margen vascular: libre 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379976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02920" y="4398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linfáticos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54680" y="4379976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200400" y="439826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DE NEOPLASIA: 0/3 ganglios positivos 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2651760" cy="329184"/>
          </a:xfrm>
          <a:prstGeom prst="rect">
            <a:avLst/>
          </a:prstGeom>
          <a:solidFill>
            <a:srgbClr val="1A3A5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02920" y="4773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patológico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54680" y="4754880"/>
            <a:ext cx="5532120" cy="329184"/>
          </a:xfrm>
          <a:prstGeom prst="rect">
            <a:avLst/>
          </a:prstGeom>
          <a:solidFill>
            <a:srgbClr val="152D4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200400" y="477316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este tipo de cáncer?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Entendiendo el adenocarcinoma mucinoso y lepídico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Histológico G1 y diseminación STAS — parte de esta sección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pulmón: anatomía básica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Lóbulos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derecho tiene 3 lóbulos (superior, medio, inferior). Se extirpó el inferior derecho.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Alvéolos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Pequeñas bolsas de aire donde ocurre el intercambio de oxígeno. Aquí se origina el adenocarcinoma.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Bronquios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Tubos que llevan el aire a los alvéolos. El adenocarcinoma lepídico crece siguiendo sus paredes.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Pleura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Membrana que recubre el pulmón. En su caso, la invasión pleural fue AUSENTE.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origina el cáncer de pulmón?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cáncer se produce cuando células normales acumulan mutaciones (cambios) en su ADN que alteran su crecimiento.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crecer de forma ordenada y morir cuando corresponde, las células cancerosas: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multiplican sin control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"obedecen" las señales de parar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invadir tejidos vecinos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estadios avanzados pueden viajar a otros órganos (metástasis)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caso: el cáncer fue detectado antes de diseminarse a ganglios o a otros órganos.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cáncer de pulmón no microcítico (CPNM)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tipos principales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(40–45%) ← El suyo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epidermoide (25–30%)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de células grandes (10–15%)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adenocarcinoma: ventajas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común en no fumadores y ex-fumadores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origina en la periferia del pulmón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de crecimiento más lento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probabilidad de tener mutaciones tratables (EGFR, ALK…)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respuesta a terapias modernas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adenocarcinoma de pulmón?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adenocarcinoma es el tipo más frecuente de cáncer de pulmón en el mundo.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origina en las células glandulares del pulmón (células que producen mucosidades).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clasifica según el patrón de crecimiento que muestran las células bajo el microscopio.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clasificación actual (OMS 2021) distingue varios subtipos según cómo crecen las células.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caso, las células muestran DOS patrones de crecimiento: mucinoso y lepídico.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componente MUCINOSO?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células tumorales producen y contienen grandes cantidades de mucina (una sustancia viscosa, como moco).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ve al microscopio?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(alargadas, como columnas) con gran cantidad de mucina dentro del citoplasma. También hay mucina en los espacios alveolares que rodean las células.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Células caliciformes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en forma de copa llenas de mucina — características del componente mucinoso. Son similares a las del intestino.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molecular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Frecuentemente asociado a mutaciones en el gen KRAS. Rara vez tiene mutaciones en EGFR.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esto malo?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necesariamente. El componente mucinoso es reconocible, bien caracterizable y tiene opciones de tratamiento específicas.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vio el patólogo en su caso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"Neoplasia caracterizada por células columnares con abundante mucina intracitoplasmática y células caliciformes a lo largo de las paredes alveolares."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componente LEPÍDICO?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células tumorales crecen SOBRE las paredes de los alvéolos existentes, sin destruirlas ni crear nuevas estructuras.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nombre "lepídico"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del griego "lepis" (escama). Las células se distribuyen en escamas sobre las paredes alveolares, como si las recubrieran.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lo hace especial?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patrón de crecimiento MÁS FAVORABLE del adenocarcinoma pulmonar. Sugiere un tumor menos agresivo.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según porcentaje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Adenocarcinoma in situ (AIS): 100% lepídico, &lt;3cm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Mínimamente invasivo: &gt;5mm lepídico predominante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Invasivo lepídico predominante: &gt;5mm invasión, componente lepídico &gt;50%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del patrón lepídico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tumores con componente lepídico significativo tienen mejor supervivencia que los de patrón acinar o sólido.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su caso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combina crecimiento lepídico (sobre paredes alveolares) con componente mucinoso (células productoras de mucina).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Adenocarcinoma "Mixto": dos componentes en uno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Mucinoso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caliciformes con mucina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de mucosidades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Mucina en espacios alveolares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Asociado a mutación KRAS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más expansivo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 Lepídico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sobre pared alveolar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destrucción del tejido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más ordenado de crecimiento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más favorable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menor agresividad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vieron los patólogos: descripción microscópica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macroscópica (lo que se ve a simple vista):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sólido de 5.5 × 4.0 × 6.5 cm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pardo claro, consistencia firme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mucinoso (gelatinoso)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difusos (no bien delimitado)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microscópica (bajo el microscopio):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columnares alineadas sobre paredes alveolares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Abundante mucina dentro de las células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alveolares también llenos de mucina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destrucción de la arquitectura alveolar subyacente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OMS 2021 del Adenocarcinoma Pulmonar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Mundial de la Salud clasifica el adenocarcinoma según su patrón principal: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Lepídico → Mayor supervivencia (5 años: ~90%)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Acinar → Pronóstico intermedio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Papilar → Pronóstico intermedio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Micropapular → Peor pronóstico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Sólido → Peor pronóstico (5 años: ~60%)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Mucinoso Invasivo (IMA) → Categoría especial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tumor combina los patrones MUCINOSO e LEPÍDICO, ambos asociados a mejor pronóstico.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Grado Histológico G1 — Comparativa y Significado Clínico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859536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22960"/>
            <a:ext cx="4114800" cy="777240"/>
          </a:xfrm>
          <a:prstGeom prst="rect">
            <a:avLst>
              <a:gd name="adj" fmla="val 11765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686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859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GRADO — Bien Diferenciado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2529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de los 3 grados | Mayor parecido con células normales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0" cy="777240"/>
          </a:xfrm>
          <a:prstGeom prst="rect">
            <a:avLst>
              <a:gd name="adj" fmla="val 11765"/>
            </a:avLst>
          </a:prstGeom>
          <a:solidFill>
            <a:srgbClr val="FFF3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17373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282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Moderadamente Diferenciado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0939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intermedio | Mayor agresividad que G1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114800" cy="777240"/>
          </a:xfrm>
          <a:prstGeom prst="rect">
            <a:avLst>
              <a:gd name="adj" fmla="val 11765"/>
            </a:avLst>
          </a:prstGeom>
          <a:solidFill>
            <a:srgbClr val="FDED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606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5968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Diferenciado — Alto grado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626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parecido con células normales | Mayor agresividad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822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G1 para usted?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2618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 células tumorales se parecen mucho a las células normales del pulmón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17373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Crecimiento más organizado y predecible — menor agresividad biológica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2128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 respuesta al tratamiento y mejor pronóstico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68833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G1 es el factor pronóstico más favorable dentro de su estadio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16382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Combina favorablemente con N0 y márgenes R0 libres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657600"/>
            <a:ext cx="4297680" cy="658368"/>
          </a:xfrm>
          <a:prstGeom prst="rect">
            <a:avLst>
              <a:gd name="adj" fmla="val 16667"/>
            </a:avLst>
          </a:prstGeom>
          <a:solidFill>
            <a:srgbClr val="E8F8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63440" y="37033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+ N0 + R0 = Las condiciones histológicas más favorables posibles para Estadio IIB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Diseminación a través de espacios aéreos (STAS)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STAS?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cuando células tumorales se "desprenden" del tumor principal y migran a través del aire dentro del pulmón hacia alvéolos distantes.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¿Se encontró en su caso?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el informe indica "extensión tumoral microscópica" a través de la vía aérea (STAS presente).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grave?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factor que se monitorea. En tumores G1 bien diferenciados como el suyo, su impacto es moderado y manejable.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Implicación clínica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STAS es una razón importante por la que se prefirió la lobectomía completa sobre resecciones parciales (segmentectomía).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sigue?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STAS es considerado en la planificación del seguimiento y posible quimioterapia adyuvante.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cirugía ya fue realizada con márgenes libres. El STAS microscópico fue abordado con la lobectomía completa.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y Estadio de su Tumor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TNM y lo que significa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 para su caso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TNM: ¿Cómo se clasifica el cáncer?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TNM es el estándar mundial para describir la extensión de un cáncer: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Tumor: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tamaño y la extensión local del tumor principal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de T1 (pequeño) a T4 (muy grande o invasivo)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Nódulos (Ganglios Linfáticos):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si el cáncer ha llegado a los ganglios linfáticos cercanos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= sin afectación   |   N1-N3 = con afectación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Metástasis: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si el cáncer se ha diseminado a órganos distantes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= sin metástasis   |   M1 = con metástasis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T: el tamaño de su tumor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789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7899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cm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27048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6002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214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1214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642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6426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cm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1638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16382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cm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475488"/>
          </a:xfrm>
          <a:prstGeom prst="rect">
            <a:avLst>
              <a:gd name="adj" fmla="val 15385"/>
            </a:avLst>
          </a:prstGeom>
          <a:solidFill>
            <a:srgbClr val="D1ECF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11880"/>
            <a:ext cx="109728" cy="4754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6850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8503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cm  ← SU CASO (6.5 cm)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8229600" cy="475488"/>
          </a:xfrm>
          <a:prstGeom prst="rect">
            <a:avLst>
              <a:gd name="adj" fmla="val 15385"/>
            </a:avLst>
          </a:prstGeom>
          <a:solidFill>
            <a:srgbClr val="EBF5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2062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 cm o invasión mediastinal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N y M: ganglios y metástasis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GANGLIOS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de cáncer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(confirmado por EBUS y cirugía)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POSITIVOS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ganglios extirpados,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con cáncer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FFF3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Mx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METÁSTASIS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evaluada formalmente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(clínicamente M0)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de su cáncer: pT3 N0 Mx → Estadio IIB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Estadio IIB?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segundo estadio del bloque II, que corresponde a un cáncer localizado (sin ganglios ni metástasis) pero de mayor tamaño.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T3?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tumor mide 6.5 cm, que está entre 5 y 7 cm → corresponde a T3 según el sistema TNM 8a edición.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N0?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ganglios evaluados tenía células cancerosas. Confirmado por EBUS (pre-operatorio) y por patología quirúrgica (3 ganglios, todos negativos).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Mx?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 indica que la metástasis a distancia no fue formalmente evaluada. Clínicamente, al no haber síntomas ni hallazgos sugestivos, se considera M0 (sin metástasis).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IIB vs Estadios avanzados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I-II: tratamiento curativo posible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III: localmente avanzado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Estadio IV: metastásico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 estadio IIB es tratable con intención curativa.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mejor de su diagnóstico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invasión de ganglios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metástasis conocidas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Márgenes quirúrgicos libres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Grado G1 (menos agresivo)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pronósticos en su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Favorables 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G1: Bien Diferenciado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N0: todos negativos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perineural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de pleura visceral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 libres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unifocal (un solo nódulo)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 realizada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a Vigilar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T3 (6.5 cm)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presente (diseminación microscópica)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Metástasis no evaluada formalmente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estricto recomendado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molecular pendiente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Tratamiento que Recibió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lobectomía: cirugía curativa con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libres y ganglios negativos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la cirugía fue el tratamiento correcto?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cirugía es el tratamiento de elección para el cáncer de pulmón en estadio I, II y algunos casos de estadio III.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 (su caso), la guías internacionales recomiendan: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quirúrgica completa como tratamiento principal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(extirpación del lóbulo) como procedimiento estándar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Disección de ganglios linfáticos para estadificación completa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la cirugía en su caso: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completa del tumor con márgenes libres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del estadio real (pT3N0Mx)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 de tratamiento curativo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lobectomía inferior derecha: detalles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lobectomía?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Extirpación quirúrgica de un lóbulo completo del pulmón. Es la cirugía estándar para cáncer de pulmón resecable.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el lóbulo inferior derecho?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estaba localizado en el lóbulo inferior derecho. La lobectomía asegura márgenes adecuados alrededor del tumor.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ocurre con el pulmón restante?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derecho tiene 2 lóbulos restantes (superior y medio). El pulmón izquierdo está intacto. La función pulmonar se adapta gradualmente.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Márgenes quirúrgicos libres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margen bronquial (donde se cortó el bronquio) y el margen vascular (donde se cortaron los vasos) estuvieron LIBRES de células cancerosas.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Ganglios extirpados: TODOS NEGATIVOS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extirparon y analizaron ganglios de múltiples estaciones: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Subcarinal (grupo 7):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Interlobar: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Lobar: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Mediastinal grupo 9: libre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Mediastinal grupo 4 (7 ganglios): todos libres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Parénquima restante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adyacente mostró antracosis (depósito de carbón), fibrosis y cambios reactivos normales en un adulto. Sin granulomas ni neoplasia maligna.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su cirugía — Un éxito quirúrgico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tumor residual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márgenes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POSITIVOS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ganglios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extirpados eran negativos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LIBRE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BRONQUIAL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células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cancerosas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después de la lobectomía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de una lobectomía requiere tiempo y cuidado progresivo: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semana: manejo del dolor, drenajes, movilización temprana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4-6 semanas: evitar esfuerzos físicos intensos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meses: regreso gradual a actividades normales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meses: el pulmón restante se adapta y compensa la función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alarma post-operatorias: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mayor a 38°C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torácico que aumenta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respiratoria aguda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Herida quirúrgica con secreción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adicionales en el pulmón: antracosis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pulmón también mostró: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Antracosis: depósito de partículas de carbón en el tejido pulmonar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Fibrosis: áreas de tejido cicatrizal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reactivos del epitelio alveolar y bronquial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la antracosis?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hallazgo muy común. Indica exposición histórica a partículas del ambiente (polvo, humo).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cáncer ni tiene relación directa con su diagnóstico actual.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hallazgo benigno, sin implicaciones terapéuticas.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importante: NO se encontraron granulomas ni neoplasia maligna en el tejido restante.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Pasos: Tratamiento Adyuvante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venir después de la cirugía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reducir el riesgo de recaída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tratamiento adyuvante?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"Adyuvante" significa: tratamiento que se da DESPUÉS de la cirugía para reducir el riesgo de que el cáncer regrese.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considera en estadio IIB?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la cirugía fue exitosa, células microscópicas pueden quedar en algún lugar del cuerpo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adyuvante elimina estas posibles células residuales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significativamente la supervivencia a largo plazo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 (T3N0), los estudios muestran hasta 5.4% de mejora en supervivencia a 5 años con quimioterapia adyuvante.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oncólogo decidirá el mejor enfoque según su estado general y resultados moleculares.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PRIORITARIO: Perfil molecular — el paso más importante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perfil molecular?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análisis genético del tumor para identificar mutaciones específicas que pueden ser tratadas con medicamentos dirigidos ("terapia target").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crucial para su tumor?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adenocarcinomas pulmonares frecuentemente tienen mutaciones tratables. Conocerlas puede cambiar completamente el plan de tratamiento.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Mutación EGFR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 presente → Osimertinib adyuvante (pastilla oral diaria por 3 años) reduce recaída en 80%. Estudio ADAURA demostró 89% de supervivencia libre de enfermedad a 2 años vs 52% con placebo.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Mutación KRAS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 en adenocarcinoma mucinoso. Si KRAS G12C → Sotorasib puede ser opción. Si KRAS G12D → nuevas terapias en desarrollo.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Reordenamiento ALK/ROS1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están presentes → inhibidores específicos (alectinib, crizotinib) ofrecen excelentes resultados.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realiza?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NGS (secuenciación de nueva generación) en el tejido de la biopsia quirúrgica. Su oncólogo debe solicitarlo si no se ha hecho.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Quimioterapia Adyuvante: ¿Cuándo y cómo?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estadio IIB, las guías internacionales recomiendan quimioterapia adyuvante con platino.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estándar: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ciclos de quimioterapia basada en CISPLATINO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combinación con: Vinorelbina, Gemcitabina, Docetaxel o Pemetrexed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cisplatino-pemetrexed es el más tolerable para adenocarcinoma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inicia?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6-8 semanas después de la cirugía, cuando el paciente se haya recuperado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esperado: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supervivencia a 5 años en aproximadamente 5 puntos porcentuales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tiene mutación EGFR: Osimertinib Adyuvante (ADAURA)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Osimertinib?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inhibidor de la tirosina quinasa EGFR de tercera generación. Es una pastilla oral que se toma una vez al día.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quién es?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pacientes con adenocarcinoma resecado que tienen mutaciones en EGFR (exón 19 o exón 21 L858R).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estudio ADAURA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 pacientes con estadio IB-IIIA.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Sobrevida libre de enfermedad a 2 años: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Osimertinib: 89%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Placebo: 52%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riesgo de recaída: 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cuánto tiempo?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 años continuos, o hasta recaída.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 adicional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que recibieron osimertinib tuvieron MENOS recaídas en el cerebro (1% vs 10%). Esto es muy importante.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Aprobación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por la FDA (EE.UU.) como terapia adyuvante para CPNM resecado con mutación EGFR.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Inmunoterapia Adyuvante: nuevas opciones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inmunoterapia usa el sistema inmune propio del paciente para atacar células cancerosas.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está aprobado o en estudio?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Atezolizumab (Tecentriq): aprobado en estadio II-IIIA con expresión de PD-L1 ≥1%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 (Keytruda): en estudio en ensayo PEARLS para estadio IB-IIIA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(Opdivo): en estudio en ensayo ANVIL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combinar con quimioterapia?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la inmunoterapia adyuvante se administra DESPUÉS de la quimioterapia con platino.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La decisión depende del perfil molecular, PD-L1 y el estado del paciente.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Radioterapia: ¿cuándo se considera?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Generalmente NO indicada en su caso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quirúrgicos libres → no requiere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N0 → no hay que tratar la región ganglionar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radioterapia PORT (postoperatoria) no se recomienda para N0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reservarse para recaída local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SÍ podría considerarse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detecta recaída local en el seguimiento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ganglios afectados no detectados inicialmente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paliación si hubiera progresión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oncólogo evaluará cada caso individualmente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vigilancia y seguimiento post-cirugía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 de tórax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6 meses durante los primeros 2 años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del año 3 al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a partir del año 5 (si sin recaída)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oncológica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3-4 meses durante el primer año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6 meses del año 2 al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a partir del año 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Analítica de sangre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visita oncológica: hemograma, función hepática y renal, marcadores tumorales si aplica.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PET-CT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 rutina. Se indica si hay sospecha clínica de recaída en el seguimiento.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Función pulmonar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Espirometría periódica para monitorear la adaptación post-lobectomía.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Estudio molecular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ha realizado: solicitar análisis mutacional (EGFR, KRAS, ALK, ROS1, PD-L1) para guiar tratamiento adyuvante.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y Factores Favorables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buenas noticias y la perspectiva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largo plazo para su caso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Supervivencia a 5 años — Estadio IIB, Adenocarcinoma G1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A 5 AÑOS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— población general (Giaccone / IASLC 8ª Ed.)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PERFIL FAVORABLE (SU CASO)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+ N0 + R0 + componente lepídico — rango superior (Giaccone + LACE)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+5.4%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QUIMIOTERAPIA ADYUVANTE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LACE (4584 ptes) — HR=0.89 para estadio II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Razones para el optimismo: factores positivos en SU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G1 — Bien Diferenciado: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Tumores G1 tienen significativamente mejor pronóstico que G2 o G3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Resección completa (R0):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eliminación completa del tumor con márgenes libres es el factor pronóstico más importante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— Sin ganglios afectados: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ausencia de compromiso ganglionar mejora sustancialmente el pronóstico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adenocarcinomas con componente lepídico tienen mejor supervivencia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 ni perineural: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factores, cuando están ausentes, indican menor agresividad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Perspectiva: supervivencia según estadio del cáncer de pulmón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1097280"/>
            <a:ext cx="6995160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29800" y="1143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627632"/>
            <a:ext cx="6062472" cy="3840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97112" y="16733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157984"/>
            <a:ext cx="5285232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203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19872" y="22037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688336"/>
            <a:ext cx="388620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(su caso)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7340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3218688"/>
            <a:ext cx="2798064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264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32704" y="3264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3749040"/>
            <a:ext cx="1709928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794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3794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4279392"/>
            <a:ext cx="621792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325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IV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56432" y="43251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sobre las cifras de supervivencia — Cómo leer los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hay distintas cifras en esta presentación?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1 — ~50%: promedio poblacional Estadio IIB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Proviene de registros SEER (EE.UU.) y series IASLC. Es la cifra "promedio" para todos los pacientes Estadio IIB, incluyendo G2, G3, N0, N1, R0, R1.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Giaccone (Systemic treatment), IASLC 8ª Ed. (Rami-Porta)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2 — ~55%: perfil ajustado de SU caso específico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 por factores favorables de su caso: G1 (bien diferenciado), N0 (sin ganglios), R0 (márgenes libres), componente lepídico (mejor pronóstico).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O'Brien (G1+lepídico = "good survival after resection"), LACE meta-análisis (HR=0.89 con adyuvancia, +5.4% 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Ambas cifras son correctas para contextos distintos. ~50% = base estadística. ~55% = mejor estimación para su perfil.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hubiera una recaída: ¿qué pasaría?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recaída no significa el fin del tratamiento curativo.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local (en el pulmón o tórax):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tratarse con cirugía, radioterapia o ablación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opciones dependen de la localización y extensión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ganglionar: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Quimioterapia, radioterapia o terapia dirigida según perfil molecular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Recaída a distancia (metástasis):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 sistémica según mutaciones (EGFR, ALK, KRAS…)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Inmunoterapia si hay expresión de PD-L1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regular es su mejor herramienta para detectar recaídas cuando aún son tratables.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y Cuidados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usted puede hacer para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su salud y bienestar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 durante y después del tratamiento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Proteínas: prioridad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Pollo, pescado, huevo, legumbres. Ayudan a recuperar masa muscular perdida durante la cirugía y cualquier quimioterapia.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Frutas y verduras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5 porciones diarias. Ricas en antioxidantes, vitaminas y fibra. Especialmente de colores vivos.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Hidratación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1.5–2 litros de agua al día. Importante durante la quimioterapia para proteger el riñón.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(puede interferir con tratamientos y aumentar el riesgo de otros cánceres)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procesados ultra-industrializados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en exceso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hay náuseas (por quimioterapia)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Comidas pequeñas y frecuentes. Alimentos fríos o a temperatura ambiente. Jengibre puede ayudar.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con nutricionista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nutricionista oncológico puede personalizar su dieta según el tratamiento que reciba.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física: aliada fundamental de su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moderado es SEGURO y BENEFICIOSO durante y después del tratamiento oncológico.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demostrados del ejercicio en pacientes oncológicos: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fatiga (el síntoma más común del tratamiento)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función pulmonar residual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el estado de ánimo y reduce ansiedad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masa muscular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prácticas: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Caminar 30 minutos diarios (adaptar a su capacidad actual)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respiratorios diarios (espirometría incentivada)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ejercicio extenuante durante quimioterapia activa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gradualmente la intensidad según tolerancia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mental: parte esencial de su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Emociones normales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Miedo, tristeza, incertidumbre son respuestas normales. No significa debilidad.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psicológico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psicólogo oncológico puede ayudar a manejar la ansiedad y el duelo por el diagnóstico.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apoyo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Familia, amigos y grupos de pacientes con cáncer pulmonar son recursos valiosos.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Mindfulness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meditación y relajación reducen el estrés y mejoran la calidad de vida.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Abandono del tabaco: un imperativo en su cuidado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actualmente fuma, dejar el tabaco es la intervención más importante que puede hacer.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no fumar durante el tratamiento: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función pulmonar residual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complicaciones quirúrgicas e infecciones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respuesta a la quimioterapia e inmunoterapia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un segundo cáncer primario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supervivencia global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disponibles: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Parches o chicles de nicotina, vareniclina (Champix), apoyo psicológico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a su médico sobre el programa de cesación tabáquica más adecuado para usted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alerta: cuándo llamar a su médico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Respiratorias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Dificultad respiratoria que empeora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Hemoptisis (sangre en el esputo)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Tos persistente de nueva aparición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Sibilancias o estridor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torácico que no cede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en los huesos (columna, caderas, hombros)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Dolor de cabeza persistente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Cualquier dolor nuevo e inexplicable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FF3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Síntomas generales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Pérdida de peso involuntaria (&gt;5% en 1 mes)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Fiebre mayor de 38°C sin causa aparente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Fatiga extrema que impide actividades básicas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Neurológicos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Cambios en la visión o el habla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Debilidad en un lado del cuerpo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Confusión o alteración del estado de conciencia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Relacionados con quimioterapia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Fiebre con conteo bajo de glóbulos blancos (neutropenia febril) → EMERGENCIA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Vómitos incoercibles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Signos de infección en catéter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Contactos de emergencia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 siempre a mano el número de su oncólogo y el servicio de urgencias de su clínica.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Seguimiento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resumen de su situación actual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camino por delante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su caso clínico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Mixto Infiltrante con componente Mucinoso y Lepídico, Grado G1 (Bien Diferenciado)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Estadio patológico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N0 Mx → Estadio IIB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midió 6.5 cm pero NO comprometió ganglios.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realizado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 con disección de ganglios linfáticos. Resección completa (R0) confirmada.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ganglionar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ganglios evaluados (EBUS preoperatorio + 3 ganglios quirúrgicos) fueron NEGATIVOS para malignidad.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favorables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G1, N0, sin invasión linfovascular ni perineural, sin invasión pleural, márgenes libres, unifocal.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 urgente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(EGFR, KRAS, ALK, ROS1, PD-L1) para planificar tratamiento adyuvante óptimo.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plan de acción: los próximos pasos concretos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Recuperación post-operatoria completa (4-6 semanas):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respiratorios, movilización progresiva, cuidado de herida quirúrgica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Estudio molecular del tumor (si no se ha solicitado):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su oncólogo: EGFR, KRAS, ALK, ROS1, BRAF, MET, PD-L1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Valoración por Oncología Médica para tratamiento adyuvante: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con platino ± terapia dirigida según perfil molecular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Programa de vigilancia con TC de tórax cada 6 meses (años 1-2):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cualquier recaída local o a distancia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Cuidados generales: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Nutrición, ejercicio moderado, cese tabáquico, apoyo psicológico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Conclusiones: Su panorama actual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60704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0607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detectado y operado exitosamente — la cirugía logró extirpar el tumor con márgenes libres.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5819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ganglios linfáticos están libres — el cáncer no se diseminó a la región ganglionar.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tumor es Grado 1 (G1), el menos agresivo posible para su tipo.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624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mixto mucinoso-lepídico generalmente tiene mejor respuesta a tratamiento que otros subtipos.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347472" cy="3474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455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del tumor (T3) y la presencia de STAS hacen importante el tratamiento adyuvante.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347472" cy="3474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6667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molecular es el PRÓXIMO PASO CRÍTICO para personalizar su tratamiento.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347472" cy="34747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1879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tratamiento adyuvante adecuado, tiene posibilidades reales de curación a largo plazo.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frecuentes de los pacientes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 voy a curar?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resección completa con márgenes libres y ganglios negativos es el escenario más favorable. El tratamiento adyuvante mejora aún más estas probabilidades.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¿Podré vivir normalmente?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pacientes recuperan una calidad de vida excelente tras la lobectomía. La adaptación pulmonar tarda entre 3 y 6 meses.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¿Tengo que tomar medicamentos de por vida?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del perfil molecular. Si tiene mutación EGFR, osimertinib se da por 3 años. Otros casos: solo quimioterapia adyuvante por 4-6 meses.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frecuentes son los controles?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de tórax cada 6 meses (años 1-2), luego anual. Visitas oncológicas cada 3-4 meses el primer año.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equipo de atención multidisciplinaria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188720"/>
            <a:ext cx="640080" cy="6400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Cirujano Torácico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Realizó la lobectomía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Edgar Amorin Kajatt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3260" y="11887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Oncólogo Médico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Luis Fernando Hurtado de Mendoza Acurio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80660" y="118872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Patólogo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Angela Chamochumbi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definitivo 19 Jun 2026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8060" y="1188720"/>
            <a:ext cx="640080" cy="6400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965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 Molecular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4688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CAP/UKNEQAS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NGS CP v2026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Usted no enfrenta esto solo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diagnóstico preciso, una cirugía exitosa con márgenes libres y ganglios negativos, y un tipo de tumor G1 bien diferenciado — las condiciones más favorables posibles para su estadio.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ya inició (4 ciclos) y el perfil molecular ha sido evaluado completamente.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 Felipe / Oncosalud  |  Octubre 2026  |  Versión 5 — incluye análisis molecular, quimioterapia y análisis bibliográfico completo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Molecular NGS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Cáncer de Pulmón AZ CP v2026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Julio 2026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qué se realizó este análisis?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mutaciones o fusiones genéticas que permitan usar terapias dirigidas (target) o inmunoterapia en vez de quimioterapia.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(Next Generation Sequencing) — AmpliSeq en Illumina NextSeq2000. Precisión &gt;99%, cobertura uniforme en 95% de bases.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 analizada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Tejido tumoral de pulmón derecho (bloque H26-08979-1-D). Celularidad tumoral: 30%.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evaluados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genes: ALK, ARID1A, BRAF, CDKN2A/B, EGFR, ERBB2, KEAP1, KRAS, MET, MTAP, NTRK1/2/3, TP53, RET, ROS1, STK11 + PD-L1 (IHQ)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Oncogenomics Peru — Acreditado CAP (College of American Pathologists) y UKNEQAS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 del informe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recibida: 15/07/2026  |  Informe emitido: 27/07/2026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NGS: Mutaciones y Variantes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PRINCIPAL: NO SE ENCONTRARON VARIANTES PATOGÉNICAS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 para mutaciones (SNV/Indels):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— Negativo (sin mutaciones activantes)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BRAF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(HER2)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— Negativo (sin amplificaciones ni mutaciones)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— Negativo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STK11, KEAP1, ARID1A, CDKN2A/B, MTAP — Todos negativos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Técnica: AmpliSeq NGS con plataforma Illumina. Interpretación según ACMG, ESCAT y OncoKB.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Fusiones Génicas y PD-L1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Fusiones Génicas (NGS RNA)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— Sin fusiones detectadas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ROS1 — Sin fusiones detectadas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NTRK1, NTRK2, NTRK3 — Sin fusiones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(exon skipping) — Sin fusiones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Negativo para todas las fusiones génicas conocidas en cáncer de pulmón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PD-L1 (IHQ — Ventana SP263)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(Tumor Proportion Score): 0%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NO EXPRESIÓN de PD-L1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TPS &lt;1% = sin expresión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Optiview DAB IHC / VENTANA Benchmark XT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positivo y negativo: resultados óptimos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este resultado para su tratamiento?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mutación EGFR → No aplica osimertinib (Tagrisso®) ni erlotinib/gefitinib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fusión ALK/ROS1 → No aplica crizotinib, alectinib ni lorlatinib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fusión NTRK → No aplica larotrectinib ni entrectinib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= 0% → No aplica pembrolizumab (Keytruda®) ni atezolizumab como monoterapia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El perfil es "triple negativo" para terapias dirigidas e inmunoterapia.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con Pemetrexed + Carboplatino es la indicación correcta y ya fue iniciada.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perfil es consistente con adenocarcinoma de pulmón de tipo no mucinoso/no-EGFR. El tratamiento recibido sigue las guías NCCN/ESMO para estadio IIB sin mutaciones driver.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Perfil Molecular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completo CP v2026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patogénicas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mutación driver detectada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(TPS)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expresión — inmunoterapia no indicada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5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indicada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+ Carboplatino adyuvante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Quimioterapia Adyuvante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PEMETREXED + CARBOPLATINO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 — 4 ciclos completados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necesita quimioterapia después de la cirugía?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lobectomía eliminó el tumor visible, pero células cancerosas microscópicas pueden persistir en el organismo.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adyuvante (después de la cirugía) reduce el riesgo de recaída en un 15–20% en estadio IIB.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Pemetrexed + Carboplatino?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(Alimta®): inhibe múltiples enzimas del metabolismo de folatos necesarias para la división celular del tumor. Es especialmente efectivo en adenocarcinomas no escamosos.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Carboplatino: forma enlaces cruzados con el ADN tumoral, impidiendo la replicación de las células cancerosas.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Combinados, actúan por dos mecanismos diferentes → mayor eficacia con toxicidad manejable.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 (suplemento): se administra 21 días antes y durante el tratamiento para proteger las células sanas y reducir los efectos secundarios del Pemetrexed.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infusión — Día 1 de cada ciclo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Pre-hidratación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Cloruro de Sodio 0.9% × 1000 ml IV (hidratación previa)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Antieméticos IV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12 mg IV (15 min) + Ondansetrón 8 mg IV (15 min)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Pemetrexed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mg en NaCl 0.9% × 250 ml — Infusión IV 30 minutos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Carboplatino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Dextrosa 5% × 500 ml — Infusión IV 60 minutos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(700 mg ciclos 1–3 | 450 mg ciclo 4 — dosis ajustada)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Filgrastim (post-QT)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μg SC por 5 días después de cada ciclo (soporte de médula ósea, evita neutropenia grave)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tratante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Luis Fernando Hurtado de Mendoza Acurio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Delgado — Oncosalud / Auna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4 ciclos de 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 — 31 de julio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ciclo adyuvante. Dosis completas de Pemetrexed + Carboplatino.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2 — 21 de agosto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700 mg. Próxima cita: 07–08 Sep 2026. SC 2: 29,306,306.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 — 11 de septiembre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700 mg. Aprobación 14/09/2026. SC 3: 29,497,106.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 — 02 de octubre de 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900 mg + Carboplatino 450 mg (dosis ajustada). SC 4: 29,688,405. Cita siguiente: 21 Oct 2026.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Intervalo entre ciclos: cada 21 días (q21d). Total: 4 ciclos completados.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tiempo — Ciclos de 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Jul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quimioterapia adyuvante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Ago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700mg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Sep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700mg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Oct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Pemex 900mg + Carbo 450mg (ajuste)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Oct 2026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Próx. cita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oncológica y análisis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Medicación en casa — Cada ciclo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ANTIEMÉTICOS ORALES (primeros 3 días post-QT):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4 mg oral — día previo a la quimioterapia (1 comprimido)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4 mg oral + Ondansetrón 8 mg oral — cada 12 horas por 3 días (con desayuno y cena)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TOXICIDAD DEL PEMETREXED: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 1 mg oral — diariamente por 21 días (y continuado durante todo el tratamiento)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Vitamina B12 (indicación de su médico) — antes del primer ciclo y cada 9 semanas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 ATENCIÓN Y CONTACTO: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Auna — Sede Delgado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Atención: lun–vie 8am–8pm, sáb 8am–2pm  |  Tel: (01) 204-9400 anexo 4137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alarma — Acuda a emergencias si presenta: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mayor de 38°C (puede indicar neutropenia — infección grave)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Náuseas y vómitos que impidan comer normalmente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Diarrea de más de 3 veces al día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Estreñimiento de más de 3 días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Llagas en la boca (mucositis)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abdominal intenso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GENERALES POST-QUIMIOTERAPIA: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corrientes de aire — abrigarse bien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alimentos tibios, evitar bebidas frías, fritas o muy condimentadas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suficiente agua (sin retener orina después del tratamiento)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tomar medicamentos no indicados por su médico — no consumir alcohol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conducir hasta saber cómo le afecta el tratamiento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Vacunas: consultar primero con su oncólogo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Eficacia del esquema Pemetrexed + Carboplatino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 esperado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recaída en ~15–20% en estadio IIB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libre de enfermedad (DFS) mejorada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estudios ANITA, IALT, JBR.10 y LACE meta-análisis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Pemetrexed: preferido en adenocarcinoma no escamoso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Carboplatino: mejor tolerado que cisplatino, especialmente renal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Filgrastim G-CSF: previene infecciones por neutropenia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Efectos secundarios conocidos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Fatiga: muy común (primer ciclo especialmente)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Náuseas/vómitos: controlados con antieméticos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cabello (alopecia): leve con pemetrexed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Mucositis: reducida con ácido fólico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Mielosupresión: manejada con filgrastim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Neuropatía: poco frecuente con carboplatino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 etapas: seguimiento post-quimioterapia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CITA: 21 de octubre de 2026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oncológica con Dr. Hurtado de Mendoza. Revisar tolerancia al ciclo 4 y planificar seguimiento.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IMAGENOLÓGICO POST-QUIMIOTERAPIA: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de tórax de evaluación de respuesta: ~4–6 semanas post-último ciclo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toraco-abdomino-pélvica cada 6 meses (años 1–2), luego anual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PET-scan si existe sospecha de recaída en imágenes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Y LABORATORIO: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 completo antes de cada ciclo (control de mielosupresión)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renal (creatinina) — monitoreo de carboplatino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CEA, CYFRA 21-1: marcadores tumorales de seguimiento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4 ciclos fueron bien tolerados y las imágenes muestran ausencia de enfermedad → vigilancia activa sin tratamiento adicional inmediato (hasta nueva evaluación).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Esperanza de Vida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de supervivencia y pronóstico a largo plazo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IIB, G1, R0, N0 — perfil molecular negativo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probabilidad de supervivencia — Perfil ajustado Estadio IIB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— promedio poblacional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general (Giaccone/IASLC). Base de referencia estadística.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perfil ajustado (G1+N0+R0+lepídico)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favorables: G1, ganglios negativos, margen libre, componente lepídico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+5.4%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adyuvancia (LACE, n=4584)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HR=0.89. Estadio II: mayor beneficio que estadio I (LACE 2008)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a 10 años (estadio IIB)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históricas con seguimiento &gt;10 años (SEER, LCSG)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su caso que mejoran el pronóstico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MUY FAVORABLES EN SU CASO: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Bien Diferenciado: los tumores bien diferenciados tienen menor agresividad y mejor respuesta al tratamiento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(ganglios negativos): sin diseminación ganglionar — factor pronóstico más importante en NSCLC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(márgenes libres): resección completa — ningún tumor residual visible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 presente: patrón de crecimiento menos agresivo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mutaciones driver: simplifica el tratamiento y evita resistencias a terapias target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REALISTA: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es un estadio intermedio. La cirugía fue exitosa y la quimioterapia adyuvante es el estándar de cuidado. Muchos pacientes con su perfil alcanzan remisión completa a largo plazo.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estricto (TC cada 6 meses los 2 primeros años) es clave para detectar cualquier recaída tempranamente, cuando el tratamiento tiene mayor efectividad.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próximos 10 años — hitos médicos y de vida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quimio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evaluación (21 Oct). Inicio vigilancia activa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852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 2027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control. Laboratorio completo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8444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2608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año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anual. Evaluación calidad de vida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3036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2028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años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+ PET si sospecha. Retomar actividades plenas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7628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2031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años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de supervivencia. TC anual simplificado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2036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años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seguimiento intensivo. Vida normal plena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Vida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preguntas sobre calidad de vida, actividad física,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alimentación, trabajo y actividades cotidianas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tener hijos?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actual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quimioterapia con Carboplatino puede reducir temporalmente la producción de espermatozoides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Carboplatino tiene efecto gonadotóxico moderado (menor que los agentes alquilantes clásicos)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52 años, la fertilidad natural ya es reducida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espermática: generalmente entre 6–24 meses post-quimioterapia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mínimo 6–12 meses después del último ciclo (Oct 2026 → Oct 2027) antes de intentar concebir para permitir reparación del ADN espermático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con endocrinólogo/urólogo: espermograma post-quimioterapia (a los 6 meses)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desea tener hijos: es posible, pero requiere evaluación médica personalizada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Reproducción asistida (ICSI/FIV): opción si el conteo espermático no recupera niveles normales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salud del bebé: no se incrementa el riesgo genético después del periodo de recuperación espermática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Psicológicamente: planificar la vida familiar da sentido y motivación — aspecto muy positivo para la recuperación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viajar? — Autobús y Avión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Autobús (viajes largos)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Oct 2026): evitar viajes &gt;3 horas. Riesgo de trombosis venosa (DVT). Si es necesario: medias compresivas, levantarse cada 90 min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quimio: viajes largos en bus permitidos con precaución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siempre: medias compresivas 20–30 mmHg, hidratación abundante, levantarse cada 2 horas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en altura (ruta andina): ver restricciones de altitud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Post-lobectomía: esperar mínimo 6 semanas post-cirugía (ya cumplido)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cabina de avión equivale a ~2,400 msnm → presión de O2 reducida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FEV1 &gt;50% (evaluación previa recomendada): vuelos de corta y media duración son seguros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 &gt;4 horas: medias compresivas + aspirina (consultar con oncólogo)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ACTUALMENTE PUEDE VOLAR con las precauciones indicadas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trabajar en altura (&gt;4000 msnm)?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TEMPORALES (1–3 días) a 4000 msnm: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después de 6–12 meses post-cirugía (desde Dic 2026 – Jun 2027) con aclimatación gradual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Condición: evaluación de función pulmonar previa (espirometría con FEV1, DLCO)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Aclimatación: subir en etapas, nunca más de 500 m/día sobre 3000 msnm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de alerta en altura: disnea de reposo, saturación &lt;85%, dolor torácico → descender inmediatamente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PERMANENTE (semanas/meses) a 4000 msnm: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RECOMENDADO con un lóbulo pulmonar menos. La hipoxia crónica a gran altitud genera hipertensión pulmonar secundaria, lo que sobrecarga el pulmón restante.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máxima para residencia/trabajo permanente: ≤ 3,000–3,500 msnm (Cusco: posible con evaluación; Juliaca/Puno: no recomendado sin evaluación pulmonar completa)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OBLIGATORIA con neumólogo antes de cualquier trabajo en altura por encima de 3,500 msnm.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trabajar en la selva tropical?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Oct 2026):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recomendado: sistema inmune deprimido por quimioterapia → riesgo alto de infecciones tropicales (malaria, dengue, leptospirosis, histoplasmosis, paracoccidioidomicosis)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completar quimioterapia (desde Feb–Mar 2027):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con precauciones estrictas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Vacunación obligatoria antes: fiebre amarilla, hepatitis A/B, tifoidea, rabia (si aplica)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Profilaxis antipalúdica: según la región — consultar con médico de viajes/infectólogo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Ropa de protección: cubrir brazos/piernas, repelente DEET, mosquitero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RESPIRATORIAS: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alta humedad de la selva puede causar mayor sensación de disnea al inicio. No es peligrosa, pero sí incomoda. El organismo suele adaptarse en 1–2 semanas.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neumólogo y oncólogo antes de cualquier trabajo prolongado en selva.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ir al gimnasio? — Guía por etapas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DURANTE quimioterapia (Ago–Oct 2026):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caminatas suaves (15–30 min/día), yoga restaurativo, estiramientos suaves. Sin pesas. Sin cardio intenso.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Meses 1–3 post-quimio (Oct 2026 – Ene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caminatas progresivas (30–45 min), bicicleta estacionaria suave, pilates. Pesas: máx. 3–5 kg.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Meses 3–6 post-quimio (Feb – May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Natación (excelente — el mejor ejercicio post-lobectomía), trote suave, elíptica. Pesas: hasta 10 kg. Comenzar fitness completo progresivo.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6+ meses post-quimio (desde May 2027):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 completo progresivo. Ejercicios de fuerza, cardio moderado–alto. Natación sin restricciones. Meta: 150 min/semana de actividad moderada (guía ACSM/ASCO para sobrevivientes de cáncer).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Ejercicios recomendados para sobrevivientes de cáncer de pulmón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Caminata — EXCELENTE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punto de partida. Progresiva: 15 min → 45 min → 1 hora. Sin impacto, mejora la capacidad pulmonar residual.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Natación — IDEAL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más recomendado post-lobectomía. Ejercita todo el cuerpo sin impacto ni estrés sobre el pulmón. Mejora la difusión de oxígeno.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Bicicleta / Elíptica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de bajo impacto, excelente para recuperar la capacidad aeróbica. Iniciar en cicloergómetro estacionario.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Yoga / Tai Chi / Pilates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respiración diafragmática, la flexibilidad y reducen la ansiedad. Muy recomendados durante y después de la quimioterapia.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Ejercicios respiratorios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Respiración diafragmática, técnica de labios fruncidos, espirómetro incentivo. Deben realizarse 3×/día. Mejoran la función pulmonar residual.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 (por ahora)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Deportes de contacto, levantamiento &gt;20 kg, buceo, ejercicio en altura extrema, deportes de alto impacto. Pueden retomarse gradualmente desde 12 meses post-quimio.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peso puedo cargar? — Progresión post-cirugía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kg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0–3 post-cirugía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objetos ligeros. Sin bolsas pesadas. Restricción torácica.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kg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3–6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Gradual. Cargar con ambos brazos. Evitar giro de tronco brusco.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kg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6–12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normal. Estilo libre. Usar técnica adecuada de levantamiento.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 kg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meses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casi plena. Evaluar con el médico si trabaja en carga pesada frecuente.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 capacidad física: km que puede caminar por día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005840"/>
            <a:ext cx="36576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37960" y="1005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 2026)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46520" y="1645920"/>
            <a:ext cx="36576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3796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QT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(Jul 2026)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46520" y="2743200"/>
            <a:ext cx="36576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QT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(Oct 2026)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46520" y="3931920"/>
            <a:ext cx="36576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3796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normal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(2028)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¿Puedo tomar vino u otras bebidas alcohólicas?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(hasta Oct 2026):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PROHIBIDO. El alcohol interactúa con Pemetrexed y Carboplatino: aumenta la toxicidad hepática y renal, empeora la mielosupresión, agrava las náuseas y reduce la hidratación necesaria.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completar quimioterapia (desde Dic 2026):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Espere 4 semanas post-último ciclo antes de consumir alcohol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moderado permitido: máximo 1 copa de vino (150 ml) con las comidas, 2–3 veces por semana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vino tinto con moderación aporta resveratrol y polifenoles — antioxidantes con posible efecto protector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EVITAR: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más de 2 copas/día — el alcohol es carcinógeno Grupo 1 (IARC) y aumenta el riesgo de recaída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Cerveza en exceso: calorías vacías, reduce el sistema inmune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Spirits/licores de alta graduación: mayor toxicidad hepática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combinar alcohol con acetaminofén (paracetamol) — riesgo de hepatotoxicidad.</a:t>
            </a:r>
            <a:endParaRPr lang="en-US" sz="17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Alimentación recomendada — Dieta anticáncer y de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(base de la recuperación):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Pescado azul (salmón, sardinas, caballa) — Omega-3 antiinflamatorio, 3×/semana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Carnes blancas (pollo, pavo) — sin piel, al horno o a la plancha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Legumbres (lentejas, garbanzos, frijoles) — proteína vegetal + fibra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Huevos — fuente completa de aminoácidos esenciales, 4–5/semana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FRUTAS Y VERDURAS (antioxidantes):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Crucíferas (brócoli, coliflor, col) — sulforafano con efecto anticáncer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Arándanos, fresas, moras — flavonoides y vitamina C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 (licopeno), zanahoria (betacaroteno), espinaca (folato)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SUPERALIMENTOS: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Cúrcuma + pimienta negra (curcumina antiinflamatoria), ajo, cebolla, jengibre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de oliva extra virgen, nueces, linaza molida (omega-3 vegetal)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 verde (EGCG antioxidante), avena integral, quinua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Hidratación: 2.0–2.5 litros de agua/día. Añadir infusiones de manzanilla, jengibre.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Alimentos que debe minimizar o evitar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SIEMPRE (carcinógenos y proinflamatorios):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Carnes procesadas: jamón, chorizo, salchicha, tocino — carcinógenos Grupo 1 (IARC)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ultraprocesados: fideos instantáneos, snacks de paquete, comida rápida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refinada en exceso: gaseosas, dulces, galletas industriales — promueve inflamación y proliferación celular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Frituras y grasas trans: papas fritas, donas, margarina — proinflamatorias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SIGNIFICATIVAMENTE: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 roja: máximo 2 veces/semana. Preferir cortes magros, evitar la parte quemada (HCA)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en exceso: máximo 5 g/día. Evitar alimentos muy salados/conservados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QUIMIOTERAPIA (adicional):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sushi/ceviche, leche no pasteurizada, huevos crudos, quesos blandos — riesgo de infección por inmunodepresión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toronja/pomelo — inhibe enzimas que metabolizan algunos fármacos oncológicos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suplementos de vitamina E en altas dosis y antioxidantes en pastillas durante la quimio (pueden interferir con su eficacia).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Sueño y descanso — Recomendaciones para la recuperación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de sueño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 horas por noche. Durante quimioterapia: 8–9 horas mínimo. El sueño es cuando el sistema inmune se regenera y el organismo repara tejidos.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Posición al dormir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elevada 30–45° (almohada extra) — reduce la sensación de disnea nocturna post-lobectomía y el reflujo gatillado por la quimioterapia.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Siestas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Permitidas: 20–30 minutos máximo. Más de 60 min interrumpe el sueño nocturno y genera mayor fatiga. La fatiga por quimio es real — no fuerce actividad.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Higiene del sueño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Oscuridad completa, temperatura fresca (18–20°C). Sin pantallas 1 hora antes. Rutina fija de horario de cama. El cortisol elevado por estrés suprime la inmunidad.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Fatiga oncológica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diferente al cansancio normal. No se corrige solo con dormir. Mejora con ejercicio suave, buena nutrición y apoyo psicológico. Comunique a su equipo si es severa.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emocional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ansiedad y depresión afectan el sueño y la recuperación inmune. Psicólogo oncológico 1×/mes recomendado. Meditación mindfulness: 10–15 min/día.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Semáforo de actividades para planificar su vida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 — Permitido ahora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Caminar (progresivo), yoga suave, bicicleta estacionaria, viajes cortos en avión/bus, trabajo de oficina, conducir, ver a la familia.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 — Permitido desde Feb 2027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Natación, trekking moderado (&lt;3000 msnm), viajes largos, trabajo en selva (con profilaxis), gimnasio completo, planificación familiar.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AMARILLO — Con evaluación médica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3000–3500 msnm (evaluar con neumólogo), carga &gt;15 kg frecuente, deportes de resistencia (maratón), buceo, trabajo permanente fuera de Lima.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D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ROJO — No recomendado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permanente &gt;3500 msnm, alcohol durante quimio, deportes de contacto (primer año), suplementos antioxidantes sin consultar, carnes procesadas en exceso.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Copa de vino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quimio: NO. Después de Oct 2026: máximo 1 copa 2–3×/semana, con comida. Prefiera vino tinto por su contenido en polifenoles.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Hijos / Familia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Espermograma a los 6 meses post-quimio (May 2027). Si desea concebir: consultar andrólogo/urólogo. Vida familiar plena y planificación activa son muy favorables para la recuperación.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de caminata y distancias — guía de progresión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PROGRESIÓN POR ETAPAS: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 post-cirugía: 0.5 km/día (dentro del hospital/casa). El objetivo es moverse, no la distancia.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 (Ago 2026): 2 km/día. Caminata plana, sin pendiente. Parar si hay disnea.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 (Sep 2026): 3–4 km/día. Puede dividirse en 2 salidas de 20 min.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(Oct 2026): 5 km/día. Inicio de la "normalización" de la capacidad pulmonar residual.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 (Ene 2027): 8 km/día. Post-quimioterapia: energía mejora notablemente. Terreno variado.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9 (Abr 2027): 12 km/día. Rutas con ligera inclinación. Trote suave incluido.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12 (Jul 2027): 15 km/día. Vida activa plena. Senderismo moderado (&lt;2500 msnm).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18 (Ene 2028): 18–20 km/día. Trekking, caminatas de montaña (hasta 3000 msnm con aclimatación).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Estos son valores de referencia para un paciente activo y bien recuperado. Cada persona es diferente. Escuche a su cuerpo y a su médico. La fatiga post-quimio puede hacer que la progresión sea más lenta en los primeros meses.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Clínico vs. Bibliografía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de su tratamiento evaluada contra los libros de referencia médica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Cronología Completa del Caso — Fase por Fase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Patología quirúrgica Unilabs: Adenocarcinoma mucinoso in situ. Nota: no descarta infiltrante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30,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EBUS-TBNA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ganglios mediastinales 4R, 11R, 11L: negativos. Estadificación completada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13,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inferior derecha. Tumor 6.5 cm. pT3N0Mx. STAS+. 0/13 ganglios.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27, 2026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Molecular NGS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AZ v2026: todas las variantes negativas. PD-L1=0%. IMA no evaluada por NRG1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Ago-Oct 2026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Quimioterapia Adyuvante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 + Carboplatino. Ciclos 2-4 (ciclo 4 con dosis reducida). En curso.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1: Diagnóstico Patológico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QUE SE HIZO BIEN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tisular quirúrgica: gold standard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histológica detallada: G1, patrón mixto mucinoso+lepídico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Inmunohistoquímica completa para confirmar adenocarcinoma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de componentes: lepídico (bajo grado) y mucinoso infiltrante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macroscópico medido: 5.5×4.0×6.5 cm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evaluados: bronquial y vascular libres 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SEGÚN LOS LIBROS — PUNTOS ADICIONALES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diagnóstico definitivo de IMA requiere cirugía resectiva (correcto)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 prognosis favorable, menor propensión a metástasis nodal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mucinoso: patrón infiltrante, mayor riesgo aerogenoso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documentado: factor pronóstico independiente — correctamente reportado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dualidad lepídico+mucinoso es característica del adenocarcinoma mixto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definitivo solo posible post-resección — proceso correcto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Estadificación — Evaluación vs. Bibliografía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REALIZADO CORRECTAMENTE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EBUS-TBNA: metodología estándar para estadificación mediastinal invasiva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estaciones ganglionares muestreadas (4R, 11R, 11L)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Linfadenitis reactiva sin neoplasia → confirmación N0 clínico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histológicos: células malignas ausentes, antracosis presente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PET/CT previo a cirugía para detectar enfermedad a distancia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clínico → patológico: proceso correcto y completo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LIBRO IASLC 8° EDICIÓN — CONFIRMACIÓN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pT3N0M0 = Estadio IIB (8ª edición TNM)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T3: tumor &gt;5cm y ≤7cm — el tumor mide 6.5 cm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N0: sin metástasis ganglionar regional — 0/13 ganglios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FDG-PET/CT mejora precisión del estadio T — correcto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IASLC: broncoscopia necesaria para tumores centrales — N/A aquí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Estadificación mediastinal invasiva (EBUS): obligatoria antes de cirugía ✓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3: Cirugía — Análisis Detallado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ESTÁNDARES CUMPLIDOS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Lobectomía: resección gold standard para tumores &gt;2 cm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R0: resección completa con márgenes libres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Lóbulo inferior derecho: resección anatómica correcta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intraoperatorio de márgenes realizado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 adicional: nódulo LSD 1.5 cm — benigno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espécimen: 289 g — lobectomía completa adecuada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LIBROS: PUNTOS A REVISAR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Nesbitt Thoracic Surgical Oncology: disección sistemática mediastinal debe incluir ≥6 ganglios de ≥3 estaciones N2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Reporte: 0/3 intrapulm. + 0/1+0/1+0/1+0/7 = 13 total — pero estaciones N2 no claramente especificadas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STAS+: libro O'Brien indica que tumores con componente lepídico "frecuentemente recaen"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Mucinoso+STAS: mayor riesgo de diseminación aerogenosa intraoperatoria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lobectomía preferible a resección sublobar en mucinoso difuso ✓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pleural visceral: factor favorable ✓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(cont.) — STAS: Factor Crítico en este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STAS (Spread Through Air Spaces)?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diseminación de células tumorales a través del espacio aéreo pulmonar — células aisladas, grupos o micropapilas más allá del tumor principal.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EN ESTE PACIENTE: PRESENTE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 clínicas según los libros (O'Brien, Thoracic Surgical Oncology):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pronóstico independiente: se asocia con mayor tasa de recurrencia local y a distancia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diseminación aerogenosa: las células tumorales viajan por el árbol bronquial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con resección sublobar: justifica lobectomía (que se realizó correctamente ✓)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más frecuente: requiere TC torácica cada 3-6 meses por 2 años (no solo anual)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impacto en decisión de QT adyuvante: STAS+ refuerza necesidad de quimioterapia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El paciente recibió lobectomía (no sublobar) — DECISIÓN CORRECTA para STAS+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4: Perfil Molecular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LO QUE SE HIZO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NGS AZ CP v2026 en bloque H26-08979-1-D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AmpliSeq en Illumina NextSeq2000 (certificación CAP)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evaluados: ALK, BRAF, EGFR, ERBB2, KRAS, MET, NTRK1/2/3, ROS1, RET, TP53 + más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por inmunohistoquímica (SP263): TPS = 0%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variantes: NEGATIVAS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Fusiones génicas (ALK, NTRK, ROS1, MET): NEGATIVAS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LIBRO O'BRIEN — ALERTA CRÍTICA: NRG1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"NRG1 fusion occurs in 10-30% of invasive mucinous adenocarcinomas of the lung"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= diana terapéutica accionable con tarlaxotinib y otros inhibidores ErbB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¡ESTE PANEL NO EVALUÓ NRG1 FUSION!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Histología mucinosa invasiva + panel NGS negativo → NRG1 debe descartarse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recurrencia → solicitar NRG1 fusion como PRIORIDAD ABSOLUTA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beneficio limitado de inmunoterapia estándar (pembrolizumab)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 (cont.) — Implicaciones del Perfil Molecular Negativo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EGFR (ex19del/L858R): No candidato a osimertinib adyuvante (ADAURA trial)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Libro O'Brien: ADAURA mostró DFS 89% vs 52% a 2 años SOLO en EGFR+. No aplica aquí.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ALK/ROS1/NTRK: No aplican alectinib, lorlatinib, entrectinib, ni larotrectinib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Libro Salgia (Targeted Therapies): fusiones son los únicos drivers accionables sin mutación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KRAS/BRAF/MET: No aplica inhibición KRAS G12C (sotorasib) ni MET ex14 (tepotinib)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Giaccone: paciente con perfil negativo recibe tratamiento estándar (quimioterapia)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TPS=0%: Beneficio de pembrolizumab/atezolizumab limitado o nulo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O'Brien IMpower010: beneficio de atezolizumab en PD-L1 ≥1%. TPS=0% → no indicado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PENDIENTE CRÍTICO: NRG1 FUSION en IMA — NO TESTEADO. Solicitar si hay recurrencia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5: Quimioterapia Adyuvante — Análisis vs.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FUNDAMENTO BIBLIOGRÁFICO SÓLIDO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meta-análisis (4584 ptes): +5.4% SG a 5 años con QT cisplatino adyuvante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cisplatino es estándar, CARBOPLATINO aceptable si contraindicación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Pemetrexed+platino: igual actividad que vinorelbina+cisplatino, mejor tolerancia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"Cisplatin-pemetrexed has better tolerability and superior dose delivery"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Regímenes: 4 ciclos post-resección completa = estándar internacional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Indicación en Estadio IIB: FUERTEMENTE RECOMENDADA por todos los libros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PUNTOS A EVALUAR EN ESTE CASO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4: Carboplatino REDUCIDO de 700mg a 450mg — indica toxicidad acumulada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dosis acumulada cisplatino 240-400 mg/m² para beneficio completo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Filgrastim 300μg x5 días: correcto para profilaxis de neutropenia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¿Se completarán los 4 ciclos completos? — CRÍTICO para mantener beneficio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dosis impacta en la eficacia del tratamiento adyuvante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oncólogo si completar ciclo 4 completo o agregar ciclo adicional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Bibliográfica: Beneficio de Quimioterapia Adyuvante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6EA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5.4%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SG a 5 años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LACE (4584 pacientes)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O'Brien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5F5E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ciclos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tratamiento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Cisplatino + dobleta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adyuvante completa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B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para muerte (LACE)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95%: 0.82-0.96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~41%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con recurrencia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resección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Sugimura et al.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Detallado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profundo de sobrevida y recurrencia basado en los libros de texto</a:t>
            </a:r>
            <a:endParaRPr lang="en-US" sz="1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Sobrevida a 5 Años — Datos por Estadio (Bibliografía)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5F5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sola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IASLC 8ª 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D6EA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con QT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~50% + QT HR=0.83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/ Giaccone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DEB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solo cirugía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8.ª Ed. / Giaccone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pT3N0M0 resecado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IIIA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sola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 / IASLC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Pronósticos en el Caso de Mauricio — Análisis Bibliográfico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FAVORABLES (según libros)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Bien Diferenciado: tumores bien diferenciados tienen mejor pronóstico que G2/G3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Lepídico: O'Brien: "associated with good survival after resection"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 confirmado: 0/13 ganglios — factor más importante de pronóstico en NSCLC resecado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libres (R0): libro Nesbitt: "completeness of resection is the most critical factor"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linfovascular ni perineural: ausencia de ambos mejora el pronóstico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invasión pleural visceral: ausencia de PL1/PL2/PL3 — factor favorable ✓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RIESGO ADICIONALES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 PRESENTE: diseminación tumoral aerogenosa — aumenta riesgo de recurrencia local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T3 (6.5 cm): mayor tamaño = mayor riesgo de micrometástasis ocultas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Histología mucinosa infiltrante: mayor riesgo de diseminación aerogenosa vs. acinar pura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limita opciones futuras de inmunoterapia si hay recurrencia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de Recurrencia — ¿Cuándo, Dónde y Por Qué?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DATOS DE LOS LIBROS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IIB: ~40-50% de recurrencia en los primeros 5 años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de todos los resecados desarrollan recurrencia (Giaccone)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locoregional: primeros 2 años = período de mayor riesgo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a distancia: cerebro, hueso, hígado, suprarrenales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STAS+: mayor riesgo de recurrencia aerogenosa ipsilateral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lepídico: menor propensión a metástasis nodal y extratóracica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🕐 DISTRIBUCIÓN TEMPORAL (LIBROS)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1-2 post-cirugía: mayor riesgo de recurrencia (50-60% de recurrencias)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2-5: riesgo disminuye, pero monitoreo continúa siendo crítico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 años: recurrencia tardía posible (5-10%), especialmente en G1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Mucinoso: recurrencia por diseminación aerogenosa puede ser tardía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5 años: probabilidad alta de curación (&gt;80%)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"30% stage IB to 70% stage IIIA have recurrence"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Recurrencia — Tipos y Frecuencia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 (~40-45% de recurrencias)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Lecho quirúrgico / muñón bronquial: primer sitio a vigilar con TC torácica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Ganglios mediastinales ipsilaterales: riesgo bajo dado N0 confirmado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Diseminación aerogenosa (STAS+): nuevos nódulos en pulmón ipsilateral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A DISTANCIA (~55-60% de recurrencias)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Cerebro: adenocarcinoma tiene mayor propensión a metástasis cerebrales que escamoso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Hueso: columna, pelvis, costillas — dolor óseo persistente = señal de alarma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Hígado y suprarrenales: evaluados en TC abdomen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Pulmón contralateral: puede ser metástasis o segundo primario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ALARMA A REPORTAR INMEDIATAMENTE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torácico, hemoptisis, disnea progresiva, dolor óseo, cefalea persistente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peso involuntaria &gt;5%, fiebre sin causa, adenopatías palpables</a:t>
            </a:r>
            <a:endParaRPr lang="en-US" sz="15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de Vigilancia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basado en bibliografía: cuándo, qué examen y por qué</a:t>
            </a:r>
            <a:endParaRPr lang="en-US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Post-Resección — Protocolo Basado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BIBLIOGRÁFICO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"CT surveillance" mencionada para seguimiento post-tratamiento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Giaccone: seguimiento sistemático después de resección en estadio II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8ª Ed.: vigilancia central para estadificación y control de enfermedad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RECOMENDADO (ESTÁNDARES BIBLIOGRÁFICOS)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TORÁCICA CON CONTRASTE: cada 3-6 meses los primeros 2 años (STAS+ → cada 3 meses)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TORÁCICA BAJA DOSIS: anual a partir del año 3 hasta año 5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TÓRAX-ABDOMEN-PELVIS: si síntomas o hallazgos sospechosos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PET-CT: NO en vigilancia rutinaria — solo ante sospecha de recurrencia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RMN CEREBRAL: considerar si síntomas neurológicos (adenocarcinoma = riesgo cerebral)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FÍSICO + HISTORIA CLÍNICA: cada 3 meses los primeros 2 años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ESPIROMETRÍA: cada 6 meses para monitorear función pulmonar post-lobectomía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TUMORALES (CEA): útil como complemento si estaba elevado basalmente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de Vigilancia Recomendado (2026-2031)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-365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Oct-Dic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3657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ciclos 4 y fin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-4572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quimioterapia. TC basal post-QT. Espirometría. Labs completos.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0008" y="239572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Ene-Mar 2027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 post-QT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(3 meses). Examen físico. Evaluación de síntomas. CEA si aplica.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39572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2027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post-QT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tórax+abdomen. Espirometría. Evaluación oncológica completa.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4808" y="2395728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 2027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= 1 AÑO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657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tórax+abdomen+pelvis. RMN cerebral si síntomas. Evaluación integral.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22208" y="2395728"/>
            <a:ext cx="384048" cy="38404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63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2028-2031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2-5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1097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tórax cada 6 meses (año 2-3), luego anual. Cada año: evaluación completa.</a:t>
            </a:r>
            <a:endParaRPr lang="en-US" sz="11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Buscar en Cada Control — Vigilancia Activa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🔍 EN CADA TC TORÁCICA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nódulos pulmonares (&gt;6mm → biopsia)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Engrosamiento del muñón bronquial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Adenopatías mediastinales o hiliares nuevas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 pleural nuevo o creciente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de diseminación aerogenosa (STAS+): nódulos satélites ipsilaterales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de consolidaciones o vidrio esmerilado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🩺 EN CADA EXAMEN CLÍNICO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ganglionar: cuello, axila, ingle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Auscultación pulmonar: nuevas asimetrías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neurológicos: cefalea, vértigo, diplopia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óseo: columna, parrilla costal, miembros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peso: &gt;5% en 3 meses = señal roja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Marcadores: CEA, CA125 si aplica (comparar con basal)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 la Recurrencia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opciones existen si el cáncer vuelve? — Análisis desde los libros</a:t>
            </a:r>
            <a:endParaRPr lang="en-US" sz="1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Hay Recurrencia — Algoritmo Decisional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CONFIRMAR HISTOLOGÍA Y RE-BIOPSIA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re-biopsia obligatoria para confirmar recurrencia y re-estadificar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Re-biopsiar para evaluar cambios moleculares (pueden emerger nuevas mutaciones)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NRG1 FUSION: prioritario en recurrencia de adenocarcinoma mucinoso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EVALUAR EXTENSIÓN DE LA RECURRENCIA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localizada (resecable): cirugía de rescate o SBRT/SABR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locoregional extensa: quimio-radioterapia concurrente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sistémica/metastásica: quimioterapia sistémica de primera línea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SELECCIÓN DE TRATAMIENTO SISTÉMICO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Giaccone: primera línea avanzada = platino + dobleta (gemcitabina, paclitaxel, pemetrexed)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 actualmente: respuesta baja a inmunoterapia, pero re-evaluar PD-L1 en biopsia nueva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NRG1+ (si se detecta): tarlaxotinib / afatinib — diana accionable nueva</a:t>
            </a:r>
            <a:endParaRPr lang="en-US" sz="15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Opciones de Segunda Línea — Evidencia de los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💊 QUIMIOTERAPIA 2ª LÍNEA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Docetaxel: demostró beneficio en supervivencia vs. BSC (TAX317)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Pemetrexed: equivalente a docetaxel, mejor tolerancia en no escamoso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Giaccone: "segunda línea solo mejora mediana de supervivencia"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con ramucirumab (anti-VEGFR2): mejora PFS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Nintedanib + docetaxel: opción en adenocarcinoma refractario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Carboplatino-based reinducción: si &gt;6 meses desde última QT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INMUNOTERAPIA Y TERAPIA DIRIGIDA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/ pembrolizumab: aprobados 2ª línea (aunque PD-L1=0% = menor beneficio)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Atezolizumab: alternativa si PD-L1 cambia en nueva biopsia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IMpower010: beneficio en PD-L1 ≥1% — re-evaluar al recaer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(si + en re-biopsia): afatinib / tarlaxotinib / zenocutuzumab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Salgia: "ErbB-targeted treatments remain potential therapeutic strategies"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SBRT/SABR: para lesiones únicas/oligometastásicas (&lt;5 lesiones)</a:t>
            </a:r>
            <a:endParaRPr lang="en-US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Radioterapia en el Contexto del Paciente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RADIOTERAPIA POSTOPERATORIA (PORT) — ¿APLICA?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PORT NO recomendada en N0 completamente resecado (puede ser dañina)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(9 RCTs, 30 años): PORT reduce recurrencia local 7%, pero sin beneficio en N0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PORT NO indicada en este paciente (N0 R0) — CORRECTO no haberla planificado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SBRT/SABR PARA RECURRENCIA OLIGOMETASTÁSICA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SBRT para oligometástasis (&lt;5 lesiones) puede dar control local excelente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Dosis: típicamente &gt;8 Gy/fracción, 3-8 fracciones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local a 3 años: 70-90% con SBRT en lesiones ≤3 cm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Cai/Chang/Yin (Image-Guided RT): IGRT + SBRT es tecnología estándar para lung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Si recurrencia cerebral → radiocirugía (SRS). Si recurrencia pulmonar única → SBRT o resección quirúrgica.</a:t>
            </a:r>
            <a:endParaRPr lang="en-US" sz="1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Molecular Profundo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los libros dicen sobre el perfil genómico del adenocarcinoma mucinoso</a:t>
            </a:r>
            <a:endParaRPr lang="en-US" sz="1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Molecular del Adenocarcinoma Mucinoso — Libro O'Brien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MOLECULARES DEL ADENOCARCINOMA MUCINOSO INVASIVO (IMA)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KRAS: la mutación más frecuente en IMA (incluye KRAS G12D, G12V, G13D)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 DEL PACIENTE: KRAS NEGATIVO — inusual, pero posible en IMA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(CD74-NRG1 más frecuente):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O'Brien: "NRG1 fusion occurs in 10-30% of invasive mucinous adenocarcinomas"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Activa la vía ErbB (EGFR/HER2/HER3/HER4) → crecimiento tumoral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evaluada en el panel actual del paciente — BRECHA DIAGNÓSTICA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Tratamiento dirigido disponible: zenocutuzumab, tarlaxotinib, afatinib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 (LKB1): mutación frecuente en IMA; asociada con resistencia a inmunoterapia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RESULTADO: STK11 NEGATIVO — favorable (menos resistencia a inmunoterapia)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KEAP1: mutación evaluada, negativa — favorable (no resistencia a platino)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TP53: negativo — relativamente inusual, pero posible en G1 bien diferenciado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el Perfil Molecular para el Futuro?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AHORA (Estadio IIB, QT adyuvante)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EGFR: no osimertinib adyuvante (ADAURA negativo para este paciente)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KRAS: no sotorasib ni adagrasib (solo en estadio IV con mutación)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ALK/ROS1: no TKI dirigido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PD-L1=0%: inmunoterapia adyuvante con atezolizumab sin beneficio demostrado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actual: completar QT adyuvante (estándar correcto)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solicitar NRG1 fusion en muestra de archivo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🔮 EN CASO DE RECURRENCIA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Re-biopsia obligatoria: evaluar EVOLUCIÓN CLONAL (nuevas mutaciones)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NRG1 fusion (si aplica): zenocutuzumab o tarlaxotinib — disponibilidad limitada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Re-evaluar PD-L1: puede aumentar en respuesta a tratamiento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Re-evaluar EGFR/ALK: raramente, resistencia puede revelar nuevas variantes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amplification: puede emerger como mecanismo de resistencia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(tumor mutational burden): puede ser útil para selección de inmunoterapia</a:t>
            </a:r>
            <a:endParaRPr lang="en-US" sz="14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Evaluados y Su Significado Clínico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EGFR — NEGATIVO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Exones 18-21 evaluados. Sin mutaciones activadoras. No aplica osimertinib/erlotinib/gefitinib adyuvante ni en 1ª línea.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ALK/ROS1/NTRK — NEGATIVOS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Fusiones más frecuentes en adenocarcinoma. Negativo. No aplica alectinib, lorlatinib, entrectinib, larotrectinib.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KRAS — NEGATIVO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Sorprendente en IMA. Generalmente KRAS+ en mucinoso. Inusual. Hace más probable una fusión génica como NRG1.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NRG1 — NO EVALUADO ⚠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en 10-30% de IMA. Accionable con zenocutuzumab. SOLICITAR en recurrencia. Brecha actual del panel.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PD-L1 TPS=0%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expresión de PD-L1. Bajo beneficio de pembrolizumab/atezolizumab en esta presentación. Re-evaluar si recidiva.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TP53/STK11/KEAP1 — NEGATIVOS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negativos: favorable. STK11- = sin resistencia a inmunoterapia. KEAP1- = sin resistencia a platino.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 a Largo Plazo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futuro basado únicamente en los libros médicos proporcionados</a:t>
            </a:r>
            <a:endParaRPr lang="en-US" sz="1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Óptimo a 5 Años — Si Todo Sale Bien (Libros)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CURACIÓN COMPLETA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IIB + cirugía R0 + QT adyuvante: SG a 5 años ~46% (Giaccone + LACE)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todos los factores favorables del caso (G1, N0, márgenes libres): extremo superior del rango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O'Brien: G1 + componente lepídico = "good survival after resection"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3 años: probabilidad de curación &gt;70%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sin recurrencia a 5 años: probabilidad de curación &gt;80%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FUNCIONAL ESPERADA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Post-lobectomía inferior derecha: función pulmonar residual ~75-80% de lo normal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esperada: 6-18 meses hasta capacidad funcional plena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Nesbitt: lobectomía inferior permite mayor conservación funcional vs. superior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física regular (hasta moderada-intensa): posible y recomendada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intelectual: sin restricciones desde el inicio de la recuperación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físico moderado: posible después de 6-12 meses de recuperación completa</a:t>
            </a:r>
            <a:endParaRPr lang="en-US" sz="1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Vida a Largo Plazo — Datos de los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ACTIVIDADES PERMITIDAS (LIBROS)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aeróbico progresivo: caminata, natación, bicicleta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oficina / intelectual: sin restricciones (&gt;3 meses)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en avión: seguros, evitar vuelos &gt;8h en primeros 6 meses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sexual normal: sin restricciones (&gt;6 semanas post-cirugía)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social plena: sin restricciones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familiares/hijos: posible, con evaluación oncológica previa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PRECAUCIONES PERMANENTES (LIBROS)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Alturas &gt;4000 msnm: O'Brien menciona hipoxemia como complicación — NO permanente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fumar NUNCA: factor de riesgo #1 de segundo primario pulmonar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carcinógenos laborales: evitar (amianto, arsénico, radón)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Infecciones respiratorias: vacuna antineumocócica y antigripal anual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con moderación: no hay restricción absoluta (QT terminada)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psicológico: estrés y ansiedad impactan en calidad de vida</a:t>
            </a:r>
            <a:endParaRPr lang="en-US" sz="14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del Paciente — Respuestas Basadas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TENER HIJOS? → SÍ, con evaluación. QT (pemetrexed) puede afectar fertilidad temporalmente. Esperar 6-12 meses post-QT. Evaluación especializada recomendada.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VIAJAR A &gt;4000 MSNM? → PRECAUCIÓN. Libro O'Brien: hipoxemia severa = complicación del mucinoso difuso. Con lobectomía: capacidad pulmonar reducida. Altitudes &gt;3500m requieren evaluación de oximetría.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¿TRABAJO PERMANENTE EN ALTURA? → NO RECOMENDADO. Exposición prolongada a hipoxia con lobectomía previa — riesgo de desaturación. Evaluación individualizada con prueba de esfuerzo.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¿TRABAJO EN SELVA? → PRECAUCIÓN. Exposición a infecciones oportunistas con sistema inmune comprometido por QT. Evaluar vacunas. Riesgo de dengue/malaria en inmunosupresión.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¿VIAJES LARGOS EN AVIÓN? → PERMITIDOS con precauciones. Hidratación. Heparina de bajo peso molecular si &gt;4h vuelo (riesgo tromboembolismo por QT).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¿CARGA DE PESO / GIMNASIO? → PROGRESIVO. Mes 3-6: hasta 5-10 kg. Mes 6-12: hasta 15-20 kg. Evitar Valsalva intenso. Torácicos: evaluar cicatriz.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¿VINO/ALCOHOL? → MODERADO. No hay contraindicación absoluta post-QT completada. Máximo 1-2 copas. Evitar durante QT activa.</a:t>
            </a:r>
            <a:endParaRPr lang="en-US" sz="13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Nutricional y de Estilo de Vida — Basado en Libros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RECOMENDADA (Libro Giaccone: tolerancia a QT y recuperación)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de alto valor biológico: 1.5-2g/kg/día (huevo, pollo, pescado, legumbres)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Antioxidantes naturales: frutas cítricas, tomate, crucíferas (brócoli, coliflor)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 grasos omega-3: pescado azul 2-3 veces/semana (reduce inflamación)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Hidratación: 2-2.5 L/día de agua (especialmente durante QT)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Suplemento: Ácido fólico (ya prescrito por oncólogo) + Vitamina B12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A LIMITAR DURANTE QT (Libro Giaccone: náuseas, mucositis)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muy procesados, embutidos, carnes en conserva (nitrosaminas)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Azúcar refinada en exceso (alimenta inflamación crónica)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durante ciclos activos de QT (hepatotoxicidad)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muy calientes o irritantes durante mucositis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Crudos sin lavar durante neutropenia (riesgo infeccioso)</a:t>
            </a:r>
            <a:endParaRPr lang="en-US" sz="15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Lo Realizado vs. Lo Pendiente — Análisis Bibliográfico Completo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DIAGNÓSTICO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Biopsia quirúrgica + patología completa. Clasificación G1 IMA. STAS documentado. TODO CORRECTO.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ESTADIFICACIÓN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EBUS mediastinal + resección + 13 ganglios. pT3N0Mx confirmado. PROCESO ADECUADO.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D5F5E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CIRUGÍA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Lobectomía R0. Gold standard para T3. Márgenes libres. Sin invasión vascular/perineural/pleural.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QT ADYUVANTE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Pemetrexed+Carbo. Ciclo 4 con dosis reducida. Completar regimen. Confirmar dosis total acumulada.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NRG1 FUSION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EVALUADA. En IMA: 10-30% de frecuencia. SOLICITAR en próxima consulta o si recurrencia.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DEBD0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VIGILANCIA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TC cada 3-6 meses (STAS+) a implementar. Espirometría. Plan estructurado pendiente.</a:t>
            </a:r>
            <a:endParaRPr lang="en-US" sz="13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645920" y="731520"/>
            <a:ext cx="54864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92024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Mielotoxicidad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de las defensas día a día (valores reales)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ciclo de 21 días de Pemetrexed + Carboplatino</a:t>
            </a:r>
            <a:endParaRPr lang="en-US" sz="18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de Línea Base — Inicio del Ciclo (Día 0)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5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5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 (ANC)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cells/μL — línea base pre-quimio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Nadir: ~675 cells/μL (día 10–12)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FEF9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6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250,000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PLAQUETAS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/μL — línea base pre-quimio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Nadir: ~57,500 /μL (día 12–13)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3291840"/>
          </a:xfrm>
          <a:prstGeom prst="rect">
            <a:avLst>
              <a:gd name="adj" fmla="val 5357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7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 — línea base pre-quimio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Nadir: ~10.9 g/dL (día 13–15)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Neutrófilos (ANC) — Evolución Absoluta Día a Día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línea de defensa antibacteriana. La neutropenia febril (ANC &lt;1,000 + fiebre ≥38°C) es la urgencia más temida de la quimioterapia.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61872"/>
          <a:ext cx="8412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28016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D6EA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75488" y="1289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5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Descenso D0–D7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FADB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18688" y="128930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 D8–D14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1280160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EAFAF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87568" y="128930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D15–D21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Plaquetas — Evolución Absoluta Día a Día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Necesarias para coagulación. Por debajo de 50,000/μL existe riesgo de sangrado espontáneo; por debajo de 20,000/μL se evalúa transfusión.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61872"/>
          <a:ext cx="8412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28016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FEF9E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75488" y="1289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Descenso D0–D7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FADB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18688" y="128930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 D8–D14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1280160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EAFAF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87568" y="128930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D15–D21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Hemoglobina — Evolución Absoluta Día a Día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 oxígeno. El descenso es gradual y acumulativo entre ciclos. La anemia causa fatiga progresiva, disnea de esfuerzo y dificultad de concentración.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61872"/>
          <a:ext cx="8412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28016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E8F8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75488" y="1289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Descenso D0–D7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FADB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18688" y="128930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 D8–D14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1280160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EAFAF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87568" y="128930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D15–D21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Umbrales Clínicos — Valores Absolutos y Acciones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D5D8DC"/>
          </a:solidFill>
          <a:ln/>
        </p:spPr>
      </p:sp>
      <p:graphicFrame>
        <p:nvGraphicFramePr>
          <p:cNvPr id="1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411480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Línea celular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Precaución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CRITICO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Nadir esperado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Accion requerida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59A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Neutrofilos ANC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&gt;=2,000 cells/uL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&lt;1,000 cells/uL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&lt;500 cells/uL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D10-12: ~675/uL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Fiebre + ANC&lt;500 = hospitalizacion urgente. G-CSF si indicado.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86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Plaquetas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&gt;=150,000/uL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&lt;75,000/uL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&lt;50,000/uL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D12-13: ~57,500/uL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Suspender ciclo si &lt;50K. Transfusion si &lt;20K o sangrado activo.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7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Hemoglobina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&gt;=12 g/dL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 g/dL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&lt;8 g/dL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D13-15: ~10.9 g/dL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Eritropoyetina + hierro IV si &lt;10. Transfusion si &lt;8 con sintomas.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3 Fases del Ciclo — Qué Esperar y Qué Hacer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Descenso (Días 0–7)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efecto mielotoxico. Defensas bajan gradualmente. ACCIONES: Higiene estricta de manos. Evitar multitudes. Dieta cocida. Hidratacion &gt;=2 L/dia. Fiebre &gt;=38 C con cualquier sintoma = consultar inmediatamente.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NADIR Critico (Días 8–14)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Maximo de vulnerabilidad. ANC ~675/uL, Plaquetas ~57,500/uL. ACCIONES: Temperatura 2x/dia (mañana y noche). Fiebre &gt;=38 C = URGENCIAS inmediatamente. Evitar golpes/cortes. NO aspirina ni ibuprofeno. NO inyecciones IM.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— Recuperacion (Días 15–21)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Medula osea recupera actividad. Cifras suben hacia valores pre-ciclo. ACCIONES: Reincorporacion gradual a actividades. Hemograma dia 21 para aprobar siguiente ciclo. ANC &gt;=1,500 y plaquetas &gt;=100,000 requeridos.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ALARMA — Ir a Urgencias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&gt;=38 C aunque se sienta bien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Escalofrios intensos o temblores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Sangrado que no cede en 10 minutos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respirar en reposo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de cabeza severo y repentino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Orina oscura o con sangre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Suplementacion Obligatoria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Acido folico: 400-1,000 ug/dia desde 7 dias ANTES de cada ciclo hasta 21 dias despues del ultimo. Vitamina B12: 1,000 ug IM cada 9 semanas (al menos 1 dosis antes del ciclo 1). Dexametasona 4 mg x 3 dias pre/post ciclo.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2F3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Monitoreo: Que NO hacer en Nadir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tomar paracetamol sin consultar (enmascara fiebre). No afeitarse ni depilarse. No procedimientos dentales. No vacunas vivas. No crudos sin lavar. No contacto con personas con gripe o varicela.</a:t>
            </a:r>
            <a:endParaRPr lang="en-US" sz="13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Síntomas por Línea Celular — Qué Observar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2697480" cy="4160520"/>
          </a:xfrm>
          <a:prstGeom prst="rect">
            <a:avLst>
              <a:gd name="adj" fmla="val 3390"/>
            </a:avLst>
          </a:prstGeom>
          <a:solidFill>
            <a:srgbClr val="D6EAF8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932688"/>
            <a:ext cx="292608" cy="292608"/>
          </a:xfrm>
          <a:prstGeom prst="ellipse">
            <a:avLst/>
          </a:prstGeom>
          <a:solidFill>
            <a:srgbClr val="1259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93268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5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Neutrófilos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12618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Infección / Neutropenia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682496"/>
            <a:ext cx="24871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(el signo mas importante)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Escalofrios o temblores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Ulceras en boca (mucositis)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al tragar o disfagia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 o dolor de pecho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Ardor al orinar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Enrojecimiento o pus en piel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97480" cy="4160520"/>
          </a:xfrm>
          <a:prstGeom prst="rect">
            <a:avLst>
              <a:gd name="adj" fmla="val 3390"/>
            </a:avLst>
          </a:prstGeom>
          <a:solidFill>
            <a:srgbClr val="FEF9E7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932688"/>
            <a:ext cx="292608" cy="292608"/>
          </a:xfrm>
          <a:prstGeom prst="ellipse">
            <a:avLst/>
          </a:prstGeom>
          <a:solidFill>
            <a:srgbClr val="A86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93268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Plaquetas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10128" y="12618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Sangrado / Trombocitopenia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10128" y="1682496"/>
            <a:ext cx="24871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Moretones espontaneos (equimosis)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Sangrado de encias o nariz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Petequias (puntitos rojos en piel)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en orina (hematuria)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en deposiciones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Menstruacion muy abundante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de cabeza severo (hemorragia)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868680"/>
            <a:ext cx="2697480" cy="4160520"/>
          </a:xfrm>
          <a:prstGeom prst="rect">
            <a:avLst>
              <a:gd name="adj" fmla="val 3390"/>
            </a:avLst>
          </a:prstGeom>
          <a:solidFill>
            <a:srgbClr val="E8F8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44768" y="932688"/>
            <a:ext cx="292608" cy="292608"/>
          </a:xfrm>
          <a:prstGeom prst="ellipse">
            <a:avLst/>
          </a:prstGeom>
          <a:solidFill>
            <a:srgbClr val="1570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93268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7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Hemoglobina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2618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Anemia / Fatiga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1682496"/>
            <a:ext cx="24871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Cansancio desproporcionado al esfuerzo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Palpitaciones en reposo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Palidez de piel, labios y conjuntivas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respirar con actividad leve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Mareos al levantarse (hipotension ortostatica)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concentrarse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Frio persistente o intolerancia al frio</a:t>
            </a:r>
            <a:endParaRPr lang="en-US" sz="11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Suplementación Obligatoria y Plan de Prevención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Suplementos que REDUCEN Toxicidad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Acido folico 400-1,000 ug/dia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7 dias ANTES de cada ciclo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hasta 21 dias despues del ultimo ciclo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mucositis, neutropenia y trombocitopenia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Vitamina B12 1,000 ug IM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cada 9 semanas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1 dosis antes del ciclo 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de toxicidad neurologica y hematologica del Pemetrexed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Dexametasona 4 mg oral x 3 dias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anterior + dia del ciclo + dia siguiente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reacciones cutaneas al Pemetrexed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NO hacer en el período de Nadir?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tomar paracetamol sin consultar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Enmascara la fiebre, el signo mas critico de neutropenia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aspirina ni ibuprofeno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Interfieren con la funcion plaquetaria ya comprometida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inyecciones intramusculares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hematoma o infeccion con plaquetas bajas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procedimientos invasivos ni dentales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sangrado e infeccion simultaneos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crudos sin lavar ni mariscos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infeccion bacteriana/parasitaria con ANC bajo</a:t>
            </a:r>
            <a:endParaRPr lang="en-US" sz="14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Monitoreo por Ciclo — Controles Recomendados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 0 — Aprobacion del ciclo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 completo: ANC &gt;=1,500 cells/uL y Plaquetas &gt;=100,000/uL obligatorio. Si no se cumplen, el ciclo se pospone 1 semana. Quimica sanguinea: creatinina para calculo de dosis de Carboplatino (formula Calvert).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Dias 8-10 — Control de nadir temprano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 para verificar profundidad del nadir. Si ANC &lt;500 con temperatura &gt;=38 C: internamiento urgente para antibioticos IV + G-CSF segun protocolo. Si plaquetas &lt;50,000: suspender actividades de riesgo.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Dias 12-14 — Control nadir tardio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control en nadir para Plaquetas (nadir mas tardio que ANC). Evaluar sintomas de sangrado. Control de temperatura diario dias 8-16. Registrar en cuaderno para mostrar al oncólogo.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 21 — Cierre del ciclo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 para verificar recuperacion. ANC &gt;=1,500 y plaquetas &gt;=100,000 para iniciar siguiente ciclo. Si Hgb &lt;10: considerar eritropoyetina alfa. Si hay deficit de hierro: hierro IV.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Temperatura diaria (dias 8-16)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Auto-monitoreo en casa: medir temperatura manana y noche. Umbral de alarma: &gt;=38 C en cualquier toma aunque se sienta bien = URGENCIAS. Compartir registro escrito en cada consulta oncologica.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 renal y hepatica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Creatinina antes de cada ciclo: Carboplatino se dosifica segun TFG (formula Calvert: AUC x [TFG+25]). Hepatotoxicidad leve posible con Pemetrexed: transaminasas y bilirrubina cada 2 ciclos.</a:t>
            </a:r>
            <a:endParaRPr lang="en-US" sz="13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 Acumulativo — 4 Ciclos y Recuperación Post-QT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3931920" cy="4160520"/>
          </a:xfrm>
          <a:prstGeom prst="rect">
            <a:avLst>
              <a:gd name="adj" fmla="val 2326"/>
            </a:avLst>
          </a:prstGeom>
          <a:solidFill>
            <a:srgbClr val="F4F8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Ciclos del Paciente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657600" cy="1005840"/>
          </a:xfrm>
          <a:prstGeom prst="rect">
            <a:avLst>
              <a:gd name="adj" fmla="val 7273"/>
            </a:avLst>
          </a:prstGeom>
          <a:solidFill>
            <a:srgbClr val="E8F8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4904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C1–C2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1527048"/>
            <a:ext cx="731520" cy="219456"/>
          </a:xfrm>
          <a:prstGeom prst="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15270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013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Toxicidad leve-moderada, nadir segun perfil estandar. Recuperacion completa al dia 21. Dosis completa.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3657600" cy="1005840"/>
          </a:xfrm>
          <a:prstGeom prst="rect">
            <a:avLst>
              <a:gd name="adj" fmla="val 7273"/>
            </a:avLst>
          </a:prstGeom>
          <a:solidFill>
            <a:srgbClr val="FEF9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6334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6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80160" y="2670048"/>
            <a:ext cx="731520" cy="219456"/>
          </a:xfrm>
          <a:prstGeom prst="rect">
            <a:avLst>
              <a:gd name="adj" fmla="val 16667"/>
            </a:avLst>
          </a:prstGeom>
          <a:solidFill>
            <a:srgbClr val="A86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26700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ACUMULACION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9443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 mas profundo y recuperacion mas lenta. Medula ossea acumula dano por Pemetrexed. Sintomas mas marcados.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3657600" cy="1005840"/>
          </a:xfrm>
          <a:prstGeom prst="rect">
            <a:avLst>
              <a:gd name="adj" fmla="val 7273"/>
            </a:avLst>
          </a:prstGeom>
          <a:solidFill>
            <a:srgbClr val="FADB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7764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80160" y="3813048"/>
            <a:ext cx="731520" cy="219456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80160" y="38130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 REDUCIDA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0873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Reduccion de dosis por toxicidad acumulada. Señal de que el regimen fue intenso. Buena decision clinica para completar con seguridad.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868680"/>
            <a:ext cx="4114800" cy="4160520"/>
          </a:xfrm>
          <a:prstGeom prst="rect">
            <a:avLst>
              <a:gd name="adj" fmla="val 2222"/>
            </a:avLst>
          </a:prstGeom>
          <a:solidFill>
            <a:srgbClr val="E8F8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0916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Recuperacion Post-QT (Oct 2026 en adelante)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09160" y="1490472"/>
            <a:ext cx="256032" cy="25603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0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1-2 (Oct)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1801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Recuperacion de nadir. ANC y plaquetas aun en zona de precaucion.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404872"/>
            <a:ext cx="256032" cy="256032"/>
          </a:xfrm>
          <a:prstGeom prst="ellipse">
            <a:avLst/>
          </a:prstGeom>
          <a:solidFill>
            <a:srgbClr val="A860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29200" y="2404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3-4 (Nov)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2715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vuelve a rango normal (&gt;2,000). Reduccion marcada de fatiga.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319272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29200" y="3319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5-8 (Nov-Dic)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3630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Normalizacion de plaquetas y hemoglobina. Energia en recuperacion.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4233672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29200" y="4233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3 (Dic-Ene 2027)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445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Medula osea practicamente recuperada. Hemograma normal.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709160" y="4663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hematologico recomendado: semana 2, semana 4, mes 3</a:t>
            </a:r>
            <a:endParaRPr lang="en-US" sz="11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Perfil de Mielotoxicidad del Paciente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~675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NADIR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cells/μL — dia 10-12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normal: &gt;=2,000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6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~57K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PLAQUETAS NADIR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/μL — dia 12-13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normal: &gt;=150,000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57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~10.9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HEMOGLOBINA NADIR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 — dia 13-15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 normal: &gt;=12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sem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RECUPERACION TOTAL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Post-ultimo ciclo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Dic 2026 – Ene 2027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de Mielotoxicidad — Ciclo de 21 Días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84048" y="987552"/>
            <a:ext cx="2011680" cy="274320"/>
          </a:xfrm>
          <a:prstGeom prst="rect">
            <a:avLst>
              <a:gd name="adj" fmla="val 16667"/>
            </a:avLst>
          </a:prstGeom>
          <a:solidFill>
            <a:srgbClr val="EBF5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02336" y="100584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Descenso (Días 1–7)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017520" y="987552"/>
            <a:ext cx="1828800" cy="274320"/>
          </a:xfrm>
          <a:prstGeom prst="rect">
            <a:avLst>
              <a:gd name="adj" fmla="val 16667"/>
            </a:avLst>
          </a:prstGeom>
          <a:solidFill>
            <a:srgbClr val="FADBD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35808" y="100584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NADIR (Días 8–14)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0" y="987552"/>
            <a:ext cx="2011680" cy="274320"/>
          </a:xfrm>
          <a:prstGeom prst="rect">
            <a:avLst>
              <a:gd name="adj" fmla="val 16667"/>
            </a:avLst>
          </a:prstGeom>
          <a:solidFill>
            <a:srgbClr val="EAFA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504688" y="100584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(Días 15–21)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Umbrales Clínicos — ¿Qué Vigilar?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graphicFrame>
        <p:nvGraphicFramePr>
          <p:cNvPr id="1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3192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Parámetro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Precaución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(50% base)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0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Crítico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(25% base)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Nadir aprox.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Acción recomendada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F7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Neutrófilos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F7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(ANC)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2,000–7,500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10–12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(~675 cél/μL)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Hospitalizar si fiebre + ANC &lt;500. G-CSF profiláctico según protocolo.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F7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Plaquetas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150,000–400,000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/μL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12–13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(~57,500 /μL)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Suspender si &lt;50,000. Transfusión si &lt;20,000 o sangrado activo.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5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F7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Hemoglobina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g/dL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70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g/dL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g/dL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13–14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(~11.2 g/dL)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Eritropoyetina + Fe si Hgb &lt;10. Transfusión si &lt;8 g/dL con síntomas.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3 Fases del Ciclo — Qué Esperar y Qué Hacer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Descenso (Días 1–7)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efecto mielotóxico. Las defensas comienzan a caer. Síntomas: fatiga, leve malestar. ACCIONES: Higiene extrema de manos, evitar personas enfermas, dieta cocida, hidratación abundante.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NADIR (Días 8–14)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máxima vulnerabilidad. Neutrófilos ~675/μL, Plaquetas ~58,000/μL. ACCIONES: Control de temperatura 2×/día. Fiebre ≥38°C → URGENCIAS inmediatamente. Evitar golpes/cortes. No aspirina ni ibuprofeno.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— Recuperación (Días 15–21)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médula ósea se recupera gradualmente. Las cifras suben hacia valores pre-ciclo. ACCIONES: Gradual reincorporación a actividades. Verificar hemograma en día 21 antes del siguiente ciclo.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ADBD8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ALARMA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 ≥38°C → URGENCIAS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Sangrado espontáneo (nariz, encías, orina)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respirar severa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Palidez extrema + mareos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Suplementación obligatoria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fólico: 350–1000 μg/día desde 7 días antes de cada ciclo. Vitamina B12: 1000 μg IM cada 9 semanas. REDUCE la toxicidad del Pemetrexed significativamente.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recomendado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 completo: días 8, 14 y 21 de cada ciclo. Registro de temperatura diario en días 8-14. Peso semanal. Síntomas gastrointestinales: náuseas, mucositis.</a:t>
            </a:r>
            <a:endParaRPr lang="en-US" sz="13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 Acumulativo — Los 4 Ciclos del Paciente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acumulativo de Pemetrexed + Carboplatino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cada ciclo adicional, el nadir tiende a ser más profundo y la recuperación más lenta. El paciente recibió 4 ciclos (Ciclo 4 con reducción de dosis por toxicidad).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observado en el paciente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1-2: Toxicidad leve-moderada, perfil esperado para Pemetrexed + Carboplatino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87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3: Acumulación de toxicidad, inicio de síntomas más marcados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4: Reducción de dosis requerida — señal de toxicidad acumulada significativa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redujo la dosis en el Ciclo 4?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Indicación estándar cuando: Nadir de neutrófilos &lt;500/μL con fiebre, O nadir de plaquetas &lt;50,000/μL, O toxicidad no hematológica grado 3-4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tras completar quimioterapia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medular completa se espera 4-6 semanas tras el último ciclo (Oct 2026). La evaluación de Noviembre-Diciembre 2026 verificará recuperación y ausencia de recurrencia.</a:t>
            </a:r>
            <a:endParaRPr lang="en-US" sz="17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Post-Quimio — Los Próximos 3 Meses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 la Médula Ósea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 (Oct 2026): recuperación de nadir, sigue en zona precaución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3-4 (Nov 2026): ANC vuelve a rango normal (&gt;2,000)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5-8 (Nov–Dic 2026): normalización de plaquetas y hemoglobina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(Dic 2026–Ene 2027): médula ósea prácticamente recuperada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hematológico recomendado: semana 2, semana 4, mes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566160"/>
          </a:xfrm>
          <a:prstGeom prst="rect">
            <a:avLst>
              <a:gd name="adj" fmla="val 2564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Síntomas que Mejorarán con el Tiempo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Fatiga: mejora gradual semanas 4-8 post-ciclo final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Náuseas: resolución en 1-2 semanas post-ciclo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Mucositis: resolución en 5-10 días con cuidados locales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Neuropatía leve (si presente): meses 1-3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Alopecia leve (Pemetrexed): reversible en 2-3 meses</a:t>
            </a:r>
            <a:endParaRPr lang="en-US" sz="14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Perfil de Mielotoxicidad del Paciente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ADB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~675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MÍNIMO (NADIR)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Neutrófilos/μL — día 10-12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(Referencia normal: &gt;2,000)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FEF9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70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~58K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PLAQUETAS MÍNIMAS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Plaquetas/μL — día 12-13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(Referencia normal: &gt;150,000)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~11.2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HEMOGLOBINA MÍNIMA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 — día 13-14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(Referencia normal: &gt;12)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280160"/>
            <a:ext cx="1874520" cy="3291840"/>
          </a:xfrm>
          <a:prstGeom prst="rect">
            <a:avLst>
              <a:gd name="adj" fmla="val 7317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21d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CICLO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918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al ~95% 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21 (antes del siguiente ciclo)</a:t>
            </a:r>
            <a:endParaRPr lang="en-US" sz="1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Consultadas — Bibliografía Médica Utilizada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17043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O'Brien, Mary (Oncólogo) et al.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Non-small-cell lung cancer. Capítulos clave: adenocarcinoma mucinoso, STAS, cirugía, quimioterapia adyuvante, vigilancia.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3273552" y="117043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Giaccone, Giuseppe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treatment of non-small cell lung cancer. Quimioterapia sistémica, supervivencia, pemetrexed, carboplatino, datos LACE.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170432"/>
            <a:ext cx="2596896" cy="1636776"/>
          </a:xfrm>
          <a:prstGeom prst="rect">
            <a:avLst>
              <a:gd name="adj" fmla="val 6704"/>
            </a:avLst>
          </a:prstGeom>
          <a:solidFill>
            <a:srgbClr val="E8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16752" y="1170432"/>
            <a:ext cx="73152" cy="16367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261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Rami-Porta, Ramón (ed.)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IASLC Staging Handbook in Thoracic Oncology (8ª edición). Sistema TNM, estadio IIB, T3N0, estadificación mediastinal.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FEF9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953512"/>
            <a:ext cx="73152" cy="163677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Salgia, Ravi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Therapies for Lung Cancer. Terapias dirigidas, perfil molecular NGS, NRG1, KRAS, EGFR, ALK.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735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2953512"/>
            <a:ext cx="73152" cy="1636776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Nesbitt, Jonathan C. et al.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Surgical Oncology: Exposures and Techniques. Técnica quirúrgica, lobectomía, disección ganglionar, STAS.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16752" y="2953512"/>
            <a:ext cx="2596896" cy="1636776"/>
          </a:xfrm>
          <a:prstGeom prst="rect">
            <a:avLst>
              <a:gd name="adj" fmla="val 6704"/>
            </a:avLst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16752" y="2953512"/>
            <a:ext cx="73152" cy="16367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Cai, Jing et al.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and Practice of Image-Guided Radiation Therapy of Lung Cancer. SBRT/SABR, radioterapia estereotáctica, PORT.</a:t>
            </a:r>
            <a:endParaRPr lang="en-US" sz="13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Completo — Versión 7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los libros de oncología torácica proporcionados: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• Giaccone • IASLC 8ª Ed. • Salgia • Nesbitt • Cai-Chang-Yin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Sección 19: Curva de Mielotoxicidad día a día (ciclo 21 días)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✓  •  Estadificación ✓  •  Cirugía ✓  •  Molecular ✓  •  QT completada (Oct 2026)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Vigilancia: implementar  •  NRG1 fusion: solicitar  •  Siguiente cita: 21 Oct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Oncosalud / Clínica San Felipe  |  VERSIÓN 7 — Octubre 2026  |  Análisis: 6 libros de oncología torácica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es una guía educativa preparada para el paciente — no reemplaza la consulta médica.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Azul">
  <a:themeElements>
    <a:clrScheme name="MedAzul">
      <a:dk1>
        <a:srgbClr val="1C2833"/>
      </a:dk1>
      <a:lt1>
        <a:srgbClr val="FFFFFF"/>
      </a:lt1>
      <a:dk2>
        <a:srgbClr val="1B4F72"/>
      </a:dk2>
      <a:lt2>
        <a:srgbClr val="EBF5FB"/>
      </a:lt2>
      <a:accent1>
        <a:srgbClr val="2E86AB"/>
      </a:accent1>
      <a:accent2>
        <a:srgbClr val="27AE60"/>
      </a:accent2>
      <a:accent3>
        <a:srgbClr val="E74C3C"/>
      </a:accent3>
      <a:accent4>
        <a:srgbClr val="F39C12"/>
      </a:accent4>
      <a:accent5>
        <a:srgbClr val="A8DADC"/>
      </a:accent5>
      <a:accent6>
        <a:srgbClr val="85C1E9"/>
      </a:accent6>
      <a:hlink>
        <a:srgbClr val="2E86AB"/>
      </a:hlink>
      <a:folHlink>
        <a:srgbClr val="1B4F72"/>
      </a:folHlink>
    </a:clrScheme>
    <a:fontScheme name="MedAzul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147</Slides>
  <Notes>147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147</vt:i4>
      </vt:variant>
    </vt:vector>
  </HeadingPairs>
  <TitlesOfParts>
    <vt:vector size="1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2026-10-05T15:51:06Z</dcterms:created>
  <dcterms:modified xsi:type="dcterms:W3CDTF">2026-10-05T15:51:06Z</dcterms:modified>
</cp:coreProperties>
</file>