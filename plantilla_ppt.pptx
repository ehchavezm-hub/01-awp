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403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1000" dirty="0">
                <a:solidFill>
                  <a:srgbClr val="FFA0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BLOOMBERG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COLORES OFICIAL  ·  Data Visualization · Financial Authority · Analytical Precision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781812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Shape 4"/>
          <p:cNvSpPr/>
          <p:nvPr/>
        </p:nvSpPr>
        <p:spPr>
          <a:xfrm>
            <a:off x="8183880" y="73152"/>
            <a:ext cx="18288" cy="6720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274320" y="694944"/>
            <a:ext cx="7818120" cy="201168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274320" y="694944"/>
            <a:ext cx="36576" cy="201168"/>
          </a:xfrm>
          <a:prstGeom prst="rect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365760" y="6949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CORPORATIVA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4320" y="69494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Mobbin · BrandColorCode · Bloomberg.com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274320" y="896112"/>
            <a:ext cx="2563368" cy="77952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/>
          <p:nvPr/>
        </p:nvSpPr>
        <p:spPr>
          <a:xfrm>
            <a:off x="338328" y="1474470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#000000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1675638"/>
            <a:ext cx="2563368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338328" y="1703070"/>
            <a:ext cx="2471928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 Bloomberg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8328" y="1885859"/>
            <a:ext cx="2471928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0, 0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338328" y="2005302"/>
            <a:ext cx="2471928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principal · Terminal BG · Autoridad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2901696" y="896112"/>
            <a:ext cx="2563368" cy="7795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/>
          <p:nvPr/>
        </p:nvSpPr>
        <p:spPr>
          <a:xfrm>
            <a:off x="2965704" y="1474470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01696" y="1675638"/>
            <a:ext cx="2563368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Text 18"/>
          <p:cNvSpPr/>
          <p:nvPr/>
        </p:nvSpPr>
        <p:spPr>
          <a:xfrm>
            <a:off x="2965704" y="1703070"/>
            <a:ext cx="2471928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Blanco Bloomberg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965704" y="1885859"/>
            <a:ext cx="2471928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255, 255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965704" y="2005302"/>
            <a:ext cx="2471928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· Contraste · Legibilidad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5529072" y="896112"/>
            <a:ext cx="2563368" cy="779526"/>
          </a:xfrm>
          <a:prstGeom prst="rect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/>
          <p:nvPr/>
        </p:nvSpPr>
        <p:spPr>
          <a:xfrm>
            <a:off x="5593080" y="1474470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#FFA028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529072" y="1675638"/>
            <a:ext cx="2563368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6" name="Text 24"/>
          <p:cNvSpPr/>
          <p:nvPr/>
        </p:nvSpPr>
        <p:spPr>
          <a:xfrm>
            <a:off x="5593080" y="1703070"/>
            <a:ext cx="2471928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Sunshade Amber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593080" y="1885859"/>
            <a:ext cx="2471928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160, 40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593080" y="2005302"/>
            <a:ext cx="2471928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icónico. Acento principal de marca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274320" y="2226564"/>
            <a:ext cx="7818120" cy="201168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0" name="Shape 28"/>
          <p:cNvSpPr/>
          <p:nvPr/>
        </p:nvSpPr>
        <p:spPr>
          <a:xfrm>
            <a:off x="274320" y="2226564"/>
            <a:ext cx="36576" cy="201168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Text 29"/>
          <p:cNvSpPr/>
          <p:nvPr/>
        </p:nvSpPr>
        <p:spPr>
          <a:xfrm>
            <a:off x="365760" y="22265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— FONDOS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74320" y="222656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Bloomberg Design · Bloomberg LP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274320" y="2427732"/>
            <a:ext cx="1512418" cy="77952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4" name="Text 32"/>
          <p:cNvSpPr/>
          <p:nvPr/>
        </p:nvSpPr>
        <p:spPr>
          <a:xfrm>
            <a:off x="338328" y="3006090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#000000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207258"/>
            <a:ext cx="1512418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6" name="Text 34"/>
          <p:cNvSpPr/>
          <p:nvPr/>
        </p:nvSpPr>
        <p:spPr>
          <a:xfrm>
            <a:off x="338328" y="3234690"/>
            <a:ext cx="1420978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Black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38328" y="3417479"/>
            <a:ext cx="1420978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0, 0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338328" y="3536922"/>
            <a:ext cx="1420978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base de todos los paneles del terminal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1850746" y="2427732"/>
            <a:ext cx="1512418" cy="779526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0" name="Text 38"/>
          <p:cNvSpPr/>
          <p:nvPr/>
        </p:nvSpPr>
        <p:spPr>
          <a:xfrm>
            <a:off x="1914754" y="3006090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#0D0D0D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850746" y="3207258"/>
            <a:ext cx="1512418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2" name="Text 40"/>
          <p:cNvSpPr/>
          <p:nvPr/>
        </p:nvSpPr>
        <p:spPr>
          <a:xfrm>
            <a:off x="1914754" y="3234690"/>
            <a:ext cx="1420978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Black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914754" y="3417479"/>
            <a:ext cx="1420978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13, 13, 13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1914754" y="3536922"/>
            <a:ext cx="1420978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para slides de portada premium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3427171" y="2427732"/>
            <a:ext cx="1512418" cy="77952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6" name="Text 44"/>
          <p:cNvSpPr/>
          <p:nvPr/>
        </p:nvSpPr>
        <p:spPr>
          <a:xfrm>
            <a:off x="3491179" y="3006090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#1A1A1A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427171" y="3207258"/>
            <a:ext cx="1512418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8" name="Text 46"/>
          <p:cNvSpPr/>
          <p:nvPr/>
        </p:nvSpPr>
        <p:spPr>
          <a:xfrm>
            <a:off x="3491179" y="3234690"/>
            <a:ext cx="1420978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Oscuro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491179" y="3417479"/>
            <a:ext cx="1420978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26, 26, 26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3491179" y="3536922"/>
            <a:ext cx="1420978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y paneles de contenido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5003597" y="2427732"/>
            <a:ext cx="1512418" cy="77952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2" name="Text 50"/>
          <p:cNvSpPr/>
          <p:nvPr/>
        </p:nvSpPr>
        <p:spPr>
          <a:xfrm>
            <a:off x="5067605" y="3006090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#2A2A2A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003597" y="3207258"/>
            <a:ext cx="1512418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4" name="Text 52"/>
          <p:cNvSpPr/>
          <p:nvPr/>
        </p:nvSpPr>
        <p:spPr>
          <a:xfrm>
            <a:off x="5067605" y="3234690"/>
            <a:ext cx="1420978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Secundario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067605" y="3417479"/>
            <a:ext cx="1420978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42, 42, 42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5067605" y="3536922"/>
            <a:ext cx="1420978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 intermedias · Hover states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6580022" y="2427732"/>
            <a:ext cx="1512418" cy="77952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8" name="Text 56"/>
          <p:cNvSpPr/>
          <p:nvPr/>
        </p:nvSpPr>
        <p:spPr>
          <a:xfrm>
            <a:off x="6644030" y="3006090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#333333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580022" y="3207258"/>
            <a:ext cx="1512418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0" name="Text 58"/>
          <p:cNvSpPr/>
          <p:nvPr/>
        </p:nvSpPr>
        <p:spPr>
          <a:xfrm>
            <a:off x="6644030" y="3234690"/>
            <a:ext cx="1420978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Separador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644030" y="3417479"/>
            <a:ext cx="1420978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51, 51, 51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6644030" y="3536922"/>
            <a:ext cx="1420978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Divisores · bordes · líneas de grid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274320" y="3758184"/>
            <a:ext cx="7818120" cy="201168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4" name="Shape 62"/>
          <p:cNvSpPr/>
          <p:nvPr/>
        </p:nvSpPr>
        <p:spPr>
          <a:xfrm>
            <a:off x="274320" y="3758184"/>
            <a:ext cx="36576" cy="201168"/>
          </a:xfrm>
          <a:prstGeom prst="rect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5" name="Text 63"/>
          <p:cNvSpPr/>
          <p:nvPr/>
        </p:nvSpPr>
        <p:spPr>
          <a:xfrm>
            <a:off x="365760" y="37581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FA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— ÁMBAR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274320" y="375818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Bloomberg LP · brandcolorcode.com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274320" y="3959352"/>
            <a:ext cx="1249680" cy="779526"/>
          </a:xfrm>
          <a:prstGeom prst="rect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8" name="Text 66"/>
          <p:cNvSpPr/>
          <p:nvPr/>
        </p:nvSpPr>
        <p:spPr>
          <a:xfrm>
            <a:off x="338328" y="4537710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#FFA028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74320" y="4738878"/>
            <a:ext cx="1249680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0" name="Text 68"/>
          <p:cNvSpPr/>
          <p:nvPr/>
        </p:nvSpPr>
        <p:spPr>
          <a:xfrm>
            <a:off x="338328" y="4766310"/>
            <a:ext cx="1158240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Sunshade Amber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338328" y="4949099"/>
            <a:ext cx="1158240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160, 40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338328" y="5068542"/>
            <a:ext cx="1158240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oficial de marca. Fuente base del terminal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1588008" y="3959352"/>
            <a:ext cx="1249680" cy="77952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4" name="Text 72"/>
          <p:cNvSpPr/>
          <p:nvPr/>
        </p:nvSpPr>
        <p:spPr>
          <a:xfrm>
            <a:off x="1652016" y="4537710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#FF6600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1588008" y="4738878"/>
            <a:ext cx="1249680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6" name="Text 74"/>
          <p:cNvSpPr/>
          <p:nvPr/>
        </p:nvSpPr>
        <p:spPr>
          <a:xfrm>
            <a:off x="1652016" y="4766310"/>
            <a:ext cx="1158240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Bloomberg Orange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1652016" y="4949099"/>
            <a:ext cx="1158240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102, 0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1652016" y="5068542"/>
            <a:ext cx="1158240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Bloomberg.com · Headlines · CTAs digitales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2901696" y="3959352"/>
            <a:ext cx="1249680" cy="779526"/>
          </a:xfrm>
          <a:prstGeom prst="rect">
            <a:avLst/>
          </a:prstGeom>
          <a:solidFill>
            <a:srgbClr val="FB8B1E"/>
          </a:solidFill>
          <a:ln w="12700">
            <a:solidFill>
              <a:srgbClr val="FB8B1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0" name="Text 78"/>
          <p:cNvSpPr/>
          <p:nvPr/>
        </p:nvSpPr>
        <p:spPr>
          <a:xfrm>
            <a:off x="2965704" y="4537710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#FB8B1E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2901696" y="4738878"/>
            <a:ext cx="1249680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2" name="Text 80"/>
          <p:cNvSpPr/>
          <p:nvPr/>
        </p:nvSpPr>
        <p:spPr>
          <a:xfrm>
            <a:off x="2965704" y="4766310"/>
            <a:ext cx="1158240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Cálido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2965704" y="4949099"/>
            <a:ext cx="1158240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251, 139, 30</a:t>
            </a:r>
            <a:endParaRPr lang="en-US" sz="600" dirty="0"/>
          </a:p>
        </p:txBody>
      </p:sp>
      <p:sp>
        <p:nvSpPr>
          <p:cNvPr id="84" name="Text 82"/>
          <p:cNvSpPr/>
          <p:nvPr/>
        </p:nvSpPr>
        <p:spPr>
          <a:xfrm>
            <a:off x="2965704" y="5068542"/>
            <a:ext cx="1158240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Gráficas · Highlights de datos</a:t>
            </a:r>
            <a:endParaRPr lang="en-US" sz="600" dirty="0"/>
          </a:p>
        </p:txBody>
      </p:sp>
      <p:sp>
        <p:nvSpPr>
          <p:cNvPr id="85" name="Shape 83"/>
          <p:cNvSpPr/>
          <p:nvPr/>
        </p:nvSpPr>
        <p:spPr>
          <a:xfrm>
            <a:off x="4215384" y="3959352"/>
            <a:ext cx="1249680" cy="779526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6" name="Text 84"/>
          <p:cNvSpPr/>
          <p:nvPr/>
        </p:nvSpPr>
        <p:spPr>
          <a:xfrm>
            <a:off x="4279392" y="4537710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#FFB020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215384" y="4738878"/>
            <a:ext cx="1249680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8" name="Text 86"/>
          <p:cNvSpPr/>
          <p:nvPr/>
        </p:nvSpPr>
        <p:spPr>
          <a:xfrm>
            <a:off x="4279392" y="4766310"/>
            <a:ext cx="1158240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Medio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4279392" y="4949099"/>
            <a:ext cx="1158240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176, 32</a:t>
            </a:r>
            <a:endParaRPr lang="en-US" sz="600" dirty="0"/>
          </a:p>
        </p:txBody>
      </p:sp>
      <p:sp>
        <p:nvSpPr>
          <p:cNvPr id="90" name="Text 88"/>
          <p:cNvSpPr/>
          <p:nvPr/>
        </p:nvSpPr>
        <p:spPr>
          <a:xfrm>
            <a:off x="4279392" y="5068542"/>
            <a:ext cx="1158240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· Métricas · Datos destacados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5529072" y="3959352"/>
            <a:ext cx="1249680" cy="779526"/>
          </a:xfrm>
          <a:prstGeom prst="rect">
            <a:avLst/>
          </a:prstGeom>
          <a:solidFill>
            <a:srgbClr val="D4890A"/>
          </a:solidFill>
          <a:ln w="12700">
            <a:solidFill>
              <a:srgbClr val="D4890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2" name="Text 90"/>
          <p:cNvSpPr/>
          <p:nvPr/>
        </p:nvSpPr>
        <p:spPr>
          <a:xfrm>
            <a:off x="5593080" y="4537710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#D4890A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5529072" y="4738878"/>
            <a:ext cx="1249680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4" name="Text 92"/>
          <p:cNvSpPr/>
          <p:nvPr/>
        </p:nvSpPr>
        <p:spPr>
          <a:xfrm>
            <a:off x="5593080" y="4766310"/>
            <a:ext cx="1158240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Oscuro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5593080" y="4949099"/>
            <a:ext cx="1158240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212, 137, 10</a:t>
            </a:r>
            <a:endParaRPr lang="en-US" sz="600" dirty="0"/>
          </a:p>
        </p:txBody>
      </p:sp>
      <p:sp>
        <p:nvSpPr>
          <p:cNvPr id="96" name="Text 94"/>
          <p:cNvSpPr/>
          <p:nvPr/>
        </p:nvSpPr>
        <p:spPr>
          <a:xfrm>
            <a:off x="5593080" y="5068542"/>
            <a:ext cx="1158240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Textos sobre fondos claros</a:t>
            </a:r>
            <a:endParaRPr lang="en-US" sz="600" dirty="0"/>
          </a:p>
        </p:txBody>
      </p:sp>
      <p:sp>
        <p:nvSpPr>
          <p:cNvPr id="97" name="Shape 95"/>
          <p:cNvSpPr/>
          <p:nvPr/>
        </p:nvSpPr>
        <p:spPr>
          <a:xfrm>
            <a:off x="6842760" y="3959352"/>
            <a:ext cx="1249680" cy="779526"/>
          </a:xfrm>
          <a:prstGeom prst="rect">
            <a:avLst/>
          </a:prstGeom>
          <a:solidFill>
            <a:srgbClr val="CC7A00"/>
          </a:solidFill>
          <a:ln w="12700">
            <a:solidFill>
              <a:srgbClr val="CC7A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8" name="Text 96"/>
          <p:cNvSpPr/>
          <p:nvPr/>
        </p:nvSpPr>
        <p:spPr>
          <a:xfrm>
            <a:off x="6906768" y="4537710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#CC7A00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6842760" y="4738878"/>
            <a:ext cx="1249680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0" name="Text 98"/>
          <p:cNvSpPr/>
          <p:nvPr/>
        </p:nvSpPr>
        <p:spPr>
          <a:xfrm>
            <a:off x="6906768" y="4766310"/>
            <a:ext cx="1158240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Profundo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6906768" y="4949099"/>
            <a:ext cx="1158240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204, 122, 0</a:t>
            </a:r>
            <a:endParaRPr lang="en-US" sz="600" dirty="0"/>
          </a:p>
        </p:txBody>
      </p:sp>
      <p:sp>
        <p:nvSpPr>
          <p:cNvPr id="102" name="Text 100"/>
          <p:cNvSpPr/>
          <p:nvPr/>
        </p:nvSpPr>
        <p:spPr>
          <a:xfrm>
            <a:off x="6906768" y="5068542"/>
            <a:ext cx="1158240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Bordes activos · Estado seleccionado</a:t>
            </a:r>
            <a:endParaRPr lang="en-US" sz="600" dirty="0"/>
          </a:p>
        </p:txBody>
      </p:sp>
      <p:sp>
        <p:nvSpPr>
          <p:cNvPr id="103" name="Shape 101"/>
          <p:cNvSpPr/>
          <p:nvPr/>
        </p:nvSpPr>
        <p:spPr>
          <a:xfrm>
            <a:off x="274320" y="5289804"/>
            <a:ext cx="7818120" cy="201168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4" name="Shape 102"/>
          <p:cNvSpPr/>
          <p:nvPr/>
        </p:nvSpPr>
        <p:spPr>
          <a:xfrm>
            <a:off x="274320" y="5289804"/>
            <a:ext cx="36576" cy="201168"/>
          </a:xfrm>
          <a:prstGeom prst="rect">
            <a:avLst/>
          </a:prstGeom>
          <a:solidFill>
            <a:srgbClr val="4AF6C3"/>
          </a:solidFill>
          <a:ln w="12700">
            <a:solidFill>
              <a:srgbClr val="4AF6C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5" name="Text 103"/>
          <p:cNvSpPr/>
          <p:nvPr/>
        </p:nvSpPr>
        <p:spPr>
          <a:xfrm>
            <a:off x="365760" y="52898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F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— SEMÁNTICOS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274320" y="528980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Bloomberg UX · Bloomberg Terminal Interface</a:t>
            </a:r>
            <a:endParaRPr lang="en-US" sz="600" dirty="0"/>
          </a:p>
        </p:txBody>
      </p:sp>
      <p:sp>
        <p:nvSpPr>
          <p:cNvPr id="107" name="Shape 105"/>
          <p:cNvSpPr/>
          <p:nvPr/>
        </p:nvSpPr>
        <p:spPr>
          <a:xfrm>
            <a:off x="274320" y="5490972"/>
            <a:ext cx="1249680" cy="779526"/>
          </a:xfrm>
          <a:prstGeom prst="rect">
            <a:avLst/>
          </a:prstGeom>
          <a:solidFill>
            <a:srgbClr val="00C805"/>
          </a:solidFill>
          <a:ln w="12700">
            <a:solidFill>
              <a:srgbClr val="00C80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8" name="Text 106"/>
          <p:cNvSpPr/>
          <p:nvPr/>
        </p:nvSpPr>
        <p:spPr>
          <a:xfrm>
            <a:off x="338328" y="6069330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#00C805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274320" y="6270498"/>
            <a:ext cx="1249680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0" name="Text 108"/>
          <p:cNvSpPr/>
          <p:nvPr/>
        </p:nvSpPr>
        <p:spPr>
          <a:xfrm>
            <a:off x="338328" y="6297930"/>
            <a:ext cx="1158240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 Up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338328" y="6480719"/>
            <a:ext cx="1158240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200, 5</a:t>
            </a:r>
            <a:endParaRPr lang="en-US" sz="600" dirty="0"/>
          </a:p>
        </p:txBody>
      </p:sp>
      <p:sp>
        <p:nvSpPr>
          <p:cNvPr id="112" name="Text 110"/>
          <p:cNvSpPr/>
          <p:nvPr/>
        </p:nvSpPr>
        <p:spPr>
          <a:xfrm>
            <a:off x="338328" y="6600162"/>
            <a:ext cx="1158240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alcista · Positivo · Avance</a:t>
            </a:r>
            <a:endParaRPr lang="en-US" sz="600" dirty="0"/>
          </a:p>
        </p:txBody>
      </p:sp>
      <p:sp>
        <p:nvSpPr>
          <p:cNvPr id="113" name="Shape 111"/>
          <p:cNvSpPr/>
          <p:nvPr/>
        </p:nvSpPr>
        <p:spPr>
          <a:xfrm>
            <a:off x="1588008" y="5490972"/>
            <a:ext cx="1249680" cy="779526"/>
          </a:xfrm>
          <a:prstGeom prst="rect">
            <a:avLst/>
          </a:prstGeom>
          <a:solidFill>
            <a:srgbClr val="4AF6C3"/>
          </a:solidFill>
          <a:ln w="12700">
            <a:solidFill>
              <a:srgbClr val="4AF6C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4" name="Text 112"/>
          <p:cNvSpPr/>
          <p:nvPr/>
        </p:nvSpPr>
        <p:spPr>
          <a:xfrm>
            <a:off x="1652016" y="6069330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#4AF6C3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1588008" y="6270498"/>
            <a:ext cx="1249680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6" name="Text 114"/>
          <p:cNvSpPr/>
          <p:nvPr/>
        </p:nvSpPr>
        <p:spPr>
          <a:xfrm>
            <a:off x="1652016" y="6297930"/>
            <a:ext cx="1158240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 Datos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1652016" y="6480719"/>
            <a:ext cx="1158240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74, 246, 195</a:t>
            </a:r>
            <a:endParaRPr lang="en-US" sz="600" dirty="0"/>
          </a:p>
        </p:txBody>
      </p:sp>
      <p:sp>
        <p:nvSpPr>
          <p:cNvPr id="118" name="Text 116"/>
          <p:cNvSpPr/>
          <p:nvPr/>
        </p:nvSpPr>
        <p:spPr>
          <a:xfrm>
            <a:off x="1652016" y="6600162"/>
            <a:ext cx="1158240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de datos · Gráficas</a:t>
            </a:r>
            <a:endParaRPr lang="en-US" sz="600" dirty="0"/>
          </a:p>
        </p:txBody>
      </p:sp>
      <p:sp>
        <p:nvSpPr>
          <p:cNvPr id="119" name="Shape 117"/>
          <p:cNvSpPr/>
          <p:nvPr/>
        </p:nvSpPr>
        <p:spPr>
          <a:xfrm>
            <a:off x="2901696" y="5490972"/>
            <a:ext cx="1249680" cy="779526"/>
          </a:xfrm>
          <a:prstGeom prst="rect">
            <a:avLst/>
          </a:prstGeom>
          <a:solidFill>
            <a:srgbClr val="FF433D"/>
          </a:solidFill>
          <a:ln w="12700">
            <a:solidFill>
              <a:srgbClr val="FF433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0" name="Text 118"/>
          <p:cNvSpPr/>
          <p:nvPr/>
        </p:nvSpPr>
        <p:spPr>
          <a:xfrm>
            <a:off x="2965704" y="6069330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#FF433D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2901696" y="6270498"/>
            <a:ext cx="1249680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2" name="Text 120"/>
          <p:cNvSpPr/>
          <p:nvPr/>
        </p:nvSpPr>
        <p:spPr>
          <a:xfrm>
            <a:off x="2965704" y="6297930"/>
            <a:ext cx="1158240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Rojo Down</a:t>
            </a:r>
            <a:endParaRPr lang="en-US" sz="750" dirty="0"/>
          </a:p>
        </p:txBody>
      </p:sp>
      <p:sp>
        <p:nvSpPr>
          <p:cNvPr id="123" name="Text 121"/>
          <p:cNvSpPr/>
          <p:nvPr/>
        </p:nvSpPr>
        <p:spPr>
          <a:xfrm>
            <a:off x="2965704" y="6480719"/>
            <a:ext cx="1158240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67, 61</a:t>
            </a:r>
            <a:endParaRPr lang="en-US" sz="600" dirty="0"/>
          </a:p>
        </p:txBody>
      </p:sp>
      <p:sp>
        <p:nvSpPr>
          <p:cNvPr id="124" name="Text 122"/>
          <p:cNvSpPr/>
          <p:nvPr/>
        </p:nvSpPr>
        <p:spPr>
          <a:xfrm>
            <a:off x="2965704" y="6600162"/>
            <a:ext cx="1158240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bajista · Negativo · Alerta</a:t>
            </a:r>
            <a:endParaRPr lang="en-US" sz="600" dirty="0"/>
          </a:p>
        </p:txBody>
      </p:sp>
      <p:sp>
        <p:nvSpPr>
          <p:cNvPr id="125" name="Shape 123"/>
          <p:cNvSpPr/>
          <p:nvPr/>
        </p:nvSpPr>
        <p:spPr>
          <a:xfrm>
            <a:off x="4215384" y="5490972"/>
            <a:ext cx="1249680" cy="779526"/>
          </a:xfrm>
          <a:prstGeom prst="rect">
            <a:avLst/>
          </a:prstGeom>
          <a:solidFill>
            <a:srgbClr val="0068FF"/>
          </a:solidFill>
          <a:ln w="12700">
            <a:solidFill>
              <a:srgbClr val="0068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6" name="Text 124"/>
          <p:cNvSpPr/>
          <p:nvPr/>
        </p:nvSpPr>
        <p:spPr>
          <a:xfrm>
            <a:off x="4279392" y="6069330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#0068FF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4215384" y="6270498"/>
            <a:ext cx="1249680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8" name="Text 126"/>
          <p:cNvSpPr/>
          <p:nvPr/>
        </p:nvSpPr>
        <p:spPr>
          <a:xfrm>
            <a:off x="4279392" y="6297930"/>
            <a:ext cx="1158240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Links</a:t>
            </a:r>
            <a:endParaRPr lang="en-US" sz="750" dirty="0"/>
          </a:p>
        </p:txBody>
      </p:sp>
      <p:sp>
        <p:nvSpPr>
          <p:cNvPr id="129" name="Text 127"/>
          <p:cNvSpPr/>
          <p:nvPr/>
        </p:nvSpPr>
        <p:spPr>
          <a:xfrm>
            <a:off x="4279392" y="6480719"/>
            <a:ext cx="1158240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104, 255</a:t>
            </a:r>
            <a:endParaRPr lang="en-US" sz="600" dirty="0"/>
          </a:p>
        </p:txBody>
      </p:sp>
      <p:sp>
        <p:nvSpPr>
          <p:cNvPr id="130" name="Text 128"/>
          <p:cNvSpPr/>
          <p:nvPr/>
        </p:nvSpPr>
        <p:spPr>
          <a:xfrm>
            <a:off x="4279392" y="6600162"/>
            <a:ext cx="1158240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Hipervínculos · Highlights · Acciones UI</a:t>
            </a:r>
            <a:endParaRPr lang="en-US" sz="600" dirty="0"/>
          </a:p>
        </p:txBody>
      </p:sp>
      <p:sp>
        <p:nvSpPr>
          <p:cNvPr id="131" name="Shape 129"/>
          <p:cNvSpPr/>
          <p:nvPr/>
        </p:nvSpPr>
        <p:spPr>
          <a:xfrm>
            <a:off x="5529072" y="5490972"/>
            <a:ext cx="1249680" cy="7795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2" name="Text 130"/>
          <p:cNvSpPr/>
          <p:nvPr/>
        </p:nvSpPr>
        <p:spPr>
          <a:xfrm>
            <a:off x="5593080" y="6069330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5529072" y="6270498"/>
            <a:ext cx="1249680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4" name="Text 132"/>
          <p:cNvSpPr/>
          <p:nvPr/>
        </p:nvSpPr>
        <p:spPr>
          <a:xfrm>
            <a:off x="5593080" y="6297930"/>
            <a:ext cx="1158240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Blanco Texto</a:t>
            </a:r>
            <a:endParaRPr lang="en-US" sz="750" dirty="0"/>
          </a:p>
        </p:txBody>
      </p:sp>
      <p:sp>
        <p:nvSpPr>
          <p:cNvPr id="135" name="Text 133"/>
          <p:cNvSpPr/>
          <p:nvPr/>
        </p:nvSpPr>
        <p:spPr>
          <a:xfrm>
            <a:off x="5593080" y="6480719"/>
            <a:ext cx="1158240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255, 255</a:t>
            </a:r>
            <a:endParaRPr lang="en-US" sz="600" dirty="0"/>
          </a:p>
        </p:txBody>
      </p:sp>
      <p:sp>
        <p:nvSpPr>
          <p:cNvPr id="136" name="Text 134"/>
          <p:cNvSpPr/>
          <p:nvPr/>
        </p:nvSpPr>
        <p:spPr>
          <a:xfrm>
            <a:off x="5593080" y="6600162"/>
            <a:ext cx="1158240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principal sobre fondos oscuros</a:t>
            </a:r>
            <a:endParaRPr lang="en-US" sz="600" dirty="0"/>
          </a:p>
        </p:txBody>
      </p:sp>
      <p:sp>
        <p:nvSpPr>
          <p:cNvPr id="137" name="Shape 135"/>
          <p:cNvSpPr/>
          <p:nvPr/>
        </p:nvSpPr>
        <p:spPr>
          <a:xfrm>
            <a:off x="6842760" y="5490972"/>
            <a:ext cx="1249680" cy="779526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8" name="Text 136"/>
          <p:cNvSpPr/>
          <p:nvPr/>
        </p:nvSpPr>
        <p:spPr>
          <a:xfrm>
            <a:off x="6906768" y="6069330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#A0A0A0</a:t>
            </a: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6842760" y="6270498"/>
            <a:ext cx="1249680" cy="477774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0" name="Text 138"/>
          <p:cNvSpPr/>
          <p:nvPr/>
        </p:nvSpPr>
        <p:spPr>
          <a:xfrm>
            <a:off x="6906768" y="6297930"/>
            <a:ext cx="1158240" cy="20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Gris Texto</a:t>
            </a:r>
            <a:endParaRPr lang="en-US" sz="750" dirty="0"/>
          </a:p>
        </p:txBody>
      </p:sp>
      <p:sp>
        <p:nvSpPr>
          <p:cNvPr id="141" name="Text 139"/>
          <p:cNvSpPr/>
          <p:nvPr/>
        </p:nvSpPr>
        <p:spPr>
          <a:xfrm>
            <a:off x="6906768" y="6480719"/>
            <a:ext cx="1158240" cy="1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160, 160, 160</a:t>
            </a:r>
            <a:endParaRPr lang="en-US" sz="600" dirty="0"/>
          </a:p>
        </p:txBody>
      </p:sp>
      <p:sp>
        <p:nvSpPr>
          <p:cNvPr id="142" name="Text 140"/>
          <p:cNvSpPr/>
          <p:nvPr/>
        </p:nvSpPr>
        <p:spPr>
          <a:xfrm>
            <a:off x="6906768" y="6600162"/>
            <a:ext cx="1158240" cy="14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 · Metadatos · Labels</a:t>
            </a:r>
            <a:endParaRPr lang="en-US" sz="600" dirty="0"/>
          </a:p>
        </p:txBody>
      </p:sp>
      <p:sp>
        <p:nvSpPr>
          <p:cNvPr id="143" name="Text 141"/>
          <p:cNvSpPr/>
          <p:nvPr/>
        </p:nvSpPr>
        <p:spPr>
          <a:xfrm>
            <a:off x="8275320" y="914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CONFIGURACIÓN MAESTRA</a:t>
            </a:r>
            <a:endParaRPr lang="en-US" sz="1200" dirty="0"/>
          </a:p>
        </p:txBody>
      </p:sp>
      <p:sp>
        <p:nvSpPr>
          <p:cNvPr id="144" name="Text 142"/>
          <p:cNvSpPr/>
          <p:nvPr/>
        </p:nvSpPr>
        <p:spPr>
          <a:xfrm>
            <a:off x="8275320" y="34747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por función · Empresa Constructora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8275320" y="530352"/>
            <a:ext cx="370332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6" name="Shape 144"/>
          <p:cNvSpPr/>
          <p:nvPr/>
        </p:nvSpPr>
        <p:spPr>
          <a:xfrm>
            <a:off x="8275320" y="594360"/>
            <a:ext cx="3703320" cy="477012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7" name="Shape 145"/>
          <p:cNvSpPr/>
          <p:nvPr/>
        </p:nvSpPr>
        <p:spPr>
          <a:xfrm>
            <a:off x="8275320" y="612648"/>
            <a:ext cx="256032" cy="4404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8" name="Text 146"/>
          <p:cNvSpPr/>
          <p:nvPr/>
        </p:nvSpPr>
        <p:spPr>
          <a:xfrm>
            <a:off x="8604504" y="621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portada / slides oscuros</a:t>
            </a:r>
            <a:endParaRPr lang="en-US" sz="750" dirty="0"/>
          </a:p>
        </p:txBody>
      </p:sp>
      <p:sp>
        <p:nvSpPr>
          <p:cNvPr id="149" name="Text 147"/>
          <p:cNvSpPr/>
          <p:nvPr/>
        </p:nvSpPr>
        <p:spPr>
          <a:xfrm>
            <a:off x="8604504" y="846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#000000  ·  Negro Bloomberg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8275320" y="1089660"/>
            <a:ext cx="3703320" cy="477012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1" name="Shape 149"/>
          <p:cNvSpPr/>
          <p:nvPr/>
        </p:nvSpPr>
        <p:spPr>
          <a:xfrm>
            <a:off x="8275320" y="1107948"/>
            <a:ext cx="256032" cy="4404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2" name="Text 150"/>
          <p:cNvSpPr/>
          <p:nvPr/>
        </p:nvSpPr>
        <p:spPr>
          <a:xfrm>
            <a:off x="8604504" y="1117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slides contenido (claro)</a:t>
            </a:r>
            <a:endParaRPr lang="en-US" sz="750" dirty="0"/>
          </a:p>
        </p:txBody>
      </p:sp>
      <p:sp>
        <p:nvSpPr>
          <p:cNvPr id="153" name="Text 151"/>
          <p:cNvSpPr/>
          <p:nvPr/>
        </p:nvSpPr>
        <p:spPr>
          <a:xfrm>
            <a:off x="8604504" y="1342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#1A1A1A  ·  Panel Oscuro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8275320" y="1584960"/>
            <a:ext cx="3703320" cy="477012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5" name="Shape 153"/>
          <p:cNvSpPr/>
          <p:nvPr/>
        </p:nvSpPr>
        <p:spPr>
          <a:xfrm>
            <a:off x="8275320" y="1603248"/>
            <a:ext cx="256032" cy="440436"/>
          </a:xfrm>
          <a:prstGeom prst="rect">
            <a:avLst/>
          </a:prstGeom>
          <a:solidFill>
            <a:srgbClr val="FFA028"/>
          </a:solidFill>
          <a:ln w="12700">
            <a:solidFill>
              <a:srgbClr val="FFA0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6" name="Text 154"/>
          <p:cNvSpPr/>
          <p:nvPr/>
        </p:nvSpPr>
        <p:spPr>
          <a:xfrm>
            <a:off x="8604504" y="16123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principal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8604504" y="18375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#FFA028  ·  Sunshade Amber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8275320" y="2080260"/>
            <a:ext cx="3703320" cy="477012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9" name="Shape 157"/>
          <p:cNvSpPr/>
          <p:nvPr/>
        </p:nvSpPr>
        <p:spPr>
          <a:xfrm>
            <a:off x="8275320" y="2098548"/>
            <a:ext cx="256032" cy="440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0" name="Text 158"/>
          <p:cNvSpPr/>
          <p:nvPr/>
        </p:nvSpPr>
        <p:spPr>
          <a:xfrm>
            <a:off x="8604504" y="21076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Subtítulos / headers</a:t>
            </a:r>
            <a:endParaRPr lang="en-US" sz="750" dirty="0"/>
          </a:p>
        </p:txBody>
      </p:sp>
      <p:sp>
        <p:nvSpPr>
          <p:cNvPr id="161" name="Text 159"/>
          <p:cNvSpPr/>
          <p:nvPr/>
        </p:nvSpPr>
        <p:spPr>
          <a:xfrm>
            <a:off x="8604504" y="23328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  ·  Blanco Bloomberg</a:t>
            </a:r>
            <a:endParaRPr lang="en-US" sz="700" dirty="0"/>
          </a:p>
        </p:txBody>
      </p:sp>
      <p:sp>
        <p:nvSpPr>
          <p:cNvPr id="162" name="Shape 160"/>
          <p:cNvSpPr/>
          <p:nvPr/>
        </p:nvSpPr>
        <p:spPr>
          <a:xfrm>
            <a:off x="8275320" y="2575560"/>
            <a:ext cx="3703320" cy="477012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3" name="Shape 161"/>
          <p:cNvSpPr/>
          <p:nvPr/>
        </p:nvSpPr>
        <p:spPr>
          <a:xfrm>
            <a:off x="8275320" y="2593848"/>
            <a:ext cx="256032" cy="440436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4" name="Text 162"/>
          <p:cNvSpPr/>
          <p:nvPr/>
        </p:nvSpPr>
        <p:spPr>
          <a:xfrm>
            <a:off x="8604504" y="26029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cuerpo</a:t>
            </a:r>
            <a:endParaRPr lang="en-US" sz="750" dirty="0"/>
          </a:p>
        </p:txBody>
      </p:sp>
      <p:sp>
        <p:nvSpPr>
          <p:cNvPr id="165" name="Text 163"/>
          <p:cNvSpPr/>
          <p:nvPr/>
        </p:nvSpPr>
        <p:spPr>
          <a:xfrm>
            <a:off x="8604504" y="28281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#A0A0A0  ·  Gris Texto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8275320" y="3070860"/>
            <a:ext cx="3703320" cy="477012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7" name="Shape 165"/>
          <p:cNvSpPr/>
          <p:nvPr/>
        </p:nvSpPr>
        <p:spPr>
          <a:xfrm>
            <a:off x="8275320" y="3089148"/>
            <a:ext cx="256032" cy="440436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8" name="Text 166"/>
          <p:cNvSpPr/>
          <p:nvPr/>
        </p:nvSpPr>
        <p:spPr>
          <a:xfrm>
            <a:off x="8604504" y="30982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/ métricas destacadas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8604504" y="33234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#FFB020  ·  Amber Medio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8275320" y="3566160"/>
            <a:ext cx="3703320" cy="477012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1" name="Shape 169"/>
          <p:cNvSpPr/>
          <p:nvPr/>
        </p:nvSpPr>
        <p:spPr>
          <a:xfrm>
            <a:off x="8275320" y="3584448"/>
            <a:ext cx="256032" cy="440436"/>
          </a:xfrm>
          <a:prstGeom prst="rect">
            <a:avLst/>
          </a:prstGeom>
          <a:solidFill>
            <a:srgbClr val="00C805"/>
          </a:solidFill>
          <a:ln w="12700">
            <a:solidFill>
              <a:srgbClr val="00C80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2" name="Text 170"/>
          <p:cNvSpPr/>
          <p:nvPr/>
        </p:nvSpPr>
        <p:spPr>
          <a:xfrm>
            <a:off x="8604504" y="35935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Positivo / avance / up</a:t>
            </a:r>
            <a:endParaRPr lang="en-US" sz="750" dirty="0"/>
          </a:p>
        </p:txBody>
      </p:sp>
      <p:sp>
        <p:nvSpPr>
          <p:cNvPr id="173" name="Text 171"/>
          <p:cNvSpPr/>
          <p:nvPr/>
        </p:nvSpPr>
        <p:spPr>
          <a:xfrm>
            <a:off x="8604504" y="38187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#00C805  ·  Verde Up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8275320" y="4061460"/>
            <a:ext cx="3703320" cy="477012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5" name="Shape 173"/>
          <p:cNvSpPr/>
          <p:nvPr/>
        </p:nvSpPr>
        <p:spPr>
          <a:xfrm>
            <a:off x="8275320" y="4079748"/>
            <a:ext cx="256032" cy="440436"/>
          </a:xfrm>
          <a:prstGeom prst="rect">
            <a:avLst/>
          </a:prstGeom>
          <a:solidFill>
            <a:srgbClr val="FF433D"/>
          </a:solidFill>
          <a:ln w="12700">
            <a:solidFill>
              <a:srgbClr val="FF433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6" name="Text 174"/>
          <p:cNvSpPr/>
          <p:nvPr/>
        </p:nvSpPr>
        <p:spPr>
          <a:xfrm>
            <a:off x="8604504" y="40888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Negativo / riesgo / down</a:t>
            </a:r>
            <a:endParaRPr lang="en-US" sz="750" dirty="0"/>
          </a:p>
        </p:txBody>
      </p:sp>
      <p:sp>
        <p:nvSpPr>
          <p:cNvPr id="177" name="Text 175"/>
          <p:cNvSpPr/>
          <p:nvPr/>
        </p:nvSpPr>
        <p:spPr>
          <a:xfrm>
            <a:off x="8604504" y="43140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#FF433D  ·  Rojo Down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8275320" y="4556760"/>
            <a:ext cx="3703320" cy="477012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9" name="Shape 177"/>
          <p:cNvSpPr/>
          <p:nvPr/>
        </p:nvSpPr>
        <p:spPr>
          <a:xfrm>
            <a:off x="8275320" y="4575048"/>
            <a:ext cx="256032" cy="440436"/>
          </a:xfrm>
          <a:prstGeom prst="rect">
            <a:avLst/>
          </a:prstGeom>
          <a:solidFill>
            <a:srgbClr val="0068FF"/>
          </a:solidFill>
          <a:ln w="12700">
            <a:solidFill>
              <a:srgbClr val="0068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0" name="Text 178"/>
          <p:cNvSpPr/>
          <p:nvPr/>
        </p:nvSpPr>
        <p:spPr>
          <a:xfrm>
            <a:off x="8604504" y="45841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/ links / acción</a:t>
            </a:r>
            <a:endParaRPr lang="en-US" sz="750" dirty="0"/>
          </a:p>
        </p:txBody>
      </p:sp>
      <p:sp>
        <p:nvSpPr>
          <p:cNvPr id="181" name="Text 179"/>
          <p:cNvSpPr/>
          <p:nvPr/>
        </p:nvSpPr>
        <p:spPr>
          <a:xfrm>
            <a:off x="8604504" y="48093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#0068FF  ·  Azul Links</a:t>
            </a:r>
            <a:endParaRPr lang="en-US" sz="700" dirty="0"/>
          </a:p>
        </p:txBody>
      </p:sp>
      <p:sp>
        <p:nvSpPr>
          <p:cNvPr id="182" name="Shape 180"/>
          <p:cNvSpPr/>
          <p:nvPr/>
        </p:nvSpPr>
        <p:spPr>
          <a:xfrm>
            <a:off x="8275320" y="5052060"/>
            <a:ext cx="3703320" cy="477012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3" name="Shape 181"/>
          <p:cNvSpPr/>
          <p:nvPr/>
        </p:nvSpPr>
        <p:spPr>
          <a:xfrm>
            <a:off x="8275320" y="5070348"/>
            <a:ext cx="256032" cy="440436"/>
          </a:xfrm>
          <a:prstGeom prst="rect">
            <a:avLst/>
          </a:prstGeom>
          <a:solidFill>
            <a:srgbClr val="4AF6C3"/>
          </a:solidFill>
          <a:ln w="12700">
            <a:solidFill>
              <a:srgbClr val="4AF6C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4" name="Text 182"/>
          <p:cNvSpPr/>
          <p:nvPr/>
        </p:nvSpPr>
        <p:spPr>
          <a:xfrm>
            <a:off x="8604504" y="50794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/ gráficas secundarias</a:t>
            </a:r>
            <a:endParaRPr lang="en-US" sz="750" dirty="0"/>
          </a:p>
        </p:txBody>
      </p:sp>
      <p:sp>
        <p:nvSpPr>
          <p:cNvPr id="185" name="Text 183"/>
          <p:cNvSpPr/>
          <p:nvPr/>
        </p:nvSpPr>
        <p:spPr>
          <a:xfrm>
            <a:off x="8604504" y="53046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#4AF6C3  ·  Teal Datos</a:t>
            </a:r>
            <a:endParaRPr lang="en-US" sz="700" dirty="0"/>
          </a:p>
        </p:txBody>
      </p:sp>
      <p:sp>
        <p:nvSpPr>
          <p:cNvPr id="186" name="Shape 184"/>
          <p:cNvSpPr/>
          <p:nvPr/>
        </p:nvSpPr>
        <p:spPr>
          <a:xfrm>
            <a:off x="8275320" y="5547360"/>
            <a:ext cx="3703320" cy="477012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7" name="Shape 185"/>
          <p:cNvSpPr/>
          <p:nvPr/>
        </p:nvSpPr>
        <p:spPr>
          <a:xfrm>
            <a:off x="8275320" y="5565648"/>
            <a:ext cx="256032" cy="4404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8" name="Text 186"/>
          <p:cNvSpPr/>
          <p:nvPr/>
        </p:nvSpPr>
        <p:spPr>
          <a:xfrm>
            <a:off x="8604504" y="5574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de cards / paneles</a:t>
            </a:r>
            <a:endParaRPr lang="en-US" sz="750" dirty="0"/>
          </a:p>
        </p:txBody>
      </p:sp>
      <p:sp>
        <p:nvSpPr>
          <p:cNvPr id="189" name="Text 187"/>
          <p:cNvSpPr/>
          <p:nvPr/>
        </p:nvSpPr>
        <p:spPr>
          <a:xfrm>
            <a:off x="8604504" y="5799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#1A1A1A  ·  Panel Oscuro</a:t>
            </a:r>
            <a:endParaRPr lang="en-US" sz="700" dirty="0"/>
          </a:p>
        </p:txBody>
      </p:sp>
      <p:sp>
        <p:nvSpPr>
          <p:cNvPr id="190" name="Shape 188"/>
          <p:cNvSpPr/>
          <p:nvPr/>
        </p:nvSpPr>
        <p:spPr>
          <a:xfrm>
            <a:off x="8275320" y="6042660"/>
            <a:ext cx="3703320" cy="477012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1" name="Shape 189"/>
          <p:cNvSpPr/>
          <p:nvPr/>
        </p:nvSpPr>
        <p:spPr>
          <a:xfrm>
            <a:off x="8275320" y="6060948"/>
            <a:ext cx="256032" cy="4404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2" name="Text 190"/>
          <p:cNvSpPr/>
          <p:nvPr/>
        </p:nvSpPr>
        <p:spPr>
          <a:xfrm>
            <a:off x="8604504" y="6070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Bordes sutiles / divisores</a:t>
            </a:r>
            <a:endParaRPr lang="en-US" sz="750" dirty="0"/>
          </a:p>
        </p:txBody>
      </p:sp>
      <p:sp>
        <p:nvSpPr>
          <p:cNvPr id="193" name="Text 191"/>
          <p:cNvSpPr/>
          <p:nvPr/>
        </p:nvSpPr>
        <p:spPr>
          <a:xfrm>
            <a:off x="8604504" y="6295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A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#333333  ·  Separador</a:t>
            </a:r>
            <a:endParaRPr lang="en-US" sz="700" dirty="0"/>
          </a:p>
        </p:txBody>
      </p:sp>
      <p:sp>
        <p:nvSpPr>
          <p:cNvPr id="194" name="Shape 192"/>
          <p:cNvSpPr/>
          <p:nvPr/>
        </p:nvSpPr>
        <p:spPr>
          <a:xfrm>
            <a:off x="8275320" y="6574536"/>
            <a:ext cx="3703320" cy="256032"/>
          </a:xfrm>
          <a:prstGeom prst="rect">
            <a:avLst/>
          </a:prstGeom>
          <a:solidFill>
            <a:srgbClr val="0A0A0A"/>
          </a:solidFill>
          <a:ln w="12700">
            <a:solidFill>
              <a:srgbClr val="FFA0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5" name="Text 193"/>
          <p:cNvSpPr/>
          <p:nvPr/>
        </p:nvSpPr>
        <p:spPr>
          <a:xfrm>
            <a:off x="8366760" y="661111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Negro + Ámbar #FFA028 = hallmark icónico Bloomberg</a:t>
            </a:r>
            <a:endParaRPr lang="en-US" sz="700" dirty="0"/>
          </a:p>
        </p:txBody>
      </p:sp>
      <p:sp>
        <p:nvSpPr>
          <p:cNvPr id="196" name="Shape 194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7" name="Text 195"/>
          <p:cNvSpPr/>
          <p:nvPr/>
        </p:nvSpPr>
        <p:spPr>
          <a:xfrm>
            <a:off x="274320" y="6793992"/>
            <a:ext cx="914400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BLOOMBERG  ·  PALETA OFICIAL  ·  Mobbin · BrandColorCode · Bloomberg LP · Bloomberg UX</a:t>
            </a:r>
            <a:endParaRPr lang="en-US" sz="550" dirty="0"/>
          </a:p>
        </p:txBody>
      </p:sp>
      <p:sp>
        <p:nvSpPr>
          <p:cNvPr id="198" name="Text 196"/>
          <p:cNvSpPr/>
          <p:nvPr/>
        </p:nvSpPr>
        <p:spPr>
          <a:xfrm>
            <a:off x="0" y="6793992"/>
            <a:ext cx="119786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COLORES  ·  4 SISTEMAS  ·  1 LÁMINA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McKinsey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B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Company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612648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2C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COLORES OFICIAL  ·  Strategy · Leadership · Global Management Consulting  ·  Rebrand 2019 · Wolff Olins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4320" y="795528"/>
            <a:ext cx="7818120" cy="18288"/>
          </a:xfrm>
          <a:prstGeom prst="rect">
            <a:avLst/>
          </a:prstGeom>
          <a:solidFill>
            <a:srgbClr val="0D3050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8183880" y="73152"/>
            <a:ext cx="18288" cy="6720840"/>
          </a:xfrm>
          <a:prstGeom prst="rect">
            <a:avLst/>
          </a:prstGeom>
          <a:solidFill>
            <a:srgbClr val="0D3050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7818120" cy="201168"/>
          </a:xfrm>
          <a:prstGeom prst="rect">
            <a:avLst/>
          </a:prstGeom>
          <a:solidFill>
            <a:srgbClr val="040F18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>
            <a:off x="274320" y="841248"/>
            <a:ext cx="36576" cy="201168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65760" y="8412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OFICIAL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" y="84124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C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Brandfetch · mckinsey.com · Wolff Olins 2019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74320" y="1042416"/>
            <a:ext cx="2563368" cy="761101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338328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#2251FF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03517"/>
            <a:ext cx="2563368" cy="466481"/>
          </a:xfrm>
          <a:prstGeom prst="rect">
            <a:avLst/>
          </a:prstGeom>
          <a:solidFill>
            <a:srgbClr val="071E2E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338328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Ribbon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8328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C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34, 81, 255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38328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primario oficial · Logo · Acentos vivid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901696" y="1042416"/>
            <a:ext cx="2563368" cy="761101"/>
          </a:xfrm>
          <a:prstGeom prst="rect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2965704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#051C2C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01696" y="1803517"/>
            <a:ext cx="2563368" cy="466481"/>
          </a:xfrm>
          <a:prstGeom prst="rect">
            <a:avLst/>
          </a:prstGeom>
          <a:solidFill>
            <a:srgbClr val="071E2E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2965704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Pearl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965704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C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5, 28, 44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965704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marino profundo · Fondos oscuros · Autoridad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529072" y="1042416"/>
            <a:ext cx="2563368" cy="7611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5593080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1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29072" y="1803517"/>
            <a:ext cx="2563368" cy="466481"/>
          </a:xfrm>
          <a:prstGeom prst="rect">
            <a:avLst/>
          </a:prstGeom>
          <a:solidFill>
            <a:srgbClr val="071E2E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Text 25"/>
          <p:cNvSpPr/>
          <p:nvPr/>
        </p:nvSpPr>
        <p:spPr>
          <a:xfrm>
            <a:off x="5593080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593080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C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255, 255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593080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· Texto sobre oscuros · Contraste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74320" y="2334006"/>
            <a:ext cx="7818120" cy="201168"/>
          </a:xfrm>
          <a:prstGeom prst="rect">
            <a:avLst/>
          </a:prstGeom>
          <a:solidFill>
            <a:srgbClr val="040F18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Shape 29"/>
          <p:cNvSpPr/>
          <p:nvPr/>
        </p:nvSpPr>
        <p:spPr>
          <a:xfrm>
            <a:off x="274320" y="2334006"/>
            <a:ext cx="36576" cy="201168"/>
          </a:xfrm>
          <a:prstGeom prst="rect">
            <a:avLst/>
          </a:prstGeom>
          <a:solidFill>
            <a:srgbClr val="4A7FBF"/>
          </a:solidFill>
          <a:ln w="12700">
            <a:solidFill>
              <a:srgbClr val="4A7FB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365760" y="233400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7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AZUL — PROFUNDO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" y="2334006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C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McKinsey Design System · Presentaciones ejecutivas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74320" y="2535174"/>
            <a:ext cx="1512418" cy="761101"/>
          </a:xfrm>
          <a:prstGeom prst="rect">
            <a:avLst/>
          </a:prstGeom>
          <a:solidFill>
            <a:srgbClr val="002040"/>
          </a:solidFill>
          <a:ln w="12700">
            <a:solidFill>
              <a:srgbClr val="0020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Text 33"/>
          <p:cNvSpPr/>
          <p:nvPr/>
        </p:nvSpPr>
        <p:spPr>
          <a:xfrm>
            <a:off x="338328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#002040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296275"/>
            <a:ext cx="1512418" cy="466481"/>
          </a:xfrm>
          <a:prstGeom prst="rect">
            <a:avLst/>
          </a:prstGeom>
          <a:solidFill>
            <a:srgbClr val="071E2E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/>
          <p:nvPr/>
        </p:nvSpPr>
        <p:spPr>
          <a:xfrm>
            <a:off x="338328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Noche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8328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C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32, 64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38328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portada premium · Máxima autoridad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850746" y="2535174"/>
            <a:ext cx="1512418" cy="761101"/>
          </a:xfrm>
          <a:prstGeom prst="rect">
            <a:avLst/>
          </a:prstGeom>
          <a:solidFill>
            <a:srgbClr val="003B5C"/>
          </a:solidFill>
          <a:ln w="12700">
            <a:solidFill>
              <a:srgbClr val="003B5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1" name="Text 39"/>
          <p:cNvSpPr/>
          <p:nvPr/>
        </p:nvSpPr>
        <p:spPr>
          <a:xfrm>
            <a:off x="1914754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#003B5C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50746" y="3296275"/>
            <a:ext cx="1512418" cy="466481"/>
          </a:xfrm>
          <a:prstGeom prst="rect">
            <a:avLst/>
          </a:prstGeom>
          <a:solidFill>
            <a:srgbClr val="071E2E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3" name="Text 41"/>
          <p:cNvSpPr/>
          <p:nvPr/>
        </p:nvSpPr>
        <p:spPr>
          <a:xfrm>
            <a:off x="1914754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 Blue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914754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C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59, 92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914754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clásico · Títulos · Organigrama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427171" y="2535174"/>
            <a:ext cx="1512418" cy="761101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7" name="Text 45"/>
          <p:cNvSpPr/>
          <p:nvPr/>
        </p:nvSpPr>
        <p:spPr>
          <a:xfrm>
            <a:off x="3491179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#1C3F6E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27171" y="3296275"/>
            <a:ext cx="1512418" cy="466481"/>
          </a:xfrm>
          <a:prstGeom prst="rect">
            <a:avLst/>
          </a:prstGeom>
          <a:solidFill>
            <a:srgbClr val="071E2E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9" name="Text 47"/>
          <p:cNvSpPr/>
          <p:nvPr/>
        </p:nvSpPr>
        <p:spPr>
          <a:xfrm>
            <a:off x="3491179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Estratégico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491179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C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28, 63, 110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491179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Subprocesos · Estructura · Jerarquía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5003597" y="2535174"/>
            <a:ext cx="1512418" cy="761101"/>
          </a:xfrm>
          <a:prstGeom prst="rect">
            <a:avLst/>
          </a:prstGeom>
          <a:solidFill>
            <a:srgbClr val="24477F"/>
          </a:solidFill>
          <a:ln w="12700">
            <a:solidFill>
              <a:srgbClr val="24477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3" name="Text 51"/>
          <p:cNvSpPr/>
          <p:nvPr/>
        </p:nvSpPr>
        <p:spPr>
          <a:xfrm>
            <a:off x="5067605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#24477F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003597" y="3296275"/>
            <a:ext cx="1512418" cy="466481"/>
          </a:xfrm>
          <a:prstGeom prst="rect">
            <a:avLst/>
          </a:prstGeom>
          <a:solidFill>
            <a:srgbClr val="071E2E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5" name="Text 53"/>
          <p:cNvSpPr/>
          <p:nvPr/>
        </p:nvSpPr>
        <p:spPr>
          <a:xfrm>
            <a:off x="5067605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Logo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067605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C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36, 71, 127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067605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histórica · Headers secundarios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6580022" y="2535174"/>
            <a:ext cx="1512418" cy="761101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9" name="Text 57"/>
          <p:cNvSpPr/>
          <p:nvPr/>
        </p:nvSpPr>
        <p:spPr>
          <a:xfrm>
            <a:off x="6644030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#0A2342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580022" y="3296275"/>
            <a:ext cx="1512418" cy="466481"/>
          </a:xfrm>
          <a:prstGeom prst="rect">
            <a:avLst/>
          </a:prstGeom>
          <a:solidFill>
            <a:srgbClr val="071E2E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1" name="Text 59"/>
          <p:cNvSpPr/>
          <p:nvPr/>
        </p:nvSpPr>
        <p:spPr>
          <a:xfrm>
            <a:off x="6644030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Palantir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644030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C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10, 35, 66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644030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 intermedias · Paneles de contenido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274320" y="3826764"/>
            <a:ext cx="7818120" cy="201168"/>
          </a:xfrm>
          <a:prstGeom prst="rect">
            <a:avLst/>
          </a:prstGeom>
          <a:solidFill>
            <a:srgbClr val="040F18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5" name="Shape 63"/>
          <p:cNvSpPr/>
          <p:nvPr/>
        </p:nvSpPr>
        <p:spPr>
          <a:xfrm>
            <a:off x="274320" y="3826764"/>
            <a:ext cx="36576" cy="201168"/>
          </a:xfrm>
          <a:prstGeom prst="rect">
            <a:avLst/>
          </a:prstGeom>
          <a:solidFill>
            <a:srgbClr val="7AB3E0"/>
          </a:solidFill>
          <a:ln w="12700">
            <a:solidFill>
              <a:srgbClr val="7AB3E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6" name="Text 64"/>
          <p:cNvSpPr/>
          <p:nvPr/>
        </p:nvSpPr>
        <p:spPr>
          <a:xfrm>
            <a:off x="365760" y="38267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7AB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AZUL — EXTENDIDO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74320" y="382676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C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McKinsey DataViz · Presentaciones · Brand extensions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274320" y="4027932"/>
            <a:ext cx="1249680" cy="761101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9" name="Text 67"/>
          <p:cNvSpPr/>
          <p:nvPr/>
        </p:nvSpPr>
        <p:spPr>
          <a:xfrm>
            <a:off x="338328" y="4587865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#0052CC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" y="4789033"/>
            <a:ext cx="1249680" cy="466481"/>
          </a:xfrm>
          <a:prstGeom prst="rect">
            <a:avLst/>
          </a:prstGeom>
          <a:solidFill>
            <a:srgbClr val="071E2E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1" name="Text 69"/>
          <p:cNvSpPr/>
          <p:nvPr/>
        </p:nvSpPr>
        <p:spPr>
          <a:xfrm>
            <a:off x="338328" y="4816465"/>
            <a:ext cx="1158240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Corporativo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38328" y="4994285"/>
            <a:ext cx="1158240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C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82, 204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338328" y="5110905"/>
            <a:ext cx="1158240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Elementos UI · Botones · Llamadas a acción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1588008" y="4027932"/>
            <a:ext cx="1249680" cy="761101"/>
          </a:xfrm>
          <a:prstGeom prst="rect">
            <a:avLst/>
          </a:prstGeom>
          <a:solidFill>
            <a:srgbClr val="0077B5"/>
          </a:solidFill>
          <a:ln w="12700">
            <a:solidFill>
              <a:srgbClr val="0077B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5" name="Text 73"/>
          <p:cNvSpPr/>
          <p:nvPr/>
        </p:nvSpPr>
        <p:spPr>
          <a:xfrm>
            <a:off x="1652016" y="4587865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#0077B5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588008" y="4789033"/>
            <a:ext cx="1249680" cy="466481"/>
          </a:xfrm>
          <a:prstGeom prst="rect">
            <a:avLst/>
          </a:prstGeom>
          <a:solidFill>
            <a:srgbClr val="071E2E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7" name="Text 75"/>
          <p:cNvSpPr/>
          <p:nvPr/>
        </p:nvSpPr>
        <p:spPr>
          <a:xfrm>
            <a:off x="1652016" y="4816465"/>
            <a:ext cx="1158240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Medio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652016" y="4994285"/>
            <a:ext cx="1158240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C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119, 181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1652016" y="5110905"/>
            <a:ext cx="1158240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· Gráficas · Highlights de slides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2901696" y="4027932"/>
            <a:ext cx="1249680" cy="761101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1" name="Text 79"/>
          <p:cNvSpPr/>
          <p:nvPr/>
        </p:nvSpPr>
        <p:spPr>
          <a:xfrm>
            <a:off x="2965704" y="4587865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#4A90D9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2901696" y="4789033"/>
            <a:ext cx="1249680" cy="466481"/>
          </a:xfrm>
          <a:prstGeom prst="rect">
            <a:avLst/>
          </a:prstGeom>
          <a:solidFill>
            <a:srgbClr val="071E2E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3" name="Text 81"/>
          <p:cNvSpPr/>
          <p:nvPr/>
        </p:nvSpPr>
        <p:spPr>
          <a:xfrm>
            <a:off x="2965704" y="4816465"/>
            <a:ext cx="1158240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Claro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2965704" y="4994285"/>
            <a:ext cx="1158240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C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74, 144, 217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2965704" y="5110905"/>
            <a:ext cx="1158240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Secundario · Iconos · DataViz serie 1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4215384" y="4027932"/>
            <a:ext cx="1249680" cy="761101"/>
          </a:xfrm>
          <a:prstGeom prst="rect">
            <a:avLst/>
          </a:prstGeom>
          <a:solidFill>
            <a:srgbClr val="7AB3E0"/>
          </a:solidFill>
          <a:ln w="12700">
            <a:solidFill>
              <a:srgbClr val="7AB3E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7" name="Text 85"/>
          <p:cNvSpPr/>
          <p:nvPr/>
        </p:nvSpPr>
        <p:spPr>
          <a:xfrm>
            <a:off x="4279392" y="4587865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1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#7AB3E0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215384" y="4789033"/>
            <a:ext cx="1249680" cy="466481"/>
          </a:xfrm>
          <a:prstGeom prst="rect">
            <a:avLst/>
          </a:prstGeom>
          <a:solidFill>
            <a:srgbClr val="071E2E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9" name="Text 87"/>
          <p:cNvSpPr/>
          <p:nvPr/>
        </p:nvSpPr>
        <p:spPr>
          <a:xfrm>
            <a:off x="4279392" y="4816465"/>
            <a:ext cx="1158240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Suave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4279392" y="4994285"/>
            <a:ext cx="1158240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C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122, 179, 224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4279392" y="5110905"/>
            <a:ext cx="1158240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de áreas · DataViz serie 2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5529072" y="4027932"/>
            <a:ext cx="1249680" cy="761101"/>
          </a:xfrm>
          <a:prstGeom prst="rect">
            <a:avLst/>
          </a:prstGeom>
          <a:solidFill>
            <a:srgbClr val="B8D4F0"/>
          </a:solidFill>
          <a:ln w="12700">
            <a:solidFill>
              <a:srgbClr val="B8D4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3" name="Text 91"/>
          <p:cNvSpPr/>
          <p:nvPr/>
        </p:nvSpPr>
        <p:spPr>
          <a:xfrm>
            <a:off x="5593080" y="4587865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1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#B8D4F0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5529072" y="4789033"/>
            <a:ext cx="1249680" cy="466481"/>
          </a:xfrm>
          <a:prstGeom prst="rect">
            <a:avLst/>
          </a:prstGeom>
          <a:solidFill>
            <a:srgbClr val="071E2E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5" name="Text 93"/>
          <p:cNvSpPr/>
          <p:nvPr/>
        </p:nvSpPr>
        <p:spPr>
          <a:xfrm>
            <a:off x="5593080" y="4816465"/>
            <a:ext cx="1158240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Platino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5593080" y="4994285"/>
            <a:ext cx="1158240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C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184, 212, 240</a:t>
            </a:r>
            <a:endParaRPr lang="en-US" sz="600" dirty="0"/>
          </a:p>
        </p:txBody>
      </p:sp>
      <p:sp>
        <p:nvSpPr>
          <p:cNvPr id="97" name="Text 95"/>
          <p:cNvSpPr/>
          <p:nvPr/>
        </p:nvSpPr>
        <p:spPr>
          <a:xfrm>
            <a:off x="5593080" y="5110905"/>
            <a:ext cx="1158240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Backgrounds sutiles · Tablas alternas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6842760" y="4027932"/>
            <a:ext cx="1249680" cy="761101"/>
          </a:xfrm>
          <a:prstGeom prst="rect">
            <a:avLst/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9" name="Text 97"/>
          <p:cNvSpPr/>
          <p:nvPr/>
        </p:nvSpPr>
        <p:spPr>
          <a:xfrm>
            <a:off x="6906768" y="4587865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1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#D6E8F7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6842760" y="4789033"/>
            <a:ext cx="1249680" cy="466481"/>
          </a:xfrm>
          <a:prstGeom prst="rect">
            <a:avLst/>
          </a:prstGeom>
          <a:solidFill>
            <a:srgbClr val="071E2E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1" name="Text 99"/>
          <p:cNvSpPr/>
          <p:nvPr/>
        </p:nvSpPr>
        <p:spPr>
          <a:xfrm>
            <a:off x="6906768" y="4816465"/>
            <a:ext cx="1158240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Hielo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6906768" y="4994285"/>
            <a:ext cx="1158240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C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214, 232, 247</a:t>
            </a:r>
            <a:endParaRPr lang="en-US" sz="600" dirty="0"/>
          </a:p>
        </p:txBody>
      </p:sp>
      <p:sp>
        <p:nvSpPr>
          <p:cNvPr id="103" name="Text 101"/>
          <p:cNvSpPr/>
          <p:nvPr/>
        </p:nvSpPr>
        <p:spPr>
          <a:xfrm>
            <a:off x="6906768" y="5110905"/>
            <a:ext cx="1158240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claros · Áreas de respiro</a:t>
            </a:r>
            <a:endParaRPr lang="en-US" sz="600" dirty="0"/>
          </a:p>
        </p:txBody>
      </p:sp>
      <p:sp>
        <p:nvSpPr>
          <p:cNvPr id="104" name="Shape 102"/>
          <p:cNvSpPr/>
          <p:nvPr/>
        </p:nvSpPr>
        <p:spPr>
          <a:xfrm>
            <a:off x="274320" y="5319522"/>
            <a:ext cx="7818120" cy="201168"/>
          </a:xfrm>
          <a:prstGeom prst="rect">
            <a:avLst/>
          </a:prstGeom>
          <a:solidFill>
            <a:srgbClr val="040F18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5" name="Shape 103"/>
          <p:cNvSpPr/>
          <p:nvPr/>
        </p:nvSpPr>
        <p:spPr>
          <a:xfrm>
            <a:off x="274320" y="5319522"/>
            <a:ext cx="36576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6" name="Text 104"/>
          <p:cNvSpPr/>
          <p:nvPr/>
        </p:nvSpPr>
        <p:spPr>
          <a:xfrm>
            <a:off x="365760" y="531952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&amp; NEUTROS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274320" y="5319522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C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McKinsey Brand Guidelines · Consulting Decks</a:t>
            </a:r>
            <a:endParaRPr lang="en-US" sz="600" dirty="0"/>
          </a:p>
        </p:txBody>
      </p:sp>
      <p:sp>
        <p:nvSpPr>
          <p:cNvPr id="108" name="Shape 106"/>
          <p:cNvSpPr/>
          <p:nvPr/>
        </p:nvSpPr>
        <p:spPr>
          <a:xfrm>
            <a:off x="274320" y="5520690"/>
            <a:ext cx="1249680" cy="761101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9" name="Text 107"/>
          <p:cNvSpPr/>
          <p:nvPr/>
        </p:nvSpPr>
        <p:spPr>
          <a:xfrm>
            <a:off x="338328" y="6080623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1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#FF6B35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274320" y="6281791"/>
            <a:ext cx="1249680" cy="466481"/>
          </a:xfrm>
          <a:prstGeom prst="rect">
            <a:avLst/>
          </a:prstGeom>
          <a:solidFill>
            <a:srgbClr val="071E2E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1" name="Text 109"/>
          <p:cNvSpPr/>
          <p:nvPr/>
        </p:nvSpPr>
        <p:spPr>
          <a:xfrm>
            <a:off x="338328" y="6309223"/>
            <a:ext cx="1158240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Naranja Estratégico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338328" y="6487043"/>
            <a:ext cx="1158240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C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107, 53</a:t>
            </a:r>
            <a:endParaRPr lang="en-US" sz="600" dirty="0"/>
          </a:p>
        </p:txBody>
      </p:sp>
      <p:sp>
        <p:nvSpPr>
          <p:cNvPr id="113" name="Text 111"/>
          <p:cNvSpPr/>
          <p:nvPr/>
        </p:nvSpPr>
        <p:spPr>
          <a:xfrm>
            <a:off x="338328" y="6603663"/>
            <a:ext cx="1158240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críticos · Callouts · Acción ejecutiva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1588008" y="5520690"/>
            <a:ext cx="1249680" cy="761101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5" name="Text 113"/>
          <p:cNvSpPr/>
          <p:nvPr/>
        </p:nvSpPr>
        <p:spPr>
          <a:xfrm>
            <a:off x="1652016" y="6080623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#2C3E50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1588008" y="6281791"/>
            <a:ext cx="1249680" cy="466481"/>
          </a:xfrm>
          <a:prstGeom prst="rect">
            <a:avLst/>
          </a:prstGeom>
          <a:solidFill>
            <a:srgbClr val="071E2E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7" name="Text 115"/>
          <p:cNvSpPr/>
          <p:nvPr/>
        </p:nvSpPr>
        <p:spPr>
          <a:xfrm>
            <a:off x="1652016" y="6309223"/>
            <a:ext cx="1158240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Gris Oscuro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1652016" y="6487043"/>
            <a:ext cx="1158240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C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44, 62, 80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1652016" y="6603663"/>
            <a:ext cx="1158240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cuerpo · Fondos neutros oscuros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2901696" y="5520690"/>
            <a:ext cx="1249680" cy="761101"/>
          </a:xfrm>
          <a:prstGeom prst="rect">
            <a:avLst/>
          </a:prstGeom>
          <a:solidFill>
            <a:srgbClr val="5D7280"/>
          </a:solidFill>
          <a:ln w="12700">
            <a:solidFill>
              <a:srgbClr val="5D72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1" name="Text 119"/>
          <p:cNvSpPr/>
          <p:nvPr/>
        </p:nvSpPr>
        <p:spPr>
          <a:xfrm>
            <a:off x="2965704" y="6080623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#5D7280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2901696" y="6281791"/>
            <a:ext cx="1249680" cy="466481"/>
          </a:xfrm>
          <a:prstGeom prst="rect">
            <a:avLst/>
          </a:prstGeom>
          <a:solidFill>
            <a:srgbClr val="071E2E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3" name="Text 121"/>
          <p:cNvSpPr/>
          <p:nvPr/>
        </p:nvSpPr>
        <p:spPr>
          <a:xfrm>
            <a:off x="2965704" y="6309223"/>
            <a:ext cx="1158240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Gris Medio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2965704" y="6487043"/>
            <a:ext cx="1158240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C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93, 114, 128</a:t>
            </a:r>
            <a:endParaRPr lang="en-US" sz="600" dirty="0"/>
          </a:p>
        </p:txBody>
      </p:sp>
      <p:sp>
        <p:nvSpPr>
          <p:cNvPr id="125" name="Text 123"/>
          <p:cNvSpPr/>
          <p:nvPr/>
        </p:nvSpPr>
        <p:spPr>
          <a:xfrm>
            <a:off x="2965704" y="6603663"/>
            <a:ext cx="1158240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 · Metadatos · Labels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4215384" y="5520690"/>
            <a:ext cx="1249680" cy="761101"/>
          </a:xfrm>
          <a:prstGeom prst="rect">
            <a:avLst/>
          </a:prstGeom>
          <a:solidFill>
            <a:srgbClr val="A0B0BC"/>
          </a:solidFill>
          <a:ln w="12700">
            <a:solidFill>
              <a:srgbClr val="A0B0B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7" name="Text 125"/>
          <p:cNvSpPr/>
          <p:nvPr/>
        </p:nvSpPr>
        <p:spPr>
          <a:xfrm>
            <a:off x="4279392" y="6080623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1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#A0B0BC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4215384" y="6281791"/>
            <a:ext cx="1249680" cy="466481"/>
          </a:xfrm>
          <a:prstGeom prst="rect">
            <a:avLst/>
          </a:prstGeom>
          <a:solidFill>
            <a:srgbClr val="071E2E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9" name="Text 127"/>
          <p:cNvSpPr/>
          <p:nvPr/>
        </p:nvSpPr>
        <p:spPr>
          <a:xfrm>
            <a:off x="4279392" y="6309223"/>
            <a:ext cx="1158240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Gris Claro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4279392" y="6487043"/>
            <a:ext cx="1158240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C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160, 176, 188</a:t>
            </a:r>
            <a:endParaRPr lang="en-US" sz="600" dirty="0"/>
          </a:p>
        </p:txBody>
      </p:sp>
      <p:sp>
        <p:nvSpPr>
          <p:cNvPr id="131" name="Text 129"/>
          <p:cNvSpPr/>
          <p:nvPr/>
        </p:nvSpPr>
        <p:spPr>
          <a:xfrm>
            <a:off x="4279392" y="6603663"/>
            <a:ext cx="1158240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Iconos · Divisores · Bordes sutiles</a:t>
            </a:r>
            <a:endParaRPr lang="en-US" sz="600" dirty="0"/>
          </a:p>
        </p:txBody>
      </p:sp>
      <p:sp>
        <p:nvSpPr>
          <p:cNvPr id="132" name="Shape 130"/>
          <p:cNvSpPr/>
          <p:nvPr/>
        </p:nvSpPr>
        <p:spPr>
          <a:xfrm>
            <a:off x="5529072" y="5520690"/>
            <a:ext cx="1249680" cy="761101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3" name="Text 131"/>
          <p:cNvSpPr/>
          <p:nvPr/>
        </p:nvSpPr>
        <p:spPr>
          <a:xfrm>
            <a:off x="5593080" y="6080623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1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#E8EEF2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5529072" y="6281791"/>
            <a:ext cx="1249680" cy="466481"/>
          </a:xfrm>
          <a:prstGeom prst="rect">
            <a:avLst/>
          </a:prstGeom>
          <a:solidFill>
            <a:srgbClr val="071E2E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5" name="Text 133"/>
          <p:cNvSpPr/>
          <p:nvPr/>
        </p:nvSpPr>
        <p:spPr>
          <a:xfrm>
            <a:off x="5593080" y="6309223"/>
            <a:ext cx="1158240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Gris Platino</a:t>
            </a:r>
            <a:endParaRPr lang="en-US" sz="750" dirty="0"/>
          </a:p>
        </p:txBody>
      </p:sp>
      <p:sp>
        <p:nvSpPr>
          <p:cNvPr id="136" name="Text 134"/>
          <p:cNvSpPr/>
          <p:nvPr/>
        </p:nvSpPr>
        <p:spPr>
          <a:xfrm>
            <a:off x="5593080" y="6487043"/>
            <a:ext cx="1158240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C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232, 238, 242</a:t>
            </a:r>
            <a:endParaRPr lang="en-US" sz="600" dirty="0"/>
          </a:p>
        </p:txBody>
      </p:sp>
      <p:sp>
        <p:nvSpPr>
          <p:cNvPr id="137" name="Text 135"/>
          <p:cNvSpPr/>
          <p:nvPr/>
        </p:nvSpPr>
        <p:spPr>
          <a:xfrm>
            <a:off x="5593080" y="6603663"/>
            <a:ext cx="1158240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suaves · Backgrounds slides claras</a:t>
            </a:r>
            <a:endParaRPr lang="en-US" sz="600" dirty="0"/>
          </a:p>
        </p:txBody>
      </p:sp>
      <p:sp>
        <p:nvSpPr>
          <p:cNvPr id="138" name="Shape 136"/>
          <p:cNvSpPr/>
          <p:nvPr/>
        </p:nvSpPr>
        <p:spPr>
          <a:xfrm>
            <a:off x="6842760" y="5520690"/>
            <a:ext cx="1249680" cy="761101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9" name="Text 137"/>
          <p:cNvSpPr/>
          <p:nvPr/>
        </p:nvSpPr>
        <p:spPr>
          <a:xfrm>
            <a:off x="6906768" y="6080623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1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#F5F5F5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6842760" y="6281791"/>
            <a:ext cx="1249680" cy="466481"/>
          </a:xfrm>
          <a:prstGeom prst="rect">
            <a:avLst/>
          </a:prstGeom>
          <a:solidFill>
            <a:srgbClr val="071E2E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1" name="Text 139"/>
          <p:cNvSpPr/>
          <p:nvPr/>
        </p:nvSpPr>
        <p:spPr>
          <a:xfrm>
            <a:off x="6906768" y="6309223"/>
            <a:ext cx="1158240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Gris Claro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6906768" y="6487043"/>
            <a:ext cx="1158240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C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245, 245, 245</a:t>
            </a:r>
            <a:endParaRPr lang="en-US" sz="600" dirty="0"/>
          </a:p>
        </p:txBody>
      </p:sp>
      <p:sp>
        <p:nvSpPr>
          <p:cNvPr id="143" name="Text 141"/>
          <p:cNvSpPr/>
          <p:nvPr/>
        </p:nvSpPr>
        <p:spPr>
          <a:xfrm>
            <a:off x="6906768" y="6603663"/>
            <a:ext cx="1158240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Áreas de respiro · Slides contenido claro</a:t>
            </a:r>
            <a:endParaRPr lang="en-US" sz="600" dirty="0"/>
          </a:p>
        </p:txBody>
      </p:sp>
      <p:sp>
        <p:nvSpPr>
          <p:cNvPr id="144" name="Text 142"/>
          <p:cNvSpPr/>
          <p:nvPr/>
        </p:nvSpPr>
        <p:spPr>
          <a:xfrm>
            <a:off x="8275320" y="914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CONFIGURACIÓN MAESTRA</a:t>
            </a:r>
            <a:endParaRPr lang="en-US" sz="1200" dirty="0"/>
          </a:p>
        </p:txBody>
      </p:sp>
      <p:sp>
        <p:nvSpPr>
          <p:cNvPr id="145" name="Text 143"/>
          <p:cNvSpPr/>
          <p:nvPr/>
        </p:nvSpPr>
        <p:spPr>
          <a:xfrm>
            <a:off x="8275320" y="34747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C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por función · Empresa Constructora</a:t>
            </a:r>
            <a:endParaRPr lang="en-US" sz="700" dirty="0"/>
          </a:p>
        </p:txBody>
      </p:sp>
      <p:sp>
        <p:nvSpPr>
          <p:cNvPr id="146" name="Shape 144"/>
          <p:cNvSpPr/>
          <p:nvPr/>
        </p:nvSpPr>
        <p:spPr>
          <a:xfrm>
            <a:off x="8275320" y="530352"/>
            <a:ext cx="3703320" cy="18288"/>
          </a:xfrm>
          <a:prstGeom prst="rect">
            <a:avLst/>
          </a:prstGeom>
          <a:solidFill>
            <a:srgbClr val="0D3050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7" name="Shape 145"/>
          <p:cNvSpPr/>
          <p:nvPr/>
        </p:nvSpPr>
        <p:spPr>
          <a:xfrm>
            <a:off x="8275320" y="594360"/>
            <a:ext cx="3703320" cy="477012"/>
          </a:xfrm>
          <a:prstGeom prst="rect">
            <a:avLst/>
          </a:prstGeom>
          <a:solidFill>
            <a:srgbClr val="040F18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8" name="Shape 146"/>
          <p:cNvSpPr/>
          <p:nvPr/>
        </p:nvSpPr>
        <p:spPr>
          <a:xfrm>
            <a:off x="8275320" y="612648"/>
            <a:ext cx="256032" cy="440436"/>
          </a:xfrm>
          <a:prstGeom prst="rect">
            <a:avLst/>
          </a:prstGeom>
          <a:solidFill>
            <a:srgbClr val="002040"/>
          </a:solidFill>
          <a:ln w="12700">
            <a:solidFill>
              <a:srgbClr val="0020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9" name="Text 147"/>
          <p:cNvSpPr/>
          <p:nvPr/>
        </p:nvSpPr>
        <p:spPr>
          <a:xfrm>
            <a:off x="8604504" y="621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portada / slides oscuras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8604504" y="846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5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#002040  ·  Azul Noche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8275320" y="1089660"/>
            <a:ext cx="3703320" cy="477012"/>
          </a:xfrm>
          <a:prstGeom prst="rect">
            <a:avLst/>
          </a:prstGeom>
          <a:solidFill>
            <a:srgbClr val="071A2A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2" name="Shape 150"/>
          <p:cNvSpPr/>
          <p:nvPr/>
        </p:nvSpPr>
        <p:spPr>
          <a:xfrm>
            <a:off x="8275320" y="1107948"/>
            <a:ext cx="256032" cy="440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3" name="Text 151"/>
          <p:cNvSpPr/>
          <p:nvPr/>
        </p:nvSpPr>
        <p:spPr>
          <a:xfrm>
            <a:off x="8604504" y="1117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slides contenido (claro)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8604504" y="1342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5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  ·  White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8275320" y="1584960"/>
            <a:ext cx="3703320" cy="477012"/>
          </a:xfrm>
          <a:prstGeom prst="rect">
            <a:avLst/>
          </a:prstGeom>
          <a:solidFill>
            <a:srgbClr val="040F18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6" name="Shape 154"/>
          <p:cNvSpPr/>
          <p:nvPr/>
        </p:nvSpPr>
        <p:spPr>
          <a:xfrm>
            <a:off x="8275320" y="1603248"/>
            <a:ext cx="256032" cy="440436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7" name="Text 155"/>
          <p:cNvSpPr/>
          <p:nvPr/>
        </p:nvSpPr>
        <p:spPr>
          <a:xfrm>
            <a:off x="8604504" y="16123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principal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8604504" y="18375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5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#2251FF  ·  Blue Ribbon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8275320" y="2080260"/>
            <a:ext cx="3703320" cy="477012"/>
          </a:xfrm>
          <a:prstGeom prst="rect">
            <a:avLst/>
          </a:prstGeom>
          <a:solidFill>
            <a:srgbClr val="071A2A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0" name="Shape 158"/>
          <p:cNvSpPr/>
          <p:nvPr/>
        </p:nvSpPr>
        <p:spPr>
          <a:xfrm>
            <a:off x="8275320" y="2098548"/>
            <a:ext cx="256032" cy="440436"/>
          </a:xfrm>
          <a:prstGeom prst="rect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1" name="Text 159"/>
          <p:cNvSpPr/>
          <p:nvPr/>
        </p:nvSpPr>
        <p:spPr>
          <a:xfrm>
            <a:off x="8604504" y="21076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Subtítulos / headers</a:t>
            </a:r>
            <a:endParaRPr lang="en-US" sz="750" dirty="0"/>
          </a:p>
        </p:txBody>
      </p:sp>
      <p:sp>
        <p:nvSpPr>
          <p:cNvPr id="162" name="Text 160"/>
          <p:cNvSpPr/>
          <p:nvPr/>
        </p:nvSpPr>
        <p:spPr>
          <a:xfrm>
            <a:off x="8604504" y="23328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5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#051C2C  ·  Black Pearl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8275320" y="2575560"/>
            <a:ext cx="3703320" cy="477012"/>
          </a:xfrm>
          <a:prstGeom prst="rect">
            <a:avLst/>
          </a:prstGeom>
          <a:solidFill>
            <a:srgbClr val="040F18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4" name="Shape 162"/>
          <p:cNvSpPr/>
          <p:nvPr/>
        </p:nvSpPr>
        <p:spPr>
          <a:xfrm>
            <a:off x="8275320" y="2593848"/>
            <a:ext cx="256032" cy="440436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5" name="Text 163"/>
          <p:cNvSpPr/>
          <p:nvPr/>
        </p:nvSpPr>
        <p:spPr>
          <a:xfrm>
            <a:off x="8604504" y="26029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cuerpo</a:t>
            </a:r>
            <a:endParaRPr lang="en-US" sz="750" dirty="0"/>
          </a:p>
        </p:txBody>
      </p:sp>
      <p:sp>
        <p:nvSpPr>
          <p:cNvPr id="166" name="Text 164"/>
          <p:cNvSpPr/>
          <p:nvPr/>
        </p:nvSpPr>
        <p:spPr>
          <a:xfrm>
            <a:off x="8604504" y="28281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5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#2C3E50  ·  Gris Oscuro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8275320" y="3070860"/>
            <a:ext cx="3703320" cy="477012"/>
          </a:xfrm>
          <a:prstGeom prst="rect">
            <a:avLst/>
          </a:prstGeom>
          <a:solidFill>
            <a:srgbClr val="071A2A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8" name="Shape 166"/>
          <p:cNvSpPr/>
          <p:nvPr/>
        </p:nvSpPr>
        <p:spPr>
          <a:xfrm>
            <a:off x="8275320" y="3089148"/>
            <a:ext cx="256032" cy="44043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9" name="Text 167"/>
          <p:cNvSpPr/>
          <p:nvPr/>
        </p:nvSpPr>
        <p:spPr>
          <a:xfrm>
            <a:off x="8604504" y="30982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/ métricas clave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8604504" y="33234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5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#FF6B35  ·  Naranja Estratégico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8275320" y="3566160"/>
            <a:ext cx="3703320" cy="477012"/>
          </a:xfrm>
          <a:prstGeom prst="rect">
            <a:avLst/>
          </a:prstGeom>
          <a:solidFill>
            <a:srgbClr val="040F18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2" name="Shape 170"/>
          <p:cNvSpPr/>
          <p:nvPr/>
        </p:nvSpPr>
        <p:spPr>
          <a:xfrm>
            <a:off x="8275320" y="3584448"/>
            <a:ext cx="256032" cy="440436"/>
          </a:xfrm>
          <a:prstGeom prst="rect">
            <a:avLst/>
          </a:prstGeom>
          <a:solidFill>
            <a:srgbClr val="003B5C"/>
          </a:solidFill>
          <a:ln w="12700">
            <a:solidFill>
              <a:srgbClr val="003B5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3" name="Text 171"/>
          <p:cNvSpPr/>
          <p:nvPr/>
        </p:nvSpPr>
        <p:spPr>
          <a:xfrm>
            <a:off x="8604504" y="35935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/ organigrama</a:t>
            </a:r>
            <a:endParaRPr lang="en-US" sz="750" dirty="0"/>
          </a:p>
        </p:txBody>
      </p:sp>
      <p:sp>
        <p:nvSpPr>
          <p:cNvPr id="174" name="Text 172"/>
          <p:cNvSpPr/>
          <p:nvPr/>
        </p:nvSpPr>
        <p:spPr>
          <a:xfrm>
            <a:off x="8604504" y="38187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5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#003B5C  ·  McKinsey Blue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8275320" y="4061460"/>
            <a:ext cx="3703320" cy="477012"/>
          </a:xfrm>
          <a:prstGeom prst="rect">
            <a:avLst/>
          </a:prstGeom>
          <a:solidFill>
            <a:srgbClr val="071A2A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6" name="Shape 174"/>
          <p:cNvSpPr/>
          <p:nvPr/>
        </p:nvSpPr>
        <p:spPr>
          <a:xfrm>
            <a:off x="8275320" y="4079748"/>
            <a:ext cx="256032" cy="440436"/>
          </a:xfrm>
          <a:prstGeom prst="rect">
            <a:avLst/>
          </a:prstGeom>
          <a:solidFill>
            <a:srgbClr val="0077B5"/>
          </a:solidFill>
          <a:ln w="12700">
            <a:solidFill>
              <a:srgbClr val="0077B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7" name="Text 175"/>
          <p:cNvSpPr/>
          <p:nvPr/>
        </p:nvSpPr>
        <p:spPr>
          <a:xfrm>
            <a:off x="8604504" y="40888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· gráficas · líneas</a:t>
            </a:r>
            <a:endParaRPr lang="en-US" sz="750" dirty="0"/>
          </a:p>
        </p:txBody>
      </p:sp>
      <p:sp>
        <p:nvSpPr>
          <p:cNvPr id="178" name="Text 176"/>
          <p:cNvSpPr/>
          <p:nvPr/>
        </p:nvSpPr>
        <p:spPr>
          <a:xfrm>
            <a:off x="8604504" y="43140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5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#0077B5  ·  Azul Medio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8275320" y="4556760"/>
            <a:ext cx="3703320" cy="477012"/>
          </a:xfrm>
          <a:prstGeom prst="rect">
            <a:avLst/>
          </a:prstGeom>
          <a:solidFill>
            <a:srgbClr val="040F18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0" name="Shape 178"/>
          <p:cNvSpPr/>
          <p:nvPr/>
        </p:nvSpPr>
        <p:spPr>
          <a:xfrm>
            <a:off x="8275320" y="4575048"/>
            <a:ext cx="256032" cy="44043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1" name="Text 179"/>
          <p:cNvSpPr/>
          <p:nvPr/>
        </p:nvSpPr>
        <p:spPr>
          <a:xfrm>
            <a:off x="8604504" y="45841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· links · acción</a:t>
            </a:r>
            <a:endParaRPr lang="en-US" sz="750" dirty="0"/>
          </a:p>
        </p:txBody>
      </p:sp>
      <p:sp>
        <p:nvSpPr>
          <p:cNvPr id="182" name="Text 180"/>
          <p:cNvSpPr/>
          <p:nvPr/>
        </p:nvSpPr>
        <p:spPr>
          <a:xfrm>
            <a:off x="8604504" y="48093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5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#0052CC  ·  Azul Corporativo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8275320" y="5052060"/>
            <a:ext cx="3703320" cy="477012"/>
          </a:xfrm>
          <a:prstGeom prst="rect">
            <a:avLst/>
          </a:prstGeom>
          <a:solidFill>
            <a:srgbClr val="071A2A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4" name="Shape 182"/>
          <p:cNvSpPr/>
          <p:nvPr/>
        </p:nvSpPr>
        <p:spPr>
          <a:xfrm>
            <a:off x="8275320" y="5070348"/>
            <a:ext cx="256032" cy="44043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5" name="Text 183"/>
          <p:cNvSpPr/>
          <p:nvPr/>
        </p:nvSpPr>
        <p:spPr>
          <a:xfrm>
            <a:off x="8604504" y="50794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· gráficas secundarias</a:t>
            </a:r>
            <a:endParaRPr lang="en-US" sz="750" dirty="0"/>
          </a:p>
        </p:txBody>
      </p:sp>
      <p:sp>
        <p:nvSpPr>
          <p:cNvPr id="186" name="Text 184"/>
          <p:cNvSpPr/>
          <p:nvPr/>
        </p:nvSpPr>
        <p:spPr>
          <a:xfrm>
            <a:off x="8604504" y="53046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5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#4A90D9  ·  Azul Claro</a:t>
            </a:r>
            <a:endParaRPr lang="en-US" sz="700" dirty="0"/>
          </a:p>
        </p:txBody>
      </p:sp>
      <p:sp>
        <p:nvSpPr>
          <p:cNvPr id="187" name="Shape 185"/>
          <p:cNvSpPr/>
          <p:nvPr/>
        </p:nvSpPr>
        <p:spPr>
          <a:xfrm>
            <a:off x="8275320" y="5547360"/>
            <a:ext cx="3703320" cy="477012"/>
          </a:xfrm>
          <a:prstGeom prst="rect">
            <a:avLst/>
          </a:prstGeom>
          <a:solidFill>
            <a:srgbClr val="040F18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8" name="Shape 186"/>
          <p:cNvSpPr/>
          <p:nvPr/>
        </p:nvSpPr>
        <p:spPr>
          <a:xfrm>
            <a:off x="8275320" y="5565648"/>
            <a:ext cx="256032" cy="440436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9" name="Text 187"/>
          <p:cNvSpPr/>
          <p:nvPr/>
        </p:nvSpPr>
        <p:spPr>
          <a:xfrm>
            <a:off x="8604504" y="5574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de cards / paneles</a:t>
            </a:r>
            <a:endParaRPr lang="en-US" sz="750" dirty="0"/>
          </a:p>
        </p:txBody>
      </p:sp>
      <p:sp>
        <p:nvSpPr>
          <p:cNvPr id="190" name="Text 188"/>
          <p:cNvSpPr/>
          <p:nvPr/>
        </p:nvSpPr>
        <p:spPr>
          <a:xfrm>
            <a:off x="8604504" y="5799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5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#E8EEF2  ·  Gris Platino</a:t>
            </a:r>
            <a:endParaRPr lang="en-US" sz="700" dirty="0"/>
          </a:p>
        </p:txBody>
      </p:sp>
      <p:sp>
        <p:nvSpPr>
          <p:cNvPr id="191" name="Shape 189"/>
          <p:cNvSpPr/>
          <p:nvPr/>
        </p:nvSpPr>
        <p:spPr>
          <a:xfrm>
            <a:off x="8275320" y="6042660"/>
            <a:ext cx="3703320" cy="477012"/>
          </a:xfrm>
          <a:prstGeom prst="rect">
            <a:avLst/>
          </a:prstGeom>
          <a:solidFill>
            <a:srgbClr val="071A2A"/>
          </a:solidFill>
          <a:ln w="12700">
            <a:solidFill>
              <a:srgbClr val="0D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2" name="Shape 190"/>
          <p:cNvSpPr/>
          <p:nvPr/>
        </p:nvSpPr>
        <p:spPr>
          <a:xfrm>
            <a:off x="8275320" y="6060948"/>
            <a:ext cx="256032" cy="440436"/>
          </a:xfrm>
          <a:prstGeom prst="rect">
            <a:avLst/>
          </a:prstGeom>
          <a:solidFill>
            <a:srgbClr val="A0B0BC"/>
          </a:solidFill>
          <a:ln w="12700">
            <a:solidFill>
              <a:srgbClr val="A0B0B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3" name="Text 191"/>
          <p:cNvSpPr/>
          <p:nvPr/>
        </p:nvSpPr>
        <p:spPr>
          <a:xfrm>
            <a:off x="8604504" y="6070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Bordes sutiles / divisores</a:t>
            </a:r>
            <a:endParaRPr lang="en-US" sz="750" dirty="0"/>
          </a:p>
        </p:txBody>
      </p:sp>
      <p:sp>
        <p:nvSpPr>
          <p:cNvPr id="194" name="Text 192"/>
          <p:cNvSpPr/>
          <p:nvPr/>
        </p:nvSpPr>
        <p:spPr>
          <a:xfrm>
            <a:off x="8604504" y="6295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5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#A0B0BC  ·  Gris Claro</a:t>
            </a:r>
            <a:endParaRPr lang="en-US" sz="700" dirty="0"/>
          </a:p>
        </p:txBody>
      </p:sp>
      <p:sp>
        <p:nvSpPr>
          <p:cNvPr id="195" name="Shape 193"/>
          <p:cNvSpPr/>
          <p:nvPr/>
        </p:nvSpPr>
        <p:spPr>
          <a:xfrm>
            <a:off x="8275320" y="6574536"/>
            <a:ext cx="3703320" cy="256032"/>
          </a:xfrm>
          <a:prstGeom prst="rect">
            <a:avLst/>
          </a:prstGeom>
          <a:solidFill>
            <a:srgbClr val="030E18"/>
          </a:solidFill>
          <a:ln w="12700">
            <a:solidFill>
              <a:srgbClr val="2251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6" name="Text 194"/>
          <p:cNvSpPr/>
          <p:nvPr/>
        </p:nvSpPr>
        <p:spPr>
          <a:xfrm>
            <a:off x="8366760" y="661111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Azul #2251FF + Blanco + #051C2C = identidad McKinsey. Alto contraste = claridad ejecutiva.</a:t>
            </a:r>
            <a:endParaRPr lang="en-US" sz="700" dirty="0"/>
          </a:p>
        </p:txBody>
      </p:sp>
      <p:sp>
        <p:nvSpPr>
          <p:cNvPr id="197" name="Shape 195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40F18"/>
          </a:solidFill>
          <a:ln w="12700">
            <a:solidFill>
              <a:srgbClr val="040F1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8" name="Text 196"/>
          <p:cNvSpPr/>
          <p:nvPr/>
        </p:nvSpPr>
        <p:spPr>
          <a:xfrm>
            <a:off x="274320" y="6793992"/>
            <a:ext cx="914400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C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 &amp; COMPANY  ·  PALETA OFICIAL  ·  Brandfetch · mckinsey.com · Wolff Olins 2019 · BrandColorCode</a:t>
            </a:r>
            <a:endParaRPr lang="en-US" sz="550" dirty="0"/>
          </a:p>
        </p:txBody>
      </p:sp>
      <p:sp>
        <p:nvSpPr>
          <p:cNvPr id="199" name="Text 197"/>
          <p:cNvSpPr/>
          <p:nvPr/>
        </p:nvSpPr>
        <p:spPr>
          <a:xfrm>
            <a:off x="0" y="6793992"/>
            <a:ext cx="119786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1C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COLORES  ·  4 SISTEMAS  ·  1 LÁMINA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IBM Carbon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COLORES OFICIAL  ·  Enterprise UI · Data Intelligence · Open Source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4320" y="795528"/>
            <a:ext cx="7818120" cy="18288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8183880" y="73152"/>
            <a:ext cx="18288" cy="6720840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7818120" cy="201168"/>
          </a:xfrm>
          <a:prstGeom prst="rect">
            <a:avLst/>
          </a:prstGeom>
          <a:solidFill>
            <a:srgbClr val="1A1A1A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>
            <a:off x="274320" y="841248"/>
            <a:ext cx="36576" cy="20116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65760" y="8412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PRINCIPAL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" y="84124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IBM Brand Center · carbondesignsystem.com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74320" y="1042416"/>
            <a:ext cx="2563368" cy="761101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338328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#0F62FE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03517"/>
            <a:ext cx="2563368" cy="466481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338328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60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8328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15, 98, 254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38328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primario · CTA · Elementos interactivos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901696" y="1042416"/>
            <a:ext cx="2563368" cy="761101"/>
          </a:xfrm>
          <a:prstGeom prst="rect">
            <a:avLst/>
          </a:prstGeom>
          <a:solidFill>
            <a:srgbClr val="0043CE"/>
          </a:solidFill>
          <a:ln w="12700">
            <a:solidFill>
              <a:srgbClr val="0043C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2965704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#0043CE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01696" y="1803517"/>
            <a:ext cx="2563368" cy="466481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2965704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70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965704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67, 206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965704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· Profundidad · Links activos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529072" y="1042416"/>
            <a:ext cx="2563368" cy="761101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5593080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#0066FF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29072" y="1803517"/>
            <a:ext cx="2563368" cy="466481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Text 25"/>
          <p:cNvSpPr/>
          <p:nvPr/>
        </p:nvSpPr>
        <p:spPr>
          <a:xfrm>
            <a:off x="5593080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50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593080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102, 255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593080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states · Highlights de datos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74320" y="2334006"/>
            <a:ext cx="7818120" cy="201168"/>
          </a:xfrm>
          <a:prstGeom prst="rect">
            <a:avLst/>
          </a:prstGeom>
          <a:solidFill>
            <a:srgbClr val="1A1A1A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Shape 29"/>
          <p:cNvSpPr/>
          <p:nvPr/>
        </p:nvSpPr>
        <p:spPr>
          <a:xfrm>
            <a:off x="274320" y="2334006"/>
            <a:ext cx="36576" cy="201168"/>
          </a:xfrm>
          <a:prstGeom prst="rect">
            <a:avLst/>
          </a:prstGeom>
          <a:solidFill>
            <a:srgbClr val="8D8D8D"/>
          </a:solidFill>
          <a:ln w="12700">
            <a:solidFill>
              <a:srgbClr val="8D8D8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365760" y="233400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GRISES — FONDOS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" y="2334006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IBM Carbon Gray Scale · UI Shell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74320" y="2535174"/>
            <a:ext cx="1512418" cy="761101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Text 33"/>
          <p:cNvSpPr/>
          <p:nvPr/>
        </p:nvSpPr>
        <p:spPr>
          <a:xfrm>
            <a:off x="338328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#161616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296275"/>
            <a:ext cx="1512418" cy="466481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/>
          <p:nvPr/>
        </p:nvSpPr>
        <p:spPr>
          <a:xfrm>
            <a:off x="338328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100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8328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22, 22, 22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38328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base dark theme · Terminal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850746" y="2535174"/>
            <a:ext cx="1512418" cy="761101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1" name="Text 39"/>
          <p:cNvSpPr/>
          <p:nvPr/>
        </p:nvSpPr>
        <p:spPr>
          <a:xfrm>
            <a:off x="1914754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#262626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50746" y="3296275"/>
            <a:ext cx="1512418" cy="466481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3" name="Text 41"/>
          <p:cNvSpPr/>
          <p:nvPr/>
        </p:nvSpPr>
        <p:spPr>
          <a:xfrm>
            <a:off x="1914754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90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914754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38, 38, 38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914754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Panels · Cards secundarias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427171" y="2535174"/>
            <a:ext cx="1512418" cy="761101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7" name="Text 45"/>
          <p:cNvSpPr/>
          <p:nvPr/>
        </p:nvSpPr>
        <p:spPr>
          <a:xfrm>
            <a:off x="3491179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#393939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27171" y="3296275"/>
            <a:ext cx="1512418" cy="466481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9" name="Text 47"/>
          <p:cNvSpPr/>
          <p:nvPr/>
        </p:nvSpPr>
        <p:spPr>
          <a:xfrm>
            <a:off x="3491179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80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491179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57, 57, 57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491179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dark · Bordes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5003597" y="2535174"/>
            <a:ext cx="1512418" cy="761101"/>
          </a:xfrm>
          <a:prstGeom prst="rect">
            <a:avLst/>
          </a:prstGeom>
          <a:solidFill>
            <a:srgbClr val="525252"/>
          </a:solidFill>
          <a:ln w="12700">
            <a:solidFill>
              <a:srgbClr val="52525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3" name="Text 51"/>
          <p:cNvSpPr/>
          <p:nvPr/>
        </p:nvSpPr>
        <p:spPr>
          <a:xfrm>
            <a:off x="5067605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#525252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003597" y="3296275"/>
            <a:ext cx="1512418" cy="466481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5" name="Text 53"/>
          <p:cNvSpPr/>
          <p:nvPr/>
        </p:nvSpPr>
        <p:spPr>
          <a:xfrm>
            <a:off x="5067605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70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067605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82, 82, 82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067605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deshabilitado · Labels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6580022" y="2535174"/>
            <a:ext cx="1512418" cy="761101"/>
          </a:xfrm>
          <a:prstGeom prst="rect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9" name="Text 57"/>
          <p:cNvSpPr/>
          <p:nvPr/>
        </p:nvSpPr>
        <p:spPr>
          <a:xfrm>
            <a:off x="6644030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#6F6F6F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580022" y="3296275"/>
            <a:ext cx="1512418" cy="466481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1" name="Text 59"/>
          <p:cNvSpPr/>
          <p:nvPr/>
        </p:nvSpPr>
        <p:spPr>
          <a:xfrm>
            <a:off x="6644030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60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644030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111, 111, 111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644030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text · Metadatos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274320" y="3826764"/>
            <a:ext cx="7818120" cy="201168"/>
          </a:xfrm>
          <a:prstGeom prst="rect">
            <a:avLst/>
          </a:prstGeom>
          <a:solidFill>
            <a:srgbClr val="1A1A1A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5" name="Shape 63"/>
          <p:cNvSpPr/>
          <p:nvPr/>
        </p:nvSpPr>
        <p:spPr>
          <a:xfrm>
            <a:off x="274320" y="3826764"/>
            <a:ext cx="36576" cy="201168"/>
          </a:xfrm>
          <a:prstGeom prst="rect">
            <a:avLst/>
          </a:prstGeom>
          <a:solidFill>
            <a:srgbClr val="C6C6C6"/>
          </a:solidFill>
          <a:ln w="12700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6" name="Text 64"/>
          <p:cNvSpPr/>
          <p:nvPr/>
        </p:nvSpPr>
        <p:spPr>
          <a:xfrm>
            <a:off x="365760" y="38267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6C6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GRISES — CLAROS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74320" y="382676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IBM Carbon Light Theme · White Layer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274320" y="4027932"/>
            <a:ext cx="1512418" cy="761101"/>
          </a:xfrm>
          <a:prstGeom prst="rect">
            <a:avLst/>
          </a:prstGeom>
          <a:solidFill>
            <a:srgbClr val="8D8D8D"/>
          </a:solidFill>
          <a:ln w="12700">
            <a:solidFill>
              <a:srgbClr val="8D8D8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9" name="Text 67"/>
          <p:cNvSpPr/>
          <p:nvPr/>
        </p:nvSpPr>
        <p:spPr>
          <a:xfrm>
            <a:off x="338328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#8D8D8D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" y="4789033"/>
            <a:ext cx="1512418" cy="466481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1" name="Text 69"/>
          <p:cNvSpPr/>
          <p:nvPr/>
        </p:nvSpPr>
        <p:spPr>
          <a:xfrm>
            <a:off x="338328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50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38328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141, 141, 141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338328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 · Icons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1850746" y="4027932"/>
            <a:ext cx="1512418" cy="761101"/>
          </a:xfrm>
          <a:prstGeom prst="rect">
            <a:avLst/>
          </a:prstGeom>
          <a:solidFill>
            <a:srgbClr val="A8A8A8"/>
          </a:solidFill>
          <a:ln w="1270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5" name="Text 73"/>
          <p:cNvSpPr/>
          <p:nvPr/>
        </p:nvSpPr>
        <p:spPr>
          <a:xfrm>
            <a:off x="1914754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#A8A8A8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850746" y="4789033"/>
            <a:ext cx="1512418" cy="466481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7" name="Text 75"/>
          <p:cNvSpPr/>
          <p:nvPr/>
        </p:nvSpPr>
        <p:spPr>
          <a:xfrm>
            <a:off x="1914754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40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914754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168, 168, 168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1914754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Separadores claros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3427171" y="4027932"/>
            <a:ext cx="1512418" cy="761101"/>
          </a:xfrm>
          <a:prstGeom prst="rect">
            <a:avLst/>
          </a:prstGeom>
          <a:solidFill>
            <a:srgbClr val="C6C6C6"/>
          </a:solidFill>
          <a:ln w="12700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1" name="Text 79"/>
          <p:cNvSpPr/>
          <p:nvPr/>
        </p:nvSpPr>
        <p:spPr>
          <a:xfrm>
            <a:off x="3491179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#C6C6C6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427171" y="4789033"/>
            <a:ext cx="1512418" cy="466481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3" name="Text 81"/>
          <p:cNvSpPr/>
          <p:nvPr/>
        </p:nvSpPr>
        <p:spPr>
          <a:xfrm>
            <a:off x="3491179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30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3491179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198, 198, 198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3491179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Borders light theme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5003597" y="4027932"/>
            <a:ext cx="1512418" cy="761101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7" name="Text 85"/>
          <p:cNvSpPr/>
          <p:nvPr/>
        </p:nvSpPr>
        <p:spPr>
          <a:xfrm>
            <a:off x="5067605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#E0E0E0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003597" y="4789033"/>
            <a:ext cx="1512418" cy="466481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9" name="Text 87"/>
          <p:cNvSpPr/>
          <p:nvPr/>
        </p:nvSpPr>
        <p:spPr>
          <a:xfrm>
            <a:off x="5067605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20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067605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224, 224, 224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5067605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claros · Tables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6580022" y="4027932"/>
            <a:ext cx="1512418" cy="761101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3" name="Text 91"/>
          <p:cNvSpPr/>
          <p:nvPr/>
        </p:nvSpPr>
        <p:spPr>
          <a:xfrm>
            <a:off x="6644030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#F4F4F4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580022" y="4789033"/>
            <a:ext cx="1512418" cy="466481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5" name="Text 93"/>
          <p:cNvSpPr/>
          <p:nvPr/>
        </p:nvSpPr>
        <p:spPr>
          <a:xfrm>
            <a:off x="6644030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10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6644030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244, 244, 244</a:t>
            </a:r>
            <a:endParaRPr lang="en-US" sz="600" dirty="0"/>
          </a:p>
        </p:txBody>
      </p:sp>
      <p:sp>
        <p:nvSpPr>
          <p:cNvPr id="97" name="Text 95"/>
          <p:cNvSpPr/>
          <p:nvPr/>
        </p:nvSpPr>
        <p:spPr>
          <a:xfrm>
            <a:off x="6644030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light · Superficies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274320" y="5319522"/>
            <a:ext cx="7818120" cy="201168"/>
          </a:xfrm>
          <a:prstGeom prst="rect">
            <a:avLst/>
          </a:prstGeom>
          <a:solidFill>
            <a:srgbClr val="1A1A1A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9" name="Shape 97"/>
          <p:cNvSpPr/>
          <p:nvPr/>
        </p:nvSpPr>
        <p:spPr>
          <a:xfrm>
            <a:off x="274320" y="5319522"/>
            <a:ext cx="36576" cy="201168"/>
          </a:xfrm>
          <a:prstGeom prst="rect">
            <a:avLst/>
          </a:prstGeom>
          <a:solidFill>
            <a:srgbClr val="42BE65"/>
          </a:solidFill>
          <a:ln w="12700">
            <a:solidFill>
              <a:srgbClr val="42BE6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0" name="Text 98"/>
          <p:cNvSpPr/>
          <p:nvPr/>
        </p:nvSpPr>
        <p:spPr>
          <a:xfrm>
            <a:off x="365760" y="531952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2B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SEMÁNTICOS &amp; ACENTO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274320" y="5319522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IBM Carbon Status Colors · Notifications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274320" y="5520690"/>
            <a:ext cx="1512418" cy="761101"/>
          </a:xfrm>
          <a:prstGeom prst="rect">
            <a:avLst/>
          </a:prstGeom>
          <a:solidFill>
            <a:srgbClr val="DA1E28"/>
          </a:solidFill>
          <a:ln w="12700">
            <a:solidFill>
              <a:srgbClr val="DA1E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3" name="Text 101"/>
          <p:cNvSpPr/>
          <p:nvPr/>
        </p:nvSpPr>
        <p:spPr>
          <a:xfrm>
            <a:off x="338328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#DA1E28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274320" y="6281791"/>
            <a:ext cx="1512418" cy="466481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5" name="Text 103"/>
          <p:cNvSpPr/>
          <p:nvPr/>
        </p:nvSpPr>
        <p:spPr>
          <a:xfrm>
            <a:off x="338328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60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338328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218, 30, 40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338328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· Alerta · Negativo</a:t>
            </a:r>
            <a:endParaRPr lang="en-US" sz="600" dirty="0"/>
          </a:p>
        </p:txBody>
      </p:sp>
      <p:sp>
        <p:nvSpPr>
          <p:cNvPr id="108" name="Shape 106"/>
          <p:cNvSpPr/>
          <p:nvPr/>
        </p:nvSpPr>
        <p:spPr>
          <a:xfrm>
            <a:off x="1850746" y="5520690"/>
            <a:ext cx="1512418" cy="761101"/>
          </a:xfrm>
          <a:prstGeom prst="rect">
            <a:avLst/>
          </a:prstGeom>
          <a:solidFill>
            <a:srgbClr val="FF832B"/>
          </a:solidFill>
          <a:ln w="12700">
            <a:solidFill>
              <a:srgbClr val="FF832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9" name="Text 107"/>
          <p:cNvSpPr/>
          <p:nvPr/>
        </p:nvSpPr>
        <p:spPr>
          <a:xfrm>
            <a:off x="1914754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#FF832B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1850746" y="6281791"/>
            <a:ext cx="1512418" cy="466481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1" name="Text 109"/>
          <p:cNvSpPr/>
          <p:nvPr/>
        </p:nvSpPr>
        <p:spPr>
          <a:xfrm>
            <a:off x="1914754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40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1914754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131, 43</a:t>
            </a:r>
            <a:endParaRPr lang="en-US" sz="600" dirty="0"/>
          </a:p>
        </p:txBody>
      </p:sp>
      <p:sp>
        <p:nvSpPr>
          <p:cNvPr id="113" name="Text 111"/>
          <p:cNvSpPr/>
          <p:nvPr/>
        </p:nvSpPr>
        <p:spPr>
          <a:xfrm>
            <a:off x="1914754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· Precaución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3427171" y="5520690"/>
            <a:ext cx="1512418" cy="761101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5" name="Text 113"/>
          <p:cNvSpPr/>
          <p:nvPr/>
        </p:nvSpPr>
        <p:spPr>
          <a:xfrm>
            <a:off x="3491179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#198038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3427171" y="6281791"/>
            <a:ext cx="1512418" cy="466481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7" name="Text 115"/>
          <p:cNvSpPr/>
          <p:nvPr/>
        </p:nvSpPr>
        <p:spPr>
          <a:xfrm>
            <a:off x="3491179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60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3491179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25, 128, 56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3491179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· Positivo · Avance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5003597" y="5520690"/>
            <a:ext cx="1512418" cy="761101"/>
          </a:xfrm>
          <a:prstGeom prst="rect">
            <a:avLst/>
          </a:prstGeom>
          <a:solidFill>
            <a:srgbClr val="42BE65"/>
          </a:solidFill>
          <a:ln w="12700">
            <a:solidFill>
              <a:srgbClr val="42BE6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1" name="Text 119"/>
          <p:cNvSpPr/>
          <p:nvPr/>
        </p:nvSpPr>
        <p:spPr>
          <a:xfrm>
            <a:off x="5067605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#42BE65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5003597" y="6281791"/>
            <a:ext cx="1512418" cy="466481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3" name="Text 121"/>
          <p:cNvSpPr/>
          <p:nvPr/>
        </p:nvSpPr>
        <p:spPr>
          <a:xfrm>
            <a:off x="5067605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40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5067605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66, 190, 101</a:t>
            </a:r>
            <a:endParaRPr lang="en-US" sz="600" dirty="0"/>
          </a:p>
        </p:txBody>
      </p:sp>
      <p:sp>
        <p:nvSpPr>
          <p:cNvPr id="125" name="Text 123"/>
          <p:cNvSpPr/>
          <p:nvPr/>
        </p:nvSpPr>
        <p:spPr>
          <a:xfrm>
            <a:off x="5067605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 activo · KPI verde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6580022" y="5520690"/>
            <a:ext cx="1512418" cy="761101"/>
          </a:xfrm>
          <a:prstGeom prst="rect">
            <a:avLst/>
          </a:prstGeom>
          <a:solidFill>
            <a:srgbClr val="F1C21B"/>
          </a:solidFill>
          <a:ln w="12700">
            <a:solidFill>
              <a:srgbClr val="F1C21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7" name="Text 125"/>
          <p:cNvSpPr/>
          <p:nvPr/>
        </p:nvSpPr>
        <p:spPr>
          <a:xfrm>
            <a:off x="6644030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#F1C21B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6580022" y="6281791"/>
            <a:ext cx="1512418" cy="466481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9" name="Text 127"/>
          <p:cNvSpPr/>
          <p:nvPr/>
        </p:nvSpPr>
        <p:spPr>
          <a:xfrm>
            <a:off x="6644030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30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6644030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241, 194, 27</a:t>
            </a:r>
            <a:endParaRPr lang="en-US" sz="600" dirty="0"/>
          </a:p>
        </p:txBody>
      </p:sp>
      <p:sp>
        <p:nvSpPr>
          <p:cNvPr id="131" name="Text 129"/>
          <p:cNvSpPr/>
          <p:nvPr/>
        </p:nvSpPr>
        <p:spPr>
          <a:xfrm>
            <a:off x="6644030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leve · Información</a:t>
            </a:r>
            <a:endParaRPr lang="en-US" sz="600" dirty="0"/>
          </a:p>
        </p:txBody>
      </p:sp>
      <p:sp>
        <p:nvSpPr>
          <p:cNvPr id="132" name="Text 130"/>
          <p:cNvSpPr/>
          <p:nvPr/>
        </p:nvSpPr>
        <p:spPr>
          <a:xfrm>
            <a:off x="8275320" y="914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CONFIGURACIÓN MAESTRA</a:t>
            </a:r>
            <a:endParaRPr lang="en-US" sz="1200" dirty="0"/>
          </a:p>
        </p:txBody>
      </p:sp>
      <p:sp>
        <p:nvSpPr>
          <p:cNvPr id="133" name="Text 131"/>
          <p:cNvSpPr/>
          <p:nvPr/>
        </p:nvSpPr>
        <p:spPr>
          <a:xfrm>
            <a:off x="8275320" y="34747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por función · Empresa Constructora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8275320" y="530352"/>
            <a:ext cx="3703320" cy="18288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5" name="Shape 133"/>
          <p:cNvSpPr/>
          <p:nvPr/>
        </p:nvSpPr>
        <p:spPr>
          <a:xfrm>
            <a:off x="8275320" y="594360"/>
            <a:ext cx="3703320" cy="477012"/>
          </a:xfrm>
          <a:prstGeom prst="rect">
            <a:avLst/>
          </a:prstGeom>
          <a:solidFill>
            <a:srgbClr val="1A1A1A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6" name="Shape 134"/>
          <p:cNvSpPr/>
          <p:nvPr/>
        </p:nvSpPr>
        <p:spPr>
          <a:xfrm>
            <a:off x="8275320" y="612648"/>
            <a:ext cx="256032" cy="440436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7" name="Text 135"/>
          <p:cNvSpPr/>
          <p:nvPr/>
        </p:nvSpPr>
        <p:spPr>
          <a:xfrm>
            <a:off x="8604504" y="621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principal dark</a:t>
            </a:r>
            <a:endParaRPr lang="en-US" sz="750" dirty="0"/>
          </a:p>
        </p:txBody>
      </p:sp>
      <p:sp>
        <p:nvSpPr>
          <p:cNvPr id="138" name="Text 136"/>
          <p:cNvSpPr/>
          <p:nvPr/>
        </p:nvSpPr>
        <p:spPr>
          <a:xfrm>
            <a:off x="8604504" y="846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6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#161616  ·  Gray 100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8275320" y="1089660"/>
            <a:ext cx="3703320" cy="477012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0" name="Shape 138"/>
          <p:cNvSpPr/>
          <p:nvPr/>
        </p:nvSpPr>
        <p:spPr>
          <a:xfrm>
            <a:off x="8275320" y="1107948"/>
            <a:ext cx="256032" cy="440436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1" name="Text 139"/>
          <p:cNvSpPr/>
          <p:nvPr/>
        </p:nvSpPr>
        <p:spPr>
          <a:xfrm>
            <a:off x="8604504" y="1117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panels / cards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8604504" y="1342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6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#262626  ·  Gray 90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8275320" y="1584960"/>
            <a:ext cx="3703320" cy="477012"/>
          </a:xfrm>
          <a:prstGeom prst="rect">
            <a:avLst/>
          </a:prstGeom>
          <a:solidFill>
            <a:srgbClr val="1A1A1A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4" name="Shape 142"/>
          <p:cNvSpPr/>
          <p:nvPr/>
        </p:nvSpPr>
        <p:spPr>
          <a:xfrm>
            <a:off x="8275320" y="1603248"/>
            <a:ext cx="256032" cy="440436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5" name="Text 143"/>
          <p:cNvSpPr/>
          <p:nvPr/>
        </p:nvSpPr>
        <p:spPr>
          <a:xfrm>
            <a:off x="8604504" y="16123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primario / CTA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8604504" y="18375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6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#0F62FE  ·  Blue 60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8275320" y="2080260"/>
            <a:ext cx="3703320" cy="477012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8" name="Shape 146"/>
          <p:cNvSpPr/>
          <p:nvPr/>
        </p:nvSpPr>
        <p:spPr>
          <a:xfrm>
            <a:off x="8275320" y="2098548"/>
            <a:ext cx="256032" cy="440436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9" name="Text 147"/>
          <p:cNvSpPr/>
          <p:nvPr/>
        </p:nvSpPr>
        <p:spPr>
          <a:xfrm>
            <a:off x="8604504" y="21076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principal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8604504" y="23328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6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#F4F4F4  ·  Gray 10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8275320" y="2575560"/>
            <a:ext cx="3703320" cy="477012"/>
          </a:xfrm>
          <a:prstGeom prst="rect">
            <a:avLst/>
          </a:prstGeom>
          <a:solidFill>
            <a:srgbClr val="1A1A1A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2" name="Shape 150"/>
          <p:cNvSpPr/>
          <p:nvPr/>
        </p:nvSpPr>
        <p:spPr>
          <a:xfrm>
            <a:off x="8275320" y="2593848"/>
            <a:ext cx="256032" cy="440436"/>
          </a:xfrm>
          <a:prstGeom prst="rect">
            <a:avLst/>
          </a:prstGeom>
          <a:solidFill>
            <a:srgbClr val="8D8D8D"/>
          </a:solidFill>
          <a:ln w="12700">
            <a:solidFill>
              <a:srgbClr val="8D8D8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3" name="Text 151"/>
          <p:cNvSpPr/>
          <p:nvPr/>
        </p:nvSpPr>
        <p:spPr>
          <a:xfrm>
            <a:off x="8604504" y="26029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8604504" y="28281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6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#8D8D8D  ·  Gray 50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8275320" y="3070860"/>
            <a:ext cx="3703320" cy="477012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6" name="Shape 154"/>
          <p:cNvSpPr/>
          <p:nvPr/>
        </p:nvSpPr>
        <p:spPr>
          <a:xfrm>
            <a:off x="8275320" y="3089148"/>
            <a:ext cx="256032" cy="440436"/>
          </a:xfrm>
          <a:prstGeom prst="rect">
            <a:avLst/>
          </a:prstGeom>
          <a:solidFill>
            <a:srgbClr val="42BE65"/>
          </a:solidFill>
          <a:ln w="12700">
            <a:solidFill>
              <a:srgbClr val="42BE6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7" name="Text 155"/>
          <p:cNvSpPr/>
          <p:nvPr/>
        </p:nvSpPr>
        <p:spPr>
          <a:xfrm>
            <a:off x="8604504" y="30982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positivos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8604504" y="33234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6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#42BE65  ·  Green 40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8275320" y="3566160"/>
            <a:ext cx="3703320" cy="477012"/>
          </a:xfrm>
          <a:prstGeom prst="rect">
            <a:avLst/>
          </a:prstGeom>
          <a:solidFill>
            <a:srgbClr val="1A1A1A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0" name="Shape 158"/>
          <p:cNvSpPr/>
          <p:nvPr/>
        </p:nvSpPr>
        <p:spPr>
          <a:xfrm>
            <a:off x="8275320" y="3584448"/>
            <a:ext cx="256032" cy="440436"/>
          </a:xfrm>
          <a:prstGeom prst="rect">
            <a:avLst/>
          </a:prstGeom>
          <a:solidFill>
            <a:srgbClr val="DA1E28"/>
          </a:solidFill>
          <a:ln w="12700">
            <a:solidFill>
              <a:srgbClr val="DA1E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1" name="Text 159"/>
          <p:cNvSpPr/>
          <p:nvPr/>
        </p:nvSpPr>
        <p:spPr>
          <a:xfrm>
            <a:off x="8604504" y="35935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/ error</a:t>
            </a:r>
            <a:endParaRPr lang="en-US" sz="750" dirty="0"/>
          </a:p>
        </p:txBody>
      </p:sp>
      <p:sp>
        <p:nvSpPr>
          <p:cNvPr id="162" name="Text 160"/>
          <p:cNvSpPr/>
          <p:nvPr/>
        </p:nvSpPr>
        <p:spPr>
          <a:xfrm>
            <a:off x="8604504" y="38187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6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#DA1E28  ·  Red 60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8275320" y="4061460"/>
            <a:ext cx="3703320" cy="477012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4" name="Shape 162"/>
          <p:cNvSpPr/>
          <p:nvPr/>
        </p:nvSpPr>
        <p:spPr>
          <a:xfrm>
            <a:off x="8275320" y="4079748"/>
            <a:ext cx="256032" cy="440436"/>
          </a:xfrm>
          <a:prstGeom prst="rect">
            <a:avLst/>
          </a:prstGeom>
          <a:solidFill>
            <a:srgbClr val="FF832B"/>
          </a:solidFill>
          <a:ln w="12700">
            <a:solidFill>
              <a:srgbClr val="FF832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5" name="Text 163"/>
          <p:cNvSpPr/>
          <p:nvPr/>
        </p:nvSpPr>
        <p:spPr>
          <a:xfrm>
            <a:off x="8604504" y="40888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/ precaución</a:t>
            </a:r>
            <a:endParaRPr lang="en-US" sz="750" dirty="0"/>
          </a:p>
        </p:txBody>
      </p:sp>
      <p:sp>
        <p:nvSpPr>
          <p:cNvPr id="166" name="Text 164"/>
          <p:cNvSpPr/>
          <p:nvPr/>
        </p:nvSpPr>
        <p:spPr>
          <a:xfrm>
            <a:off x="8604504" y="43140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6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#FF832B  ·  Orange 40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8275320" y="4556760"/>
            <a:ext cx="3703320" cy="477012"/>
          </a:xfrm>
          <a:prstGeom prst="rect">
            <a:avLst/>
          </a:prstGeom>
          <a:solidFill>
            <a:srgbClr val="1A1A1A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8" name="Shape 166"/>
          <p:cNvSpPr/>
          <p:nvPr/>
        </p:nvSpPr>
        <p:spPr>
          <a:xfrm>
            <a:off x="8275320" y="4575048"/>
            <a:ext cx="256032" cy="440436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9" name="Text 167"/>
          <p:cNvSpPr/>
          <p:nvPr/>
        </p:nvSpPr>
        <p:spPr>
          <a:xfrm>
            <a:off x="8604504" y="45841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Bordes / separadores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8604504" y="48093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6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#393939  ·  Gray 80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8275320" y="5052060"/>
            <a:ext cx="3703320" cy="477012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2" name="Shape 170"/>
          <p:cNvSpPr/>
          <p:nvPr/>
        </p:nvSpPr>
        <p:spPr>
          <a:xfrm>
            <a:off x="8275320" y="5070348"/>
            <a:ext cx="256032" cy="440436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3" name="Text 171"/>
          <p:cNvSpPr/>
          <p:nvPr/>
        </p:nvSpPr>
        <p:spPr>
          <a:xfrm>
            <a:off x="8604504" y="50794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/ highlights</a:t>
            </a:r>
            <a:endParaRPr lang="en-US" sz="750" dirty="0"/>
          </a:p>
        </p:txBody>
      </p:sp>
      <p:sp>
        <p:nvSpPr>
          <p:cNvPr id="174" name="Text 172"/>
          <p:cNvSpPr/>
          <p:nvPr/>
        </p:nvSpPr>
        <p:spPr>
          <a:xfrm>
            <a:off x="8604504" y="53046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6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#0066FF  ·  Blue 50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8275320" y="5547360"/>
            <a:ext cx="3703320" cy="477012"/>
          </a:xfrm>
          <a:prstGeom prst="rect">
            <a:avLst/>
          </a:prstGeom>
          <a:solidFill>
            <a:srgbClr val="1A1A1A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6" name="Shape 174"/>
          <p:cNvSpPr/>
          <p:nvPr/>
        </p:nvSpPr>
        <p:spPr>
          <a:xfrm>
            <a:off x="8275320" y="5565648"/>
            <a:ext cx="256032" cy="440436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7" name="Text 175"/>
          <p:cNvSpPr/>
          <p:nvPr/>
        </p:nvSpPr>
        <p:spPr>
          <a:xfrm>
            <a:off x="8604504" y="5574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claros</a:t>
            </a:r>
            <a:endParaRPr lang="en-US" sz="750" dirty="0"/>
          </a:p>
        </p:txBody>
      </p:sp>
      <p:sp>
        <p:nvSpPr>
          <p:cNvPr id="178" name="Text 176"/>
          <p:cNvSpPr/>
          <p:nvPr/>
        </p:nvSpPr>
        <p:spPr>
          <a:xfrm>
            <a:off x="8604504" y="5799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6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#F4F4F4  ·  Gray 10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8275320" y="6042660"/>
            <a:ext cx="3703320" cy="477012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0" name="Shape 178"/>
          <p:cNvSpPr/>
          <p:nvPr/>
        </p:nvSpPr>
        <p:spPr>
          <a:xfrm>
            <a:off x="8275320" y="6060948"/>
            <a:ext cx="256032" cy="44043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1" name="Text 179"/>
          <p:cNvSpPr/>
          <p:nvPr/>
        </p:nvSpPr>
        <p:spPr>
          <a:xfrm>
            <a:off x="8604504" y="6070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Superficies</a:t>
            </a:r>
            <a:endParaRPr lang="en-US" sz="750" dirty="0"/>
          </a:p>
        </p:txBody>
      </p:sp>
      <p:sp>
        <p:nvSpPr>
          <p:cNvPr id="182" name="Text 180"/>
          <p:cNvSpPr/>
          <p:nvPr/>
        </p:nvSpPr>
        <p:spPr>
          <a:xfrm>
            <a:off x="8604504" y="6295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F6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#E0E0E0  ·  Gray 20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8275320" y="6574536"/>
            <a:ext cx="370332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4" name="Text 182"/>
          <p:cNvSpPr/>
          <p:nvPr/>
        </p:nvSpPr>
        <p:spPr>
          <a:xfrm>
            <a:off x="8366760" y="661111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IBM Blue 60 #0F62FE sobre negro #161616 = identidad Carbon.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6" name="Text 184"/>
          <p:cNvSpPr/>
          <p:nvPr/>
        </p:nvSpPr>
        <p:spPr>
          <a:xfrm>
            <a:off x="274320" y="6793992"/>
            <a:ext cx="914400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CARBON  ·  PALETA OFICIAL  ·  carbondesignsystem.com · IBM Brand Center</a:t>
            </a:r>
            <a:endParaRPr lang="en-US" sz="550" dirty="0"/>
          </a:p>
        </p:txBody>
      </p:sp>
      <p:sp>
        <p:nvSpPr>
          <p:cNvPr id="187" name="Text 185"/>
          <p:cNvSpPr/>
          <p:nvPr/>
        </p:nvSpPr>
        <p:spPr>
          <a:xfrm>
            <a:off x="0" y="6793992"/>
            <a:ext cx="119786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COLORES  ·  4 SISTEMAS  ·  1 LÁMINA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Palantir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COLORES OFICIAL  ·  Data Intelligence · Operational Excellence · Defense &amp; Commercial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4320" y="795528"/>
            <a:ext cx="7818120" cy="18288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8183880" y="73152"/>
            <a:ext cx="18288" cy="672084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7818120" cy="201168"/>
          </a:xfrm>
          <a:prstGeom prst="rect">
            <a:avLst/>
          </a:prstGeom>
          <a:solidFill>
            <a:srgbClr val="000F24"/>
          </a:solidFill>
          <a:ln w="12700">
            <a:solidFill>
              <a:srgbClr val="001E3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>
            <a:off x="274320" y="841248"/>
            <a:ext cx="36576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65760" y="8412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PRINCIPAL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" y="84124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palantir.com · Brandfetch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74320" y="1042416"/>
            <a:ext cx="2563368" cy="761101"/>
          </a:xfrm>
          <a:prstGeom prst="rect">
            <a:avLst/>
          </a:prstGeom>
          <a:solidFill>
            <a:srgbClr val="000814"/>
          </a:solidFill>
          <a:ln w="12700">
            <a:solidFill>
              <a:srgbClr val="00081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338328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#000814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03517"/>
            <a:ext cx="2563368" cy="466481"/>
          </a:xfrm>
          <a:prstGeom prst="rect">
            <a:avLst/>
          </a:prstGeom>
          <a:solidFill>
            <a:srgbClr val="001233"/>
          </a:solidFill>
          <a:ln w="12700">
            <a:solidFill>
              <a:srgbClr val="023E8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338328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Black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8328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8, 20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38328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base · Máxima autoridad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901696" y="1042416"/>
            <a:ext cx="2563368" cy="761101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2965704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#00B4D8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01696" y="1803517"/>
            <a:ext cx="2563368" cy="466481"/>
          </a:xfrm>
          <a:prstGeom prst="rect">
            <a:avLst/>
          </a:prstGeom>
          <a:solidFill>
            <a:srgbClr val="001233"/>
          </a:solidFill>
          <a:ln w="12700">
            <a:solidFill>
              <a:srgbClr val="023E8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2965704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Palantir Cyan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965704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180, 216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965704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primario · Highlights · Links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529072" y="1042416"/>
            <a:ext cx="2563368" cy="7611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5593080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29072" y="1803517"/>
            <a:ext cx="2563368" cy="466481"/>
          </a:xfrm>
          <a:prstGeom prst="rect">
            <a:avLst/>
          </a:prstGeom>
          <a:solidFill>
            <a:srgbClr val="001233"/>
          </a:solidFill>
          <a:ln w="12700">
            <a:solidFill>
              <a:srgbClr val="023E8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Text 25"/>
          <p:cNvSpPr/>
          <p:nvPr/>
        </p:nvSpPr>
        <p:spPr>
          <a:xfrm>
            <a:off x="5593080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593080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255, 255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593080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principal · Contraste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74320" y="2334006"/>
            <a:ext cx="7818120" cy="201168"/>
          </a:xfrm>
          <a:prstGeom prst="rect">
            <a:avLst/>
          </a:prstGeom>
          <a:solidFill>
            <a:srgbClr val="000F24"/>
          </a:solidFill>
          <a:ln w="12700">
            <a:solidFill>
              <a:srgbClr val="001E3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Shape 29"/>
          <p:cNvSpPr/>
          <p:nvPr/>
        </p:nvSpPr>
        <p:spPr>
          <a:xfrm>
            <a:off x="274320" y="2334006"/>
            <a:ext cx="36576" cy="2011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365760" y="233400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9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AZULES PROFUNDOS — FONDOS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" y="2334006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Palantir UI System · Dark Theme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74320" y="2535174"/>
            <a:ext cx="1512418" cy="761101"/>
          </a:xfrm>
          <a:prstGeom prst="rect">
            <a:avLst/>
          </a:prstGeom>
          <a:solidFill>
            <a:srgbClr val="001233"/>
          </a:solidFill>
          <a:ln w="12700">
            <a:solidFill>
              <a:srgbClr val="0012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Text 33"/>
          <p:cNvSpPr/>
          <p:nvPr/>
        </p:nvSpPr>
        <p:spPr>
          <a:xfrm>
            <a:off x="338328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#001233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296275"/>
            <a:ext cx="1512418" cy="466481"/>
          </a:xfrm>
          <a:prstGeom prst="rect">
            <a:avLst/>
          </a:prstGeom>
          <a:solidFill>
            <a:srgbClr val="001233"/>
          </a:solidFill>
          <a:ln w="12700">
            <a:solidFill>
              <a:srgbClr val="023E8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/>
          <p:nvPr/>
        </p:nvSpPr>
        <p:spPr>
          <a:xfrm>
            <a:off x="338328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Deep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8328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18, 51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38328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panels · Cards principales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850746" y="2535174"/>
            <a:ext cx="1512418" cy="761101"/>
          </a:xfrm>
          <a:prstGeom prst="rect">
            <a:avLst/>
          </a:prstGeom>
          <a:solidFill>
            <a:srgbClr val="012A4A"/>
          </a:solidFill>
          <a:ln w="12700">
            <a:solidFill>
              <a:srgbClr val="012A4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1" name="Text 39"/>
          <p:cNvSpPr/>
          <p:nvPr/>
        </p:nvSpPr>
        <p:spPr>
          <a:xfrm>
            <a:off x="1914754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#012A4A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50746" y="3296275"/>
            <a:ext cx="1512418" cy="466481"/>
          </a:xfrm>
          <a:prstGeom prst="rect">
            <a:avLst/>
          </a:prstGeom>
          <a:solidFill>
            <a:srgbClr val="001233"/>
          </a:solidFill>
          <a:ln w="12700">
            <a:solidFill>
              <a:srgbClr val="023E8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3" name="Text 41"/>
          <p:cNvSpPr/>
          <p:nvPr/>
        </p:nvSpPr>
        <p:spPr>
          <a:xfrm>
            <a:off x="1914754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Medium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914754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1, 42, 74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914754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 intermedias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427171" y="2535174"/>
            <a:ext cx="1512418" cy="761101"/>
          </a:xfrm>
          <a:prstGeom prst="rect">
            <a:avLst/>
          </a:prstGeom>
          <a:solidFill>
            <a:srgbClr val="013A63"/>
          </a:solidFill>
          <a:ln w="12700">
            <a:solidFill>
              <a:srgbClr val="013A6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7" name="Text 45"/>
          <p:cNvSpPr/>
          <p:nvPr/>
        </p:nvSpPr>
        <p:spPr>
          <a:xfrm>
            <a:off x="3491179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#013A63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27171" y="3296275"/>
            <a:ext cx="1512418" cy="466481"/>
          </a:xfrm>
          <a:prstGeom prst="rect">
            <a:avLst/>
          </a:prstGeom>
          <a:solidFill>
            <a:srgbClr val="001233"/>
          </a:solidFill>
          <a:ln w="12700">
            <a:solidFill>
              <a:srgbClr val="023E8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9" name="Text 47"/>
          <p:cNvSpPr/>
          <p:nvPr/>
        </p:nvSpPr>
        <p:spPr>
          <a:xfrm>
            <a:off x="3491179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Bright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491179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1, 58, 99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491179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states · Fondo activo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5003597" y="2535174"/>
            <a:ext cx="1512418" cy="761101"/>
          </a:xfrm>
          <a:prstGeom prst="rect">
            <a:avLst/>
          </a:prstGeom>
          <a:solidFill>
            <a:srgbClr val="01497C"/>
          </a:solidFill>
          <a:ln w="12700">
            <a:solidFill>
              <a:srgbClr val="01497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3" name="Text 51"/>
          <p:cNvSpPr/>
          <p:nvPr/>
        </p:nvSpPr>
        <p:spPr>
          <a:xfrm>
            <a:off x="5067605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#01497C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003597" y="3296275"/>
            <a:ext cx="1512418" cy="466481"/>
          </a:xfrm>
          <a:prstGeom prst="rect">
            <a:avLst/>
          </a:prstGeom>
          <a:solidFill>
            <a:srgbClr val="001233"/>
          </a:solidFill>
          <a:ln w="12700">
            <a:solidFill>
              <a:srgbClr val="023E8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5" name="Text 53"/>
          <p:cNvSpPr/>
          <p:nvPr/>
        </p:nvSpPr>
        <p:spPr>
          <a:xfrm>
            <a:off x="5067605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Navy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067605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1, 73, 124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067605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· Elementos UI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6580022" y="2535174"/>
            <a:ext cx="1512418" cy="761101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9" name="Text 57"/>
          <p:cNvSpPr/>
          <p:nvPr/>
        </p:nvSpPr>
        <p:spPr>
          <a:xfrm>
            <a:off x="6644030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#023E8A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580022" y="3296275"/>
            <a:ext cx="1512418" cy="466481"/>
          </a:xfrm>
          <a:prstGeom prst="rect">
            <a:avLst/>
          </a:prstGeom>
          <a:solidFill>
            <a:srgbClr val="001233"/>
          </a:solidFill>
          <a:ln w="12700">
            <a:solidFill>
              <a:srgbClr val="023E8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1" name="Text 59"/>
          <p:cNvSpPr/>
          <p:nvPr/>
        </p:nvSpPr>
        <p:spPr>
          <a:xfrm>
            <a:off x="6644030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 Blue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644030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2, 62, 138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644030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Bordes activos · Divisores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274320" y="3826764"/>
            <a:ext cx="7818120" cy="201168"/>
          </a:xfrm>
          <a:prstGeom prst="rect">
            <a:avLst/>
          </a:prstGeom>
          <a:solidFill>
            <a:srgbClr val="000F24"/>
          </a:solidFill>
          <a:ln w="12700">
            <a:solidFill>
              <a:srgbClr val="001E3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5" name="Shape 63"/>
          <p:cNvSpPr/>
          <p:nvPr/>
        </p:nvSpPr>
        <p:spPr>
          <a:xfrm>
            <a:off x="274320" y="3826764"/>
            <a:ext cx="36576" cy="201168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6" name="Text 64"/>
          <p:cNvSpPr/>
          <p:nvPr/>
        </p:nvSpPr>
        <p:spPr>
          <a:xfrm>
            <a:off x="365760" y="38267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CIANOS — SISTEMA DE ACENTO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74320" y="382676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Palantir DataViz · Interface Highlights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274320" y="4027932"/>
            <a:ext cx="1249680" cy="761101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9" name="Text 67"/>
          <p:cNvSpPr/>
          <p:nvPr/>
        </p:nvSpPr>
        <p:spPr>
          <a:xfrm>
            <a:off x="338328" y="4587865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#0096C7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" y="4789033"/>
            <a:ext cx="1249680" cy="466481"/>
          </a:xfrm>
          <a:prstGeom prst="rect">
            <a:avLst/>
          </a:prstGeom>
          <a:solidFill>
            <a:srgbClr val="001233"/>
          </a:solidFill>
          <a:ln w="12700">
            <a:solidFill>
              <a:srgbClr val="023E8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1" name="Text 69"/>
          <p:cNvSpPr/>
          <p:nvPr/>
        </p:nvSpPr>
        <p:spPr>
          <a:xfrm>
            <a:off x="338328" y="4816465"/>
            <a:ext cx="1158240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 600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38328" y="4994285"/>
            <a:ext cx="1158240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150, 199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338328" y="5110905"/>
            <a:ext cx="1158240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oscuro · Botones activos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1588008" y="4027932"/>
            <a:ext cx="1249680" cy="761101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5" name="Text 73"/>
          <p:cNvSpPr/>
          <p:nvPr/>
        </p:nvSpPr>
        <p:spPr>
          <a:xfrm>
            <a:off x="1652016" y="4587865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#00B4D8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588008" y="4789033"/>
            <a:ext cx="1249680" cy="466481"/>
          </a:xfrm>
          <a:prstGeom prst="rect">
            <a:avLst/>
          </a:prstGeom>
          <a:solidFill>
            <a:srgbClr val="001233"/>
          </a:solidFill>
          <a:ln w="12700">
            <a:solidFill>
              <a:srgbClr val="023E8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7" name="Text 75"/>
          <p:cNvSpPr/>
          <p:nvPr/>
        </p:nvSpPr>
        <p:spPr>
          <a:xfrm>
            <a:off x="1652016" y="4816465"/>
            <a:ext cx="1158240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 500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652016" y="4994285"/>
            <a:ext cx="1158240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180, 216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1652016" y="5110905"/>
            <a:ext cx="1158240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principal · CTA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2901696" y="4027932"/>
            <a:ext cx="1249680" cy="761101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1" name="Text 79"/>
          <p:cNvSpPr/>
          <p:nvPr/>
        </p:nvSpPr>
        <p:spPr>
          <a:xfrm>
            <a:off x="2965704" y="4587865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#48CAE4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2901696" y="4789033"/>
            <a:ext cx="1249680" cy="466481"/>
          </a:xfrm>
          <a:prstGeom prst="rect">
            <a:avLst/>
          </a:prstGeom>
          <a:solidFill>
            <a:srgbClr val="001233"/>
          </a:solidFill>
          <a:ln w="12700">
            <a:solidFill>
              <a:srgbClr val="023E8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3" name="Text 81"/>
          <p:cNvSpPr/>
          <p:nvPr/>
        </p:nvSpPr>
        <p:spPr>
          <a:xfrm>
            <a:off x="2965704" y="4816465"/>
            <a:ext cx="1158240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 400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2965704" y="4994285"/>
            <a:ext cx="1158240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72, 202, 228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2965704" y="5110905"/>
            <a:ext cx="1158240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· Estado activo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4215384" y="4027932"/>
            <a:ext cx="1249680" cy="761101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7" name="Text 85"/>
          <p:cNvSpPr/>
          <p:nvPr/>
        </p:nvSpPr>
        <p:spPr>
          <a:xfrm>
            <a:off x="4279392" y="4587865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#90E0EF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215384" y="4789033"/>
            <a:ext cx="1249680" cy="466481"/>
          </a:xfrm>
          <a:prstGeom prst="rect">
            <a:avLst/>
          </a:prstGeom>
          <a:solidFill>
            <a:srgbClr val="001233"/>
          </a:solidFill>
          <a:ln w="12700">
            <a:solidFill>
              <a:srgbClr val="023E8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9" name="Text 87"/>
          <p:cNvSpPr/>
          <p:nvPr/>
        </p:nvSpPr>
        <p:spPr>
          <a:xfrm>
            <a:off x="4279392" y="4816465"/>
            <a:ext cx="1158240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 300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4279392" y="4994285"/>
            <a:ext cx="1158240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144, 224, 239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4279392" y="5110905"/>
            <a:ext cx="1158240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highlight · Labels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5529072" y="4027932"/>
            <a:ext cx="1249680" cy="761101"/>
          </a:xfrm>
          <a:prstGeom prst="rect">
            <a:avLst/>
          </a:prstGeom>
          <a:solidFill>
            <a:srgbClr val="ADE8F4"/>
          </a:solidFill>
          <a:ln w="12700">
            <a:solidFill>
              <a:srgbClr val="ADE8F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3" name="Text 91"/>
          <p:cNvSpPr/>
          <p:nvPr/>
        </p:nvSpPr>
        <p:spPr>
          <a:xfrm>
            <a:off x="5593080" y="4587865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#ADE8F4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5529072" y="4789033"/>
            <a:ext cx="1249680" cy="466481"/>
          </a:xfrm>
          <a:prstGeom prst="rect">
            <a:avLst/>
          </a:prstGeom>
          <a:solidFill>
            <a:srgbClr val="001233"/>
          </a:solidFill>
          <a:ln w="12700">
            <a:solidFill>
              <a:srgbClr val="023E8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5" name="Text 93"/>
          <p:cNvSpPr/>
          <p:nvPr/>
        </p:nvSpPr>
        <p:spPr>
          <a:xfrm>
            <a:off x="5593080" y="4816465"/>
            <a:ext cx="1158240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 200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5593080" y="4994285"/>
            <a:ext cx="1158240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173, 232, 244</a:t>
            </a:r>
            <a:endParaRPr lang="en-US" sz="600" dirty="0"/>
          </a:p>
        </p:txBody>
      </p:sp>
      <p:sp>
        <p:nvSpPr>
          <p:cNvPr id="97" name="Text 95"/>
          <p:cNvSpPr/>
          <p:nvPr/>
        </p:nvSpPr>
        <p:spPr>
          <a:xfrm>
            <a:off x="5593080" y="5110905"/>
            <a:ext cx="1158240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serie 2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6842760" y="4027932"/>
            <a:ext cx="1249680" cy="761101"/>
          </a:xfrm>
          <a:prstGeom prst="rect">
            <a:avLst/>
          </a:prstGeom>
          <a:solidFill>
            <a:srgbClr val="CAF0F8"/>
          </a:solidFill>
          <a:ln w="12700">
            <a:solidFill>
              <a:srgbClr val="CAF0F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9" name="Text 97"/>
          <p:cNvSpPr/>
          <p:nvPr/>
        </p:nvSpPr>
        <p:spPr>
          <a:xfrm>
            <a:off x="6906768" y="4587865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#CAF0F8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6842760" y="4789033"/>
            <a:ext cx="1249680" cy="466481"/>
          </a:xfrm>
          <a:prstGeom prst="rect">
            <a:avLst/>
          </a:prstGeom>
          <a:solidFill>
            <a:srgbClr val="001233"/>
          </a:solidFill>
          <a:ln w="12700">
            <a:solidFill>
              <a:srgbClr val="023E8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1" name="Text 99"/>
          <p:cNvSpPr/>
          <p:nvPr/>
        </p:nvSpPr>
        <p:spPr>
          <a:xfrm>
            <a:off x="6906768" y="4816465"/>
            <a:ext cx="1158240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 100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6906768" y="4994285"/>
            <a:ext cx="1158240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202, 240, 248</a:t>
            </a:r>
            <a:endParaRPr lang="en-US" sz="600" dirty="0"/>
          </a:p>
        </p:txBody>
      </p:sp>
      <p:sp>
        <p:nvSpPr>
          <p:cNvPr id="103" name="Text 101"/>
          <p:cNvSpPr/>
          <p:nvPr/>
        </p:nvSpPr>
        <p:spPr>
          <a:xfrm>
            <a:off x="6906768" y="5110905"/>
            <a:ext cx="1158240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sutiles · Backgrounds</a:t>
            </a:r>
            <a:endParaRPr lang="en-US" sz="600" dirty="0"/>
          </a:p>
        </p:txBody>
      </p:sp>
      <p:sp>
        <p:nvSpPr>
          <p:cNvPr id="104" name="Shape 102"/>
          <p:cNvSpPr/>
          <p:nvPr/>
        </p:nvSpPr>
        <p:spPr>
          <a:xfrm>
            <a:off x="274320" y="5319522"/>
            <a:ext cx="7818120" cy="201168"/>
          </a:xfrm>
          <a:prstGeom prst="rect">
            <a:avLst/>
          </a:prstGeom>
          <a:solidFill>
            <a:srgbClr val="000F24"/>
          </a:solidFill>
          <a:ln w="12700">
            <a:solidFill>
              <a:srgbClr val="001E3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5" name="Shape 103"/>
          <p:cNvSpPr/>
          <p:nvPr/>
        </p:nvSpPr>
        <p:spPr>
          <a:xfrm>
            <a:off x="274320" y="5319522"/>
            <a:ext cx="36576" cy="201168"/>
          </a:xfrm>
          <a:prstGeom prst="rect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6" name="Text 104"/>
          <p:cNvSpPr/>
          <p:nvPr/>
        </p:nvSpPr>
        <p:spPr>
          <a:xfrm>
            <a:off x="365760" y="531952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8EC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NEUTROS &amp; SEMÁNTICOS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274320" y="5319522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Palantir Status System · Alerts</a:t>
            </a:r>
            <a:endParaRPr lang="en-US" sz="600" dirty="0"/>
          </a:p>
        </p:txBody>
      </p:sp>
      <p:sp>
        <p:nvSpPr>
          <p:cNvPr id="108" name="Shape 106"/>
          <p:cNvSpPr/>
          <p:nvPr/>
        </p:nvSpPr>
        <p:spPr>
          <a:xfrm>
            <a:off x="274320" y="5520690"/>
            <a:ext cx="1512418" cy="761101"/>
          </a:xfrm>
          <a:prstGeom prst="rect">
            <a:avLst/>
          </a:prstGeom>
          <a:solidFill>
            <a:srgbClr val="219EBC"/>
          </a:solidFill>
          <a:ln w="12700">
            <a:solidFill>
              <a:srgbClr val="219EB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9" name="Text 107"/>
          <p:cNvSpPr/>
          <p:nvPr/>
        </p:nvSpPr>
        <p:spPr>
          <a:xfrm>
            <a:off x="338328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#219EBC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274320" y="6281791"/>
            <a:ext cx="1512418" cy="466481"/>
          </a:xfrm>
          <a:prstGeom prst="rect">
            <a:avLst/>
          </a:prstGeom>
          <a:solidFill>
            <a:srgbClr val="001233"/>
          </a:solidFill>
          <a:ln w="12700">
            <a:solidFill>
              <a:srgbClr val="023E8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1" name="Text 109"/>
          <p:cNvSpPr/>
          <p:nvPr/>
        </p:nvSpPr>
        <p:spPr>
          <a:xfrm>
            <a:off x="338328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 Data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338328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33, 158, 188</a:t>
            </a:r>
            <a:endParaRPr lang="en-US" sz="600" dirty="0"/>
          </a:p>
        </p:txBody>
      </p:sp>
      <p:sp>
        <p:nvSpPr>
          <p:cNvPr id="113" name="Text 111"/>
          <p:cNvSpPr/>
          <p:nvPr/>
        </p:nvSpPr>
        <p:spPr>
          <a:xfrm>
            <a:off x="338328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Gráficas · Visualización datos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1850746" y="5520690"/>
            <a:ext cx="1512418" cy="761101"/>
          </a:xfrm>
          <a:prstGeom prst="rect">
            <a:avLst/>
          </a:prstGeom>
          <a:solidFill>
            <a:srgbClr val="52796F"/>
          </a:solidFill>
          <a:ln w="12700">
            <a:solidFill>
              <a:srgbClr val="52796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5" name="Text 113"/>
          <p:cNvSpPr/>
          <p:nvPr/>
        </p:nvSpPr>
        <p:spPr>
          <a:xfrm>
            <a:off x="1914754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#52796F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1850746" y="6281791"/>
            <a:ext cx="1512418" cy="466481"/>
          </a:xfrm>
          <a:prstGeom prst="rect">
            <a:avLst/>
          </a:prstGeom>
          <a:solidFill>
            <a:srgbClr val="001233"/>
          </a:solidFill>
          <a:ln w="12700">
            <a:solidFill>
              <a:srgbClr val="023E8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7" name="Text 115"/>
          <p:cNvSpPr/>
          <p:nvPr/>
        </p:nvSpPr>
        <p:spPr>
          <a:xfrm>
            <a:off x="1914754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Muted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1914754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82, 121, 111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1914754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Positivo leve · Indicadores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3427171" y="5520690"/>
            <a:ext cx="1512418" cy="761101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1" name="Text 119"/>
          <p:cNvSpPr/>
          <p:nvPr/>
        </p:nvSpPr>
        <p:spPr>
          <a:xfrm>
            <a:off x="3491179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#E63946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3427171" y="6281791"/>
            <a:ext cx="1512418" cy="466481"/>
          </a:xfrm>
          <a:prstGeom prst="rect">
            <a:avLst/>
          </a:prstGeom>
          <a:solidFill>
            <a:srgbClr val="001233"/>
          </a:solidFill>
          <a:ln w="12700">
            <a:solidFill>
              <a:srgbClr val="023E8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3" name="Text 121"/>
          <p:cNvSpPr/>
          <p:nvPr/>
        </p:nvSpPr>
        <p:spPr>
          <a:xfrm>
            <a:off x="3491179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Alert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3491179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230, 57, 70</a:t>
            </a:r>
            <a:endParaRPr lang="en-US" sz="600" dirty="0"/>
          </a:p>
        </p:txBody>
      </p:sp>
      <p:sp>
        <p:nvSpPr>
          <p:cNvPr id="125" name="Text 123"/>
          <p:cNvSpPr/>
          <p:nvPr/>
        </p:nvSpPr>
        <p:spPr>
          <a:xfrm>
            <a:off x="3491179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· Alerta crítica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5003597" y="5520690"/>
            <a:ext cx="1512418" cy="761101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7" name="Text 125"/>
          <p:cNvSpPr/>
          <p:nvPr/>
        </p:nvSpPr>
        <p:spPr>
          <a:xfrm>
            <a:off x="5067605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#F4A261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5003597" y="6281791"/>
            <a:ext cx="1512418" cy="466481"/>
          </a:xfrm>
          <a:prstGeom prst="rect">
            <a:avLst/>
          </a:prstGeom>
          <a:solidFill>
            <a:srgbClr val="001233"/>
          </a:solidFill>
          <a:ln w="12700">
            <a:solidFill>
              <a:srgbClr val="023E8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9" name="Text 127"/>
          <p:cNvSpPr/>
          <p:nvPr/>
        </p:nvSpPr>
        <p:spPr>
          <a:xfrm>
            <a:off x="5067605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Warning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5067605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244, 162, 97</a:t>
            </a:r>
            <a:endParaRPr lang="en-US" sz="600" dirty="0"/>
          </a:p>
        </p:txBody>
      </p:sp>
      <p:sp>
        <p:nvSpPr>
          <p:cNvPr id="131" name="Text 129"/>
          <p:cNvSpPr/>
          <p:nvPr/>
        </p:nvSpPr>
        <p:spPr>
          <a:xfrm>
            <a:off x="5067605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· Precaución</a:t>
            </a:r>
            <a:endParaRPr lang="en-US" sz="600" dirty="0"/>
          </a:p>
        </p:txBody>
      </p:sp>
      <p:sp>
        <p:nvSpPr>
          <p:cNvPr id="132" name="Shape 130"/>
          <p:cNvSpPr/>
          <p:nvPr/>
        </p:nvSpPr>
        <p:spPr>
          <a:xfrm>
            <a:off x="6580022" y="5520690"/>
            <a:ext cx="1512418" cy="761101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3" name="Text 131"/>
          <p:cNvSpPr/>
          <p:nvPr/>
        </p:nvSpPr>
        <p:spPr>
          <a:xfrm>
            <a:off x="6644030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#2A2A2A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6580022" y="6281791"/>
            <a:ext cx="1512418" cy="466481"/>
          </a:xfrm>
          <a:prstGeom prst="rect">
            <a:avLst/>
          </a:prstGeom>
          <a:solidFill>
            <a:srgbClr val="001233"/>
          </a:solidFill>
          <a:ln w="12700">
            <a:solidFill>
              <a:srgbClr val="023E8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5" name="Text 133"/>
          <p:cNvSpPr/>
          <p:nvPr/>
        </p:nvSpPr>
        <p:spPr>
          <a:xfrm>
            <a:off x="6644030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Dark</a:t>
            </a:r>
            <a:endParaRPr lang="en-US" sz="750" dirty="0"/>
          </a:p>
        </p:txBody>
      </p:sp>
      <p:sp>
        <p:nvSpPr>
          <p:cNvPr id="136" name="Text 134"/>
          <p:cNvSpPr/>
          <p:nvPr/>
        </p:nvSpPr>
        <p:spPr>
          <a:xfrm>
            <a:off x="6644030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23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42, 42, 42</a:t>
            </a:r>
            <a:endParaRPr lang="en-US" sz="600" dirty="0"/>
          </a:p>
        </p:txBody>
      </p:sp>
      <p:sp>
        <p:nvSpPr>
          <p:cNvPr id="137" name="Text 135"/>
          <p:cNvSpPr/>
          <p:nvPr/>
        </p:nvSpPr>
        <p:spPr>
          <a:xfrm>
            <a:off x="6644030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Separadores · Bordes sutiles</a:t>
            </a:r>
            <a:endParaRPr lang="en-US" sz="600" dirty="0"/>
          </a:p>
        </p:txBody>
      </p:sp>
      <p:sp>
        <p:nvSpPr>
          <p:cNvPr id="138" name="Text 136"/>
          <p:cNvSpPr/>
          <p:nvPr/>
        </p:nvSpPr>
        <p:spPr>
          <a:xfrm>
            <a:off x="8275320" y="914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CONFIGURACIÓN MAESTRA</a:t>
            </a:r>
            <a:endParaRPr lang="en-US" sz="1200" dirty="0"/>
          </a:p>
        </p:txBody>
      </p:sp>
      <p:sp>
        <p:nvSpPr>
          <p:cNvPr id="139" name="Text 137"/>
          <p:cNvSpPr/>
          <p:nvPr/>
        </p:nvSpPr>
        <p:spPr>
          <a:xfrm>
            <a:off x="8275320" y="34747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por función · Empresa Constructora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8275320" y="530352"/>
            <a:ext cx="3703320" cy="18288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1" name="Shape 139"/>
          <p:cNvSpPr/>
          <p:nvPr/>
        </p:nvSpPr>
        <p:spPr>
          <a:xfrm>
            <a:off x="8275320" y="594360"/>
            <a:ext cx="3703320" cy="477012"/>
          </a:xfrm>
          <a:prstGeom prst="rect">
            <a:avLst/>
          </a:prstGeom>
          <a:solidFill>
            <a:srgbClr val="000F24"/>
          </a:solidFill>
          <a:ln w="12700">
            <a:solidFill>
              <a:srgbClr val="001E3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2" name="Shape 140"/>
          <p:cNvSpPr/>
          <p:nvPr/>
        </p:nvSpPr>
        <p:spPr>
          <a:xfrm>
            <a:off x="8275320" y="612648"/>
            <a:ext cx="256032" cy="440436"/>
          </a:xfrm>
          <a:prstGeom prst="rect">
            <a:avLst/>
          </a:prstGeom>
          <a:solidFill>
            <a:srgbClr val="000814"/>
          </a:solidFill>
          <a:ln w="12700">
            <a:solidFill>
              <a:srgbClr val="00081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3" name="Text 141"/>
          <p:cNvSpPr/>
          <p:nvPr/>
        </p:nvSpPr>
        <p:spPr>
          <a:xfrm>
            <a:off x="8604504" y="621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portada / dark slides</a:t>
            </a:r>
            <a:endParaRPr lang="en-US" sz="750" dirty="0"/>
          </a:p>
        </p:txBody>
      </p:sp>
      <p:sp>
        <p:nvSpPr>
          <p:cNvPr id="144" name="Text 142"/>
          <p:cNvSpPr/>
          <p:nvPr/>
        </p:nvSpPr>
        <p:spPr>
          <a:xfrm>
            <a:off x="8604504" y="846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#000814  ·  Deep Black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8275320" y="1089660"/>
            <a:ext cx="3703320" cy="477012"/>
          </a:xfrm>
          <a:prstGeom prst="rect">
            <a:avLst/>
          </a:prstGeom>
          <a:solidFill>
            <a:srgbClr val="001233"/>
          </a:solidFill>
          <a:ln w="12700">
            <a:solidFill>
              <a:srgbClr val="001E3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6" name="Shape 144"/>
          <p:cNvSpPr/>
          <p:nvPr/>
        </p:nvSpPr>
        <p:spPr>
          <a:xfrm>
            <a:off x="8275320" y="1107948"/>
            <a:ext cx="256032" cy="440436"/>
          </a:xfrm>
          <a:prstGeom prst="rect">
            <a:avLst/>
          </a:prstGeom>
          <a:solidFill>
            <a:srgbClr val="001233"/>
          </a:solidFill>
          <a:ln w="12700">
            <a:solidFill>
              <a:srgbClr val="0012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7" name="Text 145"/>
          <p:cNvSpPr/>
          <p:nvPr/>
        </p:nvSpPr>
        <p:spPr>
          <a:xfrm>
            <a:off x="8604504" y="1117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panels / contenido</a:t>
            </a:r>
            <a:endParaRPr lang="en-US" sz="750" dirty="0"/>
          </a:p>
        </p:txBody>
      </p:sp>
      <p:sp>
        <p:nvSpPr>
          <p:cNvPr id="148" name="Text 146"/>
          <p:cNvSpPr/>
          <p:nvPr/>
        </p:nvSpPr>
        <p:spPr>
          <a:xfrm>
            <a:off x="8604504" y="1342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#001233  ·  Navy Deep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8275320" y="1584960"/>
            <a:ext cx="3703320" cy="477012"/>
          </a:xfrm>
          <a:prstGeom prst="rect">
            <a:avLst/>
          </a:prstGeom>
          <a:solidFill>
            <a:srgbClr val="000F24"/>
          </a:solidFill>
          <a:ln w="12700">
            <a:solidFill>
              <a:srgbClr val="001E3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0" name="Shape 148"/>
          <p:cNvSpPr/>
          <p:nvPr/>
        </p:nvSpPr>
        <p:spPr>
          <a:xfrm>
            <a:off x="8275320" y="1603248"/>
            <a:ext cx="256032" cy="4404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1" name="Text 149"/>
          <p:cNvSpPr/>
          <p:nvPr/>
        </p:nvSpPr>
        <p:spPr>
          <a:xfrm>
            <a:off x="8604504" y="16123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primario / CTA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8604504" y="18375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#00B4D8  ·  Palantir Cyan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8275320" y="2080260"/>
            <a:ext cx="3703320" cy="477012"/>
          </a:xfrm>
          <a:prstGeom prst="rect">
            <a:avLst/>
          </a:prstGeom>
          <a:solidFill>
            <a:srgbClr val="001233"/>
          </a:solidFill>
          <a:ln w="12700">
            <a:solidFill>
              <a:srgbClr val="001E3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4" name="Shape 152"/>
          <p:cNvSpPr/>
          <p:nvPr/>
        </p:nvSpPr>
        <p:spPr>
          <a:xfrm>
            <a:off x="8275320" y="2098548"/>
            <a:ext cx="256032" cy="440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5" name="Text 153"/>
          <p:cNvSpPr/>
          <p:nvPr/>
        </p:nvSpPr>
        <p:spPr>
          <a:xfrm>
            <a:off x="8604504" y="21076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principal</a:t>
            </a:r>
            <a:endParaRPr lang="en-US" sz="750" dirty="0"/>
          </a:p>
        </p:txBody>
      </p:sp>
      <p:sp>
        <p:nvSpPr>
          <p:cNvPr id="156" name="Text 154"/>
          <p:cNvSpPr/>
          <p:nvPr/>
        </p:nvSpPr>
        <p:spPr>
          <a:xfrm>
            <a:off x="8604504" y="23328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  ·  White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8275320" y="2575560"/>
            <a:ext cx="3703320" cy="477012"/>
          </a:xfrm>
          <a:prstGeom prst="rect">
            <a:avLst/>
          </a:prstGeom>
          <a:solidFill>
            <a:srgbClr val="000F24"/>
          </a:solidFill>
          <a:ln w="12700">
            <a:solidFill>
              <a:srgbClr val="001E3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8" name="Shape 156"/>
          <p:cNvSpPr/>
          <p:nvPr/>
        </p:nvSpPr>
        <p:spPr>
          <a:xfrm>
            <a:off x="8275320" y="2593848"/>
            <a:ext cx="256032" cy="440436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9" name="Text 157"/>
          <p:cNvSpPr/>
          <p:nvPr/>
        </p:nvSpPr>
        <p:spPr>
          <a:xfrm>
            <a:off x="8604504" y="26029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</a:t>
            </a:r>
            <a:endParaRPr lang="en-US" sz="750" dirty="0"/>
          </a:p>
        </p:txBody>
      </p:sp>
      <p:sp>
        <p:nvSpPr>
          <p:cNvPr id="160" name="Text 158"/>
          <p:cNvSpPr/>
          <p:nvPr/>
        </p:nvSpPr>
        <p:spPr>
          <a:xfrm>
            <a:off x="8604504" y="28281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#90E0EF  ·  Cyan 300</a:t>
            </a:r>
            <a:endParaRPr lang="en-US" sz="700" dirty="0"/>
          </a:p>
        </p:txBody>
      </p:sp>
      <p:sp>
        <p:nvSpPr>
          <p:cNvPr id="161" name="Shape 159"/>
          <p:cNvSpPr/>
          <p:nvPr/>
        </p:nvSpPr>
        <p:spPr>
          <a:xfrm>
            <a:off x="8275320" y="3070860"/>
            <a:ext cx="3703320" cy="477012"/>
          </a:xfrm>
          <a:prstGeom prst="rect">
            <a:avLst/>
          </a:prstGeom>
          <a:solidFill>
            <a:srgbClr val="001233"/>
          </a:solidFill>
          <a:ln w="12700">
            <a:solidFill>
              <a:srgbClr val="001E3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2" name="Shape 160"/>
          <p:cNvSpPr/>
          <p:nvPr/>
        </p:nvSpPr>
        <p:spPr>
          <a:xfrm>
            <a:off x="8275320" y="3089148"/>
            <a:ext cx="256032" cy="440436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3" name="Text 161"/>
          <p:cNvSpPr/>
          <p:nvPr/>
        </p:nvSpPr>
        <p:spPr>
          <a:xfrm>
            <a:off x="8604504" y="30982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/ datos destacados</a:t>
            </a:r>
            <a:endParaRPr lang="en-US" sz="750" dirty="0"/>
          </a:p>
        </p:txBody>
      </p:sp>
      <p:sp>
        <p:nvSpPr>
          <p:cNvPr id="164" name="Text 162"/>
          <p:cNvSpPr/>
          <p:nvPr/>
        </p:nvSpPr>
        <p:spPr>
          <a:xfrm>
            <a:off x="8604504" y="33234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#48CAE4  ·  Cyan 400</a:t>
            </a:r>
            <a:endParaRPr lang="en-US" sz="700" dirty="0"/>
          </a:p>
        </p:txBody>
      </p:sp>
      <p:sp>
        <p:nvSpPr>
          <p:cNvPr id="165" name="Shape 163"/>
          <p:cNvSpPr/>
          <p:nvPr/>
        </p:nvSpPr>
        <p:spPr>
          <a:xfrm>
            <a:off x="8275320" y="3566160"/>
            <a:ext cx="3703320" cy="477012"/>
          </a:xfrm>
          <a:prstGeom prst="rect">
            <a:avLst/>
          </a:prstGeom>
          <a:solidFill>
            <a:srgbClr val="000F24"/>
          </a:solidFill>
          <a:ln w="12700">
            <a:solidFill>
              <a:srgbClr val="001E3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6" name="Shape 164"/>
          <p:cNvSpPr/>
          <p:nvPr/>
        </p:nvSpPr>
        <p:spPr>
          <a:xfrm>
            <a:off x="8275320" y="3584448"/>
            <a:ext cx="256032" cy="440436"/>
          </a:xfrm>
          <a:prstGeom prst="rect">
            <a:avLst/>
          </a:prstGeom>
          <a:solidFill>
            <a:srgbClr val="52796F"/>
          </a:solidFill>
          <a:ln w="12700">
            <a:solidFill>
              <a:srgbClr val="52796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7" name="Text 165"/>
          <p:cNvSpPr/>
          <p:nvPr/>
        </p:nvSpPr>
        <p:spPr>
          <a:xfrm>
            <a:off x="8604504" y="35935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Positivo / avance</a:t>
            </a:r>
            <a:endParaRPr lang="en-US" sz="750" dirty="0"/>
          </a:p>
        </p:txBody>
      </p:sp>
      <p:sp>
        <p:nvSpPr>
          <p:cNvPr id="168" name="Text 166"/>
          <p:cNvSpPr/>
          <p:nvPr/>
        </p:nvSpPr>
        <p:spPr>
          <a:xfrm>
            <a:off x="8604504" y="38187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#52796F  ·  Green Muted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8275320" y="4061460"/>
            <a:ext cx="3703320" cy="477012"/>
          </a:xfrm>
          <a:prstGeom prst="rect">
            <a:avLst/>
          </a:prstGeom>
          <a:solidFill>
            <a:srgbClr val="001233"/>
          </a:solidFill>
          <a:ln w="12700">
            <a:solidFill>
              <a:srgbClr val="001E3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0" name="Shape 168"/>
          <p:cNvSpPr/>
          <p:nvPr/>
        </p:nvSpPr>
        <p:spPr>
          <a:xfrm>
            <a:off x="8275320" y="4079748"/>
            <a:ext cx="256032" cy="44043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1" name="Text 169"/>
          <p:cNvSpPr/>
          <p:nvPr/>
        </p:nvSpPr>
        <p:spPr>
          <a:xfrm>
            <a:off x="8604504" y="40888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/ riesgo</a:t>
            </a:r>
            <a:endParaRPr lang="en-US" sz="750" dirty="0"/>
          </a:p>
        </p:txBody>
      </p:sp>
      <p:sp>
        <p:nvSpPr>
          <p:cNvPr id="172" name="Text 170"/>
          <p:cNvSpPr/>
          <p:nvPr/>
        </p:nvSpPr>
        <p:spPr>
          <a:xfrm>
            <a:off x="8604504" y="43140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#E63946  ·  Red Alert</a:t>
            </a:r>
            <a:endParaRPr lang="en-US" sz="700" dirty="0"/>
          </a:p>
        </p:txBody>
      </p:sp>
      <p:sp>
        <p:nvSpPr>
          <p:cNvPr id="173" name="Shape 171"/>
          <p:cNvSpPr/>
          <p:nvPr/>
        </p:nvSpPr>
        <p:spPr>
          <a:xfrm>
            <a:off x="8275320" y="4556760"/>
            <a:ext cx="3703320" cy="477012"/>
          </a:xfrm>
          <a:prstGeom prst="rect">
            <a:avLst/>
          </a:prstGeom>
          <a:solidFill>
            <a:srgbClr val="000F24"/>
          </a:solidFill>
          <a:ln w="12700">
            <a:solidFill>
              <a:srgbClr val="001E3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4" name="Shape 172"/>
          <p:cNvSpPr/>
          <p:nvPr/>
        </p:nvSpPr>
        <p:spPr>
          <a:xfrm>
            <a:off x="8275320" y="4575048"/>
            <a:ext cx="256032" cy="440436"/>
          </a:xfrm>
          <a:prstGeom prst="rect">
            <a:avLst/>
          </a:prstGeom>
          <a:solidFill>
            <a:srgbClr val="219EBC"/>
          </a:solidFill>
          <a:ln w="12700">
            <a:solidFill>
              <a:srgbClr val="219EB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5" name="Text 173"/>
          <p:cNvSpPr/>
          <p:nvPr/>
        </p:nvSpPr>
        <p:spPr>
          <a:xfrm>
            <a:off x="8604504" y="45841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de datos</a:t>
            </a:r>
            <a:endParaRPr lang="en-US" sz="750" dirty="0"/>
          </a:p>
        </p:txBody>
      </p:sp>
      <p:sp>
        <p:nvSpPr>
          <p:cNvPr id="176" name="Text 174"/>
          <p:cNvSpPr/>
          <p:nvPr/>
        </p:nvSpPr>
        <p:spPr>
          <a:xfrm>
            <a:off x="8604504" y="48093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#219EBC  ·  Teal Data</a:t>
            </a:r>
            <a:endParaRPr lang="en-US" sz="700" dirty="0"/>
          </a:p>
        </p:txBody>
      </p:sp>
      <p:sp>
        <p:nvSpPr>
          <p:cNvPr id="177" name="Shape 175"/>
          <p:cNvSpPr/>
          <p:nvPr/>
        </p:nvSpPr>
        <p:spPr>
          <a:xfrm>
            <a:off x="8275320" y="5052060"/>
            <a:ext cx="3703320" cy="477012"/>
          </a:xfrm>
          <a:prstGeom prst="rect">
            <a:avLst/>
          </a:prstGeom>
          <a:solidFill>
            <a:srgbClr val="001233"/>
          </a:solidFill>
          <a:ln w="12700">
            <a:solidFill>
              <a:srgbClr val="001E3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8" name="Shape 176"/>
          <p:cNvSpPr/>
          <p:nvPr/>
        </p:nvSpPr>
        <p:spPr>
          <a:xfrm>
            <a:off x="8275320" y="5070348"/>
            <a:ext cx="256032" cy="440436"/>
          </a:xfrm>
          <a:prstGeom prst="rect">
            <a:avLst/>
          </a:prstGeom>
          <a:solidFill>
            <a:srgbClr val="ADE8F4"/>
          </a:solidFill>
          <a:ln w="12700">
            <a:solidFill>
              <a:srgbClr val="ADE8F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9" name="Text 177"/>
          <p:cNvSpPr/>
          <p:nvPr/>
        </p:nvSpPr>
        <p:spPr>
          <a:xfrm>
            <a:off x="8604504" y="50794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Gráficas secundarias</a:t>
            </a:r>
            <a:endParaRPr lang="en-US" sz="750" dirty="0"/>
          </a:p>
        </p:txBody>
      </p:sp>
      <p:sp>
        <p:nvSpPr>
          <p:cNvPr id="180" name="Text 178"/>
          <p:cNvSpPr/>
          <p:nvPr/>
        </p:nvSpPr>
        <p:spPr>
          <a:xfrm>
            <a:off x="8604504" y="53046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#ADE8F4  ·  Cyan 200</a:t>
            </a:r>
            <a:endParaRPr lang="en-US" sz="700" dirty="0"/>
          </a:p>
        </p:txBody>
      </p:sp>
      <p:sp>
        <p:nvSpPr>
          <p:cNvPr id="181" name="Shape 179"/>
          <p:cNvSpPr/>
          <p:nvPr/>
        </p:nvSpPr>
        <p:spPr>
          <a:xfrm>
            <a:off x="8275320" y="5547360"/>
            <a:ext cx="3703320" cy="477012"/>
          </a:xfrm>
          <a:prstGeom prst="rect">
            <a:avLst/>
          </a:prstGeom>
          <a:solidFill>
            <a:srgbClr val="000F24"/>
          </a:solidFill>
          <a:ln w="12700">
            <a:solidFill>
              <a:srgbClr val="001E3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2" name="Shape 180"/>
          <p:cNvSpPr/>
          <p:nvPr/>
        </p:nvSpPr>
        <p:spPr>
          <a:xfrm>
            <a:off x="8275320" y="5565648"/>
            <a:ext cx="256032" cy="440436"/>
          </a:xfrm>
          <a:prstGeom prst="rect">
            <a:avLst/>
          </a:prstGeom>
          <a:solidFill>
            <a:srgbClr val="012A4A"/>
          </a:solidFill>
          <a:ln w="12700">
            <a:solidFill>
              <a:srgbClr val="012A4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3" name="Text 181"/>
          <p:cNvSpPr/>
          <p:nvPr/>
        </p:nvSpPr>
        <p:spPr>
          <a:xfrm>
            <a:off x="8604504" y="5574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cards / paneles</a:t>
            </a:r>
            <a:endParaRPr lang="en-US" sz="750" dirty="0"/>
          </a:p>
        </p:txBody>
      </p:sp>
      <p:sp>
        <p:nvSpPr>
          <p:cNvPr id="184" name="Text 182"/>
          <p:cNvSpPr/>
          <p:nvPr/>
        </p:nvSpPr>
        <p:spPr>
          <a:xfrm>
            <a:off x="8604504" y="5799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#012A4A  ·  Navy Medium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8275320" y="6042660"/>
            <a:ext cx="3703320" cy="477012"/>
          </a:xfrm>
          <a:prstGeom prst="rect">
            <a:avLst/>
          </a:prstGeom>
          <a:solidFill>
            <a:srgbClr val="001233"/>
          </a:solidFill>
          <a:ln w="12700">
            <a:solidFill>
              <a:srgbClr val="001E3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6" name="Shape 184"/>
          <p:cNvSpPr/>
          <p:nvPr/>
        </p:nvSpPr>
        <p:spPr>
          <a:xfrm>
            <a:off x="8275320" y="6060948"/>
            <a:ext cx="256032" cy="440436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7" name="Text 185"/>
          <p:cNvSpPr/>
          <p:nvPr/>
        </p:nvSpPr>
        <p:spPr>
          <a:xfrm>
            <a:off x="8604504" y="6070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Bordes / separadores</a:t>
            </a:r>
            <a:endParaRPr lang="en-US" sz="750" dirty="0"/>
          </a:p>
        </p:txBody>
      </p:sp>
      <p:sp>
        <p:nvSpPr>
          <p:cNvPr id="188" name="Text 186"/>
          <p:cNvSpPr/>
          <p:nvPr/>
        </p:nvSpPr>
        <p:spPr>
          <a:xfrm>
            <a:off x="8604504" y="6295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#023E8A  ·  Royal Blue</a:t>
            </a:r>
            <a:endParaRPr lang="en-US" sz="700" dirty="0"/>
          </a:p>
        </p:txBody>
      </p:sp>
      <p:sp>
        <p:nvSpPr>
          <p:cNvPr id="189" name="Shape 187"/>
          <p:cNvSpPr/>
          <p:nvPr/>
        </p:nvSpPr>
        <p:spPr>
          <a:xfrm>
            <a:off x="8275320" y="6574536"/>
            <a:ext cx="3703320" cy="256032"/>
          </a:xfrm>
          <a:prstGeom prst="rect">
            <a:avLst/>
          </a:prstGeom>
          <a:solidFill>
            <a:srgbClr val="000F24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0" name="Text 188"/>
          <p:cNvSpPr/>
          <p:nvPr/>
        </p:nvSpPr>
        <p:spPr>
          <a:xfrm>
            <a:off x="8366760" y="661111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Navy #000814 + Cyan #00B4D8 = identidad Palantir. Datos sobre oscuridad.</a:t>
            </a:r>
            <a:endParaRPr lang="en-US" sz="700" dirty="0"/>
          </a:p>
        </p:txBody>
      </p:sp>
      <p:sp>
        <p:nvSpPr>
          <p:cNvPr id="191" name="Shape 189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0F24"/>
          </a:solidFill>
          <a:ln w="12700">
            <a:solidFill>
              <a:srgbClr val="000F2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2" name="Text 190"/>
          <p:cNvSpPr/>
          <p:nvPr/>
        </p:nvSpPr>
        <p:spPr>
          <a:xfrm>
            <a:off x="274320" y="6793992"/>
            <a:ext cx="914400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PALANTIR  ·  PALETA OFICIAL  ·  palantir.com · Brand Assets · Palantir Design</a:t>
            </a:r>
            <a:endParaRPr lang="en-US" sz="550" dirty="0"/>
          </a:p>
        </p:txBody>
      </p:sp>
      <p:sp>
        <p:nvSpPr>
          <p:cNvPr id="193" name="Text 191"/>
          <p:cNvSpPr/>
          <p:nvPr/>
        </p:nvSpPr>
        <p:spPr>
          <a:xfrm>
            <a:off x="0" y="6793992"/>
            <a:ext cx="119786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COLORES  ·  4 SISTEMAS  ·  1 LÁMINA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007BC7"/>
          </a:solidFill>
          <a:ln w="12700">
            <a:solidFill>
              <a:srgbClr val="007BC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BlackRock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003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COLORES OFICIAL  ·  World's Largest Asset Manager · Financial Authority · $10T AUM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4320" y="795528"/>
            <a:ext cx="7818120" cy="18288"/>
          </a:xfrm>
          <a:prstGeom prst="rect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8183880" y="73152"/>
            <a:ext cx="18288" cy="6720840"/>
          </a:xfrm>
          <a:prstGeom prst="rect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7818120" cy="201168"/>
          </a:xfrm>
          <a:prstGeom prst="rect">
            <a:avLst/>
          </a:prstGeom>
          <a:solidFill>
            <a:srgbClr val="001435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>
            <a:off x="274320" y="841248"/>
            <a:ext cx="36576" cy="201168"/>
          </a:xfrm>
          <a:prstGeom prst="rect">
            <a:avLst/>
          </a:prstGeom>
          <a:solidFill>
            <a:srgbClr val="007BC7"/>
          </a:solidFill>
          <a:ln w="12700">
            <a:solidFill>
              <a:srgbClr val="007BC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65760" y="8412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7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PRINCIPAL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" y="84124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03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blackrock.com · Brandfetch · Brand Guidelines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74320" y="1042416"/>
            <a:ext cx="2563368" cy="761101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338328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#00205B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03517"/>
            <a:ext cx="2563368" cy="466481"/>
          </a:xfrm>
          <a:prstGeom prst="rect">
            <a:avLst/>
          </a:prstGeom>
          <a:solidFill>
            <a:srgbClr val="001A4A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338328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BlackRock Navy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8328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3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32, 91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38328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base · Color identidad principal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901696" y="1042416"/>
            <a:ext cx="2563368" cy="761101"/>
          </a:xfrm>
          <a:prstGeom prst="rect">
            <a:avLst/>
          </a:prstGeom>
          <a:solidFill>
            <a:srgbClr val="007BC7"/>
          </a:solidFill>
          <a:ln w="12700">
            <a:solidFill>
              <a:srgbClr val="007BC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2965704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#007BC7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01696" y="1803517"/>
            <a:ext cx="2563368" cy="466481"/>
          </a:xfrm>
          <a:prstGeom prst="rect">
            <a:avLst/>
          </a:prstGeom>
          <a:solidFill>
            <a:srgbClr val="001A4A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2965704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BlackRock Blue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965704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3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123, 199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965704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primario · CTA · Links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529072" y="1042416"/>
            <a:ext cx="2563368" cy="7611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5593080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29072" y="1803517"/>
            <a:ext cx="2563368" cy="466481"/>
          </a:xfrm>
          <a:prstGeom prst="rect">
            <a:avLst/>
          </a:prstGeom>
          <a:solidFill>
            <a:srgbClr val="001A4A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Text 25"/>
          <p:cNvSpPr/>
          <p:nvPr/>
        </p:nvSpPr>
        <p:spPr>
          <a:xfrm>
            <a:off x="5593080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593080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3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255, 255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593080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sobre fondos oscuros · Contraste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74320" y="2334006"/>
            <a:ext cx="7818120" cy="201168"/>
          </a:xfrm>
          <a:prstGeom prst="rect">
            <a:avLst/>
          </a:prstGeom>
          <a:solidFill>
            <a:srgbClr val="001435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Shape 29"/>
          <p:cNvSpPr/>
          <p:nvPr/>
        </p:nvSpPr>
        <p:spPr>
          <a:xfrm>
            <a:off x="274320" y="2334006"/>
            <a:ext cx="36576" cy="2011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365760" y="233400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AZULES — SISTEMA PROFUNDO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" y="2334006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03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BlackRock Design · Corporate Identity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74320" y="2535174"/>
            <a:ext cx="1512418" cy="761101"/>
          </a:xfrm>
          <a:prstGeom prst="rect">
            <a:avLst/>
          </a:prstGeom>
          <a:solidFill>
            <a:srgbClr val="001435"/>
          </a:solidFill>
          <a:ln w="12700">
            <a:solidFill>
              <a:srgbClr val="00143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Text 33"/>
          <p:cNvSpPr/>
          <p:nvPr/>
        </p:nvSpPr>
        <p:spPr>
          <a:xfrm>
            <a:off x="338328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#001435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296275"/>
            <a:ext cx="1512418" cy="466481"/>
          </a:xfrm>
          <a:prstGeom prst="rect">
            <a:avLst/>
          </a:prstGeom>
          <a:solidFill>
            <a:srgbClr val="001A4A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/>
          <p:nvPr/>
        </p:nvSpPr>
        <p:spPr>
          <a:xfrm>
            <a:off x="338328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Black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8328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3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20, 53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38328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oscuros premium · Portadas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850746" y="2535174"/>
            <a:ext cx="1512418" cy="761101"/>
          </a:xfrm>
          <a:prstGeom prst="rect">
            <a:avLst/>
          </a:prstGeom>
          <a:solidFill>
            <a:srgbClr val="001A4A"/>
          </a:solidFill>
          <a:ln w="12700">
            <a:solidFill>
              <a:srgbClr val="001A4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1" name="Text 39"/>
          <p:cNvSpPr/>
          <p:nvPr/>
        </p:nvSpPr>
        <p:spPr>
          <a:xfrm>
            <a:off x="1914754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#001A4A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50746" y="3296275"/>
            <a:ext cx="1512418" cy="466481"/>
          </a:xfrm>
          <a:prstGeom prst="rect">
            <a:avLst/>
          </a:prstGeom>
          <a:solidFill>
            <a:srgbClr val="001A4A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3" name="Text 41"/>
          <p:cNvSpPr/>
          <p:nvPr/>
        </p:nvSpPr>
        <p:spPr>
          <a:xfrm>
            <a:off x="1914754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Deep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914754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3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26, 74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914754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· Panels principales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427171" y="2535174"/>
            <a:ext cx="1512418" cy="761101"/>
          </a:xfrm>
          <a:prstGeom prst="rect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7" name="Text 45"/>
          <p:cNvSpPr/>
          <p:nvPr/>
        </p:nvSpPr>
        <p:spPr>
          <a:xfrm>
            <a:off x="3491179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#003580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27171" y="3296275"/>
            <a:ext cx="1512418" cy="466481"/>
          </a:xfrm>
          <a:prstGeom prst="rect">
            <a:avLst/>
          </a:prstGeom>
          <a:solidFill>
            <a:srgbClr val="001A4A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9" name="Text 47"/>
          <p:cNvSpPr/>
          <p:nvPr/>
        </p:nvSpPr>
        <p:spPr>
          <a:xfrm>
            <a:off x="3491179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Medium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491179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3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53, 128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491179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 · Títulos secundarios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5003597" y="2535174"/>
            <a:ext cx="1512418" cy="761101"/>
          </a:xfrm>
          <a:prstGeom prst="rect">
            <a:avLst/>
          </a:prstGeom>
          <a:solidFill>
            <a:srgbClr val="004AAD"/>
          </a:solidFill>
          <a:ln w="12700">
            <a:solidFill>
              <a:srgbClr val="004AA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3" name="Text 51"/>
          <p:cNvSpPr/>
          <p:nvPr/>
        </p:nvSpPr>
        <p:spPr>
          <a:xfrm>
            <a:off x="5067605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#004AAD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003597" y="3296275"/>
            <a:ext cx="1512418" cy="466481"/>
          </a:xfrm>
          <a:prstGeom prst="rect">
            <a:avLst/>
          </a:prstGeom>
          <a:solidFill>
            <a:srgbClr val="001A4A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5" name="Text 53"/>
          <p:cNvSpPr/>
          <p:nvPr/>
        </p:nvSpPr>
        <p:spPr>
          <a:xfrm>
            <a:off x="5067605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Bright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067605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3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74, 173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067605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states · Elementos activos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6580022" y="2535174"/>
            <a:ext cx="1512418" cy="761101"/>
          </a:xfrm>
          <a:prstGeom prst="rect">
            <a:avLst/>
          </a:prstGeom>
          <a:solidFill>
            <a:srgbClr val="0060D4"/>
          </a:solidFill>
          <a:ln w="12700">
            <a:solidFill>
              <a:srgbClr val="0060D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9" name="Text 57"/>
          <p:cNvSpPr/>
          <p:nvPr/>
        </p:nvSpPr>
        <p:spPr>
          <a:xfrm>
            <a:off x="6644030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#0060D4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580022" y="3296275"/>
            <a:ext cx="1512418" cy="466481"/>
          </a:xfrm>
          <a:prstGeom prst="rect">
            <a:avLst/>
          </a:prstGeom>
          <a:solidFill>
            <a:srgbClr val="001A4A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1" name="Text 59"/>
          <p:cNvSpPr/>
          <p:nvPr/>
        </p:nvSpPr>
        <p:spPr>
          <a:xfrm>
            <a:off x="6644030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Primary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644030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3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96, 212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644030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Botones · CTAs principales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274320" y="3826764"/>
            <a:ext cx="7818120" cy="201168"/>
          </a:xfrm>
          <a:prstGeom prst="rect">
            <a:avLst/>
          </a:prstGeom>
          <a:solidFill>
            <a:srgbClr val="001435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5" name="Shape 63"/>
          <p:cNvSpPr/>
          <p:nvPr/>
        </p:nvSpPr>
        <p:spPr>
          <a:xfrm>
            <a:off x="274320" y="3826764"/>
            <a:ext cx="36576" cy="201168"/>
          </a:xfrm>
          <a:prstGeom prst="rect">
            <a:avLst/>
          </a:prstGeom>
          <a:solidFill>
            <a:srgbClr val="7BAFD4"/>
          </a:solidFill>
          <a:ln w="12700">
            <a:solidFill>
              <a:srgbClr val="7BAFD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6" name="Text 64"/>
          <p:cNvSpPr/>
          <p:nvPr/>
        </p:nvSpPr>
        <p:spPr>
          <a:xfrm>
            <a:off x="365760" y="38267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AZULES — EXTENSIÓN CORPORATIVA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74320" y="382676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03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BlackRock Investor Relations · Reports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274320" y="4027932"/>
            <a:ext cx="1249680" cy="761101"/>
          </a:xfrm>
          <a:prstGeom prst="rect">
            <a:avLst/>
          </a:prstGeom>
          <a:solidFill>
            <a:srgbClr val="007BC7"/>
          </a:solidFill>
          <a:ln w="12700">
            <a:solidFill>
              <a:srgbClr val="007BC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9" name="Text 67"/>
          <p:cNvSpPr/>
          <p:nvPr/>
        </p:nvSpPr>
        <p:spPr>
          <a:xfrm>
            <a:off x="338328" y="4587865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#007BC7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" y="4789033"/>
            <a:ext cx="1249680" cy="466481"/>
          </a:xfrm>
          <a:prstGeom prst="rect">
            <a:avLst/>
          </a:prstGeom>
          <a:solidFill>
            <a:srgbClr val="001A4A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1" name="Text 69"/>
          <p:cNvSpPr/>
          <p:nvPr/>
        </p:nvSpPr>
        <p:spPr>
          <a:xfrm>
            <a:off x="338328" y="4816465"/>
            <a:ext cx="1158240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Accent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38328" y="4994285"/>
            <a:ext cx="1158240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3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123, 199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338328" y="5110905"/>
            <a:ext cx="1158240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principal · Highlights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1588008" y="4027932"/>
            <a:ext cx="1249680" cy="761101"/>
          </a:xfrm>
          <a:prstGeom prst="rect">
            <a:avLst/>
          </a:prstGeom>
          <a:solidFill>
            <a:srgbClr val="3399D9"/>
          </a:solidFill>
          <a:ln w="12700">
            <a:solidFill>
              <a:srgbClr val="3399D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5" name="Text 73"/>
          <p:cNvSpPr/>
          <p:nvPr/>
        </p:nvSpPr>
        <p:spPr>
          <a:xfrm>
            <a:off x="1652016" y="4587865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#3399D9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588008" y="4789033"/>
            <a:ext cx="1249680" cy="466481"/>
          </a:xfrm>
          <a:prstGeom prst="rect">
            <a:avLst/>
          </a:prstGeom>
          <a:solidFill>
            <a:srgbClr val="001A4A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7" name="Text 75"/>
          <p:cNvSpPr/>
          <p:nvPr/>
        </p:nvSpPr>
        <p:spPr>
          <a:xfrm>
            <a:off x="1652016" y="4816465"/>
            <a:ext cx="1158240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Medium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652016" y="4994285"/>
            <a:ext cx="1158240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3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51, 153, 217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1652016" y="5110905"/>
            <a:ext cx="1158240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Gráficas financieras · DataViz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2901696" y="4027932"/>
            <a:ext cx="1249680" cy="761101"/>
          </a:xfrm>
          <a:prstGeom prst="rect">
            <a:avLst/>
          </a:prstGeom>
          <a:solidFill>
            <a:srgbClr val="66B3E6"/>
          </a:solidFill>
          <a:ln w="12700">
            <a:solidFill>
              <a:srgbClr val="66B3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1" name="Text 79"/>
          <p:cNvSpPr/>
          <p:nvPr/>
        </p:nvSpPr>
        <p:spPr>
          <a:xfrm>
            <a:off x="2965704" y="4587865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#66B3E6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2901696" y="4789033"/>
            <a:ext cx="1249680" cy="466481"/>
          </a:xfrm>
          <a:prstGeom prst="rect">
            <a:avLst/>
          </a:prstGeom>
          <a:solidFill>
            <a:srgbClr val="001A4A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3" name="Text 81"/>
          <p:cNvSpPr/>
          <p:nvPr/>
        </p:nvSpPr>
        <p:spPr>
          <a:xfrm>
            <a:off x="2965704" y="4816465"/>
            <a:ext cx="1158240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Light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2965704" y="4994285"/>
            <a:ext cx="1158240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3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102, 179, 230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2965704" y="5110905"/>
            <a:ext cx="1158240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secundarios · Labels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4215384" y="4027932"/>
            <a:ext cx="1249680" cy="761101"/>
          </a:xfrm>
          <a:prstGeom prst="rect">
            <a:avLst/>
          </a:prstGeom>
          <a:solidFill>
            <a:srgbClr val="99CCF0"/>
          </a:solidFill>
          <a:ln w="12700">
            <a:solidFill>
              <a:srgbClr val="99CC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7" name="Text 85"/>
          <p:cNvSpPr/>
          <p:nvPr/>
        </p:nvSpPr>
        <p:spPr>
          <a:xfrm>
            <a:off x="4279392" y="4587865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#99CCF0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215384" y="4789033"/>
            <a:ext cx="1249680" cy="466481"/>
          </a:xfrm>
          <a:prstGeom prst="rect">
            <a:avLst/>
          </a:prstGeom>
          <a:solidFill>
            <a:srgbClr val="001A4A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9" name="Text 87"/>
          <p:cNvSpPr/>
          <p:nvPr/>
        </p:nvSpPr>
        <p:spPr>
          <a:xfrm>
            <a:off x="4279392" y="4816465"/>
            <a:ext cx="1158240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Soft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4279392" y="4994285"/>
            <a:ext cx="1158240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3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153, 204, 240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4279392" y="5110905"/>
            <a:ext cx="1158240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suaves · Tablas alternas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5529072" y="4027932"/>
            <a:ext cx="1249680" cy="761101"/>
          </a:xfrm>
          <a:prstGeom prst="rect">
            <a:avLst/>
          </a:prstGeom>
          <a:solidFill>
            <a:srgbClr val="CCE5F7"/>
          </a:solidFill>
          <a:ln w="12700">
            <a:solidFill>
              <a:srgbClr val="CCE5F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3" name="Text 91"/>
          <p:cNvSpPr/>
          <p:nvPr/>
        </p:nvSpPr>
        <p:spPr>
          <a:xfrm>
            <a:off x="5593080" y="4587865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#CCE5F7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5529072" y="4789033"/>
            <a:ext cx="1249680" cy="466481"/>
          </a:xfrm>
          <a:prstGeom prst="rect">
            <a:avLst/>
          </a:prstGeom>
          <a:solidFill>
            <a:srgbClr val="001A4A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5" name="Text 93"/>
          <p:cNvSpPr/>
          <p:nvPr/>
        </p:nvSpPr>
        <p:spPr>
          <a:xfrm>
            <a:off x="5593080" y="4816465"/>
            <a:ext cx="1158240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Pale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5593080" y="4994285"/>
            <a:ext cx="1158240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3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204, 229, 247</a:t>
            </a:r>
            <a:endParaRPr lang="en-US" sz="600" dirty="0"/>
          </a:p>
        </p:txBody>
      </p:sp>
      <p:sp>
        <p:nvSpPr>
          <p:cNvPr id="97" name="Text 95"/>
          <p:cNvSpPr/>
          <p:nvPr/>
        </p:nvSpPr>
        <p:spPr>
          <a:xfrm>
            <a:off x="5593080" y="5110905"/>
            <a:ext cx="1158240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Backgrounds sutiles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6842760" y="4027932"/>
            <a:ext cx="1249680" cy="761101"/>
          </a:xfrm>
          <a:prstGeom prst="rect">
            <a:avLst/>
          </a:prstGeom>
          <a:solidFill>
            <a:srgbClr val="E8F4FC"/>
          </a:solidFill>
          <a:ln w="12700">
            <a:solidFill>
              <a:srgbClr val="E8F4F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9" name="Text 97"/>
          <p:cNvSpPr/>
          <p:nvPr/>
        </p:nvSpPr>
        <p:spPr>
          <a:xfrm>
            <a:off x="6906768" y="4587865"/>
            <a:ext cx="115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#E8F4FC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6842760" y="4789033"/>
            <a:ext cx="1249680" cy="466481"/>
          </a:xfrm>
          <a:prstGeom prst="rect">
            <a:avLst/>
          </a:prstGeom>
          <a:solidFill>
            <a:srgbClr val="001A4A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1" name="Text 99"/>
          <p:cNvSpPr/>
          <p:nvPr/>
        </p:nvSpPr>
        <p:spPr>
          <a:xfrm>
            <a:off x="6906768" y="4816465"/>
            <a:ext cx="1158240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Ice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6906768" y="4994285"/>
            <a:ext cx="1158240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3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232, 244, 252</a:t>
            </a:r>
            <a:endParaRPr lang="en-US" sz="600" dirty="0"/>
          </a:p>
        </p:txBody>
      </p:sp>
      <p:sp>
        <p:nvSpPr>
          <p:cNvPr id="103" name="Text 101"/>
          <p:cNvSpPr/>
          <p:nvPr/>
        </p:nvSpPr>
        <p:spPr>
          <a:xfrm>
            <a:off x="6906768" y="5110905"/>
            <a:ext cx="1158240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Áreas respiro · Slides claras</a:t>
            </a:r>
            <a:endParaRPr lang="en-US" sz="600" dirty="0"/>
          </a:p>
        </p:txBody>
      </p:sp>
      <p:sp>
        <p:nvSpPr>
          <p:cNvPr id="104" name="Shape 102"/>
          <p:cNvSpPr/>
          <p:nvPr/>
        </p:nvSpPr>
        <p:spPr>
          <a:xfrm>
            <a:off x="274320" y="5319522"/>
            <a:ext cx="7818120" cy="201168"/>
          </a:xfrm>
          <a:prstGeom prst="rect">
            <a:avLst/>
          </a:prstGeom>
          <a:solidFill>
            <a:srgbClr val="001435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5" name="Shape 103"/>
          <p:cNvSpPr/>
          <p:nvPr/>
        </p:nvSpPr>
        <p:spPr>
          <a:xfrm>
            <a:off x="274320" y="5319522"/>
            <a:ext cx="36576" cy="201168"/>
          </a:xfrm>
          <a:prstGeom prst="rect">
            <a:avLst/>
          </a:prstGeom>
          <a:solidFill>
            <a:srgbClr val="B0C4D8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6" name="Text 104"/>
          <p:cNvSpPr/>
          <p:nvPr/>
        </p:nvSpPr>
        <p:spPr>
          <a:xfrm>
            <a:off x="365760" y="531952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NEUTROS &amp; SEMÁNTICOS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274320" y="5319522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03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BlackRock Risk · Status Indicators</a:t>
            </a:r>
            <a:endParaRPr lang="en-US" sz="600" dirty="0"/>
          </a:p>
        </p:txBody>
      </p:sp>
      <p:sp>
        <p:nvSpPr>
          <p:cNvPr id="108" name="Shape 106"/>
          <p:cNvSpPr/>
          <p:nvPr/>
        </p:nvSpPr>
        <p:spPr>
          <a:xfrm>
            <a:off x="274320" y="5520690"/>
            <a:ext cx="1512418" cy="761101"/>
          </a:xfrm>
          <a:prstGeom prst="rect">
            <a:avLst/>
          </a:prstGeom>
          <a:solidFill>
            <a:srgbClr val="25A244"/>
          </a:solidFill>
          <a:ln w="12700">
            <a:solidFill>
              <a:srgbClr val="25A2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9" name="Text 107"/>
          <p:cNvSpPr/>
          <p:nvPr/>
        </p:nvSpPr>
        <p:spPr>
          <a:xfrm>
            <a:off x="338328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#25A244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274320" y="6281791"/>
            <a:ext cx="1512418" cy="466481"/>
          </a:xfrm>
          <a:prstGeom prst="rect">
            <a:avLst/>
          </a:prstGeom>
          <a:solidFill>
            <a:srgbClr val="001A4A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1" name="Text 109"/>
          <p:cNvSpPr/>
          <p:nvPr/>
        </p:nvSpPr>
        <p:spPr>
          <a:xfrm>
            <a:off x="338328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Positive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338328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3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37, 162, 68</a:t>
            </a:r>
            <a:endParaRPr lang="en-US" sz="600" dirty="0"/>
          </a:p>
        </p:txBody>
      </p:sp>
      <p:sp>
        <p:nvSpPr>
          <p:cNvPr id="113" name="Text 111"/>
          <p:cNvSpPr/>
          <p:nvPr/>
        </p:nvSpPr>
        <p:spPr>
          <a:xfrm>
            <a:off x="338328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 positivo · Avance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1850746" y="5520690"/>
            <a:ext cx="1512418" cy="761101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5" name="Text 113"/>
          <p:cNvSpPr/>
          <p:nvPr/>
        </p:nvSpPr>
        <p:spPr>
          <a:xfrm>
            <a:off x="1914754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#DC3545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1850746" y="6281791"/>
            <a:ext cx="1512418" cy="466481"/>
          </a:xfrm>
          <a:prstGeom prst="rect">
            <a:avLst/>
          </a:prstGeom>
          <a:solidFill>
            <a:srgbClr val="001A4A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7" name="Text 115"/>
          <p:cNvSpPr/>
          <p:nvPr/>
        </p:nvSpPr>
        <p:spPr>
          <a:xfrm>
            <a:off x="1914754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Negative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1914754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3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220, 53, 69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1914754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· Riesgo · Alerta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3427171" y="5520690"/>
            <a:ext cx="1512418" cy="761101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1" name="Text 119"/>
          <p:cNvSpPr/>
          <p:nvPr/>
        </p:nvSpPr>
        <p:spPr>
          <a:xfrm>
            <a:off x="3491179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#F5A623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3427171" y="6281791"/>
            <a:ext cx="1512418" cy="466481"/>
          </a:xfrm>
          <a:prstGeom prst="rect">
            <a:avLst/>
          </a:prstGeom>
          <a:solidFill>
            <a:srgbClr val="001A4A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3" name="Text 121"/>
          <p:cNvSpPr/>
          <p:nvPr/>
        </p:nvSpPr>
        <p:spPr>
          <a:xfrm>
            <a:off x="3491179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Risk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3491179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3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245, 166, 35</a:t>
            </a:r>
            <a:endParaRPr lang="en-US" sz="600" dirty="0"/>
          </a:p>
        </p:txBody>
      </p:sp>
      <p:sp>
        <p:nvSpPr>
          <p:cNvPr id="125" name="Text 123"/>
          <p:cNvSpPr/>
          <p:nvPr/>
        </p:nvSpPr>
        <p:spPr>
          <a:xfrm>
            <a:off x="3491179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medio · Warning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5003597" y="5520690"/>
            <a:ext cx="1512418" cy="761101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7" name="Text 125"/>
          <p:cNvSpPr/>
          <p:nvPr/>
        </p:nvSpPr>
        <p:spPr>
          <a:xfrm>
            <a:off x="5067605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#333333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5003597" y="6281791"/>
            <a:ext cx="1512418" cy="466481"/>
          </a:xfrm>
          <a:prstGeom prst="rect">
            <a:avLst/>
          </a:prstGeom>
          <a:solidFill>
            <a:srgbClr val="001A4A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9" name="Text 127"/>
          <p:cNvSpPr/>
          <p:nvPr/>
        </p:nvSpPr>
        <p:spPr>
          <a:xfrm>
            <a:off x="5067605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Dark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5067605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3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51, 51, 51</a:t>
            </a:r>
            <a:endParaRPr lang="en-US" sz="600" dirty="0"/>
          </a:p>
        </p:txBody>
      </p:sp>
      <p:sp>
        <p:nvSpPr>
          <p:cNvPr id="131" name="Text 129"/>
          <p:cNvSpPr/>
          <p:nvPr/>
        </p:nvSpPr>
        <p:spPr>
          <a:xfrm>
            <a:off x="5067605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principal sobre claro</a:t>
            </a:r>
            <a:endParaRPr lang="en-US" sz="600" dirty="0"/>
          </a:p>
        </p:txBody>
      </p:sp>
      <p:sp>
        <p:nvSpPr>
          <p:cNvPr id="132" name="Shape 130"/>
          <p:cNvSpPr/>
          <p:nvPr/>
        </p:nvSpPr>
        <p:spPr>
          <a:xfrm>
            <a:off x="6580022" y="5520690"/>
            <a:ext cx="1512418" cy="761101"/>
          </a:xfrm>
          <a:prstGeom prst="rect">
            <a:avLst/>
          </a:prstGeom>
          <a:solidFill>
            <a:srgbClr val="B0C4D8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3" name="Text 131"/>
          <p:cNvSpPr/>
          <p:nvPr/>
        </p:nvSpPr>
        <p:spPr>
          <a:xfrm>
            <a:off x="6644030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#B0C4D8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6580022" y="6281791"/>
            <a:ext cx="1512418" cy="466481"/>
          </a:xfrm>
          <a:prstGeom prst="rect">
            <a:avLst/>
          </a:prstGeom>
          <a:solidFill>
            <a:srgbClr val="001A4A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5" name="Text 133"/>
          <p:cNvSpPr/>
          <p:nvPr/>
        </p:nvSpPr>
        <p:spPr>
          <a:xfrm>
            <a:off x="6644030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Blue</a:t>
            </a:r>
            <a:endParaRPr lang="en-US" sz="750" dirty="0"/>
          </a:p>
        </p:txBody>
      </p:sp>
      <p:sp>
        <p:nvSpPr>
          <p:cNvPr id="136" name="Text 134"/>
          <p:cNvSpPr/>
          <p:nvPr/>
        </p:nvSpPr>
        <p:spPr>
          <a:xfrm>
            <a:off x="6644030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3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176, 196, 216</a:t>
            </a:r>
            <a:endParaRPr lang="en-US" sz="600" dirty="0"/>
          </a:p>
        </p:txBody>
      </p:sp>
      <p:sp>
        <p:nvSpPr>
          <p:cNvPr id="137" name="Text 135"/>
          <p:cNvSpPr/>
          <p:nvPr/>
        </p:nvSpPr>
        <p:spPr>
          <a:xfrm>
            <a:off x="6644030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 · Metadatos</a:t>
            </a:r>
            <a:endParaRPr lang="en-US" sz="600" dirty="0"/>
          </a:p>
        </p:txBody>
      </p:sp>
      <p:sp>
        <p:nvSpPr>
          <p:cNvPr id="138" name="Text 136"/>
          <p:cNvSpPr/>
          <p:nvPr/>
        </p:nvSpPr>
        <p:spPr>
          <a:xfrm>
            <a:off x="8275320" y="914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CONFIGURACIÓN MAESTRA</a:t>
            </a:r>
            <a:endParaRPr lang="en-US" sz="1200" dirty="0"/>
          </a:p>
        </p:txBody>
      </p:sp>
      <p:sp>
        <p:nvSpPr>
          <p:cNvPr id="139" name="Text 137"/>
          <p:cNvSpPr/>
          <p:nvPr/>
        </p:nvSpPr>
        <p:spPr>
          <a:xfrm>
            <a:off x="8275320" y="34747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3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por función · Empresa Constructora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8275320" y="530352"/>
            <a:ext cx="3703320" cy="18288"/>
          </a:xfrm>
          <a:prstGeom prst="rect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1" name="Shape 139"/>
          <p:cNvSpPr/>
          <p:nvPr/>
        </p:nvSpPr>
        <p:spPr>
          <a:xfrm>
            <a:off x="8275320" y="594360"/>
            <a:ext cx="3703320" cy="477012"/>
          </a:xfrm>
          <a:prstGeom prst="rect">
            <a:avLst/>
          </a:prstGeom>
          <a:solidFill>
            <a:srgbClr val="001435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2" name="Shape 140"/>
          <p:cNvSpPr/>
          <p:nvPr/>
        </p:nvSpPr>
        <p:spPr>
          <a:xfrm>
            <a:off x="8275320" y="612648"/>
            <a:ext cx="256032" cy="440436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3" name="Text 141"/>
          <p:cNvSpPr/>
          <p:nvPr/>
        </p:nvSpPr>
        <p:spPr>
          <a:xfrm>
            <a:off x="8604504" y="621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portada / slides oscuras</a:t>
            </a:r>
            <a:endParaRPr lang="en-US" sz="750" dirty="0"/>
          </a:p>
        </p:txBody>
      </p:sp>
      <p:sp>
        <p:nvSpPr>
          <p:cNvPr id="144" name="Text 142"/>
          <p:cNvSpPr/>
          <p:nvPr/>
        </p:nvSpPr>
        <p:spPr>
          <a:xfrm>
            <a:off x="8604504" y="846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B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#00205B  ·  BlackRock Navy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8275320" y="1089660"/>
            <a:ext cx="3703320" cy="477012"/>
          </a:xfrm>
          <a:prstGeom prst="rect">
            <a:avLst/>
          </a:prstGeom>
          <a:solidFill>
            <a:srgbClr val="001A4A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6" name="Shape 144"/>
          <p:cNvSpPr/>
          <p:nvPr/>
        </p:nvSpPr>
        <p:spPr>
          <a:xfrm>
            <a:off x="8275320" y="1107948"/>
            <a:ext cx="256032" cy="440436"/>
          </a:xfrm>
          <a:prstGeom prst="rect">
            <a:avLst/>
          </a:prstGeom>
          <a:solidFill>
            <a:srgbClr val="001A4A"/>
          </a:solidFill>
          <a:ln w="12700">
            <a:solidFill>
              <a:srgbClr val="001A4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7" name="Text 145"/>
          <p:cNvSpPr/>
          <p:nvPr/>
        </p:nvSpPr>
        <p:spPr>
          <a:xfrm>
            <a:off x="8604504" y="1117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slides contenido</a:t>
            </a:r>
            <a:endParaRPr lang="en-US" sz="750" dirty="0"/>
          </a:p>
        </p:txBody>
      </p:sp>
      <p:sp>
        <p:nvSpPr>
          <p:cNvPr id="148" name="Text 146"/>
          <p:cNvSpPr/>
          <p:nvPr/>
        </p:nvSpPr>
        <p:spPr>
          <a:xfrm>
            <a:off x="8604504" y="1342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B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#001A4A  ·  Navy Deep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8275320" y="1584960"/>
            <a:ext cx="3703320" cy="477012"/>
          </a:xfrm>
          <a:prstGeom prst="rect">
            <a:avLst/>
          </a:prstGeom>
          <a:solidFill>
            <a:srgbClr val="001435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0" name="Shape 148"/>
          <p:cNvSpPr/>
          <p:nvPr/>
        </p:nvSpPr>
        <p:spPr>
          <a:xfrm>
            <a:off x="8275320" y="1603248"/>
            <a:ext cx="256032" cy="440436"/>
          </a:xfrm>
          <a:prstGeom prst="rect">
            <a:avLst/>
          </a:prstGeom>
          <a:solidFill>
            <a:srgbClr val="007BC7"/>
          </a:solidFill>
          <a:ln w="12700">
            <a:solidFill>
              <a:srgbClr val="007BC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1" name="Text 149"/>
          <p:cNvSpPr/>
          <p:nvPr/>
        </p:nvSpPr>
        <p:spPr>
          <a:xfrm>
            <a:off x="8604504" y="16123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Títulos principales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8604504" y="18375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B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#007BC7  ·  BlackRock Blue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8275320" y="2080260"/>
            <a:ext cx="3703320" cy="477012"/>
          </a:xfrm>
          <a:prstGeom prst="rect">
            <a:avLst/>
          </a:prstGeom>
          <a:solidFill>
            <a:srgbClr val="001A4A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4" name="Shape 152"/>
          <p:cNvSpPr/>
          <p:nvPr/>
        </p:nvSpPr>
        <p:spPr>
          <a:xfrm>
            <a:off x="8275320" y="2098548"/>
            <a:ext cx="256032" cy="440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5" name="Text 153"/>
          <p:cNvSpPr/>
          <p:nvPr/>
        </p:nvSpPr>
        <p:spPr>
          <a:xfrm>
            <a:off x="8604504" y="21076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sobre fondos oscuros</a:t>
            </a:r>
            <a:endParaRPr lang="en-US" sz="750" dirty="0"/>
          </a:p>
        </p:txBody>
      </p:sp>
      <p:sp>
        <p:nvSpPr>
          <p:cNvPr id="156" name="Text 154"/>
          <p:cNvSpPr/>
          <p:nvPr/>
        </p:nvSpPr>
        <p:spPr>
          <a:xfrm>
            <a:off x="8604504" y="23328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B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  ·  White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8275320" y="2575560"/>
            <a:ext cx="3703320" cy="477012"/>
          </a:xfrm>
          <a:prstGeom prst="rect">
            <a:avLst/>
          </a:prstGeom>
          <a:solidFill>
            <a:srgbClr val="001435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8" name="Shape 156"/>
          <p:cNvSpPr/>
          <p:nvPr/>
        </p:nvSpPr>
        <p:spPr>
          <a:xfrm>
            <a:off x="8275320" y="2593848"/>
            <a:ext cx="256032" cy="440436"/>
          </a:xfrm>
          <a:prstGeom prst="rect">
            <a:avLst/>
          </a:prstGeom>
          <a:solidFill>
            <a:srgbClr val="7BAFD4"/>
          </a:solidFill>
          <a:ln w="12700">
            <a:solidFill>
              <a:srgbClr val="7BAFD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9" name="Text 157"/>
          <p:cNvSpPr/>
          <p:nvPr/>
        </p:nvSpPr>
        <p:spPr>
          <a:xfrm>
            <a:off x="8604504" y="26029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</a:t>
            </a:r>
            <a:endParaRPr lang="en-US" sz="750" dirty="0"/>
          </a:p>
        </p:txBody>
      </p:sp>
      <p:sp>
        <p:nvSpPr>
          <p:cNvPr id="160" name="Text 158"/>
          <p:cNvSpPr/>
          <p:nvPr/>
        </p:nvSpPr>
        <p:spPr>
          <a:xfrm>
            <a:off x="8604504" y="28281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B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#7BAFD4  ·  Blue Soft</a:t>
            </a:r>
            <a:endParaRPr lang="en-US" sz="700" dirty="0"/>
          </a:p>
        </p:txBody>
      </p:sp>
      <p:sp>
        <p:nvSpPr>
          <p:cNvPr id="161" name="Shape 159"/>
          <p:cNvSpPr/>
          <p:nvPr/>
        </p:nvSpPr>
        <p:spPr>
          <a:xfrm>
            <a:off x="8275320" y="3070860"/>
            <a:ext cx="3703320" cy="477012"/>
          </a:xfrm>
          <a:prstGeom prst="rect">
            <a:avLst/>
          </a:prstGeom>
          <a:solidFill>
            <a:srgbClr val="001A4A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2" name="Shape 160"/>
          <p:cNvSpPr/>
          <p:nvPr/>
        </p:nvSpPr>
        <p:spPr>
          <a:xfrm>
            <a:off x="8275320" y="3089148"/>
            <a:ext cx="256032" cy="440436"/>
          </a:xfrm>
          <a:prstGeom prst="rect">
            <a:avLst/>
          </a:prstGeom>
          <a:solidFill>
            <a:srgbClr val="66B3E6"/>
          </a:solidFill>
          <a:ln w="12700">
            <a:solidFill>
              <a:srgbClr val="66B3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3" name="Text 161"/>
          <p:cNvSpPr/>
          <p:nvPr/>
        </p:nvSpPr>
        <p:spPr>
          <a:xfrm>
            <a:off x="8604504" y="30982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/ métricas financieras</a:t>
            </a:r>
            <a:endParaRPr lang="en-US" sz="750" dirty="0"/>
          </a:p>
        </p:txBody>
      </p:sp>
      <p:sp>
        <p:nvSpPr>
          <p:cNvPr id="164" name="Text 162"/>
          <p:cNvSpPr/>
          <p:nvPr/>
        </p:nvSpPr>
        <p:spPr>
          <a:xfrm>
            <a:off x="8604504" y="33234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B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#66B3E6  ·  Blue Light</a:t>
            </a:r>
            <a:endParaRPr lang="en-US" sz="700" dirty="0"/>
          </a:p>
        </p:txBody>
      </p:sp>
      <p:sp>
        <p:nvSpPr>
          <p:cNvPr id="165" name="Shape 163"/>
          <p:cNvSpPr/>
          <p:nvPr/>
        </p:nvSpPr>
        <p:spPr>
          <a:xfrm>
            <a:off x="8275320" y="3566160"/>
            <a:ext cx="3703320" cy="477012"/>
          </a:xfrm>
          <a:prstGeom prst="rect">
            <a:avLst/>
          </a:prstGeom>
          <a:solidFill>
            <a:srgbClr val="001435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6" name="Shape 164"/>
          <p:cNvSpPr/>
          <p:nvPr/>
        </p:nvSpPr>
        <p:spPr>
          <a:xfrm>
            <a:off x="8275320" y="3584448"/>
            <a:ext cx="256032" cy="440436"/>
          </a:xfrm>
          <a:prstGeom prst="rect">
            <a:avLst/>
          </a:prstGeom>
          <a:solidFill>
            <a:srgbClr val="25A244"/>
          </a:solidFill>
          <a:ln w="12700">
            <a:solidFill>
              <a:srgbClr val="25A2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7" name="Text 165"/>
          <p:cNvSpPr/>
          <p:nvPr/>
        </p:nvSpPr>
        <p:spPr>
          <a:xfrm>
            <a:off x="8604504" y="35935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 positivo</a:t>
            </a:r>
            <a:endParaRPr lang="en-US" sz="750" dirty="0"/>
          </a:p>
        </p:txBody>
      </p:sp>
      <p:sp>
        <p:nvSpPr>
          <p:cNvPr id="168" name="Text 166"/>
          <p:cNvSpPr/>
          <p:nvPr/>
        </p:nvSpPr>
        <p:spPr>
          <a:xfrm>
            <a:off x="8604504" y="38187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B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#25A244  ·  Green Positive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8275320" y="4061460"/>
            <a:ext cx="3703320" cy="477012"/>
          </a:xfrm>
          <a:prstGeom prst="rect">
            <a:avLst/>
          </a:prstGeom>
          <a:solidFill>
            <a:srgbClr val="001A4A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0" name="Shape 168"/>
          <p:cNvSpPr/>
          <p:nvPr/>
        </p:nvSpPr>
        <p:spPr>
          <a:xfrm>
            <a:off x="8275320" y="4079748"/>
            <a:ext cx="256032" cy="440436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1" name="Text 169"/>
          <p:cNvSpPr/>
          <p:nvPr/>
        </p:nvSpPr>
        <p:spPr>
          <a:xfrm>
            <a:off x="8604504" y="40888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/ riesgo</a:t>
            </a:r>
            <a:endParaRPr lang="en-US" sz="750" dirty="0"/>
          </a:p>
        </p:txBody>
      </p:sp>
      <p:sp>
        <p:nvSpPr>
          <p:cNvPr id="172" name="Text 170"/>
          <p:cNvSpPr/>
          <p:nvPr/>
        </p:nvSpPr>
        <p:spPr>
          <a:xfrm>
            <a:off x="8604504" y="43140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B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#DC3545  ·  Red Negative</a:t>
            </a:r>
            <a:endParaRPr lang="en-US" sz="700" dirty="0"/>
          </a:p>
        </p:txBody>
      </p:sp>
      <p:sp>
        <p:nvSpPr>
          <p:cNvPr id="173" name="Shape 171"/>
          <p:cNvSpPr/>
          <p:nvPr/>
        </p:nvSpPr>
        <p:spPr>
          <a:xfrm>
            <a:off x="8275320" y="4556760"/>
            <a:ext cx="3703320" cy="477012"/>
          </a:xfrm>
          <a:prstGeom prst="rect">
            <a:avLst/>
          </a:prstGeom>
          <a:solidFill>
            <a:srgbClr val="001435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4" name="Shape 172"/>
          <p:cNvSpPr/>
          <p:nvPr/>
        </p:nvSpPr>
        <p:spPr>
          <a:xfrm>
            <a:off x="8275320" y="4575048"/>
            <a:ext cx="256032" cy="4404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5" name="Text 173"/>
          <p:cNvSpPr/>
          <p:nvPr/>
        </p:nvSpPr>
        <p:spPr>
          <a:xfrm>
            <a:off x="8604504" y="45841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/ riesgo medio</a:t>
            </a:r>
            <a:endParaRPr lang="en-US" sz="750" dirty="0"/>
          </a:p>
        </p:txBody>
      </p:sp>
      <p:sp>
        <p:nvSpPr>
          <p:cNvPr id="176" name="Text 174"/>
          <p:cNvSpPr/>
          <p:nvPr/>
        </p:nvSpPr>
        <p:spPr>
          <a:xfrm>
            <a:off x="8604504" y="48093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B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#F5A623  ·  Amber Risk</a:t>
            </a:r>
            <a:endParaRPr lang="en-US" sz="700" dirty="0"/>
          </a:p>
        </p:txBody>
      </p:sp>
      <p:sp>
        <p:nvSpPr>
          <p:cNvPr id="177" name="Shape 175"/>
          <p:cNvSpPr/>
          <p:nvPr/>
        </p:nvSpPr>
        <p:spPr>
          <a:xfrm>
            <a:off x="8275320" y="5052060"/>
            <a:ext cx="3703320" cy="477012"/>
          </a:xfrm>
          <a:prstGeom prst="rect">
            <a:avLst/>
          </a:prstGeom>
          <a:solidFill>
            <a:srgbClr val="001A4A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8" name="Shape 176"/>
          <p:cNvSpPr/>
          <p:nvPr/>
        </p:nvSpPr>
        <p:spPr>
          <a:xfrm>
            <a:off x="8275320" y="5070348"/>
            <a:ext cx="256032" cy="440436"/>
          </a:xfrm>
          <a:prstGeom prst="rect">
            <a:avLst/>
          </a:prstGeom>
          <a:solidFill>
            <a:srgbClr val="3399D9"/>
          </a:solidFill>
          <a:ln w="12700">
            <a:solidFill>
              <a:srgbClr val="3399D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9" name="Text 177"/>
          <p:cNvSpPr/>
          <p:nvPr/>
        </p:nvSpPr>
        <p:spPr>
          <a:xfrm>
            <a:off x="8604504" y="50794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Gráficas / DataViz</a:t>
            </a:r>
            <a:endParaRPr lang="en-US" sz="750" dirty="0"/>
          </a:p>
        </p:txBody>
      </p:sp>
      <p:sp>
        <p:nvSpPr>
          <p:cNvPr id="180" name="Text 178"/>
          <p:cNvSpPr/>
          <p:nvPr/>
        </p:nvSpPr>
        <p:spPr>
          <a:xfrm>
            <a:off x="8604504" y="53046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B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#3399D9  ·  Blue Medium</a:t>
            </a:r>
            <a:endParaRPr lang="en-US" sz="700" dirty="0"/>
          </a:p>
        </p:txBody>
      </p:sp>
      <p:sp>
        <p:nvSpPr>
          <p:cNvPr id="181" name="Shape 179"/>
          <p:cNvSpPr/>
          <p:nvPr/>
        </p:nvSpPr>
        <p:spPr>
          <a:xfrm>
            <a:off x="8275320" y="5547360"/>
            <a:ext cx="3703320" cy="477012"/>
          </a:xfrm>
          <a:prstGeom prst="rect">
            <a:avLst/>
          </a:prstGeom>
          <a:solidFill>
            <a:srgbClr val="001435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2" name="Shape 180"/>
          <p:cNvSpPr/>
          <p:nvPr/>
        </p:nvSpPr>
        <p:spPr>
          <a:xfrm>
            <a:off x="8275320" y="5565648"/>
            <a:ext cx="256032" cy="440436"/>
          </a:xfrm>
          <a:prstGeom prst="rect">
            <a:avLst/>
          </a:prstGeom>
          <a:solidFill>
            <a:srgbClr val="001435"/>
          </a:solidFill>
          <a:ln w="12700">
            <a:solidFill>
              <a:srgbClr val="00143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3" name="Text 181"/>
          <p:cNvSpPr/>
          <p:nvPr/>
        </p:nvSpPr>
        <p:spPr>
          <a:xfrm>
            <a:off x="8604504" y="5574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cards / paneles</a:t>
            </a:r>
            <a:endParaRPr lang="en-US" sz="750" dirty="0"/>
          </a:p>
        </p:txBody>
      </p:sp>
      <p:sp>
        <p:nvSpPr>
          <p:cNvPr id="184" name="Text 182"/>
          <p:cNvSpPr/>
          <p:nvPr/>
        </p:nvSpPr>
        <p:spPr>
          <a:xfrm>
            <a:off x="8604504" y="5799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B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#001435  ·  Navy Black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8275320" y="6042660"/>
            <a:ext cx="3703320" cy="477012"/>
          </a:xfrm>
          <a:prstGeom prst="rect">
            <a:avLst/>
          </a:prstGeom>
          <a:solidFill>
            <a:srgbClr val="001A4A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6" name="Shape 184"/>
          <p:cNvSpPr/>
          <p:nvPr/>
        </p:nvSpPr>
        <p:spPr>
          <a:xfrm>
            <a:off x="8275320" y="6060948"/>
            <a:ext cx="256032" cy="440436"/>
          </a:xfrm>
          <a:prstGeom prst="rect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7" name="Text 185"/>
          <p:cNvSpPr/>
          <p:nvPr/>
        </p:nvSpPr>
        <p:spPr>
          <a:xfrm>
            <a:off x="8604504" y="6070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Bordes / separadores</a:t>
            </a:r>
            <a:endParaRPr lang="en-US" sz="750" dirty="0"/>
          </a:p>
        </p:txBody>
      </p:sp>
      <p:sp>
        <p:nvSpPr>
          <p:cNvPr id="188" name="Text 186"/>
          <p:cNvSpPr/>
          <p:nvPr/>
        </p:nvSpPr>
        <p:spPr>
          <a:xfrm>
            <a:off x="8604504" y="6295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B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#003580  ·  Navy Medium</a:t>
            </a:r>
            <a:endParaRPr lang="en-US" sz="700" dirty="0"/>
          </a:p>
        </p:txBody>
      </p:sp>
      <p:sp>
        <p:nvSpPr>
          <p:cNvPr id="189" name="Shape 187"/>
          <p:cNvSpPr/>
          <p:nvPr/>
        </p:nvSpPr>
        <p:spPr>
          <a:xfrm>
            <a:off x="8275320" y="6574536"/>
            <a:ext cx="3703320" cy="256032"/>
          </a:xfrm>
          <a:prstGeom prst="rect">
            <a:avLst/>
          </a:prstGeom>
          <a:solidFill>
            <a:srgbClr val="001435"/>
          </a:solidFill>
          <a:ln w="12700">
            <a:solidFill>
              <a:srgbClr val="007BC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0" name="Text 188"/>
          <p:cNvSpPr/>
          <p:nvPr/>
        </p:nvSpPr>
        <p:spPr>
          <a:xfrm>
            <a:off x="8366760" y="661111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Navy #00205B + Blue #007BC7 = autoridad financiera absoluta.</a:t>
            </a:r>
            <a:endParaRPr lang="en-US" sz="700" dirty="0"/>
          </a:p>
        </p:txBody>
      </p:sp>
      <p:sp>
        <p:nvSpPr>
          <p:cNvPr id="191" name="Shape 189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1435"/>
          </a:solidFill>
          <a:ln w="12700">
            <a:solidFill>
              <a:srgbClr val="00143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2" name="Text 190"/>
          <p:cNvSpPr/>
          <p:nvPr/>
        </p:nvSpPr>
        <p:spPr>
          <a:xfrm>
            <a:off x="274320" y="6793992"/>
            <a:ext cx="914400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003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BLACKROCK  ·  PALETA OFICIAL  ·  blackrock.com · Brand Guidelines · Brandfetch</a:t>
            </a:r>
            <a:endParaRPr lang="en-US" sz="550" dirty="0"/>
          </a:p>
        </p:txBody>
      </p:sp>
      <p:sp>
        <p:nvSpPr>
          <p:cNvPr id="193" name="Text 191"/>
          <p:cNvSpPr/>
          <p:nvPr/>
        </p:nvSpPr>
        <p:spPr>
          <a:xfrm>
            <a:off x="0" y="6793992"/>
            <a:ext cx="119786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003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COLORES  ·  4 SISTEMAS  ·  1 LÁMINA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Microsoft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 Design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COLORES OFICIAL  ·  Human · Adaptive · Accessible · Enterprise UI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4320" y="795528"/>
            <a:ext cx="7818120" cy="18288"/>
          </a:xfrm>
          <a:prstGeom prst="rect">
            <a:avLst/>
          </a:prstGeom>
          <a:solidFill>
            <a:srgbClr val="323130"/>
          </a:solidFill>
          <a:ln w="12700">
            <a:solidFill>
              <a:srgbClr val="32313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8183880" y="73152"/>
            <a:ext cx="18288" cy="6720840"/>
          </a:xfrm>
          <a:prstGeom prst="rect">
            <a:avLst/>
          </a:prstGeom>
          <a:solidFill>
            <a:srgbClr val="323130"/>
          </a:solidFill>
          <a:ln w="12700">
            <a:solidFill>
              <a:srgbClr val="32313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7818120" cy="201168"/>
          </a:xfrm>
          <a:prstGeom prst="rect">
            <a:avLst/>
          </a:prstGeom>
          <a:solidFill>
            <a:srgbClr val="1F1F1F"/>
          </a:solidFill>
          <a:ln w="12700">
            <a:solidFill>
              <a:srgbClr val="32313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>
            <a:off x="274320" y="841248"/>
            <a:ext cx="36576" cy="2011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65760" y="8412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PRINCIPAL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" y="84124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fluent2.microsoft.com · Microsoft Brand Center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74320" y="1042416"/>
            <a:ext cx="2563368" cy="761101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338328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#0078D4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03517"/>
            <a:ext cx="256336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B3B3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338328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Comm. Blue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8328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B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120, 212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38328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19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principal · CTA · Acento primario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901696" y="1042416"/>
            <a:ext cx="2563368" cy="761101"/>
          </a:xfrm>
          <a:prstGeom prst="rect">
            <a:avLst/>
          </a:prstGeom>
          <a:solidFill>
            <a:srgbClr val="243A5E"/>
          </a:solidFill>
          <a:ln w="12700">
            <a:solidFill>
              <a:srgbClr val="243A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2965704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#243A5E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01696" y="1803517"/>
            <a:ext cx="256336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B3B3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2965704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Dark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965704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B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36, 58, 94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965704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19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oscuros · Slides premium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529072" y="1042416"/>
            <a:ext cx="2563368" cy="7611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5593080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29072" y="1803517"/>
            <a:ext cx="256336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B3B3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Text 25"/>
          <p:cNvSpPr/>
          <p:nvPr/>
        </p:nvSpPr>
        <p:spPr>
          <a:xfrm>
            <a:off x="5593080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593080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B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255, 255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593080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19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claros · Texto sobre oscuro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74320" y="2334006"/>
            <a:ext cx="7818120" cy="201168"/>
          </a:xfrm>
          <a:prstGeom prst="rect">
            <a:avLst/>
          </a:prstGeom>
          <a:solidFill>
            <a:srgbClr val="1F1F1F"/>
          </a:solidFill>
          <a:ln w="12700">
            <a:solidFill>
              <a:srgbClr val="32313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Shape 29"/>
          <p:cNvSpPr/>
          <p:nvPr/>
        </p:nvSpPr>
        <p:spPr>
          <a:xfrm>
            <a:off x="274320" y="2334006"/>
            <a:ext cx="36576" cy="20116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365760" y="233400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 — FLUENT PALETTE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" y="2334006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Microsoft Fluent 2 · Token System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74320" y="2535174"/>
            <a:ext cx="1512418" cy="761101"/>
          </a:xfrm>
          <a:prstGeom prst="rect">
            <a:avLst/>
          </a:prstGeom>
          <a:solidFill>
            <a:srgbClr val="003966"/>
          </a:solidFill>
          <a:ln w="12700">
            <a:solidFill>
              <a:srgbClr val="0039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Text 33"/>
          <p:cNvSpPr/>
          <p:nvPr/>
        </p:nvSpPr>
        <p:spPr>
          <a:xfrm>
            <a:off x="338328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#003966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296275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B3B3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/>
          <p:nvPr/>
        </p:nvSpPr>
        <p:spPr>
          <a:xfrm>
            <a:off x="338328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70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8328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B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57, 102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38328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19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oscuros · Headers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850746" y="2535174"/>
            <a:ext cx="1512418" cy="761101"/>
          </a:xfrm>
          <a:prstGeom prst="rect">
            <a:avLst/>
          </a:prstGeom>
          <a:solidFill>
            <a:srgbClr val="004E8C"/>
          </a:solidFill>
          <a:ln w="12700">
            <a:solidFill>
              <a:srgbClr val="004E8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1" name="Text 39"/>
          <p:cNvSpPr/>
          <p:nvPr/>
        </p:nvSpPr>
        <p:spPr>
          <a:xfrm>
            <a:off x="1914754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#004E8C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50746" y="3296275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B3B3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3" name="Text 41"/>
          <p:cNvSpPr/>
          <p:nvPr/>
        </p:nvSpPr>
        <p:spPr>
          <a:xfrm>
            <a:off x="1914754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60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914754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B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78, 140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914754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19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Botones hover · Elementos activos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427171" y="2535174"/>
            <a:ext cx="1512418" cy="761101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7" name="Text 45"/>
          <p:cNvSpPr/>
          <p:nvPr/>
        </p:nvSpPr>
        <p:spPr>
          <a:xfrm>
            <a:off x="3491179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#0078D4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27171" y="3296275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B3B3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9" name="Text 47"/>
          <p:cNvSpPr/>
          <p:nvPr/>
        </p:nvSpPr>
        <p:spPr>
          <a:xfrm>
            <a:off x="3491179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50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491179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B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120, 212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491179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19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action · Links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5003597" y="2535174"/>
            <a:ext cx="1512418" cy="761101"/>
          </a:xfrm>
          <a:prstGeom prst="rect">
            <a:avLst/>
          </a:prstGeom>
          <a:solidFill>
            <a:srgbClr val="2899F5"/>
          </a:solidFill>
          <a:ln w="12700">
            <a:solidFill>
              <a:srgbClr val="2899F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3" name="Text 51"/>
          <p:cNvSpPr/>
          <p:nvPr/>
        </p:nvSpPr>
        <p:spPr>
          <a:xfrm>
            <a:off x="5067605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#2899F5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003597" y="3296275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B3B3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5" name="Text 53"/>
          <p:cNvSpPr/>
          <p:nvPr/>
        </p:nvSpPr>
        <p:spPr>
          <a:xfrm>
            <a:off x="5067605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40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067605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B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40, 153, 245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067605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19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sobre primary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6580022" y="2535174"/>
            <a:ext cx="1512418" cy="761101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9" name="Text 57"/>
          <p:cNvSpPr/>
          <p:nvPr/>
        </p:nvSpPr>
        <p:spPr>
          <a:xfrm>
            <a:off x="6644030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#50E6FF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580022" y="3296275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B3B3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1" name="Text 59"/>
          <p:cNvSpPr/>
          <p:nvPr/>
        </p:nvSpPr>
        <p:spPr>
          <a:xfrm>
            <a:off x="6644030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 Light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644030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B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80, 230, 255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644030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19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· Selección activa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274320" y="3826764"/>
            <a:ext cx="7818120" cy="201168"/>
          </a:xfrm>
          <a:prstGeom prst="rect">
            <a:avLst/>
          </a:prstGeom>
          <a:solidFill>
            <a:srgbClr val="1F1F1F"/>
          </a:solidFill>
          <a:ln w="12700">
            <a:solidFill>
              <a:srgbClr val="32313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5" name="Shape 63"/>
          <p:cNvSpPr/>
          <p:nvPr/>
        </p:nvSpPr>
        <p:spPr>
          <a:xfrm>
            <a:off x="274320" y="3826764"/>
            <a:ext cx="36576" cy="201168"/>
          </a:xfrm>
          <a:prstGeom prst="rect">
            <a:avLst/>
          </a:prstGeom>
          <a:solidFill>
            <a:srgbClr val="A19F9D"/>
          </a:solidFill>
          <a:ln w="12700">
            <a:solidFill>
              <a:srgbClr val="A19F9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6" name="Text 64"/>
          <p:cNvSpPr/>
          <p:nvPr/>
        </p:nvSpPr>
        <p:spPr>
          <a:xfrm>
            <a:off x="365760" y="38267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A19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NEUTROS — FLUENT GRAY RAMP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74320" y="382676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Fluent 2 Neutral Tokens · Light/Dark Theme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274320" y="4027932"/>
            <a:ext cx="1512418" cy="761101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9" name="Text 67"/>
          <p:cNvSpPr/>
          <p:nvPr/>
        </p:nvSpPr>
        <p:spPr>
          <a:xfrm>
            <a:off x="338328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#1B1B1B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" y="4789033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B3B3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1" name="Text 69"/>
          <p:cNvSpPr/>
          <p:nvPr/>
        </p:nvSpPr>
        <p:spPr>
          <a:xfrm>
            <a:off x="338328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100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38328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B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27, 27, 27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338328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19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dark theme base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1850746" y="4027932"/>
            <a:ext cx="1512418" cy="761101"/>
          </a:xfrm>
          <a:prstGeom prst="rect">
            <a:avLst/>
          </a:prstGeom>
          <a:solidFill>
            <a:srgbClr val="323130"/>
          </a:solidFill>
          <a:ln w="12700">
            <a:solidFill>
              <a:srgbClr val="32313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5" name="Text 73"/>
          <p:cNvSpPr/>
          <p:nvPr/>
        </p:nvSpPr>
        <p:spPr>
          <a:xfrm>
            <a:off x="1914754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#323130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850746" y="4789033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B3B3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7" name="Text 75"/>
          <p:cNvSpPr/>
          <p:nvPr/>
        </p:nvSpPr>
        <p:spPr>
          <a:xfrm>
            <a:off x="1914754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80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914754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B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50, 49, 48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1914754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19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· Contenedores oscuros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3427171" y="4027932"/>
            <a:ext cx="1512418" cy="761101"/>
          </a:xfrm>
          <a:prstGeom prst="rect">
            <a:avLst/>
          </a:prstGeom>
          <a:solidFill>
            <a:srgbClr val="605E5C"/>
          </a:solidFill>
          <a:ln w="12700">
            <a:solidFill>
              <a:srgbClr val="605E5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1" name="Text 79"/>
          <p:cNvSpPr/>
          <p:nvPr/>
        </p:nvSpPr>
        <p:spPr>
          <a:xfrm>
            <a:off x="3491179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#605E5C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427171" y="4789033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B3B3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3" name="Text 81"/>
          <p:cNvSpPr/>
          <p:nvPr/>
        </p:nvSpPr>
        <p:spPr>
          <a:xfrm>
            <a:off x="3491179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60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3491179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B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96, 94, 92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3491179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19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deshabilitado · Labels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5003597" y="4027932"/>
            <a:ext cx="1512418" cy="761101"/>
          </a:xfrm>
          <a:prstGeom prst="rect">
            <a:avLst/>
          </a:prstGeom>
          <a:solidFill>
            <a:srgbClr val="A19F9D"/>
          </a:solidFill>
          <a:ln w="12700">
            <a:solidFill>
              <a:srgbClr val="A19F9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7" name="Text 85"/>
          <p:cNvSpPr/>
          <p:nvPr/>
        </p:nvSpPr>
        <p:spPr>
          <a:xfrm>
            <a:off x="5067605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#A19F9D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003597" y="4789033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B3B3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9" name="Text 87"/>
          <p:cNvSpPr/>
          <p:nvPr/>
        </p:nvSpPr>
        <p:spPr>
          <a:xfrm>
            <a:off x="5067605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40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067605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B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161, 159, 157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5067605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19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· Texto secundario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6580022" y="4027932"/>
            <a:ext cx="1512418" cy="761101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3" name="Text 91"/>
          <p:cNvSpPr/>
          <p:nvPr/>
        </p:nvSpPr>
        <p:spPr>
          <a:xfrm>
            <a:off x="6644030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#EDEBE9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580022" y="4789033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B3B3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5" name="Text 93"/>
          <p:cNvSpPr/>
          <p:nvPr/>
        </p:nvSpPr>
        <p:spPr>
          <a:xfrm>
            <a:off x="6644030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10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6644030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B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237, 235, 233</a:t>
            </a:r>
            <a:endParaRPr lang="en-US" sz="600" dirty="0"/>
          </a:p>
        </p:txBody>
      </p:sp>
      <p:sp>
        <p:nvSpPr>
          <p:cNvPr id="97" name="Text 95"/>
          <p:cNvSpPr/>
          <p:nvPr/>
        </p:nvSpPr>
        <p:spPr>
          <a:xfrm>
            <a:off x="6644030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19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light theme · Superficies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274320" y="5319522"/>
            <a:ext cx="7818120" cy="201168"/>
          </a:xfrm>
          <a:prstGeom prst="rect">
            <a:avLst/>
          </a:prstGeom>
          <a:solidFill>
            <a:srgbClr val="1F1F1F"/>
          </a:solidFill>
          <a:ln w="12700">
            <a:solidFill>
              <a:srgbClr val="32313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9" name="Shape 97"/>
          <p:cNvSpPr/>
          <p:nvPr/>
        </p:nvSpPr>
        <p:spPr>
          <a:xfrm>
            <a:off x="274320" y="5319522"/>
            <a:ext cx="36576" cy="201168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0" name="Text 98"/>
          <p:cNvSpPr/>
          <p:nvPr/>
        </p:nvSpPr>
        <p:spPr>
          <a:xfrm>
            <a:off x="365760" y="531952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SEMÁNTICOS &amp; TEMAS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274320" y="5319522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Fluent Status Colors · Office Theme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274320" y="5520690"/>
            <a:ext cx="1512418" cy="761101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3" name="Text 101"/>
          <p:cNvSpPr/>
          <p:nvPr/>
        </p:nvSpPr>
        <p:spPr>
          <a:xfrm>
            <a:off x="338328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#107C10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274320" y="6281791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B3B3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5" name="Text 103"/>
          <p:cNvSpPr/>
          <p:nvPr/>
        </p:nvSpPr>
        <p:spPr>
          <a:xfrm>
            <a:off x="338328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Success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338328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B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16, 124, 16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338328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19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Éxito · Completado · Positivo</a:t>
            </a:r>
            <a:endParaRPr lang="en-US" sz="600" dirty="0"/>
          </a:p>
        </p:txBody>
      </p:sp>
      <p:sp>
        <p:nvSpPr>
          <p:cNvPr id="108" name="Shape 106"/>
          <p:cNvSpPr/>
          <p:nvPr/>
        </p:nvSpPr>
        <p:spPr>
          <a:xfrm>
            <a:off x="1850746" y="5520690"/>
            <a:ext cx="1512418" cy="761101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9" name="Text 107"/>
          <p:cNvSpPr/>
          <p:nvPr/>
        </p:nvSpPr>
        <p:spPr>
          <a:xfrm>
            <a:off x="1914754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#D83B01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1850746" y="6281791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B3B3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1" name="Text 109"/>
          <p:cNvSpPr/>
          <p:nvPr/>
        </p:nvSpPr>
        <p:spPr>
          <a:xfrm>
            <a:off x="1914754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Error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1914754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B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216, 59, 1</a:t>
            </a:r>
            <a:endParaRPr lang="en-US" sz="600" dirty="0"/>
          </a:p>
        </p:txBody>
      </p:sp>
      <p:sp>
        <p:nvSpPr>
          <p:cNvPr id="113" name="Text 111"/>
          <p:cNvSpPr/>
          <p:nvPr/>
        </p:nvSpPr>
        <p:spPr>
          <a:xfrm>
            <a:off x="1914754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19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· Alerta alta prioridad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3427171" y="5520690"/>
            <a:ext cx="1512418" cy="761101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5" name="Text 113"/>
          <p:cNvSpPr/>
          <p:nvPr/>
        </p:nvSpPr>
        <p:spPr>
          <a:xfrm>
            <a:off x="3491179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#FFB900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3427171" y="6281791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B3B3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7" name="Text 115"/>
          <p:cNvSpPr/>
          <p:nvPr/>
        </p:nvSpPr>
        <p:spPr>
          <a:xfrm>
            <a:off x="3491179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Accent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3491179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B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185, 0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3491179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19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· Informativo · KPI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5003597" y="5520690"/>
            <a:ext cx="1512418" cy="761101"/>
          </a:xfrm>
          <a:prstGeom prst="rect">
            <a:avLst/>
          </a:prstGeom>
          <a:solidFill>
            <a:srgbClr val="8764B8"/>
          </a:solidFill>
          <a:ln w="12700">
            <a:solidFill>
              <a:srgbClr val="8764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1" name="Text 119"/>
          <p:cNvSpPr/>
          <p:nvPr/>
        </p:nvSpPr>
        <p:spPr>
          <a:xfrm>
            <a:off x="5067605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#8764B8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5003597" y="6281791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B3B3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3" name="Text 121"/>
          <p:cNvSpPr/>
          <p:nvPr/>
        </p:nvSpPr>
        <p:spPr>
          <a:xfrm>
            <a:off x="5067605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Accent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5067605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B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135, 100, 184</a:t>
            </a:r>
            <a:endParaRPr lang="en-US" sz="600" dirty="0"/>
          </a:p>
        </p:txBody>
      </p:sp>
      <p:sp>
        <p:nvSpPr>
          <p:cNvPr id="125" name="Text 123"/>
          <p:cNvSpPr/>
          <p:nvPr/>
        </p:nvSpPr>
        <p:spPr>
          <a:xfrm>
            <a:off x="5067605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19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Innovación · Destacado especial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6580022" y="5520690"/>
            <a:ext cx="1512418" cy="761101"/>
          </a:xfrm>
          <a:prstGeom prst="rect">
            <a:avLst/>
          </a:prstGeom>
          <a:solidFill>
            <a:srgbClr val="FAF9F8"/>
          </a:solidFill>
          <a:ln w="12700">
            <a:solidFill>
              <a:srgbClr val="FAF9F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7" name="Text 125"/>
          <p:cNvSpPr/>
          <p:nvPr/>
        </p:nvSpPr>
        <p:spPr>
          <a:xfrm>
            <a:off x="6644030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#FAF9F8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6580022" y="6281791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B3B3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9" name="Text 127"/>
          <p:cNvSpPr/>
          <p:nvPr/>
        </p:nvSpPr>
        <p:spPr>
          <a:xfrm>
            <a:off x="6644030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Warm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6644030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B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250, 249, 248</a:t>
            </a:r>
            <a:endParaRPr lang="en-US" sz="600" dirty="0"/>
          </a:p>
        </p:txBody>
      </p:sp>
      <p:sp>
        <p:nvSpPr>
          <p:cNvPr id="131" name="Text 129"/>
          <p:cNvSpPr/>
          <p:nvPr/>
        </p:nvSpPr>
        <p:spPr>
          <a:xfrm>
            <a:off x="6644030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19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base light · Canvas</a:t>
            </a:r>
            <a:endParaRPr lang="en-US" sz="600" dirty="0"/>
          </a:p>
        </p:txBody>
      </p:sp>
      <p:sp>
        <p:nvSpPr>
          <p:cNvPr id="132" name="Text 130"/>
          <p:cNvSpPr/>
          <p:nvPr/>
        </p:nvSpPr>
        <p:spPr>
          <a:xfrm>
            <a:off x="8275320" y="914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CONFIGURACIÓN MAESTRA</a:t>
            </a:r>
            <a:endParaRPr lang="en-US" sz="1200" dirty="0"/>
          </a:p>
        </p:txBody>
      </p:sp>
      <p:sp>
        <p:nvSpPr>
          <p:cNvPr id="133" name="Text 131"/>
          <p:cNvSpPr/>
          <p:nvPr/>
        </p:nvSpPr>
        <p:spPr>
          <a:xfrm>
            <a:off x="8275320" y="34747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por función · Empresa Constructora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8275320" y="530352"/>
            <a:ext cx="3703320" cy="18288"/>
          </a:xfrm>
          <a:prstGeom prst="rect">
            <a:avLst/>
          </a:prstGeom>
          <a:solidFill>
            <a:srgbClr val="323130"/>
          </a:solidFill>
          <a:ln w="12700">
            <a:solidFill>
              <a:srgbClr val="32313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5" name="Shape 133"/>
          <p:cNvSpPr/>
          <p:nvPr/>
        </p:nvSpPr>
        <p:spPr>
          <a:xfrm>
            <a:off x="8275320" y="594360"/>
            <a:ext cx="3703320" cy="477012"/>
          </a:xfrm>
          <a:prstGeom prst="rect">
            <a:avLst/>
          </a:prstGeom>
          <a:solidFill>
            <a:srgbClr val="1F1F1F"/>
          </a:solidFill>
          <a:ln w="12700">
            <a:solidFill>
              <a:srgbClr val="32313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6" name="Shape 134"/>
          <p:cNvSpPr/>
          <p:nvPr/>
        </p:nvSpPr>
        <p:spPr>
          <a:xfrm>
            <a:off x="8275320" y="612648"/>
            <a:ext cx="256032" cy="440436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7" name="Text 135"/>
          <p:cNvSpPr/>
          <p:nvPr/>
        </p:nvSpPr>
        <p:spPr>
          <a:xfrm>
            <a:off x="8604504" y="621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portada / dark mode</a:t>
            </a:r>
            <a:endParaRPr lang="en-US" sz="750" dirty="0"/>
          </a:p>
        </p:txBody>
      </p:sp>
      <p:sp>
        <p:nvSpPr>
          <p:cNvPr id="138" name="Text 136"/>
          <p:cNvSpPr/>
          <p:nvPr/>
        </p:nvSpPr>
        <p:spPr>
          <a:xfrm>
            <a:off x="8604504" y="846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#1B1B1B  ·  Gray 100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8275320" y="1089660"/>
            <a:ext cx="3703320" cy="477012"/>
          </a:xfrm>
          <a:prstGeom prst="rect">
            <a:avLst/>
          </a:prstGeom>
          <a:solidFill>
            <a:srgbClr val="252525"/>
          </a:solidFill>
          <a:ln w="12700">
            <a:solidFill>
              <a:srgbClr val="32313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0" name="Shape 138"/>
          <p:cNvSpPr/>
          <p:nvPr/>
        </p:nvSpPr>
        <p:spPr>
          <a:xfrm>
            <a:off x="8275320" y="1107948"/>
            <a:ext cx="256032" cy="440436"/>
          </a:xfrm>
          <a:prstGeom prst="rect">
            <a:avLst/>
          </a:prstGeom>
          <a:solidFill>
            <a:srgbClr val="FAF9F8"/>
          </a:solidFill>
          <a:ln w="12700">
            <a:solidFill>
              <a:srgbClr val="FAF9F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1" name="Text 139"/>
          <p:cNvSpPr/>
          <p:nvPr/>
        </p:nvSpPr>
        <p:spPr>
          <a:xfrm>
            <a:off x="8604504" y="1117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slides contenido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8604504" y="1342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#FAF9F8  ·  White Warm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8275320" y="1584960"/>
            <a:ext cx="3703320" cy="477012"/>
          </a:xfrm>
          <a:prstGeom prst="rect">
            <a:avLst/>
          </a:prstGeom>
          <a:solidFill>
            <a:srgbClr val="1F1F1F"/>
          </a:solidFill>
          <a:ln w="12700">
            <a:solidFill>
              <a:srgbClr val="32313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4" name="Shape 142"/>
          <p:cNvSpPr/>
          <p:nvPr/>
        </p:nvSpPr>
        <p:spPr>
          <a:xfrm>
            <a:off x="8275320" y="1603248"/>
            <a:ext cx="256032" cy="4404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5" name="Text 143"/>
          <p:cNvSpPr/>
          <p:nvPr/>
        </p:nvSpPr>
        <p:spPr>
          <a:xfrm>
            <a:off x="8604504" y="16123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primario / CTA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8604504" y="18375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#0078D4  ·  Comm. Blue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8275320" y="2080260"/>
            <a:ext cx="3703320" cy="477012"/>
          </a:xfrm>
          <a:prstGeom prst="rect">
            <a:avLst/>
          </a:prstGeom>
          <a:solidFill>
            <a:srgbClr val="252525"/>
          </a:solidFill>
          <a:ln w="12700">
            <a:solidFill>
              <a:srgbClr val="32313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8" name="Shape 146"/>
          <p:cNvSpPr/>
          <p:nvPr/>
        </p:nvSpPr>
        <p:spPr>
          <a:xfrm>
            <a:off x="8275320" y="2098548"/>
            <a:ext cx="256032" cy="440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9" name="Text 147"/>
          <p:cNvSpPr/>
          <p:nvPr/>
        </p:nvSpPr>
        <p:spPr>
          <a:xfrm>
            <a:off x="8604504" y="21076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sobre fondos oscuros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8604504" y="23328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  ·  White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8275320" y="2575560"/>
            <a:ext cx="3703320" cy="477012"/>
          </a:xfrm>
          <a:prstGeom prst="rect">
            <a:avLst/>
          </a:prstGeom>
          <a:solidFill>
            <a:srgbClr val="1F1F1F"/>
          </a:solidFill>
          <a:ln w="12700">
            <a:solidFill>
              <a:srgbClr val="32313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2" name="Shape 150"/>
          <p:cNvSpPr/>
          <p:nvPr/>
        </p:nvSpPr>
        <p:spPr>
          <a:xfrm>
            <a:off x="8275320" y="2593848"/>
            <a:ext cx="256032" cy="440436"/>
          </a:xfrm>
          <a:prstGeom prst="rect">
            <a:avLst/>
          </a:prstGeom>
          <a:solidFill>
            <a:srgbClr val="323130"/>
          </a:solidFill>
          <a:ln w="12700">
            <a:solidFill>
              <a:srgbClr val="32313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3" name="Text 151"/>
          <p:cNvSpPr/>
          <p:nvPr/>
        </p:nvSpPr>
        <p:spPr>
          <a:xfrm>
            <a:off x="8604504" y="26029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cuerpo light theme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8604504" y="28281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#323130  ·  Gray 80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8275320" y="3070860"/>
            <a:ext cx="3703320" cy="477012"/>
          </a:xfrm>
          <a:prstGeom prst="rect">
            <a:avLst/>
          </a:prstGeom>
          <a:solidFill>
            <a:srgbClr val="252525"/>
          </a:solidFill>
          <a:ln w="12700">
            <a:solidFill>
              <a:srgbClr val="32313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6" name="Shape 154"/>
          <p:cNvSpPr/>
          <p:nvPr/>
        </p:nvSpPr>
        <p:spPr>
          <a:xfrm>
            <a:off x="8275320" y="3089148"/>
            <a:ext cx="256032" cy="440436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7" name="Text 155"/>
          <p:cNvSpPr/>
          <p:nvPr/>
        </p:nvSpPr>
        <p:spPr>
          <a:xfrm>
            <a:off x="8604504" y="30982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/ Highlights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8604504" y="33234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#FFB900  ·  Gold Accent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8275320" y="3566160"/>
            <a:ext cx="3703320" cy="477012"/>
          </a:xfrm>
          <a:prstGeom prst="rect">
            <a:avLst/>
          </a:prstGeom>
          <a:solidFill>
            <a:srgbClr val="1F1F1F"/>
          </a:solidFill>
          <a:ln w="12700">
            <a:solidFill>
              <a:srgbClr val="32313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0" name="Shape 158"/>
          <p:cNvSpPr/>
          <p:nvPr/>
        </p:nvSpPr>
        <p:spPr>
          <a:xfrm>
            <a:off x="8275320" y="3584448"/>
            <a:ext cx="256032" cy="440436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1" name="Text 159"/>
          <p:cNvSpPr/>
          <p:nvPr/>
        </p:nvSpPr>
        <p:spPr>
          <a:xfrm>
            <a:off x="8604504" y="35935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Éxito / positivo</a:t>
            </a:r>
            <a:endParaRPr lang="en-US" sz="750" dirty="0"/>
          </a:p>
        </p:txBody>
      </p:sp>
      <p:sp>
        <p:nvSpPr>
          <p:cNvPr id="162" name="Text 160"/>
          <p:cNvSpPr/>
          <p:nvPr/>
        </p:nvSpPr>
        <p:spPr>
          <a:xfrm>
            <a:off x="8604504" y="38187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#107C10  ·  Green Success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8275320" y="4061460"/>
            <a:ext cx="3703320" cy="477012"/>
          </a:xfrm>
          <a:prstGeom prst="rect">
            <a:avLst/>
          </a:prstGeom>
          <a:solidFill>
            <a:srgbClr val="252525"/>
          </a:solidFill>
          <a:ln w="12700">
            <a:solidFill>
              <a:srgbClr val="32313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4" name="Shape 162"/>
          <p:cNvSpPr/>
          <p:nvPr/>
        </p:nvSpPr>
        <p:spPr>
          <a:xfrm>
            <a:off x="8275320" y="4079748"/>
            <a:ext cx="256032" cy="440436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5" name="Text 163"/>
          <p:cNvSpPr/>
          <p:nvPr/>
        </p:nvSpPr>
        <p:spPr>
          <a:xfrm>
            <a:off x="8604504" y="40888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/ alerta</a:t>
            </a:r>
            <a:endParaRPr lang="en-US" sz="750" dirty="0"/>
          </a:p>
        </p:txBody>
      </p:sp>
      <p:sp>
        <p:nvSpPr>
          <p:cNvPr id="166" name="Text 164"/>
          <p:cNvSpPr/>
          <p:nvPr/>
        </p:nvSpPr>
        <p:spPr>
          <a:xfrm>
            <a:off x="8604504" y="43140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#D83B01  ·  Orange Error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8275320" y="4556760"/>
            <a:ext cx="3703320" cy="477012"/>
          </a:xfrm>
          <a:prstGeom prst="rect">
            <a:avLst/>
          </a:prstGeom>
          <a:solidFill>
            <a:srgbClr val="1F1F1F"/>
          </a:solidFill>
          <a:ln w="12700">
            <a:solidFill>
              <a:srgbClr val="32313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8" name="Shape 166"/>
          <p:cNvSpPr/>
          <p:nvPr/>
        </p:nvSpPr>
        <p:spPr>
          <a:xfrm>
            <a:off x="8275320" y="4575048"/>
            <a:ext cx="256032" cy="440436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9" name="Text 167"/>
          <p:cNvSpPr/>
          <p:nvPr/>
        </p:nvSpPr>
        <p:spPr>
          <a:xfrm>
            <a:off x="8604504" y="45841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cards oscuras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8604504" y="48093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#252525  ·  Card BG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8275320" y="5052060"/>
            <a:ext cx="3703320" cy="477012"/>
          </a:xfrm>
          <a:prstGeom prst="rect">
            <a:avLst/>
          </a:prstGeom>
          <a:solidFill>
            <a:srgbClr val="252525"/>
          </a:solidFill>
          <a:ln w="12700">
            <a:solidFill>
              <a:srgbClr val="32313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2" name="Shape 170"/>
          <p:cNvSpPr/>
          <p:nvPr/>
        </p:nvSpPr>
        <p:spPr>
          <a:xfrm>
            <a:off x="8275320" y="5070348"/>
            <a:ext cx="256032" cy="440436"/>
          </a:xfrm>
          <a:prstGeom prst="rect">
            <a:avLst/>
          </a:prstGeom>
          <a:solidFill>
            <a:srgbClr val="3B3B3B"/>
          </a:solidFill>
          <a:ln w="12700">
            <a:solidFill>
              <a:srgbClr val="3B3B3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3" name="Text 171"/>
          <p:cNvSpPr/>
          <p:nvPr/>
        </p:nvSpPr>
        <p:spPr>
          <a:xfrm>
            <a:off x="8604504" y="50794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Separadores / bordes</a:t>
            </a:r>
            <a:endParaRPr lang="en-US" sz="750" dirty="0"/>
          </a:p>
        </p:txBody>
      </p:sp>
      <p:sp>
        <p:nvSpPr>
          <p:cNvPr id="174" name="Text 172"/>
          <p:cNvSpPr/>
          <p:nvPr/>
        </p:nvSpPr>
        <p:spPr>
          <a:xfrm>
            <a:off x="8604504" y="53046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#3B3B3B  ·  Border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8275320" y="5547360"/>
            <a:ext cx="3703320" cy="477012"/>
          </a:xfrm>
          <a:prstGeom prst="rect">
            <a:avLst/>
          </a:prstGeom>
          <a:solidFill>
            <a:srgbClr val="1F1F1F"/>
          </a:solidFill>
          <a:ln w="12700">
            <a:solidFill>
              <a:srgbClr val="32313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6" name="Shape 174"/>
          <p:cNvSpPr/>
          <p:nvPr/>
        </p:nvSpPr>
        <p:spPr>
          <a:xfrm>
            <a:off x="8275320" y="5565648"/>
            <a:ext cx="256032" cy="440436"/>
          </a:xfrm>
          <a:prstGeom prst="rect">
            <a:avLst/>
          </a:prstGeom>
          <a:solidFill>
            <a:srgbClr val="2899F5"/>
          </a:solidFill>
          <a:ln w="12700">
            <a:solidFill>
              <a:srgbClr val="2899F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7" name="Text 175"/>
          <p:cNvSpPr/>
          <p:nvPr/>
        </p:nvSpPr>
        <p:spPr>
          <a:xfrm>
            <a:off x="8604504" y="5574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/ acciones</a:t>
            </a:r>
            <a:endParaRPr lang="en-US" sz="750" dirty="0"/>
          </a:p>
        </p:txBody>
      </p:sp>
      <p:sp>
        <p:nvSpPr>
          <p:cNvPr id="178" name="Text 176"/>
          <p:cNvSpPr/>
          <p:nvPr/>
        </p:nvSpPr>
        <p:spPr>
          <a:xfrm>
            <a:off x="8604504" y="5799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#2899F5  ·  Blue 40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8275320" y="6042660"/>
            <a:ext cx="3703320" cy="477012"/>
          </a:xfrm>
          <a:prstGeom prst="rect">
            <a:avLst/>
          </a:prstGeom>
          <a:solidFill>
            <a:srgbClr val="252525"/>
          </a:solidFill>
          <a:ln w="12700">
            <a:solidFill>
              <a:srgbClr val="32313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0" name="Shape 178"/>
          <p:cNvSpPr/>
          <p:nvPr/>
        </p:nvSpPr>
        <p:spPr>
          <a:xfrm>
            <a:off x="8275320" y="6060948"/>
            <a:ext cx="256032" cy="440436"/>
          </a:xfrm>
          <a:prstGeom prst="rect">
            <a:avLst/>
          </a:prstGeom>
          <a:solidFill>
            <a:srgbClr val="A19F9D"/>
          </a:solidFill>
          <a:ln w="12700">
            <a:solidFill>
              <a:srgbClr val="A19F9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1" name="Text 179"/>
          <p:cNvSpPr/>
          <p:nvPr/>
        </p:nvSpPr>
        <p:spPr>
          <a:xfrm>
            <a:off x="8604504" y="6070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</a:t>
            </a:r>
            <a:endParaRPr lang="en-US" sz="750" dirty="0"/>
          </a:p>
        </p:txBody>
      </p:sp>
      <p:sp>
        <p:nvSpPr>
          <p:cNvPr id="182" name="Text 180"/>
          <p:cNvSpPr/>
          <p:nvPr/>
        </p:nvSpPr>
        <p:spPr>
          <a:xfrm>
            <a:off x="8604504" y="6295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#A19F9D  ·  Gray 40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8275320" y="6574536"/>
            <a:ext cx="3703320" cy="256032"/>
          </a:xfrm>
          <a:prstGeom prst="rect">
            <a:avLst/>
          </a:prstGeom>
          <a:solidFill>
            <a:srgbClr val="1F1F1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4" name="Text 182"/>
          <p:cNvSpPr/>
          <p:nvPr/>
        </p:nvSpPr>
        <p:spPr>
          <a:xfrm>
            <a:off x="8366760" y="661111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Communication Blue #0078D4 = color maestro Fluent. Accesible AA+.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6" name="Text 184"/>
          <p:cNvSpPr/>
          <p:nvPr/>
        </p:nvSpPr>
        <p:spPr>
          <a:xfrm>
            <a:off x="274320" y="6793992"/>
            <a:ext cx="914400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 ·  PALETA OFICIAL  ·  fluent2.microsoft.com · Microsoft Brand · Brandfetch</a:t>
            </a:r>
            <a:endParaRPr lang="en-US" sz="550" dirty="0"/>
          </a:p>
        </p:txBody>
      </p:sp>
      <p:sp>
        <p:nvSpPr>
          <p:cNvPr id="187" name="Text 185"/>
          <p:cNvSpPr/>
          <p:nvPr/>
        </p:nvSpPr>
        <p:spPr>
          <a:xfrm>
            <a:off x="0" y="6793992"/>
            <a:ext cx="119786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COLORES  ·  4 SISTEMAS  ·  1 LÁMINA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SAP Fiori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A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354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COLORES OFICIAL  ·  Enterprise UX · Horizon Theme · Human-Centered Design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4320" y="795528"/>
            <a:ext cx="7818120" cy="18288"/>
          </a:xfrm>
          <a:prstGeom prst="rect">
            <a:avLst/>
          </a:prstGeom>
          <a:solidFill>
            <a:srgbClr val="2C3640"/>
          </a:solidFill>
          <a:ln w="12700">
            <a:solidFill>
              <a:srgbClr val="2C36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8183880" y="73152"/>
            <a:ext cx="18288" cy="6720840"/>
          </a:xfrm>
          <a:prstGeom prst="rect">
            <a:avLst/>
          </a:prstGeom>
          <a:solidFill>
            <a:srgbClr val="2C3640"/>
          </a:solidFill>
          <a:ln w="12700">
            <a:solidFill>
              <a:srgbClr val="2C36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7818120" cy="201168"/>
          </a:xfrm>
          <a:prstGeom prst="rect">
            <a:avLst/>
          </a:prstGeom>
          <a:solidFill>
            <a:srgbClr val="1A2228"/>
          </a:solidFill>
          <a:ln w="12700">
            <a:solidFill>
              <a:srgbClr val="2C36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>
            <a:off x="274320" y="841248"/>
            <a:ext cx="36576" cy="201168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65760" y="8412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7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PRINCIPAL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" y="84124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54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experience.sap.com · SAP Brand Portal · Horizon Theme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74320" y="1042416"/>
            <a:ext cx="2563368" cy="761101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338328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#0070F2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03517"/>
            <a:ext cx="2563368" cy="466481"/>
          </a:xfrm>
          <a:prstGeom prst="rect">
            <a:avLst/>
          </a:prstGeom>
          <a:solidFill>
            <a:srgbClr val="232B33"/>
          </a:solidFill>
          <a:ln w="12700">
            <a:solidFill>
              <a:srgbClr val="35404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338328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Blue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8328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5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112, 242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38328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9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primario · Acciones · CTA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901696" y="1042416"/>
            <a:ext cx="2563368" cy="761101"/>
          </a:xfrm>
          <a:prstGeom prst="rect">
            <a:avLst/>
          </a:prstGeom>
          <a:solidFill>
            <a:srgbClr val="1C2228"/>
          </a:solidFill>
          <a:ln w="12700">
            <a:solidFill>
              <a:srgbClr val="1C22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2965704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#1C2228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01696" y="1803517"/>
            <a:ext cx="2563368" cy="466481"/>
          </a:xfrm>
          <a:prstGeom prst="rect">
            <a:avLst/>
          </a:prstGeom>
          <a:solidFill>
            <a:srgbClr val="232B33"/>
          </a:solidFill>
          <a:ln w="12700">
            <a:solidFill>
              <a:srgbClr val="35404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2965704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Dark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965704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5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28, 34, 40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965704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9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· Fondo base dark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529072" y="1042416"/>
            <a:ext cx="2563368" cy="7611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5593080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29072" y="1803517"/>
            <a:ext cx="2563368" cy="466481"/>
          </a:xfrm>
          <a:prstGeom prst="rect">
            <a:avLst/>
          </a:prstGeom>
          <a:solidFill>
            <a:srgbClr val="232B33"/>
          </a:solidFill>
          <a:ln w="12700">
            <a:solidFill>
              <a:srgbClr val="35404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Text 25"/>
          <p:cNvSpPr/>
          <p:nvPr/>
        </p:nvSpPr>
        <p:spPr>
          <a:xfrm>
            <a:off x="5593080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593080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5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255, 255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593080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9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· Texto · Fondos claros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74320" y="2334006"/>
            <a:ext cx="7818120" cy="201168"/>
          </a:xfrm>
          <a:prstGeom prst="rect">
            <a:avLst/>
          </a:prstGeom>
          <a:solidFill>
            <a:srgbClr val="1A2228"/>
          </a:solidFill>
          <a:ln w="12700">
            <a:solidFill>
              <a:srgbClr val="2C36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Shape 29"/>
          <p:cNvSpPr/>
          <p:nvPr/>
        </p:nvSpPr>
        <p:spPr>
          <a:xfrm>
            <a:off x="274320" y="2334006"/>
            <a:ext cx="36576" cy="201168"/>
          </a:xfrm>
          <a:prstGeom prst="rect">
            <a:avLst/>
          </a:prstGeom>
          <a:solidFill>
            <a:srgbClr val="5CADFF"/>
          </a:solidFill>
          <a:ln w="12700">
            <a:solidFill>
              <a:srgbClr val="5CAD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365760" y="233400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5CA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 — SAP HORIZON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" y="2334006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54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SAP Fiori Horizon Token System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74320" y="2535174"/>
            <a:ext cx="1512418" cy="761101"/>
          </a:xfrm>
          <a:prstGeom prst="rect">
            <a:avLst/>
          </a:prstGeom>
          <a:solidFill>
            <a:srgbClr val="0A3B76"/>
          </a:solidFill>
          <a:ln w="12700">
            <a:solidFill>
              <a:srgbClr val="0A3B7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Text 33"/>
          <p:cNvSpPr/>
          <p:nvPr/>
        </p:nvSpPr>
        <p:spPr>
          <a:xfrm>
            <a:off x="338328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#0A3B76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296275"/>
            <a:ext cx="1512418" cy="466481"/>
          </a:xfrm>
          <a:prstGeom prst="rect">
            <a:avLst/>
          </a:prstGeom>
          <a:solidFill>
            <a:srgbClr val="232B33"/>
          </a:solidFill>
          <a:ln w="12700">
            <a:solidFill>
              <a:srgbClr val="35404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/>
          <p:nvPr/>
        </p:nvSpPr>
        <p:spPr>
          <a:xfrm>
            <a:off x="338328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800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8328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5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10, 59, 118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38328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9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oscuro · Profundidad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850746" y="2535174"/>
            <a:ext cx="1512418" cy="761101"/>
          </a:xfrm>
          <a:prstGeom prst="rect">
            <a:avLst/>
          </a:prstGeom>
          <a:solidFill>
            <a:srgbClr val="0057C2"/>
          </a:solidFill>
          <a:ln w="12700">
            <a:solidFill>
              <a:srgbClr val="0057C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1" name="Text 39"/>
          <p:cNvSpPr/>
          <p:nvPr/>
        </p:nvSpPr>
        <p:spPr>
          <a:xfrm>
            <a:off x="1914754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#0057C2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50746" y="3296275"/>
            <a:ext cx="1512418" cy="466481"/>
          </a:xfrm>
          <a:prstGeom prst="rect">
            <a:avLst/>
          </a:prstGeom>
          <a:solidFill>
            <a:srgbClr val="232B33"/>
          </a:solidFill>
          <a:ln w="12700">
            <a:solidFill>
              <a:srgbClr val="35404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3" name="Text 41"/>
          <p:cNvSpPr/>
          <p:nvPr/>
        </p:nvSpPr>
        <p:spPr>
          <a:xfrm>
            <a:off x="1914754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700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914754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5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87, 194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914754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9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Botones hover · Activos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427171" y="2535174"/>
            <a:ext cx="1512418" cy="761101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7" name="Text 45"/>
          <p:cNvSpPr/>
          <p:nvPr/>
        </p:nvSpPr>
        <p:spPr>
          <a:xfrm>
            <a:off x="3491179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#0070F2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27171" y="3296275"/>
            <a:ext cx="1512418" cy="466481"/>
          </a:xfrm>
          <a:prstGeom prst="rect">
            <a:avLst/>
          </a:prstGeom>
          <a:solidFill>
            <a:srgbClr val="232B33"/>
          </a:solidFill>
          <a:ln w="12700">
            <a:solidFill>
              <a:srgbClr val="35404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9" name="Text 47"/>
          <p:cNvSpPr/>
          <p:nvPr/>
        </p:nvSpPr>
        <p:spPr>
          <a:xfrm>
            <a:off x="3491179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600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491179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5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112, 242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491179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9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 primaria principal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5003597" y="2535174"/>
            <a:ext cx="1512418" cy="761101"/>
          </a:xfrm>
          <a:prstGeom prst="rect">
            <a:avLst/>
          </a:prstGeom>
          <a:solidFill>
            <a:srgbClr val="0E8AFF"/>
          </a:solidFill>
          <a:ln w="12700">
            <a:solidFill>
              <a:srgbClr val="0E8A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3" name="Text 51"/>
          <p:cNvSpPr/>
          <p:nvPr/>
        </p:nvSpPr>
        <p:spPr>
          <a:xfrm>
            <a:off x="5067605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#0E8AFF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003597" y="3296275"/>
            <a:ext cx="1512418" cy="466481"/>
          </a:xfrm>
          <a:prstGeom prst="rect">
            <a:avLst/>
          </a:prstGeom>
          <a:solidFill>
            <a:srgbClr val="232B33"/>
          </a:solidFill>
          <a:ln w="12700">
            <a:solidFill>
              <a:srgbClr val="35404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5" name="Text 53"/>
          <p:cNvSpPr/>
          <p:nvPr/>
        </p:nvSpPr>
        <p:spPr>
          <a:xfrm>
            <a:off x="5067605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500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067605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5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14, 138, 255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067605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9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· Highlight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6580022" y="2535174"/>
            <a:ext cx="1512418" cy="761101"/>
          </a:xfrm>
          <a:prstGeom prst="rect">
            <a:avLst/>
          </a:prstGeom>
          <a:solidFill>
            <a:srgbClr val="5CADFF"/>
          </a:solidFill>
          <a:ln w="12700">
            <a:solidFill>
              <a:srgbClr val="5CAD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9" name="Text 57"/>
          <p:cNvSpPr/>
          <p:nvPr/>
        </p:nvSpPr>
        <p:spPr>
          <a:xfrm>
            <a:off x="6644030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#5CADFF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580022" y="3296275"/>
            <a:ext cx="1512418" cy="466481"/>
          </a:xfrm>
          <a:prstGeom prst="rect">
            <a:avLst/>
          </a:prstGeom>
          <a:solidFill>
            <a:srgbClr val="232B33"/>
          </a:solidFill>
          <a:ln w="12700">
            <a:solidFill>
              <a:srgbClr val="35404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1" name="Text 59"/>
          <p:cNvSpPr/>
          <p:nvPr/>
        </p:nvSpPr>
        <p:spPr>
          <a:xfrm>
            <a:off x="6644030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300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644030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5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92, 173, 255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644030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9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· Labels info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274320" y="3826764"/>
            <a:ext cx="7818120" cy="201168"/>
          </a:xfrm>
          <a:prstGeom prst="rect">
            <a:avLst/>
          </a:prstGeom>
          <a:solidFill>
            <a:srgbClr val="1A2228"/>
          </a:solidFill>
          <a:ln w="12700">
            <a:solidFill>
              <a:srgbClr val="2C36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5" name="Shape 63"/>
          <p:cNvSpPr/>
          <p:nvPr/>
        </p:nvSpPr>
        <p:spPr>
          <a:xfrm>
            <a:off x="274320" y="3826764"/>
            <a:ext cx="36576" cy="201168"/>
          </a:xfrm>
          <a:prstGeom prst="rect">
            <a:avLst/>
          </a:prstGeom>
          <a:solidFill>
            <a:srgbClr val="89919A"/>
          </a:solidFill>
          <a:ln w="12700">
            <a:solidFill>
              <a:srgbClr val="89919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6" name="Text 64"/>
          <p:cNvSpPr/>
          <p:nvPr/>
        </p:nvSpPr>
        <p:spPr>
          <a:xfrm>
            <a:off x="365760" y="38267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89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NEUTROS — FIORI GRAY SCALE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74320" y="382676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54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SAP Fiori Neutral Tokens · Shell Colors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274320" y="4027932"/>
            <a:ext cx="1512418" cy="761101"/>
          </a:xfrm>
          <a:prstGeom prst="rect">
            <a:avLst/>
          </a:prstGeom>
          <a:solidFill>
            <a:srgbClr val="1C2228"/>
          </a:solidFill>
          <a:ln w="12700">
            <a:solidFill>
              <a:srgbClr val="1C22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9" name="Text 67"/>
          <p:cNvSpPr/>
          <p:nvPr/>
        </p:nvSpPr>
        <p:spPr>
          <a:xfrm>
            <a:off x="338328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#1C2228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" y="4789033"/>
            <a:ext cx="1512418" cy="466481"/>
          </a:xfrm>
          <a:prstGeom prst="rect">
            <a:avLst/>
          </a:prstGeom>
          <a:solidFill>
            <a:srgbClr val="232B33"/>
          </a:solidFill>
          <a:ln w="12700">
            <a:solidFill>
              <a:srgbClr val="35404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1" name="Text 69"/>
          <p:cNvSpPr/>
          <p:nvPr/>
        </p:nvSpPr>
        <p:spPr>
          <a:xfrm>
            <a:off x="338328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900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38328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5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28, 34, 40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338328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9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Shell dark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1850746" y="4027932"/>
            <a:ext cx="1512418" cy="761101"/>
          </a:xfrm>
          <a:prstGeom prst="rect">
            <a:avLst/>
          </a:prstGeom>
          <a:solidFill>
            <a:srgbClr val="2C3640"/>
          </a:solidFill>
          <a:ln w="12700">
            <a:solidFill>
              <a:srgbClr val="2C36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5" name="Text 73"/>
          <p:cNvSpPr/>
          <p:nvPr/>
        </p:nvSpPr>
        <p:spPr>
          <a:xfrm>
            <a:off x="1914754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#2C3640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850746" y="4789033"/>
            <a:ext cx="1512418" cy="466481"/>
          </a:xfrm>
          <a:prstGeom prst="rect">
            <a:avLst/>
          </a:prstGeom>
          <a:solidFill>
            <a:srgbClr val="232B33"/>
          </a:solidFill>
          <a:ln w="12700">
            <a:solidFill>
              <a:srgbClr val="35404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7" name="Text 75"/>
          <p:cNvSpPr/>
          <p:nvPr/>
        </p:nvSpPr>
        <p:spPr>
          <a:xfrm>
            <a:off x="1914754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800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914754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5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44, 54, 64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1914754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9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· Contenedores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3427171" y="4027932"/>
            <a:ext cx="1512418" cy="761101"/>
          </a:xfrm>
          <a:prstGeom prst="rect">
            <a:avLst/>
          </a:prstGeom>
          <a:solidFill>
            <a:srgbClr val="475E75"/>
          </a:solidFill>
          <a:ln w="12700">
            <a:solidFill>
              <a:srgbClr val="475E7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1" name="Text 79"/>
          <p:cNvSpPr/>
          <p:nvPr/>
        </p:nvSpPr>
        <p:spPr>
          <a:xfrm>
            <a:off x="3491179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#475E75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427171" y="4789033"/>
            <a:ext cx="1512418" cy="466481"/>
          </a:xfrm>
          <a:prstGeom prst="rect">
            <a:avLst/>
          </a:prstGeom>
          <a:solidFill>
            <a:srgbClr val="232B33"/>
          </a:solidFill>
          <a:ln w="12700">
            <a:solidFill>
              <a:srgbClr val="35404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3" name="Text 81"/>
          <p:cNvSpPr/>
          <p:nvPr/>
        </p:nvSpPr>
        <p:spPr>
          <a:xfrm>
            <a:off x="3491179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600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3491179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5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71, 94, 117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3491179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9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deshabilitado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5003597" y="4027932"/>
            <a:ext cx="1512418" cy="761101"/>
          </a:xfrm>
          <a:prstGeom prst="rect">
            <a:avLst/>
          </a:prstGeom>
          <a:solidFill>
            <a:srgbClr val="89919A"/>
          </a:solidFill>
          <a:ln w="12700">
            <a:solidFill>
              <a:srgbClr val="89919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7" name="Text 85"/>
          <p:cNvSpPr/>
          <p:nvPr/>
        </p:nvSpPr>
        <p:spPr>
          <a:xfrm>
            <a:off x="5067605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#89919A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003597" y="4789033"/>
            <a:ext cx="1512418" cy="466481"/>
          </a:xfrm>
          <a:prstGeom prst="rect">
            <a:avLst/>
          </a:prstGeom>
          <a:solidFill>
            <a:srgbClr val="232B33"/>
          </a:solidFill>
          <a:ln w="12700">
            <a:solidFill>
              <a:srgbClr val="35404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9" name="Text 87"/>
          <p:cNvSpPr/>
          <p:nvPr/>
        </p:nvSpPr>
        <p:spPr>
          <a:xfrm>
            <a:off x="5067605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400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067605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5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137, 145, 154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5067605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9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· Secundario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6580022" y="4027932"/>
            <a:ext cx="1512418" cy="761101"/>
          </a:xfrm>
          <a:prstGeom prst="rect">
            <a:avLst/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3" name="Text 91"/>
          <p:cNvSpPr/>
          <p:nvPr/>
        </p:nvSpPr>
        <p:spPr>
          <a:xfrm>
            <a:off x="6644030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#F5F6F7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580022" y="4789033"/>
            <a:ext cx="1512418" cy="466481"/>
          </a:xfrm>
          <a:prstGeom prst="rect">
            <a:avLst/>
          </a:prstGeom>
          <a:solidFill>
            <a:srgbClr val="232B33"/>
          </a:solidFill>
          <a:ln w="12700">
            <a:solidFill>
              <a:srgbClr val="35404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5" name="Text 93"/>
          <p:cNvSpPr/>
          <p:nvPr/>
        </p:nvSpPr>
        <p:spPr>
          <a:xfrm>
            <a:off x="6644030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50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6644030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5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245, 246, 247</a:t>
            </a:r>
            <a:endParaRPr lang="en-US" sz="600" dirty="0"/>
          </a:p>
        </p:txBody>
      </p:sp>
      <p:sp>
        <p:nvSpPr>
          <p:cNvPr id="97" name="Text 95"/>
          <p:cNvSpPr/>
          <p:nvPr/>
        </p:nvSpPr>
        <p:spPr>
          <a:xfrm>
            <a:off x="6644030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9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light theme base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274320" y="5319522"/>
            <a:ext cx="7818120" cy="201168"/>
          </a:xfrm>
          <a:prstGeom prst="rect">
            <a:avLst/>
          </a:prstGeom>
          <a:solidFill>
            <a:srgbClr val="1A2228"/>
          </a:solidFill>
          <a:ln w="12700">
            <a:solidFill>
              <a:srgbClr val="2C36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9" name="Shape 97"/>
          <p:cNvSpPr/>
          <p:nvPr/>
        </p:nvSpPr>
        <p:spPr>
          <a:xfrm>
            <a:off x="274320" y="5319522"/>
            <a:ext cx="36576" cy="201168"/>
          </a:xfrm>
          <a:prstGeom prst="rect">
            <a:avLst/>
          </a:prstGeom>
          <a:solidFill>
            <a:srgbClr val="30914C"/>
          </a:solidFill>
          <a:ln w="12700">
            <a:solidFill>
              <a:srgbClr val="30914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0" name="Text 98"/>
          <p:cNvSpPr/>
          <p:nvPr/>
        </p:nvSpPr>
        <p:spPr>
          <a:xfrm>
            <a:off x="365760" y="531952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3091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SEMÁNTICOS — STATUS COLORS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274320" y="5319522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54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SAP Fiori Status · Notifications System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274320" y="5520690"/>
            <a:ext cx="1512418" cy="761101"/>
          </a:xfrm>
          <a:prstGeom prst="rect">
            <a:avLst/>
          </a:prstGeom>
          <a:solidFill>
            <a:srgbClr val="30914C"/>
          </a:solidFill>
          <a:ln w="12700">
            <a:solidFill>
              <a:srgbClr val="30914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3" name="Text 101"/>
          <p:cNvSpPr/>
          <p:nvPr/>
        </p:nvSpPr>
        <p:spPr>
          <a:xfrm>
            <a:off x="338328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#30914C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274320" y="6281791"/>
            <a:ext cx="1512418" cy="466481"/>
          </a:xfrm>
          <a:prstGeom prst="rect">
            <a:avLst/>
          </a:prstGeom>
          <a:solidFill>
            <a:srgbClr val="232B33"/>
          </a:solidFill>
          <a:ln w="12700">
            <a:solidFill>
              <a:srgbClr val="35404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5" name="Text 103"/>
          <p:cNvSpPr/>
          <p:nvPr/>
        </p:nvSpPr>
        <p:spPr>
          <a:xfrm>
            <a:off x="338328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Success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338328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5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48, 145, 76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338328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9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Éxito · Positivo · Completado</a:t>
            </a:r>
            <a:endParaRPr lang="en-US" sz="600" dirty="0"/>
          </a:p>
        </p:txBody>
      </p:sp>
      <p:sp>
        <p:nvSpPr>
          <p:cNvPr id="108" name="Shape 106"/>
          <p:cNvSpPr/>
          <p:nvPr/>
        </p:nvSpPr>
        <p:spPr>
          <a:xfrm>
            <a:off x="1850746" y="5520690"/>
            <a:ext cx="1512418" cy="761101"/>
          </a:xfrm>
          <a:prstGeom prst="rect">
            <a:avLst/>
          </a:prstGeom>
          <a:solidFill>
            <a:srgbClr val="EB3A00"/>
          </a:solidFill>
          <a:ln w="12700">
            <a:solidFill>
              <a:srgbClr val="EB3A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9" name="Text 107"/>
          <p:cNvSpPr/>
          <p:nvPr/>
        </p:nvSpPr>
        <p:spPr>
          <a:xfrm>
            <a:off x="1914754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#EB3A00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1850746" y="6281791"/>
            <a:ext cx="1512418" cy="466481"/>
          </a:xfrm>
          <a:prstGeom prst="rect">
            <a:avLst/>
          </a:prstGeom>
          <a:solidFill>
            <a:srgbClr val="232B33"/>
          </a:solidFill>
          <a:ln w="12700">
            <a:solidFill>
              <a:srgbClr val="35404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1" name="Text 109"/>
          <p:cNvSpPr/>
          <p:nvPr/>
        </p:nvSpPr>
        <p:spPr>
          <a:xfrm>
            <a:off x="1914754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Error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1914754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5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235, 58, 0</a:t>
            </a:r>
            <a:endParaRPr lang="en-US" sz="600" dirty="0"/>
          </a:p>
        </p:txBody>
      </p:sp>
      <p:sp>
        <p:nvSpPr>
          <p:cNvPr id="113" name="Text 111"/>
          <p:cNvSpPr/>
          <p:nvPr/>
        </p:nvSpPr>
        <p:spPr>
          <a:xfrm>
            <a:off x="1914754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9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crítico · Alerta SAP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3427171" y="5520690"/>
            <a:ext cx="1512418" cy="761101"/>
          </a:xfrm>
          <a:prstGeom prst="rect">
            <a:avLst/>
          </a:prstGeom>
          <a:solidFill>
            <a:srgbClr val="E9730C"/>
          </a:solidFill>
          <a:ln w="12700">
            <a:solidFill>
              <a:srgbClr val="E9730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5" name="Text 113"/>
          <p:cNvSpPr/>
          <p:nvPr/>
        </p:nvSpPr>
        <p:spPr>
          <a:xfrm>
            <a:off x="3491179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#E9730C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3427171" y="6281791"/>
            <a:ext cx="1512418" cy="466481"/>
          </a:xfrm>
          <a:prstGeom prst="rect">
            <a:avLst/>
          </a:prstGeom>
          <a:solidFill>
            <a:srgbClr val="232B33"/>
          </a:solidFill>
          <a:ln w="12700">
            <a:solidFill>
              <a:srgbClr val="35404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7" name="Text 115"/>
          <p:cNvSpPr/>
          <p:nvPr/>
        </p:nvSpPr>
        <p:spPr>
          <a:xfrm>
            <a:off x="3491179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Warn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3491179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5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233, 115, 12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3491179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9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· Atención requerida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5003597" y="5520690"/>
            <a:ext cx="1512418" cy="761101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1" name="Text 119"/>
          <p:cNvSpPr/>
          <p:nvPr/>
        </p:nvSpPr>
        <p:spPr>
          <a:xfrm>
            <a:off x="5067605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#0070F2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5003597" y="6281791"/>
            <a:ext cx="1512418" cy="466481"/>
          </a:xfrm>
          <a:prstGeom prst="rect">
            <a:avLst/>
          </a:prstGeom>
          <a:solidFill>
            <a:srgbClr val="232B33"/>
          </a:solidFill>
          <a:ln w="12700">
            <a:solidFill>
              <a:srgbClr val="35404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3" name="Text 121"/>
          <p:cNvSpPr/>
          <p:nvPr/>
        </p:nvSpPr>
        <p:spPr>
          <a:xfrm>
            <a:off x="5067605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Info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5067605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5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112, 242</a:t>
            </a:r>
            <a:endParaRPr lang="en-US" sz="600" dirty="0"/>
          </a:p>
        </p:txBody>
      </p:sp>
      <p:sp>
        <p:nvSpPr>
          <p:cNvPr id="125" name="Text 123"/>
          <p:cNvSpPr/>
          <p:nvPr/>
        </p:nvSpPr>
        <p:spPr>
          <a:xfrm>
            <a:off x="5067605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9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· Estado neutro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6580022" y="5520690"/>
            <a:ext cx="1512418" cy="761101"/>
          </a:xfrm>
          <a:prstGeom prst="rect">
            <a:avLst/>
          </a:prstGeom>
          <a:solidFill>
            <a:srgbClr val="C2C8CD"/>
          </a:solidFill>
          <a:ln w="12700">
            <a:solidFill>
              <a:srgbClr val="C2C8C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7" name="Text 125"/>
          <p:cNvSpPr/>
          <p:nvPr/>
        </p:nvSpPr>
        <p:spPr>
          <a:xfrm>
            <a:off x="6644030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#C2C8CD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6580022" y="6281791"/>
            <a:ext cx="1512418" cy="466481"/>
          </a:xfrm>
          <a:prstGeom prst="rect">
            <a:avLst/>
          </a:prstGeom>
          <a:solidFill>
            <a:srgbClr val="232B33"/>
          </a:solidFill>
          <a:ln w="12700">
            <a:solidFill>
              <a:srgbClr val="35404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9" name="Text 127"/>
          <p:cNvSpPr/>
          <p:nvPr/>
        </p:nvSpPr>
        <p:spPr>
          <a:xfrm>
            <a:off x="6644030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Neutral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6644030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540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194, 200, 205</a:t>
            </a:r>
            <a:endParaRPr lang="en-US" sz="600" dirty="0"/>
          </a:p>
        </p:txBody>
      </p:sp>
      <p:sp>
        <p:nvSpPr>
          <p:cNvPr id="131" name="Text 129"/>
          <p:cNvSpPr/>
          <p:nvPr/>
        </p:nvSpPr>
        <p:spPr>
          <a:xfrm>
            <a:off x="6644030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9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deshabilitado · Neutro</a:t>
            </a:r>
            <a:endParaRPr lang="en-US" sz="600" dirty="0"/>
          </a:p>
        </p:txBody>
      </p:sp>
      <p:sp>
        <p:nvSpPr>
          <p:cNvPr id="132" name="Text 130"/>
          <p:cNvSpPr/>
          <p:nvPr/>
        </p:nvSpPr>
        <p:spPr>
          <a:xfrm>
            <a:off x="8275320" y="914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CONFIGURACIÓN MAESTRA</a:t>
            </a:r>
            <a:endParaRPr lang="en-US" sz="1200" dirty="0"/>
          </a:p>
        </p:txBody>
      </p:sp>
      <p:sp>
        <p:nvSpPr>
          <p:cNvPr id="133" name="Text 131"/>
          <p:cNvSpPr/>
          <p:nvPr/>
        </p:nvSpPr>
        <p:spPr>
          <a:xfrm>
            <a:off x="8275320" y="34747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54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por función · Empresa Constructora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8275320" y="530352"/>
            <a:ext cx="3703320" cy="18288"/>
          </a:xfrm>
          <a:prstGeom prst="rect">
            <a:avLst/>
          </a:prstGeom>
          <a:solidFill>
            <a:srgbClr val="2C3640"/>
          </a:solidFill>
          <a:ln w="12700">
            <a:solidFill>
              <a:srgbClr val="2C36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5" name="Shape 133"/>
          <p:cNvSpPr/>
          <p:nvPr/>
        </p:nvSpPr>
        <p:spPr>
          <a:xfrm>
            <a:off x="8275320" y="594360"/>
            <a:ext cx="3703320" cy="477012"/>
          </a:xfrm>
          <a:prstGeom prst="rect">
            <a:avLst/>
          </a:prstGeom>
          <a:solidFill>
            <a:srgbClr val="1A2228"/>
          </a:solidFill>
          <a:ln w="12700">
            <a:solidFill>
              <a:srgbClr val="2C36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6" name="Shape 134"/>
          <p:cNvSpPr/>
          <p:nvPr/>
        </p:nvSpPr>
        <p:spPr>
          <a:xfrm>
            <a:off x="8275320" y="612648"/>
            <a:ext cx="256032" cy="440436"/>
          </a:xfrm>
          <a:prstGeom prst="rect">
            <a:avLst/>
          </a:prstGeom>
          <a:solidFill>
            <a:srgbClr val="1C2228"/>
          </a:solidFill>
          <a:ln w="12700">
            <a:solidFill>
              <a:srgbClr val="1C22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7" name="Text 135"/>
          <p:cNvSpPr/>
          <p:nvPr/>
        </p:nvSpPr>
        <p:spPr>
          <a:xfrm>
            <a:off x="8604504" y="621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portada / dark</a:t>
            </a:r>
            <a:endParaRPr lang="en-US" sz="750" dirty="0"/>
          </a:p>
        </p:txBody>
      </p:sp>
      <p:sp>
        <p:nvSpPr>
          <p:cNvPr id="138" name="Text 136"/>
          <p:cNvSpPr/>
          <p:nvPr/>
        </p:nvSpPr>
        <p:spPr>
          <a:xfrm>
            <a:off x="8604504" y="846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#1C2228  ·  Shell Dark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8275320" y="1089660"/>
            <a:ext cx="3703320" cy="477012"/>
          </a:xfrm>
          <a:prstGeom prst="rect">
            <a:avLst/>
          </a:prstGeom>
          <a:solidFill>
            <a:srgbClr val="232B33"/>
          </a:solidFill>
          <a:ln w="12700">
            <a:solidFill>
              <a:srgbClr val="2C36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0" name="Shape 138"/>
          <p:cNvSpPr/>
          <p:nvPr/>
        </p:nvSpPr>
        <p:spPr>
          <a:xfrm>
            <a:off x="8275320" y="1107948"/>
            <a:ext cx="256032" cy="440436"/>
          </a:xfrm>
          <a:prstGeom prst="rect">
            <a:avLst/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1" name="Text 139"/>
          <p:cNvSpPr/>
          <p:nvPr/>
        </p:nvSpPr>
        <p:spPr>
          <a:xfrm>
            <a:off x="8604504" y="1117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contenido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8604504" y="1342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#F5F6F7  ·  Gray 50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8275320" y="1584960"/>
            <a:ext cx="3703320" cy="477012"/>
          </a:xfrm>
          <a:prstGeom prst="rect">
            <a:avLst/>
          </a:prstGeom>
          <a:solidFill>
            <a:srgbClr val="1A2228"/>
          </a:solidFill>
          <a:ln w="12700">
            <a:solidFill>
              <a:srgbClr val="2C36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4" name="Shape 142"/>
          <p:cNvSpPr/>
          <p:nvPr/>
        </p:nvSpPr>
        <p:spPr>
          <a:xfrm>
            <a:off x="8275320" y="1603248"/>
            <a:ext cx="256032" cy="440436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5" name="Text 143"/>
          <p:cNvSpPr/>
          <p:nvPr/>
        </p:nvSpPr>
        <p:spPr>
          <a:xfrm>
            <a:off x="8604504" y="16123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primario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8604504" y="18375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#0070F2  ·  Horizon Blue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8275320" y="2080260"/>
            <a:ext cx="3703320" cy="477012"/>
          </a:xfrm>
          <a:prstGeom prst="rect">
            <a:avLst/>
          </a:prstGeom>
          <a:solidFill>
            <a:srgbClr val="232B33"/>
          </a:solidFill>
          <a:ln w="12700">
            <a:solidFill>
              <a:srgbClr val="2C36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8" name="Shape 146"/>
          <p:cNvSpPr/>
          <p:nvPr/>
        </p:nvSpPr>
        <p:spPr>
          <a:xfrm>
            <a:off x="8275320" y="2098548"/>
            <a:ext cx="256032" cy="440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9" name="Text 147"/>
          <p:cNvSpPr/>
          <p:nvPr/>
        </p:nvSpPr>
        <p:spPr>
          <a:xfrm>
            <a:off x="8604504" y="21076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sobre oscuro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8604504" y="23328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  ·  White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8275320" y="2575560"/>
            <a:ext cx="3703320" cy="477012"/>
          </a:xfrm>
          <a:prstGeom prst="rect">
            <a:avLst/>
          </a:prstGeom>
          <a:solidFill>
            <a:srgbClr val="1A2228"/>
          </a:solidFill>
          <a:ln w="12700">
            <a:solidFill>
              <a:srgbClr val="2C36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2" name="Shape 150"/>
          <p:cNvSpPr/>
          <p:nvPr/>
        </p:nvSpPr>
        <p:spPr>
          <a:xfrm>
            <a:off x="8275320" y="2593848"/>
            <a:ext cx="256032" cy="440436"/>
          </a:xfrm>
          <a:prstGeom prst="rect">
            <a:avLst/>
          </a:prstGeom>
          <a:solidFill>
            <a:srgbClr val="1C2228"/>
          </a:solidFill>
          <a:ln w="12700">
            <a:solidFill>
              <a:srgbClr val="1C22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3" name="Text 151"/>
          <p:cNvSpPr/>
          <p:nvPr/>
        </p:nvSpPr>
        <p:spPr>
          <a:xfrm>
            <a:off x="8604504" y="26029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cuerpo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8604504" y="28281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#1C2228  ·  Shell Dark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8275320" y="3070860"/>
            <a:ext cx="3703320" cy="477012"/>
          </a:xfrm>
          <a:prstGeom prst="rect">
            <a:avLst/>
          </a:prstGeom>
          <a:solidFill>
            <a:srgbClr val="232B33"/>
          </a:solidFill>
          <a:ln w="12700">
            <a:solidFill>
              <a:srgbClr val="2C36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6" name="Shape 154"/>
          <p:cNvSpPr/>
          <p:nvPr/>
        </p:nvSpPr>
        <p:spPr>
          <a:xfrm>
            <a:off x="8275320" y="3089148"/>
            <a:ext cx="256032" cy="440436"/>
          </a:xfrm>
          <a:prstGeom prst="rect">
            <a:avLst/>
          </a:prstGeom>
          <a:solidFill>
            <a:srgbClr val="5CADFF"/>
          </a:solidFill>
          <a:ln w="12700">
            <a:solidFill>
              <a:srgbClr val="5CAD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7" name="Text 155"/>
          <p:cNvSpPr/>
          <p:nvPr/>
        </p:nvSpPr>
        <p:spPr>
          <a:xfrm>
            <a:off x="8604504" y="30982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/ Highlights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8604504" y="33234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#5CADFF  ·  Blue 300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8275320" y="3566160"/>
            <a:ext cx="3703320" cy="477012"/>
          </a:xfrm>
          <a:prstGeom prst="rect">
            <a:avLst/>
          </a:prstGeom>
          <a:solidFill>
            <a:srgbClr val="1A2228"/>
          </a:solidFill>
          <a:ln w="12700">
            <a:solidFill>
              <a:srgbClr val="2C36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0" name="Shape 158"/>
          <p:cNvSpPr/>
          <p:nvPr/>
        </p:nvSpPr>
        <p:spPr>
          <a:xfrm>
            <a:off x="8275320" y="3584448"/>
            <a:ext cx="256032" cy="440436"/>
          </a:xfrm>
          <a:prstGeom prst="rect">
            <a:avLst/>
          </a:prstGeom>
          <a:solidFill>
            <a:srgbClr val="30914C"/>
          </a:solidFill>
          <a:ln w="12700">
            <a:solidFill>
              <a:srgbClr val="30914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1" name="Text 159"/>
          <p:cNvSpPr/>
          <p:nvPr/>
        </p:nvSpPr>
        <p:spPr>
          <a:xfrm>
            <a:off x="8604504" y="35935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Positivo / éxito</a:t>
            </a:r>
            <a:endParaRPr lang="en-US" sz="750" dirty="0"/>
          </a:p>
        </p:txBody>
      </p:sp>
      <p:sp>
        <p:nvSpPr>
          <p:cNvPr id="162" name="Text 160"/>
          <p:cNvSpPr/>
          <p:nvPr/>
        </p:nvSpPr>
        <p:spPr>
          <a:xfrm>
            <a:off x="8604504" y="38187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#30914C  ·  Green Success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8275320" y="4061460"/>
            <a:ext cx="3703320" cy="477012"/>
          </a:xfrm>
          <a:prstGeom prst="rect">
            <a:avLst/>
          </a:prstGeom>
          <a:solidFill>
            <a:srgbClr val="232B33"/>
          </a:solidFill>
          <a:ln w="12700">
            <a:solidFill>
              <a:srgbClr val="2C36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4" name="Shape 162"/>
          <p:cNvSpPr/>
          <p:nvPr/>
        </p:nvSpPr>
        <p:spPr>
          <a:xfrm>
            <a:off x="8275320" y="4079748"/>
            <a:ext cx="256032" cy="440436"/>
          </a:xfrm>
          <a:prstGeom prst="rect">
            <a:avLst/>
          </a:prstGeom>
          <a:solidFill>
            <a:srgbClr val="EB3A00"/>
          </a:solidFill>
          <a:ln w="12700">
            <a:solidFill>
              <a:srgbClr val="EB3A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5" name="Text 163"/>
          <p:cNvSpPr/>
          <p:nvPr/>
        </p:nvSpPr>
        <p:spPr>
          <a:xfrm>
            <a:off x="8604504" y="40888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/ crítico</a:t>
            </a:r>
            <a:endParaRPr lang="en-US" sz="750" dirty="0"/>
          </a:p>
        </p:txBody>
      </p:sp>
      <p:sp>
        <p:nvSpPr>
          <p:cNvPr id="166" name="Text 164"/>
          <p:cNvSpPr/>
          <p:nvPr/>
        </p:nvSpPr>
        <p:spPr>
          <a:xfrm>
            <a:off x="8604504" y="43140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#EB3A00  ·  Red Error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8275320" y="4556760"/>
            <a:ext cx="3703320" cy="477012"/>
          </a:xfrm>
          <a:prstGeom prst="rect">
            <a:avLst/>
          </a:prstGeom>
          <a:solidFill>
            <a:srgbClr val="1A2228"/>
          </a:solidFill>
          <a:ln w="12700">
            <a:solidFill>
              <a:srgbClr val="2C36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8" name="Shape 166"/>
          <p:cNvSpPr/>
          <p:nvPr/>
        </p:nvSpPr>
        <p:spPr>
          <a:xfrm>
            <a:off x="8275320" y="4575048"/>
            <a:ext cx="256032" cy="440436"/>
          </a:xfrm>
          <a:prstGeom prst="rect">
            <a:avLst/>
          </a:prstGeom>
          <a:solidFill>
            <a:srgbClr val="E9730C"/>
          </a:solidFill>
          <a:ln w="12700">
            <a:solidFill>
              <a:srgbClr val="E9730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9" name="Text 167"/>
          <p:cNvSpPr/>
          <p:nvPr/>
        </p:nvSpPr>
        <p:spPr>
          <a:xfrm>
            <a:off x="8604504" y="45841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8604504" y="48093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#E9730C  ·  Orange Warn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8275320" y="5052060"/>
            <a:ext cx="3703320" cy="477012"/>
          </a:xfrm>
          <a:prstGeom prst="rect">
            <a:avLst/>
          </a:prstGeom>
          <a:solidFill>
            <a:srgbClr val="232B33"/>
          </a:solidFill>
          <a:ln w="12700">
            <a:solidFill>
              <a:srgbClr val="2C36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2" name="Shape 170"/>
          <p:cNvSpPr/>
          <p:nvPr/>
        </p:nvSpPr>
        <p:spPr>
          <a:xfrm>
            <a:off x="8275320" y="5070348"/>
            <a:ext cx="256032" cy="440436"/>
          </a:xfrm>
          <a:prstGeom prst="rect">
            <a:avLst/>
          </a:prstGeom>
          <a:solidFill>
            <a:srgbClr val="0E8AFF"/>
          </a:solidFill>
          <a:ln w="12700">
            <a:solidFill>
              <a:srgbClr val="0E8A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3" name="Text 171"/>
          <p:cNvSpPr/>
          <p:nvPr/>
        </p:nvSpPr>
        <p:spPr>
          <a:xfrm>
            <a:off x="8604504" y="50794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/ gráficas</a:t>
            </a:r>
            <a:endParaRPr lang="en-US" sz="750" dirty="0"/>
          </a:p>
        </p:txBody>
      </p:sp>
      <p:sp>
        <p:nvSpPr>
          <p:cNvPr id="174" name="Text 172"/>
          <p:cNvSpPr/>
          <p:nvPr/>
        </p:nvSpPr>
        <p:spPr>
          <a:xfrm>
            <a:off x="8604504" y="53046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#0E8AFF  ·  Blue 500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8275320" y="5547360"/>
            <a:ext cx="3703320" cy="477012"/>
          </a:xfrm>
          <a:prstGeom prst="rect">
            <a:avLst/>
          </a:prstGeom>
          <a:solidFill>
            <a:srgbClr val="1A2228"/>
          </a:solidFill>
          <a:ln w="12700">
            <a:solidFill>
              <a:srgbClr val="2C36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6" name="Shape 174"/>
          <p:cNvSpPr/>
          <p:nvPr/>
        </p:nvSpPr>
        <p:spPr>
          <a:xfrm>
            <a:off x="8275320" y="5565648"/>
            <a:ext cx="256032" cy="440436"/>
          </a:xfrm>
          <a:prstGeom prst="rect">
            <a:avLst/>
          </a:prstGeom>
          <a:solidFill>
            <a:srgbClr val="2C3640"/>
          </a:solidFill>
          <a:ln w="12700">
            <a:solidFill>
              <a:srgbClr val="2C36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7" name="Text 175"/>
          <p:cNvSpPr/>
          <p:nvPr/>
        </p:nvSpPr>
        <p:spPr>
          <a:xfrm>
            <a:off x="8604504" y="5574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/ paneles</a:t>
            </a:r>
            <a:endParaRPr lang="en-US" sz="750" dirty="0"/>
          </a:p>
        </p:txBody>
      </p:sp>
      <p:sp>
        <p:nvSpPr>
          <p:cNvPr id="178" name="Text 176"/>
          <p:cNvSpPr/>
          <p:nvPr/>
        </p:nvSpPr>
        <p:spPr>
          <a:xfrm>
            <a:off x="8604504" y="5799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#2C3640  ·  Gray 800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8275320" y="6042660"/>
            <a:ext cx="3703320" cy="477012"/>
          </a:xfrm>
          <a:prstGeom prst="rect">
            <a:avLst/>
          </a:prstGeom>
          <a:solidFill>
            <a:srgbClr val="232B33"/>
          </a:solidFill>
          <a:ln w="12700">
            <a:solidFill>
              <a:srgbClr val="2C36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0" name="Shape 178"/>
          <p:cNvSpPr/>
          <p:nvPr/>
        </p:nvSpPr>
        <p:spPr>
          <a:xfrm>
            <a:off x="8275320" y="6060948"/>
            <a:ext cx="256032" cy="440436"/>
          </a:xfrm>
          <a:prstGeom prst="rect">
            <a:avLst/>
          </a:prstGeom>
          <a:solidFill>
            <a:srgbClr val="354046"/>
          </a:solidFill>
          <a:ln w="12700">
            <a:solidFill>
              <a:srgbClr val="35404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1" name="Text 179"/>
          <p:cNvSpPr/>
          <p:nvPr/>
        </p:nvSpPr>
        <p:spPr>
          <a:xfrm>
            <a:off x="8604504" y="6070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Bordes / separadores</a:t>
            </a:r>
            <a:endParaRPr lang="en-US" sz="750" dirty="0"/>
          </a:p>
        </p:txBody>
      </p:sp>
      <p:sp>
        <p:nvSpPr>
          <p:cNvPr id="182" name="Text 180"/>
          <p:cNvSpPr/>
          <p:nvPr/>
        </p:nvSpPr>
        <p:spPr>
          <a:xfrm>
            <a:off x="8604504" y="6295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#354046  ·  Border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8275320" y="6574536"/>
            <a:ext cx="3703320" cy="256032"/>
          </a:xfrm>
          <a:prstGeom prst="rect">
            <a:avLst/>
          </a:prstGeom>
          <a:solidFill>
            <a:srgbClr val="1A2228"/>
          </a:solidFill>
          <a:ln w="12700">
            <a:solidFill>
              <a:srgbClr val="0070F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4" name="Text 182"/>
          <p:cNvSpPr/>
          <p:nvPr/>
        </p:nvSpPr>
        <p:spPr>
          <a:xfrm>
            <a:off x="8366760" y="661111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Horizon Blue #0070F2 = identidad SAP Fiori. Claridad funcional sobre oscuro.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1A2228"/>
          </a:solidFill>
          <a:ln w="12700">
            <a:solidFill>
              <a:srgbClr val="1A22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6" name="Text 184"/>
          <p:cNvSpPr/>
          <p:nvPr/>
        </p:nvSpPr>
        <p:spPr>
          <a:xfrm>
            <a:off x="274320" y="6793992"/>
            <a:ext cx="914400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354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FIORI  ·  PALETA OFICIAL  ·  experience.sap.com/fiori-design-web · SAP Brand Portal</a:t>
            </a:r>
            <a:endParaRPr lang="en-US" sz="550" dirty="0"/>
          </a:p>
        </p:txBody>
      </p:sp>
      <p:sp>
        <p:nvSpPr>
          <p:cNvPr id="187" name="Text 185"/>
          <p:cNvSpPr/>
          <p:nvPr/>
        </p:nvSpPr>
        <p:spPr>
          <a:xfrm>
            <a:off x="0" y="6793992"/>
            <a:ext cx="119786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354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COLORES  ·  4 SISTEMAS  ·  1 LÁMINA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MIT Media Lab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Massachusetts Institute of Technology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COLORES OFICIAL  ·  Inventing the Future · Technology · Innovation · Research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4320" y="795528"/>
            <a:ext cx="7818120" cy="1828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8183880" y="73152"/>
            <a:ext cx="18288" cy="672084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7818120" cy="201168"/>
          </a:xfrm>
          <a:prstGeom prst="rect">
            <a:avLst/>
          </a:prstGeom>
          <a:solidFill>
            <a:srgbClr val="0A0A0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>
            <a:off x="274320" y="841248"/>
            <a:ext cx="36576" cy="201168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65760" y="8412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A31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PRINCIPAL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" y="84124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MIT Identity Guidelines · media.mit.edu · BrandColorCode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74320" y="1042416"/>
            <a:ext cx="2563368" cy="761101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338328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#A31F34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03517"/>
            <a:ext cx="256336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338328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Crimson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8328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163, 31, 52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38328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identidad MIT · Títulos · Acento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901696" y="1042416"/>
            <a:ext cx="2563368" cy="761101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2965704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#000000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01696" y="1803517"/>
            <a:ext cx="256336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2965704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965704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0, 0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965704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base · Máxima autoridad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529072" y="1042416"/>
            <a:ext cx="2563368" cy="7611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5593080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29072" y="1803517"/>
            <a:ext cx="256336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Text 25"/>
          <p:cNvSpPr/>
          <p:nvPr/>
        </p:nvSpPr>
        <p:spPr>
          <a:xfrm>
            <a:off x="5593080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593080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255, 255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593080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· Contraste · Presentaciones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74320" y="2334006"/>
            <a:ext cx="7818120" cy="201168"/>
          </a:xfrm>
          <a:prstGeom prst="rect">
            <a:avLst/>
          </a:prstGeom>
          <a:solidFill>
            <a:srgbClr val="0A0A0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Shape 29"/>
          <p:cNvSpPr/>
          <p:nvPr/>
        </p:nvSpPr>
        <p:spPr>
          <a:xfrm>
            <a:off x="274320" y="2334006"/>
            <a:ext cx="36576" cy="201168"/>
          </a:xfrm>
          <a:prstGeom prst="rect">
            <a:avLst/>
          </a:prstGeom>
          <a:solidFill>
            <a:srgbClr val="D44A5A"/>
          </a:solidFill>
          <a:ln w="12700">
            <a:solidFill>
              <a:srgbClr val="D44A5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365760" y="233400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D4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ROJOS — SISTEMA MIT CRIMSON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" y="2334006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MIT Color System · Academic Identity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74320" y="2535174"/>
            <a:ext cx="1512418" cy="761101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Text 33"/>
          <p:cNvSpPr/>
          <p:nvPr/>
        </p:nvSpPr>
        <p:spPr>
          <a:xfrm>
            <a:off x="338328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#6B0F1A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296275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/>
          <p:nvPr/>
        </p:nvSpPr>
        <p:spPr>
          <a:xfrm>
            <a:off x="338328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Crimson 900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8328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107, 15, 26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38328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oscuro · Profundidad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850746" y="2535174"/>
            <a:ext cx="1512418" cy="761101"/>
          </a:xfrm>
          <a:prstGeom prst="rect">
            <a:avLst/>
          </a:prstGeom>
          <a:solidFill>
            <a:srgbClr val="8C1C25"/>
          </a:solidFill>
          <a:ln w="12700">
            <a:solidFill>
              <a:srgbClr val="8C1C2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1" name="Text 39"/>
          <p:cNvSpPr/>
          <p:nvPr/>
        </p:nvSpPr>
        <p:spPr>
          <a:xfrm>
            <a:off x="1914754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#8C1C25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50746" y="3296275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3" name="Text 41"/>
          <p:cNvSpPr/>
          <p:nvPr/>
        </p:nvSpPr>
        <p:spPr>
          <a:xfrm>
            <a:off x="1914754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Crimson 800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914754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140, 28, 37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914754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Variante oscura del crimson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427171" y="2535174"/>
            <a:ext cx="1512418" cy="761101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7" name="Text 45"/>
          <p:cNvSpPr/>
          <p:nvPr/>
        </p:nvSpPr>
        <p:spPr>
          <a:xfrm>
            <a:off x="3491179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#A31F34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27171" y="3296275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9" name="Text 47"/>
          <p:cNvSpPr/>
          <p:nvPr/>
        </p:nvSpPr>
        <p:spPr>
          <a:xfrm>
            <a:off x="3491179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Crimson 700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491179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163, 31, 52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491179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oficial primario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5003597" y="2535174"/>
            <a:ext cx="1512418" cy="761101"/>
          </a:xfrm>
          <a:prstGeom prst="rect">
            <a:avLst/>
          </a:prstGeom>
          <a:solidFill>
            <a:srgbClr val="C02B41"/>
          </a:solidFill>
          <a:ln w="12700">
            <a:solidFill>
              <a:srgbClr val="C02B4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3" name="Text 51"/>
          <p:cNvSpPr/>
          <p:nvPr/>
        </p:nvSpPr>
        <p:spPr>
          <a:xfrm>
            <a:off x="5067605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#C02B41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003597" y="3296275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5" name="Text 53"/>
          <p:cNvSpPr/>
          <p:nvPr/>
        </p:nvSpPr>
        <p:spPr>
          <a:xfrm>
            <a:off x="5067605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Crimson 600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067605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192, 43, 65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067605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light · Acento vívido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6580022" y="2535174"/>
            <a:ext cx="1512418" cy="761101"/>
          </a:xfrm>
          <a:prstGeom prst="rect">
            <a:avLst/>
          </a:prstGeom>
          <a:solidFill>
            <a:srgbClr val="D44A5A"/>
          </a:solidFill>
          <a:ln w="12700">
            <a:solidFill>
              <a:srgbClr val="D44A5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9" name="Text 57"/>
          <p:cNvSpPr/>
          <p:nvPr/>
        </p:nvSpPr>
        <p:spPr>
          <a:xfrm>
            <a:off x="6644030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#D44A5A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580022" y="3296275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1" name="Text 59"/>
          <p:cNvSpPr/>
          <p:nvPr/>
        </p:nvSpPr>
        <p:spPr>
          <a:xfrm>
            <a:off x="6644030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Crimson 400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644030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212, 74, 90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644030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· Highlights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274320" y="3826764"/>
            <a:ext cx="7818120" cy="201168"/>
          </a:xfrm>
          <a:prstGeom prst="rect">
            <a:avLst/>
          </a:prstGeom>
          <a:solidFill>
            <a:srgbClr val="0A0A0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5" name="Shape 63"/>
          <p:cNvSpPr/>
          <p:nvPr/>
        </p:nvSpPr>
        <p:spPr>
          <a:xfrm>
            <a:off x="274320" y="3826764"/>
            <a:ext cx="36576" cy="201168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6" name="Text 64"/>
          <p:cNvSpPr/>
          <p:nvPr/>
        </p:nvSpPr>
        <p:spPr>
          <a:xfrm>
            <a:off x="365760" y="38267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A4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AZULES &amp; TÉCNICOS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74320" y="382676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MIT Technical Colors · Media Lab Extensions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274320" y="4027932"/>
            <a:ext cx="1512418" cy="761101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9" name="Text 67"/>
          <p:cNvSpPr/>
          <p:nvPr/>
        </p:nvSpPr>
        <p:spPr>
          <a:xfrm>
            <a:off x="338328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#0A4C6A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" y="4789033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1" name="Text 69"/>
          <p:cNvSpPr/>
          <p:nvPr/>
        </p:nvSpPr>
        <p:spPr>
          <a:xfrm>
            <a:off x="338328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Blue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38328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10, 76, 106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338328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 · Datos · Procesos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1850746" y="4027932"/>
            <a:ext cx="1512418" cy="761101"/>
          </a:xfrm>
          <a:prstGeom prst="rect">
            <a:avLst/>
          </a:prstGeom>
          <a:solidFill>
            <a:srgbClr val="00B4C8"/>
          </a:solidFill>
          <a:ln w="12700">
            <a:solidFill>
              <a:srgbClr val="00B4C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5" name="Text 73"/>
          <p:cNvSpPr/>
          <p:nvPr/>
        </p:nvSpPr>
        <p:spPr>
          <a:xfrm>
            <a:off x="1914754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#00B4C8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850746" y="4789033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7" name="Text 75"/>
          <p:cNvSpPr/>
          <p:nvPr/>
        </p:nvSpPr>
        <p:spPr>
          <a:xfrm>
            <a:off x="1914754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 Tech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914754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180, 200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1914754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Innovación · UI highlights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3427171" y="4027932"/>
            <a:ext cx="1512418" cy="761101"/>
          </a:xfrm>
          <a:prstGeom prst="rect">
            <a:avLst/>
          </a:prstGeom>
          <a:solidFill>
            <a:srgbClr val="1B7E9E"/>
          </a:solidFill>
          <a:ln w="12700">
            <a:solidFill>
              <a:srgbClr val="1B7E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1" name="Text 79"/>
          <p:cNvSpPr/>
          <p:nvPr/>
        </p:nvSpPr>
        <p:spPr>
          <a:xfrm>
            <a:off x="3491179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#1B7E9E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427171" y="4789033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3" name="Text 81"/>
          <p:cNvSpPr/>
          <p:nvPr/>
        </p:nvSpPr>
        <p:spPr>
          <a:xfrm>
            <a:off x="3491179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Medium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3491179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27, 126, 158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3491179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serie 2 · Gráficas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5003597" y="4027932"/>
            <a:ext cx="1512418" cy="761101"/>
          </a:xfrm>
          <a:prstGeom prst="rect">
            <a:avLst/>
          </a:prstGeom>
          <a:solidFill>
            <a:srgbClr val="5ABCD8"/>
          </a:solidFill>
          <a:ln w="12700">
            <a:solidFill>
              <a:srgbClr val="5ABCD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7" name="Text 85"/>
          <p:cNvSpPr/>
          <p:nvPr/>
        </p:nvSpPr>
        <p:spPr>
          <a:xfrm>
            <a:off x="5067605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#5ABCD8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003597" y="4789033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9" name="Text 87"/>
          <p:cNvSpPr/>
          <p:nvPr/>
        </p:nvSpPr>
        <p:spPr>
          <a:xfrm>
            <a:off x="5067605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Light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067605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90, 188, 216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5067605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suaves · Labels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6580022" y="4027932"/>
            <a:ext cx="1512418" cy="761101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3" name="Text 91"/>
          <p:cNvSpPr/>
          <p:nvPr/>
        </p:nvSpPr>
        <p:spPr>
          <a:xfrm>
            <a:off x="6644030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#8C8C8C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580022" y="4789033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5" name="Text 93"/>
          <p:cNvSpPr/>
          <p:nvPr/>
        </p:nvSpPr>
        <p:spPr>
          <a:xfrm>
            <a:off x="6644030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Metal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6644030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140, 140, 140</a:t>
            </a:r>
            <a:endParaRPr lang="en-US" sz="600" dirty="0"/>
          </a:p>
        </p:txBody>
      </p:sp>
      <p:sp>
        <p:nvSpPr>
          <p:cNvPr id="97" name="Text 95"/>
          <p:cNvSpPr/>
          <p:nvPr/>
        </p:nvSpPr>
        <p:spPr>
          <a:xfrm>
            <a:off x="6644030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 · Metálico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274320" y="5319522"/>
            <a:ext cx="7818120" cy="201168"/>
          </a:xfrm>
          <a:prstGeom prst="rect">
            <a:avLst/>
          </a:prstGeom>
          <a:solidFill>
            <a:srgbClr val="0A0A0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9" name="Shape 97"/>
          <p:cNvSpPr/>
          <p:nvPr/>
        </p:nvSpPr>
        <p:spPr>
          <a:xfrm>
            <a:off x="274320" y="5319522"/>
            <a:ext cx="36576" cy="201168"/>
          </a:xfrm>
          <a:prstGeom prst="rect">
            <a:avLst/>
          </a:prstGeom>
          <a:solidFill>
            <a:srgbClr val="C2C0BC"/>
          </a:solidFill>
          <a:ln w="12700">
            <a:solidFill>
              <a:srgbClr val="C2C0B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0" name="Text 98"/>
          <p:cNvSpPr/>
          <p:nvPr/>
        </p:nvSpPr>
        <p:spPr>
          <a:xfrm>
            <a:off x="365760" y="531952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2C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GRISES &amp; COMPLEMENTARIOS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274320" y="5319522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MIT Media Lab Neutral System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274320" y="5520690"/>
            <a:ext cx="1512418" cy="761101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3" name="Text 101"/>
          <p:cNvSpPr/>
          <p:nvPr/>
        </p:nvSpPr>
        <p:spPr>
          <a:xfrm>
            <a:off x="338328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#1A1A1A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274320" y="6281791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5" name="Text 103"/>
          <p:cNvSpPr/>
          <p:nvPr/>
        </p:nvSpPr>
        <p:spPr>
          <a:xfrm>
            <a:off x="338328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Black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338328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26, 26, 26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338328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de panels · Cards</a:t>
            </a:r>
            <a:endParaRPr lang="en-US" sz="600" dirty="0"/>
          </a:p>
        </p:txBody>
      </p:sp>
      <p:sp>
        <p:nvSpPr>
          <p:cNvPr id="108" name="Shape 106"/>
          <p:cNvSpPr/>
          <p:nvPr/>
        </p:nvSpPr>
        <p:spPr>
          <a:xfrm>
            <a:off x="1850746" y="5520690"/>
            <a:ext cx="1512418" cy="761101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9" name="Text 107"/>
          <p:cNvSpPr/>
          <p:nvPr/>
        </p:nvSpPr>
        <p:spPr>
          <a:xfrm>
            <a:off x="1914754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#333333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1850746" y="6281791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1" name="Text 109"/>
          <p:cNvSpPr/>
          <p:nvPr/>
        </p:nvSpPr>
        <p:spPr>
          <a:xfrm>
            <a:off x="1914754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Dark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1914754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51, 51, 51</a:t>
            </a:r>
            <a:endParaRPr lang="en-US" sz="600" dirty="0"/>
          </a:p>
        </p:txBody>
      </p:sp>
      <p:sp>
        <p:nvSpPr>
          <p:cNvPr id="113" name="Text 111"/>
          <p:cNvSpPr/>
          <p:nvPr/>
        </p:nvSpPr>
        <p:spPr>
          <a:xfrm>
            <a:off x="1914754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cuerpo sobre claro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3427171" y="5520690"/>
            <a:ext cx="1512418" cy="761101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5" name="Text 113"/>
          <p:cNvSpPr/>
          <p:nvPr/>
        </p:nvSpPr>
        <p:spPr>
          <a:xfrm>
            <a:off x="3491179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#666666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3427171" y="6281791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7" name="Text 115"/>
          <p:cNvSpPr/>
          <p:nvPr/>
        </p:nvSpPr>
        <p:spPr>
          <a:xfrm>
            <a:off x="3491179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Mid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3491179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102, 102, 102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3491179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5003597" y="5520690"/>
            <a:ext cx="1512418" cy="761101"/>
          </a:xfrm>
          <a:prstGeom prst="rect">
            <a:avLst/>
          </a:prstGeom>
          <a:solidFill>
            <a:srgbClr val="C2C0BC"/>
          </a:solidFill>
          <a:ln w="12700">
            <a:solidFill>
              <a:srgbClr val="C2C0B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1" name="Text 119"/>
          <p:cNvSpPr/>
          <p:nvPr/>
        </p:nvSpPr>
        <p:spPr>
          <a:xfrm>
            <a:off x="5067605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#C2C0BC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5003597" y="6281791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3" name="Text 121"/>
          <p:cNvSpPr/>
          <p:nvPr/>
        </p:nvSpPr>
        <p:spPr>
          <a:xfrm>
            <a:off x="5067605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Platinum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5067605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194, 192, 188</a:t>
            </a:r>
            <a:endParaRPr lang="en-US" sz="600" dirty="0"/>
          </a:p>
        </p:txBody>
      </p:sp>
      <p:sp>
        <p:nvSpPr>
          <p:cNvPr id="125" name="Text 123"/>
          <p:cNvSpPr/>
          <p:nvPr/>
        </p:nvSpPr>
        <p:spPr>
          <a:xfrm>
            <a:off x="5067605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Separadores · Bordes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6580022" y="5520690"/>
            <a:ext cx="1512418" cy="761101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7" name="Text 125"/>
          <p:cNvSpPr/>
          <p:nvPr/>
        </p:nvSpPr>
        <p:spPr>
          <a:xfrm>
            <a:off x="6644030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#F2F2F2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6580022" y="6281791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9" name="Text 127"/>
          <p:cNvSpPr/>
          <p:nvPr/>
        </p:nvSpPr>
        <p:spPr>
          <a:xfrm>
            <a:off x="6644030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Light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6644030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242, 242, 242</a:t>
            </a:r>
            <a:endParaRPr lang="en-US" sz="600" dirty="0"/>
          </a:p>
        </p:txBody>
      </p:sp>
      <p:sp>
        <p:nvSpPr>
          <p:cNvPr id="131" name="Text 129"/>
          <p:cNvSpPr/>
          <p:nvPr/>
        </p:nvSpPr>
        <p:spPr>
          <a:xfrm>
            <a:off x="6644030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claros · Backgrounds</a:t>
            </a:r>
            <a:endParaRPr lang="en-US" sz="600" dirty="0"/>
          </a:p>
        </p:txBody>
      </p:sp>
      <p:sp>
        <p:nvSpPr>
          <p:cNvPr id="132" name="Text 130"/>
          <p:cNvSpPr/>
          <p:nvPr/>
        </p:nvSpPr>
        <p:spPr>
          <a:xfrm>
            <a:off x="8275320" y="914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CONFIGURACIÓN MAESTRA</a:t>
            </a:r>
            <a:endParaRPr lang="en-US" sz="1200" dirty="0"/>
          </a:p>
        </p:txBody>
      </p:sp>
      <p:sp>
        <p:nvSpPr>
          <p:cNvPr id="133" name="Text 131"/>
          <p:cNvSpPr/>
          <p:nvPr/>
        </p:nvSpPr>
        <p:spPr>
          <a:xfrm>
            <a:off x="8275320" y="34747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por función · Empresa Constructora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8275320" y="530352"/>
            <a:ext cx="3703320" cy="1828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5" name="Shape 133"/>
          <p:cNvSpPr/>
          <p:nvPr/>
        </p:nvSpPr>
        <p:spPr>
          <a:xfrm>
            <a:off x="8275320" y="594360"/>
            <a:ext cx="3703320" cy="477012"/>
          </a:xfrm>
          <a:prstGeom prst="rect">
            <a:avLst/>
          </a:prstGeom>
          <a:solidFill>
            <a:srgbClr val="0A0A0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6" name="Shape 134"/>
          <p:cNvSpPr/>
          <p:nvPr/>
        </p:nvSpPr>
        <p:spPr>
          <a:xfrm>
            <a:off x="8275320" y="612648"/>
            <a:ext cx="256032" cy="4404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7" name="Text 135"/>
          <p:cNvSpPr/>
          <p:nvPr/>
        </p:nvSpPr>
        <p:spPr>
          <a:xfrm>
            <a:off x="8604504" y="621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portada / dark</a:t>
            </a:r>
            <a:endParaRPr lang="en-US" sz="750" dirty="0"/>
          </a:p>
        </p:txBody>
      </p:sp>
      <p:sp>
        <p:nvSpPr>
          <p:cNvPr id="138" name="Text 136"/>
          <p:cNvSpPr/>
          <p:nvPr/>
        </p:nvSpPr>
        <p:spPr>
          <a:xfrm>
            <a:off x="8604504" y="846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31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#000000  ·  Black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8275320" y="1089660"/>
            <a:ext cx="3703320" cy="47701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0" name="Shape 138"/>
          <p:cNvSpPr/>
          <p:nvPr/>
        </p:nvSpPr>
        <p:spPr>
          <a:xfrm>
            <a:off x="8275320" y="1107948"/>
            <a:ext cx="256032" cy="4404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1" name="Text 139"/>
          <p:cNvSpPr/>
          <p:nvPr/>
        </p:nvSpPr>
        <p:spPr>
          <a:xfrm>
            <a:off x="8604504" y="1117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panels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8604504" y="1342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31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#111111  ·  Card BG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8275320" y="1584960"/>
            <a:ext cx="3703320" cy="477012"/>
          </a:xfrm>
          <a:prstGeom prst="rect">
            <a:avLst/>
          </a:prstGeom>
          <a:solidFill>
            <a:srgbClr val="0A0A0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4" name="Shape 142"/>
          <p:cNvSpPr/>
          <p:nvPr/>
        </p:nvSpPr>
        <p:spPr>
          <a:xfrm>
            <a:off x="8275320" y="1603248"/>
            <a:ext cx="256032" cy="440436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5" name="Text 143"/>
          <p:cNvSpPr/>
          <p:nvPr/>
        </p:nvSpPr>
        <p:spPr>
          <a:xfrm>
            <a:off x="8604504" y="16123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principal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8604504" y="18375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31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#A31F34  ·  MIT Crimson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8275320" y="2080260"/>
            <a:ext cx="3703320" cy="47701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8" name="Shape 146"/>
          <p:cNvSpPr/>
          <p:nvPr/>
        </p:nvSpPr>
        <p:spPr>
          <a:xfrm>
            <a:off x="8275320" y="2098548"/>
            <a:ext cx="256032" cy="440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9" name="Text 147"/>
          <p:cNvSpPr/>
          <p:nvPr/>
        </p:nvSpPr>
        <p:spPr>
          <a:xfrm>
            <a:off x="8604504" y="21076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sobre oscuro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8604504" y="23328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31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  ·  White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8275320" y="2575560"/>
            <a:ext cx="3703320" cy="477012"/>
          </a:xfrm>
          <a:prstGeom prst="rect">
            <a:avLst/>
          </a:prstGeom>
          <a:solidFill>
            <a:srgbClr val="0A0A0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2" name="Shape 150"/>
          <p:cNvSpPr/>
          <p:nvPr/>
        </p:nvSpPr>
        <p:spPr>
          <a:xfrm>
            <a:off x="8275320" y="2593848"/>
            <a:ext cx="256032" cy="4404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3" name="Text 151"/>
          <p:cNvSpPr/>
          <p:nvPr/>
        </p:nvSpPr>
        <p:spPr>
          <a:xfrm>
            <a:off x="8604504" y="26029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cuerpo sobre claro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8604504" y="28281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31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#333333  ·  Gray Dark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8275320" y="3070860"/>
            <a:ext cx="3703320" cy="47701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6" name="Shape 154"/>
          <p:cNvSpPr/>
          <p:nvPr/>
        </p:nvSpPr>
        <p:spPr>
          <a:xfrm>
            <a:off x="8275320" y="3089148"/>
            <a:ext cx="256032" cy="440436"/>
          </a:xfrm>
          <a:prstGeom prst="rect">
            <a:avLst/>
          </a:prstGeom>
          <a:solidFill>
            <a:srgbClr val="D44A5A"/>
          </a:solidFill>
          <a:ln w="12700">
            <a:solidFill>
              <a:srgbClr val="D44A5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7" name="Text 155"/>
          <p:cNvSpPr/>
          <p:nvPr/>
        </p:nvSpPr>
        <p:spPr>
          <a:xfrm>
            <a:off x="8604504" y="30982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/ datos destacados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8604504" y="33234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31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#D44A5A  ·  Crimson 400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8275320" y="3566160"/>
            <a:ext cx="3703320" cy="477012"/>
          </a:xfrm>
          <a:prstGeom prst="rect">
            <a:avLst/>
          </a:prstGeom>
          <a:solidFill>
            <a:srgbClr val="0A0A0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0" name="Shape 158"/>
          <p:cNvSpPr/>
          <p:nvPr/>
        </p:nvSpPr>
        <p:spPr>
          <a:xfrm>
            <a:off x="8275320" y="3584448"/>
            <a:ext cx="256032" cy="440436"/>
          </a:xfrm>
          <a:prstGeom prst="rect">
            <a:avLst/>
          </a:prstGeom>
          <a:solidFill>
            <a:srgbClr val="0A4C6A"/>
          </a:solidFill>
          <a:ln w="12700">
            <a:solidFill>
              <a:srgbClr val="0A4C6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1" name="Text 159"/>
          <p:cNvSpPr/>
          <p:nvPr/>
        </p:nvSpPr>
        <p:spPr>
          <a:xfrm>
            <a:off x="8604504" y="35935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 / procesos</a:t>
            </a:r>
            <a:endParaRPr lang="en-US" sz="750" dirty="0"/>
          </a:p>
        </p:txBody>
      </p:sp>
      <p:sp>
        <p:nvSpPr>
          <p:cNvPr id="162" name="Text 160"/>
          <p:cNvSpPr/>
          <p:nvPr/>
        </p:nvSpPr>
        <p:spPr>
          <a:xfrm>
            <a:off x="8604504" y="38187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31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#0A4C6A  ·  Tech Blue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8275320" y="4061460"/>
            <a:ext cx="3703320" cy="47701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4" name="Shape 162"/>
          <p:cNvSpPr/>
          <p:nvPr/>
        </p:nvSpPr>
        <p:spPr>
          <a:xfrm>
            <a:off x="8275320" y="4079748"/>
            <a:ext cx="256032" cy="440436"/>
          </a:xfrm>
          <a:prstGeom prst="rect">
            <a:avLst/>
          </a:prstGeom>
          <a:solidFill>
            <a:srgbClr val="00B4C8"/>
          </a:solidFill>
          <a:ln w="12700">
            <a:solidFill>
              <a:srgbClr val="00B4C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5" name="Text 163"/>
          <p:cNvSpPr/>
          <p:nvPr/>
        </p:nvSpPr>
        <p:spPr>
          <a:xfrm>
            <a:off x="8604504" y="40888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Innovación / highlights</a:t>
            </a:r>
            <a:endParaRPr lang="en-US" sz="750" dirty="0"/>
          </a:p>
        </p:txBody>
      </p:sp>
      <p:sp>
        <p:nvSpPr>
          <p:cNvPr id="166" name="Text 164"/>
          <p:cNvSpPr/>
          <p:nvPr/>
        </p:nvSpPr>
        <p:spPr>
          <a:xfrm>
            <a:off x="8604504" y="43140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31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#00B4C8  ·  Cyan Tech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8275320" y="4556760"/>
            <a:ext cx="3703320" cy="477012"/>
          </a:xfrm>
          <a:prstGeom prst="rect">
            <a:avLst/>
          </a:prstGeom>
          <a:solidFill>
            <a:srgbClr val="0A0A0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8" name="Shape 166"/>
          <p:cNvSpPr/>
          <p:nvPr/>
        </p:nvSpPr>
        <p:spPr>
          <a:xfrm>
            <a:off x="8275320" y="4575048"/>
            <a:ext cx="256032" cy="440436"/>
          </a:xfrm>
          <a:prstGeom prst="rect">
            <a:avLst/>
          </a:prstGeom>
          <a:solidFill>
            <a:srgbClr val="1B7E9E"/>
          </a:solidFill>
          <a:ln w="12700">
            <a:solidFill>
              <a:srgbClr val="1B7E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9" name="Text 167"/>
          <p:cNvSpPr/>
          <p:nvPr/>
        </p:nvSpPr>
        <p:spPr>
          <a:xfrm>
            <a:off x="8604504" y="45841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gráficas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8604504" y="48093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31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#1B7E9E  ·  Blue Medium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8275320" y="5052060"/>
            <a:ext cx="3703320" cy="47701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2" name="Shape 170"/>
          <p:cNvSpPr/>
          <p:nvPr/>
        </p:nvSpPr>
        <p:spPr>
          <a:xfrm>
            <a:off x="8275320" y="5070348"/>
            <a:ext cx="256032" cy="440436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3" name="Text 171"/>
          <p:cNvSpPr/>
          <p:nvPr/>
        </p:nvSpPr>
        <p:spPr>
          <a:xfrm>
            <a:off x="8604504" y="50794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</a:t>
            </a:r>
            <a:endParaRPr lang="en-US" sz="750" dirty="0"/>
          </a:p>
        </p:txBody>
      </p:sp>
      <p:sp>
        <p:nvSpPr>
          <p:cNvPr id="174" name="Text 172"/>
          <p:cNvSpPr/>
          <p:nvPr/>
        </p:nvSpPr>
        <p:spPr>
          <a:xfrm>
            <a:off x="8604504" y="53046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31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#8C8C8C  ·  Gray Metal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8275320" y="5547360"/>
            <a:ext cx="3703320" cy="477012"/>
          </a:xfrm>
          <a:prstGeom prst="rect">
            <a:avLst/>
          </a:prstGeom>
          <a:solidFill>
            <a:srgbClr val="0A0A0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6" name="Shape 174"/>
          <p:cNvSpPr/>
          <p:nvPr/>
        </p:nvSpPr>
        <p:spPr>
          <a:xfrm>
            <a:off x="8275320" y="5565648"/>
            <a:ext cx="256032" cy="44043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7" name="Text 175"/>
          <p:cNvSpPr/>
          <p:nvPr/>
        </p:nvSpPr>
        <p:spPr>
          <a:xfrm>
            <a:off x="8604504" y="5574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claros</a:t>
            </a:r>
            <a:endParaRPr lang="en-US" sz="750" dirty="0"/>
          </a:p>
        </p:txBody>
      </p:sp>
      <p:sp>
        <p:nvSpPr>
          <p:cNvPr id="178" name="Text 176"/>
          <p:cNvSpPr/>
          <p:nvPr/>
        </p:nvSpPr>
        <p:spPr>
          <a:xfrm>
            <a:off x="8604504" y="5799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31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#F2F2F2  ·  Gray Light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8275320" y="6042660"/>
            <a:ext cx="3703320" cy="47701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0" name="Shape 178"/>
          <p:cNvSpPr/>
          <p:nvPr/>
        </p:nvSpPr>
        <p:spPr>
          <a:xfrm>
            <a:off x="8275320" y="6060948"/>
            <a:ext cx="256032" cy="440436"/>
          </a:xfrm>
          <a:prstGeom prst="rect">
            <a:avLst/>
          </a:prstGeom>
          <a:solidFill>
            <a:srgbClr val="C2C0BC"/>
          </a:solidFill>
          <a:ln w="12700">
            <a:solidFill>
              <a:srgbClr val="C2C0B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1" name="Text 179"/>
          <p:cNvSpPr/>
          <p:nvPr/>
        </p:nvSpPr>
        <p:spPr>
          <a:xfrm>
            <a:off x="8604504" y="6070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Bordes / separadores</a:t>
            </a:r>
            <a:endParaRPr lang="en-US" sz="750" dirty="0"/>
          </a:p>
        </p:txBody>
      </p:sp>
      <p:sp>
        <p:nvSpPr>
          <p:cNvPr id="182" name="Text 180"/>
          <p:cNvSpPr/>
          <p:nvPr/>
        </p:nvSpPr>
        <p:spPr>
          <a:xfrm>
            <a:off x="8604504" y="6295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31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#C2C0BC  ·  Gray Platinum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8275320" y="6574536"/>
            <a:ext cx="3703320" cy="256032"/>
          </a:xfrm>
          <a:prstGeom prst="rect">
            <a:avLst/>
          </a:prstGeom>
          <a:solidFill>
            <a:srgbClr val="0A0A0A"/>
          </a:solidFill>
          <a:ln w="12700">
            <a:solidFill>
              <a:srgbClr val="A31F3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4" name="Text 182"/>
          <p:cNvSpPr/>
          <p:nvPr/>
        </p:nvSpPr>
        <p:spPr>
          <a:xfrm>
            <a:off x="8366760" y="661111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MIT Crimson #A31F34 sobre negro = rigor académico e innovación radical.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6" name="Text 184"/>
          <p:cNvSpPr/>
          <p:nvPr/>
        </p:nvSpPr>
        <p:spPr>
          <a:xfrm>
            <a:off x="274320" y="6793992"/>
            <a:ext cx="914400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MEDIA LAB  ·  PALETA OFICIAL  ·  media.mit.edu · MIT Identity · BrandColorCode</a:t>
            </a:r>
            <a:endParaRPr lang="en-US" sz="550" dirty="0"/>
          </a:p>
        </p:txBody>
      </p:sp>
      <p:sp>
        <p:nvSpPr>
          <p:cNvPr id="187" name="Text 185"/>
          <p:cNvSpPr/>
          <p:nvPr/>
        </p:nvSpPr>
        <p:spPr>
          <a:xfrm>
            <a:off x="0" y="6793992"/>
            <a:ext cx="119786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COLORES  ·  4 SISTEMAS  ·  1 LÁMINA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FC3D21"/>
          </a:solidFill>
          <a:ln w="12700">
            <a:solidFill>
              <a:srgbClr val="FC3D2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NASA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1A3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COLORES OFICIAL  ·  Science · Exploration · Data Integrity · Public Communication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4320" y="795528"/>
            <a:ext cx="781812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8183880" y="73152"/>
            <a:ext cx="18288" cy="672084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7818120" cy="201168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>
            <a:off x="274320" y="841248"/>
            <a:ext cx="36576" cy="201168"/>
          </a:xfrm>
          <a:prstGeom prst="rect">
            <a:avLst/>
          </a:prstGeom>
          <a:solidFill>
            <a:srgbClr val="FC3D21"/>
          </a:solidFill>
          <a:ln w="12700">
            <a:solidFill>
              <a:srgbClr val="FC3D2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65760" y="8412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C3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PRINCIPAL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" y="84124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A3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Brand Standards · nasa.gov · Identity Guidelines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74320" y="1042416"/>
            <a:ext cx="2563368" cy="761101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338328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#0B3D91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03517"/>
            <a:ext cx="2563368" cy="466481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338328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Blue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8328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3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11, 61, 145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38328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identidad primario NASA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901696" y="1042416"/>
            <a:ext cx="2563368" cy="761101"/>
          </a:xfrm>
          <a:prstGeom prst="rect">
            <a:avLst/>
          </a:prstGeom>
          <a:solidFill>
            <a:srgbClr val="FC3D21"/>
          </a:solidFill>
          <a:ln w="12700">
            <a:solidFill>
              <a:srgbClr val="FC3D2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2965704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#FC3D21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01696" y="1803517"/>
            <a:ext cx="2563368" cy="466481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2965704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Red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965704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3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252, 61, 33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965704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oficial · Logos · Misiones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529072" y="1042416"/>
            <a:ext cx="2563368" cy="7611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5593080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29072" y="1803517"/>
            <a:ext cx="2563368" cy="466481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Text 25"/>
          <p:cNvSpPr/>
          <p:nvPr/>
        </p:nvSpPr>
        <p:spPr>
          <a:xfrm>
            <a:off x="5593080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593080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3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255, 255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593080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· Diagramas · Presentaciones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74320" y="2334006"/>
            <a:ext cx="7818120" cy="201168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Shape 29"/>
          <p:cNvSpPr/>
          <p:nvPr/>
        </p:nvSpPr>
        <p:spPr>
          <a:xfrm>
            <a:off x="274320" y="2334006"/>
            <a:ext cx="36576" cy="201168"/>
          </a:xfrm>
          <a:prstGeom prst="rect">
            <a:avLst/>
          </a:prstGeom>
          <a:solidFill>
            <a:srgbClr val="5AB4E8"/>
          </a:solidFill>
          <a:ln w="12700">
            <a:solidFill>
              <a:srgbClr val="5AB4E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365760" y="233400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5A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AZULES — ESPACIO &amp; CIENCIA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" y="2334006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A3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Science Colors · Data Viz Standards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74320" y="2535174"/>
            <a:ext cx="1512418" cy="761101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Text 33"/>
          <p:cNvSpPr/>
          <p:nvPr/>
        </p:nvSpPr>
        <p:spPr>
          <a:xfrm>
            <a:off x="338328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#0E1A2B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296275"/>
            <a:ext cx="1512418" cy="466481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/>
          <p:nvPr/>
        </p:nvSpPr>
        <p:spPr>
          <a:xfrm>
            <a:off x="338328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Black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8328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3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14, 26, 43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38328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base · Universo · Profundidad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850746" y="2535174"/>
            <a:ext cx="1512418" cy="761101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1" name="Text 39"/>
          <p:cNvSpPr/>
          <p:nvPr/>
        </p:nvSpPr>
        <p:spPr>
          <a:xfrm>
            <a:off x="1914754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#0B3D91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50746" y="3296275"/>
            <a:ext cx="1512418" cy="466481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3" name="Text 41"/>
          <p:cNvSpPr/>
          <p:nvPr/>
        </p:nvSpPr>
        <p:spPr>
          <a:xfrm>
            <a:off x="1914754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Blue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914754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3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11, 61, 145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914754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institucional primario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427171" y="2535174"/>
            <a:ext cx="1512418" cy="761101"/>
          </a:xfrm>
          <a:prstGeom prst="rect">
            <a:avLst/>
          </a:prstGeom>
          <a:solidFill>
            <a:srgbClr val="1B81A8"/>
          </a:solidFill>
          <a:ln w="12700">
            <a:solidFill>
              <a:srgbClr val="1B81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7" name="Text 45"/>
          <p:cNvSpPr/>
          <p:nvPr/>
        </p:nvSpPr>
        <p:spPr>
          <a:xfrm>
            <a:off x="3491179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#1B81A8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27171" y="3296275"/>
            <a:ext cx="1512418" cy="466481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9" name="Text 47"/>
          <p:cNvSpPr/>
          <p:nvPr/>
        </p:nvSpPr>
        <p:spPr>
          <a:xfrm>
            <a:off x="3491179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Blue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491179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3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27, 129, 168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491179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científicos · Gráficas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5003597" y="2535174"/>
            <a:ext cx="1512418" cy="761101"/>
          </a:xfrm>
          <a:prstGeom prst="rect">
            <a:avLst/>
          </a:prstGeom>
          <a:solidFill>
            <a:srgbClr val="3BA8D0"/>
          </a:solidFill>
          <a:ln w="12700">
            <a:solidFill>
              <a:srgbClr val="3BA8D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3" name="Text 51"/>
          <p:cNvSpPr/>
          <p:nvPr/>
        </p:nvSpPr>
        <p:spPr>
          <a:xfrm>
            <a:off x="5067605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#3BA8D0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003597" y="3296275"/>
            <a:ext cx="1512418" cy="466481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5" name="Text 53"/>
          <p:cNvSpPr/>
          <p:nvPr/>
        </p:nvSpPr>
        <p:spPr>
          <a:xfrm>
            <a:off x="5067605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 Blue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067605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3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59, 168, 208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067605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serie 1 · Highlights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6580022" y="2535174"/>
            <a:ext cx="1512418" cy="761101"/>
          </a:xfrm>
          <a:prstGeom prst="rect">
            <a:avLst/>
          </a:prstGeom>
          <a:solidFill>
            <a:srgbClr val="5AB4E8"/>
          </a:solidFill>
          <a:ln w="12700">
            <a:solidFill>
              <a:srgbClr val="5AB4E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9" name="Text 57"/>
          <p:cNvSpPr/>
          <p:nvPr/>
        </p:nvSpPr>
        <p:spPr>
          <a:xfrm>
            <a:off x="6644030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#5AB4E8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580022" y="3296275"/>
            <a:ext cx="1512418" cy="466481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1" name="Text 59"/>
          <p:cNvSpPr/>
          <p:nvPr/>
        </p:nvSpPr>
        <p:spPr>
          <a:xfrm>
            <a:off x="6644030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Atmosphere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644030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3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90, 180, 232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644030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· Texto informativo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274320" y="3826764"/>
            <a:ext cx="7818120" cy="201168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5" name="Shape 63"/>
          <p:cNvSpPr/>
          <p:nvPr/>
        </p:nvSpPr>
        <p:spPr>
          <a:xfrm>
            <a:off x="274320" y="3826764"/>
            <a:ext cx="36576" cy="201168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6" name="Text 64"/>
          <p:cNvSpPr/>
          <p:nvPr/>
        </p:nvSpPr>
        <p:spPr>
          <a:xfrm>
            <a:off x="365760" y="38267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DB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ROJOS &amp; CÁLIDOS — ALERTA &amp; MISIÓN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74320" y="382676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A3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Mission Colors · Alert System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274320" y="4027932"/>
            <a:ext cx="1512418" cy="761101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9" name="Text 67"/>
          <p:cNvSpPr/>
          <p:nvPr/>
        </p:nvSpPr>
        <p:spPr>
          <a:xfrm>
            <a:off x="338328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#8B0000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" y="4789033"/>
            <a:ext cx="1512418" cy="466481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1" name="Text 69"/>
          <p:cNvSpPr/>
          <p:nvPr/>
        </p:nvSpPr>
        <p:spPr>
          <a:xfrm>
            <a:off x="338328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Red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38328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3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139, 0, 0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338328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crítica · Misión riesgo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1850746" y="4027932"/>
            <a:ext cx="1512418" cy="761101"/>
          </a:xfrm>
          <a:prstGeom prst="rect">
            <a:avLst/>
          </a:prstGeom>
          <a:solidFill>
            <a:srgbClr val="C91B1B"/>
          </a:solidFill>
          <a:ln w="12700">
            <a:solidFill>
              <a:srgbClr val="C91B1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5" name="Text 73"/>
          <p:cNvSpPr/>
          <p:nvPr/>
        </p:nvSpPr>
        <p:spPr>
          <a:xfrm>
            <a:off x="1914754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#C91B1B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850746" y="4789033"/>
            <a:ext cx="1512418" cy="466481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7" name="Text 75"/>
          <p:cNvSpPr/>
          <p:nvPr/>
        </p:nvSpPr>
        <p:spPr>
          <a:xfrm>
            <a:off x="1914754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Red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914754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3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201, 27, 27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1914754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crítico · Urgencia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3427171" y="4027932"/>
            <a:ext cx="1512418" cy="761101"/>
          </a:xfrm>
          <a:prstGeom prst="rect">
            <a:avLst/>
          </a:prstGeom>
          <a:solidFill>
            <a:srgbClr val="FC3D21"/>
          </a:solidFill>
          <a:ln w="12700">
            <a:solidFill>
              <a:srgbClr val="FC3D2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1" name="Text 79"/>
          <p:cNvSpPr/>
          <p:nvPr/>
        </p:nvSpPr>
        <p:spPr>
          <a:xfrm>
            <a:off x="3491179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#FC3D21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427171" y="4789033"/>
            <a:ext cx="1512418" cy="466481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3" name="Text 81"/>
          <p:cNvSpPr/>
          <p:nvPr/>
        </p:nvSpPr>
        <p:spPr>
          <a:xfrm>
            <a:off x="3491179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Red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3491179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3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252, 61, 33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3491179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oficial · Identidad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5003597" y="4027932"/>
            <a:ext cx="1512418" cy="761101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7" name="Text 85"/>
          <p:cNvSpPr/>
          <p:nvPr/>
        </p:nvSpPr>
        <p:spPr>
          <a:xfrm>
            <a:off x="5067605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#FDB515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003597" y="4789033"/>
            <a:ext cx="1512418" cy="466481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9" name="Text 87"/>
          <p:cNvSpPr/>
          <p:nvPr/>
        </p:nvSpPr>
        <p:spPr>
          <a:xfrm>
            <a:off x="5067605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Gold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067605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3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253, 181, 21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5067605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 · Warning · Energía solar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6580022" y="4027932"/>
            <a:ext cx="1512418" cy="761101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3" name="Text 91"/>
          <p:cNvSpPr/>
          <p:nvPr/>
        </p:nvSpPr>
        <p:spPr>
          <a:xfrm>
            <a:off x="6644030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#F4821F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580022" y="4789033"/>
            <a:ext cx="1512418" cy="466481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5" name="Text 93"/>
          <p:cNvSpPr/>
          <p:nvPr/>
        </p:nvSpPr>
        <p:spPr>
          <a:xfrm>
            <a:off x="6644030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Orange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6644030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3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244, 130, 31</a:t>
            </a:r>
            <a:endParaRPr lang="en-US" sz="600" dirty="0"/>
          </a:p>
        </p:txBody>
      </p:sp>
      <p:sp>
        <p:nvSpPr>
          <p:cNvPr id="97" name="Text 95"/>
          <p:cNvSpPr/>
          <p:nvPr/>
        </p:nvSpPr>
        <p:spPr>
          <a:xfrm>
            <a:off x="6644030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Marte · Temperatura cálida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274320" y="5319522"/>
            <a:ext cx="7818120" cy="201168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9" name="Shape 97"/>
          <p:cNvSpPr/>
          <p:nvPr/>
        </p:nvSpPr>
        <p:spPr>
          <a:xfrm>
            <a:off x="274320" y="5319522"/>
            <a:ext cx="36576" cy="201168"/>
          </a:xfrm>
          <a:prstGeom prst="rect">
            <a:avLst/>
          </a:prstGeom>
          <a:solidFill>
            <a:srgbClr val="25A244"/>
          </a:solidFill>
          <a:ln w="12700">
            <a:solidFill>
              <a:srgbClr val="25A2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0" name="Text 98"/>
          <p:cNvSpPr/>
          <p:nvPr/>
        </p:nvSpPr>
        <p:spPr>
          <a:xfrm>
            <a:off x="365760" y="531952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25A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VERDES &amp; NEUTROS CIENTÍFICOS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274320" y="5319522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A3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NASA Data Accuracy · Earth Science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274320" y="5520690"/>
            <a:ext cx="1512418" cy="761101"/>
          </a:xfrm>
          <a:prstGeom prst="rect">
            <a:avLst/>
          </a:prstGeom>
          <a:solidFill>
            <a:srgbClr val="0A7C3E"/>
          </a:solidFill>
          <a:ln w="12700">
            <a:solidFill>
              <a:srgbClr val="0A7C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3" name="Text 101"/>
          <p:cNvSpPr/>
          <p:nvPr/>
        </p:nvSpPr>
        <p:spPr>
          <a:xfrm>
            <a:off x="338328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#0A7C3E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274320" y="6281791"/>
            <a:ext cx="1512418" cy="466481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5" name="Text 103"/>
          <p:cNvSpPr/>
          <p:nvPr/>
        </p:nvSpPr>
        <p:spPr>
          <a:xfrm>
            <a:off x="338328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 Green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338328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3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10, 124, 62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338328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Positivo · Ecosistemas · Tierra</a:t>
            </a:r>
            <a:endParaRPr lang="en-US" sz="600" dirty="0"/>
          </a:p>
        </p:txBody>
      </p:sp>
      <p:sp>
        <p:nvSpPr>
          <p:cNvPr id="108" name="Shape 106"/>
          <p:cNvSpPr/>
          <p:nvPr/>
        </p:nvSpPr>
        <p:spPr>
          <a:xfrm>
            <a:off x="1850746" y="5520690"/>
            <a:ext cx="1512418" cy="761101"/>
          </a:xfrm>
          <a:prstGeom prst="rect">
            <a:avLst/>
          </a:prstGeom>
          <a:solidFill>
            <a:srgbClr val="25A244"/>
          </a:solidFill>
          <a:ln w="12700">
            <a:solidFill>
              <a:srgbClr val="25A2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9" name="Text 107"/>
          <p:cNvSpPr/>
          <p:nvPr/>
        </p:nvSpPr>
        <p:spPr>
          <a:xfrm>
            <a:off x="1914754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#25A244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1850746" y="6281791"/>
            <a:ext cx="1512418" cy="466481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1" name="Text 109"/>
          <p:cNvSpPr/>
          <p:nvPr/>
        </p:nvSpPr>
        <p:spPr>
          <a:xfrm>
            <a:off x="1914754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Green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1914754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3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37, 162, 68</a:t>
            </a:r>
            <a:endParaRPr lang="en-US" sz="600" dirty="0"/>
          </a:p>
        </p:txBody>
      </p:sp>
      <p:sp>
        <p:nvSpPr>
          <p:cNvPr id="113" name="Text 111"/>
          <p:cNvSpPr/>
          <p:nvPr/>
        </p:nvSpPr>
        <p:spPr>
          <a:xfrm>
            <a:off x="1914754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Misión activa · Online · Éxito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3427171" y="5520690"/>
            <a:ext cx="1512418" cy="761101"/>
          </a:xfrm>
          <a:prstGeom prst="rect">
            <a:avLst/>
          </a:prstGeom>
          <a:solidFill>
            <a:srgbClr val="E5243B"/>
          </a:solidFill>
          <a:ln w="12700">
            <a:solidFill>
              <a:srgbClr val="E5243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5" name="Text 113"/>
          <p:cNvSpPr/>
          <p:nvPr/>
        </p:nvSpPr>
        <p:spPr>
          <a:xfrm>
            <a:off x="3491179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#E5243B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3427171" y="6281791"/>
            <a:ext cx="1512418" cy="466481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7" name="Text 115"/>
          <p:cNvSpPr/>
          <p:nvPr/>
        </p:nvSpPr>
        <p:spPr>
          <a:xfrm>
            <a:off x="3491179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 Red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3491179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3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229, 36, 59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3491179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Peligro · Sistema crítico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5003597" y="5520690"/>
            <a:ext cx="1512418" cy="761101"/>
          </a:xfrm>
          <a:prstGeom prst="rect">
            <a:avLst/>
          </a:prstGeom>
          <a:solidFill>
            <a:srgbClr val="293241"/>
          </a:solidFill>
          <a:ln w="12700">
            <a:solidFill>
              <a:srgbClr val="29324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1" name="Text 119"/>
          <p:cNvSpPr/>
          <p:nvPr/>
        </p:nvSpPr>
        <p:spPr>
          <a:xfrm>
            <a:off x="5067605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#293241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5003597" y="6281791"/>
            <a:ext cx="1512418" cy="466481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3" name="Text 121"/>
          <p:cNvSpPr/>
          <p:nvPr/>
        </p:nvSpPr>
        <p:spPr>
          <a:xfrm>
            <a:off x="5067605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Gray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5067605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3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41, 50, 65</a:t>
            </a:r>
            <a:endParaRPr lang="en-US" sz="600" dirty="0"/>
          </a:p>
        </p:txBody>
      </p:sp>
      <p:sp>
        <p:nvSpPr>
          <p:cNvPr id="125" name="Text 123"/>
          <p:cNvSpPr/>
          <p:nvPr/>
        </p:nvSpPr>
        <p:spPr>
          <a:xfrm>
            <a:off x="5067605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Panels · Cards oscuras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6580022" y="5520690"/>
            <a:ext cx="1512418" cy="761101"/>
          </a:xfrm>
          <a:prstGeom prst="rect">
            <a:avLst/>
          </a:prstGeom>
          <a:solidFill>
            <a:srgbClr val="9BB4C8"/>
          </a:solidFill>
          <a:ln w="12700">
            <a:solidFill>
              <a:srgbClr val="9BB4C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7" name="Text 125"/>
          <p:cNvSpPr/>
          <p:nvPr/>
        </p:nvSpPr>
        <p:spPr>
          <a:xfrm>
            <a:off x="6644030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#9BB4C8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6580022" y="6281791"/>
            <a:ext cx="1512418" cy="466481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9" name="Text 127"/>
          <p:cNvSpPr/>
          <p:nvPr/>
        </p:nvSpPr>
        <p:spPr>
          <a:xfrm>
            <a:off x="6644030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 Gray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6644030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3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155, 180, 200</a:t>
            </a:r>
            <a:endParaRPr lang="en-US" sz="600" dirty="0"/>
          </a:p>
        </p:txBody>
      </p:sp>
      <p:sp>
        <p:nvSpPr>
          <p:cNvPr id="131" name="Text 129"/>
          <p:cNvSpPr/>
          <p:nvPr/>
        </p:nvSpPr>
        <p:spPr>
          <a:xfrm>
            <a:off x="6644030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 · Metadatos</a:t>
            </a:r>
            <a:endParaRPr lang="en-US" sz="600" dirty="0"/>
          </a:p>
        </p:txBody>
      </p:sp>
      <p:sp>
        <p:nvSpPr>
          <p:cNvPr id="132" name="Text 130"/>
          <p:cNvSpPr/>
          <p:nvPr/>
        </p:nvSpPr>
        <p:spPr>
          <a:xfrm>
            <a:off x="8275320" y="914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CONFIGURACIÓN MAESTRA</a:t>
            </a:r>
            <a:endParaRPr lang="en-US" sz="1200" dirty="0"/>
          </a:p>
        </p:txBody>
      </p:sp>
      <p:sp>
        <p:nvSpPr>
          <p:cNvPr id="133" name="Text 131"/>
          <p:cNvSpPr/>
          <p:nvPr/>
        </p:nvSpPr>
        <p:spPr>
          <a:xfrm>
            <a:off x="8275320" y="34747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3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por función · Empresa Constructora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8275320" y="530352"/>
            <a:ext cx="370332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5" name="Shape 133"/>
          <p:cNvSpPr/>
          <p:nvPr/>
        </p:nvSpPr>
        <p:spPr>
          <a:xfrm>
            <a:off x="8275320" y="594360"/>
            <a:ext cx="3703320" cy="477012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6" name="Shape 134"/>
          <p:cNvSpPr/>
          <p:nvPr/>
        </p:nvSpPr>
        <p:spPr>
          <a:xfrm>
            <a:off x="8275320" y="612648"/>
            <a:ext cx="256032" cy="440436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7" name="Text 135"/>
          <p:cNvSpPr/>
          <p:nvPr/>
        </p:nvSpPr>
        <p:spPr>
          <a:xfrm>
            <a:off x="8604504" y="621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portada / espacio</a:t>
            </a:r>
            <a:endParaRPr lang="en-US" sz="750" dirty="0"/>
          </a:p>
        </p:txBody>
      </p:sp>
      <p:sp>
        <p:nvSpPr>
          <p:cNvPr id="138" name="Text 136"/>
          <p:cNvSpPr/>
          <p:nvPr/>
        </p:nvSpPr>
        <p:spPr>
          <a:xfrm>
            <a:off x="8604504" y="846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C3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#0E1A2B  ·  Space Black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8275320" y="1089660"/>
            <a:ext cx="3703320" cy="477012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0" name="Shape 138"/>
          <p:cNvSpPr/>
          <p:nvPr/>
        </p:nvSpPr>
        <p:spPr>
          <a:xfrm>
            <a:off x="8275320" y="1107948"/>
            <a:ext cx="256032" cy="440436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1" name="Text 139"/>
          <p:cNvSpPr/>
          <p:nvPr/>
        </p:nvSpPr>
        <p:spPr>
          <a:xfrm>
            <a:off x="8604504" y="1117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contenido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8604504" y="1342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C3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#122040  ·  Card BG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8275320" y="1584960"/>
            <a:ext cx="3703320" cy="477012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4" name="Shape 142"/>
          <p:cNvSpPr/>
          <p:nvPr/>
        </p:nvSpPr>
        <p:spPr>
          <a:xfrm>
            <a:off x="8275320" y="1603248"/>
            <a:ext cx="256032" cy="440436"/>
          </a:xfrm>
          <a:prstGeom prst="rect">
            <a:avLst/>
          </a:prstGeom>
          <a:solidFill>
            <a:srgbClr val="FC3D21"/>
          </a:solidFill>
          <a:ln w="12700">
            <a:solidFill>
              <a:srgbClr val="FC3D2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5" name="Text 143"/>
          <p:cNvSpPr/>
          <p:nvPr/>
        </p:nvSpPr>
        <p:spPr>
          <a:xfrm>
            <a:off x="8604504" y="16123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misión / CTA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8604504" y="18375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C3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#FC3D21  ·  NASA Red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8275320" y="2080260"/>
            <a:ext cx="3703320" cy="477012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8" name="Shape 146"/>
          <p:cNvSpPr/>
          <p:nvPr/>
        </p:nvSpPr>
        <p:spPr>
          <a:xfrm>
            <a:off x="8275320" y="2098548"/>
            <a:ext cx="256032" cy="440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9" name="Text 147"/>
          <p:cNvSpPr/>
          <p:nvPr/>
        </p:nvSpPr>
        <p:spPr>
          <a:xfrm>
            <a:off x="8604504" y="21076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principal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8604504" y="23328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C3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  ·  White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8275320" y="2575560"/>
            <a:ext cx="3703320" cy="477012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2" name="Shape 150"/>
          <p:cNvSpPr/>
          <p:nvPr/>
        </p:nvSpPr>
        <p:spPr>
          <a:xfrm>
            <a:off x="8275320" y="2593848"/>
            <a:ext cx="256032" cy="440436"/>
          </a:xfrm>
          <a:prstGeom prst="rect">
            <a:avLst/>
          </a:prstGeom>
          <a:solidFill>
            <a:srgbClr val="5AB4E8"/>
          </a:solidFill>
          <a:ln w="12700">
            <a:solidFill>
              <a:srgbClr val="5AB4E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3" name="Text 151"/>
          <p:cNvSpPr/>
          <p:nvPr/>
        </p:nvSpPr>
        <p:spPr>
          <a:xfrm>
            <a:off x="8604504" y="26029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8604504" y="28281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C3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#5AB4E8  ·  Atmosphere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8275320" y="3070860"/>
            <a:ext cx="3703320" cy="477012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6" name="Shape 154"/>
          <p:cNvSpPr/>
          <p:nvPr/>
        </p:nvSpPr>
        <p:spPr>
          <a:xfrm>
            <a:off x="8275320" y="3089148"/>
            <a:ext cx="256032" cy="440436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7" name="Text 155"/>
          <p:cNvSpPr/>
          <p:nvPr/>
        </p:nvSpPr>
        <p:spPr>
          <a:xfrm>
            <a:off x="8604504" y="30982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/ datos destacados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8604504" y="33234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C3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#FDB515  ·  Solar Gold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8275320" y="3566160"/>
            <a:ext cx="3703320" cy="477012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0" name="Shape 158"/>
          <p:cNvSpPr/>
          <p:nvPr/>
        </p:nvSpPr>
        <p:spPr>
          <a:xfrm>
            <a:off x="8275320" y="3584448"/>
            <a:ext cx="256032" cy="440436"/>
          </a:xfrm>
          <a:prstGeom prst="rect">
            <a:avLst/>
          </a:prstGeom>
          <a:solidFill>
            <a:srgbClr val="25A244"/>
          </a:solidFill>
          <a:ln w="12700">
            <a:solidFill>
              <a:srgbClr val="25A2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1" name="Text 159"/>
          <p:cNvSpPr/>
          <p:nvPr/>
        </p:nvSpPr>
        <p:spPr>
          <a:xfrm>
            <a:off x="8604504" y="35935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activos / positivos</a:t>
            </a:r>
            <a:endParaRPr lang="en-US" sz="750" dirty="0"/>
          </a:p>
        </p:txBody>
      </p:sp>
      <p:sp>
        <p:nvSpPr>
          <p:cNvPr id="162" name="Text 160"/>
          <p:cNvSpPr/>
          <p:nvPr/>
        </p:nvSpPr>
        <p:spPr>
          <a:xfrm>
            <a:off x="8604504" y="38187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C3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#25A244  ·  Active Green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8275320" y="4061460"/>
            <a:ext cx="3703320" cy="477012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4" name="Shape 162"/>
          <p:cNvSpPr/>
          <p:nvPr/>
        </p:nvSpPr>
        <p:spPr>
          <a:xfrm>
            <a:off x="8275320" y="4079748"/>
            <a:ext cx="256032" cy="440436"/>
          </a:xfrm>
          <a:prstGeom prst="rect">
            <a:avLst/>
          </a:prstGeom>
          <a:solidFill>
            <a:srgbClr val="E5243B"/>
          </a:solidFill>
          <a:ln w="12700">
            <a:solidFill>
              <a:srgbClr val="E5243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5" name="Text 163"/>
          <p:cNvSpPr/>
          <p:nvPr/>
        </p:nvSpPr>
        <p:spPr>
          <a:xfrm>
            <a:off x="8604504" y="40888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/ peligro</a:t>
            </a:r>
            <a:endParaRPr lang="en-US" sz="750" dirty="0"/>
          </a:p>
        </p:txBody>
      </p:sp>
      <p:sp>
        <p:nvSpPr>
          <p:cNvPr id="166" name="Text 164"/>
          <p:cNvSpPr/>
          <p:nvPr/>
        </p:nvSpPr>
        <p:spPr>
          <a:xfrm>
            <a:off x="8604504" y="43140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C3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#E5243B  ·  Danger Red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8275320" y="4556760"/>
            <a:ext cx="3703320" cy="477012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8" name="Shape 166"/>
          <p:cNvSpPr/>
          <p:nvPr/>
        </p:nvSpPr>
        <p:spPr>
          <a:xfrm>
            <a:off x="8275320" y="4575048"/>
            <a:ext cx="256032" cy="440436"/>
          </a:xfrm>
          <a:prstGeom prst="rect">
            <a:avLst/>
          </a:prstGeom>
          <a:solidFill>
            <a:srgbClr val="1B81A8"/>
          </a:solidFill>
          <a:ln w="12700">
            <a:solidFill>
              <a:srgbClr val="1B81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9" name="Text 167"/>
          <p:cNvSpPr/>
          <p:nvPr/>
        </p:nvSpPr>
        <p:spPr>
          <a:xfrm>
            <a:off x="8604504" y="45841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principal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8604504" y="48093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C3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#1B81A8  ·  Science Blue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8275320" y="5052060"/>
            <a:ext cx="3703320" cy="477012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2" name="Shape 170"/>
          <p:cNvSpPr/>
          <p:nvPr/>
        </p:nvSpPr>
        <p:spPr>
          <a:xfrm>
            <a:off x="8275320" y="5070348"/>
            <a:ext cx="256032" cy="440436"/>
          </a:xfrm>
          <a:prstGeom prst="rect">
            <a:avLst/>
          </a:prstGeom>
          <a:solidFill>
            <a:srgbClr val="3BA8D0"/>
          </a:solidFill>
          <a:ln w="12700">
            <a:solidFill>
              <a:srgbClr val="3BA8D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3" name="Text 171"/>
          <p:cNvSpPr/>
          <p:nvPr/>
        </p:nvSpPr>
        <p:spPr>
          <a:xfrm>
            <a:off x="8604504" y="50794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secundario</a:t>
            </a:r>
            <a:endParaRPr lang="en-US" sz="750" dirty="0"/>
          </a:p>
        </p:txBody>
      </p:sp>
      <p:sp>
        <p:nvSpPr>
          <p:cNvPr id="174" name="Text 172"/>
          <p:cNvSpPr/>
          <p:nvPr/>
        </p:nvSpPr>
        <p:spPr>
          <a:xfrm>
            <a:off x="8604504" y="53046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C3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#3BA8D0  ·  Sky Blue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8275320" y="5547360"/>
            <a:ext cx="3703320" cy="477012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6" name="Shape 174"/>
          <p:cNvSpPr/>
          <p:nvPr/>
        </p:nvSpPr>
        <p:spPr>
          <a:xfrm>
            <a:off x="8275320" y="5565648"/>
            <a:ext cx="256032" cy="440436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7" name="Text 175"/>
          <p:cNvSpPr/>
          <p:nvPr/>
        </p:nvSpPr>
        <p:spPr>
          <a:xfrm>
            <a:off x="8604504" y="5574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Institución / headers</a:t>
            </a:r>
            <a:endParaRPr lang="en-US" sz="750" dirty="0"/>
          </a:p>
        </p:txBody>
      </p:sp>
      <p:sp>
        <p:nvSpPr>
          <p:cNvPr id="178" name="Text 176"/>
          <p:cNvSpPr/>
          <p:nvPr/>
        </p:nvSpPr>
        <p:spPr>
          <a:xfrm>
            <a:off x="8604504" y="5799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C3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#0B3D91  ·  NASA Blue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8275320" y="6042660"/>
            <a:ext cx="3703320" cy="477012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0" name="Shape 178"/>
          <p:cNvSpPr/>
          <p:nvPr/>
        </p:nvSpPr>
        <p:spPr>
          <a:xfrm>
            <a:off x="8275320" y="6060948"/>
            <a:ext cx="256032" cy="440436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1" name="Text 179"/>
          <p:cNvSpPr/>
          <p:nvPr/>
        </p:nvSpPr>
        <p:spPr>
          <a:xfrm>
            <a:off x="8604504" y="6070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Bordes / separadores</a:t>
            </a:r>
            <a:endParaRPr lang="en-US" sz="750" dirty="0"/>
          </a:p>
        </p:txBody>
      </p:sp>
      <p:sp>
        <p:nvSpPr>
          <p:cNvPr id="182" name="Text 180"/>
          <p:cNvSpPr/>
          <p:nvPr/>
        </p:nvSpPr>
        <p:spPr>
          <a:xfrm>
            <a:off x="8604504" y="6295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C3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#1A3050  ·  Border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8275320" y="6574536"/>
            <a:ext cx="3703320" cy="256032"/>
          </a:xfrm>
          <a:prstGeom prst="rect">
            <a:avLst/>
          </a:prstGeom>
          <a:solidFill>
            <a:srgbClr val="0A1428"/>
          </a:solidFill>
          <a:ln w="12700">
            <a:solidFill>
              <a:srgbClr val="FC3D2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4" name="Text 182"/>
          <p:cNvSpPr/>
          <p:nvPr/>
        </p:nvSpPr>
        <p:spPr>
          <a:xfrm>
            <a:off x="8366760" y="661111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NASA Blue #0B3D91 + Red #FC3D21 = autoridad científica. Datos con precisión.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6" name="Text 184"/>
          <p:cNvSpPr/>
          <p:nvPr/>
        </p:nvSpPr>
        <p:spPr>
          <a:xfrm>
            <a:off x="274320" y="6793992"/>
            <a:ext cx="914400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3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 ·  PALETA OFICIAL  ·  nasa.gov · NASA Brand Standards · GSFC Style Guide</a:t>
            </a:r>
            <a:endParaRPr lang="en-US" sz="550" dirty="0"/>
          </a:p>
        </p:txBody>
      </p:sp>
      <p:sp>
        <p:nvSpPr>
          <p:cNvPr id="187" name="Text 185"/>
          <p:cNvSpPr/>
          <p:nvPr/>
        </p:nvSpPr>
        <p:spPr>
          <a:xfrm>
            <a:off x="0" y="6793992"/>
            <a:ext cx="119786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1A3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COLORES  ·  4 SISTEMAS  ·  1 LÁMINA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AECOM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COLORES OFICIAL  ·  Infrastructure · Design · Construction · Engineering Excellence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4320" y="795528"/>
            <a:ext cx="781812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8183880" y="73152"/>
            <a:ext cx="18288" cy="672084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7818120" cy="201168"/>
          </a:xfrm>
          <a:prstGeom prst="rect">
            <a:avLst/>
          </a:prstGeom>
          <a:solidFill>
            <a:srgbClr val="181818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>
            <a:off x="274320" y="841248"/>
            <a:ext cx="36576" cy="20116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65760" y="8412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PRINCIPAL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" y="84124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aecom.com · AECOM Brand Identity · Corporate Guidelines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74320" y="1042416"/>
            <a:ext cx="2563368" cy="761101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338328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#FF6600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03517"/>
            <a:ext cx="2563368" cy="466481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338328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AECOM Orange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8328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102, 0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38328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identidad primario · Acento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901696" y="1042416"/>
            <a:ext cx="2563368" cy="761101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2965704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#1A1A1A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01696" y="1803517"/>
            <a:ext cx="2563368" cy="466481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2965704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Black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965704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26, 26, 26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965704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base · Autoridad técnica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529072" y="1042416"/>
            <a:ext cx="2563368" cy="7611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5593080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29072" y="1803517"/>
            <a:ext cx="2563368" cy="466481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Text 25"/>
          <p:cNvSpPr/>
          <p:nvPr/>
        </p:nvSpPr>
        <p:spPr>
          <a:xfrm>
            <a:off x="5593080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593080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255, 255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593080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· Planos · Contraste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74320" y="2334006"/>
            <a:ext cx="7818120" cy="201168"/>
          </a:xfrm>
          <a:prstGeom prst="rect">
            <a:avLst/>
          </a:prstGeom>
          <a:solidFill>
            <a:srgbClr val="181818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Shape 29"/>
          <p:cNvSpPr/>
          <p:nvPr/>
        </p:nvSpPr>
        <p:spPr>
          <a:xfrm>
            <a:off x="274320" y="2334006"/>
            <a:ext cx="36576" cy="201168"/>
          </a:xfrm>
          <a:prstGeom prst="rect">
            <a:avLst/>
          </a:prstGeom>
          <a:solidFill>
            <a:srgbClr val="FF9955"/>
          </a:solidFill>
          <a:ln w="12700">
            <a:solidFill>
              <a:srgbClr val="FF995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365760" y="233400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F9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NARANJAS — IDENTIDAD AECOM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" y="2334006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AECOM Color Extensions · Brand System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74320" y="2535174"/>
            <a:ext cx="1512418" cy="761101"/>
          </a:xfrm>
          <a:prstGeom prst="rect">
            <a:avLst/>
          </a:prstGeom>
          <a:solidFill>
            <a:srgbClr val="CC4400"/>
          </a:solidFill>
          <a:ln w="12700">
            <a:solidFill>
              <a:srgbClr val="CC44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Text 33"/>
          <p:cNvSpPr/>
          <p:nvPr/>
        </p:nvSpPr>
        <p:spPr>
          <a:xfrm>
            <a:off x="338328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#CC4400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296275"/>
            <a:ext cx="1512418" cy="466481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/>
          <p:nvPr/>
        </p:nvSpPr>
        <p:spPr>
          <a:xfrm>
            <a:off x="338328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Dark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8328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204, 68, 0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38328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· Profundidad · Activo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850746" y="2535174"/>
            <a:ext cx="1512418" cy="761101"/>
          </a:xfrm>
          <a:prstGeom prst="rect">
            <a:avLst/>
          </a:prstGeom>
          <a:solidFill>
            <a:srgbClr val="E85500"/>
          </a:solidFill>
          <a:ln w="12700">
            <a:solidFill>
              <a:srgbClr val="E855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1" name="Text 39"/>
          <p:cNvSpPr/>
          <p:nvPr/>
        </p:nvSpPr>
        <p:spPr>
          <a:xfrm>
            <a:off x="1914754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#E85500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50746" y="3296275"/>
            <a:ext cx="1512418" cy="466481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3" name="Text 41"/>
          <p:cNvSpPr/>
          <p:nvPr/>
        </p:nvSpPr>
        <p:spPr>
          <a:xfrm>
            <a:off x="1914754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Deep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914754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232, 85, 0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914754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Botones activos · CTAs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427171" y="2535174"/>
            <a:ext cx="1512418" cy="761101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7" name="Text 45"/>
          <p:cNvSpPr/>
          <p:nvPr/>
        </p:nvSpPr>
        <p:spPr>
          <a:xfrm>
            <a:off x="3491179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#FF6600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27171" y="3296275"/>
            <a:ext cx="1512418" cy="466481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9" name="Text 47"/>
          <p:cNvSpPr/>
          <p:nvPr/>
        </p:nvSpPr>
        <p:spPr>
          <a:xfrm>
            <a:off x="3491179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Primary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491179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102, 0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491179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principal identidad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5003597" y="2535174"/>
            <a:ext cx="1512418" cy="761101"/>
          </a:xfrm>
          <a:prstGeom prst="rect">
            <a:avLst/>
          </a:prstGeom>
          <a:solidFill>
            <a:srgbClr val="FF8833"/>
          </a:solidFill>
          <a:ln w="12700">
            <a:solidFill>
              <a:srgbClr val="FF88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3" name="Text 51"/>
          <p:cNvSpPr/>
          <p:nvPr/>
        </p:nvSpPr>
        <p:spPr>
          <a:xfrm>
            <a:off x="5067605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#FF8833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003597" y="3296275"/>
            <a:ext cx="1512418" cy="466481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5" name="Text 53"/>
          <p:cNvSpPr/>
          <p:nvPr/>
        </p:nvSpPr>
        <p:spPr>
          <a:xfrm>
            <a:off x="5067605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Medium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067605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136, 51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067605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· Gráficas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6580022" y="2535174"/>
            <a:ext cx="1512418" cy="761101"/>
          </a:xfrm>
          <a:prstGeom prst="rect">
            <a:avLst/>
          </a:prstGeom>
          <a:solidFill>
            <a:srgbClr val="FF9955"/>
          </a:solidFill>
          <a:ln w="12700">
            <a:solidFill>
              <a:srgbClr val="FF995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9" name="Text 57"/>
          <p:cNvSpPr/>
          <p:nvPr/>
        </p:nvSpPr>
        <p:spPr>
          <a:xfrm>
            <a:off x="6644030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#FF9955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580022" y="3296275"/>
            <a:ext cx="1512418" cy="466481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1" name="Text 59"/>
          <p:cNvSpPr/>
          <p:nvPr/>
        </p:nvSpPr>
        <p:spPr>
          <a:xfrm>
            <a:off x="6644030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Light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644030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153, 85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644030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· Texto destacado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274320" y="3826764"/>
            <a:ext cx="7818120" cy="201168"/>
          </a:xfrm>
          <a:prstGeom prst="rect">
            <a:avLst/>
          </a:prstGeom>
          <a:solidFill>
            <a:srgbClr val="181818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5" name="Shape 63"/>
          <p:cNvSpPr/>
          <p:nvPr/>
        </p:nvSpPr>
        <p:spPr>
          <a:xfrm>
            <a:off x="274320" y="3826764"/>
            <a:ext cx="36576" cy="201168"/>
          </a:xfrm>
          <a:prstGeom prst="rect">
            <a:avLst/>
          </a:prstGeom>
          <a:solidFill>
            <a:srgbClr val="5A9FD4"/>
          </a:solidFill>
          <a:ln w="12700">
            <a:solidFill>
              <a:srgbClr val="5A9FD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6" name="Text 64"/>
          <p:cNvSpPr/>
          <p:nvPr/>
        </p:nvSpPr>
        <p:spPr>
          <a:xfrm>
            <a:off x="365760" y="38267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5A9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AZULES &amp; TÉCNICOS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74320" y="382676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AECOM Infrastructure · Engineering Colors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274320" y="4027932"/>
            <a:ext cx="1512418" cy="761101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9" name="Text 67"/>
          <p:cNvSpPr/>
          <p:nvPr/>
        </p:nvSpPr>
        <p:spPr>
          <a:xfrm>
            <a:off x="338328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#003087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" y="4789033"/>
            <a:ext cx="1512418" cy="466481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1" name="Text 69"/>
          <p:cNvSpPr/>
          <p:nvPr/>
        </p:nvSpPr>
        <p:spPr>
          <a:xfrm>
            <a:off x="338328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Blue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38328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48, 135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338328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Planos técnicos · Ingeniería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1850746" y="4027932"/>
            <a:ext cx="1512418" cy="761101"/>
          </a:xfrm>
          <a:prstGeom prst="rect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5" name="Text 73"/>
          <p:cNvSpPr/>
          <p:nvPr/>
        </p:nvSpPr>
        <p:spPr>
          <a:xfrm>
            <a:off x="1914754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#005A9C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850746" y="4789033"/>
            <a:ext cx="1512418" cy="466481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7" name="Text 75"/>
          <p:cNvSpPr/>
          <p:nvPr/>
        </p:nvSpPr>
        <p:spPr>
          <a:xfrm>
            <a:off x="1914754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Blue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914754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90, 156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1914754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 corporativos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3427171" y="4027932"/>
            <a:ext cx="1512418" cy="761101"/>
          </a:xfrm>
          <a:prstGeom prst="rect">
            <a:avLst/>
          </a:prstGeom>
          <a:solidFill>
            <a:srgbClr val="0078C1"/>
          </a:solidFill>
          <a:ln w="12700">
            <a:solidFill>
              <a:srgbClr val="0078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1" name="Text 79"/>
          <p:cNvSpPr/>
          <p:nvPr/>
        </p:nvSpPr>
        <p:spPr>
          <a:xfrm>
            <a:off x="3491179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#0078C1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427171" y="4789033"/>
            <a:ext cx="1512418" cy="466481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3" name="Text 81"/>
          <p:cNvSpPr/>
          <p:nvPr/>
        </p:nvSpPr>
        <p:spPr>
          <a:xfrm>
            <a:off x="3491179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Medium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3491179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120, 193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3491179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· Gráficas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5003597" y="4027932"/>
            <a:ext cx="1512418" cy="761101"/>
          </a:xfrm>
          <a:prstGeom prst="rect">
            <a:avLst/>
          </a:prstGeom>
          <a:solidFill>
            <a:srgbClr val="5A9FD4"/>
          </a:solidFill>
          <a:ln w="12700">
            <a:solidFill>
              <a:srgbClr val="5A9FD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7" name="Text 85"/>
          <p:cNvSpPr/>
          <p:nvPr/>
        </p:nvSpPr>
        <p:spPr>
          <a:xfrm>
            <a:off x="5067605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#5A9FD4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003597" y="4789033"/>
            <a:ext cx="1512418" cy="466481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9" name="Text 87"/>
          <p:cNvSpPr/>
          <p:nvPr/>
        </p:nvSpPr>
        <p:spPr>
          <a:xfrm>
            <a:off x="5067605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Light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067605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90, 159, 212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5067605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secundarios · Labels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6580022" y="4027932"/>
            <a:ext cx="1512418" cy="761101"/>
          </a:xfrm>
          <a:prstGeom prst="rect">
            <a:avLst/>
          </a:prstGeom>
          <a:solidFill>
            <a:srgbClr val="A8CFE8"/>
          </a:solidFill>
          <a:ln w="12700">
            <a:solidFill>
              <a:srgbClr val="A8CFE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3" name="Text 91"/>
          <p:cNvSpPr/>
          <p:nvPr/>
        </p:nvSpPr>
        <p:spPr>
          <a:xfrm>
            <a:off x="6644030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#A8CFE8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580022" y="4789033"/>
            <a:ext cx="1512418" cy="466481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5" name="Text 93"/>
          <p:cNvSpPr/>
          <p:nvPr/>
        </p:nvSpPr>
        <p:spPr>
          <a:xfrm>
            <a:off x="6644030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Pale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6644030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168, 207, 232</a:t>
            </a:r>
            <a:endParaRPr lang="en-US" sz="600" dirty="0"/>
          </a:p>
        </p:txBody>
      </p:sp>
      <p:sp>
        <p:nvSpPr>
          <p:cNvPr id="97" name="Text 95"/>
          <p:cNvSpPr/>
          <p:nvPr/>
        </p:nvSpPr>
        <p:spPr>
          <a:xfrm>
            <a:off x="6644030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suaves · Tablas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274320" y="5319522"/>
            <a:ext cx="7818120" cy="201168"/>
          </a:xfrm>
          <a:prstGeom prst="rect">
            <a:avLst/>
          </a:prstGeom>
          <a:solidFill>
            <a:srgbClr val="181818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9" name="Shape 97"/>
          <p:cNvSpPr/>
          <p:nvPr/>
        </p:nvSpPr>
        <p:spPr>
          <a:xfrm>
            <a:off x="274320" y="5319522"/>
            <a:ext cx="36576" cy="201168"/>
          </a:xfrm>
          <a:prstGeom prst="rect">
            <a:avLst/>
          </a:prstGeom>
          <a:solidFill>
            <a:srgbClr val="BCBEC0"/>
          </a:solidFill>
          <a:ln w="12700">
            <a:solidFill>
              <a:srgbClr val="BCBEC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0" name="Text 98"/>
          <p:cNvSpPr/>
          <p:nvPr/>
        </p:nvSpPr>
        <p:spPr>
          <a:xfrm>
            <a:off x="365760" y="531952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BCB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GRISES &amp; COMPLEMENTARIOS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274320" y="5319522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AECOM Neutral System · Structural Colors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274320" y="5520690"/>
            <a:ext cx="1512418" cy="761101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3" name="Text 101"/>
          <p:cNvSpPr/>
          <p:nvPr/>
        </p:nvSpPr>
        <p:spPr>
          <a:xfrm>
            <a:off x="338328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#2E2E2E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274320" y="6281791"/>
            <a:ext cx="1512418" cy="466481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5" name="Text 103"/>
          <p:cNvSpPr/>
          <p:nvPr/>
        </p:nvSpPr>
        <p:spPr>
          <a:xfrm>
            <a:off x="338328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Dark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338328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46, 46, 46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338328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· Panels oscuros</a:t>
            </a:r>
            <a:endParaRPr lang="en-US" sz="600" dirty="0"/>
          </a:p>
        </p:txBody>
      </p:sp>
      <p:sp>
        <p:nvSpPr>
          <p:cNvPr id="108" name="Shape 106"/>
          <p:cNvSpPr/>
          <p:nvPr/>
        </p:nvSpPr>
        <p:spPr>
          <a:xfrm>
            <a:off x="1850746" y="5520690"/>
            <a:ext cx="1512418" cy="761101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9" name="Text 107"/>
          <p:cNvSpPr/>
          <p:nvPr/>
        </p:nvSpPr>
        <p:spPr>
          <a:xfrm>
            <a:off x="1914754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#555555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1850746" y="6281791"/>
            <a:ext cx="1512418" cy="466481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1" name="Text 109"/>
          <p:cNvSpPr/>
          <p:nvPr/>
        </p:nvSpPr>
        <p:spPr>
          <a:xfrm>
            <a:off x="1914754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Medium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1914754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85, 85, 85</a:t>
            </a:r>
            <a:endParaRPr lang="en-US" sz="600" dirty="0"/>
          </a:p>
        </p:txBody>
      </p:sp>
      <p:sp>
        <p:nvSpPr>
          <p:cNvPr id="113" name="Text 111"/>
          <p:cNvSpPr/>
          <p:nvPr/>
        </p:nvSpPr>
        <p:spPr>
          <a:xfrm>
            <a:off x="1914754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sobre claro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3427171" y="5520690"/>
            <a:ext cx="1512418" cy="761101"/>
          </a:xfrm>
          <a:prstGeom prst="rect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5" name="Text 113"/>
          <p:cNvSpPr/>
          <p:nvPr/>
        </p:nvSpPr>
        <p:spPr>
          <a:xfrm>
            <a:off x="3491179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#6D6E71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3427171" y="6281791"/>
            <a:ext cx="1512418" cy="466481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7" name="Text 115"/>
          <p:cNvSpPr/>
          <p:nvPr/>
        </p:nvSpPr>
        <p:spPr>
          <a:xfrm>
            <a:off x="3491179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Corporate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3491179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109, 110, 113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3491179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 oficial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5003597" y="5520690"/>
            <a:ext cx="1512418" cy="761101"/>
          </a:xfrm>
          <a:prstGeom prst="rect">
            <a:avLst/>
          </a:prstGeom>
          <a:solidFill>
            <a:srgbClr val="BCBEC0"/>
          </a:solidFill>
          <a:ln w="12700">
            <a:solidFill>
              <a:srgbClr val="BCBEC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1" name="Text 119"/>
          <p:cNvSpPr/>
          <p:nvPr/>
        </p:nvSpPr>
        <p:spPr>
          <a:xfrm>
            <a:off x="5067605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#BCBEC0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5003597" y="6281791"/>
            <a:ext cx="1512418" cy="466481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3" name="Text 121"/>
          <p:cNvSpPr/>
          <p:nvPr/>
        </p:nvSpPr>
        <p:spPr>
          <a:xfrm>
            <a:off x="5067605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Light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5067605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188, 190, 192</a:t>
            </a:r>
            <a:endParaRPr lang="en-US" sz="600" dirty="0"/>
          </a:p>
        </p:txBody>
      </p:sp>
      <p:sp>
        <p:nvSpPr>
          <p:cNvPr id="125" name="Text 123"/>
          <p:cNvSpPr/>
          <p:nvPr/>
        </p:nvSpPr>
        <p:spPr>
          <a:xfrm>
            <a:off x="5067605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Separadores · Bordes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6580022" y="5520690"/>
            <a:ext cx="1512418" cy="761101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7" name="Text 125"/>
          <p:cNvSpPr/>
          <p:nvPr/>
        </p:nvSpPr>
        <p:spPr>
          <a:xfrm>
            <a:off x="6644030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#F2F2F2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6580022" y="6281791"/>
            <a:ext cx="1512418" cy="466481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9" name="Text 127"/>
          <p:cNvSpPr/>
          <p:nvPr/>
        </p:nvSpPr>
        <p:spPr>
          <a:xfrm>
            <a:off x="6644030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Soft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6644030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242, 242, 242</a:t>
            </a:r>
            <a:endParaRPr lang="en-US" sz="600" dirty="0"/>
          </a:p>
        </p:txBody>
      </p:sp>
      <p:sp>
        <p:nvSpPr>
          <p:cNvPr id="131" name="Text 129"/>
          <p:cNvSpPr/>
          <p:nvPr/>
        </p:nvSpPr>
        <p:spPr>
          <a:xfrm>
            <a:off x="6644030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light · Backgrounds</a:t>
            </a:r>
            <a:endParaRPr lang="en-US" sz="600" dirty="0"/>
          </a:p>
        </p:txBody>
      </p:sp>
      <p:sp>
        <p:nvSpPr>
          <p:cNvPr id="132" name="Text 130"/>
          <p:cNvSpPr/>
          <p:nvPr/>
        </p:nvSpPr>
        <p:spPr>
          <a:xfrm>
            <a:off x="8275320" y="914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CONFIGURACIÓN MAESTRA</a:t>
            </a:r>
            <a:endParaRPr lang="en-US" sz="1200" dirty="0"/>
          </a:p>
        </p:txBody>
      </p:sp>
      <p:sp>
        <p:nvSpPr>
          <p:cNvPr id="133" name="Text 131"/>
          <p:cNvSpPr/>
          <p:nvPr/>
        </p:nvSpPr>
        <p:spPr>
          <a:xfrm>
            <a:off x="8275320" y="34747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por función · Empresa Constructora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8275320" y="530352"/>
            <a:ext cx="370332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5" name="Shape 133"/>
          <p:cNvSpPr/>
          <p:nvPr/>
        </p:nvSpPr>
        <p:spPr>
          <a:xfrm>
            <a:off x="8275320" y="594360"/>
            <a:ext cx="3703320" cy="477012"/>
          </a:xfrm>
          <a:prstGeom prst="rect">
            <a:avLst/>
          </a:prstGeom>
          <a:solidFill>
            <a:srgbClr val="181818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6" name="Shape 134"/>
          <p:cNvSpPr/>
          <p:nvPr/>
        </p:nvSpPr>
        <p:spPr>
          <a:xfrm>
            <a:off x="8275320" y="612648"/>
            <a:ext cx="256032" cy="4404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7" name="Text 135"/>
          <p:cNvSpPr/>
          <p:nvPr/>
        </p:nvSpPr>
        <p:spPr>
          <a:xfrm>
            <a:off x="8604504" y="621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portada / dark</a:t>
            </a:r>
            <a:endParaRPr lang="en-US" sz="750" dirty="0"/>
          </a:p>
        </p:txBody>
      </p:sp>
      <p:sp>
        <p:nvSpPr>
          <p:cNvPr id="138" name="Text 136"/>
          <p:cNvSpPr/>
          <p:nvPr/>
        </p:nvSpPr>
        <p:spPr>
          <a:xfrm>
            <a:off x="8604504" y="846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#1A1A1A  ·  Engineering Black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8275320" y="1089660"/>
            <a:ext cx="3703320" cy="477012"/>
          </a:xfrm>
          <a:prstGeom prst="rect">
            <a:avLst/>
          </a:prstGeom>
          <a:solidFill>
            <a:srgbClr val="222222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0" name="Shape 138"/>
          <p:cNvSpPr/>
          <p:nvPr/>
        </p:nvSpPr>
        <p:spPr>
          <a:xfrm>
            <a:off x="8275320" y="1107948"/>
            <a:ext cx="256032" cy="44043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1" name="Text 139"/>
          <p:cNvSpPr/>
          <p:nvPr/>
        </p:nvSpPr>
        <p:spPr>
          <a:xfrm>
            <a:off x="8604504" y="1117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slides contenido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8604504" y="1342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#F2F2F2  ·  Gray Soft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8275320" y="1584960"/>
            <a:ext cx="3703320" cy="477012"/>
          </a:xfrm>
          <a:prstGeom prst="rect">
            <a:avLst/>
          </a:prstGeom>
          <a:solidFill>
            <a:srgbClr val="181818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4" name="Shape 142"/>
          <p:cNvSpPr/>
          <p:nvPr/>
        </p:nvSpPr>
        <p:spPr>
          <a:xfrm>
            <a:off x="8275320" y="1603248"/>
            <a:ext cx="256032" cy="44043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5" name="Text 143"/>
          <p:cNvSpPr/>
          <p:nvPr/>
        </p:nvSpPr>
        <p:spPr>
          <a:xfrm>
            <a:off x="8604504" y="16123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principal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8604504" y="18375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#FF6600  ·  AECOM Orange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8275320" y="2080260"/>
            <a:ext cx="3703320" cy="477012"/>
          </a:xfrm>
          <a:prstGeom prst="rect">
            <a:avLst/>
          </a:prstGeom>
          <a:solidFill>
            <a:srgbClr val="222222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8" name="Shape 146"/>
          <p:cNvSpPr/>
          <p:nvPr/>
        </p:nvSpPr>
        <p:spPr>
          <a:xfrm>
            <a:off x="8275320" y="2098548"/>
            <a:ext cx="256032" cy="440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9" name="Text 147"/>
          <p:cNvSpPr/>
          <p:nvPr/>
        </p:nvSpPr>
        <p:spPr>
          <a:xfrm>
            <a:off x="8604504" y="21076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sobre oscuro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8604504" y="23328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  ·  White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8275320" y="2575560"/>
            <a:ext cx="3703320" cy="477012"/>
          </a:xfrm>
          <a:prstGeom prst="rect">
            <a:avLst/>
          </a:prstGeom>
          <a:solidFill>
            <a:srgbClr val="181818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2" name="Shape 150"/>
          <p:cNvSpPr/>
          <p:nvPr/>
        </p:nvSpPr>
        <p:spPr>
          <a:xfrm>
            <a:off x="8275320" y="2593848"/>
            <a:ext cx="256032" cy="440436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3" name="Text 151"/>
          <p:cNvSpPr/>
          <p:nvPr/>
        </p:nvSpPr>
        <p:spPr>
          <a:xfrm>
            <a:off x="8604504" y="26029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cuerpo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8604504" y="28281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#2E2E2E  ·  Gray Dark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8275320" y="3070860"/>
            <a:ext cx="3703320" cy="477012"/>
          </a:xfrm>
          <a:prstGeom prst="rect">
            <a:avLst/>
          </a:prstGeom>
          <a:solidFill>
            <a:srgbClr val="222222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6" name="Shape 154"/>
          <p:cNvSpPr/>
          <p:nvPr/>
        </p:nvSpPr>
        <p:spPr>
          <a:xfrm>
            <a:off x="8275320" y="3089148"/>
            <a:ext cx="256032" cy="440436"/>
          </a:xfrm>
          <a:prstGeom prst="rect">
            <a:avLst/>
          </a:prstGeom>
          <a:solidFill>
            <a:srgbClr val="FF9955"/>
          </a:solidFill>
          <a:ln w="12700">
            <a:solidFill>
              <a:srgbClr val="FF995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7" name="Text 155"/>
          <p:cNvSpPr/>
          <p:nvPr/>
        </p:nvSpPr>
        <p:spPr>
          <a:xfrm>
            <a:off x="8604504" y="30982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/ destacados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8604504" y="33234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#FF9955  ·  Orange Light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8275320" y="3566160"/>
            <a:ext cx="3703320" cy="477012"/>
          </a:xfrm>
          <a:prstGeom prst="rect">
            <a:avLst/>
          </a:prstGeom>
          <a:solidFill>
            <a:srgbClr val="181818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0" name="Shape 158"/>
          <p:cNvSpPr/>
          <p:nvPr/>
        </p:nvSpPr>
        <p:spPr>
          <a:xfrm>
            <a:off x="8275320" y="3584448"/>
            <a:ext cx="256032" cy="440436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1" name="Text 159"/>
          <p:cNvSpPr/>
          <p:nvPr/>
        </p:nvSpPr>
        <p:spPr>
          <a:xfrm>
            <a:off x="8604504" y="35935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/ técnico</a:t>
            </a:r>
            <a:endParaRPr lang="en-US" sz="750" dirty="0"/>
          </a:p>
        </p:txBody>
      </p:sp>
      <p:sp>
        <p:nvSpPr>
          <p:cNvPr id="162" name="Text 160"/>
          <p:cNvSpPr/>
          <p:nvPr/>
        </p:nvSpPr>
        <p:spPr>
          <a:xfrm>
            <a:off x="8604504" y="38187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#003087  ·  Engineering Blue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8275320" y="4061460"/>
            <a:ext cx="3703320" cy="477012"/>
          </a:xfrm>
          <a:prstGeom prst="rect">
            <a:avLst/>
          </a:prstGeom>
          <a:solidFill>
            <a:srgbClr val="222222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4" name="Shape 162"/>
          <p:cNvSpPr/>
          <p:nvPr/>
        </p:nvSpPr>
        <p:spPr>
          <a:xfrm>
            <a:off x="8275320" y="4079748"/>
            <a:ext cx="256032" cy="440436"/>
          </a:xfrm>
          <a:prstGeom prst="rect">
            <a:avLst/>
          </a:prstGeom>
          <a:solidFill>
            <a:srgbClr val="0078C1"/>
          </a:solidFill>
          <a:ln w="12700">
            <a:solidFill>
              <a:srgbClr val="0078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5" name="Text 163"/>
          <p:cNvSpPr/>
          <p:nvPr/>
        </p:nvSpPr>
        <p:spPr>
          <a:xfrm>
            <a:off x="8604504" y="40888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gráficas</a:t>
            </a:r>
            <a:endParaRPr lang="en-US" sz="750" dirty="0"/>
          </a:p>
        </p:txBody>
      </p:sp>
      <p:sp>
        <p:nvSpPr>
          <p:cNvPr id="166" name="Text 164"/>
          <p:cNvSpPr/>
          <p:nvPr/>
        </p:nvSpPr>
        <p:spPr>
          <a:xfrm>
            <a:off x="8604504" y="43140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#0078C1  ·  Blue Medium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8275320" y="4556760"/>
            <a:ext cx="3703320" cy="477012"/>
          </a:xfrm>
          <a:prstGeom prst="rect">
            <a:avLst/>
          </a:prstGeom>
          <a:solidFill>
            <a:srgbClr val="181818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8" name="Shape 166"/>
          <p:cNvSpPr/>
          <p:nvPr/>
        </p:nvSpPr>
        <p:spPr>
          <a:xfrm>
            <a:off x="8275320" y="4575048"/>
            <a:ext cx="256032" cy="440436"/>
          </a:xfrm>
          <a:prstGeom prst="rect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9" name="Text 167"/>
          <p:cNvSpPr/>
          <p:nvPr/>
        </p:nvSpPr>
        <p:spPr>
          <a:xfrm>
            <a:off x="8604504" y="45841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8604504" y="48093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#6D6E71  ·  Gray Corporate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8275320" y="5052060"/>
            <a:ext cx="3703320" cy="477012"/>
          </a:xfrm>
          <a:prstGeom prst="rect">
            <a:avLst/>
          </a:prstGeom>
          <a:solidFill>
            <a:srgbClr val="222222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2" name="Shape 170"/>
          <p:cNvSpPr/>
          <p:nvPr/>
        </p:nvSpPr>
        <p:spPr>
          <a:xfrm>
            <a:off x="8275320" y="5070348"/>
            <a:ext cx="256032" cy="440436"/>
          </a:xfrm>
          <a:prstGeom prst="rect">
            <a:avLst/>
          </a:prstGeom>
          <a:solidFill>
            <a:srgbClr val="E85500"/>
          </a:solidFill>
          <a:ln w="12700">
            <a:solidFill>
              <a:srgbClr val="E855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3" name="Text 171"/>
          <p:cNvSpPr/>
          <p:nvPr/>
        </p:nvSpPr>
        <p:spPr>
          <a:xfrm>
            <a:off x="8604504" y="50794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/ activos</a:t>
            </a:r>
            <a:endParaRPr lang="en-US" sz="750" dirty="0"/>
          </a:p>
        </p:txBody>
      </p:sp>
      <p:sp>
        <p:nvSpPr>
          <p:cNvPr id="174" name="Text 172"/>
          <p:cNvSpPr/>
          <p:nvPr/>
        </p:nvSpPr>
        <p:spPr>
          <a:xfrm>
            <a:off x="8604504" y="53046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#E85500  ·  Orange Deep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8275320" y="5547360"/>
            <a:ext cx="3703320" cy="477012"/>
          </a:xfrm>
          <a:prstGeom prst="rect">
            <a:avLst/>
          </a:prstGeom>
          <a:solidFill>
            <a:srgbClr val="181818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6" name="Shape 174"/>
          <p:cNvSpPr/>
          <p:nvPr/>
        </p:nvSpPr>
        <p:spPr>
          <a:xfrm>
            <a:off x="8275320" y="5565648"/>
            <a:ext cx="256032" cy="44043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7" name="Text 175"/>
          <p:cNvSpPr/>
          <p:nvPr/>
        </p:nvSpPr>
        <p:spPr>
          <a:xfrm>
            <a:off x="8604504" y="5574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cards / panels</a:t>
            </a:r>
            <a:endParaRPr lang="en-US" sz="750" dirty="0"/>
          </a:p>
        </p:txBody>
      </p:sp>
      <p:sp>
        <p:nvSpPr>
          <p:cNvPr id="178" name="Text 176"/>
          <p:cNvSpPr/>
          <p:nvPr/>
        </p:nvSpPr>
        <p:spPr>
          <a:xfrm>
            <a:off x="8604504" y="5799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#222222  ·  Card BG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8275320" y="6042660"/>
            <a:ext cx="3703320" cy="477012"/>
          </a:xfrm>
          <a:prstGeom prst="rect">
            <a:avLst/>
          </a:prstGeom>
          <a:solidFill>
            <a:srgbClr val="222222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0" name="Shape 178"/>
          <p:cNvSpPr/>
          <p:nvPr/>
        </p:nvSpPr>
        <p:spPr>
          <a:xfrm>
            <a:off x="8275320" y="6060948"/>
            <a:ext cx="256032" cy="440436"/>
          </a:xfrm>
          <a:prstGeom prst="rect">
            <a:avLst/>
          </a:prstGeom>
          <a:solidFill>
            <a:srgbClr val="BCBEC0"/>
          </a:solidFill>
          <a:ln w="12700">
            <a:solidFill>
              <a:srgbClr val="BCBEC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1" name="Text 179"/>
          <p:cNvSpPr/>
          <p:nvPr/>
        </p:nvSpPr>
        <p:spPr>
          <a:xfrm>
            <a:off x="8604504" y="6070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Bordes / separadores</a:t>
            </a:r>
            <a:endParaRPr lang="en-US" sz="750" dirty="0"/>
          </a:p>
        </p:txBody>
      </p:sp>
      <p:sp>
        <p:nvSpPr>
          <p:cNvPr id="182" name="Text 180"/>
          <p:cNvSpPr/>
          <p:nvPr/>
        </p:nvSpPr>
        <p:spPr>
          <a:xfrm>
            <a:off x="8604504" y="6295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#BCBEC0  ·  Gray Light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8275320" y="6574536"/>
            <a:ext cx="3703320" cy="256032"/>
          </a:xfrm>
          <a:prstGeom prst="rect">
            <a:avLst/>
          </a:prstGeom>
          <a:solidFill>
            <a:srgbClr val="181818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4" name="Text 182"/>
          <p:cNvSpPr/>
          <p:nvPr/>
        </p:nvSpPr>
        <p:spPr>
          <a:xfrm>
            <a:off x="8366760" y="661111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Orange #FF6600 = identidad AECOM. Ingeniería con impacto visual.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6" name="Text 184"/>
          <p:cNvSpPr/>
          <p:nvPr/>
        </p:nvSpPr>
        <p:spPr>
          <a:xfrm>
            <a:off x="274320" y="6793992"/>
            <a:ext cx="914400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AECOM  ·  PALETA OFICIAL  ·  aecom.com · Brand Guidelines · Corporate Identity</a:t>
            </a:r>
            <a:endParaRPr lang="en-US" sz="550" dirty="0"/>
          </a:p>
        </p:txBody>
      </p:sp>
      <p:sp>
        <p:nvSpPr>
          <p:cNvPr id="187" name="Text 185"/>
          <p:cNvSpPr/>
          <p:nvPr/>
        </p:nvSpPr>
        <p:spPr>
          <a:xfrm>
            <a:off x="0" y="6793992"/>
            <a:ext cx="119786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COLORES  ·  4 SISTEMAS  ·  1 LÁMINA</a:t>
            </a:r>
            <a:endParaRPr lang="en-US" sz="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KPMG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1B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Blue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002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COLORES OFICIAL  ·  Audit · Tax · Advisory · Big Four Excellence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4320" y="795528"/>
            <a:ext cx="7818120" cy="18288"/>
          </a:xfrm>
          <a:prstGeom prst="rect">
            <a:avLst/>
          </a:prstGeom>
          <a:solidFill>
            <a:srgbClr val="002266"/>
          </a:solidFill>
          <a:ln w="12700">
            <a:solidFill>
              <a:srgbClr val="0022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8183880" y="73152"/>
            <a:ext cx="18288" cy="6720840"/>
          </a:xfrm>
          <a:prstGeom prst="rect">
            <a:avLst/>
          </a:prstGeom>
          <a:solidFill>
            <a:srgbClr val="002266"/>
          </a:solidFill>
          <a:ln w="12700">
            <a:solidFill>
              <a:srgbClr val="0022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7818120" cy="201168"/>
          </a:xfrm>
          <a:prstGeom prst="rect">
            <a:avLst/>
          </a:prstGeom>
          <a:solidFill>
            <a:srgbClr val="000E2D"/>
          </a:solidFill>
          <a:ln w="12700">
            <a:solidFill>
              <a:srgbClr val="0022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>
            <a:off x="274320" y="841248"/>
            <a:ext cx="36576" cy="201168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65760" y="8412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PRINCIPAL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" y="84124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02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KPMG Brand Hub · kpmg.com · Corporate Identity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74320" y="1042416"/>
            <a:ext cx="2563368" cy="761101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338328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#00338D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03517"/>
            <a:ext cx="2563368" cy="466481"/>
          </a:xfrm>
          <a:prstGeom prst="rect">
            <a:avLst/>
          </a:prstGeom>
          <a:solidFill>
            <a:srgbClr val="001540"/>
          </a:solidFill>
          <a:ln w="12700">
            <a:solidFill>
              <a:srgbClr val="00287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338328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 Blue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8328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2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51, 141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38328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AA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identidad primario oficial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901696" y="1042416"/>
            <a:ext cx="2563368" cy="761101"/>
          </a:xfrm>
          <a:prstGeom prst="rect">
            <a:avLst/>
          </a:prstGeom>
          <a:solidFill>
            <a:srgbClr val="001A4E"/>
          </a:solidFill>
          <a:ln w="12700">
            <a:solidFill>
              <a:srgbClr val="001A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2965704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#001A4E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01696" y="1803517"/>
            <a:ext cx="2563368" cy="466481"/>
          </a:xfrm>
          <a:prstGeom prst="rect">
            <a:avLst/>
          </a:prstGeom>
          <a:solidFill>
            <a:srgbClr val="001540"/>
          </a:solidFill>
          <a:ln w="12700">
            <a:solidFill>
              <a:srgbClr val="00287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2965704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 Dark Navy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965704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2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26, 78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965704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AA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oscuros · Portadas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529072" y="1042416"/>
            <a:ext cx="2563368" cy="7611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5593080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29072" y="1803517"/>
            <a:ext cx="2563368" cy="466481"/>
          </a:xfrm>
          <a:prstGeom prst="rect">
            <a:avLst/>
          </a:prstGeom>
          <a:solidFill>
            <a:srgbClr val="001540"/>
          </a:solidFill>
          <a:ln w="12700">
            <a:solidFill>
              <a:srgbClr val="00287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Text 25"/>
          <p:cNvSpPr/>
          <p:nvPr/>
        </p:nvSpPr>
        <p:spPr>
          <a:xfrm>
            <a:off x="5593080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593080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2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255, 255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593080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AA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· Contraste · Presentaciones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74320" y="2334006"/>
            <a:ext cx="7818120" cy="201168"/>
          </a:xfrm>
          <a:prstGeom prst="rect">
            <a:avLst/>
          </a:prstGeom>
          <a:solidFill>
            <a:srgbClr val="000E2D"/>
          </a:solidFill>
          <a:ln w="12700">
            <a:solidFill>
              <a:srgbClr val="0022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Shape 29"/>
          <p:cNvSpPr/>
          <p:nvPr/>
        </p:nvSpPr>
        <p:spPr>
          <a:xfrm>
            <a:off x="274320" y="2334006"/>
            <a:ext cx="36576" cy="201168"/>
          </a:xfrm>
          <a:prstGeom prst="rect">
            <a:avLst/>
          </a:prstGeom>
          <a:solidFill>
            <a:srgbClr val="41B6E6"/>
          </a:solidFill>
          <a:ln w="12700">
            <a:solidFill>
              <a:srgbClr val="41B6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365760" y="233400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1B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 — TRUSTED BLUE SYSTEM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" y="2334006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02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KPMG Color System · Blue Spectrum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74320" y="2535174"/>
            <a:ext cx="1512418" cy="761101"/>
          </a:xfrm>
          <a:prstGeom prst="rect">
            <a:avLst/>
          </a:prstGeom>
          <a:solidFill>
            <a:srgbClr val="001A4E"/>
          </a:solidFill>
          <a:ln w="12700">
            <a:solidFill>
              <a:srgbClr val="001A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Text 33"/>
          <p:cNvSpPr/>
          <p:nvPr/>
        </p:nvSpPr>
        <p:spPr>
          <a:xfrm>
            <a:off x="338328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#001A4E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296275"/>
            <a:ext cx="1512418" cy="466481"/>
          </a:xfrm>
          <a:prstGeom prst="rect">
            <a:avLst/>
          </a:prstGeom>
          <a:solidFill>
            <a:srgbClr val="001540"/>
          </a:solidFill>
          <a:ln w="12700">
            <a:solidFill>
              <a:srgbClr val="00287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/>
          <p:nvPr/>
        </p:nvSpPr>
        <p:spPr>
          <a:xfrm>
            <a:off x="338328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900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8328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2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26, 78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38328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AA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base oscuro premium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850746" y="2535174"/>
            <a:ext cx="1512418" cy="761101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1" name="Text 39"/>
          <p:cNvSpPr/>
          <p:nvPr/>
        </p:nvSpPr>
        <p:spPr>
          <a:xfrm>
            <a:off x="1914754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#00338D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50746" y="3296275"/>
            <a:ext cx="1512418" cy="466481"/>
          </a:xfrm>
          <a:prstGeom prst="rect">
            <a:avLst/>
          </a:prstGeom>
          <a:solidFill>
            <a:srgbClr val="001540"/>
          </a:solidFill>
          <a:ln w="12700">
            <a:solidFill>
              <a:srgbClr val="00287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3" name="Text 41"/>
          <p:cNvSpPr/>
          <p:nvPr/>
        </p:nvSpPr>
        <p:spPr>
          <a:xfrm>
            <a:off x="1914754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 Blue 700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914754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2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51, 141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914754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AA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oficial principal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427171" y="2535174"/>
            <a:ext cx="1512418" cy="761101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7" name="Text 45"/>
          <p:cNvSpPr/>
          <p:nvPr/>
        </p:nvSpPr>
        <p:spPr>
          <a:xfrm>
            <a:off x="3491179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#005EB8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27171" y="3296275"/>
            <a:ext cx="1512418" cy="466481"/>
          </a:xfrm>
          <a:prstGeom prst="rect">
            <a:avLst/>
          </a:prstGeom>
          <a:solidFill>
            <a:srgbClr val="001540"/>
          </a:solidFill>
          <a:ln w="12700">
            <a:solidFill>
              <a:srgbClr val="00287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9" name="Text 47"/>
          <p:cNvSpPr/>
          <p:nvPr/>
        </p:nvSpPr>
        <p:spPr>
          <a:xfrm>
            <a:off x="3491179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500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491179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2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94, 184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491179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AA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secundario · CTA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5003597" y="2535174"/>
            <a:ext cx="1512418" cy="761101"/>
          </a:xfrm>
          <a:prstGeom prst="rect">
            <a:avLst/>
          </a:prstGeom>
          <a:solidFill>
            <a:srgbClr val="009FDA"/>
          </a:solidFill>
          <a:ln w="12700">
            <a:solidFill>
              <a:srgbClr val="009FD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3" name="Text 51"/>
          <p:cNvSpPr/>
          <p:nvPr/>
        </p:nvSpPr>
        <p:spPr>
          <a:xfrm>
            <a:off x="5067605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#009FDA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003597" y="3296275"/>
            <a:ext cx="1512418" cy="466481"/>
          </a:xfrm>
          <a:prstGeom prst="rect">
            <a:avLst/>
          </a:prstGeom>
          <a:solidFill>
            <a:srgbClr val="001540"/>
          </a:solidFill>
          <a:ln w="12700">
            <a:solidFill>
              <a:srgbClr val="00287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5" name="Text 53"/>
          <p:cNvSpPr/>
          <p:nvPr/>
        </p:nvSpPr>
        <p:spPr>
          <a:xfrm>
            <a:off x="5067605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Bright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067605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2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159, 218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067605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AA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· DataViz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6580022" y="2535174"/>
            <a:ext cx="1512418" cy="761101"/>
          </a:xfrm>
          <a:prstGeom prst="rect">
            <a:avLst/>
          </a:prstGeom>
          <a:solidFill>
            <a:srgbClr val="41B6E6"/>
          </a:solidFill>
          <a:ln w="12700">
            <a:solidFill>
              <a:srgbClr val="41B6E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9" name="Text 57"/>
          <p:cNvSpPr/>
          <p:nvPr/>
        </p:nvSpPr>
        <p:spPr>
          <a:xfrm>
            <a:off x="6644030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#41B6E6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580022" y="3296275"/>
            <a:ext cx="1512418" cy="466481"/>
          </a:xfrm>
          <a:prstGeom prst="rect">
            <a:avLst/>
          </a:prstGeom>
          <a:solidFill>
            <a:srgbClr val="001540"/>
          </a:solidFill>
          <a:ln w="12700">
            <a:solidFill>
              <a:srgbClr val="00287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1" name="Text 59"/>
          <p:cNvSpPr/>
          <p:nvPr/>
        </p:nvSpPr>
        <p:spPr>
          <a:xfrm>
            <a:off x="6644030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Light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644030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2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65, 182, 230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644030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AA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· Texto informativo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274320" y="3826764"/>
            <a:ext cx="7818120" cy="201168"/>
          </a:xfrm>
          <a:prstGeom prst="rect">
            <a:avLst/>
          </a:prstGeom>
          <a:solidFill>
            <a:srgbClr val="000E2D"/>
          </a:solidFill>
          <a:ln w="12700">
            <a:solidFill>
              <a:srgbClr val="0022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5" name="Shape 63"/>
          <p:cNvSpPr/>
          <p:nvPr/>
        </p:nvSpPr>
        <p:spPr>
          <a:xfrm>
            <a:off x="274320" y="3826764"/>
            <a:ext cx="36576" cy="201168"/>
          </a:xfrm>
          <a:prstGeom prst="rect">
            <a:avLst/>
          </a:prstGeom>
          <a:solidFill>
            <a:srgbClr val="A8A8A8"/>
          </a:solidFill>
          <a:ln w="1270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6" name="Text 64"/>
          <p:cNvSpPr/>
          <p:nvPr/>
        </p:nvSpPr>
        <p:spPr>
          <a:xfrm>
            <a:off x="365760" y="38267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COMPLEMENTARIOS &amp; ACENTO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74320" y="382676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02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KPMG Extended Palette · Advisory Colors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274320" y="4027932"/>
            <a:ext cx="1512418" cy="761101"/>
          </a:xfrm>
          <a:prstGeom prst="rect">
            <a:avLst/>
          </a:prstGeom>
          <a:solidFill>
            <a:srgbClr val="483698"/>
          </a:solidFill>
          <a:ln w="12700">
            <a:solidFill>
              <a:srgbClr val="48369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9" name="Text 67"/>
          <p:cNvSpPr/>
          <p:nvPr/>
        </p:nvSpPr>
        <p:spPr>
          <a:xfrm>
            <a:off x="338328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#483698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" y="4789033"/>
            <a:ext cx="1512418" cy="466481"/>
          </a:xfrm>
          <a:prstGeom prst="rect">
            <a:avLst/>
          </a:prstGeom>
          <a:solidFill>
            <a:srgbClr val="001540"/>
          </a:solidFill>
          <a:ln w="12700">
            <a:solidFill>
              <a:srgbClr val="00287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1" name="Text 69"/>
          <p:cNvSpPr/>
          <p:nvPr/>
        </p:nvSpPr>
        <p:spPr>
          <a:xfrm>
            <a:off x="338328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Advisory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38328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2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72, 54, 152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338328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AA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· Consultoría estratégica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1850746" y="4027932"/>
            <a:ext cx="1512418" cy="761101"/>
          </a:xfrm>
          <a:prstGeom prst="rect">
            <a:avLst/>
          </a:prstGeom>
          <a:solidFill>
            <a:srgbClr val="00AF3F"/>
          </a:solidFill>
          <a:ln w="12700">
            <a:solidFill>
              <a:srgbClr val="00AF3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5" name="Text 73"/>
          <p:cNvSpPr/>
          <p:nvPr/>
        </p:nvSpPr>
        <p:spPr>
          <a:xfrm>
            <a:off x="1914754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#00AF3F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850746" y="4789033"/>
            <a:ext cx="1512418" cy="466481"/>
          </a:xfrm>
          <a:prstGeom prst="rect">
            <a:avLst/>
          </a:prstGeom>
          <a:solidFill>
            <a:srgbClr val="001540"/>
          </a:solidFill>
          <a:ln w="12700">
            <a:solidFill>
              <a:srgbClr val="00287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7" name="Text 75"/>
          <p:cNvSpPr/>
          <p:nvPr/>
        </p:nvSpPr>
        <p:spPr>
          <a:xfrm>
            <a:off x="1914754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Tax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914754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2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175, 63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1914754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AA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· Positivo · Éxito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3427171" y="4027932"/>
            <a:ext cx="1512418" cy="761101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1" name="Text 79"/>
          <p:cNvSpPr/>
          <p:nvPr/>
        </p:nvSpPr>
        <p:spPr>
          <a:xfrm>
            <a:off x="3491179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#DA291C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427171" y="4789033"/>
            <a:ext cx="1512418" cy="466481"/>
          </a:xfrm>
          <a:prstGeom prst="rect">
            <a:avLst/>
          </a:prstGeom>
          <a:solidFill>
            <a:srgbClr val="001540"/>
          </a:solidFill>
          <a:ln w="12700">
            <a:solidFill>
              <a:srgbClr val="00287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3" name="Text 81"/>
          <p:cNvSpPr/>
          <p:nvPr/>
        </p:nvSpPr>
        <p:spPr>
          <a:xfrm>
            <a:off x="3491179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Alert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3491179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2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218, 41, 28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3491179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AA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· Error · Riesgo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5003597" y="4027932"/>
            <a:ext cx="1512418" cy="761101"/>
          </a:xfrm>
          <a:prstGeom prst="rect">
            <a:avLst/>
          </a:prstGeom>
          <a:solidFill>
            <a:srgbClr val="F2AF00"/>
          </a:solidFill>
          <a:ln w="12700">
            <a:solidFill>
              <a:srgbClr val="F2AF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7" name="Text 85"/>
          <p:cNvSpPr/>
          <p:nvPr/>
        </p:nvSpPr>
        <p:spPr>
          <a:xfrm>
            <a:off x="5067605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#F2AF00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003597" y="4789033"/>
            <a:ext cx="1512418" cy="466481"/>
          </a:xfrm>
          <a:prstGeom prst="rect">
            <a:avLst/>
          </a:prstGeom>
          <a:solidFill>
            <a:srgbClr val="001540"/>
          </a:solidFill>
          <a:ln w="12700">
            <a:solidFill>
              <a:srgbClr val="00287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9" name="Text 87"/>
          <p:cNvSpPr/>
          <p:nvPr/>
        </p:nvSpPr>
        <p:spPr>
          <a:xfrm>
            <a:off x="5067605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Insight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067605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2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242, 175, 0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5067605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AA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· KPIs · Warning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6580022" y="4027932"/>
            <a:ext cx="1512418" cy="761101"/>
          </a:xfrm>
          <a:prstGeom prst="rect">
            <a:avLst/>
          </a:prstGeom>
          <a:solidFill>
            <a:srgbClr val="6AAFDC"/>
          </a:solidFill>
          <a:ln w="12700">
            <a:solidFill>
              <a:srgbClr val="6AAFD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3" name="Text 91"/>
          <p:cNvSpPr/>
          <p:nvPr/>
        </p:nvSpPr>
        <p:spPr>
          <a:xfrm>
            <a:off x="6644030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#6AAFDC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580022" y="4789033"/>
            <a:ext cx="1512418" cy="466481"/>
          </a:xfrm>
          <a:prstGeom prst="rect">
            <a:avLst/>
          </a:prstGeom>
          <a:solidFill>
            <a:srgbClr val="001540"/>
          </a:solidFill>
          <a:ln w="12700">
            <a:solidFill>
              <a:srgbClr val="00287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5" name="Text 93"/>
          <p:cNvSpPr/>
          <p:nvPr/>
        </p:nvSpPr>
        <p:spPr>
          <a:xfrm>
            <a:off x="6644030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Muted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6644030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2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106, 175, 220</a:t>
            </a:r>
            <a:endParaRPr lang="en-US" sz="600" dirty="0"/>
          </a:p>
        </p:txBody>
      </p:sp>
      <p:sp>
        <p:nvSpPr>
          <p:cNvPr id="97" name="Text 95"/>
          <p:cNvSpPr/>
          <p:nvPr/>
        </p:nvSpPr>
        <p:spPr>
          <a:xfrm>
            <a:off x="6644030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AA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 · Metadatos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274320" y="5319522"/>
            <a:ext cx="7818120" cy="201168"/>
          </a:xfrm>
          <a:prstGeom prst="rect">
            <a:avLst/>
          </a:prstGeom>
          <a:solidFill>
            <a:srgbClr val="000E2D"/>
          </a:solidFill>
          <a:ln w="12700">
            <a:solidFill>
              <a:srgbClr val="0022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9" name="Shape 97"/>
          <p:cNvSpPr/>
          <p:nvPr/>
        </p:nvSpPr>
        <p:spPr>
          <a:xfrm>
            <a:off x="274320" y="5319522"/>
            <a:ext cx="36576" cy="20116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0" name="Text 98"/>
          <p:cNvSpPr/>
          <p:nvPr/>
        </p:nvSpPr>
        <p:spPr>
          <a:xfrm>
            <a:off x="365760" y="531952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GRISES &amp; NEUTROS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274320" y="5319522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02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KPMG Neutral System · Professional Grays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274320" y="5520690"/>
            <a:ext cx="1512418" cy="761101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3" name="Text 101"/>
          <p:cNvSpPr/>
          <p:nvPr/>
        </p:nvSpPr>
        <p:spPr>
          <a:xfrm>
            <a:off x="338328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#1C1C1C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274320" y="6281791"/>
            <a:ext cx="1512418" cy="466481"/>
          </a:xfrm>
          <a:prstGeom prst="rect">
            <a:avLst/>
          </a:prstGeom>
          <a:solidFill>
            <a:srgbClr val="001540"/>
          </a:solidFill>
          <a:ln w="12700">
            <a:solidFill>
              <a:srgbClr val="00287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5" name="Text 103"/>
          <p:cNvSpPr/>
          <p:nvPr/>
        </p:nvSpPr>
        <p:spPr>
          <a:xfrm>
            <a:off x="338328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Black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338328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2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28, 28, 28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338328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AA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principal sobre claro</a:t>
            </a:r>
            <a:endParaRPr lang="en-US" sz="600" dirty="0"/>
          </a:p>
        </p:txBody>
      </p:sp>
      <p:sp>
        <p:nvSpPr>
          <p:cNvPr id="108" name="Shape 106"/>
          <p:cNvSpPr/>
          <p:nvPr/>
        </p:nvSpPr>
        <p:spPr>
          <a:xfrm>
            <a:off x="1850746" y="5520690"/>
            <a:ext cx="1512418" cy="761101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9" name="Text 107"/>
          <p:cNvSpPr/>
          <p:nvPr/>
        </p:nvSpPr>
        <p:spPr>
          <a:xfrm>
            <a:off x="1914754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#333333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1850746" y="6281791"/>
            <a:ext cx="1512418" cy="466481"/>
          </a:xfrm>
          <a:prstGeom prst="rect">
            <a:avLst/>
          </a:prstGeom>
          <a:solidFill>
            <a:srgbClr val="001540"/>
          </a:solidFill>
          <a:ln w="12700">
            <a:solidFill>
              <a:srgbClr val="00287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1" name="Text 109"/>
          <p:cNvSpPr/>
          <p:nvPr/>
        </p:nvSpPr>
        <p:spPr>
          <a:xfrm>
            <a:off x="1914754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Dark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1914754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2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51, 51, 51</a:t>
            </a:r>
            <a:endParaRPr lang="en-US" sz="600" dirty="0"/>
          </a:p>
        </p:txBody>
      </p:sp>
      <p:sp>
        <p:nvSpPr>
          <p:cNvPr id="113" name="Text 111"/>
          <p:cNvSpPr/>
          <p:nvPr/>
        </p:nvSpPr>
        <p:spPr>
          <a:xfrm>
            <a:off x="1914754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AA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Subtítulos · Texto cuerpo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3427171" y="5520690"/>
            <a:ext cx="1512418" cy="761101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5" name="Text 113"/>
          <p:cNvSpPr/>
          <p:nvPr/>
        </p:nvSpPr>
        <p:spPr>
          <a:xfrm>
            <a:off x="3491179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#666666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3427171" y="6281791"/>
            <a:ext cx="1512418" cy="466481"/>
          </a:xfrm>
          <a:prstGeom prst="rect">
            <a:avLst/>
          </a:prstGeom>
          <a:solidFill>
            <a:srgbClr val="001540"/>
          </a:solidFill>
          <a:ln w="12700">
            <a:solidFill>
              <a:srgbClr val="00287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7" name="Text 115"/>
          <p:cNvSpPr/>
          <p:nvPr/>
        </p:nvSpPr>
        <p:spPr>
          <a:xfrm>
            <a:off x="3491179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Mid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3491179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2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102, 102, 102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3491179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AA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· Texto terciario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5003597" y="5520690"/>
            <a:ext cx="1512418" cy="761101"/>
          </a:xfrm>
          <a:prstGeom prst="rect">
            <a:avLst/>
          </a:prstGeom>
          <a:solidFill>
            <a:srgbClr val="A8A8A8"/>
          </a:solidFill>
          <a:ln w="1270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1" name="Text 119"/>
          <p:cNvSpPr/>
          <p:nvPr/>
        </p:nvSpPr>
        <p:spPr>
          <a:xfrm>
            <a:off x="5067605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#A8A8A8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5003597" y="6281791"/>
            <a:ext cx="1512418" cy="466481"/>
          </a:xfrm>
          <a:prstGeom prst="rect">
            <a:avLst/>
          </a:prstGeom>
          <a:solidFill>
            <a:srgbClr val="001540"/>
          </a:solidFill>
          <a:ln w="12700">
            <a:solidFill>
              <a:srgbClr val="00287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3" name="Text 121"/>
          <p:cNvSpPr/>
          <p:nvPr/>
        </p:nvSpPr>
        <p:spPr>
          <a:xfrm>
            <a:off x="5067605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Light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5067605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2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168, 168, 168</a:t>
            </a:r>
            <a:endParaRPr lang="en-US" sz="600" dirty="0"/>
          </a:p>
        </p:txBody>
      </p:sp>
      <p:sp>
        <p:nvSpPr>
          <p:cNvPr id="125" name="Text 123"/>
          <p:cNvSpPr/>
          <p:nvPr/>
        </p:nvSpPr>
        <p:spPr>
          <a:xfrm>
            <a:off x="5067605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AA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Separadores · Bordes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6580022" y="5520690"/>
            <a:ext cx="1512418" cy="761101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7" name="Text 125"/>
          <p:cNvSpPr/>
          <p:nvPr/>
        </p:nvSpPr>
        <p:spPr>
          <a:xfrm>
            <a:off x="6644030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#E8E8E8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6580022" y="6281791"/>
            <a:ext cx="1512418" cy="466481"/>
          </a:xfrm>
          <a:prstGeom prst="rect">
            <a:avLst/>
          </a:prstGeom>
          <a:solidFill>
            <a:srgbClr val="001540"/>
          </a:solidFill>
          <a:ln w="12700">
            <a:solidFill>
              <a:srgbClr val="00287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9" name="Text 127"/>
          <p:cNvSpPr/>
          <p:nvPr/>
        </p:nvSpPr>
        <p:spPr>
          <a:xfrm>
            <a:off x="6644030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Pale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6644030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2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232, 232, 232</a:t>
            </a:r>
            <a:endParaRPr lang="en-US" sz="600" dirty="0"/>
          </a:p>
        </p:txBody>
      </p:sp>
      <p:sp>
        <p:nvSpPr>
          <p:cNvPr id="131" name="Text 129"/>
          <p:cNvSpPr/>
          <p:nvPr/>
        </p:nvSpPr>
        <p:spPr>
          <a:xfrm>
            <a:off x="6644030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AA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claro · Tablas</a:t>
            </a:r>
            <a:endParaRPr lang="en-US" sz="600" dirty="0"/>
          </a:p>
        </p:txBody>
      </p:sp>
      <p:sp>
        <p:nvSpPr>
          <p:cNvPr id="132" name="Text 130"/>
          <p:cNvSpPr/>
          <p:nvPr/>
        </p:nvSpPr>
        <p:spPr>
          <a:xfrm>
            <a:off x="8275320" y="914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CONFIGURACIÓN MAESTRA</a:t>
            </a:r>
            <a:endParaRPr lang="en-US" sz="1200" dirty="0"/>
          </a:p>
        </p:txBody>
      </p:sp>
      <p:sp>
        <p:nvSpPr>
          <p:cNvPr id="133" name="Text 131"/>
          <p:cNvSpPr/>
          <p:nvPr/>
        </p:nvSpPr>
        <p:spPr>
          <a:xfrm>
            <a:off x="8275320" y="34747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2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por función · Empresa Constructora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8275320" y="530352"/>
            <a:ext cx="3703320" cy="18288"/>
          </a:xfrm>
          <a:prstGeom prst="rect">
            <a:avLst/>
          </a:prstGeom>
          <a:solidFill>
            <a:srgbClr val="002266"/>
          </a:solidFill>
          <a:ln w="12700">
            <a:solidFill>
              <a:srgbClr val="0022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5" name="Shape 133"/>
          <p:cNvSpPr/>
          <p:nvPr/>
        </p:nvSpPr>
        <p:spPr>
          <a:xfrm>
            <a:off x="8275320" y="594360"/>
            <a:ext cx="3703320" cy="477012"/>
          </a:xfrm>
          <a:prstGeom prst="rect">
            <a:avLst/>
          </a:prstGeom>
          <a:solidFill>
            <a:srgbClr val="000E2D"/>
          </a:solidFill>
          <a:ln w="12700">
            <a:solidFill>
              <a:srgbClr val="0022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6" name="Shape 134"/>
          <p:cNvSpPr/>
          <p:nvPr/>
        </p:nvSpPr>
        <p:spPr>
          <a:xfrm>
            <a:off x="8275320" y="612648"/>
            <a:ext cx="256032" cy="440436"/>
          </a:xfrm>
          <a:prstGeom prst="rect">
            <a:avLst/>
          </a:prstGeom>
          <a:solidFill>
            <a:srgbClr val="001A4E"/>
          </a:solidFill>
          <a:ln w="12700">
            <a:solidFill>
              <a:srgbClr val="001A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7" name="Text 135"/>
          <p:cNvSpPr/>
          <p:nvPr/>
        </p:nvSpPr>
        <p:spPr>
          <a:xfrm>
            <a:off x="8604504" y="621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portada / dark</a:t>
            </a:r>
            <a:endParaRPr lang="en-US" sz="750" dirty="0"/>
          </a:p>
        </p:txBody>
      </p:sp>
      <p:sp>
        <p:nvSpPr>
          <p:cNvPr id="138" name="Text 136"/>
          <p:cNvSpPr/>
          <p:nvPr/>
        </p:nvSpPr>
        <p:spPr>
          <a:xfrm>
            <a:off x="8604504" y="846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33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#001A4E  ·  KPMG Dark Navy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8275320" y="1089660"/>
            <a:ext cx="3703320" cy="477012"/>
          </a:xfrm>
          <a:prstGeom prst="rect">
            <a:avLst/>
          </a:prstGeom>
          <a:solidFill>
            <a:srgbClr val="001540"/>
          </a:solidFill>
          <a:ln w="12700">
            <a:solidFill>
              <a:srgbClr val="0022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0" name="Shape 138"/>
          <p:cNvSpPr/>
          <p:nvPr/>
        </p:nvSpPr>
        <p:spPr>
          <a:xfrm>
            <a:off x="8275320" y="1107948"/>
            <a:ext cx="256032" cy="440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1" name="Text 139"/>
          <p:cNvSpPr/>
          <p:nvPr/>
        </p:nvSpPr>
        <p:spPr>
          <a:xfrm>
            <a:off x="8604504" y="1117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slides contenido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8604504" y="1342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33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  ·  White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8275320" y="1584960"/>
            <a:ext cx="3703320" cy="477012"/>
          </a:xfrm>
          <a:prstGeom prst="rect">
            <a:avLst/>
          </a:prstGeom>
          <a:solidFill>
            <a:srgbClr val="000E2D"/>
          </a:solidFill>
          <a:ln w="12700">
            <a:solidFill>
              <a:srgbClr val="0022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4" name="Shape 142"/>
          <p:cNvSpPr/>
          <p:nvPr/>
        </p:nvSpPr>
        <p:spPr>
          <a:xfrm>
            <a:off x="8275320" y="1603248"/>
            <a:ext cx="256032" cy="440436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5" name="Text 143"/>
          <p:cNvSpPr/>
          <p:nvPr/>
        </p:nvSpPr>
        <p:spPr>
          <a:xfrm>
            <a:off x="8604504" y="16123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principal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8604504" y="18375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33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#00338D  ·  KPMG Blue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8275320" y="2080260"/>
            <a:ext cx="3703320" cy="477012"/>
          </a:xfrm>
          <a:prstGeom prst="rect">
            <a:avLst/>
          </a:prstGeom>
          <a:solidFill>
            <a:srgbClr val="001540"/>
          </a:solidFill>
          <a:ln w="12700">
            <a:solidFill>
              <a:srgbClr val="0022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8" name="Shape 146"/>
          <p:cNvSpPr/>
          <p:nvPr/>
        </p:nvSpPr>
        <p:spPr>
          <a:xfrm>
            <a:off x="8275320" y="2098548"/>
            <a:ext cx="256032" cy="440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9" name="Text 147"/>
          <p:cNvSpPr/>
          <p:nvPr/>
        </p:nvSpPr>
        <p:spPr>
          <a:xfrm>
            <a:off x="8604504" y="21076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sobre oscuro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8604504" y="23328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33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  ·  White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8275320" y="2575560"/>
            <a:ext cx="3703320" cy="477012"/>
          </a:xfrm>
          <a:prstGeom prst="rect">
            <a:avLst/>
          </a:prstGeom>
          <a:solidFill>
            <a:srgbClr val="000E2D"/>
          </a:solidFill>
          <a:ln w="12700">
            <a:solidFill>
              <a:srgbClr val="0022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2" name="Shape 150"/>
          <p:cNvSpPr/>
          <p:nvPr/>
        </p:nvSpPr>
        <p:spPr>
          <a:xfrm>
            <a:off x="8275320" y="2593848"/>
            <a:ext cx="256032" cy="440436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3" name="Text 151"/>
          <p:cNvSpPr/>
          <p:nvPr/>
        </p:nvSpPr>
        <p:spPr>
          <a:xfrm>
            <a:off x="8604504" y="26029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cuerpo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8604504" y="28281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33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#1C1C1C  ·  Near Black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8275320" y="3070860"/>
            <a:ext cx="3703320" cy="477012"/>
          </a:xfrm>
          <a:prstGeom prst="rect">
            <a:avLst/>
          </a:prstGeom>
          <a:solidFill>
            <a:srgbClr val="001540"/>
          </a:solidFill>
          <a:ln w="12700">
            <a:solidFill>
              <a:srgbClr val="0022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6" name="Shape 154"/>
          <p:cNvSpPr/>
          <p:nvPr/>
        </p:nvSpPr>
        <p:spPr>
          <a:xfrm>
            <a:off x="8275320" y="3089148"/>
            <a:ext cx="256032" cy="440436"/>
          </a:xfrm>
          <a:prstGeom prst="rect">
            <a:avLst/>
          </a:prstGeom>
          <a:solidFill>
            <a:srgbClr val="F2AF00"/>
          </a:solidFill>
          <a:ln w="12700">
            <a:solidFill>
              <a:srgbClr val="F2AF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7" name="Text 155"/>
          <p:cNvSpPr/>
          <p:nvPr/>
        </p:nvSpPr>
        <p:spPr>
          <a:xfrm>
            <a:off x="8604504" y="30982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/ métricas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8604504" y="33234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33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#F2AF00  ·  Gold Insight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8275320" y="3566160"/>
            <a:ext cx="3703320" cy="477012"/>
          </a:xfrm>
          <a:prstGeom prst="rect">
            <a:avLst/>
          </a:prstGeom>
          <a:solidFill>
            <a:srgbClr val="000E2D"/>
          </a:solidFill>
          <a:ln w="12700">
            <a:solidFill>
              <a:srgbClr val="0022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0" name="Shape 158"/>
          <p:cNvSpPr/>
          <p:nvPr/>
        </p:nvSpPr>
        <p:spPr>
          <a:xfrm>
            <a:off x="8275320" y="3584448"/>
            <a:ext cx="256032" cy="440436"/>
          </a:xfrm>
          <a:prstGeom prst="rect">
            <a:avLst/>
          </a:prstGeom>
          <a:solidFill>
            <a:srgbClr val="00AF3F"/>
          </a:solidFill>
          <a:ln w="12700">
            <a:solidFill>
              <a:srgbClr val="00AF3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1" name="Text 159"/>
          <p:cNvSpPr/>
          <p:nvPr/>
        </p:nvSpPr>
        <p:spPr>
          <a:xfrm>
            <a:off x="8604504" y="35935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Positivo / éxito</a:t>
            </a:r>
            <a:endParaRPr lang="en-US" sz="750" dirty="0"/>
          </a:p>
        </p:txBody>
      </p:sp>
      <p:sp>
        <p:nvSpPr>
          <p:cNvPr id="162" name="Text 160"/>
          <p:cNvSpPr/>
          <p:nvPr/>
        </p:nvSpPr>
        <p:spPr>
          <a:xfrm>
            <a:off x="8604504" y="38187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33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#00AF3F  ·  Green Tax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8275320" y="4061460"/>
            <a:ext cx="3703320" cy="477012"/>
          </a:xfrm>
          <a:prstGeom prst="rect">
            <a:avLst/>
          </a:prstGeom>
          <a:solidFill>
            <a:srgbClr val="001540"/>
          </a:solidFill>
          <a:ln w="12700">
            <a:solidFill>
              <a:srgbClr val="0022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4" name="Shape 162"/>
          <p:cNvSpPr/>
          <p:nvPr/>
        </p:nvSpPr>
        <p:spPr>
          <a:xfrm>
            <a:off x="8275320" y="4079748"/>
            <a:ext cx="256032" cy="440436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5" name="Text 163"/>
          <p:cNvSpPr/>
          <p:nvPr/>
        </p:nvSpPr>
        <p:spPr>
          <a:xfrm>
            <a:off x="8604504" y="40888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/ riesgo</a:t>
            </a:r>
            <a:endParaRPr lang="en-US" sz="750" dirty="0"/>
          </a:p>
        </p:txBody>
      </p:sp>
      <p:sp>
        <p:nvSpPr>
          <p:cNvPr id="166" name="Text 164"/>
          <p:cNvSpPr/>
          <p:nvPr/>
        </p:nvSpPr>
        <p:spPr>
          <a:xfrm>
            <a:off x="8604504" y="43140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33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#DA291C  ·  Red Alert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8275320" y="4556760"/>
            <a:ext cx="3703320" cy="477012"/>
          </a:xfrm>
          <a:prstGeom prst="rect">
            <a:avLst/>
          </a:prstGeom>
          <a:solidFill>
            <a:srgbClr val="000E2D"/>
          </a:solidFill>
          <a:ln w="12700">
            <a:solidFill>
              <a:srgbClr val="0022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8" name="Shape 166"/>
          <p:cNvSpPr/>
          <p:nvPr/>
        </p:nvSpPr>
        <p:spPr>
          <a:xfrm>
            <a:off x="8275320" y="4575048"/>
            <a:ext cx="256032" cy="440436"/>
          </a:xfrm>
          <a:prstGeom prst="rect">
            <a:avLst/>
          </a:prstGeom>
          <a:solidFill>
            <a:srgbClr val="483698"/>
          </a:solidFill>
          <a:ln w="12700">
            <a:solidFill>
              <a:srgbClr val="48369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9" name="Text 167"/>
          <p:cNvSpPr/>
          <p:nvPr/>
        </p:nvSpPr>
        <p:spPr>
          <a:xfrm>
            <a:off x="8604504" y="45841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especial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8604504" y="48093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33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#483698  ·  Purple Advisory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8275320" y="5052060"/>
            <a:ext cx="3703320" cy="477012"/>
          </a:xfrm>
          <a:prstGeom prst="rect">
            <a:avLst/>
          </a:prstGeom>
          <a:solidFill>
            <a:srgbClr val="001540"/>
          </a:solidFill>
          <a:ln w="12700">
            <a:solidFill>
              <a:srgbClr val="0022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2" name="Shape 170"/>
          <p:cNvSpPr/>
          <p:nvPr/>
        </p:nvSpPr>
        <p:spPr>
          <a:xfrm>
            <a:off x="8275320" y="5070348"/>
            <a:ext cx="256032" cy="440436"/>
          </a:xfrm>
          <a:prstGeom prst="rect">
            <a:avLst/>
          </a:prstGeom>
          <a:solidFill>
            <a:srgbClr val="009FDA"/>
          </a:solidFill>
          <a:ln w="12700">
            <a:solidFill>
              <a:srgbClr val="009FD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3" name="Text 171"/>
          <p:cNvSpPr/>
          <p:nvPr/>
        </p:nvSpPr>
        <p:spPr>
          <a:xfrm>
            <a:off x="8604504" y="50794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/ gráficas</a:t>
            </a:r>
            <a:endParaRPr lang="en-US" sz="750" dirty="0"/>
          </a:p>
        </p:txBody>
      </p:sp>
      <p:sp>
        <p:nvSpPr>
          <p:cNvPr id="174" name="Text 172"/>
          <p:cNvSpPr/>
          <p:nvPr/>
        </p:nvSpPr>
        <p:spPr>
          <a:xfrm>
            <a:off x="8604504" y="53046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33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#009FDA  ·  Blue Bright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8275320" y="5547360"/>
            <a:ext cx="3703320" cy="477012"/>
          </a:xfrm>
          <a:prstGeom prst="rect">
            <a:avLst/>
          </a:prstGeom>
          <a:solidFill>
            <a:srgbClr val="000E2D"/>
          </a:solidFill>
          <a:ln w="12700">
            <a:solidFill>
              <a:srgbClr val="0022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6" name="Shape 174"/>
          <p:cNvSpPr/>
          <p:nvPr/>
        </p:nvSpPr>
        <p:spPr>
          <a:xfrm>
            <a:off x="8275320" y="5565648"/>
            <a:ext cx="256032" cy="440436"/>
          </a:xfrm>
          <a:prstGeom prst="rect">
            <a:avLst/>
          </a:prstGeom>
          <a:solidFill>
            <a:srgbClr val="001540"/>
          </a:solidFill>
          <a:ln w="12700">
            <a:solidFill>
              <a:srgbClr val="0015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7" name="Text 175"/>
          <p:cNvSpPr/>
          <p:nvPr/>
        </p:nvSpPr>
        <p:spPr>
          <a:xfrm>
            <a:off x="8604504" y="5574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cards</a:t>
            </a:r>
            <a:endParaRPr lang="en-US" sz="750" dirty="0"/>
          </a:p>
        </p:txBody>
      </p:sp>
      <p:sp>
        <p:nvSpPr>
          <p:cNvPr id="178" name="Text 176"/>
          <p:cNvSpPr/>
          <p:nvPr/>
        </p:nvSpPr>
        <p:spPr>
          <a:xfrm>
            <a:off x="8604504" y="5799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33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#001540  ·  Card BG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8275320" y="6042660"/>
            <a:ext cx="3703320" cy="477012"/>
          </a:xfrm>
          <a:prstGeom prst="rect">
            <a:avLst/>
          </a:prstGeom>
          <a:solidFill>
            <a:srgbClr val="001540"/>
          </a:solidFill>
          <a:ln w="12700">
            <a:solidFill>
              <a:srgbClr val="0022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0" name="Shape 178"/>
          <p:cNvSpPr/>
          <p:nvPr/>
        </p:nvSpPr>
        <p:spPr>
          <a:xfrm>
            <a:off x="8275320" y="6060948"/>
            <a:ext cx="256032" cy="440436"/>
          </a:xfrm>
          <a:prstGeom prst="rect">
            <a:avLst/>
          </a:prstGeom>
          <a:solidFill>
            <a:srgbClr val="A8A8A8"/>
          </a:solidFill>
          <a:ln w="1270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1" name="Text 179"/>
          <p:cNvSpPr/>
          <p:nvPr/>
        </p:nvSpPr>
        <p:spPr>
          <a:xfrm>
            <a:off x="8604504" y="6070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Bordes / separadores</a:t>
            </a:r>
            <a:endParaRPr lang="en-US" sz="750" dirty="0"/>
          </a:p>
        </p:txBody>
      </p:sp>
      <p:sp>
        <p:nvSpPr>
          <p:cNvPr id="182" name="Text 180"/>
          <p:cNvSpPr/>
          <p:nvPr/>
        </p:nvSpPr>
        <p:spPr>
          <a:xfrm>
            <a:off x="8604504" y="6295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33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#A8A8A8  ·  Gray Light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8275320" y="6574536"/>
            <a:ext cx="3703320" cy="256032"/>
          </a:xfrm>
          <a:prstGeom prst="rect">
            <a:avLst/>
          </a:prstGeom>
          <a:solidFill>
            <a:srgbClr val="000E2D"/>
          </a:solidFill>
          <a:ln w="12700">
            <a:solidFill>
              <a:srgbClr val="00338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4" name="Text 182"/>
          <p:cNvSpPr/>
          <p:nvPr/>
        </p:nvSpPr>
        <p:spPr>
          <a:xfrm>
            <a:off x="8366760" y="661111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KPMG Blue #00338D = confianza. Trusted Blue = autoridad Big Four.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0E2D"/>
          </a:solidFill>
          <a:ln w="12700">
            <a:solidFill>
              <a:srgbClr val="000E2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6" name="Text 184"/>
          <p:cNvSpPr/>
          <p:nvPr/>
        </p:nvSpPr>
        <p:spPr>
          <a:xfrm>
            <a:off x="274320" y="6793992"/>
            <a:ext cx="914400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002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  ·  PALETA OFICIAL  ·  kpmg.com · KPMG Brand Hub · Corporate Identity</a:t>
            </a:r>
            <a:endParaRPr lang="en-US" sz="550" dirty="0"/>
          </a:p>
        </p:txBody>
      </p:sp>
      <p:sp>
        <p:nvSpPr>
          <p:cNvPr id="187" name="Text 185"/>
          <p:cNvSpPr/>
          <p:nvPr/>
        </p:nvSpPr>
        <p:spPr>
          <a:xfrm>
            <a:off x="0" y="6793992"/>
            <a:ext cx="119786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002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COLORES  ·  4 SISTEMAS  ·  1 LÁMINA</a:t>
            </a:r>
            <a:endParaRPr lang="en-US" sz="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Deloitte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Analytics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COLORES OFICIAL  ·  Audit · Consulting · Advisory · Tax · Big Four Leadership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4320" y="795528"/>
            <a:ext cx="781812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8183880" y="73152"/>
            <a:ext cx="18288" cy="6720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7818120" cy="201168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>
            <a:off x="274320" y="841248"/>
            <a:ext cx="36576" cy="201168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65760" y="8412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PRINCIPAL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" y="84124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Deloitte Brand Central · deloitte.com · Corporate Identity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74320" y="1042416"/>
            <a:ext cx="2563368" cy="761101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338328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#86BC25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03517"/>
            <a:ext cx="256336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338328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 Green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8328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134, 188, 37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38328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identidad primario oficial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901696" y="1042416"/>
            <a:ext cx="2563368" cy="761101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2965704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#000000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01696" y="1803517"/>
            <a:ext cx="256336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2965704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965704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0, 0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965704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base · Autoridad corporativa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529072" y="1042416"/>
            <a:ext cx="2563368" cy="7611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5593080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29072" y="1803517"/>
            <a:ext cx="256336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Text 25"/>
          <p:cNvSpPr/>
          <p:nvPr/>
        </p:nvSpPr>
        <p:spPr>
          <a:xfrm>
            <a:off x="5593080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593080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255, 255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593080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· Contraste · Fondos claros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74320" y="2334006"/>
            <a:ext cx="7818120" cy="201168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Shape 29"/>
          <p:cNvSpPr/>
          <p:nvPr/>
        </p:nvSpPr>
        <p:spPr>
          <a:xfrm>
            <a:off x="274320" y="2334006"/>
            <a:ext cx="36576" cy="201168"/>
          </a:xfrm>
          <a:prstGeom prst="rect">
            <a:avLst/>
          </a:prstGeom>
          <a:solidFill>
            <a:srgbClr val="B5D96A"/>
          </a:solidFill>
          <a:ln w="12700">
            <a:solidFill>
              <a:srgbClr val="B5D96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365760" y="233400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B5D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VERDES — IDENTIDAD DELOITTE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" y="2334006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Deloitte Green System · Brand Extensions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74320" y="2535174"/>
            <a:ext cx="1512418" cy="761101"/>
          </a:xfrm>
          <a:prstGeom prst="rect">
            <a:avLst/>
          </a:prstGeom>
          <a:solidFill>
            <a:srgbClr val="5A8500"/>
          </a:solidFill>
          <a:ln w="12700">
            <a:solidFill>
              <a:srgbClr val="5A85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Text 33"/>
          <p:cNvSpPr/>
          <p:nvPr/>
        </p:nvSpPr>
        <p:spPr>
          <a:xfrm>
            <a:off x="338328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#5A8500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296275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/>
          <p:nvPr/>
        </p:nvSpPr>
        <p:spPr>
          <a:xfrm>
            <a:off x="338328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Dark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8328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90, 133, 0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38328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· Botones activos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850746" y="2535174"/>
            <a:ext cx="1512418" cy="761101"/>
          </a:xfrm>
          <a:prstGeom prst="rect">
            <a:avLst/>
          </a:prstGeom>
          <a:solidFill>
            <a:srgbClr val="6FAD00"/>
          </a:solidFill>
          <a:ln w="12700">
            <a:solidFill>
              <a:srgbClr val="6FAD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1" name="Text 39"/>
          <p:cNvSpPr/>
          <p:nvPr/>
        </p:nvSpPr>
        <p:spPr>
          <a:xfrm>
            <a:off x="1914754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#6FAD00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50746" y="3296275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3" name="Text 41"/>
          <p:cNvSpPr/>
          <p:nvPr/>
        </p:nvSpPr>
        <p:spPr>
          <a:xfrm>
            <a:off x="1914754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Deep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914754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111, 173, 0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914754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Variante oscura identidad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427171" y="2535174"/>
            <a:ext cx="1512418" cy="761101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7" name="Text 45"/>
          <p:cNvSpPr/>
          <p:nvPr/>
        </p:nvSpPr>
        <p:spPr>
          <a:xfrm>
            <a:off x="3491179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#86BC25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27171" y="3296275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9" name="Text 47"/>
          <p:cNvSpPr/>
          <p:nvPr/>
        </p:nvSpPr>
        <p:spPr>
          <a:xfrm>
            <a:off x="3491179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Primary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491179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134, 188, 37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491179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oficial principal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5003597" y="2535174"/>
            <a:ext cx="1512418" cy="761101"/>
          </a:xfrm>
          <a:prstGeom prst="rect">
            <a:avLst/>
          </a:prstGeom>
          <a:solidFill>
            <a:srgbClr val="9FCC44"/>
          </a:solidFill>
          <a:ln w="12700">
            <a:solidFill>
              <a:srgbClr val="9FCC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3" name="Text 51"/>
          <p:cNvSpPr/>
          <p:nvPr/>
        </p:nvSpPr>
        <p:spPr>
          <a:xfrm>
            <a:off x="5067605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#9FCC44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003597" y="3296275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5" name="Text 53"/>
          <p:cNvSpPr/>
          <p:nvPr/>
        </p:nvSpPr>
        <p:spPr>
          <a:xfrm>
            <a:off x="5067605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Medium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067605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159, 204, 68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067605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· DataViz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6580022" y="2535174"/>
            <a:ext cx="1512418" cy="761101"/>
          </a:xfrm>
          <a:prstGeom prst="rect">
            <a:avLst/>
          </a:prstGeom>
          <a:solidFill>
            <a:srgbClr val="B5D96A"/>
          </a:solidFill>
          <a:ln w="12700">
            <a:solidFill>
              <a:srgbClr val="B5D96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9" name="Text 57"/>
          <p:cNvSpPr/>
          <p:nvPr/>
        </p:nvSpPr>
        <p:spPr>
          <a:xfrm>
            <a:off x="6644030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#B5D96A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580022" y="3296275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1" name="Text 59"/>
          <p:cNvSpPr/>
          <p:nvPr/>
        </p:nvSpPr>
        <p:spPr>
          <a:xfrm>
            <a:off x="6644030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Light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644030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181, 217, 106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644030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· Fondos suaves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274320" y="3826764"/>
            <a:ext cx="7818120" cy="201168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5" name="Shape 63"/>
          <p:cNvSpPr/>
          <p:nvPr/>
        </p:nvSpPr>
        <p:spPr>
          <a:xfrm>
            <a:off x="274320" y="3826764"/>
            <a:ext cx="36576" cy="201168"/>
          </a:xfrm>
          <a:prstGeom prst="rect">
            <a:avLst/>
          </a:prstGeom>
          <a:solidFill>
            <a:srgbClr val="0076A8"/>
          </a:solidFill>
          <a:ln w="12700">
            <a:solidFill>
              <a:srgbClr val="0076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6" name="Text 64"/>
          <p:cNvSpPr/>
          <p:nvPr/>
        </p:nvSpPr>
        <p:spPr>
          <a:xfrm>
            <a:off x="365760" y="38267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7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TEALES &amp; AZULES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74320" y="382676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Deloitte Extended Palette · Analytics Colors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274320" y="4027932"/>
            <a:ext cx="1512418" cy="761101"/>
          </a:xfrm>
          <a:prstGeom prst="rect">
            <a:avLst/>
          </a:prstGeom>
          <a:solidFill>
            <a:srgbClr val="005B6B"/>
          </a:solidFill>
          <a:ln w="12700">
            <a:solidFill>
              <a:srgbClr val="005B6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9" name="Text 67"/>
          <p:cNvSpPr/>
          <p:nvPr/>
        </p:nvSpPr>
        <p:spPr>
          <a:xfrm>
            <a:off x="338328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#005B6B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" y="4789033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1" name="Text 69"/>
          <p:cNvSpPr/>
          <p:nvPr/>
        </p:nvSpPr>
        <p:spPr>
          <a:xfrm>
            <a:off x="338328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 Dark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38328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91, 107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338328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Profundidad · Consulting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1850746" y="4027932"/>
            <a:ext cx="1512418" cy="761101"/>
          </a:xfrm>
          <a:prstGeom prst="rect">
            <a:avLst/>
          </a:prstGeom>
          <a:solidFill>
            <a:srgbClr val="00A3A1"/>
          </a:solidFill>
          <a:ln w="12700">
            <a:solidFill>
              <a:srgbClr val="00A3A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5" name="Text 73"/>
          <p:cNvSpPr/>
          <p:nvPr/>
        </p:nvSpPr>
        <p:spPr>
          <a:xfrm>
            <a:off x="1914754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#00A3A1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850746" y="4789033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7" name="Text 75"/>
          <p:cNvSpPr/>
          <p:nvPr/>
        </p:nvSpPr>
        <p:spPr>
          <a:xfrm>
            <a:off x="1914754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 Primary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914754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163, 161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1914754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· Highlight principal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3427171" y="4027932"/>
            <a:ext cx="1512418" cy="761101"/>
          </a:xfrm>
          <a:prstGeom prst="rect">
            <a:avLst/>
          </a:prstGeom>
          <a:solidFill>
            <a:srgbClr val="00C5BF"/>
          </a:solidFill>
          <a:ln w="12700">
            <a:solidFill>
              <a:srgbClr val="00C5B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1" name="Text 79"/>
          <p:cNvSpPr/>
          <p:nvPr/>
        </p:nvSpPr>
        <p:spPr>
          <a:xfrm>
            <a:off x="3491179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#00C5BF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427171" y="4789033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3" name="Text 81"/>
          <p:cNvSpPr/>
          <p:nvPr/>
        </p:nvSpPr>
        <p:spPr>
          <a:xfrm>
            <a:off x="3491179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 Light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3491179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197, 191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3491179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· Gráficas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5003597" y="4027932"/>
            <a:ext cx="1512418" cy="761101"/>
          </a:xfrm>
          <a:prstGeom prst="rect">
            <a:avLst/>
          </a:prstGeom>
          <a:solidFill>
            <a:srgbClr val="0076A8"/>
          </a:solidFill>
          <a:ln w="12700">
            <a:solidFill>
              <a:srgbClr val="0076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7" name="Text 85"/>
          <p:cNvSpPr/>
          <p:nvPr/>
        </p:nvSpPr>
        <p:spPr>
          <a:xfrm>
            <a:off x="5067605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#0076A8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003597" y="4789033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9" name="Text 87"/>
          <p:cNvSpPr/>
          <p:nvPr/>
        </p:nvSpPr>
        <p:spPr>
          <a:xfrm>
            <a:off x="5067605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Primary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067605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118, 168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5067605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· Estructura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6580022" y="4027932"/>
            <a:ext cx="1512418" cy="761101"/>
          </a:xfrm>
          <a:prstGeom prst="rect">
            <a:avLst/>
          </a:prstGeom>
          <a:solidFill>
            <a:srgbClr val="4AACCC"/>
          </a:solidFill>
          <a:ln w="12700">
            <a:solidFill>
              <a:srgbClr val="4AACC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3" name="Text 91"/>
          <p:cNvSpPr/>
          <p:nvPr/>
        </p:nvSpPr>
        <p:spPr>
          <a:xfrm>
            <a:off x="6644030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#4AACCC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580022" y="4789033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5" name="Text 93"/>
          <p:cNvSpPr/>
          <p:nvPr/>
        </p:nvSpPr>
        <p:spPr>
          <a:xfrm>
            <a:off x="6644030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Light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6644030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74, 172, 204</a:t>
            </a:r>
            <a:endParaRPr lang="en-US" sz="600" dirty="0"/>
          </a:p>
        </p:txBody>
      </p:sp>
      <p:sp>
        <p:nvSpPr>
          <p:cNvPr id="97" name="Text 95"/>
          <p:cNvSpPr/>
          <p:nvPr/>
        </p:nvSpPr>
        <p:spPr>
          <a:xfrm>
            <a:off x="6644030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informativos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274320" y="5319522"/>
            <a:ext cx="7818120" cy="201168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9" name="Shape 97"/>
          <p:cNvSpPr/>
          <p:nvPr/>
        </p:nvSpPr>
        <p:spPr>
          <a:xfrm>
            <a:off x="274320" y="5319522"/>
            <a:ext cx="36576" cy="201168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0" name="Text 98"/>
          <p:cNvSpPr/>
          <p:nvPr/>
        </p:nvSpPr>
        <p:spPr>
          <a:xfrm>
            <a:off x="365760" y="531952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NEUTROS &amp; SEMÁNTICOS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274320" y="5319522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Deloitte Status · Neutral System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274320" y="5520690"/>
            <a:ext cx="1512418" cy="761101"/>
          </a:xfrm>
          <a:prstGeom prst="rect">
            <a:avLst/>
          </a:prstGeom>
          <a:solidFill>
            <a:srgbClr val="53565A"/>
          </a:solidFill>
          <a:ln w="12700">
            <a:solidFill>
              <a:srgbClr val="53565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3" name="Text 101"/>
          <p:cNvSpPr/>
          <p:nvPr/>
        </p:nvSpPr>
        <p:spPr>
          <a:xfrm>
            <a:off x="338328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#53565A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274320" y="6281791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5" name="Text 103"/>
          <p:cNvSpPr/>
          <p:nvPr/>
        </p:nvSpPr>
        <p:spPr>
          <a:xfrm>
            <a:off x="338328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Dark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338328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83, 86, 90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338328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cuerpo sobre claro</a:t>
            </a:r>
            <a:endParaRPr lang="en-US" sz="600" dirty="0"/>
          </a:p>
        </p:txBody>
      </p:sp>
      <p:sp>
        <p:nvSpPr>
          <p:cNvPr id="108" name="Shape 106"/>
          <p:cNvSpPr/>
          <p:nvPr/>
        </p:nvSpPr>
        <p:spPr>
          <a:xfrm>
            <a:off x="1850746" y="5520690"/>
            <a:ext cx="1512418" cy="761101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9" name="Text 107"/>
          <p:cNvSpPr/>
          <p:nvPr/>
        </p:nvSpPr>
        <p:spPr>
          <a:xfrm>
            <a:off x="1914754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#888888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1850746" y="6281791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1" name="Text 109"/>
          <p:cNvSpPr/>
          <p:nvPr/>
        </p:nvSpPr>
        <p:spPr>
          <a:xfrm>
            <a:off x="1914754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Medium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1914754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136, 136, 136</a:t>
            </a:r>
            <a:endParaRPr lang="en-US" sz="600" dirty="0"/>
          </a:p>
        </p:txBody>
      </p:sp>
      <p:sp>
        <p:nvSpPr>
          <p:cNvPr id="113" name="Text 111"/>
          <p:cNvSpPr/>
          <p:nvPr/>
        </p:nvSpPr>
        <p:spPr>
          <a:xfrm>
            <a:off x="1914754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3427171" y="5520690"/>
            <a:ext cx="1512418" cy="761101"/>
          </a:xfrm>
          <a:prstGeom prst="rect">
            <a:avLst/>
          </a:prstGeom>
          <a:solidFill>
            <a:srgbClr val="BBBCBC"/>
          </a:solidFill>
          <a:ln w="12700">
            <a:solidFill>
              <a:srgbClr val="BBBCB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5" name="Text 113"/>
          <p:cNvSpPr/>
          <p:nvPr/>
        </p:nvSpPr>
        <p:spPr>
          <a:xfrm>
            <a:off x="3491179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#BBBCBC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3427171" y="6281791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7" name="Text 115"/>
          <p:cNvSpPr/>
          <p:nvPr/>
        </p:nvSpPr>
        <p:spPr>
          <a:xfrm>
            <a:off x="3491179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Light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3491179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187, 188, 188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3491179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Separadores · Bordes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5003597" y="5520690"/>
            <a:ext cx="1512418" cy="761101"/>
          </a:xfrm>
          <a:prstGeom prst="rect">
            <a:avLst/>
          </a:prstGeom>
          <a:solidFill>
            <a:srgbClr val="DA1E28"/>
          </a:solidFill>
          <a:ln w="12700">
            <a:solidFill>
              <a:srgbClr val="DA1E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1" name="Text 119"/>
          <p:cNvSpPr/>
          <p:nvPr/>
        </p:nvSpPr>
        <p:spPr>
          <a:xfrm>
            <a:off x="5067605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#DA1E28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5003597" y="6281791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3" name="Text 121"/>
          <p:cNvSpPr/>
          <p:nvPr/>
        </p:nvSpPr>
        <p:spPr>
          <a:xfrm>
            <a:off x="5067605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Alert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5067605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218, 30, 40</a:t>
            </a:r>
            <a:endParaRPr lang="en-US" sz="600" dirty="0"/>
          </a:p>
        </p:txBody>
      </p:sp>
      <p:sp>
        <p:nvSpPr>
          <p:cNvPr id="125" name="Text 123"/>
          <p:cNvSpPr/>
          <p:nvPr/>
        </p:nvSpPr>
        <p:spPr>
          <a:xfrm>
            <a:off x="5067605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· Error crítico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6580022" y="5520690"/>
            <a:ext cx="1512418" cy="761101"/>
          </a:xfrm>
          <a:prstGeom prst="rect">
            <a:avLst/>
          </a:prstGeom>
          <a:solidFill>
            <a:srgbClr val="F1C21B"/>
          </a:solidFill>
          <a:ln w="12700">
            <a:solidFill>
              <a:srgbClr val="F1C21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7" name="Text 125"/>
          <p:cNvSpPr/>
          <p:nvPr/>
        </p:nvSpPr>
        <p:spPr>
          <a:xfrm>
            <a:off x="6644030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#F1C21B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6580022" y="6281791"/>
            <a:ext cx="1512418" cy="466481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9" name="Text 127"/>
          <p:cNvSpPr/>
          <p:nvPr/>
        </p:nvSpPr>
        <p:spPr>
          <a:xfrm>
            <a:off x="6644030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Warning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6644030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241, 194, 27</a:t>
            </a:r>
            <a:endParaRPr lang="en-US" sz="600" dirty="0"/>
          </a:p>
        </p:txBody>
      </p:sp>
      <p:sp>
        <p:nvSpPr>
          <p:cNvPr id="131" name="Text 129"/>
          <p:cNvSpPr/>
          <p:nvPr/>
        </p:nvSpPr>
        <p:spPr>
          <a:xfrm>
            <a:off x="6644030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· Precaución</a:t>
            </a:r>
            <a:endParaRPr lang="en-US" sz="600" dirty="0"/>
          </a:p>
        </p:txBody>
      </p:sp>
      <p:sp>
        <p:nvSpPr>
          <p:cNvPr id="132" name="Text 130"/>
          <p:cNvSpPr/>
          <p:nvPr/>
        </p:nvSpPr>
        <p:spPr>
          <a:xfrm>
            <a:off x="8275320" y="914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CONFIGURACIÓN MAESTRA</a:t>
            </a:r>
            <a:endParaRPr lang="en-US" sz="1200" dirty="0"/>
          </a:p>
        </p:txBody>
      </p:sp>
      <p:sp>
        <p:nvSpPr>
          <p:cNvPr id="133" name="Text 131"/>
          <p:cNvSpPr/>
          <p:nvPr/>
        </p:nvSpPr>
        <p:spPr>
          <a:xfrm>
            <a:off x="8275320" y="34747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por función · Empresa Constructora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8275320" y="530352"/>
            <a:ext cx="370332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5" name="Shape 133"/>
          <p:cNvSpPr/>
          <p:nvPr/>
        </p:nvSpPr>
        <p:spPr>
          <a:xfrm>
            <a:off x="8275320" y="594360"/>
            <a:ext cx="3703320" cy="477012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6" name="Shape 134"/>
          <p:cNvSpPr/>
          <p:nvPr/>
        </p:nvSpPr>
        <p:spPr>
          <a:xfrm>
            <a:off x="8275320" y="612648"/>
            <a:ext cx="256032" cy="4404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7" name="Text 135"/>
          <p:cNvSpPr/>
          <p:nvPr/>
        </p:nvSpPr>
        <p:spPr>
          <a:xfrm>
            <a:off x="8604504" y="621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portada / dark</a:t>
            </a:r>
            <a:endParaRPr lang="en-US" sz="750" dirty="0"/>
          </a:p>
        </p:txBody>
      </p:sp>
      <p:sp>
        <p:nvSpPr>
          <p:cNvPr id="138" name="Text 136"/>
          <p:cNvSpPr/>
          <p:nvPr/>
        </p:nvSpPr>
        <p:spPr>
          <a:xfrm>
            <a:off x="8604504" y="846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6BC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#000000  ·  Black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8275320" y="1089660"/>
            <a:ext cx="3703320" cy="477012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0" name="Shape 138"/>
          <p:cNvSpPr/>
          <p:nvPr/>
        </p:nvSpPr>
        <p:spPr>
          <a:xfrm>
            <a:off x="8275320" y="1107948"/>
            <a:ext cx="256032" cy="4404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1" name="Text 139"/>
          <p:cNvSpPr/>
          <p:nvPr/>
        </p:nvSpPr>
        <p:spPr>
          <a:xfrm>
            <a:off x="8604504" y="1117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panels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8604504" y="1342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6BC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#111111  ·  Card BG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8275320" y="1584960"/>
            <a:ext cx="3703320" cy="477012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4" name="Shape 142"/>
          <p:cNvSpPr/>
          <p:nvPr/>
        </p:nvSpPr>
        <p:spPr>
          <a:xfrm>
            <a:off x="8275320" y="1603248"/>
            <a:ext cx="256032" cy="440436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5" name="Text 143"/>
          <p:cNvSpPr/>
          <p:nvPr/>
        </p:nvSpPr>
        <p:spPr>
          <a:xfrm>
            <a:off x="8604504" y="16123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identidad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8604504" y="18375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6BC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#86BC25  ·  Deloitte Green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8275320" y="2080260"/>
            <a:ext cx="3703320" cy="477012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8" name="Shape 146"/>
          <p:cNvSpPr/>
          <p:nvPr/>
        </p:nvSpPr>
        <p:spPr>
          <a:xfrm>
            <a:off x="8275320" y="2098548"/>
            <a:ext cx="256032" cy="440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9" name="Text 147"/>
          <p:cNvSpPr/>
          <p:nvPr/>
        </p:nvSpPr>
        <p:spPr>
          <a:xfrm>
            <a:off x="8604504" y="21076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sobre oscuro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8604504" y="23328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6BC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  ·  White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8275320" y="2575560"/>
            <a:ext cx="3703320" cy="477012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2" name="Shape 150"/>
          <p:cNvSpPr/>
          <p:nvPr/>
        </p:nvSpPr>
        <p:spPr>
          <a:xfrm>
            <a:off x="8275320" y="2593848"/>
            <a:ext cx="256032" cy="440436"/>
          </a:xfrm>
          <a:prstGeom prst="rect">
            <a:avLst/>
          </a:prstGeom>
          <a:solidFill>
            <a:srgbClr val="53565A"/>
          </a:solidFill>
          <a:ln w="12700">
            <a:solidFill>
              <a:srgbClr val="53565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3" name="Text 151"/>
          <p:cNvSpPr/>
          <p:nvPr/>
        </p:nvSpPr>
        <p:spPr>
          <a:xfrm>
            <a:off x="8604504" y="26029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cuerpo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8604504" y="28281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6BC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#53565A  ·  Gray Dark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8275320" y="3070860"/>
            <a:ext cx="3703320" cy="477012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6" name="Shape 154"/>
          <p:cNvSpPr/>
          <p:nvPr/>
        </p:nvSpPr>
        <p:spPr>
          <a:xfrm>
            <a:off x="8275320" y="3089148"/>
            <a:ext cx="256032" cy="440436"/>
          </a:xfrm>
          <a:prstGeom prst="rect">
            <a:avLst/>
          </a:prstGeom>
          <a:solidFill>
            <a:srgbClr val="9FCC44"/>
          </a:solidFill>
          <a:ln w="12700">
            <a:solidFill>
              <a:srgbClr val="9FCC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7" name="Text 155"/>
          <p:cNvSpPr/>
          <p:nvPr/>
        </p:nvSpPr>
        <p:spPr>
          <a:xfrm>
            <a:off x="8604504" y="30982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/ métricas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8604504" y="33234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6BC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#9FCC44  ·  Green Medium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8275320" y="3566160"/>
            <a:ext cx="3703320" cy="477012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0" name="Shape 158"/>
          <p:cNvSpPr/>
          <p:nvPr/>
        </p:nvSpPr>
        <p:spPr>
          <a:xfrm>
            <a:off x="8275320" y="3584448"/>
            <a:ext cx="256032" cy="440436"/>
          </a:xfrm>
          <a:prstGeom prst="rect">
            <a:avLst/>
          </a:prstGeom>
          <a:solidFill>
            <a:srgbClr val="00A3A1"/>
          </a:solidFill>
          <a:ln w="12700">
            <a:solidFill>
              <a:srgbClr val="00A3A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1" name="Text 159"/>
          <p:cNvSpPr/>
          <p:nvPr/>
        </p:nvSpPr>
        <p:spPr>
          <a:xfrm>
            <a:off x="8604504" y="35935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/ consultoría</a:t>
            </a:r>
            <a:endParaRPr lang="en-US" sz="750" dirty="0"/>
          </a:p>
        </p:txBody>
      </p:sp>
      <p:sp>
        <p:nvSpPr>
          <p:cNvPr id="162" name="Text 160"/>
          <p:cNvSpPr/>
          <p:nvPr/>
        </p:nvSpPr>
        <p:spPr>
          <a:xfrm>
            <a:off x="8604504" y="38187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6BC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#00A3A1  ·  Teal Primary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8275320" y="4061460"/>
            <a:ext cx="3703320" cy="477012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4" name="Shape 162"/>
          <p:cNvSpPr/>
          <p:nvPr/>
        </p:nvSpPr>
        <p:spPr>
          <a:xfrm>
            <a:off x="8275320" y="4079748"/>
            <a:ext cx="256032" cy="440436"/>
          </a:xfrm>
          <a:prstGeom prst="rect">
            <a:avLst/>
          </a:prstGeom>
          <a:solidFill>
            <a:srgbClr val="DA1E28"/>
          </a:solidFill>
          <a:ln w="12700">
            <a:solidFill>
              <a:srgbClr val="DA1E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5" name="Text 163"/>
          <p:cNvSpPr/>
          <p:nvPr/>
        </p:nvSpPr>
        <p:spPr>
          <a:xfrm>
            <a:off x="8604504" y="40888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/ error</a:t>
            </a:r>
            <a:endParaRPr lang="en-US" sz="750" dirty="0"/>
          </a:p>
        </p:txBody>
      </p:sp>
      <p:sp>
        <p:nvSpPr>
          <p:cNvPr id="166" name="Text 164"/>
          <p:cNvSpPr/>
          <p:nvPr/>
        </p:nvSpPr>
        <p:spPr>
          <a:xfrm>
            <a:off x="8604504" y="43140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6BC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#DA1E28  ·  Red Alert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8275320" y="4556760"/>
            <a:ext cx="3703320" cy="477012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8" name="Shape 166"/>
          <p:cNvSpPr/>
          <p:nvPr/>
        </p:nvSpPr>
        <p:spPr>
          <a:xfrm>
            <a:off x="8275320" y="4575048"/>
            <a:ext cx="256032" cy="440436"/>
          </a:xfrm>
          <a:prstGeom prst="rect">
            <a:avLst/>
          </a:prstGeom>
          <a:solidFill>
            <a:srgbClr val="0076A8"/>
          </a:solidFill>
          <a:ln w="12700">
            <a:solidFill>
              <a:srgbClr val="0076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9" name="Text 167"/>
          <p:cNvSpPr/>
          <p:nvPr/>
        </p:nvSpPr>
        <p:spPr>
          <a:xfrm>
            <a:off x="8604504" y="45841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gráficas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8604504" y="48093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6BC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#0076A8  ·  Blue Primary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8275320" y="5052060"/>
            <a:ext cx="3703320" cy="477012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2" name="Shape 170"/>
          <p:cNvSpPr/>
          <p:nvPr/>
        </p:nvSpPr>
        <p:spPr>
          <a:xfrm>
            <a:off x="8275320" y="5070348"/>
            <a:ext cx="256032" cy="440436"/>
          </a:xfrm>
          <a:prstGeom prst="rect">
            <a:avLst/>
          </a:prstGeom>
          <a:solidFill>
            <a:srgbClr val="00C5BF"/>
          </a:solidFill>
          <a:ln w="12700">
            <a:solidFill>
              <a:srgbClr val="00C5B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3" name="Text 171"/>
          <p:cNvSpPr/>
          <p:nvPr/>
        </p:nvSpPr>
        <p:spPr>
          <a:xfrm>
            <a:off x="8604504" y="50794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secundario</a:t>
            </a:r>
            <a:endParaRPr lang="en-US" sz="750" dirty="0"/>
          </a:p>
        </p:txBody>
      </p:sp>
      <p:sp>
        <p:nvSpPr>
          <p:cNvPr id="174" name="Text 172"/>
          <p:cNvSpPr/>
          <p:nvPr/>
        </p:nvSpPr>
        <p:spPr>
          <a:xfrm>
            <a:off x="8604504" y="53046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6BC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#00C5BF  ·  Teal Light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8275320" y="5547360"/>
            <a:ext cx="3703320" cy="477012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6" name="Shape 174"/>
          <p:cNvSpPr/>
          <p:nvPr/>
        </p:nvSpPr>
        <p:spPr>
          <a:xfrm>
            <a:off x="8275320" y="5565648"/>
            <a:ext cx="256032" cy="440436"/>
          </a:xfrm>
          <a:prstGeom prst="rect">
            <a:avLst/>
          </a:prstGeom>
          <a:solidFill>
            <a:srgbClr val="F1C21B"/>
          </a:solidFill>
          <a:ln w="12700">
            <a:solidFill>
              <a:srgbClr val="F1C21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7" name="Text 175"/>
          <p:cNvSpPr/>
          <p:nvPr/>
        </p:nvSpPr>
        <p:spPr>
          <a:xfrm>
            <a:off x="8604504" y="5574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claros</a:t>
            </a:r>
            <a:endParaRPr lang="en-US" sz="750" dirty="0"/>
          </a:p>
        </p:txBody>
      </p:sp>
      <p:sp>
        <p:nvSpPr>
          <p:cNvPr id="178" name="Text 176"/>
          <p:cNvSpPr/>
          <p:nvPr/>
        </p:nvSpPr>
        <p:spPr>
          <a:xfrm>
            <a:off x="8604504" y="5799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6BC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#F1C21B  ·  Yellow Warning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8275320" y="6042660"/>
            <a:ext cx="3703320" cy="477012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0" name="Shape 178"/>
          <p:cNvSpPr/>
          <p:nvPr/>
        </p:nvSpPr>
        <p:spPr>
          <a:xfrm>
            <a:off x="8275320" y="6060948"/>
            <a:ext cx="256032" cy="440436"/>
          </a:xfrm>
          <a:prstGeom prst="rect">
            <a:avLst/>
          </a:prstGeom>
          <a:solidFill>
            <a:srgbClr val="BBBCBC"/>
          </a:solidFill>
          <a:ln w="12700">
            <a:solidFill>
              <a:srgbClr val="BBBCB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1" name="Text 179"/>
          <p:cNvSpPr/>
          <p:nvPr/>
        </p:nvSpPr>
        <p:spPr>
          <a:xfrm>
            <a:off x="8604504" y="6070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Bordes / separadores</a:t>
            </a:r>
            <a:endParaRPr lang="en-US" sz="750" dirty="0"/>
          </a:p>
        </p:txBody>
      </p:sp>
      <p:sp>
        <p:nvSpPr>
          <p:cNvPr id="182" name="Text 180"/>
          <p:cNvSpPr/>
          <p:nvPr/>
        </p:nvSpPr>
        <p:spPr>
          <a:xfrm>
            <a:off x="8604504" y="6295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6BC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#BBBCBC  ·  Gray Light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8275320" y="6574536"/>
            <a:ext cx="3703320" cy="256032"/>
          </a:xfrm>
          <a:prstGeom prst="rect">
            <a:avLst/>
          </a:prstGeom>
          <a:solidFill>
            <a:srgbClr val="080808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4" name="Text 182"/>
          <p:cNvSpPr/>
          <p:nvPr/>
        </p:nvSpPr>
        <p:spPr>
          <a:xfrm>
            <a:off x="8366760" y="661111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Verde #86BC25 = identidad Deloitte. Sobre negro = impacto ejecutivo máximo.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6" name="Text 184"/>
          <p:cNvSpPr/>
          <p:nvPr/>
        </p:nvSpPr>
        <p:spPr>
          <a:xfrm>
            <a:off x="274320" y="6793992"/>
            <a:ext cx="914400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  ·  PALETA OFICIAL  ·  deloitte.com · Deloitte Brand · Creative Guidelines</a:t>
            </a:r>
            <a:endParaRPr lang="en-US" sz="550" dirty="0"/>
          </a:p>
        </p:txBody>
      </p:sp>
      <p:sp>
        <p:nvSpPr>
          <p:cNvPr id="187" name="Text 185"/>
          <p:cNvSpPr/>
          <p:nvPr/>
        </p:nvSpPr>
        <p:spPr>
          <a:xfrm>
            <a:off x="0" y="6793992"/>
            <a:ext cx="119786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COLORES  ·  4 SISTEMAS  ·  1 LÁMINA</a:t>
            </a:r>
            <a:endParaRPr lang="en-US" sz="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006747"/>
          </a:solidFill>
          <a:ln w="12700">
            <a:solidFill>
              <a:srgbClr val="00674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BCG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Consulting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1A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COLORES OFICIAL  ·  Strategy · Innovation · Matrix · Global Management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4320" y="795528"/>
            <a:ext cx="7818120" cy="18288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8183880" y="73152"/>
            <a:ext cx="18288" cy="672084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7818120" cy="201168"/>
          </a:xfrm>
          <a:prstGeom prst="rect">
            <a:avLst/>
          </a:prstGeom>
          <a:solidFill>
            <a:srgbClr val="0A152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>
            <a:off x="274320" y="841248"/>
            <a:ext cx="36576" cy="201168"/>
          </a:xfrm>
          <a:prstGeom prst="rect">
            <a:avLst/>
          </a:prstGeom>
          <a:solidFill>
            <a:srgbClr val="006747"/>
          </a:solidFill>
          <a:ln w="12700">
            <a:solidFill>
              <a:srgbClr val="00674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65760" y="8412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6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PRINCIPAL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" y="84124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A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bcg.com · BCG Brand Identity · Wolff Olins Design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74320" y="1042416"/>
            <a:ext cx="2563368" cy="761101"/>
          </a:xfrm>
          <a:prstGeom prst="rect">
            <a:avLst/>
          </a:prstGeom>
          <a:solidFill>
            <a:srgbClr val="006747"/>
          </a:solidFill>
          <a:ln w="12700">
            <a:solidFill>
              <a:srgbClr val="00674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338328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#006747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03517"/>
            <a:ext cx="2563368" cy="466481"/>
          </a:xfrm>
          <a:prstGeom prst="rect">
            <a:avLst/>
          </a:prstGeom>
          <a:solidFill>
            <a:srgbClr val="12203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338328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BCG Green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8328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2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103, 71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38328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AA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identidad primario BCG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901696" y="1042416"/>
            <a:ext cx="2563368" cy="761101"/>
          </a:xfrm>
          <a:prstGeom prst="rect">
            <a:avLst/>
          </a:prstGeom>
          <a:solidFill>
            <a:srgbClr val="004B87"/>
          </a:solidFill>
          <a:ln w="12700">
            <a:solidFill>
              <a:srgbClr val="004B8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2965704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#004B87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01696" y="1803517"/>
            <a:ext cx="2563368" cy="466481"/>
          </a:xfrm>
          <a:prstGeom prst="rect">
            <a:avLst/>
          </a:prstGeom>
          <a:solidFill>
            <a:srgbClr val="12203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2965704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BCG Blue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965704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2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75, 135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965704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AA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estratégico secundario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529072" y="1042416"/>
            <a:ext cx="2563368" cy="7611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5593080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29072" y="1803517"/>
            <a:ext cx="2563368" cy="466481"/>
          </a:xfrm>
          <a:prstGeom prst="rect">
            <a:avLst/>
          </a:prstGeom>
          <a:solidFill>
            <a:srgbClr val="12203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Text 25"/>
          <p:cNvSpPr/>
          <p:nvPr/>
        </p:nvSpPr>
        <p:spPr>
          <a:xfrm>
            <a:off x="5593080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593080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2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255, 255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593080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AA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· Contraste · Fondos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74320" y="2334006"/>
            <a:ext cx="7818120" cy="201168"/>
          </a:xfrm>
          <a:prstGeom prst="rect">
            <a:avLst/>
          </a:prstGeom>
          <a:solidFill>
            <a:srgbClr val="0A152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Shape 29"/>
          <p:cNvSpPr/>
          <p:nvPr/>
        </p:nvSpPr>
        <p:spPr>
          <a:xfrm>
            <a:off x="274320" y="2334006"/>
            <a:ext cx="36576" cy="201168"/>
          </a:xfrm>
          <a:prstGeom prst="rect">
            <a:avLst/>
          </a:prstGeom>
          <a:solidFill>
            <a:srgbClr val="00C17A"/>
          </a:solidFill>
          <a:ln w="12700">
            <a:solidFill>
              <a:srgbClr val="00C17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365760" y="233400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C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VERDES — IDENTIDAD BCG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" y="2334006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A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BCG Green System · Brand Extensions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74320" y="2535174"/>
            <a:ext cx="1512418" cy="761101"/>
          </a:xfrm>
          <a:prstGeom prst="rect">
            <a:avLst/>
          </a:prstGeom>
          <a:solidFill>
            <a:srgbClr val="004A35"/>
          </a:solidFill>
          <a:ln w="12700">
            <a:solidFill>
              <a:srgbClr val="004A3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Text 33"/>
          <p:cNvSpPr/>
          <p:nvPr/>
        </p:nvSpPr>
        <p:spPr>
          <a:xfrm>
            <a:off x="338328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#004A35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296275"/>
            <a:ext cx="1512418" cy="466481"/>
          </a:xfrm>
          <a:prstGeom prst="rect">
            <a:avLst/>
          </a:prstGeom>
          <a:solidFill>
            <a:srgbClr val="12203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/>
          <p:nvPr/>
        </p:nvSpPr>
        <p:spPr>
          <a:xfrm>
            <a:off x="338328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900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8328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2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74, 53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38328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AA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oscuro · Profundidad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850746" y="2535174"/>
            <a:ext cx="1512418" cy="761101"/>
          </a:xfrm>
          <a:prstGeom prst="rect">
            <a:avLst/>
          </a:prstGeom>
          <a:solidFill>
            <a:srgbClr val="005A44"/>
          </a:solidFill>
          <a:ln w="12700">
            <a:solidFill>
              <a:srgbClr val="005A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1" name="Text 39"/>
          <p:cNvSpPr/>
          <p:nvPr/>
        </p:nvSpPr>
        <p:spPr>
          <a:xfrm>
            <a:off x="1914754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#005A44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50746" y="3296275"/>
            <a:ext cx="1512418" cy="466481"/>
          </a:xfrm>
          <a:prstGeom prst="rect">
            <a:avLst/>
          </a:prstGeom>
          <a:solidFill>
            <a:srgbClr val="12203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3" name="Text 41"/>
          <p:cNvSpPr/>
          <p:nvPr/>
        </p:nvSpPr>
        <p:spPr>
          <a:xfrm>
            <a:off x="1914754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800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914754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2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90, 68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914754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AA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Variante premium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427171" y="2535174"/>
            <a:ext cx="1512418" cy="761101"/>
          </a:xfrm>
          <a:prstGeom prst="rect">
            <a:avLst/>
          </a:prstGeom>
          <a:solidFill>
            <a:srgbClr val="006747"/>
          </a:solidFill>
          <a:ln w="12700">
            <a:solidFill>
              <a:srgbClr val="00674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7" name="Text 45"/>
          <p:cNvSpPr/>
          <p:nvPr/>
        </p:nvSpPr>
        <p:spPr>
          <a:xfrm>
            <a:off x="3491179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#006747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27171" y="3296275"/>
            <a:ext cx="1512418" cy="466481"/>
          </a:xfrm>
          <a:prstGeom prst="rect">
            <a:avLst/>
          </a:prstGeom>
          <a:solidFill>
            <a:srgbClr val="12203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9" name="Text 47"/>
          <p:cNvSpPr/>
          <p:nvPr/>
        </p:nvSpPr>
        <p:spPr>
          <a:xfrm>
            <a:off x="3491179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Primary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491179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2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103, 71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491179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AA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oficial principal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5003597" y="2535174"/>
            <a:ext cx="1512418" cy="761101"/>
          </a:xfrm>
          <a:prstGeom prst="rect">
            <a:avLst/>
          </a:prstGeom>
          <a:solidFill>
            <a:srgbClr val="00915F"/>
          </a:solidFill>
          <a:ln w="12700">
            <a:solidFill>
              <a:srgbClr val="0091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3" name="Text 51"/>
          <p:cNvSpPr/>
          <p:nvPr/>
        </p:nvSpPr>
        <p:spPr>
          <a:xfrm>
            <a:off x="5067605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#00915F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003597" y="3296275"/>
            <a:ext cx="1512418" cy="466481"/>
          </a:xfrm>
          <a:prstGeom prst="rect">
            <a:avLst/>
          </a:prstGeom>
          <a:solidFill>
            <a:srgbClr val="12203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5" name="Text 53"/>
          <p:cNvSpPr/>
          <p:nvPr/>
        </p:nvSpPr>
        <p:spPr>
          <a:xfrm>
            <a:off x="5067605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500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067605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2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145, 95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067605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AA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vívido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6580022" y="2535174"/>
            <a:ext cx="1512418" cy="761101"/>
          </a:xfrm>
          <a:prstGeom prst="rect">
            <a:avLst/>
          </a:prstGeom>
          <a:solidFill>
            <a:srgbClr val="00C17A"/>
          </a:solidFill>
          <a:ln w="12700">
            <a:solidFill>
              <a:srgbClr val="00C17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9" name="Text 57"/>
          <p:cNvSpPr/>
          <p:nvPr/>
        </p:nvSpPr>
        <p:spPr>
          <a:xfrm>
            <a:off x="6644030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#00C17A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580022" y="3296275"/>
            <a:ext cx="1512418" cy="466481"/>
          </a:xfrm>
          <a:prstGeom prst="rect">
            <a:avLst/>
          </a:prstGeom>
          <a:solidFill>
            <a:srgbClr val="12203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1" name="Text 59"/>
          <p:cNvSpPr/>
          <p:nvPr/>
        </p:nvSpPr>
        <p:spPr>
          <a:xfrm>
            <a:off x="6644030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Bright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644030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2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193, 122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644030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AA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· DataViz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274320" y="3826764"/>
            <a:ext cx="7818120" cy="201168"/>
          </a:xfrm>
          <a:prstGeom prst="rect">
            <a:avLst/>
          </a:prstGeom>
          <a:solidFill>
            <a:srgbClr val="0A152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5" name="Shape 63"/>
          <p:cNvSpPr/>
          <p:nvPr/>
        </p:nvSpPr>
        <p:spPr>
          <a:xfrm>
            <a:off x="274320" y="3826764"/>
            <a:ext cx="36576" cy="201168"/>
          </a:xfrm>
          <a:prstGeom prst="rect">
            <a:avLst/>
          </a:prstGeom>
          <a:solidFill>
            <a:srgbClr val="7AAFCF"/>
          </a:solidFill>
          <a:ln w="12700">
            <a:solidFill>
              <a:srgbClr val="7AAFC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6" name="Text 64"/>
          <p:cNvSpPr/>
          <p:nvPr/>
        </p:nvSpPr>
        <p:spPr>
          <a:xfrm>
            <a:off x="365760" y="38267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7AA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AZULES &amp; ESTRATÉGICOS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74320" y="382676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A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BCG Strategy Colors · Matrix System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274320" y="4027932"/>
            <a:ext cx="1512418" cy="761101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9" name="Text 67"/>
          <p:cNvSpPr/>
          <p:nvPr/>
        </p:nvSpPr>
        <p:spPr>
          <a:xfrm>
            <a:off x="338328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#0D1B2A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" y="4789033"/>
            <a:ext cx="1512418" cy="466481"/>
          </a:xfrm>
          <a:prstGeom prst="rect">
            <a:avLst/>
          </a:prstGeom>
          <a:solidFill>
            <a:srgbClr val="12203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1" name="Text 69"/>
          <p:cNvSpPr/>
          <p:nvPr/>
        </p:nvSpPr>
        <p:spPr>
          <a:xfrm>
            <a:off x="338328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Black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38328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2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13, 27, 42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338328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AA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base oscuro premium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1850746" y="4027932"/>
            <a:ext cx="1512418" cy="761101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5" name="Text 73"/>
          <p:cNvSpPr/>
          <p:nvPr/>
        </p:nvSpPr>
        <p:spPr>
          <a:xfrm>
            <a:off x="1914754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#003366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850746" y="4789033"/>
            <a:ext cx="1512418" cy="466481"/>
          </a:xfrm>
          <a:prstGeom prst="rect">
            <a:avLst/>
          </a:prstGeom>
          <a:solidFill>
            <a:srgbClr val="12203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7" name="Text 75"/>
          <p:cNvSpPr/>
          <p:nvPr/>
        </p:nvSpPr>
        <p:spPr>
          <a:xfrm>
            <a:off x="1914754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Deep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914754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2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51, 102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1914754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AA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 · Fondos oscuros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3427171" y="4027932"/>
            <a:ext cx="1512418" cy="761101"/>
          </a:xfrm>
          <a:prstGeom prst="rect">
            <a:avLst/>
          </a:prstGeom>
          <a:solidFill>
            <a:srgbClr val="004B87"/>
          </a:solidFill>
          <a:ln w="12700">
            <a:solidFill>
              <a:srgbClr val="004B8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1" name="Text 79"/>
          <p:cNvSpPr/>
          <p:nvPr/>
        </p:nvSpPr>
        <p:spPr>
          <a:xfrm>
            <a:off x="3491179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#004B87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427171" y="4789033"/>
            <a:ext cx="1512418" cy="466481"/>
          </a:xfrm>
          <a:prstGeom prst="rect">
            <a:avLst/>
          </a:prstGeom>
          <a:solidFill>
            <a:srgbClr val="12203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3" name="Text 81"/>
          <p:cNvSpPr/>
          <p:nvPr/>
        </p:nvSpPr>
        <p:spPr>
          <a:xfrm>
            <a:off x="3491179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BCG Blue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3491179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2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75, 135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3491179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AA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estratégico oficial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5003597" y="4027932"/>
            <a:ext cx="1512418" cy="761101"/>
          </a:xfrm>
          <a:prstGeom prst="rect">
            <a:avLst/>
          </a:prstGeom>
          <a:solidFill>
            <a:srgbClr val="3380BF"/>
          </a:solidFill>
          <a:ln w="12700">
            <a:solidFill>
              <a:srgbClr val="3380B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7" name="Text 85"/>
          <p:cNvSpPr/>
          <p:nvPr/>
        </p:nvSpPr>
        <p:spPr>
          <a:xfrm>
            <a:off x="5067605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#3380BF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003597" y="4789033"/>
            <a:ext cx="1512418" cy="466481"/>
          </a:xfrm>
          <a:prstGeom prst="rect">
            <a:avLst/>
          </a:prstGeom>
          <a:solidFill>
            <a:srgbClr val="12203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9" name="Text 87"/>
          <p:cNvSpPr/>
          <p:nvPr/>
        </p:nvSpPr>
        <p:spPr>
          <a:xfrm>
            <a:off x="5067605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Medium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067605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2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51, 128, 191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5067605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AA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· Gráficas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6580022" y="4027932"/>
            <a:ext cx="1512418" cy="761101"/>
          </a:xfrm>
          <a:prstGeom prst="rect">
            <a:avLst/>
          </a:prstGeom>
          <a:solidFill>
            <a:srgbClr val="7AAFCF"/>
          </a:solidFill>
          <a:ln w="12700">
            <a:solidFill>
              <a:srgbClr val="7AAFC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3" name="Text 91"/>
          <p:cNvSpPr/>
          <p:nvPr/>
        </p:nvSpPr>
        <p:spPr>
          <a:xfrm>
            <a:off x="6644030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#7AAFCF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580022" y="4789033"/>
            <a:ext cx="1512418" cy="466481"/>
          </a:xfrm>
          <a:prstGeom prst="rect">
            <a:avLst/>
          </a:prstGeom>
          <a:solidFill>
            <a:srgbClr val="12203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5" name="Text 93"/>
          <p:cNvSpPr/>
          <p:nvPr/>
        </p:nvSpPr>
        <p:spPr>
          <a:xfrm>
            <a:off x="6644030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Light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6644030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2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122, 175, 207</a:t>
            </a:r>
            <a:endParaRPr lang="en-US" sz="600" dirty="0"/>
          </a:p>
        </p:txBody>
      </p:sp>
      <p:sp>
        <p:nvSpPr>
          <p:cNvPr id="97" name="Text 95"/>
          <p:cNvSpPr/>
          <p:nvPr/>
        </p:nvSpPr>
        <p:spPr>
          <a:xfrm>
            <a:off x="6644030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AA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informativos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274320" y="5319522"/>
            <a:ext cx="7818120" cy="201168"/>
          </a:xfrm>
          <a:prstGeom prst="rect">
            <a:avLst/>
          </a:prstGeom>
          <a:solidFill>
            <a:srgbClr val="0A152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9" name="Shape 97"/>
          <p:cNvSpPr/>
          <p:nvPr/>
        </p:nvSpPr>
        <p:spPr>
          <a:xfrm>
            <a:off x="274320" y="5319522"/>
            <a:ext cx="36576" cy="201168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0" name="Text 98"/>
          <p:cNvSpPr/>
          <p:nvPr/>
        </p:nvSpPr>
        <p:spPr>
          <a:xfrm>
            <a:off x="365760" y="531952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 &amp; NEUTROS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274320" y="5319522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A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BCG Accent · Matrix Quadrant Colors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274320" y="5520690"/>
            <a:ext cx="1512418" cy="761101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3" name="Text 101"/>
          <p:cNvSpPr/>
          <p:nvPr/>
        </p:nvSpPr>
        <p:spPr>
          <a:xfrm>
            <a:off x="338328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#FFB81C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274320" y="6281791"/>
            <a:ext cx="1512418" cy="466481"/>
          </a:xfrm>
          <a:prstGeom prst="rect">
            <a:avLst/>
          </a:prstGeom>
          <a:solidFill>
            <a:srgbClr val="12203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5" name="Text 103"/>
          <p:cNvSpPr/>
          <p:nvPr/>
        </p:nvSpPr>
        <p:spPr>
          <a:xfrm>
            <a:off x="338328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BCG Gold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338328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2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184, 28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338328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AA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Stars · KPIs altos · Logros</a:t>
            </a:r>
            <a:endParaRPr lang="en-US" sz="600" dirty="0"/>
          </a:p>
        </p:txBody>
      </p:sp>
      <p:sp>
        <p:nvSpPr>
          <p:cNvPr id="108" name="Shape 106"/>
          <p:cNvSpPr/>
          <p:nvPr/>
        </p:nvSpPr>
        <p:spPr>
          <a:xfrm>
            <a:off x="1850746" y="5520690"/>
            <a:ext cx="1512418" cy="761101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9" name="Text 107"/>
          <p:cNvSpPr/>
          <p:nvPr/>
        </p:nvSpPr>
        <p:spPr>
          <a:xfrm>
            <a:off x="1914754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#FFCD00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1850746" y="6281791"/>
            <a:ext cx="1512418" cy="466481"/>
          </a:xfrm>
          <a:prstGeom prst="rect">
            <a:avLst/>
          </a:prstGeom>
          <a:solidFill>
            <a:srgbClr val="12203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1" name="Text 109"/>
          <p:cNvSpPr/>
          <p:nvPr/>
        </p:nvSpPr>
        <p:spPr>
          <a:xfrm>
            <a:off x="1914754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Bright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1914754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2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205, 0</a:t>
            </a:r>
            <a:endParaRPr lang="en-US" sz="600" dirty="0"/>
          </a:p>
        </p:txBody>
      </p:sp>
      <p:sp>
        <p:nvSpPr>
          <p:cNvPr id="113" name="Text 111"/>
          <p:cNvSpPr/>
          <p:nvPr/>
        </p:nvSpPr>
        <p:spPr>
          <a:xfrm>
            <a:off x="1914754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AA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Cows · Métricas clave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3427171" y="5520690"/>
            <a:ext cx="1512418" cy="761101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5" name="Text 113"/>
          <p:cNvSpPr/>
          <p:nvPr/>
        </p:nvSpPr>
        <p:spPr>
          <a:xfrm>
            <a:off x="3491179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#231F20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3427171" y="6281791"/>
            <a:ext cx="1512418" cy="466481"/>
          </a:xfrm>
          <a:prstGeom prst="rect">
            <a:avLst/>
          </a:prstGeom>
          <a:solidFill>
            <a:srgbClr val="12203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7" name="Text 115"/>
          <p:cNvSpPr/>
          <p:nvPr/>
        </p:nvSpPr>
        <p:spPr>
          <a:xfrm>
            <a:off x="3491179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Black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3491179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2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35, 31, 32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3491179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AA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principal sobre claro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5003597" y="5520690"/>
            <a:ext cx="1512418" cy="761101"/>
          </a:xfrm>
          <a:prstGeom prst="rect">
            <a:avLst/>
          </a:prstGeom>
          <a:solidFill>
            <a:srgbClr val="878787"/>
          </a:solidFill>
          <a:ln w="12700">
            <a:solidFill>
              <a:srgbClr val="87878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1" name="Text 119"/>
          <p:cNvSpPr/>
          <p:nvPr/>
        </p:nvSpPr>
        <p:spPr>
          <a:xfrm>
            <a:off x="5067605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#878787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5003597" y="6281791"/>
            <a:ext cx="1512418" cy="466481"/>
          </a:xfrm>
          <a:prstGeom prst="rect">
            <a:avLst/>
          </a:prstGeom>
          <a:solidFill>
            <a:srgbClr val="12203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3" name="Text 121"/>
          <p:cNvSpPr/>
          <p:nvPr/>
        </p:nvSpPr>
        <p:spPr>
          <a:xfrm>
            <a:off x="5067605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Medium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5067605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2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135, 135, 135</a:t>
            </a:r>
            <a:endParaRPr lang="en-US" sz="600" dirty="0"/>
          </a:p>
        </p:txBody>
      </p:sp>
      <p:sp>
        <p:nvSpPr>
          <p:cNvPr id="125" name="Text 123"/>
          <p:cNvSpPr/>
          <p:nvPr/>
        </p:nvSpPr>
        <p:spPr>
          <a:xfrm>
            <a:off x="5067605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AA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6580022" y="5520690"/>
            <a:ext cx="1512418" cy="761101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7" name="Text 125"/>
          <p:cNvSpPr/>
          <p:nvPr/>
        </p:nvSpPr>
        <p:spPr>
          <a:xfrm>
            <a:off x="6644030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#D0D0D0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6580022" y="6281791"/>
            <a:ext cx="1512418" cy="466481"/>
          </a:xfrm>
          <a:prstGeom prst="rect">
            <a:avLst/>
          </a:prstGeom>
          <a:solidFill>
            <a:srgbClr val="12203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9" name="Text 127"/>
          <p:cNvSpPr/>
          <p:nvPr/>
        </p:nvSpPr>
        <p:spPr>
          <a:xfrm>
            <a:off x="6644030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Light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6644030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2E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208, 208, 208</a:t>
            </a:r>
            <a:endParaRPr lang="en-US" sz="600" dirty="0"/>
          </a:p>
        </p:txBody>
      </p:sp>
      <p:sp>
        <p:nvSpPr>
          <p:cNvPr id="131" name="Text 129"/>
          <p:cNvSpPr/>
          <p:nvPr/>
        </p:nvSpPr>
        <p:spPr>
          <a:xfrm>
            <a:off x="6644030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AA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Separadores · Bordes</a:t>
            </a:r>
            <a:endParaRPr lang="en-US" sz="600" dirty="0"/>
          </a:p>
        </p:txBody>
      </p:sp>
      <p:sp>
        <p:nvSpPr>
          <p:cNvPr id="132" name="Text 130"/>
          <p:cNvSpPr/>
          <p:nvPr/>
        </p:nvSpPr>
        <p:spPr>
          <a:xfrm>
            <a:off x="8275320" y="914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CONFIGURACIÓN MAESTRA</a:t>
            </a:r>
            <a:endParaRPr lang="en-US" sz="1200" dirty="0"/>
          </a:p>
        </p:txBody>
      </p:sp>
      <p:sp>
        <p:nvSpPr>
          <p:cNvPr id="133" name="Text 131"/>
          <p:cNvSpPr/>
          <p:nvPr/>
        </p:nvSpPr>
        <p:spPr>
          <a:xfrm>
            <a:off x="8275320" y="34747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por función · Empresa Constructora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8275320" y="530352"/>
            <a:ext cx="3703320" cy="18288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5" name="Shape 133"/>
          <p:cNvSpPr/>
          <p:nvPr/>
        </p:nvSpPr>
        <p:spPr>
          <a:xfrm>
            <a:off x="8275320" y="594360"/>
            <a:ext cx="3703320" cy="477012"/>
          </a:xfrm>
          <a:prstGeom prst="rect">
            <a:avLst/>
          </a:prstGeom>
          <a:solidFill>
            <a:srgbClr val="0A152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6" name="Shape 134"/>
          <p:cNvSpPr/>
          <p:nvPr/>
        </p:nvSpPr>
        <p:spPr>
          <a:xfrm>
            <a:off x="8275320" y="612648"/>
            <a:ext cx="256032" cy="4404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7" name="Text 135"/>
          <p:cNvSpPr/>
          <p:nvPr/>
        </p:nvSpPr>
        <p:spPr>
          <a:xfrm>
            <a:off x="8604504" y="621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portada / dark</a:t>
            </a:r>
            <a:endParaRPr lang="en-US" sz="750" dirty="0"/>
          </a:p>
        </p:txBody>
      </p:sp>
      <p:sp>
        <p:nvSpPr>
          <p:cNvPr id="138" name="Text 136"/>
          <p:cNvSpPr/>
          <p:nvPr/>
        </p:nvSpPr>
        <p:spPr>
          <a:xfrm>
            <a:off x="8604504" y="846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6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#0D1B2A  ·  Navy Black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8275320" y="1089660"/>
            <a:ext cx="3703320" cy="477012"/>
          </a:xfrm>
          <a:prstGeom prst="rect">
            <a:avLst/>
          </a:prstGeom>
          <a:solidFill>
            <a:srgbClr val="12203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0" name="Shape 138"/>
          <p:cNvSpPr/>
          <p:nvPr/>
        </p:nvSpPr>
        <p:spPr>
          <a:xfrm>
            <a:off x="8275320" y="1107948"/>
            <a:ext cx="256032" cy="440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1" name="Text 139"/>
          <p:cNvSpPr/>
          <p:nvPr/>
        </p:nvSpPr>
        <p:spPr>
          <a:xfrm>
            <a:off x="8604504" y="1117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contenido claro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8604504" y="1342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6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  ·  White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8275320" y="1584960"/>
            <a:ext cx="3703320" cy="477012"/>
          </a:xfrm>
          <a:prstGeom prst="rect">
            <a:avLst/>
          </a:prstGeom>
          <a:solidFill>
            <a:srgbClr val="0A152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4" name="Shape 142"/>
          <p:cNvSpPr/>
          <p:nvPr/>
        </p:nvSpPr>
        <p:spPr>
          <a:xfrm>
            <a:off x="8275320" y="1603248"/>
            <a:ext cx="256032" cy="440436"/>
          </a:xfrm>
          <a:prstGeom prst="rect">
            <a:avLst/>
          </a:prstGeom>
          <a:solidFill>
            <a:srgbClr val="006747"/>
          </a:solidFill>
          <a:ln w="12700">
            <a:solidFill>
              <a:srgbClr val="00674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5" name="Text 143"/>
          <p:cNvSpPr/>
          <p:nvPr/>
        </p:nvSpPr>
        <p:spPr>
          <a:xfrm>
            <a:off x="8604504" y="16123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identidad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8604504" y="18375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6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#006747  ·  BCG Green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8275320" y="2080260"/>
            <a:ext cx="3703320" cy="477012"/>
          </a:xfrm>
          <a:prstGeom prst="rect">
            <a:avLst/>
          </a:prstGeom>
          <a:solidFill>
            <a:srgbClr val="12203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8" name="Shape 146"/>
          <p:cNvSpPr/>
          <p:nvPr/>
        </p:nvSpPr>
        <p:spPr>
          <a:xfrm>
            <a:off x="8275320" y="2098548"/>
            <a:ext cx="256032" cy="440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9" name="Text 147"/>
          <p:cNvSpPr/>
          <p:nvPr/>
        </p:nvSpPr>
        <p:spPr>
          <a:xfrm>
            <a:off x="8604504" y="21076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sobre oscuro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8604504" y="23328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6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  ·  White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8275320" y="2575560"/>
            <a:ext cx="3703320" cy="477012"/>
          </a:xfrm>
          <a:prstGeom prst="rect">
            <a:avLst/>
          </a:prstGeom>
          <a:solidFill>
            <a:srgbClr val="0A152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2" name="Shape 150"/>
          <p:cNvSpPr/>
          <p:nvPr/>
        </p:nvSpPr>
        <p:spPr>
          <a:xfrm>
            <a:off x="8275320" y="2593848"/>
            <a:ext cx="256032" cy="440436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3" name="Text 151"/>
          <p:cNvSpPr/>
          <p:nvPr/>
        </p:nvSpPr>
        <p:spPr>
          <a:xfrm>
            <a:off x="8604504" y="26029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cuerpo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8604504" y="28281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6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#231F20  ·  Near Black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8275320" y="3070860"/>
            <a:ext cx="3703320" cy="477012"/>
          </a:xfrm>
          <a:prstGeom prst="rect">
            <a:avLst/>
          </a:prstGeom>
          <a:solidFill>
            <a:srgbClr val="12203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6" name="Shape 154"/>
          <p:cNvSpPr/>
          <p:nvPr/>
        </p:nvSpPr>
        <p:spPr>
          <a:xfrm>
            <a:off x="8275320" y="3089148"/>
            <a:ext cx="256032" cy="440436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7" name="Text 155"/>
          <p:cNvSpPr/>
          <p:nvPr/>
        </p:nvSpPr>
        <p:spPr>
          <a:xfrm>
            <a:off x="8604504" y="30982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Stars / KPIs altos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8604504" y="33234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6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#FFB81C  ·  BCG Gold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8275320" y="3566160"/>
            <a:ext cx="3703320" cy="477012"/>
          </a:xfrm>
          <a:prstGeom prst="rect">
            <a:avLst/>
          </a:prstGeom>
          <a:solidFill>
            <a:srgbClr val="0A152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0" name="Shape 158"/>
          <p:cNvSpPr/>
          <p:nvPr/>
        </p:nvSpPr>
        <p:spPr>
          <a:xfrm>
            <a:off x="8275320" y="3584448"/>
            <a:ext cx="256032" cy="440436"/>
          </a:xfrm>
          <a:prstGeom prst="rect">
            <a:avLst/>
          </a:prstGeom>
          <a:solidFill>
            <a:srgbClr val="00C17A"/>
          </a:solidFill>
          <a:ln w="12700">
            <a:solidFill>
              <a:srgbClr val="00C17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1" name="Text 159"/>
          <p:cNvSpPr/>
          <p:nvPr/>
        </p:nvSpPr>
        <p:spPr>
          <a:xfrm>
            <a:off x="8604504" y="35935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líneas / gráficas</a:t>
            </a:r>
            <a:endParaRPr lang="en-US" sz="750" dirty="0"/>
          </a:p>
        </p:txBody>
      </p:sp>
      <p:sp>
        <p:nvSpPr>
          <p:cNvPr id="162" name="Text 160"/>
          <p:cNvSpPr/>
          <p:nvPr/>
        </p:nvSpPr>
        <p:spPr>
          <a:xfrm>
            <a:off x="8604504" y="38187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6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#00C17A  ·  Green Bright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8275320" y="4061460"/>
            <a:ext cx="3703320" cy="477012"/>
          </a:xfrm>
          <a:prstGeom prst="rect">
            <a:avLst/>
          </a:prstGeom>
          <a:solidFill>
            <a:srgbClr val="12203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4" name="Shape 162"/>
          <p:cNvSpPr/>
          <p:nvPr/>
        </p:nvSpPr>
        <p:spPr>
          <a:xfrm>
            <a:off x="8275320" y="4079748"/>
            <a:ext cx="256032" cy="440436"/>
          </a:xfrm>
          <a:prstGeom prst="rect">
            <a:avLst/>
          </a:prstGeom>
          <a:solidFill>
            <a:srgbClr val="004B87"/>
          </a:solidFill>
          <a:ln w="12700">
            <a:solidFill>
              <a:srgbClr val="004B8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5" name="Text 163"/>
          <p:cNvSpPr/>
          <p:nvPr/>
        </p:nvSpPr>
        <p:spPr>
          <a:xfrm>
            <a:off x="8604504" y="40888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/ procesos</a:t>
            </a:r>
            <a:endParaRPr lang="en-US" sz="750" dirty="0"/>
          </a:p>
        </p:txBody>
      </p:sp>
      <p:sp>
        <p:nvSpPr>
          <p:cNvPr id="166" name="Text 164"/>
          <p:cNvSpPr/>
          <p:nvPr/>
        </p:nvSpPr>
        <p:spPr>
          <a:xfrm>
            <a:off x="8604504" y="43140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6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#004B87  ·  BCG Blue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8275320" y="4556760"/>
            <a:ext cx="3703320" cy="477012"/>
          </a:xfrm>
          <a:prstGeom prst="rect">
            <a:avLst/>
          </a:prstGeom>
          <a:solidFill>
            <a:srgbClr val="0A152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8" name="Shape 166"/>
          <p:cNvSpPr/>
          <p:nvPr/>
        </p:nvSpPr>
        <p:spPr>
          <a:xfrm>
            <a:off x="8275320" y="4575048"/>
            <a:ext cx="256032" cy="440436"/>
          </a:xfrm>
          <a:prstGeom prst="rect">
            <a:avLst/>
          </a:prstGeom>
          <a:solidFill>
            <a:srgbClr val="3380BF"/>
          </a:solidFill>
          <a:ln w="12700">
            <a:solidFill>
              <a:srgbClr val="3380B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9" name="Text 167"/>
          <p:cNvSpPr/>
          <p:nvPr/>
        </p:nvSpPr>
        <p:spPr>
          <a:xfrm>
            <a:off x="8604504" y="45841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Gráficas secundarias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8604504" y="48093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6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#3380BF  ·  Blue Medium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8275320" y="5052060"/>
            <a:ext cx="3703320" cy="477012"/>
          </a:xfrm>
          <a:prstGeom prst="rect">
            <a:avLst/>
          </a:prstGeom>
          <a:solidFill>
            <a:srgbClr val="12203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2" name="Shape 170"/>
          <p:cNvSpPr/>
          <p:nvPr/>
        </p:nvSpPr>
        <p:spPr>
          <a:xfrm>
            <a:off x="8275320" y="5070348"/>
            <a:ext cx="256032" cy="440436"/>
          </a:xfrm>
          <a:prstGeom prst="rect">
            <a:avLst/>
          </a:prstGeom>
          <a:solidFill>
            <a:srgbClr val="878787"/>
          </a:solidFill>
          <a:ln w="12700">
            <a:solidFill>
              <a:srgbClr val="87878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3" name="Text 171"/>
          <p:cNvSpPr/>
          <p:nvPr/>
        </p:nvSpPr>
        <p:spPr>
          <a:xfrm>
            <a:off x="8604504" y="50794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</a:t>
            </a:r>
            <a:endParaRPr lang="en-US" sz="750" dirty="0"/>
          </a:p>
        </p:txBody>
      </p:sp>
      <p:sp>
        <p:nvSpPr>
          <p:cNvPr id="174" name="Text 172"/>
          <p:cNvSpPr/>
          <p:nvPr/>
        </p:nvSpPr>
        <p:spPr>
          <a:xfrm>
            <a:off x="8604504" y="53046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6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#878787  ·  Gray Medium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8275320" y="5547360"/>
            <a:ext cx="3703320" cy="477012"/>
          </a:xfrm>
          <a:prstGeom prst="rect">
            <a:avLst/>
          </a:prstGeom>
          <a:solidFill>
            <a:srgbClr val="0A152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6" name="Shape 174"/>
          <p:cNvSpPr/>
          <p:nvPr/>
        </p:nvSpPr>
        <p:spPr>
          <a:xfrm>
            <a:off x="8275320" y="5565648"/>
            <a:ext cx="256032" cy="440436"/>
          </a:xfrm>
          <a:prstGeom prst="rect">
            <a:avLst/>
          </a:prstGeom>
          <a:solidFill>
            <a:srgbClr val="122030"/>
          </a:solidFill>
          <a:ln w="12700">
            <a:solidFill>
              <a:srgbClr val="12203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7" name="Text 175"/>
          <p:cNvSpPr/>
          <p:nvPr/>
        </p:nvSpPr>
        <p:spPr>
          <a:xfrm>
            <a:off x="8604504" y="5574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cards / panels</a:t>
            </a:r>
            <a:endParaRPr lang="en-US" sz="750" dirty="0"/>
          </a:p>
        </p:txBody>
      </p:sp>
      <p:sp>
        <p:nvSpPr>
          <p:cNvPr id="178" name="Text 176"/>
          <p:cNvSpPr/>
          <p:nvPr/>
        </p:nvSpPr>
        <p:spPr>
          <a:xfrm>
            <a:off x="8604504" y="5799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6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#122030  ·  Card BG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8275320" y="6042660"/>
            <a:ext cx="3703320" cy="477012"/>
          </a:xfrm>
          <a:prstGeom prst="rect">
            <a:avLst/>
          </a:prstGeom>
          <a:solidFill>
            <a:srgbClr val="122030"/>
          </a:solidFill>
          <a:ln w="12700">
            <a:solidFill>
              <a:srgbClr val="1A2E4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0" name="Shape 178"/>
          <p:cNvSpPr/>
          <p:nvPr/>
        </p:nvSpPr>
        <p:spPr>
          <a:xfrm>
            <a:off x="8275320" y="6060948"/>
            <a:ext cx="256032" cy="440436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1" name="Text 179"/>
          <p:cNvSpPr/>
          <p:nvPr/>
        </p:nvSpPr>
        <p:spPr>
          <a:xfrm>
            <a:off x="8604504" y="6070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Bordes / separadores</a:t>
            </a:r>
            <a:endParaRPr lang="en-US" sz="750" dirty="0"/>
          </a:p>
        </p:txBody>
      </p:sp>
      <p:sp>
        <p:nvSpPr>
          <p:cNvPr id="182" name="Text 180"/>
          <p:cNvSpPr/>
          <p:nvPr/>
        </p:nvSpPr>
        <p:spPr>
          <a:xfrm>
            <a:off x="8604504" y="6295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6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#D0D0D0  ·  Gray Light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8275320" y="6574536"/>
            <a:ext cx="3703320" cy="256032"/>
          </a:xfrm>
          <a:prstGeom prst="rect">
            <a:avLst/>
          </a:prstGeom>
          <a:solidFill>
            <a:srgbClr val="0A1520"/>
          </a:solidFill>
          <a:ln w="12700">
            <a:solidFill>
              <a:srgbClr val="00674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4" name="Text 182"/>
          <p:cNvSpPr/>
          <p:nvPr/>
        </p:nvSpPr>
        <p:spPr>
          <a:xfrm>
            <a:off x="8366760" y="661111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BCG Green #006747 + Navy = consultoría estratégica. La matriz BCG = lenguaje universal.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6" name="Text 184"/>
          <p:cNvSpPr/>
          <p:nvPr/>
        </p:nvSpPr>
        <p:spPr>
          <a:xfrm>
            <a:off x="274320" y="6793992"/>
            <a:ext cx="914400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BCG  ·  PALETA OFICIAL  ·  bcg.com · BCG Brand · Corporate Identity</a:t>
            </a:r>
            <a:endParaRPr lang="en-US" sz="550" dirty="0"/>
          </a:p>
        </p:txBody>
      </p:sp>
      <p:sp>
        <p:nvSpPr>
          <p:cNvPr id="187" name="Text 185"/>
          <p:cNvSpPr/>
          <p:nvPr/>
        </p:nvSpPr>
        <p:spPr>
          <a:xfrm>
            <a:off x="0" y="6793992"/>
            <a:ext cx="119786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1A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COLORES  ·  4 SISTEMAS  ·  1 LÁMINA</a:t>
            </a:r>
            <a:endParaRPr lang="en-US" sz="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Accenture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Digital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COLORES OFICIAL  ·  Technology · Strategy · Consulting · Digital Transformation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4320" y="795528"/>
            <a:ext cx="781812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8183880" y="73152"/>
            <a:ext cx="18288" cy="6720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7818120" cy="201168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>
            <a:off x="274320" y="841248"/>
            <a:ext cx="36576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65760" y="8412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PRINCIPAL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" y="84124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Accenture Brand Space · accenture.com · Identity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74320" y="1042416"/>
            <a:ext cx="2563368" cy="761101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338328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#A100FF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03517"/>
            <a:ext cx="2563368" cy="466481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338328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Purple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8328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161, 0, 255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38328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C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identidad oficial primario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901696" y="1042416"/>
            <a:ext cx="2563368" cy="761101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2965704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#000000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01696" y="1803517"/>
            <a:ext cx="2563368" cy="466481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2965704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965704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0, 0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965704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C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base · Autoridad digital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529072" y="1042416"/>
            <a:ext cx="2563368" cy="7611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5593080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29072" y="1803517"/>
            <a:ext cx="2563368" cy="466481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Text 25"/>
          <p:cNvSpPr/>
          <p:nvPr/>
        </p:nvSpPr>
        <p:spPr>
          <a:xfrm>
            <a:off x="5593080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593080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255, 255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593080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C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· Contraste · Logos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74320" y="2334006"/>
            <a:ext cx="7818120" cy="201168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Shape 29"/>
          <p:cNvSpPr/>
          <p:nvPr/>
        </p:nvSpPr>
        <p:spPr>
          <a:xfrm>
            <a:off x="274320" y="2334006"/>
            <a:ext cx="36576" cy="201168"/>
          </a:xfrm>
          <a:prstGeom prst="rect">
            <a:avLst/>
          </a:prstGeom>
          <a:solidFill>
            <a:srgbClr val="CC66FF"/>
          </a:solidFill>
          <a:ln w="12700">
            <a:solidFill>
              <a:srgbClr val="CC66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365760" y="233400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C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MORADOS — IDENTIDAD ACCENTURE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" y="2334006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Accenture Purple System · Digital Brand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74320" y="2535174"/>
            <a:ext cx="1512418" cy="761101"/>
          </a:xfrm>
          <a:prstGeom prst="rect">
            <a:avLst/>
          </a:prstGeom>
          <a:solidFill>
            <a:srgbClr val="5C0099"/>
          </a:solidFill>
          <a:ln w="12700">
            <a:solidFill>
              <a:srgbClr val="5C009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Text 33"/>
          <p:cNvSpPr/>
          <p:nvPr/>
        </p:nvSpPr>
        <p:spPr>
          <a:xfrm>
            <a:off x="338328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#5C0099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296275"/>
            <a:ext cx="1512418" cy="466481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/>
          <p:nvPr/>
        </p:nvSpPr>
        <p:spPr>
          <a:xfrm>
            <a:off x="338328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900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8328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92, 0, 153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38328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C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oscuro · Profundidad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850746" y="2535174"/>
            <a:ext cx="1512418" cy="761101"/>
          </a:xfrm>
          <a:prstGeom prst="rect">
            <a:avLst/>
          </a:prstGeom>
          <a:solidFill>
            <a:srgbClr val="7A00CC"/>
          </a:solidFill>
          <a:ln w="12700">
            <a:solidFill>
              <a:srgbClr val="7A00C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1" name="Text 39"/>
          <p:cNvSpPr/>
          <p:nvPr/>
        </p:nvSpPr>
        <p:spPr>
          <a:xfrm>
            <a:off x="1914754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#7A00CC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50746" y="3296275"/>
            <a:ext cx="1512418" cy="466481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3" name="Text 41"/>
          <p:cNvSpPr/>
          <p:nvPr/>
        </p:nvSpPr>
        <p:spPr>
          <a:xfrm>
            <a:off x="1914754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700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914754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122, 0, 204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914754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C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Variante oscura activa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427171" y="2535174"/>
            <a:ext cx="1512418" cy="761101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7" name="Text 45"/>
          <p:cNvSpPr/>
          <p:nvPr/>
        </p:nvSpPr>
        <p:spPr>
          <a:xfrm>
            <a:off x="3491179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#A100FF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27171" y="3296275"/>
            <a:ext cx="1512418" cy="466481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9" name="Text 47"/>
          <p:cNvSpPr/>
          <p:nvPr/>
        </p:nvSpPr>
        <p:spPr>
          <a:xfrm>
            <a:off x="3491179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Primary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491179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161, 0, 255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491179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C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oficial principal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5003597" y="2535174"/>
            <a:ext cx="1512418" cy="761101"/>
          </a:xfrm>
          <a:prstGeom prst="rect">
            <a:avLst/>
          </a:prstGeom>
          <a:solidFill>
            <a:srgbClr val="B833FF"/>
          </a:solidFill>
          <a:ln w="12700">
            <a:solidFill>
              <a:srgbClr val="B833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3" name="Text 51"/>
          <p:cNvSpPr/>
          <p:nvPr/>
        </p:nvSpPr>
        <p:spPr>
          <a:xfrm>
            <a:off x="5067605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#B833FF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003597" y="3296275"/>
            <a:ext cx="1512418" cy="466481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5" name="Text 53"/>
          <p:cNvSpPr/>
          <p:nvPr/>
        </p:nvSpPr>
        <p:spPr>
          <a:xfrm>
            <a:off x="5067605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400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067605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184, 51, 255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067605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C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light · Vívido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6580022" y="2535174"/>
            <a:ext cx="1512418" cy="761101"/>
          </a:xfrm>
          <a:prstGeom prst="rect">
            <a:avLst/>
          </a:prstGeom>
          <a:solidFill>
            <a:srgbClr val="CC66FF"/>
          </a:solidFill>
          <a:ln w="12700">
            <a:solidFill>
              <a:srgbClr val="CC66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9" name="Text 57"/>
          <p:cNvSpPr/>
          <p:nvPr/>
        </p:nvSpPr>
        <p:spPr>
          <a:xfrm>
            <a:off x="6644030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#CC66FF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580022" y="3296275"/>
            <a:ext cx="1512418" cy="466481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1" name="Text 59"/>
          <p:cNvSpPr/>
          <p:nvPr/>
        </p:nvSpPr>
        <p:spPr>
          <a:xfrm>
            <a:off x="6644030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Light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644030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204, 102, 255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644030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C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· Labels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274320" y="3826764"/>
            <a:ext cx="7818120" cy="201168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5" name="Shape 63"/>
          <p:cNvSpPr/>
          <p:nvPr/>
        </p:nvSpPr>
        <p:spPr>
          <a:xfrm>
            <a:off x="274320" y="3826764"/>
            <a:ext cx="36576" cy="201168"/>
          </a:xfrm>
          <a:prstGeom prst="rect">
            <a:avLst/>
          </a:prstGeom>
          <a:solidFill>
            <a:srgbClr val="00BAFF"/>
          </a:solidFill>
          <a:ln w="12700">
            <a:solidFill>
              <a:srgbClr val="00BA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6" name="Text 64"/>
          <p:cNvSpPr/>
          <p:nvPr/>
        </p:nvSpPr>
        <p:spPr>
          <a:xfrm>
            <a:off x="365760" y="38267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B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CIANO &amp; DIGITAL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74320" y="382676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Accenture Digital Colors · Tech Extensions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274320" y="4027932"/>
            <a:ext cx="1512418" cy="761101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9" name="Text 67"/>
          <p:cNvSpPr/>
          <p:nvPr/>
        </p:nvSpPr>
        <p:spPr>
          <a:xfrm>
            <a:off x="338328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#006699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" y="4789033"/>
            <a:ext cx="1512418" cy="466481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1" name="Text 69"/>
          <p:cNvSpPr/>
          <p:nvPr/>
        </p:nvSpPr>
        <p:spPr>
          <a:xfrm>
            <a:off x="338328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 Dark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38328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102, 153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338328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C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profundo · Datos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1850746" y="4027932"/>
            <a:ext cx="1512418" cy="761101"/>
          </a:xfrm>
          <a:prstGeom prst="rect">
            <a:avLst/>
          </a:prstGeom>
          <a:solidFill>
            <a:srgbClr val="00A3CC"/>
          </a:solidFill>
          <a:ln w="12700">
            <a:solidFill>
              <a:srgbClr val="00A3C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5" name="Text 73"/>
          <p:cNvSpPr/>
          <p:nvPr/>
        </p:nvSpPr>
        <p:spPr>
          <a:xfrm>
            <a:off x="1914754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#00A3CC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850746" y="4789033"/>
            <a:ext cx="1512418" cy="466481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7" name="Text 75"/>
          <p:cNvSpPr/>
          <p:nvPr/>
        </p:nvSpPr>
        <p:spPr>
          <a:xfrm>
            <a:off x="1914754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 Medium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914754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163, 204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1914754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C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 · DataViz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3427171" y="4027932"/>
            <a:ext cx="1512418" cy="761101"/>
          </a:xfrm>
          <a:prstGeom prst="rect">
            <a:avLst/>
          </a:prstGeom>
          <a:solidFill>
            <a:srgbClr val="00BAFF"/>
          </a:solidFill>
          <a:ln w="12700">
            <a:solidFill>
              <a:srgbClr val="00BA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1" name="Text 79"/>
          <p:cNvSpPr/>
          <p:nvPr/>
        </p:nvSpPr>
        <p:spPr>
          <a:xfrm>
            <a:off x="3491179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#00BAFF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427171" y="4789033"/>
            <a:ext cx="1512418" cy="466481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3" name="Text 81"/>
          <p:cNvSpPr/>
          <p:nvPr/>
        </p:nvSpPr>
        <p:spPr>
          <a:xfrm>
            <a:off x="3491179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 Bright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3491179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186, 255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3491179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C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digitales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5003597" y="4027932"/>
            <a:ext cx="1512418" cy="761101"/>
          </a:xfrm>
          <a:prstGeom prst="rect">
            <a:avLst/>
          </a:prstGeom>
          <a:solidFill>
            <a:srgbClr val="40CCFF"/>
          </a:solidFill>
          <a:ln w="12700">
            <a:solidFill>
              <a:srgbClr val="40CC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7" name="Text 85"/>
          <p:cNvSpPr/>
          <p:nvPr/>
        </p:nvSpPr>
        <p:spPr>
          <a:xfrm>
            <a:off x="5067605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#40CCFF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003597" y="4789033"/>
            <a:ext cx="1512418" cy="466481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9" name="Text 87"/>
          <p:cNvSpPr/>
          <p:nvPr/>
        </p:nvSpPr>
        <p:spPr>
          <a:xfrm>
            <a:off x="5067605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 Light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067605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64, 204, 255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5067605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C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informativos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6580022" y="4027932"/>
            <a:ext cx="1512418" cy="761101"/>
          </a:xfrm>
          <a:prstGeom prst="rect">
            <a:avLst/>
          </a:prstGeom>
          <a:solidFill>
            <a:srgbClr val="9933FF"/>
          </a:solidFill>
          <a:ln w="12700">
            <a:solidFill>
              <a:srgbClr val="9933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3" name="Text 91"/>
          <p:cNvSpPr/>
          <p:nvPr/>
        </p:nvSpPr>
        <p:spPr>
          <a:xfrm>
            <a:off x="6644030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#9933FF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580022" y="4789033"/>
            <a:ext cx="1512418" cy="466481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5" name="Text 93"/>
          <p:cNvSpPr/>
          <p:nvPr/>
        </p:nvSpPr>
        <p:spPr>
          <a:xfrm>
            <a:off x="6644030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Violet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6644030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153, 51, 255</a:t>
            </a:r>
            <a:endParaRPr lang="en-US" sz="600" dirty="0"/>
          </a:p>
        </p:txBody>
      </p:sp>
      <p:sp>
        <p:nvSpPr>
          <p:cNvPr id="97" name="Text 95"/>
          <p:cNvSpPr/>
          <p:nvPr/>
        </p:nvSpPr>
        <p:spPr>
          <a:xfrm>
            <a:off x="6644030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C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Innovación · AI · Futuro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274320" y="5319522"/>
            <a:ext cx="7818120" cy="201168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9" name="Shape 97"/>
          <p:cNvSpPr/>
          <p:nvPr/>
        </p:nvSpPr>
        <p:spPr>
          <a:xfrm>
            <a:off x="274320" y="5319522"/>
            <a:ext cx="36576" cy="20116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0" name="Text 98"/>
          <p:cNvSpPr/>
          <p:nvPr/>
        </p:nvSpPr>
        <p:spPr>
          <a:xfrm>
            <a:off x="365760" y="531952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NEUTROS &amp; COMPLEMENTARIOS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274320" y="5319522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Accenture Neutral System · Corporate Grays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274320" y="5520690"/>
            <a:ext cx="1512418" cy="761101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3" name="Text 101"/>
          <p:cNvSpPr/>
          <p:nvPr/>
        </p:nvSpPr>
        <p:spPr>
          <a:xfrm>
            <a:off x="338328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#1A1A1A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274320" y="6281791"/>
            <a:ext cx="1512418" cy="466481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5" name="Text 103"/>
          <p:cNvSpPr/>
          <p:nvPr/>
        </p:nvSpPr>
        <p:spPr>
          <a:xfrm>
            <a:off x="338328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Black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338328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26, 26, 26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338328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C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oscuros · Cards</a:t>
            </a:r>
            <a:endParaRPr lang="en-US" sz="600" dirty="0"/>
          </a:p>
        </p:txBody>
      </p:sp>
      <p:sp>
        <p:nvSpPr>
          <p:cNvPr id="108" name="Shape 106"/>
          <p:cNvSpPr/>
          <p:nvPr/>
        </p:nvSpPr>
        <p:spPr>
          <a:xfrm>
            <a:off x="1850746" y="5520690"/>
            <a:ext cx="1512418" cy="761101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9" name="Text 107"/>
          <p:cNvSpPr/>
          <p:nvPr/>
        </p:nvSpPr>
        <p:spPr>
          <a:xfrm>
            <a:off x="1914754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#444444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1850746" y="6281791"/>
            <a:ext cx="1512418" cy="466481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1" name="Text 109"/>
          <p:cNvSpPr/>
          <p:nvPr/>
        </p:nvSpPr>
        <p:spPr>
          <a:xfrm>
            <a:off x="1914754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Dark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1914754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68, 68, 68</a:t>
            </a:r>
            <a:endParaRPr lang="en-US" sz="600" dirty="0"/>
          </a:p>
        </p:txBody>
      </p:sp>
      <p:sp>
        <p:nvSpPr>
          <p:cNvPr id="113" name="Text 111"/>
          <p:cNvSpPr/>
          <p:nvPr/>
        </p:nvSpPr>
        <p:spPr>
          <a:xfrm>
            <a:off x="1914754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C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principal sobre claro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3427171" y="5520690"/>
            <a:ext cx="1512418" cy="761101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5" name="Text 113"/>
          <p:cNvSpPr/>
          <p:nvPr/>
        </p:nvSpPr>
        <p:spPr>
          <a:xfrm>
            <a:off x="3491179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#888888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3427171" y="6281791"/>
            <a:ext cx="1512418" cy="466481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7" name="Text 115"/>
          <p:cNvSpPr/>
          <p:nvPr/>
        </p:nvSpPr>
        <p:spPr>
          <a:xfrm>
            <a:off x="3491179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Mid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3491179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136, 136, 136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3491179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C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5003597" y="5520690"/>
            <a:ext cx="1512418" cy="761101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1" name="Text 119"/>
          <p:cNvSpPr/>
          <p:nvPr/>
        </p:nvSpPr>
        <p:spPr>
          <a:xfrm>
            <a:off x="5067605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#CCCCCC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5003597" y="6281791"/>
            <a:ext cx="1512418" cy="466481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3" name="Text 121"/>
          <p:cNvSpPr/>
          <p:nvPr/>
        </p:nvSpPr>
        <p:spPr>
          <a:xfrm>
            <a:off x="5067605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Light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5067605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204, 204, 204</a:t>
            </a:r>
            <a:endParaRPr lang="en-US" sz="600" dirty="0"/>
          </a:p>
        </p:txBody>
      </p:sp>
      <p:sp>
        <p:nvSpPr>
          <p:cNvPr id="125" name="Text 123"/>
          <p:cNvSpPr/>
          <p:nvPr/>
        </p:nvSpPr>
        <p:spPr>
          <a:xfrm>
            <a:off x="5067605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C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Separadores · Bordes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6580022" y="5520690"/>
            <a:ext cx="1512418" cy="761101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7" name="Text 125"/>
          <p:cNvSpPr/>
          <p:nvPr/>
        </p:nvSpPr>
        <p:spPr>
          <a:xfrm>
            <a:off x="6644030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#F0F0F0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6580022" y="6281791"/>
            <a:ext cx="1512418" cy="466481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9" name="Text 127"/>
          <p:cNvSpPr/>
          <p:nvPr/>
        </p:nvSpPr>
        <p:spPr>
          <a:xfrm>
            <a:off x="6644030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Soft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6644030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240, 240, 240</a:t>
            </a:r>
            <a:endParaRPr lang="en-US" sz="600" dirty="0"/>
          </a:p>
        </p:txBody>
      </p:sp>
      <p:sp>
        <p:nvSpPr>
          <p:cNvPr id="131" name="Text 129"/>
          <p:cNvSpPr/>
          <p:nvPr/>
        </p:nvSpPr>
        <p:spPr>
          <a:xfrm>
            <a:off x="6644030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C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claros · Backgrounds</a:t>
            </a:r>
            <a:endParaRPr lang="en-US" sz="600" dirty="0"/>
          </a:p>
        </p:txBody>
      </p:sp>
      <p:sp>
        <p:nvSpPr>
          <p:cNvPr id="132" name="Text 130"/>
          <p:cNvSpPr/>
          <p:nvPr/>
        </p:nvSpPr>
        <p:spPr>
          <a:xfrm>
            <a:off x="8275320" y="914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CONFIGURACIÓN MAESTRA</a:t>
            </a:r>
            <a:endParaRPr lang="en-US" sz="1200" dirty="0"/>
          </a:p>
        </p:txBody>
      </p:sp>
      <p:sp>
        <p:nvSpPr>
          <p:cNvPr id="133" name="Text 131"/>
          <p:cNvSpPr/>
          <p:nvPr/>
        </p:nvSpPr>
        <p:spPr>
          <a:xfrm>
            <a:off x="8275320" y="34747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por función · Empresa Constructora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8275320" y="530352"/>
            <a:ext cx="3703320" cy="182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5" name="Shape 133"/>
          <p:cNvSpPr/>
          <p:nvPr/>
        </p:nvSpPr>
        <p:spPr>
          <a:xfrm>
            <a:off x="8275320" y="594360"/>
            <a:ext cx="3703320" cy="477012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6" name="Shape 134"/>
          <p:cNvSpPr/>
          <p:nvPr/>
        </p:nvSpPr>
        <p:spPr>
          <a:xfrm>
            <a:off x="8275320" y="612648"/>
            <a:ext cx="256032" cy="4404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7" name="Text 135"/>
          <p:cNvSpPr/>
          <p:nvPr/>
        </p:nvSpPr>
        <p:spPr>
          <a:xfrm>
            <a:off x="8604504" y="621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portada / digital</a:t>
            </a:r>
            <a:endParaRPr lang="en-US" sz="750" dirty="0"/>
          </a:p>
        </p:txBody>
      </p:sp>
      <p:sp>
        <p:nvSpPr>
          <p:cNvPr id="138" name="Text 136"/>
          <p:cNvSpPr/>
          <p:nvPr/>
        </p:nvSpPr>
        <p:spPr>
          <a:xfrm>
            <a:off x="8604504" y="846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#000000  ·  Black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8275320" y="1089660"/>
            <a:ext cx="3703320" cy="477012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0" name="Shape 138"/>
          <p:cNvSpPr/>
          <p:nvPr/>
        </p:nvSpPr>
        <p:spPr>
          <a:xfrm>
            <a:off x="8275320" y="1107948"/>
            <a:ext cx="256032" cy="440436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1" name="Text 139"/>
          <p:cNvSpPr/>
          <p:nvPr/>
        </p:nvSpPr>
        <p:spPr>
          <a:xfrm>
            <a:off x="8604504" y="1117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panels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8604504" y="1342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#0D0D0D  ·  Card BG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8275320" y="1584960"/>
            <a:ext cx="3703320" cy="477012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4" name="Shape 142"/>
          <p:cNvSpPr/>
          <p:nvPr/>
        </p:nvSpPr>
        <p:spPr>
          <a:xfrm>
            <a:off x="8275320" y="1603248"/>
            <a:ext cx="256032" cy="440436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5" name="Text 143"/>
          <p:cNvSpPr/>
          <p:nvPr/>
        </p:nvSpPr>
        <p:spPr>
          <a:xfrm>
            <a:off x="8604504" y="16123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identidad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8604504" y="18375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#A100FF  ·  Accenture Purple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8275320" y="2080260"/>
            <a:ext cx="3703320" cy="477012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8" name="Shape 146"/>
          <p:cNvSpPr/>
          <p:nvPr/>
        </p:nvSpPr>
        <p:spPr>
          <a:xfrm>
            <a:off x="8275320" y="2098548"/>
            <a:ext cx="256032" cy="440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9" name="Text 147"/>
          <p:cNvSpPr/>
          <p:nvPr/>
        </p:nvSpPr>
        <p:spPr>
          <a:xfrm>
            <a:off x="8604504" y="21076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sobre oscuro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8604504" y="23328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  ·  White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8275320" y="2575560"/>
            <a:ext cx="3703320" cy="477012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2" name="Shape 150"/>
          <p:cNvSpPr/>
          <p:nvPr/>
        </p:nvSpPr>
        <p:spPr>
          <a:xfrm>
            <a:off x="8275320" y="2593848"/>
            <a:ext cx="256032" cy="44043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3" name="Text 151"/>
          <p:cNvSpPr/>
          <p:nvPr/>
        </p:nvSpPr>
        <p:spPr>
          <a:xfrm>
            <a:off x="8604504" y="26029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cuerpo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8604504" y="28281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#444444  ·  Gray Dark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8275320" y="3070860"/>
            <a:ext cx="3703320" cy="477012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6" name="Shape 154"/>
          <p:cNvSpPr/>
          <p:nvPr/>
        </p:nvSpPr>
        <p:spPr>
          <a:xfrm>
            <a:off x="8275320" y="3089148"/>
            <a:ext cx="256032" cy="440436"/>
          </a:xfrm>
          <a:prstGeom prst="rect">
            <a:avLst/>
          </a:prstGeom>
          <a:solidFill>
            <a:srgbClr val="CC66FF"/>
          </a:solidFill>
          <a:ln w="12700">
            <a:solidFill>
              <a:srgbClr val="CC66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7" name="Text 155"/>
          <p:cNvSpPr/>
          <p:nvPr/>
        </p:nvSpPr>
        <p:spPr>
          <a:xfrm>
            <a:off x="8604504" y="30982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/ destacados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8604504" y="33234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#CC66FF  ·  Purple Light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8275320" y="3566160"/>
            <a:ext cx="3703320" cy="477012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0" name="Shape 158"/>
          <p:cNvSpPr/>
          <p:nvPr/>
        </p:nvSpPr>
        <p:spPr>
          <a:xfrm>
            <a:off x="8275320" y="3584448"/>
            <a:ext cx="256032" cy="440436"/>
          </a:xfrm>
          <a:prstGeom prst="rect">
            <a:avLst/>
          </a:prstGeom>
          <a:solidFill>
            <a:srgbClr val="00BAFF"/>
          </a:solidFill>
          <a:ln w="12700">
            <a:solidFill>
              <a:srgbClr val="00BA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1" name="Text 159"/>
          <p:cNvSpPr/>
          <p:nvPr/>
        </p:nvSpPr>
        <p:spPr>
          <a:xfrm>
            <a:off x="8604504" y="35935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/ tecnología</a:t>
            </a:r>
            <a:endParaRPr lang="en-US" sz="750" dirty="0"/>
          </a:p>
        </p:txBody>
      </p:sp>
      <p:sp>
        <p:nvSpPr>
          <p:cNvPr id="162" name="Text 160"/>
          <p:cNvSpPr/>
          <p:nvPr/>
        </p:nvSpPr>
        <p:spPr>
          <a:xfrm>
            <a:off x="8604504" y="38187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#00BAFF  ·  Cyan Bright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8275320" y="4061460"/>
            <a:ext cx="3703320" cy="477012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4" name="Shape 162"/>
          <p:cNvSpPr/>
          <p:nvPr/>
        </p:nvSpPr>
        <p:spPr>
          <a:xfrm>
            <a:off x="8275320" y="4079748"/>
            <a:ext cx="256032" cy="440436"/>
          </a:xfrm>
          <a:prstGeom prst="rect">
            <a:avLst/>
          </a:prstGeom>
          <a:solidFill>
            <a:srgbClr val="9933FF"/>
          </a:solidFill>
          <a:ln w="12700">
            <a:solidFill>
              <a:srgbClr val="9933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5" name="Text 163"/>
          <p:cNvSpPr/>
          <p:nvPr/>
        </p:nvSpPr>
        <p:spPr>
          <a:xfrm>
            <a:off x="8604504" y="40888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Innovación</a:t>
            </a:r>
            <a:endParaRPr lang="en-US" sz="750" dirty="0"/>
          </a:p>
        </p:txBody>
      </p:sp>
      <p:sp>
        <p:nvSpPr>
          <p:cNvPr id="166" name="Text 164"/>
          <p:cNvSpPr/>
          <p:nvPr/>
        </p:nvSpPr>
        <p:spPr>
          <a:xfrm>
            <a:off x="8604504" y="43140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#9933FF  ·  Violet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8275320" y="4556760"/>
            <a:ext cx="3703320" cy="477012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8" name="Shape 166"/>
          <p:cNvSpPr/>
          <p:nvPr/>
        </p:nvSpPr>
        <p:spPr>
          <a:xfrm>
            <a:off x="8275320" y="4575048"/>
            <a:ext cx="256032" cy="440436"/>
          </a:xfrm>
          <a:prstGeom prst="rect">
            <a:avLst/>
          </a:prstGeom>
          <a:solidFill>
            <a:srgbClr val="00A3CC"/>
          </a:solidFill>
          <a:ln w="12700">
            <a:solidFill>
              <a:srgbClr val="00A3C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9" name="Text 167"/>
          <p:cNvSpPr/>
          <p:nvPr/>
        </p:nvSpPr>
        <p:spPr>
          <a:xfrm>
            <a:off x="8604504" y="45841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gráficas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8604504" y="48093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#00A3CC  ·  Cyan Medium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8275320" y="5052060"/>
            <a:ext cx="3703320" cy="477012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2" name="Shape 170"/>
          <p:cNvSpPr/>
          <p:nvPr/>
        </p:nvSpPr>
        <p:spPr>
          <a:xfrm>
            <a:off x="8275320" y="5070348"/>
            <a:ext cx="256032" cy="44043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3" name="Text 171"/>
          <p:cNvSpPr/>
          <p:nvPr/>
        </p:nvSpPr>
        <p:spPr>
          <a:xfrm>
            <a:off x="8604504" y="50794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</a:t>
            </a:r>
            <a:endParaRPr lang="en-US" sz="750" dirty="0"/>
          </a:p>
        </p:txBody>
      </p:sp>
      <p:sp>
        <p:nvSpPr>
          <p:cNvPr id="174" name="Text 172"/>
          <p:cNvSpPr/>
          <p:nvPr/>
        </p:nvSpPr>
        <p:spPr>
          <a:xfrm>
            <a:off x="8604504" y="53046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#888888  ·  Gray Mid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8275320" y="5547360"/>
            <a:ext cx="3703320" cy="477012"/>
          </a:xfrm>
          <a:prstGeom prst="rect">
            <a:avLst/>
          </a:prstGeom>
          <a:solidFill>
            <a:srgbClr val="080808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6" name="Shape 174"/>
          <p:cNvSpPr/>
          <p:nvPr/>
        </p:nvSpPr>
        <p:spPr>
          <a:xfrm>
            <a:off x="8275320" y="5565648"/>
            <a:ext cx="256032" cy="440436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7" name="Text 175"/>
          <p:cNvSpPr/>
          <p:nvPr/>
        </p:nvSpPr>
        <p:spPr>
          <a:xfrm>
            <a:off x="8604504" y="5574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cards claras</a:t>
            </a:r>
            <a:endParaRPr lang="en-US" sz="750" dirty="0"/>
          </a:p>
        </p:txBody>
      </p:sp>
      <p:sp>
        <p:nvSpPr>
          <p:cNvPr id="178" name="Text 176"/>
          <p:cNvSpPr/>
          <p:nvPr/>
        </p:nvSpPr>
        <p:spPr>
          <a:xfrm>
            <a:off x="8604504" y="5799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#F0F0F0  ·  Gray Soft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8275320" y="6042660"/>
            <a:ext cx="3703320" cy="477012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0" name="Shape 178"/>
          <p:cNvSpPr/>
          <p:nvPr/>
        </p:nvSpPr>
        <p:spPr>
          <a:xfrm>
            <a:off x="8275320" y="6060948"/>
            <a:ext cx="256032" cy="44043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1" name="Text 179"/>
          <p:cNvSpPr/>
          <p:nvPr/>
        </p:nvSpPr>
        <p:spPr>
          <a:xfrm>
            <a:off x="8604504" y="6070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Bordes / separadores</a:t>
            </a:r>
            <a:endParaRPr lang="en-US" sz="750" dirty="0"/>
          </a:p>
        </p:txBody>
      </p:sp>
      <p:sp>
        <p:nvSpPr>
          <p:cNvPr id="182" name="Text 180"/>
          <p:cNvSpPr/>
          <p:nvPr/>
        </p:nvSpPr>
        <p:spPr>
          <a:xfrm>
            <a:off x="8604504" y="6295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#CCCCCC  ·  Gray Light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8275320" y="6574536"/>
            <a:ext cx="3703320" cy="256032"/>
          </a:xfrm>
          <a:prstGeom prst="rect">
            <a:avLst/>
          </a:prstGeom>
          <a:solidFill>
            <a:srgbClr val="080808"/>
          </a:solidFill>
          <a:ln w="12700">
            <a:solidFill>
              <a:srgbClr val="A100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4" name="Text 182"/>
          <p:cNvSpPr/>
          <p:nvPr/>
        </p:nvSpPr>
        <p:spPr>
          <a:xfrm>
            <a:off x="8366760" y="661111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Accenture Purple #A100FF sobre negro = disrupción digital. Vibrante e inconfundible.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6" name="Text 184"/>
          <p:cNvSpPr/>
          <p:nvPr/>
        </p:nvSpPr>
        <p:spPr>
          <a:xfrm>
            <a:off x="274320" y="6793992"/>
            <a:ext cx="914400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 ·  PALETA OFICIAL  ·  accenture.com · Brand Space · Identity Guidelines</a:t>
            </a:r>
            <a:endParaRPr lang="en-US" sz="550" dirty="0"/>
          </a:p>
        </p:txBody>
      </p:sp>
      <p:sp>
        <p:nvSpPr>
          <p:cNvPr id="187" name="Text 185"/>
          <p:cNvSpPr/>
          <p:nvPr/>
        </p:nvSpPr>
        <p:spPr>
          <a:xfrm>
            <a:off x="0" y="6793992"/>
            <a:ext cx="119786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COLORES  ·  4 SISTEMAS  ·  1 LÁMINA</a:t>
            </a:r>
            <a:endParaRPr lang="en-US" sz="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Bain &amp; Company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4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Black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COLORES OFICIAL  ·  Results · Strategy · Private Equity · Global Consulting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4320" y="795528"/>
            <a:ext cx="7818120" cy="1828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8183880" y="73152"/>
            <a:ext cx="18288" cy="672084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7818120" cy="201168"/>
          </a:xfrm>
          <a:prstGeom prst="rect">
            <a:avLst/>
          </a:prstGeom>
          <a:solidFill>
            <a:srgbClr val="0A0A0A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>
            <a:off x="274320" y="841248"/>
            <a:ext cx="36576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65760" y="8412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PRINCIPAL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" y="84124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bain.com · Bain Brand Identity · Corporate Guidelines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74320" y="1042416"/>
            <a:ext cx="2563368" cy="761101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338328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#C8102E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03517"/>
            <a:ext cx="2563368" cy="466481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338328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Bain Red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8328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200, 16, 46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38328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identidad oficial primario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901696" y="1042416"/>
            <a:ext cx="2563368" cy="761101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2965704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#0A0A0A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01696" y="1803517"/>
            <a:ext cx="2563368" cy="466481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2965704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Black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965704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10, 10, 10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965704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base · Máxima sofisticación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529072" y="1042416"/>
            <a:ext cx="2563368" cy="7611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5593080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29072" y="1803517"/>
            <a:ext cx="2563368" cy="466481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Text 25"/>
          <p:cNvSpPr/>
          <p:nvPr/>
        </p:nvSpPr>
        <p:spPr>
          <a:xfrm>
            <a:off x="5593080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593080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255, 255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593080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· Contraste · Presentaciones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74320" y="2334006"/>
            <a:ext cx="7818120" cy="201168"/>
          </a:xfrm>
          <a:prstGeom prst="rect">
            <a:avLst/>
          </a:prstGeom>
          <a:solidFill>
            <a:srgbClr val="0A0A0A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Shape 29"/>
          <p:cNvSpPr/>
          <p:nvPr/>
        </p:nvSpPr>
        <p:spPr>
          <a:xfrm>
            <a:off x="274320" y="2334006"/>
            <a:ext cx="36576" cy="201168"/>
          </a:xfrm>
          <a:prstGeom prst="rect">
            <a:avLst/>
          </a:prstGeom>
          <a:solidFill>
            <a:srgbClr val="E84060"/>
          </a:solidFill>
          <a:ln w="12700">
            <a:solidFill>
              <a:srgbClr val="E8406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365760" y="233400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84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ROJOS — IDENTIDAD BAIN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" y="2334006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Bain Red System · Brand Extensions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74320" y="2535174"/>
            <a:ext cx="1512418" cy="761101"/>
          </a:xfrm>
          <a:prstGeom prst="rect">
            <a:avLst/>
          </a:prstGeom>
          <a:solidFill>
            <a:srgbClr val="8B0A1A"/>
          </a:solidFill>
          <a:ln w="12700">
            <a:solidFill>
              <a:srgbClr val="8B0A1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Text 33"/>
          <p:cNvSpPr/>
          <p:nvPr/>
        </p:nvSpPr>
        <p:spPr>
          <a:xfrm>
            <a:off x="338328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#8B0A1A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296275"/>
            <a:ext cx="1512418" cy="466481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/>
          <p:nvPr/>
        </p:nvSpPr>
        <p:spPr>
          <a:xfrm>
            <a:off x="338328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900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8328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139, 10, 26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38328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oscuro · Profundidad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850746" y="2535174"/>
            <a:ext cx="1512418" cy="761101"/>
          </a:xfrm>
          <a:prstGeom prst="rect">
            <a:avLst/>
          </a:prstGeom>
          <a:solidFill>
            <a:srgbClr val="A50D23"/>
          </a:solidFill>
          <a:ln w="12700">
            <a:solidFill>
              <a:srgbClr val="A50D2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1" name="Text 39"/>
          <p:cNvSpPr/>
          <p:nvPr/>
        </p:nvSpPr>
        <p:spPr>
          <a:xfrm>
            <a:off x="1914754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#A50D23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50746" y="3296275"/>
            <a:ext cx="1512418" cy="466481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3" name="Text 41"/>
          <p:cNvSpPr/>
          <p:nvPr/>
        </p:nvSpPr>
        <p:spPr>
          <a:xfrm>
            <a:off x="1914754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800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914754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165, 13, 35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914754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Variante premium oscura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427171" y="2535174"/>
            <a:ext cx="1512418" cy="761101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7" name="Text 45"/>
          <p:cNvSpPr/>
          <p:nvPr/>
        </p:nvSpPr>
        <p:spPr>
          <a:xfrm>
            <a:off x="3491179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#C8102E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27171" y="3296275"/>
            <a:ext cx="1512418" cy="466481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9" name="Text 47"/>
          <p:cNvSpPr/>
          <p:nvPr/>
        </p:nvSpPr>
        <p:spPr>
          <a:xfrm>
            <a:off x="3491179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Primary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491179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200, 16, 46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491179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oficial principal Bain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5003597" y="2535174"/>
            <a:ext cx="1512418" cy="761101"/>
          </a:xfrm>
          <a:prstGeom prst="rect">
            <a:avLst/>
          </a:prstGeom>
          <a:solidFill>
            <a:srgbClr val="E01A35"/>
          </a:solidFill>
          <a:ln w="12700">
            <a:solidFill>
              <a:srgbClr val="E01A3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3" name="Text 51"/>
          <p:cNvSpPr/>
          <p:nvPr/>
        </p:nvSpPr>
        <p:spPr>
          <a:xfrm>
            <a:off x="5067605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#E01A35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003597" y="3296275"/>
            <a:ext cx="1512418" cy="466481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5" name="Text 53"/>
          <p:cNvSpPr/>
          <p:nvPr/>
        </p:nvSpPr>
        <p:spPr>
          <a:xfrm>
            <a:off x="5067605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500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067605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224, 26, 53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067605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· Acento vívido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6580022" y="2535174"/>
            <a:ext cx="1512418" cy="761101"/>
          </a:xfrm>
          <a:prstGeom prst="rect">
            <a:avLst/>
          </a:prstGeom>
          <a:solidFill>
            <a:srgbClr val="E84060"/>
          </a:solidFill>
          <a:ln w="12700">
            <a:solidFill>
              <a:srgbClr val="E8406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9" name="Text 57"/>
          <p:cNvSpPr/>
          <p:nvPr/>
        </p:nvSpPr>
        <p:spPr>
          <a:xfrm>
            <a:off x="6644030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#E84060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580022" y="3296275"/>
            <a:ext cx="1512418" cy="466481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1" name="Text 59"/>
          <p:cNvSpPr/>
          <p:nvPr/>
        </p:nvSpPr>
        <p:spPr>
          <a:xfrm>
            <a:off x="6644030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Light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644030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232, 64, 96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644030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· DataViz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274320" y="3826764"/>
            <a:ext cx="7818120" cy="201168"/>
          </a:xfrm>
          <a:prstGeom prst="rect">
            <a:avLst/>
          </a:prstGeom>
          <a:solidFill>
            <a:srgbClr val="0A0A0A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5" name="Shape 63"/>
          <p:cNvSpPr/>
          <p:nvPr/>
        </p:nvSpPr>
        <p:spPr>
          <a:xfrm>
            <a:off x="274320" y="3826764"/>
            <a:ext cx="36576" cy="201168"/>
          </a:xfrm>
          <a:prstGeom prst="rect">
            <a:avLst/>
          </a:prstGeom>
          <a:solidFill>
            <a:srgbClr val="5A8FBF"/>
          </a:solidFill>
          <a:ln w="12700">
            <a:solidFill>
              <a:srgbClr val="5A8FB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6" name="Text 64"/>
          <p:cNvSpPr/>
          <p:nvPr/>
        </p:nvSpPr>
        <p:spPr>
          <a:xfrm>
            <a:off x="365760" y="38267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5A8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AZULES &amp; MARINO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74320" y="382676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Bain Strategy Colors · Corporate Extensions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274320" y="4027932"/>
            <a:ext cx="1512418" cy="761101"/>
          </a:xfrm>
          <a:prstGeom prst="rect">
            <a:avLst/>
          </a:prstGeom>
          <a:solidFill>
            <a:srgbClr val="001C2E"/>
          </a:solidFill>
          <a:ln w="12700">
            <a:solidFill>
              <a:srgbClr val="001C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9" name="Text 67"/>
          <p:cNvSpPr/>
          <p:nvPr/>
        </p:nvSpPr>
        <p:spPr>
          <a:xfrm>
            <a:off x="338328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#001C2E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" y="4789033"/>
            <a:ext cx="1512418" cy="466481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1" name="Text 69"/>
          <p:cNvSpPr/>
          <p:nvPr/>
        </p:nvSpPr>
        <p:spPr>
          <a:xfrm>
            <a:off x="338328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Black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38328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28, 46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338328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oscuros alternativos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1850746" y="4027932"/>
            <a:ext cx="1512418" cy="761101"/>
          </a:xfrm>
          <a:prstGeom prst="rect">
            <a:avLst/>
          </a:prstGeom>
          <a:solidFill>
            <a:srgbClr val="002D4A"/>
          </a:solidFill>
          <a:ln w="12700">
            <a:solidFill>
              <a:srgbClr val="002D4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5" name="Text 73"/>
          <p:cNvSpPr/>
          <p:nvPr/>
        </p:nvSpPr>
        <p:spPr>
          <a:xfrm>
            <a:off x="1914754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#002D4A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850746" y="4789033"/>
            <a:ext cx="1512418" cy="466481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7" name="Text 75"/>
          <p:cNvSpPr/>
          <p:nvPr/>
        </p:nvSpPr>
        <p:spPr>
          <a:xfrm>
            <a:off x="1914754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Deep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914754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45, 74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1914754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 oscuros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3427171" y="4027932"/>
            <a:ext cx="1512418" cy="761101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1" name="Text 79"/>
          <p:cNvSpPr/>
          <p:nvPr/>
        </p:nvSpPr>
        <p:spPr>
          <a:xfrm>
            <a:off x="3491179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#003D5C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427171" y="4789033"/>
            <a:ext cx="1512418" cy="466481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3" name="Text 81"/>
          <p:cNvSpPr/>
          <p:nvPr/>
        </p:nvSpPr>
        <p:spPr>
          <a:xfrm>
            <a:off x="3491179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Medium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3491179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61, 92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3491179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· Organigrama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5003597" y="4027932"/>
            <a:ext cx="1512418" cy="761101"/>
          </a:xfrm>
          <a:prstGeom prst="rect">
            <a:avLst/>
          </a:prstGeom>
          <a:solidFill>
            <a:srgbClr val="2D6F9E"/>
          </a:solidFill>
          <a:ln w="12700">
            <a:solidFill>
              <a:srgbClr val="2D6F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7" name="Text 85"/>
          <p:cNvSpPr/>
          <p:nvPr/>
        </p:nvSpPr>
        <p:spPr>
          <a:xfrm>
            <a:off x="5067605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#2D6F9E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003597" y="4789033"/>
            <a:ext cx="1512418" cy="466481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9" name="Text 87"/>
          <p:cNvSpPr/>
          <p:nvPr/>
        </p:nvSpPr>
        <p:spPr>
          <a:xfrm>
            <a:off x="5067605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Medium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067605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45, 111, 158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5067605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· Gráficas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6580022" y="4027932"/>
            <a:ext cx="1512418" cy="761101"/>
          </a:xfrm>
          <a:prstGeom prst="rect">
            <a:avLst/>
          </a:prstGeom>
          <a:solidFill>
            <a:srgbClr val="5A8FBF"/>
          </a:solidFill>
          <a:ln w="12700">
            <a:solidFill>
              <a:srgbClr val="5A8FB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3" name="Text 91"/>
          <p:cNvSpPr/>
          <p:nvPr/>
        </p:nvSpPr>
        <p:spPr>
          <a:xfrm>
            <a:off x="6644030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#5A8FBF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580022" y="4789033"/>
            <a:ext cx="1512418" cy="466481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5" name="Text 93"/>
          <p:cNvSpPr/>
          <p:nvPr/>
        </p:nvSpPr>
        <p:spPr>
          <a:xfrm>
            <a:off x="6644030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Light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6644030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90, 143, 191</a:t>
            </a:r>
            <a:endParaRPr lang="en-US" sz="600" dirty="0"/>
          </a:p>
        </p:txBody>
      </p:sp>
      <p:sp>
        <p:nvSpPr>
          <p:cNvPr id="97" name="Text 95"/>
          <p:cNvSpPr/>
          <p:nvPr/>
        </p:nvSpPr>
        <p:spPr>
          <a:xfrm>
            <a:off x="6644030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· Datos secundarios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274320" y="5319522"/>
            <a:ext cx="7818120" cy="201168"/>
          </a:xfrm>
          <a:prstGeom prst="rect">
            <a:avLst/>
          </a:prstGeom>
          <a:solidFill>
            <a:srgbClr val="0A0A0A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9" name="Shape 97"/>
          <p:cNvSpPr/>
          <p:nvPr/>
        </p:nvSpPr>
        <p:spPr>
          <a:xfrm>
            <a:off x="274320" y="5319522"/>
            <a:ext cx="36576" cy="201168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0" name="Text 98"/>
          <p:cNvSpPr/>
          <p:nvPr/>
        </p:nvSpPr>
        <p:spPr>
          <a:xfrm>
            <a:off x="365760" y="531952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NEUTROS &amp; SEMÁNTICOS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274320" y="5319522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Bain Neutral System · Results Framework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274320" y="5520690"/>
            <a:ext cx="1512418" cy="761101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3" name="Text 101"/>
          <p:cNvSpPr/>
          <p:nvPr/>
        </p:nvSpPr>
        <p:spPr>
          <a:xfrm>
            <a:off x="338328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#1C1C1C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274320" y="6281791"/>
            <a:ext cx="1512418" cy="466481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5" name="Text 103"/>
          <p:cNvSpPr/>
          <p:nvPr/>
        </p:nvSpPr>
        <p:spPr>
          <a:xfrm>
            <a:off x="338328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900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338328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28, 28, 28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338328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· Panels oscuros</a:t>
            </a:r>
            <a:endParaRPr lang="en-US" sz="600" dirty="0"/>
          </a:p>
        </p:txBody>
      </p:sp>
      <p:sp>
        <p:nvSpPr>
          <p:cNvPr id="108" name="Shape 106"/>
          <p:cNvSpPr/>
          <p:nvPr/>
        </p:nvSpPr>
        <p:spPr>
          <a:xfrm>
            <a:off x="1850746" y="5520690"/>
            <a:ext cx="1512418" cy="761101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9" name="Text 107"/>
          <p:cNvSpPr/>
          <p:nvPr/>
        </p:nvSpPr>
        <p:spPr>
          <a:xfrm>
            <a:off x="1914754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#333333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1850746" y="6281791"/>
            <a:ext cx="1512418" cy="466481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1" name="Text 109"/>
          <p:cNvSpPr/>
          <p:nvPr/>
        </p:nvSpPr>
        <p:spPr>
          <a:xfrm>
            <a:off x="1914754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Dark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1914754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51, 51, 51</a:t>
            </a:r>
            <a:endParaRPr lang="en-US" sz="600" dirty="0"/>
          </a:p>
        </p:txBody>
      </p:sp>
      <p:sp>
        <p:nvSpPr>
          <p:cNvPr id="113" name="Text 111"/>
          <p:cNvSpPr/>
          <p:nvPr/>
        </p:nvSpPr>
        <p:spPr>
          <a:xfrm>
            <a:off x="1914754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principal sobre claro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3427171" y="5520690"/>
            <a:ext cx="1512418" cy="761101"/>
          </a:xfrm>
          <a:prstGeom prst="rect">
            <a:avLst/>
          </a:prstGeom>
          <a:solidFill>
            <a:srgbClr val="707070"/>
          </a:solidFill>
          <a:ln w="12700">
            <a:solidFill>
              <a:srgbClr val="70707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5" name="Text 113"/>
          <p:cNvSpPr/>
          <p:nvPr/>
        </p:nvSpPr>
        <p:spPr>
          <a:xfrm>
            <a:off x="3491179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#707070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3427171" y="6281791"/>
            <a:ext cx="1512418" cy="466481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7" name="Text 115"/>
          <p:cNvSpPr/>
          <p:nvPr/>
        </p:nvSpPr>
        <p:spPr>
          <a:xfrm>
            <a:off x="3491179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Medium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3491179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112, 112, 112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3491179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 · Labels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5003597" y="5520690"/>
            <a:ext cx="1512418" cy="761101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1" name="Text 119"/>
          <p:cNvSpPr/>
          <p:nvPr/>
        </p:nvSpPr>
        <p:spPr>
          <a:xfrm>
            <a:off x="5067605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#EDEDED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5003597" y="6281791"/>
            <a:ext cx="1512418" cy="466481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3" name="Text 121"/>
          <p:cNvSpPr/>
          <p:nvPr/>
        </p:nvSpPr>
        <p:spPr>
          <a:xfrm>
            <a:off x="5067605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Light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5067605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237, 237, 237</a:t>
            </a:r>
            <a:endParaRPr lang="en-US" sz="600" dirty="0"/>
          </a:p>
        </p:txBody>
      </p:sp>
      <p:sp>
        <p:nvSpPr>
          <p:cNvPr id="125" name="Text 123"/>
          <p:cNvSpPr/>
          <p:nvPr/>
        </p:nvSpPr>
        <p:spPr>
          <a:xfrm>
            <a:off x="5067605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claros · Tablas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6580022" y="5520690"/>
            <a:ext cx="1512418" cy="761101"/>
          </a:xfrm>
          <a:prstGeom prst="rect">
            <a:avLst/>
          </a:prstGeom>
          <a:solidFill>
            <a:srgbClr val="25A244"/>
          </a:solidFill>
          <a:ln w="12700">
            <a:solidFill>
              <a:srgbClr val="25A2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7" name="Text 125"/>
          <p:cNvSpPr/>
          <p:nvPr/>
        </p:nvSpPr>
        <p:spPr>
          <a:xfrm>
            <a:off x="6644030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#25A244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6580022" y="6281791"/>
            <a:ext cx="1512418" cy="466481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9" name="Text 127"/>
          <p:cNvSpPr/>
          <p:nvPr/>
        </p:nvSpPr>
        <p:spPr>
          <a:xfrm>
            <a:off x="6644030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Results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6644030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37, 162, 68</a:t>
            </a:r>
            <a:endParaRPr lang="en-US" sz="600" dirty="0"/>
          </a:p>
        </p:txBody>
      </p:sp>
      <p:sp>
        <p:nvSpPr>
          <p:cNvPr id="131" name="Text 129"/>
          <p:cNvSpPr/>
          <p:nvPr/>
        </p:nvSpPr>
        <p:spPr>
          <a:xfrm>
            <a:off x="6644030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positivos · Logros</a:t>
            </a:r>
            <a:endParaRPr lang="en-US" sz="600" dirty="0"/>
          </a:p>
        </p:txBody>
      </p:sp>
      <p:sp>
        <p:nvSpPr>
          <p:cNvPr id="132" name="Text 130"/>
          <p:cNvSpPr/>
          <p:nvPr/>
        </p:nvSpPr>
        <p:spPr>
          <a:xfrm>
            <a:off x="8275320" y="914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CONFIGURACIÓN MAESTRA</a:t>
            </a:r>
            <a:endParaRPr lang="en-US" sz="1200" dirty="0"/>
          </a:p>
        </p:txBody>
      </p:sp>
      <p:sp>
        <p:nvSpPr>
          <p:cNvPr id="133" name="Text 131"/>
          <p:cNvSpPr/>
          <p:nvPr/>
        </p:nvSpPr>
        <p:spPr>
          <a:xfrm>
            <a:off x="8275320" y="34747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por función · Empresa Constructora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8275320" y="530352"/>
            <a:ext cx="3703320" cy="1828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5" name="Shape 133"/>
          <p:cNvSpPr/>
          <p:nvPr/>
        </p:nvSpPr>
        <p:spPr>
          <a:xfrm>
            <a:off x="8275320" y="594360"/>
            <a:ext cx="3703320" cy="477012"/>
          </a:xfrm>
          <a:prstGeom prst="rect">
            <a:avLst/>
          </a:prstGeom>
          <a:solidFill>
            <a:srgbClr val="0A0A0A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6" name="Shape 134"/>
          <p:cNvSpPr/>
          <p:nvPr/>
        </p:nvSpPr>
        <p:spPr>
          <a:xfrm>
            <a:off x="8275320" y="612648"/>
            <a:ext cx="256032" cy="44043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7" name="Text 135"/>
          <p:cNvSpPr/>
          <p:nvPr/>
        </p:nvSpPr>
        <p:spPr>
          <a:xfrm>
            <a:off x="8604504" y="621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portada / executive</a:t>
            </a:r>
            <a:endParaRPr lang="en-US" sz="750" dirty="0"/>
          </a:p>
        </p:txBody>
      </p:sp>
      <p:sp>
        <p:nvSpPr>
          <p:cNvPr id="138" name="Text 136"/>
          <p:cNvSpPr/>
          <p:nvPr/>
        </p:nvSpPr>
        <p:spPr>
          <a:xfrm>
            <a:off x="8604504" y="846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#0A0A0A  ·  Executive Black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8275320" y="1089660"/>
            <a:ext cx="3703320" cy="477012"/>
          </a:xfrm>
          <a:prstGeom prst="rect">
            <a:avLst/>
          </a:prstGeom>
          <a:solidFill>
            <a:srgbClr val="141414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0" name="Shape 138"/>
          <p:cNvSpPr/>
          <p:nvPr/>
        </p:nvSpPr>
        <p:spPr>
          <a:xfrm>
            <a:off x="8275320" y="1107948"/>
            <a:ext cx="256032" cy="440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1" name="Text 139"/>
          <p:cNvSpPr/>
          <p:nvPr/>
        </p:nvSpPr>
        <p:spPr>
          <a:xfrm>
            <a:off x="8604504" y="1117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slides contenido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8604504" y="1342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  ·  White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8275320" y="1584960"/>
            <a:ext cx="3703320" cy="477012"/>
          </a:xfrm>
          <a:prstGeom prst="rect">
            <a:avLst/>
          </a:prstGeom>
          <a:solidFill>
            <a:srgbClr val="0A0A0A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4" name="Shape 142"/>
          <p:cNvSpPr/>
          <p:nvPr/>
        </p:nvSpPr>
        <p:spPr>
          <a:xfrm>
            <a:off x="8275320" y="1603248"/>
            <a:ext cx="256032" cy="44043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5" name="Text 143"/>
          <p:cNvSpPr/>
          <p:nvPr/>
        </p:nvSpPr>
        <p:spPr>
          <a:xfrm>
            <a:off x="8604504" y="16123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identidad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8604504" y="18375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#C8102E  ·  Bain Red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8275320" y="2080260"/>
            <a:ext cx="3703320" cy="477012"/>
          </a:xfrm>
          <a:prstGeom prst="rect">
            <a:avLst/>
          </a:prstGeom>
          <a:solidFill>
            <a:srgbClr val="141414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8" name="Shape 146"/>
          <p:cNvSpPr/>
          <p:nvPr/>
        </p:nvSpPr>
        <p:spPr>
          <a:xfrm>
            <a:off x="8275320" y="2098548"/>
            <a:ext cx="256032" cy="440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9" name="Text 147"/>
          <p:cNvSpPr/>
          <p:nvPr/>
        </p:nvSpPr>
        <p:spPr>
          <a:xfrm>
            <a:off x="8604504" y="21076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sobre oscuro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8604504" y="23328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  ·  White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8275320" y="2575560"/>
            <a:ext cx="3703320" cy="477012"/>
          </a:xfrm>
          <a:prstGeom prst="rect">
            <a:avLst/>
          </a:prstGeom>
          <a:solidFill>
            <a:srgbClr val="0A0A0A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2" name="Shape 150"/>
          <p:cNvSpPr/>
          <p:nvPr/>
        </p:nvSpPr>
        <p:spPr>
          <a:xfrm>
            <a:off x="8275320" y="2593848"/>
            <a:ext cx="256032" cy="4404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3" name="Text 151"/>
          <p:cNvSpPr/>
          <p:nvPr/>
        </p:nvSpPr>
        <p:spPr>
          <a:xfrm>
            <a:off x="8604504" y="26029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cuerpo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8604504" y="28281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#333333  ·  Gray Dark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8275320" y="3070860"/>
            <a:ext cx="3703320" cy="477012"/>
          </a:xfrm>
          <a:prstGeom prst="rect">
            <a:avLst/>
          </a:prstGeom>
          <a:solidFill>
            <a:srgbClr val="141414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6" name="Shape 154"/>
          <p:cNvSpPr/>
          <p:nvPr/>
        </p:nvSpPr>
        <p:spPr>
          <a:xfrm>
            <a:off x="8275320" y="3089148"/>
            <a:ext cx="256032" cy="440436"/>
          </a:xfrm>
          <a:prstGeom prst="rect">
            <a:avLst/>
          </a:prstGeom>
          <a:solidFill>
            <a:srgbClr val="E84060"/>
          </a:solidFill>
          <a:ln w="12700">
            <a:solidFill>
              <a:srgbClr val="E8406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7" name="Text 155"/>
          <p:cNvSpPr/>
          <p:nvPr/>
        </p:nvSpPr>
        <p:spPr>
          <a:xfrm>
            <a:off x="8604504" y="30982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/ resultados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8604504" y="33234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#E84060  ·  Red Light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8275320" y="3566160"/>
            <a:ext cx="3703320" cy="477012"/>
          </a:xfrm>
          <a:prstGeom prst="rect">
            <a:avLst/>
          </a:prstGeom>
          <a:solidFill>
            <a:srgbClr val="0A0A0A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0" name="Shape 158"/>
          <p:cNvSpPr/>
          <p:nvPr/>
        </p:nvSpPr>
        <p:spPr>
          <a:xfrm>
            <a:off x="8275320" y="3584448"/>
            <a:ext cx="256032" cy="440436"/>
          </a:xfrm>
          <a:prstGeom prst="rect">
            <a:avLst/>
          </a:prstGeom>
          <a:solidFill>
            <a:srgbClr val="25A244"/>
          </a:solidFill>
          <a:ln w="12700">
            <a:solidFill>
              <a:srgbClr val="25A2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1" name="Text 159"/>
          <p:cNvSpPr/>
          <p:nvPr/>
        </p:nvSpPr>
        <p:spPr>
          <a:xfrm>
            <a:off x="8604504" y="35935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positivos</a:t>
            </a:r>
            <a:endParaRPr lang="en-US" sz="750" dirty="0"/>
          </a:p>
        </p:txBody>
      </p:sp>
      <p:sp>
        <p:nvSpPr>
          <p:cNvPr id="162" name="Text 160"/>
          <p:cNvSpPr/>
          <p:nvPr/>
        </p:nvSpPr>
        <p:spPr>
          <a:xfrm>
            <a:off x="8604504" y="38187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#25A244  ·  Green Results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8275320" y="4061460"/>
            <a:ext cx="3703320" cy="477012"/>
          </a:xfrm>
          <a:prstGeom prst="rect">
            <a:avLst/>
          </a:prstGeom>
          <a:solidFill>
            <a:srgbClr val="141414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4" name="Shape 162"/>
          <p:cNvSpPr/>
          <p:nvPr/>
        </p:nvSpPr>
        <p:spPr>
          <a:xfrm>
            <a:off x="8275320" y="4079748"/>
            <a:ext cx="256032" cy="440436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5" name="Text 163"/>
          <p:cNvSpPr/>
          <p:nvPr/>
        </p:nvSpPr>
        <p:spPr>
          <a:xfrm>
            <a:off x="8604504" y="40888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/ organigrama</a:t>
            </a:r>
            <a:endParaRPr lang="en-US" sz="750" dirty="0"/>
          </a:p>
        </p:txBody>
      </p:sp>
      <p:sp>
        <p:nvSpPr>
          <p:cNvPr id="166" name="Text 164"/>
          <p:cNvSpPr/>
          <p:nvPr/>
        </p:nvSpPr>
        <p:spPr>
          <a:xfrm>
            <a:off x="8604504" y="43140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#003D5C  ·  Navy Medium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8275320" y="4556760"/>
            <a:ext cx="3703320" cy="477012"/>
          </a:xfrm>
          <a:prstGeom prst="rect">
            <a:avLst/>
          </a:prstGeom>
          <a:solidFill>
            <a:srgbClr val="0A0A0A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8" name="Shape 166"/>
          <p:cNvSpPr/>
          <p:nvPr/>
        </p:nvSpPr>
        <p:spPr>
          <a:xfrm>
            <a:off x="8275320" y="4575048"/>
            <a:ext cx="256032" cy="440436"/>
          </a:xfrm>
          <a:prstGeom prst="rect">
            <a:avLst/>
          </a:prstGeom>
          <a:solidFill>
            <a:srgbClr val="2D6F9E"/>
          </a:solidFill>
          <a:ln w="12700">
            <a:solidFill>
              <a:srgbClr val="2D6F9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9" name="Text 167"/>
          <p:cNvSpPr/>
          <p:nvPr/>
        </p:nvSpPr>
        <p:spPr>
          <a:xfrm>
            <a:off x="8604504" y="45841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gráficas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8604504" y="48093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#2D6F9E  ·  Blue Medium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8275320" y="5052060"/>
            <a:ext cx="3703320" cy="477012"/>
          </a:xfrm>
          <a:prstGeom prst="rect">
            <a:avLst/>
          </a:prstGeom>
          <a:solidFill>
            <a:srgbClr val="141414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2" name="Shape 170"/>
          <p:cNvSpPr/>
          <p:nvPr/>
        </p:nvSpPr>
        <p:spPr>
          <a:xfrm>
            <a:off x="8275320" y="5070348"/>
            <a:ext cx="256032" cy="440436"/>
          </a:xfrm>
          <a:prstGeom prst="rect">
            <a:avLst/>
          </a:prstGeom>
          <a:solidFill>
            <a:srgbClr val="707070"/>
          </a:solidFill>
          <a:ln w="12700">
            <a:solidFill>
              <a:srgbClr val="70707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3" name="Text 171"/>
          <p:cNvSpPr/>
          <p:nvPr/>
        </p:nvSpPr>
        <p:spPr>
          <a:xfrm>
            <a:off x="8604504" y="50794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</a:t>
            </a:r>
            <a:endParaRPr lang="en-US" sz="750" dirty="0"/>
          </a:p>
        </p:txBody>
      </p:sp>
      <p:sp>
        <p:nvSpPr>
          <p:cNvPr id="174" name="Text 172"/>
          <p:cNvSpPr/>
          <p:nvPr/>
        </p:nvSpPr>
        <p:spPr>
          <a:xfrm>
            <a:off x="8604504" y="53046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#707070  ·  Gray Medium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8275320" y="5547360"/>
            <a:ext cx="3703320" cy="477012"/>
          </a:xfrm>
          <a:prstGeom prst="rect">
            <a:avLst/>
          </a:prstGeom>
          <a:solidFill>
            <a:srgbClr val="0A0A0A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6" name="Shape 174"/>
          <p:cNvSpPr/>
          <p:nvPr/>
        </p:nvSpPr>
        <p:spPr>
          <a:xfrm>
            <a:off x="8275320" y="5565648"/>
            <a:ext cx="256032" cy="440436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7" name="Text 175"/>
          <p:cNvSpPr/>
          <p:nvPr/>
        </p:nvSpPr>
        <p:spPr>
          <a:xfrm>
            <a:off x="8604504" y="5574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cards</a:t>
            </a:r>
            <a:endParaRPr lang="en-US" sz="750" dirty="0"/>
          </a:p>
        </p:txBody>
      </p:sp>
      <p:sp>
        <p:nvSpPr>
          <p:cNvPr id="178" name="Text 176"/>
          <p:cNvSpPr/>
          <p:nvPr/>
        </p:nvSpPr>
        <p:spPr>
          <a:xfrm>
            <a:off x="8604504" y="5799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#141414  ·  Card BG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8275320" y="6042660"/>
            <a:ext cx="3703320" cy="477012"/>
          </a:xfrm>
          <a:prstGeom prst="rect">
            <a:avLst/>
          </a:prstGeom>
          <a:solidFill>
            <a:srgbClr val="141414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0" name="Shape 178"/>
          <p:cNvSpPr/>
          <p:nvPr/>
        </p:nvSpPr>
        <p:spPr>
          <a:xfrm>
            <a:off x="8275320" y="6060948"/>
            <a:ext cx="256032" cy="440436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1" name="Text 179"/>
          <p:cNvSpPr/>
          <p:nvPr/>
        </p:nvSpPr>
        <p:spPr>
          <a:xfrm>
            <a:off x="8604504" y="6070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Bordes / separadores</a:t>
            </a:r>
            <a:endParaRPr lang="en-US" sz="750" dirty="0"/>
          </a:p>
        </p:txBody>
      </p:sp>
      <p:sp>
        <p:nvSpPr>
          <p:cNvPr id="182" name="Text 180"/>
          <p:cNvSpPr/>
          <p:nvPr/>
        </p:nvSpPr>
        <p:spPr>
          <a:xfrm>
            <a:off x="8604504" y="6295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#EDEDED  ·  Gray Light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8275320" y="6574536"/>
            <a:ext cx="3703320" cy="256032"/>
          </a:xfrm>
          <a:prstGeom prst="rect">
            <a:avLst/>
          </a:prstGeom>
          <a:solidFill>
            <a:srgbClr val="0A0A0A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4" name="Text 182"/>
          <p:cNvSpPr/>
          <p:nvPr/>
        </p:nvSpPr>
        <p:spPr>
          <a:xfrm>
            <a:off x="8366760" y="661111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Bain Red #C8102E + Negro = impacto ejecutivo. Resultados sobre todo.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6" name="Text 184"/>
          <p:cNvSpPr/>
          <p:nvPr/>
        </p:nvSpPr>
        <p:spPr>
          <a:xfrm>
            <a:off x="274320" y="6793992"/>
            <a:ext cx="914400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BAIN &amp; COMPANY  ·  PALETA OFICIAL  ·  bain.com · Bain Brand Guidelines · Corporate Identity</a:t>
            </a:r>
            <a:endParaRPr lang="en-US" sz="550" dirty="0"/>
          </a:p>
        </p:txBody>
      </p:sp>
      <p:sp>
        <p:nvSpPr>
          <p:cNvPr id="187" name="Text 185"/>
          <p:cNvSpPr/>
          <p:nvPr/>
        </p:nvSpPr>
        <p:spPr>
          <a:xfrm>
            <a:off x="0" y="6793992"/>
            <a:ext cx="119786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COLORES  ·  4 SISTEMAS  ·  1 LÁMINA</a:t>
            </a:r>
            <a:endParaRPr lang="en-US" sz="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E8762B"/>
          </a:solidFill>
          <a:ln w="12700">
            <a:solidFill>
              <a:srgbClr val="E8762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Tableau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A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Analytics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2D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COLORES OFICIAL  ·  Data Visualization · Business Intelligence · Analytics Platform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4320" y="795528"/>
            <a:ext cx="7818120" cy="18288"/>
          </a:xfrm>
          <a:prstGeom prst="rect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8183880" y="73152"/>
            <a:ext cx="18288" cy="6720840"/>
          </a:xfrm>
          <a:prstGeom prst="rect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7818120" cy="201168"/>
          </a:xfrm>
          <a:prstGeom prst="rect">
            <a:avLst/>
          </a:prstGeom>
          <a:solidFill>
            <a:srgbClr val="161628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>
            <a:off x="274320" y="841248"/>
            <a:ext cx="36576" cy="201168"/>
          </a:xfrm>
          <a:prstGeom prst="rect">
            <a:avLst/>
          </a:prstGeom>
          <a:solidFill>
            <a:srgbClr val="E8762B"/>
          </a:solidFill>
          <a:ln w="12700">
            <a:solidFill>
              <a:srgbClr val="E8762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65760" y="8412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87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PRINCIPAL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" y="84124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2D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tableau.com · Tableau Brand Identity · Salesforce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74320" y="1042416"/>
            <a:ext cx="2563368" cy="761101"/>
          </a:xfrm>
          <a:prstGeom prst="rect">
            <a:avLst/>
          </a:prstGeom>
          <a:solidFill>
            <a:srgbClr val="E8762B"/>
          </a:solidFill>
          <a:ln w="12700">
            <a:solidFill>
              <a:srgbClr val="E8762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338328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#E8762B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03517"/>
            <a:ext cx="2563368" cy="466481"/>
          </a:xfrm>
          <a:prstGeom prst="rect">
            <a:avLst/>
          </a:prstGeom>
          <a:solidFill>
            <a:srgbClr val="222240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338328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Orange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8328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D2D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232, 118, 43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38328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identidad primario Tableau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901696" y="1042416"/>
            <a:ext cx="2563368" cy="761101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2965704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#1A1A2E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01696" y="1803517"/>
            <a:ext cx="2563368" cy="466481"/>
          </a:xfrm>
          <a:prstGeom prst="rect">
            <a:avLst/>
          </a:prstGeom>
          <a:solidFill>
            <a:srgbClr val="222240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2965704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Dark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965704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D2D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26, 26, 46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965704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base · Dashboard oscuro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529072" y="1042416"/>
            <a:ext cx="2563368" cy="7611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5593080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29072" y="1803517"/>
            <a:ext cx="2563368" cy="466481"/>
          </a:xfrm>
          <a:prstGeom prst="rect">
            <a:avLst/>
          </a:prstGeom>
          <a:solidFill>
            <a:srgbClr val="222240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Text 25"/>
          <p:cNvSpPr/>
          <p:nvPr/>
        </p:nvSpPr>
        <p:spPr>
          <a:xfrm>
            <a:off x="5593080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593080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D2D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255, 255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593080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· Contraste · UI claro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74320" y="2334006"/>
            <a:ext cx="7818120" cy="201168"/>
          </a:xfrm>
          <a:prstGeom prst="rect">
            <a:avLst/>
          </a:prstGeom>
          <a:solidFill>
            <a:srgbClr val="161628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Shape 29"/>
          <p:cNvSpPr/>
          <p:nvPr/>
        </p:nvSpPr>
        <p:spPr>
          <a:xfrm>
            <a:off x="274320" y="2334006"/>
            <a:ext cx="36576" cy="201168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365760" y="233400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76B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10 — CATEGORICAL PALETTE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" y="2334006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2D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Tableau Color 10 · Categorical DataViz · Perceptual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74320" y="2535174"/>
            <a:ext cx="1512418" cy="761101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Text 33"/>
          <p:cNvSpPr/>
          <p:nvPr/>
        </p:nvSpPr>
        <p:spPr>
          <a:xfrm>
            <a:off x="338328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#4E79A7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296275"/>
            <a:ext cx="1512418" cy="466481"/>
          </a:xfrm>
          <a:prstGeom prst="rect">
            <a:avLst/>
          </a:prstGeom>
          <a:solidFill>
            <a:srgbClr val="222240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/>
          <p:nvPr/>
        </p:nvSpPr>
        <p:spPr>
          <a:xfrm>
            <a:off x="338328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 Blue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8328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D2D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78, 121, 167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38328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1 · Categoría principal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850746" y="2535174"/>
            <a:ext cx="1512418" cy="761101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1" name="Text 39"/>
          <p:cNvSpPr/>
          <p:nvPr/>
        </p:nvSpPr>
        <p:spPr>
          <a:xfrm>
            <a:off x="1914754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#F28E2B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50746" y="3296275"/>
            <a:ext cx="1512418" cy="466481"/>
          </a:xfrm>
          <a:prstGeom prst="rect">
            <a:avLst/>
          </a:prstGeom>
          <a:solidFill>
            <a:srgbClr val="222240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3" name="Text 41"/>
          <p:cNvSpPr/>
          <p:nvPr/>
        </p:nvSpPr>
        <p:spPr>
          <a:xfrm>
            <a:off x="1914754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Sandy Brown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914754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D2D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242, 142, 43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914754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2 · Segunda categoría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427171" y="2535174"/>
            <a:ext cx="1512418" cy="761101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7" name="Text 45"/>
          <p:cNvSpPr/>
          <p:nvPr/>
        </p:nvSpPr>
        <p:spPr>
          <a:xfrm>
            <a:off x="3491179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#E15759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27171" y="3296275"/>
            <a:ext cx="1512418" cy="466481"/>
          </a:xfrm>
          <a:prstGeom prst="rect">
            <a:avLst/>
          </a:prstGeom>
          <a:solidFill>
            <a:srgbClr val="222240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9" name="Text 47"/>
          <p:cNvSpPr/>
          <p:nvPr/>
        </p:nvSpPr>
        <p:spPr>
          <a:xfrm>
            <a:off x="3491179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 Cotta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491179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D2D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225, 87, 89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491179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3 · Alerta · Tercera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5003597" y="2535174"/>
            <a:ext cx="1512418" cy="761101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3" name="Text 51"/>
          <p:cNvSpPr/>
          <p:nvPr/>
        </p:nvSpPr>
        <p:spPr>
          <a:xfrm>
            <a:off x="5067605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#76B7B2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003597" y="3296275"/>
            <a:ext cx="1512418" cy="466481"/>
          </a:xfrm>
          <a:prstGeom prst="rect">
            <a:avLst/>
          </a:prstGeom>
          <a:solidFill>
            <a:srgbClr val="222240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5" name="Text 53"/>
          <p:cNvSpPr/>
          <p:nvPr/>
        </p:nvSpPr>
        <p:spPr>
          <a:xfrm>
            <a:off x="5067605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Caribbean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067605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D2D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118, 183, 178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067605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4 · Teal datos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6580022" y="2535174"/>
            <a:ext cx="1512418" cy="761101"/>
          </a:xfrm>
          <a:prstGeom prst="rect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9" name="Text 57"/>
          <p:cNvSpPr/>
          <p:nvPr/>
        </p:nvSpPr>
        <p:spPr>
          <a:xfrm>
            <a:off x="6644030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#59A14F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580022" y="3296275"/>
            <a:ext cx="1512418" cy="466481"/>
          </a:xfrm>
          <a:prstGeom prst="rect">
            <a:avLst/>
          </a:prstGeom>
          <a:solidFill>
            <a:srgbClr val="222240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1" name="Text 59"/>
          <p:cNvSpPr/>
          <p:nvPr/>
        </p:nvSpPr>
        <p:spPr>
          <a:xfrm>
            <a:off x="6644030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Green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644030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D2D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89, 161, 79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644030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5 · Positivo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274320" y="3826764"/>
            <a:ext cx="7818120" cy="201168"/>
          </a:xfrm>
          <a:prstGeom prst="rect">
            <a:avLst/>
          </a:prstGeom>
          <a:solidFill>
            <a:srgbClr val="161628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5" name="Shape 63"/>
          <p:cNvSpPr/>
          <p:nvPr/>
        </p:nvSpPr>
        <p:spPr>
          <a:xfrm>
            <a:off x="274320" y="3826764"/>
            <a:ext cx="36576" cy="201168"/>
          </a:xfrm>
          <a:prstGeom prst="rect">
            <a:avLst/>
          </a:prstGeom>
          <a:solidFill>
            <a:srgbClr val="FF9DA7"/>
          </a:solidFill>
          <a:ln w="12700">
            <a:solidFill>
              <a:srgbClr val="FF9DA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6" name="Text 64"/>
          <p:cNvSpPr/>
          <p:nvPr/>
        </p:nvSpPr>
        <p:spPr>
          <a:xfrm>
            <a:off x="365760" y="38267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F9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10 — CONTINUACIÓN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74320" y="382676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2D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Tableau Color 10 · Full Categorical Set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274320" y="4027932"/>
            <a:ext cx="1512418" cy="761101"/>
          </a:xfrm>
          <a:prstGeom prst="rect">
            <a:avLst/>
          </a:prstGeom>
          <a:solidFill>
            <a:srgbClr val="EDC948"/>
          </a:solidFill>
          <a:ln w="12700">
            <a:solidFill>
              <a:srgbClr val="EDC94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9" name="Text 67"/>
          <p:cNvSpPr/>
          <p:nvPr/>
        </p:nvSpPr>
        <p:spPr>
          <a:xfrm>
            <a:off x="338328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#EDC948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" y="4789033"/>
            <a:ext cx="1512418" cy="466481"/>
          </a:xfrm>
          <a:prstGeom prst="rect">
            <a:avLst/>
          </a:prstGeom>
          <a:solidFill>
            <a:srgbClr val="222240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1" name="Text 69"/>
          <p:cNvSpPr/>
          <p:nvPr/>
        </p:nvSpPr>
        <p:spPr>
          <a:xfrm>
            <a:off x="338328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Sunflower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38328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D2D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237, 201, 72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338328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6 · Warning · Destaque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1850746" y="4027932"/>
            <a:ext cx="1512418" cy="761101"/>
          </a:xfrm>
          <a:prstGeom prst="rect">
            <a:avLst/>
          </a:prstGeom>
          <a:solidFill>
            <a:srgbClr val="B07AA1"/>
          </a:solidFill>
          <a:ln w="12700">
            <a:solidFill>
              <a:srgbClr val="B07AA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5" name="Text 73"/>
          <p:cNvSpPr/>
          <p:nvPr/>
        </p:nvSpPr>
        <p:spPr>
          <a:xfrm>
            <a:off x="1914754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#B07AA1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850746" y="4789033"/>
            <a:ext cx="1512418" cy="466481"/>
          </a:xfrm>
          <a:prstGeom prst="rect">
            <a:avLst/>
          </a:prstGeom>
          <a:solidFill>
            <a:srgbClr val="222240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7" name="Text 75"/>
          <p:cNvSpPr/>
          <p:nvPr/>
        </p:nvSpPr>
        <p:spPr>
          <a:xfrm>
            <a:off x="1914754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Mauve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914754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D2D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176, 122, 161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1914754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7 · Categoría especial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3427171" y="4027932"/>
            <a:ext cx="1512418" cy="761101"/>
          </a:xfrm>
          <a:prstGeom prst="rect">
            <a:avLst/>
          </a:prstGeom>
          <a:solidFill>
            <a:srgbClr val="FF9DA7"/>
          </a:solidFill>
          <a:ln w="12700">
            <a:solidFill>
              <a:srgbClr val="FF9DA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1" name="Text 79"/>
          <p:cNvSpPr/>
          <p:nvPr/>
        </p:nvSpPr>
        <p:spPr>
          <a:xfrm>
            <a:off x="3491179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#FF9DA7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427171" y="4789033"/>
            <a:ext cx="1512418" cy="466481"/>
          </a:xfrm>
          <a:prstGeom prst="rect">
            <a:avLst/>
          </a:prstGeom>
          <a:solidFill>
            <a:srgbClr val="222240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3" name="Text 81"/>
          <p:cNvSpPr/>
          <p:nvPr/>
        </p:nvSpPr>
        <p:spPr>
          <a:xfrm>
            <a:off x="3491179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Flamingo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3491179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D2D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157, 167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3491179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8 · Soft highlight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5003597" y="4027932"/>
            <a:ext cx="1512418" cy="761101"/>
          </a:xfrm>
          <a:prstGeom prst="rect">
            <a:avLst/>
          </a:prstGeom>
          <a:solidFill>
            <a:srgbClr val="9C755F"/>
          </a:solidFill>
          <a:ln w="12700">
            <a:solidFill>
              <a:srgbClr val="9C75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7" name="Text 85"/>
          <p:cNvSpPr/>
          <p:nvPr/>
        </p:nvSpPr>
        <p:spPr>
          <a:xfrm>
            <a:off x="5067605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#9C755F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003597" y="4789033"/>
            <a:ext cx="1512418" cy="466481"/>
          </a:xfrm>
          <a:prstGeom prst="rect">
            <a:avLst/>
          </a:prstGeom>
          <a:solidFill>
            <a:srgbClr val="222240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9" name="Text 87"/>
          <p:cNvSpPr/>
          <p:nvPr/>
        </p:nvSpPr>
        <p:spPr>
          <a:xfrm>
            <a:off x="5067605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Mocha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067605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D2D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156, 117, 95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5067605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9 · Earth tone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6580022" y="4027932"/>
            <a:ext cx="1512418" cy="761101"/>
          </a:xfrm>
          <a:prstGeom prst="rect">
            <a:avLst/>
          </a:prstGeom>
          <a:solidFill>
            <a:srgbClr val="BAB0AC"/>
          </a:solidFill>
          <a:ln w="12700">
            <a:solidFill>
              <a:srgbClr val="BAB0A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3" name="Text 91"/>
          <p:cNvSpPr/>
          <p:nvPr/>
        </p:nvSpPr>
        <p:spPr>
          <a:xfrm>
            <a:off x="6644030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#BAB0AC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580022" y="4789033"/>
            <a:ext cx="1512418" cy="466481"/>
          </a:xfrm>
          <a:prstGeom prst="rect">
            <a:avLst/>
          </a:prstGeom>
          <a:solidFill>
            <a:srgbClr val="222240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5" name="Text 93"/>
          <p:cNvSpPr/>
          <p:nvPr/>
        </p:nvSpPr>
        <p:spPr>
          <a:xfrm>
            <a:off x="6644030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6644030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D2D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186, 176, 172</a:t>
            </a:r>
            <a:endParaRPr lang="en-US" sz="600" dirty="0"/>
          </a:p>
        </p:txBody>
      </p:sp>
      <p:sp>
        <p:nvSpPr>
          <p:cNvPr id="97" name="Text 95"/>
          <p:cNvSpPr/>
          <p:nvPr/>
        </p:nvSpPr>
        <p:spPr>
          <a:xfrm>
            <a:off x="6644030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10 · Neutro DataViz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274320" y="5319522"/>
            <a:ext cx="7818120" cy="201168"/>
          </a:xfrm>
          <a:prstGeom prst="rect">
            <a:avLst/>
          </a:prstGeom>
          <a:solidFill>
            <a:srgbClr val="161628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9" name="Shape 97"/>
          <p:cNvSpPr/>
          <p:nvPr/>
        </p:nvSpPr>
        <p:spPr>
          <a:xfrm>
            <a:off x="274320" y="5319522"/>
            <a:ext cx="36576" cy="201168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0" name="Text 98"/>
          <p:cNvSpPr/>
          <p:nvPr/>
        </p:nvSpPr>
        <p:spPr>
          <a:xfrm>
            <a:off x="365760" y="531952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5BA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&amp; INTERFACE SYSTEM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274320" y="5319522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2D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Tableau UI System · Dashboard Interface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274320" y="5520690"/>
            <a:ext cx="1512418" cy="761101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3" name="Text 101"/>
          <p:cNvSpPr/>
          <p:nvPr/>
        </p:nvSpPr>
        <p:spPr>
          <a:xfrm>
            <a:off x="338328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#003366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274320" y="6281791"/>
            <a:ext cx="1512418" cy="466481"/>
          </a:xfrm>
          <a:prstGeom prst="rect">
            <a:avLst/>
          </a:prstGeom>
          <a:solidFill>
            <a:srgbClr val="222240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5" name="Text 103"/>
          <p:cNvSpPr/>
          <p:nvPr/>
        </p:nvSpPr>
        <p:spPr>
          <a:xfrm>
            <a:off x="338328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Dark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338328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D2D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51, 102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338328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 dashboard</a:t>
            </a:r>
            <a:endParaRPr lang="en-US" sz="600" dirty="0"/>
          </a:p>
        </p:txBody>
      </p:sp>
      <p:sp>
        <p:nvSpPr>
          <p:cNvPr id="108" name="Shape 106"/>
          <p:cNvSpPr/>
          <p:nvPr/>
        </p:nvSpPr>
        <p:spPr>
          <a:xfrm>
            <a:off x="1850746" y="5520690"/>
            <a:ext cx="1512418" cy="761101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9" name="Text 107"/>
          <p:cNvSpPr/>
          <p:nvPr/>
        </p:nvSpPr>
        <p:spPr>
          <a:xfrm>
            <a:off x="1914754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#1F77B4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1850746" y="6281791"/>
            <a:ext cx="1512418" cy="466481"/>
          </a:xfrm>
          <a:prstGeom prst="rect">
            <a:avLst/>
          </a:prstGeom>
          <a:solidFill>
            <a:srgbClr val="222240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1" name="Text 109"/>
          <p:cNvSpPr/>
          <p:nvPr/>
        </p:nvSpPr>
        <p:spPr>
          <a:xfrm>
            <a:off x="1914754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 Blue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1914754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D2D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31, 119, 180</a:t>
            </a:r>
            <a:endParaRPr lang="en-US" sz="600" dirty="0"/>
          </a:p>
        </p:txBody>
      </p:sp>
      <p:sp>
        <p:nvSpPr>
          <p:cNvPr id="113" name="Text 111"/>
          <p:cNvSpPr/>
          <p:nvPr/>
        </p:nvSpPr>
        <p:spPr>
          <a:xfrm>
            <a:off x="1914754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interactivo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3427171" y="5520690"/>
            <a:ext cx="1512418" cy="761101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5" name="Text 113"/>
          <p:cNvSpPr/>
          <p:nvPr/>
        </p:nvSpPr>
        <p:spPr>
          <a:xfrm>
            <a:off x="3491179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#5BA4CF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3427171" y="6281791"/>
            <a:ext cx="1512418" cy="466481"/>
          </a:xfrm>
          <a:prstGeom prst="rect">
            <a:avLst/>
          </a:prstGeom>
          <a:solidFill>
            <a:srgbClr val="222240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7" name="Text 115"/>
          <p:cNvSpPr/>
          <p:nvPr/>
        </p:nvSpPr>
        <p:spPr>
          <a:xfrm>
            <a:off x="3491179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Medium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3491179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D2D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91, 164, 207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3491179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· Selección activa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5003597" y="5520690"/>
            <a:ext cx="1512418" cy="761101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1" name="Text 119"/>
          <p:cNvSpPr/>
          <p:nvPr/>
        </p:nvSpPr>
        <p:spPr>
          <a:xfrm>
            <a:off x="5067605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#2ECC71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5003597" y="6281791"/>
            <a:ext cx="1512418" cy="466481"/>
          </a:xfrm>
          <a:prstGeom prst="rect">
            <a:avLst/>
          </a:prstGeom>
          <a:solidFill>
            <a:srgbClr val="222240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3" name="Text 121"/>
          <p:cNvSpPr/>
          <p:nvPr/>
        </p:nvSpPr>
        <p:spPr>
          <a:xfrm>
            <a:off x="5067605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Green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5067605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D2D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46, 204, 113</a:t>
            </a:r>
            <a:endParaRPr lang="en-US" sz="600" dirty="0"/>
          </a:p>
        </p:txBody>
      </p:sp>
      <p:sp>
        <p:nvSpPr>
          <p:cNvPr id="125" name="Text 123"/>
          <p:cNvSpPr/>
          <p:nvPr/>
        </p:nvSpPr>
        <p:spPr>
          <a:xfrm>
            <a:off x="5067605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positivo · Logros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6580022" y="5520690"/>
            <a:ext cx="1512418" cy="761101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7" name="Text 125"/>
          <p:cNvSpPr/>
          <p:nvPr/>
        </p:nvSpPr>
        <p:spPr>
          <a:xfrm>
            <a:off x="6644030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#E74C3C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6580022" y="6281791"/>
            <a:ext cx="1512418" cy="466481"/>
          </a:xfrm>
          <a:prstGeom prst="rect">
            <a:avLst/>
          </a:prstGeom>
          <a:solidFill>
            <a:srgbClr val="222240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9" name="Text 127"/>
          <p:cNvSpPr/>
          <p:nvPr/>
        </p:nvSpPr>
        <p:spPr>
          <a:xfrm>
            <a:off x="6644030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 Red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6644030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D2D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231, 76, 60</a:t>
            </a:r>
            <a:endParaRPr lang="en-US" sz="600" dirty="0"/>
          </a:p>
        </p:txBody>
      </p:sp>
      <p:sp>
        <p:nvSpPr>
          <p:cNvPr id="131" name="Text 129"/>
          <p:cNvSpPr/>
          <p:nvPr/>
        </p:nvSpPr>
        <p:spPr>
          <a:xfrm>
            <a:off x="6644030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· Error · Negativo</a:t>
            </a:r>
            <a:endParaRPr lang="en-US" sz="600" dirty="0"/>
          </a:p>
        </p:txBody>
      </p:sp>
      <p:sp>
        <p:nvSpPr>
          <p:cNvPr id="132" name="Text 130"/>
          <p:cNvSpPr/>
          <p:nvPr/>
        </p:nvSpPr>
        <p:spPr>
          <a:xfrm>
            <a:off x="8275320" y="914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CONFIGURACIÓN MAESTRA</a:t>
            </a:r>
            <a:endParaRPr lang="en-US" sz="1200" dirty="0"/>
          </a:p>
        </p:txBody>
      </p:sp>
      <p:sp>
        <p:nvSpPr>
          <p:cNvPr id="133" name="Text 131"/>
          <p:cNvSpPr/>
          <p:nvPr/>
        </p:nvSpPr>
        <p:spPr>
          <a:xfrm>
            <a:off x="8275320" y="34747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D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por función · Empresa Constructora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8275320" y="530352"/>
            <a:ext cx="3703320" cy="18288"/>
          </a:xfrm>
          <a:prstGeom prst="rect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5" name="Shape 133"/>
          <p:cNvSpPr/>
          <p:nvPr/>
        </p:nvSpPr>
        <p:spPr>
          <a:xfrm>
            <a:off x="8275320" y="594360"/>
            <a:ext cx="3703320" cy="477012"/>
          </a:xfrm>
          <a:prstGeom prst="rect">
            <a:avLst/>
          </a:prstGeom>
          <a:solidFill>
            <a:srgbClr val="161628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6" name="Shape 134"/>
          <p:cNvSpPr/>
          <p:nvPr/>
        </p:nvSpPr>
        <p:spPr>
          <a:xfrm>
            <a:off x="8275320" y="612648"/>
            <a:ext cx="256032" cy="44043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7" name="Text 135"/>
          <p:cNvSpPr/>
          <p:nvPr/>
        </p:nvSpPr>
        <p:spPr>
          <a:xfrm>
            <a:off x="8604504" y="621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dashboard dark</a:t>
            </a:r>
            <a:endParaRPr lang="en-US" sz="750" dirty="0"/>
          </a:p>
        </p:txBody>
      </p:sp>
      <p:sp>
        <p:nvSpPr>
          <p:cNvPr id="138" name="Text 136"/>
          <p:cNvSpPr/>
          <p:nvPr/>
        </p:nvSpPr>
        <p:spPr>
          <a:xfrm>
            <a:off x="8604504" y="846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87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#1A1A2E  ·  Tableau Dark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8275320" y="1089660"/>
            <a:ext cx="3703320" cy="477012"/>
          </a:xfrm>
          <a:prstGeom prst="rect">
            <a:avLst/>
          </a:prstGeom>
          <a:solidFill>
            <a:srgbClr val="222240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0" name="Shape 138"/>
          <p:cNvSpPr/>
          <p:nvPr/>
        </p:nvSpPr>
        <p:spPr>
          <a:xfrm>
            <a:off x="8275320" y="1107948"/>
            <a:ext cx="256032" cy="440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1" name="Text 139"/>
          <p:cNvSpPr/>
          <p:nvPr/>
        </p:nvSpPr>
        <p:spPr>
          <a:xfrm>
            <a:off x="8604504" y="1117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UI claro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8604504" y="1342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87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  ·  White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8275320" y="1584960"/>
            <a:ext cx="3703320" cy="477012"/>
          </a:xfrm>
          <a:prstGeom prst="rect">
            <a:avLst/>
          </a:prstGeom>
          <a:solidFill>
            <a:srgbClr val="161628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4" name="Shape 142"/>
          <p:cNvSpPr/>
          <p:nvPr/>
        </p:nvSpPr>
        <p:spPr>
          <a:xfrm>
            <a:off x="8275320" y="1603248"/>
            <a:ext cx="256032" cy="440436"/>
          </a:xfrm>
          <a:prstGeom prst="rect">
            <a:avLst/>
          </a:prstGeom>
          <a:solidFill>
            <a:srgbClr val="E8762B"/>
          </a:solidFill>
          <a:ln w="12700">
            <a:solidFill>
              <a:srgbClr val="E8762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5" name="Text 143"/>
          <p:cNvSpPr/>
          <p:nvPr/>
        </p:nvSpPr>
        <p:spPr>
          <a:xfrm>
            <a:off x="8604504" y="16123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identidad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8604504" y="18375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87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#E8762B  ·  Tableau Orange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8275320" y="2080260"/>
            <a:ext cx="3703320" cy="477012"/>
          </a:xfrm>
          <a:prstGeom prst="rect">
            <a:avLst/>
          </a:prstGeom>
          <a:solidFill>
            <a:srgbClr val="222240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8" name="Shape 146"/>
          <p:cNvSpPr/>
          <p:nvPr/>
        </p:nvSpPr>
        <p:spPr>
          <a:xfrm>
            <a:off x="8275320" y="2098548"/>
            <a:ext cx="256032" cy="440436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9" name="Text 147"/>
          <p:cNvSpPr/>
          <p:nvPr/>
        </p:nvSpPr>
        <p:spPr>
          <a:xfrm>
            <a:off x="8604504" y="21076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1 DataViz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8604504" y="23328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87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#4E79A7  ·  Steel Blue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8275320" y="2575560"/>
            <a:ext cx="3703320" cy="477012"/>
          </a:xfrm>
          <a:prstGeom prst="rect">
            <a:avLst/>
          </a:prstGeom>
          <a:solidFill>
            <a:srgbClr val="161628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2" name="Shape 150"/>
          <p:cNvSpPr/>
          <p:nvPr/>
        </p:nvSpPr>
        <p:spPr>
          <a:xfrm>
            <a:off x="8275320" y="2593848"/>
            <a:ext cx="256032" cy="440436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3" name="Text 151"/>
          <p:cNvSpPr/>
          <p:nvPr/>
        </p:nvSpPr>
        <p:spPr>
          <a:xfrm>
            <a:off x="8604504" y="26029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2 DataViz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8604504" y="28281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87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#F28E2B  ·  Sandy Brown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8275320" y="3070860"/>
            <a:ext cx="3703320" cy="477012"/>
          </a:xfrm>
          <a:prstGeom prst="rect">
            <a:avLst/>
          </a:prstGeom>
          <a:solidFill>
            <a:srgbClr val="222240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6" name="Shape 154"/>
          <p:cNvSpPr/>
          <p:nvPr/>
        </p:nvSpPr>
        <p:spPr>
          <a:xfrm>
            <a:off x="8275320" y="3089148"/>
            <a:ext cx="256032" cy="440436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7" name="Text 155"/>
          <p:cNvSpPr/>
          <p:nvPr/>
        </p:nvSpPr>
        <p:spPr>
          <a:xfrm>
            <a:off x="8604504" y="30982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3 DataViz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8604504" y="33234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87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#E15759  ·  Terra Cotta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8275320" y="3566160"/>
            <a:ext cx="3703320" cy="477012"/>
          </a:xfrm>
          <a:prstGeom prst="rect">
            <a:avLst/>
          </a:prstGeom>
          <a:solidFill>
            <a:srgbClr val="161628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0" name="Shape 158"/>
          <p:cNvSpPr/>
          <p:nvPr/>
        </p:nvSpPr>
        <p:spPr>
          <a:xfrm>
            <a:off x="8275320" y="3584448"/>
            <a:ext cx="256032" cy="44043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1" name="Text 159"/>
          <p:cNvSpPr/>
          <p:nvPr/>
        </p:nvSpPr>
        <p:spPr>
          <a:xfrm>
            <a:off x="8604504" y="35935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4 DataViz</a:t>
            </a:r>
            <a:endParaRPr lang="en-US" sz="750" dirty="0"/>
          </a:p>
        </p:txBody>
      </p:sp>
      <p:sp>
        <p:nvSpPr>
          <p:cNvPr id="162" name="Text 160"/>
          <p:cNvSpPr/>
          <p:nvPr/>
        </p:nvSpPr>
        <p:spPr>
          <a:xfrm>
            <a:off x="8604504" y="38187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87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#76B7B2  ·  Caribbean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8275320" y="4061460"/>
            <a:ext cx="3703320" cy="477012"/>
          </a:xfrm>
          <a:prstGeom prst="rect">
            <a:avLst/>
          </a:prstGeom>
          <a:solidFill>
            <a:srgbClr val="222240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4" name="Shape 162"/>
          <p:cNvSpPr/>
          <p:nvPr/>
        </p:nvSpPr>
        <p:spPr>
          <a:xfrm>
            <a:off x="8275320" y="4079748"/>
            <a:ext cx="256032" cy="440436"/>
          </a:xfrm>
          <a:prstGeom prst="rect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5" name="Text 163"/>
          <p:cNvSpPr/>
          <p:nvPr/>
        </p:nvSpPr>
        <p:spPr>
          <a:xfrm>
            <a:off x="8604504" y="40888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5 DataViz</a:t>
            </a:r>
            <a:endParaRPr lang="en-US" sz="750" dirty="0"/>
          </a:p>
        </p:txBody>
      </p:sp>
      <p:sp>
        <p:nvSpPr>
          <p:cNvPr id="166" name="Text 164"/>
          <p:cNvSpPr/>
          <p:nvPr/>
        </p:nvSpPr>
        <p:spPr>
          <a:xfrm>
            <a:off x="8604504" y="43140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87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#59A14F  ·  Apple Green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8275320" y="4556760"/>
            <a:ext cx="3703320" cy="477012"/>
          </a:xfrm>
          <a:prstGeom prst="rect">
            <a:avLst/>
          </a:prstGeom>
          <a:solidFill>
            <a:srgbClr val="161628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8" name="Shape 166"/>
          <p:cNvSpPr/>
          <p:nvPr/>
        </p:nvSpPr>
        <p:spPr>
          <a:xfrm>
            <a:off x="8275320" y="4575048"/>
            <a:ext cx="256032" cy="440436"/>
          </a:xfrm>
          <a:prstGeom prst="rect">
            <a:avLst/>
          </a:prstGeom>
          <a:solidFill>
            <a:srgbClr val="EDC948"/>
          </a:solidFill>
          <a:ln w="12700">
            <a:solidFill>
              <a:srgbClr val="EDC94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9" name="Text 167"/>
          <p:cNvSpPr/>
          <p:nvPr/>
        </p:nvSpPr>
        <p:spPr>
          <a:xfrm>
            <a:off x="8604504" y="45841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6 DataViz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8604504" y="48093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87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#EDC948  ·  Sunflower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8275320" y="5052060"/>
            <a:ext cx="3703320" cy="477012"/>
          </a:xfrm>
          <a:prstGeom prst="rect">
            <a:avLst/>
          </a:prstGeom>
          <a:solidFill>
            <a:srgbClr val="222240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2" name="Shape 170"/>
          <p:cNvSpPr/>
          <p:nvPr/>
        </p:nvSpPr>
        <p:spPr>
          <a:xfrm>
            <a:off x="8275320" y="5070348"/>
            <a:ext cx="256032" cy="44043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3" name="Text 171"/>
          <p:cNvSpPr/>
          <p:nvPr/>
        </p:nvSpPr>
        <p:spPr>
          <a:xfrm>
            <a:off x="8604504" y="50794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Positivo / éxito</a:t>
            </a:r>
            <a:endParaRPr lang="en-US" sz="750" dirty="0"/>
          </a:p>
        </p:txBody>
      </p:sp>
      <p:sp>
        <p:nvSpPr>
          <p:cNvPr id="174" name="Text 172"/>
          <p:cNvSpPr/>
          <p:nvPr/>
        </p:nvSpPr>
        <p:spPr>
          <a:xfrm>
            <a:off x="8604504" y="53046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87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#2ECC71  ·  Success Green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8275320" y="5547360"/>
            <a:ext cx="3703320" cy="477012"/>
          </a:xfrm>
          <a:prstGeom prst="rect">
            <a:avLst/>
          </a:prstGeom>
          <a:solidFill>
            <a:srgbClr val="161628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6" name="Shape 174"/>
          <p:cNvSpPr/>
          <p:nvPr/>
        </p:nvSpPr>
        <p:spPr>
          <a:xfrm>
            <a:off x="8275320" y="5565648"/>
            <a:ext cx="256032" cy="44043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7" name="Text 175"/>
          <p:cNvSpPr/>
          <p:nvPr/>
        </p:nvSpPr>
        <p:spPr>
          <a:xfrm>
            <a:off x="8604504" y="5574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/ error</a:t>
            </a:r>
            <a:endParaRPr lang="en-US" sz="750" dirty="0"/>
          </a:p>
        </p:txBody>
      </p:sp>
      <p:sp>
        <p:nvSpPr>
          <p:cNvPr id="178" name="Text 176"/>
          <p:cNvSpPr/>
          <p:nvPr/>
        </p:nvSpPr>
        <p:spPr>
          <a:xfrm>
            <a:off x="8604504" y="5799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87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#E74C3C  ·  Danger Red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8275320" y="6042660"/>
            <a:ext cx="3703320" cy="477012"/>
          </a:xfrm>
          <a:prstGeom prst="rect">
            <a:avLst/>
          </a:prstGeom>
          <a:solidFill>
            <a:srgbClr val="222240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0" name="Shape 178"/>
          <p:cNvSpPr/>
          <p:nvPr/>
        </p:nvSpPr>
        <p:spPr>
          <a:xfrm>
            <a:off x="8275320" y="6060948"/>
            <a:ext cx="256032" cy="440436"/>
          </a:xfrm>
          <a:prstGeom prst="rect">
            <a:avLst/>
          </a:prstGeom>
          <a:solidFill>
            <a:srgbClr val="BAB0AC"/>
          </a:solidFill>
          <a:ln w="12700">
            <a:solidFill>
              <a:srgbClr val="BAB0A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1" name="Text 179"/>
          <p:cNvSpPr/>
          <p:nvPr/>
        </p:nvSpPr>
        <p:spPr>
          <a:xfrm>
            <a:off x="8604504" y="6070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Bordes / separadores</a:t>
            </a:r>
            <a:endParaRPr lang="en-US" sz="750" dirty="0"/>
          </a:p>
        </p:txBody>
      </p:sp>
      <p:sp>
        <p:nvSpPr>
          <p:cNvPr id="182" name="Text 180"/>
          <p:cNvSpPr/>
          <p:nvPr/>
        </p:nvSpPr>
        <p:spPr>
          <a:xfrm>
            <a:off x="8604504" y="6295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87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#BAB0AC  ·  Silver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8275320" y="6574536"/>
            <a:ext cx="3703320" cy="256032"/>
          </a:xfrm>
          <a:prstGeom prst="rect">
            <a:avLst/>
          </a:prstGeom>
          <a:solidFill>
            <a:srgbClr val="161628"/>
          </a:solidFill>
          <a:ln w="12700">
            <a:solidFill>
              <a:srgbClr val="E8762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4" name="Text 182"/>
          <p:cNvSpPr/>
          <p:nvPr/>
        </p:nvSpPr>
        <p:spPr>
          <a:xfrm>
            <a:off x="8366760" y="661111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Tableau 10: paleta categorical para DataViz. Perceptualmente diferenciable y accesible.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161628"/>
          </a:solidFill>
          <a:ln w="12700">
            <a:solidFill>
              <a:srgbClr val="1616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6" name="Text 184"/>
          <p:cNvSpPr/>
          <p:nvPr/>
        </p:nvSpPr>
        <p:spPr>
          <a:xfrm>
            <a:off x="274320" y="6793992"/>
            <a:ext cx="914400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2D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 ·  PALETA OFICIAL  ·  tableau.com · Tableau Brand · Salesforce Design</a:t>
            </a:r>
            <a:endParaRPr lang="en-US" sz="550" dirty="0"/>
          </a:p>
        </p:txBody>
      </p:sp>
      <p:sp>
        <p:nvSpPr>
          <p:cNvPr id="187" name="Text 185"/>
          <p:cNvSpPr/>
          <p:nvPr/>
        </p:nvSpPr>
        <p:spPr>
          <a:xfrm>
            <a:off x="0" y="6793992"/>
            <a:ext cx="119786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2D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COLORES  ·  4 SISTEMAS  ·  1 LÁMINA</a:t>
            </a:r>
            <a:endParaRPr lang="en-US" sz="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Material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B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3A3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COLORES OFICIAL  ·  Human · Expressive · Universal · Material Design 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4320" y="795528"/>
            <a:ext cx="7818120" cy="18288"/>
          </a:xfrm>
          <a:prstGeom prst="rect">
            <a:avLst/>
          </a:prstGeom>
          <a:solidFill>
            <a:srgbClr val="2D2C31"/>
          </a:solidFill>
          <a:ln w="12700">
            <a:solidFill>
              <a:srgbClr val="2D2C3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8183880" y="73152"/>
            <a:ext cx="18288" cy="6720840"/>
          </a:xfrm>
          <a:prstGeom prst="rect">
            <a:avLst/>
          </a:prstGeom>
          <a:solidFill>
            <a:srgbClr val="2D2C31"/>
          </a:solidFill>
          <a:ln w="12700">
            <a:solidFill>
              <a:srgbClr val="2D2C3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7818120" cy="201168"/>
          </a:xfrm>
          <a:prstGeom prst="rect">
            <a:avLst/>
          </a:prstGeom>
          <a:solidFill>
            <a:srgbClr val="1A1920"/>
          </a:solidFill>
          <a:ln w="12700">
            <a:solidFill>
              <a:srgbClr val="2D2C3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>
            <a:off x="274320" y="841248"/>
            <a:ext cx="36576" cy="20116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65760" y="8412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BRAND — 4 COLORS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" y="84124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A3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google.com · Google Brand Guidelines · Material 3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74320" y="1042416"/>
            <a:ext cx="1906524" cy="761101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338328" y="1602349"/>
            <a:ext cx="18150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#1A73E8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03517"/>
            <a:ext cx="1906524" cy="466481"/>
          </a:xfrm>
          <a:prstGeom prst="rect">
            <a:avLst/>
          </a:prstGeom>
          <a:solidFill>
            <a:srgbClr val="2B2A2F"/>
          </a:solidFill>
          <a:ln w="12700">
            <a:solidFill>
              <a:srgbClr val="3A39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338328" y="1830949"/>
            <a:ext cx="1815084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Blue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8328" y="2008769"/>
            <a:ext cx="1815084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26, 115, 232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38328" y="2125389"/>
            <a:ext cx="1815084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3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action · Brand identity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244852" y="1042416"/>
            <a:ext cx="1906524" cy="761101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2308860" y="1602349"/>
            <a:ext cx="18150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#EA4335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44852" y="1803517"/>
            <a:ext cx="1906524" cy="466481"/>
          </a:xfrm>
          <a:prstGeom prst="rect">
            <a:avLst/>
          </a:prstGeom>
          <a:solidFill>
            <a:srgbClr val="2B2A2F"/>
          </a:solidFill>
          <a:ln w="12700">
            <a:solidFill>
              <a:srgbClr val="3A39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2308860" y="1830949"/>
            <a:ext cx="1815084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Red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308860" y="2008769"/>
            <a:ext cx="1815084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234, 67, 53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308860" y="2125389"/>
            <a:ext cx="1815084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3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· Alert · Negativo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4215384" y="1042416"/>
            <a:ext cx="1906524" cy="761101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4279392" y="1602349"/>
            <a:ext cx="18150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#FBBC04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15384" y="1803517"/>
            <a:ext cx="1906524" cy="466481"/>
          </a:xfrm>
          <a:prstGeom prst="rect">
            <a:avLst/>
          </a:prstGeom>
          <a:solidFill>
            <a:srgbClr val="2B2A2F"/>
          </a:solidFill>
          <a:ln w="12700">
            <a:solidFill>
              <a:srgbClr val="3A39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Text 25"/>
          <p:cNvSpPr/>
          <p:nvPr/>
        </p:nvSpPr>
        <p:spPr>
          <a:xfrm>
            <a:off x="4279392" y="1830949"/>
            <a:ext cx="1815084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Yellow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279392" y="2008769"/>
            <a:ext cx="1815084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251, 188, 4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279392" y="2125389"/>
            <a:ext cx="1815084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3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· Highlight · Atención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6185916" y="1042416"/>
            <a:ext cx="1906524" cy="761101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Text 29"/>
          <p:cNvSpPr/>
          <p:nvPr/>
        </p:nvSpPr>
        <p:spPr>
          <a:xfrm>
            <a:off x="6249924" y="1602349"/>
            <a:ext cx="18150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#34A853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85916" y="1803517"/>
            <a:ext cx="1906524" cy="466481"/>
          </a:xfrm>
          <a:prstGeom prst="rect">
            <a:avLst/>
          </a:prstGeom>
          <a:solidFill>
            <a:srgbClr val="2B2A2F"/>
          </a:solidFill>
          <a:ln w="12700">
            <a:solidFill>
              <a:srgbClr val="3A39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3" name="Text 31"/>
          <p:cNvSpPr/>
          <p:nvPr/>
        </p:nvSpPr>
        <p:spPr>
          <a:xfrm>
            <a:off x="6249924" y="1830949"/>
            <a:ext cx="1815084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Green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249924" y="2008769"/>
            <a:ext cx="1815084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52, 168, 83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6249924" y="2125389"/>
            <a:ext cx="1815084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3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· Positivo · Avance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274320" y="2334006"/>
            <a:ext cx="7818120" cy="201168"/>
          </a:xfrm>
          <a:prstGeom prst="rect">
            <a:avLst/>
          </a:prstGeom>
          <a:solidFill>
            <a:srgbClr val="1A1920"/>
          </a:solidFill>
          <a:ln w="12700">
            <a:solidFill>
              <a:srgbClr val="2D2C3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Shape 35"/>
          <p:cNvSpPr/>
          <p:nvPr/>
        </p:nvSpPr>
        <p:spPr>
          <a:xfrm>
            <a:off x="274320" y="2334006"/>
            <a:ext cx="36576" cy="201168"/>
          </a:xfrm>
          <a:prstGeom prst="rect">
            <a:avLst/>
          </a:prstGeom>
          <a:solidFill>
            <a:srgbClr val="8AB4F8"/>
          </a:solidFill>
          <a:ln w="12700">
            <a:solidFill>
              <a:srgbClr val="8AB4F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8" name="Text 36"/>
          <p:cNvSpPr/>
          <p:nvPr/>
        </p:nvSpPr>
        <p:spPr>
          <a:xfrm>
            <a:off x="365760" y="233400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8AB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3 — DYNAMIC COLOR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74320" y="2334006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A3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m3.material.io · Dynamic Color · Tonal Palettes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274320" y="2535174"/>
            <a:ext cx="1512418" cy="761101"/>
          </a:xfrm>
          <a:prstGeom prst="rect">
            <a:avLst/>
          </a:prstGeom>
          <a:solidFill>
            <a:srgbClr val="0C427B"/>
          </a:solidFill>
          <a:ln w="12700">
            <a:solidFill>
              <a:srgbClr val="0C427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1" name="Text 39"/>
          <p:cNvSpPr/>
          <p:nvPr/>
        </p:nvSpPr>
        <p:spPr>
          <a:xfrm>
            <a:off x="338328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#0C427B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" y="3296275"/>
            <a:ext cx="1512418" cy="466481"/>
          </a:xfrm>
          <a:prstGeom prst="rect">
            <a:avLst/>
          </a:prstGeom>
          <a:solidFill>
            <a:srgbClr val="2B2A2F"/>
          </a:solidFill>
          <a:ln w="12700">
            <a:solidFill>
              <a:srgbClr val="3A39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3" name="Text 41"/>
          <p:cNvSpPr/>
          <p:nvPr/>
        </p:nvSpPr>
        <p:spPr>
          <a:xfrm>
            <a:off x="338328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90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38328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12, 66, 123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338328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3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oscuro premium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1850746" y="2535174"/>
            <a:ext cx="1512418" cy="761101"/>
          </a:xfrm>
          <a:prstGeom prst="rect">
            <a:avLst/>
          </a:prstGeom>
          <a:solidFill>
            <a:srgbClr val="1558B0"/>
          </a:solidFill>
          <a:ln w="12700">
            <a:solidFill>
              <a:srgbClr val="1558B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7" name="Text 45"/>
          <p:cNvSpPr/>
          <p:nvPr/>
        </p:nvSpPr>
        <p:spPr>
          <a:xfrm>
            <a:off x="1914754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#1558B0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850746" y="3296275"/>
            <a:ext cx="1512418" cy="466481"/>
          </a:xfrm>
          <a:prstGeom prst="rect">
            <a:avLst/>
          </a:prstGeom>
          <a:solidFill>
            <a:srgbClr val="2B2A2F"/>
          </a:solidFill>
          <a:ln w="12700">
            <a:solidFill>
              <a:srgbClr val="3A39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9" name="Text 47"/>
          <p:cNvSpPr/>
          <p:nvPr/>
        </p:nvSpPr>
        <p:spPr>
          <a:xfrm>
            <a:off x="1914754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70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914754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21, 88, 176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1914754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3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Superficies oscuras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3427171" y="2535174"/>
            <a:ext cx="1512418" cy="761101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3" name="Text 51"/>
          <p:cNvSpPr/>
          <p:nvPr/>
        </p:nvSpPr>
        <p:spPr>
          <a:xfrm>
            <a:off x="3491179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#1A73E8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427171" y="3296275"/>
            <a:ext cx="1512418" cy="466481"/>
          </a:xfrm>
          <a:prstGeom prst="rect">
            <a:avLst/>
          </a:prstGeom>
          <a:solidFill>
            <a:srgbClr val="2B2A2F"/>
          </a:solidFill>
          <a:ln w="12700">
            <a:solidFill>
              <a:srgbClr val="3A39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5" name="Text 53"/>
          <p:cNvSpPr/>
          <p:nvPr/>
        </p:nvSpPr>
        <p:spPr>
          <a:xfrm>
            <a:off x="3491179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491179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26, 115, 232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3491179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3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primario acción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5003597" y="2535174"/>
            <a:ext cx="1512418" cy="761101"/>
          </a:xfrm>
          <a:prstGeom prst="rect">
            <a:avLst/>
          </a:prstGeom>
          <a:solidFill>
            <a:srgbClr val="8AB4F8"/>
          </a:solidFill>
          <a:ln w="12700">
            <a:solidFill>
              <a:srgbClr val="8AB4F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9" name="Text 57"/>
          <p:cNvSpPr/>
          <p:nvPr/>
        </p:nvSpPr>
        <p:spPr>
          <a:xfrm>
            <a:off x="5067605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#8AB4F8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003597" y="3296275"/>
            <a:ext cx="1512418" cy="466481"/>
          </a:xfrm>
          <a:prstGeom prst="rect">
            <a:avLst/>
          </a:prstGeom>
          <a:solidFill>
            <a:srgbClr val="2B2A2F"/>
          </a:solidFill>
          <a:ln w="12700">
            <a:solidFill>
              <a:srgbClr val="3A39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1" name="Text 59"/>
          <p:cNvSpPr/>
          <p:nvPr/>
        </p:nvSpPr>
        <p:spPr>
          <a:xfrm>
            <a:off x="5067605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Light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067605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138, 180, 248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5067605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3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primary container light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6580022" y="2535174"/>
            <a:ext cx="1512418" cy="761101"/>
          </a:xfrm>
          <a:prstGeom prst="rect">
            <a:avLst/>
          </a:prstGeom>
          <a:solidFill>
            <a:srgbClr val="D3E3FD"/>
          </a:solidFill>
          <a:ln w="12700">
            <a:solidFill>
              <a:srgbClr val="D3E3F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5" name="Text 63"/>
          <p:cNvSpPr/>
          <p:nvPr/>
        </p:nvSpPr>
        <p:spPr>
          <a:xfrm>
            <a:off x="6644030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#D3E3FD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580022" y="3296275"/>
            <a:ext cx="1512418" cy="466481"/>
          </a:xfrm>
          <a:prstGeom prst="rect">
            <a:avLst/>
          </a:prstGeom>
          <a:solidFill>
            <a:srgbClr val="2B2A2F"/>
          </a:solidFill>
          <a:ln w="12700">
            <a:solidFill>
              <a:srgbClr val="3A39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7" name="Text 65"/>
          <p:cNvSpPr/>
          <p:nvPr/>
        </p:nvSpPr>
        <p:spPr>
          <a:xfrm>
            <a:off x="6644030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Container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644030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211,227,253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6644030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3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Tonal surface light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274320" y="3826764"/>
            <a:ext cx="7818120" cy="201168"/>
          </a:xfrm>
          <a:prstGeom prst="rect">
            <a:avLst/>
          </a:prstGeom>
          <a:solidFill>
            <a:srgbClr val="1A1920"/>
          </a:solidFill>
          <a:ln w="12700">
            <a:solidFill>
              <a:srgbClr val="2D2C3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1" name="Shape 69"/>
          <p:cNvSpPr/>
          <p:nvPr/>
        </p:nvSpPr>
        <p:spPr>
          <a:xfrm>
            <a:off x="274320" y="3826764"/>
            <a:ext cx="36576" cy="201168"/>
          </a:xfrm>
          <a:prstGeom prst="rect">
            <a:avLst/>
          </a:prstGeom>
          <a:solidFill>
            <a:srgbClr val="938F99"/>
          </a:solidFill>
          <a:ln w="12700">
            <a:solidFill>
              <a:srgbClr val="938F9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2" name="Text 70"/>
          <p:cNvSpPr/>
          <p:nvPr/>
        </p:nvSpPr>
        <p:spPr>
          <a:xfrm>
            <a:off x="365760" y="38267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3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NEUTRAL — GRAY SYSTEM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274320" y="382676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A3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Material 3 Neutral · Surface Tokens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274320" y="4027932"/>
            <a:ext cx="1512418" cy="761101"/>
          </a:xfrm>
          <a:prstGeom prst="rect">
            <a:avLst/>
          </a:prstGeom>
          <a:solidFill>
            <a:srgbClr val="1C1B1F"/>
          </a:solidFill>
          <a:ln w="12700">
            <a:solidFill>
              <a:srgbClr val="1C1B1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5" name="Text 73"/>
          <p:cNvSpPr/>
          <p:nvPr/>
        </p:nvSpPr>
        <p:spPr>
          <a:xfrm>
            <a:off x="338328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#1C1B1F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274320" y="4789033"/>
            <a:ext cx="1512418" cy="466481"/>
          </a:xfrm>
          <a:prstGeom prst="rect">
            <a:avLst/>
          </a:prstGeom>
          <a:solidFill>
            <a:srgbClr val="2B2A2F"/>
          </a:solidFill>
          <a:ln w="12700">
            <a:solidFill>
              <a:srgbClr val="3A39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7" name="Text 75"/>
          <p:cNvSpPr/>
          <p:nvPr/>
        </p:nvSpPr>
        <p:spPr>
          <a:xfrm>
            <a:off x="338328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1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338328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28, 27, 31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338328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3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base dark M3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1850746" y="4027932"/>
            <a:ext cx="1512418" cy="761101"/>
          </a:xfrm>
          <a:prstGeom prst="rect">
            <a:avLst/>
          </a:prstGeom>
          <a:solidFill>
            <a:srgbClr val="2B2A2F"/>
          </a:solidFill>
          <a:ln w="12700">
            <a:solidFill>
              <a:srgbClr val="2B2A2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1" name="Text 79"/>
          <p:cNvSpPr/>
          <p:nvPr/>
        </p:nvSpPr>
        <p:spPr>
          <a:xfrm>
            <a:off x="1914754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#2B2A2F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1850746" y="4789033"/>
            <a:ext cx="1512418" cy="466481"/>
          </a:xfrm>
          <a:prstGeom prst="rect">
            <a:avLst/>
          </a:prstGeom>
          <a:solidFill>
            <a:srgbClr val="2B2A2F"/>
          </a:solidFill>
          <a:ln w="12700">
            <a:solidFill>
              <a:srgbClr val="3A39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3" name="Text 81"/>
          <p:cNvSpPr/>
          <p:nvPr/>
        </p:nvSpPr>
        <p:spPr>
          <a:xfrm>
            <a:off x="1914754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2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1914754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43, 42, 47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1914754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3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· Container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3427171" y="4027932"/>
            <a:ext cx="1512418" cy="761101"/>
          </a:xfrm>
          <a:prstGeom prst="rect">
            <a:avLst/>
          </a:prstGeom>
          <a:solidFill>
            <a:srgbClr val="5F5E62"/>
          </a:solidFill>
          <a:ln w="12700">
            <a:solidFill>
              <a:srgbClr val="5F5E6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7" name="Text 85"/>
          <p:cNvSpPr/>
          <p:nvPr/>
        </p:nvSpPr>
        <p:spPr>
          <a:xfrm>
            <a:off x="3491179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#5F5E62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3427171" y="4789033"/>
            <a:ext cx="1512418" cy="466481"/>
          </a:xfrm>
          <a:prstGeom prst="rect">
            <a:avLst/>
          </a:prstGeom>
          <a:solidFill>
            <a:srgbClr val="2B2A2F"/>
          </a:solidFill>
          <a:ln w="12700">
            <a:solidFill>
              <a:srgbClr val="3A39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9" name="Text 87"/>
          <p:cNvSpPr/>
          <p:nvPr/>
        </p:nvSpPr>
        <p:spPr>
          <a:xfrm>
            <a:off x="3491179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3491179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95, 94, 98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3491179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3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Bordes · Outlines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5003597" y="4027932"/>
            <a:ext cx="1512418" cy="761101"/>
          </a:xfrm>
          <a:prstGeom prst="rect">
            <a:avLst/>
          </a:prstGeom>
          <a:solidFill>
            <a:srgbClr val="938F99"/>
          </a:solidFill>
          <a:ln w="12700">
            <a:solidFill>
              <a:srgbClr val="938F9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3" name="Text 91"/>
          <p:cNvSpPr/>
          <p:nvPr/>
        </p:nvSpPr>
        <p:spPr>
          <a:xfrm>
            <a:off x="5067605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#938F99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5003597" y="4789033"/>
            <a:ext cx="1512418" cy="466481"/>
          </a:xfrm>
          <a:prstGeom prst="rect">
            <a:avLst/>
          </a:prstGeom>
          <a:solidFill>
            <a:srgbClr val="2B2A2F"/>
          </a:solidFill>
          <a:ln w="12700">
            <a:solidFill>
              <a:srgbClr val="3A39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5" name="Text 93"/>
          <p:cNvSpPr/>
          <p:nvPr/>
        </p:nvSpPr>
        <p:spPr>
          <a:xfrm>
            <a:off x="5067605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Surface Var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5067605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147, 143, 153</a:t>
            </a:r>
            <a:endParaRPr lang="en-US" sz="600" dirty="0"/>
          </a:p>
        </p:txBody>
      </p:sp>
      <p:sp>
        <p:nvSpPr>
          <p:cNvPr id="97" name="Text 95"/>
          <p:cNvSpPr/>
          <p:nvPr/>
        </p:nvSpPr>
        <p:spPr>
          <a:xfrm>
            <a:off x="5067605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3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6580022" y="4027932"/>
            <a:ext cx="1512418" cy="761101"/>
          </a:xfrm>
          <a:prstGeom prst="rect">
            <a:avLst/>
          </a:prstGeom>
          <a:solidFill>
            <a:srgbClr val="E6E1E5"/>
          </a:solidFill>
          <a:ln w="12700">
            <a:solidFill>
              <a:srgbClr val="E6E1E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9" name="Text 97"/>
          <p:cNvSpPr/>
          <p:nvPr/>
        </p:nvSpPr>
        <p:spPr>
          <a:xfrm>
            <a:off x="6644030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#E6E1E5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6580022" y="4789033"/>
            <a:ext cx="1512418" cy="466481"/>
          </a:xfrm>
          <a:prstGeom prst="rect">
            <a:avLst/>
          </a:prstGeom>
          <a:solidFill>
            <a:srgbClr val="2B2A2F"/>
          </a:solidFill>
          <a:ln w="12700">
            <a:solidFill>
              <a:srgbClr val="3A39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1" name="Text 99"/>
          <p:cNvSpPr/>
          <p:nvPr/>
        </p:nvSpPr>
        <p:spPr>
          <a:xfrm>
            <a:off x="6644030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Surface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6644030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230, 225, 229</a:t>
            </a:r>
            <a:endParaRPr lang="en-US" sz="600" dirty="0"/>
          </a:p>
        </p:txBody>
      </p:sp>
      <p:sp>
        <p:nvSpPr>
          <p:cNvPr id="103" name="Text 101"/>
          <p:cNvSpPr/>
          <p:nvPr/>
        </p:nvSpPr>
        <p:spPr>
          <a:xfrm>
            <a:off x="6644030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3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principal dark</a:t>
            </a:r>
            <a:endParaRPr lang="en-US" sz="600" dirty="0"/>
          </a:p>
        </p:txBody>
      </p:sp>
      <p:sp>
        <p:nvSpPr>
          <p:cNvPr id="104" name="Shape 102"/>
          <p:cNvSpPr/>
          <p:nvPr/>
        </p:nvSpPr>
        <p:spPr>
          <a:xfrm>
            <a:off x="274320" y="5319522"/>
            <a:ext cx="7818120" cy="201168"/>
          </a:xfrm>
          <a:prstGeom prst="rect">
            <a:avLst/>
          </a:prstGeom>
          <a:solidFill>
            <a:srgbClr val="1A1920"/>
          </a:solidFill>
          <a:ln w="12700">
            <a:solidFill>
              <a:srgbClr val="2D2C3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5" name="Shape 103"/>
          <p:cNvSpPr/>
          <p:nvPr/>
        </p:nvSpPr>
        <p:spPr>
          <a:xfrm>
            <a:off x="274320" y="5319522"/>
            <a:ext cx="36576" cy="2011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6" name="Text 104"/>
          <p:cNvSpPr/>
          <p:nvPr/>
        </p:nvSpPr>
        <p:spPr>
          <a:xfrm>
            <a:off x="365760" y="531952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CATEGORICAL — MATERIAL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274320" y="5319522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A3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Material DataViz · Chart Colors · Google Charts</a:t>
            </a:r>
            <a:endParaRPr lang="en-US" sz="600" dirty="0"/>
          </a:p>
        </p:txBody>
      </p:sp>
      <p:sp>
        <p:nvSpPr>
          <p:cNvPr id="108" name="Shape 106"/>
          <p:cNvSpPr/>
          <p:nvPr/>
        </p:nvSpPr>
        <p:spPr>
          <a:xfrm>
            <a:off x="274320" y="5520690"/>
            <a:ext cx="1512418" cy="761101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9" name="Text 107"/>
          <p:cNvSpPr/>
          <p:nvPr/>
        </p:nvSpPr>
        <p:spPr>
          <a:xfrm>
            <a:off x="338328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#5C6BC0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274320" y="6281791"/>
            <a:ext cx="1512418" cy="466481"/>
          </a:xfrm>
          <a:prstGeom prst="rect">
            <a:avLst/>
          </a:prstGeom>
          <a:solidFill>
            <a:srgbClr val="2B2A2F"/>
          </a:solidFill>
          <a:ln w="12700">
            <a:solidFill>
              <a:srgbClr val="3A39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1" name="Text 109"/>
          <p:cNvSpPr/>
          <p:nvPr/>
        </p:nvSpPr>
        <p:spPr>
          <a:xfrm>
            <a:off x="338328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Indigo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338328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92, 107, 192</a:t>
            </a:r>
            <a:endParaRPr lang="en-US" sz="600" dirty="0"/>
          </a:p>
        </p:txBody>
      </p:sp>
      <p:sp>
        <p:nvSpPr>
          <p:cNvPr id="113" name="Text 111"/>
          <p:cNvSpPr/>
          <p:nvPr/>
        </p:nvSpPr>
        <p:spPr>
          <a:xfrm>
            <a:off x="338328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3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serie A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1850746" y="5520690"/>
            <a:ext cx="1512418" cy="761101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5" name="Text 113"/>
          <p:cNvSpPr/>
          <p:nvPr/>
        </p:nvSpPr>
        <p:spPr>
          <a:xfrm>
            <a:off x="1914754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#26A69A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1850746" y="6281791"/>
            <a:ext cx="1512418" cy="466481"/>
          </a:xfrm>
          <a:prstGeom prst="rect">
            <a:avLst/>
          </a:prstGeom>
          <a:solidFill>
            <a:srgbClr val="2B2A2F"/>
          </a:solidFill>
          <a:ln w="12700">
            <a:solidFill>
              <a:srgbClr val="3A39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7" name="Text 115"/>
          <p:cNvSpPr/>
          <p:nvPr/>
        </p:nvSpPr>
        <p:spPr>
          <a:xfrm>
            <a:off x="1914754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1914754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38, 166, 154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1914754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3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serie B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3427171" y="5520690"/>
            <a:ext cx="1512418" cy="761101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1" name="Text 119"/>
          <p:cNvSpPr/>
          <p:nvPr/>
        </p:nvSpPr>
        <p:spPr>
          <a:xfrm>
            <a:off x="3491179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#FFA726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3427171" y="6281791"/>
            <a:ext cx="1512418" cy="466481"/>
          </a:xfrm>
          <a:prstGeom prst="rect">
            <a:avLst/>
          </a:prstGeom>
          <a:solidFill>
            <a:srgbClr val="2B2A2F"/>
          </a:solidFill>
          <a:ln w="12700">
            <a:solidFill>
              <a:srgbClr val="3A39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3" name="Text 121"/>
          <p:cNvSpPr/>
          <p:nvPr/>
        </p:nvSpPr>
        <p:spPr>
          <a:xfrm>
            <a:off x="3491179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3491179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167, 38</a:t>
            </a:r>
            <a:endParaRPr lang="en-US" sz="600" dirty="0"/>
          </a:p>
        </p:txBody>
      </p:sp>
      <p:sp>
        <p:nvSpPr>
          <p:cNvPr id="125" name="Text 123"/>
          <p:cNvSpPr/>
          <p:nvPr/>
        </p:nvSpPr>
        <p:spPr>
          <a:xfrm>
            <a:off x="3491179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3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serie C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5003597" y="5520690"/>
            <a:ext cx="1512418" cy="761101"/>
          </a:xfrm>
          <a:prstGeom prst="rect">
            <a:avLst/>
          </a:prstGeom>
          <a:solidFill>
            <a:srgbClr val="EC407A"/>
          </a:solidFill>
          <a:ln w="12700">
            <a:solidFill>
              <a:srgbClr val="EC407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7" name="Text 125"/>
          <p:cNvSpPr/>
          <p:nvPr/>
        </p:nvSpPr>
        <p:spPr>
          <a:xfrm>
            <a:off x="5067605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#EC407A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5003597" y="6281791"/>
            <a:ext cx="1512418" cy="466481"/>
          </a:xfrm>
          <a:prstGeom prst="rect">
            <a:avLst/>
          </a:prstGeom>
          <a:solidFill>
            <a:srgbClr val="2B2A2F"/>
          </a:solidFill>
          <a:ln w="12700">
            <a:solidFill>
              <a:srgbClr val="3A39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9" name="Text 127"/>
          <p:cNvSpPr/>
          <p:nvPr/>
        </p:nvSpPr>
        <p:spPr>
          <a:xfrm>
            <a:off x="5067605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Pink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5067605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236, 64, 122</a:t>
            </a:r>
            <a:endParaRPr lang="en-US" sz="600" dirty="0"/>
          </a:p>
        </p:txBody>
      </p:sp>
      <p:sp>
        <p:nvSpPr>
          <p:cNvPr id="131" name="Text 129"/>
          <p:cNvSpPr/>
          <p:nvPr/>
        </p:nvSpPr>
        <p:spPr>
          <a:xfrm>
            <a:off x="5067605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3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serie D</a:t>
            </a:r>
            <a:endParaRPr lang="en-US" sz="600" dirty="0"/>
          </a:p>
        </p:txBody>
      </p:sp>
      <p:sp>
        <p:nvSpPr>
          <p:cNvPr id="132" name="Shape 130"/>
          <p:cNvSpPr/>
          <p:nvPr/>
        </p:nvSpPr>
        <p:spPr>
          <a:xfrm>
            <a:off x="6580022" y="5520690"/>
            <a:ext cx="1512418" cy="761101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3" name="Text 131"/>
          <p:cNvSpPr/>
          <p:nvPr/>
        </p:nvSpPr>
        <p:spPr>
          <a:xfrm>
            <a:off x="6644030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#4CAF50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6580022" y="6281791"/>
            <a:ext cx="1512418" cy="466481"/>
          </a:xfrm>
          <a:prstGeom prst="rect">
            <a:avLst/>
          </a:prstGeom>
          <a:solidFill>
            <a:srgbClr val="2B2A2F"/>
          </a:solidFill>
          <a:ln w="12700">
            <a:solidFill>
              <a:srgbClr val="3A393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5" name="Text 133"/>
          <p:cNvSpPr/>
          <p:nvPr/>
        </p:nvSpPr>
        <p:spPr>
          <a:xfrm>
            <a:off x="6644030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750" dirty="0"/>
          </a:p>
        </p:txBody>
      </p:sp>
      <p:sp>
        <p:nvSpPr>
          <p:cNvPr id="136" name="Text 134"/>
          <p:cNvSpPr/>
          <p:nvPr/>
        </p:nvSpPr>
        <p:spPr>
          <a:xfrm>
            <a:off x="6644030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A3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76, 175, 80</a:t>
            </a:r>
            <a:endParaRPr lang="en-US" sz="600" dirty="0"/>
          </a:p>
        </p:txBody>
      </p:sp>
      <p:sp>
        <p:nvSpPr>
          <p:cNvPr id="137" name="Text 135"/>
          <p:cNvSpPr/>
          <p:nvPr/>
        </p:nvSpPr>
        <p:spPr>
          <a:xfrm>
            <a:off x="6644030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3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serie E</a:t>
            </a:r>
            <a:endParaRPr lang="en-US" sz="600" dirty="0"/>
          </a:p>
        </p:txBody>
      </p:sp>
      <p:sp>
        <p:nvSpPr>
          <p:cNvPr id="138" name="Text 136"/>
          <p:cNvSpPr/>
          <p:nvPr/>
        </p:nvSpPr>
        <p:spPr>
          <a:xfrm>
            <a:off x="8275320" y="914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CONFIGURACIÓN MAESTRA</a:t>
            </a:r>
            <a:endParaRPr lang="en-US" sz="1200" dirty="0"/>
          </a:p>
        </p:txBody>
      </p:sp>
      <p:sp>
        <p:nvSpPr>
          <p:cNvPr id="139" name="Text 137"/>
          <p:cNvSpPr/>
          <p:nvPr/>
        </p:nvSpPr>
        <p:spPr>
          <a:xfrm>
            <a:off x="8275320" y="34747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3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por función · Empresa Constructora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8275320" y="530352"/>
            <a:ext cx="3703320" cy="18288"/>
          </a:xfrm>
          <a:prstGeom prst="rect">
            <a:avLst/>
          </a:prstGeom>
          <a:solidFill>
            <a:srgbClr val="2D2C31"/>
          </a:solidFill>
          <a:ln w="12700">
            <a:solidFill>
              <a:srgbClr val="2D2C3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1" name="Shape 139"/>
          <p:cNvSpPr/>
          <p:nvPr/>
        </p:nvSpPr>
        <p:spPr>
          <a:xfrm>
            <a:off x="8275320" y="594360"/>
            <a:ext cx="3703320" cy="477012"/>
          </a:xfrm>
          <a:prstGeom prst="rect">
            <a:avLst/>
          </a:prstGeom>
          <a:solidFill>
            <a:srgbClr val="1A1920"/>
          </a:solidFill>
          <a:ln w="12700">
            <a:solidFill>
              <a:srgbClr val="2D2C3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2" name="Shape 140"/>
          <p:cNvSpPr/>
          <p:nvPr/>
        </p:nvSpPr>
        <p:spPr>
          <a:xfrm>
            <a:off x="8275320" y="612648"/>
            <a:ext cx="256032" cy="440436"/>
          </a:xfrm>
          <a:prstGeom prst="rect">
            <a:avLst/>
          </a:prstGeom>
          <a:solidFill>
            <a:srgbClr val="1C1B1F"/>
          </a:solidFill>
          <a:ln w="12700">
            <a:solidFill>
              <a:srgbClr val="1C1B1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3" name="Text 141"/>
          <p:cNvSpPr/>
          <p:nvPr/>
        </p:nvSpPr>
        <p:spPr>
          <a:xfrm>
            <a:off x="8604504" y="621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dark / surface 1</a:t>
            </a:r>
            <a:endParaRPr lang="en-US" sz="750" dirty="0"/>
          </a:p>
        </p:txBody>
      </p:sp>
      <p:sp>
        <p:nvSpPr>
          <p:cNvPr id="144" name="Text 142"/>
          <p:cNvSpPr/>
          <p:nvPr/>
        </p:nvSpPr>
        <p:spPr>
          <a:xfrm>
            <a:off x="8604504" y="846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7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#1C1B1F  ·  Surface 1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8275320" y="1089660"/>
            <a:ext cx="3703320" cy="477012"/>
          </a:xfrm>
          <a:prstGeom prst="rect">
            <a:avLst/>
          </a:prstGeom>
          <a:solidFill>
            <a:srgbClr val="2B2A2F"/>
          </a:solidFill>
          <a:ln w="12700">
            <a:solidFill>
              <a:srgbClr val="2D2C3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6" name="Shape 144"/>
          <p:cNvSpPr/>
          <p:nvPr/>
        </p:nvSpPr>
        <p:spPr>
          <a:xfrm>
            <a:off x="8275320" y="1107948"/>
            <a:ext cx="256032" cy="440436"/>
          </a:xfrm>
          <a:prstGeom prst="rect">
            <a:avLst/>
          </a:prstGeom>
          <a:solidFill>
            <a:srgbClr val="2B2A2F"/>
          </a:solidFill>
          <a:ln w="12700">
            <a:solidFill>
              <a:srgbClr val="2B2A2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7" name="Text 145"/>
          <p:cNvSpPr/>
          <p:nvPr/>
        </p:nvSpPr>
        <p:spPr>
          <a:xfrm>
            <a:off x="8604504" y="1117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cards / container</a:t>
            </a:r>
            <a:endParaRPr lang="en-US" sz="750" dirty="0"/>
          </a:p>
        </p:txBody>
      </p:sp>
      <p:sp>
        <p:nvSpPr>
          <p:cNvPr id="148" name="Text 146"/>
          <p:cNvSpPr/>
          <p:nvPr/>
        </p:nvSpPr>
        <p:spPr>
          <a:xfrm>
            <a:off x="8604504" y="1342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7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#2B2A2F  ·  Surface 2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8275320" y="1584960"/>
            <a:ext cx="3703320" cy="477012"/>
          </a:xfrm>
          <a:prstGeom prst="rect">
            <a:avLst/>
          </a:prstGeom>
          <a:solidFill>
            <a:srgbClr val="1A1920"/>
          </a:solidFill>
          <a:ln w="12700">
            <a:solidFill>
              <a:srgbClr val="2D2C3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0" name="Shape 148"/>
          <p:cNvSpPr/>
          <p:nvPr/>
        </p:nvSpPr>
        <p:spPr>
          <a:xfrm>
            <a:off x="8275320" y="1603248"/>
            <a:ext cx="256032" cy="44043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1" name="Text 149"/>
          <p:cNvSpPr/>
          <p:nvPr/>
        </p:nvSpPr>
        <p:spPr>
          <a:xfrm>
            <a:off x="8604504" y="16123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primario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8604504" y="18375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7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#1A73E8  ·  Google Blue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8275320" y="2080260"/>
            <a:ext cx="3703320" cy="477012"/>
          </a:xfrm>
          <a:prstGeom prst="rect">
            <a:avLst/>
          </a:prstGeom>
          <a:solidFill>
            <a:srgbClr val="2B2A2F"/>
          </a:solidFill>
          <a:ln w="12700">
            <a:solidFill>
              <a:srgbClr val="2D2C3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4" name="Shape 152"/>
          <p:cNvSpPr/>
          <p:nvPr/>
        </p:nvSpPr>
        <p:spPr>
          <a:xfrm>
            <a:off x="8275320" y="2098548"/>
            <a:ext cx="256032" cy="440436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5" name="Text 153"/>
          <p:cNvSpPr/>
          <p:nvPr/>
        </p:nvSpPr>
        <p:spPr>
          <a:xfrm>
            <a:off x="8604504" y="21076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/ alerta</a:t>
            </a:r>
            <a:endParaRPr lang="en-US" sz="750" dirty="0"/>
          </a:p>
        </p:txBody>
      </p:sp>
      <p:sp>
        <p:nvSpPr>
          <p:cNvPr id="156" name="Text 154"/>
          <p:cNvSpPr/>
          <p:nvPr/>
        </p:nvSpPr>
        <p:spPr>
          <a:xfrm>
            <a:off x="8604504" y="23328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7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#EA4335  ·  Google Red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8275320" y="2575560"/>
            <a:ext cx="3703320" cy="477012"/>
          </a:xfrm>
          <a:prstGeom prst="rect">
            <a:avLst/>
          </a:prstGeom>
          <a:solidFill>
            <a:srgbClr val="1A1920"/>
          </a:solidFill>
          <a:ln w="12700">
            <a:solidFill>
              <a:srgbClr val="2D2C3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8" name="Shape 156"/>
          <p:cNvSpPr/>
          <p:nvPr/>
        </p:nvSpPr>
        <p:spPr>
          <a:xfrm>
            <a:off x="8275320" y="2593848"/>
            <a:ext cx="256032" cy="440436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9" name="Text 157"/>
          <p:cNvSpPr/>
          <p:nvPr/>
        </p:nvSpPr>
        <p:spPr>
          <a:xfrm>
            <a:off x="8604504" y="26029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/ positivo</a:t>
            </a:r>
            <a:endParaRPr lang="en-US" sz="750" dirty="0"/>
          </a:p>
        </p:txBody>
      </p:sp>
      <p:sp>
        <p:nvSpPr>
          <p:cNvPr id="160" name="Text 158"/>
          <p:cNvSpPr/>
          <p:nvPr/>
        </p:nvSpPr>
        <p:spPr>
          <a:xfrm>
            <a:off x="8604504" y="28281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7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#34A853  ·  Google Green</a:t>
            </a:r>
            <a:endParaRPr lang="en-US" sz="700" dirty="0"/>
          </a:p>
        </p:txBody>
      </p:sp>
      <p:sp>
        <p:nvSpPr>
          <p:cNvPr id="161" name="Shape 159"/>
          <p:cNvSpPr/>
          <p:nvPr/>
        </p:nvSpPr>
        <p:spPr>
          <a:xfrm>
            <a:off x="8275320" y="3070860"/>
            <a:ext cx="3703320" cy="477012"/>
          </a:xfrm>
          <a:prstGeom prst="rect">
            <a:avLst/>
          </a:prstGeom>
          <a:solidFill>
            <a:srgbClr val="2B2A2F"/>
          </a:solidFill>
          <a:ln w="12700">
            <a:solidFill>
              <a:srgbClr val="2D2C3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2" name="Shape 160"/>
          <p:cNvSpPr/>
          <p:nvPr/>
        </p:nvSpPr>
        <p:spPr>
          <a:xfrm>
            <a:off x="8275320" y="3089148"/>
            <a:ext cx="256032" cy="440436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3" name="Text 161"/>
          <p:cNvSpPr/>
          <p:nvPr/>
        </p:nvSpPr>
        <p:spPr>
          <a:xfrm>
            <a:off x="8604504" y="30982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/ atención</a:t>
            </a:r>
            <a:endParaRPr lang="en-US" sz="750" dirty="0"/>
          </a:p>
        </p:txBody>
      </p:sp>
      <p:sp>
        <p:nvSpPr>
          <p:cNvPr id="164" name="Text 162"/>
          <p:cNvSpPr/>
          <p:nvPr/>
        </p:nvSpPr>
        <p:spPr>
          <a:xfrm>
            <a:off x="8604504" y="33234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7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#FBBC04  ·  Google Yellow</a:t>
            </a:r>
            <a:endParaRPr lang="en-US" sz="700" dirty="0"/>
          </a:p>
        </p:txBody>
      </p:sp>
      <p:sp>
        <p:nvSpPr>
          <p:cNvPr id="165" name="Shape 163"/>
          <p:cNvSpPr/>
          <p:nvPr/>
        </p:nvSpPr>
        <p:spPr>
          <a:xfrm>
            <a:off x="8275320" y="3566160"/>
            <a:ext cx="3703320" cy="477012"/>
          </a:xfrm>
          <a:prstGeom prst="rect">
            <a:avLst/>
          </a:prstGeom>
          <a:solidFill>
            <a:srgbClr val="1A1920"/>
          </a:solidFill>
          <a:ln w="12700">
            <a:solidFill>
              <a:srgbClr val="2D2C3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6" name="Shape 164"/>
          <p:cNvSpPr/>
          <p:nvPr/>
        </p:nvSpPr>
        <p:spPr>
          <a:xfrm>
            <a:off x="8275320" y="3584448"/>
            <a:ext cx="256032" cy="440436"/>
          </a:xfrm>
          <a:prstGeom prst="rect">
            <a:avLst/>
          </a:prstGeom>
          <a:solidFill>
            <a:srgbClr val="E6E1E5"/>
          </a:solidFill>
          <a:ln w="12700">
            <a:solidFill>
              <a:srgbClr val="E6E1E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7" name="Text 165"/>
          <p:cNvSpPr/>
          <p:nvPr/>
        </p:nvSpPr>
        <p:spPr>
          <a:xfrm>
            <a:off x="8604504" y="35935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principal</a:t>
            </a:r>
            <a:endParaRPr lang="en-US" sz="750" dirty="0"/>
          </a:p>
        </p:txBody>
      </p:sp>
      <p:sp>
        <p:nvSpPr>
          <p:cNvPr id="168" name="Text 166"/>
          <p:cNvSpPr/>
          <p:nvPr/>
        </p:nvSpPr>
        <p:spPr>
          <a:xfrm>
            <a:off x="8604504" y="38187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7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#E6E1E5  ·  On Surface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8275320" y="4061460"/>
            <a:ext cx="3703320" cy="477012"/>
          </a:xfrm>
          <a:prstGeom prst="rect">
            <a:avLst/>
          </a:prstGeom>
          <a:solidFill>
            <a:srgbClr val="2B2A2F"/>
          </a:solidFill>
          <a:ln w="12700">
            <a:solidFill>
              <a:srgbClr val="2D2C3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0" name="Shape 168"/>
          <p:cNvSpPr/>
          <p:nvPr/>
        </p:nvSpPr>
        <p:spPr>
          <a:xfrm>
            <a:off x="8275320" y="4079748"/>
            <a:ext cx="256032" cy="440436"/>
          </a:xfrm>
          <a:prstGeom prst="rect">
            <a:avLst/>
          </a:prstGeom>
          <a:solidFill>
            <a:srgbClr val="938F99"/>
          </a:solidFill>
          <a:ln w="12700">
            <a:solidFill>
              <a:srgbClr val="938F9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1" name="Text 169"/>
          <p:cNvSpPr/>
          <p:nvPr/>
        </p:nvSpPr>
        <p:spPr>
          <a:xfrm>
            <a:off x="8604504" y="40888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</a:t>
            </a:r>
            <a:endParaRPr lang="en-US" sz="750" dirty="0"/>
          </a:p>
        </p:txBody>
      </p:sp>
      <p:sp>
        <p:nvSpPr>
          <p:cNvPr id="172" name="Text 170"/>
          <p:cNvSpPr/>
          <p:nvPr/>
        </p:nvSpPr>
        <p:spPr>
          <a:xfrm>
            <a:off x="8604504" y="43140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7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#938F99  ·  On Surface Var</a:t>
            </a:r>
            <a:endParaRPr lang="en-US" sz="700" dirty="0"/>
          </a:p>
        </p:txBody>
      </p:sp>
      <p:sp>
        <p:nvSpPr>
          <p:cNvPr id="173" name="Shape 171"/>
          <p:cNvSpPr/>
          <p:nvPr/>
        </p:nvSpPr>
        <p:spPr>
          <a:xfrm>
            <a:off x="8275320" y="4556760"/>
            <a:ext cx="3703320" cy="477012"/>
          </a:xfrm>
          <a:prstGeom prst="rect">
            <a:avLst/>
          </a:prstGeom>
          <a:solidFill>
            <a:srgbClr val="1A1920"/>
          </a:solidFill>
          <a:ln w="12700">
            <a:solidFill>
              <a:srgbClr val="2D2C3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4" name="Shape 172"/>
          <p:cNvSpPr/>
          <p:nvPr/>
        </p:nvSpPr>
        <p:spPr>
          <a:xfrm>
            <a:off x="8275320" y="4575048"/>
            <a:ext cx="256032" cy="440436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5" name="Text 173"/>
          <p:cNvSpPr/>
          <p:nvPr/>
        </p:nvSpPr>
        <p:spPr>
          <a:xfrm>
            <a:off x="8604504" y="45841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serie A</a:t>
            </a:r>
            <a:endParaRPr lang="en-US" sz="750" dirty="0"/>
          </a:p>
        </p:txBody>
      </p:sp>
      <p:sp>
        <p:nvSpPr>
          <p:cNvPr id="176" name="Text 174"/>
          <p:cNvSpPr/>
          <p:nvPr/>
        </p:nvSpPr>
        <p:spPr>
          <a:xfrm>
            <a:off x="8604504" y="48093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7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#5C6BC0  ·  Indigo</a:t>
            </a:r>
            <a:endParaRPr lang="en-US" sz="700" dirty="0"/>
          </a:p>
        </p:txBody>
      </p:sp>
      <p:sp>
        <p:nvSpPr>
          <p:cNvPr id="177" name="Shape 175"/>
          <p:cNvSpPr/>
          <p:nvPr/>
        </p:nvSpPr>
        <p:spPr>
          <a:xfrm>
            <a:off x="8275320" y="5052060"/>
            <a:ext cx="3703320" cy="477012"/>
          </a:xfrm>
          <a:prstGeom prst="rect">
            <a:avLst/>
          </a:prstGeom>
          <a:solidFill>
            <a:srgbClr val="2B2A2F"/>
          </a:solidFill>
          <a:ln w="12700">
            <a:solidFill>
              <a:srgbClr val="2D2C3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8" name="Shape 176"/>
          <p:cNvSpPr/>
          <p:nvPr/>
        </p:nvSpPr>
        <p:spPr>
          <a:xfrm>
            <a:off x="8275320" y="5070348"/>
            <a:ext cx="256032" cy="440436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9" name="Text 177"/>
          <p:cNvSpPr/>
          <p:nvPr/>
        </p:nvSpPr>
        <p:spPr>
          <a:xfrm>
            <a:off x="8604504" y="50794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serie B</a:t>
            </a:r>
            <a:endParaRPr lang="en-US" sz="750" dirty="0"/>
          </a:p>
        </p:txBody>
      </p:sp>
      <p:sp>
        <p:nvSpPr>
          <p:cNvPr id="180" name="Text 178"/>
          <p:cNvSpPr/>
          <p:nvPr/>
        </p:nvSpPr>
        <p:spPr>
          <a:xfrm>
            <a:off x="8604504" y="53046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7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#26A69A  ·  Teal</a:t>
            </a:r>
            <a:endParaRPr lang="en-US" sz="700" dirty="0"/>
          </a:p>
        </p:txBody>
      </p:sp>
      <p:sp>
        <p:nvSpPr>
          <p:cNvPr id="181" name="Shape 179"/>
          <p:cNvSpPr/>
          <p:nvPr/>
        </p:nvSpPr>
        <p:spPr>
          <a:xfrm>
            <a:off x="8275320" y="5547360"/>
            <a:ext cx="3703320" cy="477012"/>
          </a:xfrm>
          <a:prstGeom prst="rect">
            <a:avLst/>
          </a:prstGeom>
          <a:solidFill>
            <a:srgbClr val="1A1920"/>
          </a:solidFill>
          <a:ln w="12700">
            <a:solidFill>
              <a:srgbClr val="2D2C3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2" name="Shape 180"/>
          <p:cNvSpPr/>
          <p:nvPr/>
        </p:nvSpPr>
        <p:spPr>
          <a:xfrm>
            <a:off x="8275320" y="5565648"/>
            <a:ext cx="256032" cy="440436"/>
          </a:xfrm>
          <a:prstGeom prst="rect">
            <a:avLst/>
          </a:prstGeom>
          <a:solidFill>
            <a:srgbClr val="8AB4F8"/>
          </a:solidFill>
          <a:ln w="12700">
            <a:solidFill>
              <a:srgbClr val="8AB4F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3" name="Text 181"/>
          <p:cNvSpPr/>
          <p:nvPr/>
        </p:nvSpPr>
        <p:spPr>
          <a:xfrm>
            <a:off x="8604504" y="5574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/ highlights</a:t>
            </a:r>
            <a:endParaRPr lang="en-US" sz="750" dirty="0"/>
          </a:p>
        </p:txBody>
      </p:sp>
      <p:sp>
        <p:nvSpPr>
          <p:cNvPr id="184" name="Text 182"/>
          <p:cNvSpPr/>
          <p:nvPr/>
        </p:nvSpPr>
        <p:spPr>
          <a:xfrm>
            <a:off x="8604504" y="5799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7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#8AB4F8  ·  Primary Light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8275320" y="6042660"/>
            <a:ext cx="3703320" cy="477012"/>
          </a:xfrm>
          <a:prstGeom prst="rect">
            <a:avLst/>
          </a:prstGeom>
          <a:solidFill>
            <a:srgbClr val="2B2A2F"/>
          </a:solidFill>
          <a:ln w="12700">
            <a:solidFill>
              <a:srgbClr val="2D2C3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6" name="Shape 184"/>
          <p:cNvSpPr/>
          <p:nvPr/>
        </p:nvSpPr>
        <p:spPr>
          <a:xfrm>
            <a:off x="8275320" y="6060948"/>
            <a:ext cx="256032" cy="440436"/>
          </a:xfrm>
          <a:prstGeom prst="rect">
            <a:avLst/>
          </a:prstGeom>
          <a:solidFill>
            <a:srgbClr val="5F5E62"/>
          </a:solidFill>
          <a:ln w="12700">
            <a:solidFill>
              <a:srgbClr val="5F5E6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7" name="Text 185"/>
          <p:cNvSpPr/>
          <p:nvPr/>
        </p:nvSpPr>
        <p:spPr>
          <a:xfrm>
            <a:off x="8604504" y="6070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Bordes / outline</a:t>
            </a:r>
            <a:endParaRPr lang="en-US" sz="750" dirty="0"/>
          </a:p>
        </p:txBody>
      </p:sp>
      <p:sp>
        <p:nvSpPr>
          <p:cNvPr id="188" name="Text 186"/>
          <p:cNvSpPr/>
          <p:nvPr/>
        </p:nvSpPr>
        <p:spPr>
          <a:xfrm>
            <a:off x="8604504" y="6295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7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#5F5E62  ·  Outline</a:t>
            </a:r>
            <a:endParaRPr lang="en-US" sz="700" dirty="0"/>
          </a:p>
        </p:txBody>
      </p:sp>
      <p:sp>
        <p:nvSpPr>
          <p:cNvPr id="189" name="Shape 187"/>
          <p:cNvSpPr/>
          <p:nvPr/>
        </p:nvSpPr>
        <p:spPr>
          <a:xfrm>
            <a:off x="8275320" y="6574536"/>
            <a:ext cx="3703320" cy="256032"/>
          </a:xfrm>
          <a:prstGeom prst="rect">
            <a:avLst/>
          </a:prstGeom>
          <a:solidFill>
            <a:srgbClr val="1A1920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0" name="Text 188"/>
          <p:cNvSpPr/>
          <p:nvPr/>
        </p:nvSpPr>
        <p:spPr>
          <a:xfrm>
            <a:off x="8366760" y="661111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Google Blue #1A73E8 + Material You = diseño adaptable universal. 4 colores = todo.</a:t>
            </a:r>
            <a:endParaRPr lang="en-US" sz="700" dirty="0"/>
          </a:p>
        </p:txBody>
      </p:sp>
      <p:sp>
        <p:nvSpPr>
          <p:cNvPr id="191" name="Shape 189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1A1920"/>
          </a:solidFill>
          <a:ln w="12700">
            <a:solidFill>
              <a:srgbClr val="1A192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2" name="Text 190"/>
          <p:cNvSpPr/>
          <p:nvPr/>
        </p:nvSpPr>
        <p:spPr>
          <a:xfrm>
            <a:off x="274320" y="6793992"/>
            <a:ext cx="914400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3A3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MATERIAL  ·  PALETA OFICIAL  ·  m3.material.io · Google Brand · Material Design 3</a:t>
            </a:r>
            <a:endParaRPr lang="en-US" sz="550" dirty="0"/>
          </a:p>
        </p:txBody>
      </p:sp>
      <p:sp>
        <p:nvSpPr>
          <p:cNvPr id="193" name="Text 191"/>
          <p:cNvSpPr/>
          <p:nvPr/>
        </p:nvSpPr>
        <p:spPr>
          <a:xfrm>
            <a:off x="0" y="6793992"/>
            <a:ext cx="119786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3A3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COLORES  ·  4 SISTEMAS  ·  1 LÁMINA</a:t>
            </a:r>
            <a:endParaRPr lang="en-US" sz="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Interface (Business)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383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COLORES OFICIAL  ·  Clarity · Deference · Depth · Human-Centered Design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4320" y="795528"/>
            <a:ext cx="7818120" cy="18288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8183880" y="73152"/>
            <a:ext cx="18288" cy="6720840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7818120" cy="201168"/>
          </a:xfrm>
          <a:prstGeom prst="rect">
            <a:avLst/>
          </a:prstGeom>
          <a:solidFill>
            <a:srgbClr val="1A1A1C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>
            <a:off x="274320" y="841248"/>
            <a:ext cx="36576" cy="201168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65760" y="8412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COLOR APPLE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" y="84124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83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developer.apple.com/design · Apple HIG · SF System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74320" y="1042416"/>
            <a:ext cx="2563368" cy="761101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338328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#007AFF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03517"/>
            <a:ext cx="256336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8383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338328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System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8328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83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122, 255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38328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primario interactivo Apple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901696" y="1042416"/>
            <a:ext cx="2563368" cy="761101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2965704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#1C1C1E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01696" y="1803517"/>
            <a:ext cx="256336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8383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2965704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Black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965704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83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28, 28, 30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965704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base dark mode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529072" y="1042416"/>
            <a:ext cx="2563368" cy="761101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5593080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#F2F2F7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29072" y="1803517"/>
            <a:ext cx="256336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8383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Text 25"/>
          <p:cNvSpPr/>
          <p:nvPr/>
        </p:nvSpPr>
        <p:spPr>
          <a:xfrm>
            <a:off x="5593080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White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593080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83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242, 242, 247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593080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base light mode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74320" y="2334006"/>
            <a:ext cx="7818120" cy="201168"/>
          </a:xfrm>
          <a:prstGeom prst="rect">
            <a:avLst/>
          </a:prstGeom>
          <a:solidFill>
            <a:srgbClr val="1A1A1C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Shape 29"/>
          <p:cNvSpPr/>
          <p:nvPr/>
        </p:nvSpPr>
        <p:spPr>
          <a:xfrm>
            <a:off x="274320" y="2334006"/>
            <a:ext cx="36576" cy="201168"/>
          </a:xfrm>
          <a:prstGeom prst="rect">
            <a:avLst/>
          </a:prstGeom>
          <a:solidFill>
            <a:srgbClr val="64D2FF"/>
          </a:solidFill>
          <a:ln w="12700">
            <a:solidFill>
              <a:srgbClr val="64D2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365760" y="233400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64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SYSTEM COLORS — DARK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" y="2334006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83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Apple Human Interface Guidelines · System Colors Dark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74320" y="2535174"/>
            <a:ext cx="1512418" cy="761101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Text 33"/>
          <p:cNvSpPr/>
          <p:nvPr/>
        </p:nvSpPr>
        <p:spPr>
          <a:xfrm>
            <a:off x="338328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#0A84FF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296275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8383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/>
          <p:nvPr/>
        </p:nvSpPr>
        <p:spPr>
          <a:xfrm>
            <a:off x="338328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Dark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8328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83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10, 132, 255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38328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Primario en dark mode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850746" y="2535174"/>
            <a:ext cx="1512418" cy="761101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1" name="Text 39"/>
          <p:cNvSpPr/>
          <p:nvPr/>
        </p:nvSpPr>
        <p:spPr>
          <a:xfrm>
            <a:off x="1914754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#30D158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50746" y="3296275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8383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3" name="Text 41"/>
          <p:cNvSpPr/>
          <p:nvPr/>
        </p:nvSpPr>
        <p:spPr>
          <a:xfrm>
            <a:off x="1914754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Dark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914754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83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48, 209, 88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914754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dark · Activo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427171" y="2535174"/>
            <a:ext cx="1512418" cy="761101"/>
          </a:xfrm>
          <a:prstGeom prst="rect">
            <a:avLst/>
          </a:prstGeom>
          <a:solidFill>
            <a:srgbClr val="FF453A"/>
          </a:solidFill>
          <a:ln w="12700">
            <a:solidFill>
              <a:srgbClr val="FF453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7" name="Text 45"/>
          <p:cNvSpPr/>
          <p:nvPr/>
        </p:nvSpPr>
        <p:spPr>
          <a:xfrm>
            <a:off x="3491179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#FF453A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27171" y="3296275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8383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9" name="Text 47"/>
          <p:cNvSpPr/>
          <p:nvPr/>
        </p:nvSpPr>
        <p:spPr>
          <a:xfrm>
            <a:off x="3491179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Dark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491179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83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69, 58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491179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Destructivo · Error · Alerta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5003597" y="2535174"/>
            <a:ext cx="1512418" cy="761101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3" name="Text 51"/>
          <p:cNvSpPr/>
          <p:nvPr/>
        </p:nvSpPr>
        <p:spPr>
          <a:xfrm>
            <a:off x="5067605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#FF9F0A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003597" y="3296275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8383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5" name="Text 53"/>
          <p:cNvSpPr/>
          <p:nvPr/>
        </p:nvSpPr>
        <p:spPr>
          <a:xfrm>
            <a:off x="5067605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Dark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067605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83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159, 10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067605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· Notificación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6580022" y="2535174"/>
            <a:ext cx="1512418" cy="761101"/>
          </a:xfrm>
          <a:prstGeom prst="rect">
            <a:avLst/>
          </a:prstGeom>
          <a:solidFill>
            <a:srgbClr val="64D2FF"/>
          </a:solidFill>
          <a:ln w="12700">
            <a:solidFill>
              <a:srgbClr val="64D2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9" name="Text 57"/>
          <p:cNvSpPr/>
          <p:nvPr/>
        </p:nvSpPr>
        <p:spPr>
          <a:xfrm>
            <a:off x="6644030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#64D2FF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580022" y="3296275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8383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1" name="Text 59"/>
          <p:cNvSpPr/>
          <p:nvPr/>
        </p:nvSpPr>
        <p:spPr>
          <a:xfrm>
            <a:off x="6644030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 Dark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644030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83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100, 210, 255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644030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especial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274320" y="3826764"/>
            <a:ext cx="7818120" cy="201168"/>
          </a:xfrm>
          <a:prstGeom prst="rect">
            <a:avLst/>
          </a:prstGeom>
          <a:solidFill>
            <a:srgbClr val="1A1A1C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5" name="Shape 63"/>
          <p:cNvSpPr/>
          <p:nvPr/>
        </p:nvSpPr>
        <p:spPr>
          <a:xfrm>
            <a:off x="274320" y="3826764"/>
            <a:ext cx="36576" cy="201168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6" name="Text 64"/>
          <p:cNvSpPr/>
          <p:nvPr/>
        </p:nvSpPr>
        <p:spPr>
          <a:xfrm>
            <a:off x="365760" y="38267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SYSTEM COLORS — LIGHT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74320" y="382676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83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Apple Human Interface Guidelines · System Colors Light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274320" y="4027932"/>
            <a:ext cx="1512418" cy="761101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9" name="Text 67"/>
          <p:cNvSpPr/>
          <p:nvPr/>
        </p:nvSpPr>
        <p:spPr>
          <a:xfrm>
            <a:off x="338328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#007AFF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" y="4789033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8383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1" name="Text 69"/>
          <p:cNvSpPr/>
          <p:nvPr/>
        </p:nvSpPr>
        <p:spPr>
          <a:xfrm>
            <a:off x="338328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Light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38328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83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122, 255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338328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Primario en light mode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1850746" y="4027932"/>
            <a:ext cx="1512418" cy="761101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5" name="Text 73"/>
          <p:cNvSpPr/>
          <p:nvPr/>
        </p:nvSpPr>
        <p:spPr>
          <a:xfrm>
            <a:off x="1914754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#34C759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850746" y="4789033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8383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7" name="Text 75"/>
          <p:cNvSpPr/>
          <p:nvPr/>
        </p:nvSpPr>
        <p:spPr>
          <a:xfrm>
            <a:off x="1914754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Light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914754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83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52, 199, 89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1914754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· Activo · Completado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3427171" y="4027932"/>
            <a:ext cx="1512418" cy="761101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1" name="Text 79"/>
          <p:cNvSpPr/>
          <p:nvPr/>
        </p:nvSpPr>
        <p:spPr>
          <a:xfrm>
            <a:off x="3491179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#FF3B30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427171" y="4789033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8383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3" name="Text 81"/>
          <p:cNvSpPr/>
          <p:nvPr/>
        </p:nvSpPr>
        <p:spPr>
          <a:xfrm>
            <a:off x="3491179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Light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3491179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83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59, 48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3491179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Destructivo · Error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5003597" y="4027932"/>
            <a:ext cx="1512418" cy="761101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7" name="Text 85"/>
          <p:cNvSpPr/>
          <p:nvPr/>
        </p:nvSpPr>
        <p:spPr>
          <a:xfrm>
            <a:off x="5067605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#FF9500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003597" y="4789033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8383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9" name="Text 87"/>
          <p:cNvSpPr/>
          <p:nvPr/>
        </p:nvSpPr>
        <p:spPr>
          <a:xfrm>
            <a:off x="5067605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Light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067605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83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149, 0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5067605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· Precaución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6580022" y="4027932"/>
            <a:ext cx="1512418" cy="761101"/>
          </a:xfrm>
          <a:prstGeom prst="rect">
            <a:avLst/>
          </a:prstGeom>
          <a:solidFill>
            <a:srgbClr val="AF52DE"/>
          </a:solidFill>
          <a:ln w="12700">
            <a:solidFill>
              <a:srgbClr val="AF52D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3" name="Text 91"/>
          <p:cNvSpPr/>
          <p:nvPr/>
        </p:nvSpPr>
        <p:spPr>
          <a:xfrm>
            <a:off x="6644030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#AF52DE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580022" y="4789033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8383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5" name="Text 93"/>
          <p:cNvSpPr/>
          <p:nvPr/>
        </p:nvSpPr>
        <p:spPr>
          <a:xfrm>
            <a:off x="6644030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Light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6644030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83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175, 82, 222</a:t>
            </a:r>
            <a:endParaRPr lang="en-US" sz="600" dirty="0"/>
          </a:p>
        </p:txBody>
      </p:sp>
      <p:sp>
        <p:nvSpPr>
          <p:cNvPr id="97" name="Text 95"/>
          <p:cNvSpPr/>
          <p:nvPr/>
        </p:nvSpPr>
        <p:spPr>
          <a:xfrm>
            <a:off x="6644030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· Especial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274320" y="5319522"/>
            <a:ext cx="7818120" cy="201168"/>
          </a:xfrm>
          <a:prstGeom prst="rect">
            <a:avLst/>
          </a:prstGeom>
          <a:solidFill>
            <a:srgbClr val="1A1A1C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9" name="Shape 97"/>
          <p:cNvSpPr/>
          <p:nvPr/>
        </p:nvSpPr>
        <p:spPr>
          <a:xfrm>
            <a:off x="274320" y="5319522"/>
            <a:ext cx="36576" cy="201168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0" name="Text 98"/>
          <p:cNvSpPr/>
          <p:nvPr/>
        </p:nvSpPr>
        <p:spPr>
          <a:xfrm>
            <a:off x="365760" y="531952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GRISES APPLE — DARK &amp; LIGHT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274320" y="5319522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83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Apple Semantic Gray System · Labels &amp; Fills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274320" y="5520690"/>
            <a:ext cx="1512418" cy="761101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3" name="Text 101"/>
          <p:cNvSpPr/>
          <p:nvPr/>
        </p:nvSpPr>
        <p:spPr>
          <a:xfrm>
            <a:off x="338328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#2C2C2E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274320" y="6281791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8383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5" name="Text 103"/>
          <p:cNvSpPr/>
          <p:nvPr/>
        </p:nvSpPr>
        <p:spPr>
          <a:xfrm>
            <a:off x="338328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6 Dark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338328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83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44, 44, 46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338328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secundarios dark</a:t>
            </a:r>
            <a:endParaRPr lang="en-US" sz="600" dirty="0"/>
          </a:p>
        </p:txBody>
      </p:sp>
      <p:sp>
        <p:nvSpPr>
          <p:cNvPr id="108" name="Shape 106"/>
          <p:cNvSpPr/>
          <p:nvPr/>
        </p:nvSpPr>
        <p:spPr>
          <a:xfrm>
            <a:off x="1850746" y="5520690"/>
            <a:ext cx="1512418" cy="761101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9" name="Text 107"/>
          <p:cNvSpPr/>
          <p:nvPr/>
        </p:nvSpPr>
        <p:spPr>
          <a:xfrm>
            <a:off x="1914754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#3A3A3C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1850746" y="6281791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8383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1" name="Text 109"/>
          <p:cNvSpPr/>
          <p:nvPr/>
        </p:nvSpPr>
        <p:spPr>
          <a:xfrm>
            <a:off x="1914754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5 Dark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1914754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83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58, 58, 60</a:t>
            </a:r>
            <a:endParaRPr lang="en-US" sz="600" dirty="0"/>
          </a:p>
        </p:txBody>
      </p:sp>
      <p:sp>
        <p:nvSpPr>
          <p:cNvPr id="113" name="Text 111"/>
          <p:cNvSpPr/>
          <p:nvPr/>
        </p:nvSpPr>
        <p:spPr>
          <a:xfrm>
            <a:off x="1914754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Fills · Cards dark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3427171" y="5520690"/>
            <a:ext cx="1512418" cy="761101"/>
          </a:xfrm>
          <a:prstGeom prst="rect">
            <a:avLst/>
          </a:prstGeom>
          <a:solidFill>
            <a:srgbClr val="48484A"/>
          </a:solidFill>
          <a:ln w="12700">
            <a:solidFill>
              <a:srgbClr val="48484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5" name="Text 113"/>
          <p:cNvSpPr/>
          <p:nvPr/>
        </p:nvSpPr>
        <p:spPr>
          <a:xfrm>
            <a:off x="3491179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#48484A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3427171" y="6281791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8383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7" name="Text 115"/>
          <p:cNvSpPr/>
          <p:nvPr/>
        </p:nvSpPr>
        <p:spPr>
          <a:xfrm>
            <a:off x="3491179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4 Dark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3491179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83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72, 72, 74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3491179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Fills terciarios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5003597" y="5520690"/>
            <a:ext cx="1512418" cy="761101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1" name="Text 119"/>
          <p:cNvSpPr/>
          <p:nvPr/>
        </p:nvSpPr>
        <p:spPr>
          <a:xfrm>
            <a:off x="5067605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#8E8E93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5003597" y="6281791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8383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3" name="Text 121"/>
          <p:cNvSpPr/>
          <p:nvPr/>
        </p:nvSpPr>
        <p:spPr>
          <a:xfrm>
            <a:off x="5067605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2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5067605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83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142, 142, 147</a:t>
            </a:r>
            <a:endParaRPr lang="en-US" sz="600" dirty="0"/>
          </a:p>
        </p:txBody>
      </p:sp>
      <p:sp>
        <p:nvSpPr>
          <p:cNvPr id="125" name="Text 123"/>
          <p:cNvSpPr/>
          <p:nvPr/>
        </p:nvSpPr>
        <p:spPr>
          <a:xfrm>
            <a:off x="5067605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terciario · Labels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6580022" y="5520690"/>
            <a:ext cx="1512418" cy="761101"/>
          </a:xfrm>
          <a:prstGeom prst="rect">
            <a:avLst/>
          </a:prstGeom>
          <a:solidFill>
            <a:srgbClr val="EBEBF5"/>
          </a:solidFill>
          <a:ln w="12700">
            <a:solidFill>
              <a:srgbClr val="EBEBF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7" name="Text 125"/>
          <p:cNvSpPr/>
          <p:nvPr/>
        </p:nvSpPr>
        <p:spPr>
          <a:xfrm>
            <a:off x="6644030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#EBEBF5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6580022" y="6281791"/>
            <a:ext cx="1512418" cy="466481"/>
          </a:xfrm>
          <a:prstGeom prst="rect">
            <a:avLst/>
          </a:prstGeom>
          <a:solidFill>
            <a:srgbClr val="252525"/>
          </a:solidFill>
          <a:ln w="12700">
            <a:solidFill>
              <a:srgbClr val="38383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9" name="Text 127"/>
          <p:cNvSpPr/>
          <p:nvPr/>
        </p:nvSpPr>
        <p:spPr>
          <a:xfrm>
            <a:off x="6644030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Dark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6644030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83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235, 235, 245</a:t>
            </a:r>
            <a:endParaRPr lang="en-US" sz="600" dirty="0"/>
          </a:p>
        </p:txBody>
      </p:sp>
      <p:sp>
        <p:nvSpPr>
          <p:cNvPr id="131" name="Text 129"/>
          <p:cNvSpPr/>
          <p:nvPr/>
        </p:nvSpPr>
        <p:spPr>
          <a:xfrm>
            <a:off x="6644030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principal dark mode</a:t>
            </a:r>
            <a:endParaRPr lang="en-US" sz="600" dirty="0"/>
          </a:p>
        </p:txBody>
      </p:sp>
      <p:sp>
        <p:nvSpPr>
          <p:cNvPr id="132" name="Text 130"/>
          <p:cNvSpPr/>
          <p:nvPr/>
        </p:nvSpPr>
        <p:spPr>
          <a:xfrm>
            <a:off x="8275320" y="914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CONFIGURACIÓN MAESTRA</a:t>
            </a:r>
            <a:endParaRPr lang="en-US" sz="1200" dirty="0"/>
          </a:p>
        </p:txBody>
      </p:sp>
      <p:sp>
        <p:nvSpPr>
          <p:cNvPr id="133" name="Text 131"/>
          <p:cNvSpPr/>
          <p:nvPr/>
        </p:nvSpPr>
        <p:spPr>
          <a:xfrm>
            <a:off x="8275320" y="34747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83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por función · Empresa Constructora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8275320" y="530352"/>
            <a:ext cx="3703320" cy="18288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5" name="Shape 133"/>
          <p:cNvSpPr/>
          <p:nvPr/>
        </p:nvSpPr>
        <p:spPr>
          <a:xfrm>
            <a:off x="8275320" y="594360"/>
            <a:ext cx="3703320" cy="477012"/>
          </a:xfrm>
          <a:prstGeom prst="rect">
            <a:avLst/>
          </a:prstGeom>
          <a:solidFill>
            <a:srgbClr val="1A1A1C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6" name="Shape 134"/>
          <p:cNvSpPr/>
          <p:nvPr/>
        </p:nvSpPr>
        <p:spPr>
          <a:xfrm>
            <a:off x="8275320" y="612648"/>
            <a:ext cx="256032" cy="440436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7" name="Text 135"/>
          <p:cNvSpPr/>
          <p:nvPr/>
        </p:nvSpPr>
        <p:spPr>
          <a:xfrm>
            <a:off x="8604504" y="621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dark mode</a:t>
            </a:r>
            <a:endParaRPr lang="en-US" sz="750" dirty="0"/>
          </a:p>
        </p:txBody>
      </p:sp>
      <p:sp>
        <p:nvSpPr>
          <p:cNvPr id="138" name="Text 136"/>
          <p:cNvSpPr/>
          <p:nvPr/>
        </p:nvSpPr>
        <p:spPr>
          <a:xfrm>
            <a:off x="8604504" y="846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#1C1C1E  ·  System Black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8275320" y="1089660"/>
            <a:ext cx="3703320" cy="477012"/>
          </a:xfrm>
          <a:prstGeom prst="rect">
            <a:avLst/>
          </a:prstGeom>
          <a:solidFill>
            <a:srgbClr val="252525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0" name="Shape 138"/>
          <p:cNvSpPr/>
          <p:nvPr/>
        </p:nvSpPr>
        <p:spPr>
          <a:xfrm>
            <a:off x="8275320" y="1107948"/>
            <a:ext cx="256032" cy="440436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1" name="Text 139"/>
          <p:cNvSpPr/>
          <p:nvPr/>
        </p:nvSpPr>
        <p:spPr>
          <a:xfrm>
            <a:off x="8604504" y="1117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light mode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8604504" y="1342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#F2F2F7  ·  System White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8275320" y="1584960"/>
            <a:ext cx="3703320" cy="477012"/>
          </a:xfrm>
          <a:prstGeom prst="rect">
            <a:avLst/>
          </a:prstGeom>
          <a:solidFill>
            <a:srgbClr val="1A1A1C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4" name="Shape 142"/>
          <p:cNvSpPr/>
          <p:nvPr/>
        </p:nvSpPr>
        <p:spPr>
          <a:xfrm>
            <a:off x="8275320" y="1603248"/>
            <a:ext cx="256032" cy="440436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5" name="Text 143"/>
          <p:cNvSpPr/>
          <p:nvPr/>
        </p:nvSpPr>
        <p:spPr>
          <a:xfrm>
            <a:off x="8604504" y="16123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primario interactivo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8604504" y="18375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#007AFF  ·  Blue System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8275320" y="2080260"/>
            <a:ext cx="3703320" cy="477012"/>
          </a:xfrm>
          <a:prstGeom prst="rect">
            <a:avLst/>
          </a:prstGeom>
          <a:solidFill>
            <a:srgbClr val="252525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8" name="Shape 146"/>
          <p:cNvSpPr/>
          <p:nvPr/>
        </p:nvSpPr>
        <p:spPr>
          <a:xfrm>
            <a:off x="8275320" y="2098548"/>
            <a:ext cx="256032" cy="440436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9" name="Text 147"/>
          <p:cNvSpPr/>
          <p:nvPr/>
        </p:nvSpPr>
        <p:spPr>
          <a:xfrm>
            <a:off x="8604504" y="21076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/ completado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8604504" y="23328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#34C759  ·  Green Light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8275320" y="2575560"/>
            <a:ext cx="3703320" cy="477012"/>
          </a:xfrm>
          <a:prstGeom prst="rect">
            <a:avLst/>
          </a:prstGeom>
          <a:solidFill>
            <a:srgbClr val="1A1A1C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2" name="Shape 150"/>
          <p:cNvSpPr/>
          <p:nvPr/>
        </p:nvSpPr>
        <p:spPr>
          <a:xfrm>
            <a:off x="8275320" y="2593848"/>
            <a:ext cx="256032" cy="440436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3" name="Text 151"/>
          <p:cNvSpPr/>
          <p:nvPr/>
        </p:nvSpPr>
        <p:spPr>
          <a:xfrm>
            <a:off x="8604504" y="26029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/ destructivo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8604504" y="28281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#FF3B30  ·  Red Light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8275320" y="3070860"/>
            <a:ext cx="3703320" cy="477012"/>
          </a:xfrm>
          <a:prstGeom prst="rect">
            <a:avLst/>
          </a:prstGeom>
          <a:solidFill>
            <a:srgbClr val="252525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6" name="Shape 154"/>
          <p:cNvSpPr/>
          <p:nvPr/>
        </p:nvSpPr>
        <p:spPr>
          <a:xfrm>
            <a:off x="8275320" y="3089148"/>
            <a:ext cx="256032" cy="440436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7" name="Text 155"/>
          <p:cNvSpPr/>
          <p:nvPr/>
        </p:nvSpPr>
        <p:spPr>
          <a:xfrm>
            <a:off x="8604504" y="30982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/ precaución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8604504" y="33234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#FF9500  ·  Orange Light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8275320" y="3566160"/>
            <a:ext cx="3703320" cy="477012"/>
          </a:xfrm>
          <a:prstGeom prst="rect">
            <a:avLst/>
          </a:prstGeom>
          <a:solidFill>
            <a:srgbClr val="1A1A1C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0" name="Shape 158"/>
          <p:cNvSpPr/>
          <p:nvPr/>
        </p:nvSpPr>
        <p:spPr>
          <a:xfrm>
            <a:off x="8275320" y="3584448"/>
            <a:ext cx="256032" cy="440436"/>
          </a:xfrm>
          <a:prstGeom prst="rect">
            <a:avLst/>
          </a:prstGeom>
          <a:solidFill>
            <a:srgbClr val="EBEBF5"/>
          </a:solidFill>
          <a:ln w="12700">
            <a:solidFill>
              <a:srgbClr val="EBEBF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1" name="Text 159"/>
          <p:cNvSpPr/>
          <p:nvPr/>
        </p:nvSpPr>
        <p:spPr>
          <a:xfrm>
            <a:off x="8604504" y="35935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principal dark</a:t>
            </a:r>
            <a:endParaRPr lang="en-US" sz="750" dirty="0"/>
          </a:p>
        </p:txBody>
      </p:sp>
      <p:sp>
        <p:nvSpPr>
          <p:cNvPr id="162" name="Text 160"/>
          <p:cNvSpPr/>
          <p:nvPr/>
        </p:nvSpPr>
        <p:spPr>
          <a:xfrm>
            <a:off x="8604504" y="38187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#EBEBF5  ·  Label Dark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8275320" y="4061460"/>
            <a:ext cx="3703320" cy="477012"/>
          </a:xfrm>
          <a:prstGeom prst="rect">
            <a:avLst/>
          </a:prstGeom>
          <a:solidFill>
            <a:srgbClr val="252525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4" name="Shape 162"/>
          <p:cNvSpPr/>
          <p:nvPr/>
        </p:nvSpPr>
        <p:spPr>
          <a:xfrm>
            <a:off x="8275320" y="4079748"/>
            <a:ext cx="256032" cy="440436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5" name="Text 163"/>
          <p:cNvSpPr/>
          <p:nvPr/>
        </p:nvSpPr>
        <p:spPr>
          <a:xfrm>
            <a:off x="8604504" y="40888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</a:t>
            </a:r>
            <a:endParaRPr lang="en-US" sz="750" dirty="0"/>
          </a:p>
        </p:txBody>
      </p:sp>
      <p:sp>
        <p:nvSpPr>
          <p:cNvPr id="166" name="Text 164"/>
          <p:cNvSpPr/>
          <p:nvPr/>
        </p:nvSpPr>
        <p:spPr>
          <a:xfrm>
            <a:off x="8604504" y="43140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#8E8E93  ·  Gray 2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8275320" y="4556760"/>
            <a:ext cx="3703320" cy="477012"/>
          </a:xfrm>
          <a:prstGeom prst="rect">
            <a:avLst/>
          </a:prstGeom>
          <a:solidFill>
            <a:srgbClr val="1A1A1C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8" name="Shape 166"/>
          <p:cNvSpPr/>
          <p:nvPr/>
        </p:nvSpPr>
        <p:spPr>
          <a:xfrm>
            <a:off x="8275320" y="4575048"/>
            <a:ext cx="256032" cy="440436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9" name="Text 167"/>
          <p:cNvSpPr/>
          <p:nvPr/>
        </p:nvSpPr>
        <p:spPr>
          <a:xfrm>
            <a:off x="8604504" y="45841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/ fills dark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8604504" y="48093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#3A3A3C  ·  Gray 5 Dark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8275320" y="5052060"/>
            <a:ext cx="3703320" cy="477012"/>
          </a:xfrm>
          <a:prstGeom prst="rect">
            <a:avLst/>
          </a:prstGeom>
          <a:solidFill>
            <a:srgbClr val="252525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2" name="Shape 170"/>
          <p:cNvSpPr/>
          <p:nvPr/>
        </p:nvSpPr>
        <p:spPr>
          <a:xfrm>
            <a:off x="8275320" y="5070348"/>
            <a:ext cx="256032" cy="440436"/>
          </a:xfrm>
          <a:prstGeom prst="rect">
            <a:avLst/>
          </a:prstGeom>
          <a:solidFill>
            <a:srgbClr val="AF52DE"/>
          </a:solidFill>
          <a:ln w="12700">
            <a:solidFill>
              <a:srgbClr val="AF52D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3" name="Text 171"/>
          <p:cNvSpPr/>
          <p:nvPr/>
        </p:nvSpPr>
        <p:spPr>
          <a:xfrm>
            <a:off x="8604504" y="50794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/ especial</a:t>
            </a:r>
            <a:endParaRPr lang="en-US" sz="750" dirty="0"/>
          </a:p>
        </p:txBody>
      </p:sp>
      <p:sp>
        <p:nvSpPr>
          <p:cNvPr id="174" name="Text 172"/>
          <p:cNvSpPr/>
          <p:nvPr/>
        </p:nvSpPr>
        <p:spPr>
          <a:xfrm>
            <a:off x="8604504" y="53046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#AF52DE  ·  Purple Light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8275320" y="5547360"/>
            <a:ext cx="3703320" cy="477012"/>
          </a:xfrm>
          <a:prstGeom prst="rect">
            <a:avLst/>
          </a:prstGeom>
          <a:solidFill>
            <a:srgbClr val="1A1A1C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6" name="Shape 174"/>
          <p:cNvSpPr/>
          <p:nvPr/>
        </p:nvSpPr>
        <p:spPr>
          <a:xfrm>
            <a:off x="8275320" y="5565648"/>
            <a:ext cx="256032" cy="440436"/>
          </a:xfrm>
          <a:prstGeom prst="rect">
            <a:avLst/>
          </a:prstGeom>
          <a:solidFill>
            <a:srgbClr val="64D2FF"/>
          </a:solidFill>
          <a:ln w="12700">
            <a:solidFill>
              <a:srgbClr val="64D2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7" name="Text 175"/>
          <p:cNvSpPr/>
          <p:nvPr/>
        </p:nvSpPr>
        <p:spPr>
          <a:xfrm>
            <a:off x="8604504" y="5574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especial</a:t>
            </a:r>
            <a:endParaRPr lang="en-US" sz="750" dirty="0"/>
          </a:p>
        </p:txBody>
      </p:sp>
      <p:sp>
        <p:nvSpPr>
          <p:cNvPr id="178" name="Text 176"/>
          <p:cNvSpPr/>
          <p:nvPr/>
        </p:nvSpPr>
        <p:spPr>
          <a:xfrm>
            <a:off x="8604504" y="5799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#64D2FF  ·  Cyan Dark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8275320" y="6042660"/>
            <a:ext cx="3703320" cy="477012"/>
          </a:xfrm>
          <a:prstGeom prst="rect">
            <a:avLst/>
          </a:prstGeom>
          <a:solidFill>
            <a:srgbClr val="252525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0" name="Shape 178"/>
          <p:cNvSpPr/>
          <p:nvPr/>
        </p:nvSpPr>
        <p:spPr>
          <a:xfrm>
            <a:off x="8275320" y="6060948"/>
            <a:ext cx="256032" cy="440436"/>
          </a:xfrm>
          <a:prstGeom prst="rect">
            <a:avLst/>
          </a:prstGeom>
          <a:solidFill>
            <a:srgbClr val="48484A"/>
          </a:solidFill>
          <a:ln w="12700">
            <a:solidFill>
              <a:srgbClr val="48484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1" name="Text 179"/>
          <p:cNvSpPr/>
          <p:nvPr/>
        </p:nvSpPr>
        <p:spPr>
          <a:xfrm>
            <a:off x="8604504" y="6070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Bordes / separadores</a:t>
            </a:r>
            <a:endParaRPr lang="en-US" sz="750" dirty="0"/>
          </a:p>
        </p:txBody>
      </p:sp>
      <p:sp>
        <p:nvSpPr>
          <p:cNvPr id="182" name="Text 180"/>
          <p:cNvSpPr/>
          <p:nvPr/>
        </p:nvSpPr>
        <p:spPr>
          <a:xfrm>
            <a:off x="8604504" y="6295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#48484A  ·  Gray 4 Dark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8275320" y="6574536"/>
            <a:ext cx="3703320" cy="256032"/>
          </a:xfrm>
          <a:prstGeom prst="rect">
            <a:avLst/>
          </a:prstGeom>
          <a:solidFill>
            <a:srgbClr val="1A1A1C"/>
          </a:solidFill>
          <a:ln w="12700">
            <a:solidFill>
              <a:srgbClr val="007A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4" name="Text 182"/>
          <p:cNvSpPr/>
          <p:nvPr/>
        </p:nvSpPr>
        <p:spPr>
          <a:xfrm>
            <a:off x="8366760" y="661111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Apple Blue #007AFF = confianza digital. SF Symbols + spacing = claridad absoluta.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1A1A1C"/>
          </a:solidFill>
          <a:ln w="12700">
            <a:solidFill>
              <a:srgbClr val="1A1A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6" name="Text 184"/>
          <p:cNvSpPr/>
          <p:nvPr/>
        </p:nvSpPr>
        <p:spPr>
          <a:xfrm>
            <a:off x="274320" y="6793992"/>
            <a:ext cx="914400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383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 ·  PALETA OFICIAL  ·  developer.apple.com/design · Apple HIG · SF Design System</a:t>
            </a:r>
            <a:endParaRPr lang="en-US" sz="550" dirty="0"/>
          </a:p>
        </p:txBody>
      </p:sp>
      <p:sp>
        <p:nvSpPr>
          <p:cNvPr id="187" name="Text 185"/>
          <p:cNvSpPr/>
          <p:nvPr/>
        </p:nvSpPr>
        <p:spPr>
          <a:xfrm>
            <a:off x="0" y="6793992"/>
            <a:ext cx="119786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383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COLORES  ·  4 SISTEMAS  ·  1 LÁMINA</a:t>
            </a:r>
            <a:endParaRPr lang="en-US" sz="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3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990F3D"/>
          </a:solidFill>
          <a:ln w="12700">
            <a:solidFill>
              <a:srgbClr val="990F3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1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Times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A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Analytics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4A4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COLORES OFICIAL  ·  Data Journalism · Financial Intelligence · Global News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4320" y="795528"/>
            <a:ext cx="7818120" cy="18288"/>
          </a:xfrm>
          <a:prstGeom prst="rect">
            <a:avLst/>
          </a:prstGeom>
          <a:solidFill>
            <a:srgbClr val="4A4542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8183880" y="73152"/>
            <a:ext cx="18288" cy="6720840"/>
          </a:xfrm>
          <a:prstGeom prst="rect">
            <a:avLst/>
          </a:prstGeom>
          <a:solidFill>
            <a:srgbClr val="4A4542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7818120" cy="201168"/>
          </a:xfrm>
          <a:prstGeom prst="rect">
            <a:avLst/>
          </a:prstGeom>
          <a:solidFill>
            <a:srgbClr val="2C2A2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>
            <a:off x="274320" y="841248"/>
            <a:ext cx="36576" cy="201168"/>
          </a:xfrm>
          <a:prstGeom prst="rect">
            <a:avLst/>
          </a:prstGeom>
          <a:solidFill>
            <a:srgbClr val="990F3D"/>
          </a:solidFill>
          <a:ln w="12700">
            <a:solidFill>
              <a:srgbClr val="990F3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65760" y="8412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PRINCIPAL FT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" y="84124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4A4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ft.com · FT Brand Guidelines · Visual Journalism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74320" y="1042416"/>
            <a:ext cx="2563368" cy="761101"/>
          </a:xfrm>
          <a:prstGeom prst="rect">
            <a:avLst/>
          </a:prstGeom>
          <a:solidFill>
            <a:srgbClr val="FFF1E5"/>
          </a:solidFill>
          <a:ln w="12700">
            <a:solidFill>
              <a:srgbClr val="FFF1E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338328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#FFF1E5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03517"/>
            <a:ext cx="2563368" cy="466481"/>
          </a:xfrm>
          <a:prstGeom prst="rect">
            <a:avLst/>
          </a:prstGeom>
          <a:solidFill>
            <a:srgbClr val="3D3A3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338328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 Pink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8328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4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241, 229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38328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8A4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fondo icónico FT — identidad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901696" y="1042416"/>
            <a:ext cx="2563368" cy="761101"/>
          </a:xfrm>
          <a:prstGeom prst="rect">
            <a:avLst/>
          </a:prstGeom>
          <a:solidFill>
            <a:srgbClr val="990F3D"/>
          </a:solidFill>
          <a:ln w="12700">
            <a:solidFill>
              <a:srgbClr val="990F3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2965704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#990F3D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01696" y="1803517"/>
            <a:ext cx="2563368" cy="466481"/>
          </a:xfrm>
          <a:prstGeom prst="rect">
            <a:avLst/>
          </a:prstGeom>
          <a:solidFill>
            <a:srgbClr val="3D3A3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2965704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 Claret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965704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4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153, 15, 61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965704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8A4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principal · Logos · Títulos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529072" y="1042416"/>
            <a:ext cx="2563368" cy="761101"/>
          </a:xfrm>
          <a:prstGeom prst="rect">
            <a:avLst/>
          </a:prstGeom>
          <a:solidFill>
            <a:srgbClr val="33302E"/>
          </a:solidFill>
          <a:ln w="12700">
            <a:solidFill>
              <a:srgbClr val="3330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5593080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#33302E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29072" y="1803517"/>
            <a:ext cx="2563368" cy="466481"/>
          </a:xfrm>
          <a:prstGeom prst="rect">
            <a:avLst/>
          </a:prstGeom>
          <a:solidFill>
            <a:srgbClr val="3D3A3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Text 25"/>
          <p:cNvSpPr/>
          <p:nvPr/>
        </p:nvSpPr>
        <p:spPr>
          <a:xfrm>
            <a:off x="5593080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Slate Black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593080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4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51, 48, 46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593080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8A4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principal · Fondo dark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74320" y="2334006"/>
            <a:ext cx="7818120" cy="201168"/>
          </a:xfrm>
          <a:prstGeom prst="rect">
            <a:avLst/>
          </a:prstGeom>
          <a:solidFill>
            <a:srgbClr val="2C2A2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Shape 29"/>
          <p:cNvSpPr/>
          <p:nvPr/>
        </p:nvSpPr>
        <p:spPr>
          <a:xfrm>
            <a:off x="274320" y="2334006"/>
            <a:ext cx="36576" cy="201168"/>
          </a:xfrm>
          <a:prstGeom prst="rect">
            <a:avLst/>
          </a:prstGeom>
          <a:solidFill>
            <a:srgbClr val="F2AF26"/>
          </a:solidFill>
          <a:ln w="12700">
            <a:solidFill>
              <a:srgbClr val="F2AF2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365760" y="233400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2A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COLORES EDITORIALES FT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" y="2334006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4A4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FT Editorial · Visual Vocabulary · News Colors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74320" y="2535174"/>
            <a:ext cx="1512418" cy="761101"/>
          </a:xfrm>
          <a:prstGeom prst="rect">
            <a:avLst/>
          </a:prstGeom>
          <a:solidFill>
            <a:srgbClr val="0F5499"/>
          </a:solidFill>
          <a:ln w="12700">
            <a:solidFill>
              <a:srgbClr val="0F549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Text 33"/>
          <p:cNvSpPr/>
          <p:nvPr/>
        </p:nvSpPr>
        <p:spPr>
          <a:xfrm>
            <a:off x="338328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#0F5499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296275"/>
            <a:ext cx="1512418" cy="466481"/>
          </a:xfrm>
          <a:prstGeom prst="rect">
            <a:avLst/>
          </a:prstGeom>
          <a:solidFill>
            <a:srgbClr val="3D3A3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/>
          <p:nvPr/>
        </p:nvSpPr>
        <p:spPr>
          <a:xfrm>
            <a:off x="338328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Oxford Blue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8328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4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15, 84, 153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38328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8A4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· Datos · Info corporativa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850746" y="2535174"/>
            <a:ext cx="1512418" cy="761101"/>
          </a:xfrm>
          <a:prstGeom prst="rect">
            <a:avLst/>
          </a:prstGeom>
          <a:solidFill>
            <a:srgbClr val="F2AF26"/>
          </a:solidFill>
          <a:ln w="12700">
            <a:solidFill>
              <a:srgbClr val="F2AF2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1" name="Text 39"/>
          <p:cNvSpPr/>
          <p:nvPr/>
        </p:nvSpPr>
        <p:spPr>
          <a:xfrm>
            <a:off x="1914754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#F2AF26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50746" y="3296275"/>
            <a:ext cx="1512418" cy="466481"/>
          </a:xfrm>
          <a:prstGeom prst="rect">
            <a:avLst/>
          </a:prstGeom>
          <a:solidFill>
            <a:srgbClr val="3D3A3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3" name="Text 41"/>
          <p:cNvSpPr/>
          <p:nvPr/>
        </p:nvSpPr>
        <p:spPr>
          <a:xfrm>
            <a:off x="1914754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Saffron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914754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4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242, 175, 38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914754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8A4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económicos · KPIs · Destacados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427171" y="2535174"/>
            <a:ext cx="1512418" cy="761101"/>
          </a:xfrm>
          <a:prstGeom prst="rect">
            <a:avLst/>
          </a:prstGeom>
          <a:solidFill>
            <a:srgbClr val="00994D"/>
          </a:solidFill>
          <a:ln w="12700">
            <a:solidFill>
              <a:srgbClr val="00994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7" name="Text 45"/>
          <p:cNvSpPr/>
          <p:nvPr/>
        </p:nvSpPr>
        <p:spPr>
          <a:xfrm>
            <a:off x="3491179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#00994D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27171" y="3296275"/>
            <a:ext cx="1512418" cy="466481"/>
          </a:xfrm>
          <a:prstGeom prst="rect">
            <a:avLst/>
          </a:prstGeom>
          <a:solidFill>
            <a:srgbClr val="3D3A3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9" name="Text 47"/>
          <p:cNvSpPr/>
          <p:nvPr/>
        </p:nvSpPr>
        <p:spPr>
          <a:xfrm>
            <a:off x="3491179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 Green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491179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4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153, 77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491179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8A4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Positivo · Mercado up · Avance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5003597" y="2535174"/>
            <a:ext cx="1512418" cy="761101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3" name="Text 51"/>
          <p:cNvSpPr/>
          <p:nvPr/>
        </p:nvSpPr>
        <p:spPr>
          <a:xfrm>
            <a:off x="5067605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#CC0000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003597" y="3296275"/>
            <a:ext cx="1512418" cy="466481"/>
          </a:xfrm>
          <a:prstGeom prst="rect">
            <a:avLst/>
          </a:prstGeom>
          <a:solidFill>
            <a:srgbClr val="3D3A3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5" name="Text 53"/>
          <p:cNvSpPr/>
          <p:nvPr/>
        </p:nvSpPr>
        <p:spPr>
          <a:xfrm>
            <a:off x="5067605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 Red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067605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4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204, 0, 0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067605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8A4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down · Negativo · Alerta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6580022" y="2535174"/>
            <a:ext cx="1512418" cy="761101"/>
          </a:xfrm>
          <a:prstGeom prst="rect">
            <a:avLst/>
          </a:prstGeom>
          <a:solidFill>
            <a:srgbClr val="593380"/>
          </a:solidFill>
          <a:ln w="12700">
            <a:solidFill>
              <a:srgbClr val="5933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9" name="Text 57"/>
          <p:cNvSpPr/>
          <p:nvPr/>
        </p:nvSpPr>
        <p:spPr>
          <a:xfrm>
            <a:off x="6644030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#593380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580022" y="3296275"/>
            <a:ext cx="1512418" cy="466481"/>
          </a:xfrm>
          <a:prstGeom prst="rect">
            <a:avLst/>
          </a:prstGeom>
          <a:solidFill>
            <a:srgbClr val="3D3A3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1" name="Text 59"/>
          <p:cNvSpPr/>
          <p:nvPr/>
        </p:nvSpPr>
        <p:spPr>
          <a:xfrm>
            <a:off x="6644030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Opinion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644030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4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89, 51, 128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644030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8A4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Opinión · Análisis · Editorial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274320" y="3826764"/>
            <a:ext cx="7818120" cy="201168"/>
          </a:xfrm>
          <a:prstGeom prst="rect">
            <a:avLst/>
          </a:prstGeom>
          <a:solidFill>
            <a:srgbClr val="2C2A2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5" name="Shape 63"/>
          <p:cNvSpPr/>
          <p:nvPr/>
        </p:nvSpPr>
        <p:spPr>
          <a:xfrm>
            <a:off x="274320" y="3826764"/>
            <a:ext cx="36576" cy="201168"/>
          </a:xfrm>
          <a:prstGeom prst="rect">
            <a:avLst/>
          </a:prstGeom>
          <a:solidFill>
            <a:srgbClr val="7EBFC1"/>
          </a:solidFill>
          <a:ln w="12700">
            <a:solidFill>
              <a:srgbClr val="7EB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6" name="Text 64"/>
          <p:cNvSpPr/>
          <p:nvPr/>
        </p:nvSpPr>
        <p:spPr>
          <a:xfrm>
            <a:off x="365760" y="38267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7EB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DATAVIZ FT — SEQUENTIAL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74320" y="382676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4A4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FT Visual Vocabulary · Color for Charts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274320" y="4027932"/>
            <a:ext cx="1512418" cy="761101"/>
          </a:xfrm>
          <a:prstGeom prst="rect">
            <a:avLst/>
          </a:prstGeom>
          <a:solidFill>
            <a:srgbClr val="004B7F"/>
          </a:solidFill>
          <a:ln w="12700">
            <a:solidFill>
              <a:srgbClr val="004B7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9" name="Text 67"/>
          <p:cNvSpPr/>
          <p:nvPr/>
        </p:nvSpPr>
        <p:spPr>
          <a:xfrm>
            <a:off x="338328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#004B7F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" y="4789033"/>
            <a:ext cx="1512418" cy="466481"/>
          </a:xfrm>
          <a:prstGeom prst="rect">
            <a:avLst/>
          </a:prstGeom>
          <a:solidFill>
            <a:srgbClr val="3D3A3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1" name="Text 69"/>
          <p:cNvSpPr/>
          <p:nvPr/>
        </p:nvSpPr>
        <p:spPr>
          <a:xfrm>
            <a:off x="338328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900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38328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4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0, 75, 127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338328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8A4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oscuro · Máximo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1850746" y="4027932"/>
            <a:ext cx="1512418" cy="761101"/>
          </a:xfrm>
          <a:prstGeom prst="rect">
            <a:avLst/>
          </a:prstGeom>
          <a:solidFill>
            <a:srgbClr val="0F5499"/>
          </a:solidFill>
          <a:ln w="12700">
            <a:solidFill>
              <a:srgbClr val="0F549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5" name="Text 73"/>
          <p:cNvSpPr/>
          <p:nvPr/>
        </p:nvSpPr>
        <p:spPr>
          <a:xfrm>
            <a:off x="1914754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#0F5499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850746" y="4789033"/>
            <a:ext cx="1512418" cy="466481"/>
          </a:xfrm>
          <a:prstGeom prst="rect">
            <a:avLst/>
          </a:prstGeom>
          <a:solidFill>
            <a:srgbClr val="3D3A3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7" name="Text 75"/>
          <p:cNvSpPr/>
          <p:nvPr/>
        </p:nvSpPr>
        <p:spPr>
          <a:xfrm>
            <a:off x="1914754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Mid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914754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4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15, 84, 153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1914754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8A4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medio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3427171" y="4027932"/>
            <a:ext cx="1512418" cy="761101"/>
          </a:xfrm>
          <a:prstGeom prst="rect">
            <a:avLst/>
          </a:prstGeom>
          <a:solidFill>
            <a:srgbClr val="3D9FC4"/>
          </a:solidFill>
          <a:ln w="12700">
            <a:solidFill>
              <a:srgbClr val="3D9FC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1" name="Text 79"/>
          <p:cNvSpPr/>
          <p:nvPr/>
        </p:nvSpPr>
        <p:spPr>
          <a:xfrm>
            <a:off x="3491179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#3D9FC4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427171" y="4789033"/>
            <a:ext cx="1512418" cy="466481"/>
          </a:xfrm>
          <a:prstGeom prst="rect">
            <a:avLst/>
          </a:prstGeom>
          <a:solidFill>
            <a:srgbClr val="3D3A3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3" name="Text 81"/>
          <p:cNvSpPr/>
          <p:nvPr/>
        </p:nvSpPr>
        <p:spPr>
          <a:xfrm>
            <a:off x="3491179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Med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3491179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4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61, 159, 196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3491179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8A4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serie principal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5003597" y="4027932"/>
            <a:ext cx="1512418" cy="761101"/>
          </a:xfrm>
          <a:prstGeom prst="rect">
            <a:avLst/>
          </a:prstGeom>
          <a:solidFill>
            <a:srgbClr val="7EBFC1"/>
          </a:solidFill>
          <a:ln w="12700">
            <a:solidFill>
              <a:srgbClr val="7EBFC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7" name="Text 85"/>
          <p:cNvSpPr/>
          <p:nvPr/>
        </p:nvSpPr>
        <p:spPr>
          <a:xfrm>
            <a:off x="5067605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#7EBFC1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003597" y="4789033"/>
            <a:ext cx="1512418" cy="466481"/>
          </a:xfrm>
          <a:prstGeom prst="rect">
            <a:avLst/>
          </a:prstGeom>
          <a:solidFill>
            <a:srgbClr val="3D3A3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9" name="Text 87"/>
          <p:cNvSpPr/>
          <p:nvPr/>
        </p:nvSpPr>
        <p:spPr>
          <a:xfrm>
            <a:off x="5067605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067605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4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126, 191, 193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5067605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8A4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secundario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6580022" y="4027932"/>
            <a:ext cx="1512418" cy="761101"/>
          </a:xfrm>
          <a:prstGeom prst="rect">
            <a:avLst/>
          </a:prstGeom>
          <a:solidFill>
            <a:srgbClr val="B8D8E0"/>
          </a:solidFill>
          <a:ln w="12700">
            <a:solidFill>
              <a:srgbClr val="B8D8E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3" name="Text 91"/>
          <p:cNvSpPr/>
          <p:nvPr/>
        </p:nvSpPr>
        <p:spPr>
          <a:xfrm>
            <a:off x="6644030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#B8D8E0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580022" y="4789033"/>
            <a:ext cx="1512418" cy="466481"/>
          </a:xfrm>
          <a:prstGeom prst="rect">
            <a:avLst/>
          </a:prstGeom>
          <a:solidFill>
            <a:srgbClr val="3D3A3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5" name="Text 93"/>
          <p:cNvSpPr/>
          <p:nvPr/>
        </p:nvSpPr>
        <p:spPr>
          <a:xfrm>
            <a:off x="6644030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 Blue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6644030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4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184, 216, 224</a:t>
            </a:r>
            <a:endParaRPr lang="en-US" sz="600" dirty="0"/>
          </a:p>
        </p:txBody>
      </p:sp>
      <p:sp>
        <p:nvSpPr>
          <p:cNvPr id="97" name="Text 95"/>
          <p:cNvSpPr/>
          <p:nvPr/>
        </p:nvSpPr>
        <p:spPr>
          <a:xfrm>
            <a:off x="6644030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8A4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mínimo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274320" y="5319522"/>
            <a:ext cx="7818120" cy="201168"/>
          </a:xfrm>
          <a:prstGeom prst="rect">
            <a:avLst/>
          </a:prstGeom>
          <a:solidFill>
            <a:srgbClr val="2C2A2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9" name="Shape 97"/>
          <p:cNvSpPr/>
          <p:nvPr/>
        </p:nvSpPr>
        <p:spPr>
          <a:xfrm>
            <a:off x="274320" y="5319522"/>
            <a:ext cx="36576" cy="201168"/>
          </a:xfrm>
          <a:prstGeom prst="rect">
            <a:avLst/>
          </a:prstGeom>
          <a:solidFill>
            <a:srgbClr val="A8A49D"/>
          </a:solidFill>
          <a:ln w="12700">
            <a:solidFill>
              <a:srgbClr val="A8A49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0" name="Text 98"/>
          <p:cNvSpPr/>
          <p:nvPr/>
        </p:nvSpPr>
        <p:spPr>
          <a:xfrm>
            <a:off x="365760" y="531952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A8A4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NEUTROS FT — PAPEL &amp; GRISES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274320" y="5319522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4A4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FT Paper System · Typography Colors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274320" y="5520690"/>
            <a:ext cx="1512418" cy="761101"/>
          </a:xfrm>
          <a:prstGeom prst="rect">
            <a:avLst/>
          </a:prstGeom>
          <a:solidFill>
            <a:srgbClr val="F2E9DC"/>
          </a:solidFill>
          <a:ln w="12700">
            <a:solidFill>
              <a:srgbClr val="F2E9D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3" name="Text 101"/>
          <p:cNvSpPr/>
          <p:nvPr/>
        </p:nvSpPr>
        <p:spPr>
          <a:xfrm>
            <a:off x="338328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#F2E9DC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274320" y="6281791"/>
            <a:ext cx="1512418" cy="466481"/>
          </a:xfrm>
          <a:prstGeom prst="rect">
            <a:avLst/>
          </a:prstGeom>
          <a:solidFill>
            <a:srgbClr val="3D3A3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5" name="Text 103"/>
          <p:cNvSpPr/>
          <p:nvPr/>
        </p:nvSpPr>
        <p:spPr>
          <a:xfrm>
            <a:off x="338328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 Pink Light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338328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4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242, 233, 220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338328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8A4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suave · FT Paper</a:t>
            </a:r>
            <a:endParaRPr lang="en-US" sz="600" dirty="0"/>
          </a:p>
        </p:txBody>
      </p:sp>
      <p:sp>
        <p:nvSpPr>
          <p:cNvPr id="108" name="Shape 106"/>
          <p:cNvSpPr/>
          <p:nvPr/>
        </p:nvSpPr>
        <p:spPr>
          <a:xfrm>
            <a:off x="1850746" y="5520690"/>
            <a:ext cx="1512418" cy="761101"/>
          </a:xfrm>
          <a:prstGeom prst="rect">
            <a:avLst/>
          </a:prstGeom>
          <a:solidFill>
            <a:srgbClr val="E2D7CA"/>
          </a:solidFill>
          <a:ln w="12700">
            <a:solidFill>
              <a:srgbClr val="E2D7C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9" name="Text 107"/>
          <p:cNvSpPr/>
          <p:nvPr/>
        </p:nvSpPr>
        <p:spPr>
          <a:xfrm>
            <a:off x="1914754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#E2D7CA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1850746" y="6281791"/>
            <a:ext cx="1512418" cy="466481"/>
          </a:xfrm>
          <a:prstGeom prst="rect">
            <a:avLst/>
          </a:prstGeom>
          <a:solidFill>
            <a:srgbClr val="3D3A3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1" name="Text 109"/>
          <p:cNvSpPr/>
          <p:nvPr/>
        </p:nvSpPr>
        <p:spPr>
          <a:xfrm>
            <a:off x="1914754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 Pink Pale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1914754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4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226, 215, 202</a:t>
            </a:r>
            <a:endParaRPr lang="en-US" sz="600" dirty="0"/>
          </a:p>
        </p:txBody>
      </p:sp>
      <p:sp>
        <p:nvSpPr>
          <p:cNvPr id="113" name="Text 111"/>
          <p:cNvSpPr/>
          <p:nvPr/>
        </p:nvSpPr>
        <p:spPr>
          <a:xfrm>
            <a:off x="1914754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8A4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Backgrounds suaves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3427171" y="5520690"/>
            <a:ext cx="1512418" cy="761101"/>
          </a:xfrm>
          <a:prstGeom prst="rect">
            <a:avLst/>
          </a:prstGeom>
          <a:solidFill>
            <a:srgbClr val="A8A49D"/>
          </a:solidFill>
          <a:ln w="12700">
            <a:solidFill>
              <a:srgbClr val="A8A49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5" name="Text 113"/>
          <p:cNvSpPr/>
          <p:nvPr/>
        </p:nvSpPr>
        <p:spPr>
          <a:xfrm>
            <a:off x="3491179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#A8A49D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3427171" y="6281791"/>
            <a:ext cx="1512418" cy="466481"/>
          </a:xfrm>
          <a:prstGeom prst="rect">
            <a:avLst/>
          </a:prstGeom>
          <a:solidFill>
            <a:srgbClr val="3D3A3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7" name="Text 115"/>
          <p:cNvSpPr/>
          <p:nvPr/>
        </p:nvSpPr>
        <p:spPr>
          <a:xfrm>
            <a:off x="3491179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FT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3491179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4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168, 164, 157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3491179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8A4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 · Metadatos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5003597" y="5520690"/>
            <a:ext cx="1512418" cy="761101"/>
          </a:xfrm>
          <a:prstGeom prst="rect">
            <a:avLst/>
          </a:prstGeom>
          <a:solidFill>
            <a:srgbClr val="66605A"/>
          </a:solidFill>
          <a:ln w="12700">
            <a:solidFill>
              <a:srgbClr val="66605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1" name="Text 119"/>
          <p:cNvSpPr/>
          <p:nvPr/>
        </p:nvSpPr>
        <p:spPr>
          <a:xfrm>
            <a:off x="5067605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#66605A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5003597" y="6281791"/>
            <a:ext cx="1512418" cy="466481"/>
          </a:xfrm>
          <a:prstGeom prst="rect">
            <a:avLst/>
          </a:prstGeom>
          <a:solidFill>
            <a:srgbClr val="3D3A3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3" name="Text 121"/>
          <p:cNvSpPr/>
          <p:nvPr/>
        </p:nvSpPr>
        <p:spPr>
          <a:xfrm>
            <a:off x="5067605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Dark FT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5067605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4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102, 96, 90</a:t>
            </a:r>
            <a:endParaRPr lang="en-US" sz="600" dirty="0"/>
          </a:p>
        </p:txBody>
      </p:sp>
      <p:sp>
        <p:nvSpPr>
          <p:cNvPr id="125" name="Text 123"/>
          <p:cNvSpPr/>
          <p:nvPr/>
        </p:nvSpPr>
        <p:spPr>
          <a:xfrm>
            <a:off x="5067605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8A4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cuerpo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6580022" y="5520690"/>
            <a:ext cx="1512418" cy="761101"/>
          </a:xfrm>
          <a:prstGeom prst="rect">
            <a:avLst/>
          </a:prstGeom>
          <a:solidFill>
            <a:srgbClr val="4A4542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7" name="Text 125"/>
          <p:cNvSpPr/>
          <p:nvPr/>
        </p:nvSpPr>
        <p:spPr>
          <a:xfrm>
            <a:off x="6644030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#4A4542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6580022" y="6281791"/>
            <a:ext cx="1512418" cy="466481"/>
          </a:xfrm>
          <a:prstGeom prst="rect">
            <a:avLst/>
          </a:prstGeom>
          <a:solidFill>
            <a:srgbClr val="3D3A3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9" name="Text 127"/>
          <p:cNvSpPr/>
          <p:nvPr/>
        </p:nvSpPr>
        <p:spPr>
          <a:xfrm>
            <a:off x="6644030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Slate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6644030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4A4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74, 69, 66</a:t>
            </a:r>
            <a:endParaRPr lang="en-US" sz="600" dirty="0"/>
          </a:p>
        </p:txBody>
      </p:sp>
      <p:sp>
        <p:nvSpPr>
          <p:cNvPr id="131" name="Text 129"/>
          <p:cNvSpPr/>
          <p:nvPr/>
        </p:nvSpPr>
        <p:spPr>
          <a:xfrm>
            <a:off x="6644030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8A4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Separadores · Bordes</a:t>
            </a:r>
            <a:endParaRPr lang="en-US" sz="600" dirty="0"/>
          </a:p>
        </p:txBody>
      </p:sp>
      <p:sp>
        <p:nvSpPr>
          <p:cNvPr id="132" name="Text 130"/>
          <p:cNvSpPr/>
          <p:nvPr/>
        </p:nvSpPr>
        <p:spPr>
          <a:xfrm>
            <a:off x="8275320" y="914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CONFIGURACIÓN MAESTRA</a:t>
            </a:r>
            <a:endParaRPr lang="en-US" sz="1200" dirty="0"/>
          </a:p>
        </p:txBody>
      </p:sp>
      <p:sp>
        <p:nvSpPr>
          <p:cNvPr id="133" name="Text 131"/>
          <p:cNvSpPr/>
          <p:nvPr/>
        </p:nvSpPr>
        <p:spPr>
          <a:xfrm>
            <a:off x="8275320" y="34747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4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por función · Empresa Constructora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8275320" y="530352"/>
            <a:ext cx="3703320" cy="18288"/>
          </a:xfrm>
          <a:prstGeom prst="rect">
            <a:avLst/>
          </a:prstGeom>
          <a:solidFill>
            <a:srgbClr val="4A4542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5" name="Shape 133"/>
          <p:cNvSpPr/>
          <p:nvPr/>
        </p:nvSpPr>
        <p:spPr>
          <a:xfrm>
            <a:off x="8275320" y="594360"/>
            <a:ext cx="3703320" cy="477012"/>
          </a:xfrm>
          <a:prstGeom prst="rect">
            <a:avLst/>
          </a:prstGeom>
          <a:solidFill>
            <a:srgbClr val="2C2A2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6" name="Shape 134"/>
          <p:cNvSpPr/>
          <p:nvPr/>
        </p:nvSpPr>
        <p:spPr>
          <a:xfrm>
            <a:off x="8275320" y="612648"/>
            <a:ext cx="256032" cy="440436"/>
          </a:xfrm>
          <a:prstGeom prst="rect">
            <a:avLst/>
          </a:prstGeom>
          <a:solidFill>
            <a:srgbClr val="FFF1E5"/>
          </a:solidFill>
          <a:ln w="12700">
            <a:solidFill>
              <a:srgbClr val="FFF1E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7" name="Text 135"/>
          <p:cNvSpPr/>
          <p:nvPr/>
        </p:nvSpPr>
        <p:spPr>
          <a:xfrm>
            <a:off x="8604504" y="621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papel / FT background</a:t>
            </a:r>
            <a:endParaRPr lang="en-US" sz="750" dirty="0"/>
          </a:p>
        </p:txBody>
      </p:sp>
      <p:sp>
        <p:nvSpPr>
          <p:cNvPr id="138" name="Text 136"/>
          <p:cNvSpPr/>
          <p:nvPr/>
        </p:nvSpPr>
        <p:spPr>
          <a:xfrm>
            <a:off x="8604504" y="846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0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#FFF1E5  ·  FT Pink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8275320" y="1089660"/>
            <a:ext cx="3703320" cy="477012"/>
          </a:xfrm>
          <a:prstGeom prst="rect">
            <a:avLst/>
          </a:prstGeom>
          <a:solidFill>
            <a:srgbClr val="3D3A3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0" name="Shape 138"/>
          <p:cNvSpPr/>
          <p:nvPr/>
        </p:nvSpPr>
        <p:spPr>
          <a:xfrm>
            <a:off x="8275320" y="1107948"/>
            <a:ext cx="256032" cy="440436"/>
          </a:xfrm>
          <a:prstGeom prst="rect">
            <a:avLst/>
          </a:prstGeom>
          <a:solidFill>
            <a:srgbClr val="33302E"/>
          </a:solidFill>
          <a:ln w="12700">
            <a:solidFill>
              <a:srgbClr val="3330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1" name="Text 139"/>
          <p:cNvSpPr/>
          <p:nvPr/>
        </p:nvSpPr>
        <p:spPr>
          <a:xfrm>
            <a:off x="8604504" y="1117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dark mode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8604504" y="1342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0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#33302E  ·  Slate Black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8275320" y="1584960"/>
            <a:ext cx="3703320" cy="477012"/>
          </a:xfrm>
          <a:prstGeom prst="rect">
            <a:avLst/>
          </a:prstGeom>
          <a:solidFill>
            <a:srgbClr val="2C2A2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4" name="Shape 142"/>
          <p:cNvSpPr/>
          <p:nvPr/>
        </p:nvSpPr>
        <p:spPr>
          <a:xfrm>
            <a:off x="8275320" y="1603248"/>
            <a:ext cx="256032" cy="440436"/>
          </a:xfrm>
          <a:prstGeom prst="rect">
            <a:avLst/>
          </a:prstGeom>
          <a:solidFill>
            <a:srgbClr val="990F3D"/>
          </a:solidFill>
          <a:ln w="12700">
            <a:solidFill>
              <a:srgbClr val="990F3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5" name="Text 143"/>
          <p:cNvSpPr/>
          <p:nvPr/>
        </p:nvSpPr>
        <p:spPr>
          <a:xfrm>
            <a:off x="8604504" y="16123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identidad / headlines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8604504" y="18375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0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#990F3D  ·  FT Claret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8275320" y="2080260"/>
            <a:ext cx="3703320" cy="477012"/>
          </a:xfrm>
          <a:prstGeom prst="rect">
            <a:avLst/>
          </a:prstGeom>
          <a:solidFill>
            <a:srgbClr val="3D3A3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8" name="Shape 146"/>
          <p:cNvSpPr/>
          <p:nvPr/>
        </p:nvSpPr>
        <p:spPr>
          <a:xfrm>
            <a:off x="8275320" y="2098548"/>
            <a:ext cx="256032" cy="440436"/>
          </a:xfrm>
          <a:prstGeom prst="rect">
            <a:avLst/>
          </a:prstGeom>
          <a:solidFill>
            <a:srgbClr val="0F5499"/>
          </a:solidFill>
          <a:ln w="12700">
            <a:solidFill>
              <a:srgbClr val="0F549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9" name="Text 147"/>
          <p:cNvSpPr/>
          <p:nvPr/>
        </p:nvSpPr>
        <p:spPr>
          <a:xfrm>
            <a:off x="8604504" y="21076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/ datos financieros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8604504" y="23328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0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#0F5499  ·  Oxford Blue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8275320" y="2575560"/>
            <a:ext cx="3703320" cy="477012"/>
          </a:xfrm>
          <a:prstGeom prst="rect">
            <a:avLst/>
          </a:prstGeom>
          <a:solidFill>
            <a:srgbClr val="2C2A2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2" name="Shape 150"/>
          <p:cNvSpPr/>
          <p:nvPr/>
        </p:nvSpPr>
        <p:spPr>
          <a:xfrm>
            <a:off x="8275320" y="2593848"/>
            <a:ext cx="256032" cy="440436"/>
          </a:xfrm>
          <a:prstGeom prst="rect">
            <a:avLst/>
          </a:prstGeom>
          <a:solidFill>
            <a:srgbClr val="33302E"/>
          </a:solidFill>
          <a:ln w="12700">
            <a:solidFill>
              <a:srgbClr val="33302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3" name="Text 151"/>
          <p:cNvSpPr/>
          <p:nvPr/>
        </p:nvSpPr>
        <p:spPr>
          <a:xfrm>
            <a:off x="8604504" y="26029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principal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8604504" y="28281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0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#33302E  ·  Slate Black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8275320" y="3070860"/>
            <a:ext cx="3703320" cy="477012"/>
          </a:xfrm>
          <a:prstGeom prst="rect">
            <a:avLst/>
          </a:prstGeom>
          <a:solidFill>
            <a:srgbClr val="3D3A3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6" name="Shape 154"/>
          <p:cNvSpPr/>
          <p:nvPr/>
        </p:nvSpPr>
        <p:spPr>
          <a:xfrm>
            <a:off x="8275320" y="3089148"/>
            <a:ext cx="256032" cy="440436"/>
          </a:xfrm>
          <a:prstGeom prst="rect">
            <a:avLst/>
          </a:prstGeom>
          <a:solidFill>
            <a:srgbClr val="F2AF26"/>
          </a:solidFill>
          <a:ln w="12700">
            <a:solidFill>
              <a:srgbClr val="F2AF2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7" name="Text 155"/>
          <p:cNvSpPr/>
          <p:nvPr/>
        </p:nvSpPr>
        <p:spPr>
          <a:xfrm>
            <a:off x="8604504" y="30982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/ economía destacada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8604504" y="33234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0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#F2AF26  ·  Saffron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8275320" y="3566160"/>
            <a:ext cx="3703320" cy="477012"/>
          </a:xfrm>
          <a:prstGeom prst="rect">
            <a:avLst/>
          </a:prstGeom>
          <a:solidFill>
            <a:srgbClr val="2C2A2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0" name="Shape 158"/>
          <p:cNvSpPr/>
          <p:nvPr/>
        </p:nvSpPr>
        <p:spPr>
          <a:xfrm>
            <a:off x="8275320" y="3584448"/>
            <a:ext cx="256032" cy="440436"/>
          </a:xfrm>
          <a:prstGeom prst="rect">
            <a:avLst/>
          </a:prstGeom>
          <a:solidFill>
            <a:srgbClr val="00994D"/>
          </a:solidFill>
          <a:ln w="12700">
            <a:solidFill>
              <a:srgbClr val="00994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1" name="Text 159"/>
          <p:cNvSpPr/>
          <p:nvPr/>
        </p:nvSpPr>
        <p:spPr>
          <a:xfrm>
            <a:off x="8604504" y="35935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positivo / up</a:t>
            </a:r>
            <a:endParaRPr lang="en-US" sz="750" dirty="0"/>
          </a:p>
        </p:txBody>
      </p:sp>
      <p:sp>
        <p:nvSpPr>
          <p:cNvPr id="162" name="Text 160"/>
          <p:cNvSpPr/>
          <p:nvPr/>
        </p:nvSpPr>
        <p:spPr>
          <a:xfrm>
            <a:off x="8604504" y="38187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0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#00994D  ·  FT Green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8275320" y="4061460"/>
            <a:ext cx="3703320" cy="477012"/>
          </a:xfrm>
          <a:prstGeom prst="rect">
            <a:avLst/>
          </a:prstGeom>
          <a:solidFill>
            <a:srgbClr val="3D3A3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4" name="Shape 162"/>
          <p:cNvSpPr/>
          <p:nvPr/>
        </p:nvSpPr>
        <p:spPr>
          <a:xfrm>
            <a:off x="8275320" y="4079748"/>
            <a:ext cx="256032" cy="44043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5" name="Text 163"/>
          <p:cNvSpPr/>
          <p:nvPr/>
        </p:nvSpPr>
        <p:spPr>
          <a:xfrm>
            <a:off x="8604504" y="40888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negativo / down</a:t>
            </a:r>
            <a:endParaRPr lang="en-US" sz="750" dirty="0"/>
          </a:p>
        </p:txBody>
      </p:sp>
      <p:sp>
        <p:nvSpPr>
          <p:cNvPr id="166" name="Text 164"/>
          <p:cNvSpPr/>
          <p:nvPr/>
        </p:nvSpPr>
        <p:spPr>
          <a:xfrm>
            <a:off x="8604504" y="43140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0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#CC0000  ·  FT Red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8275320" y="4556760"/>
            <a:ext cx="3703320" cy="477012"/>
          </a:xfrm>
          <a:prstGeom prst="rect">
            <a:avLst/>
          </a:prstGeom>
          <a:solidFill>
            <a:srgbClr val="2C2A2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8" name="Shape 166"/>
          <p:cNvSpPr/>
          <p:nvPr/>
        </p:nvSpPr>
        <p:spPr>
          <a:xfrm>
            <a:off x="8275320" y="4575048"/>
            <a:ext cx="256032" cy="440436"/>
          </a:xfrm>
          <a:prstGeom prst="rect">
            <a:avLst/>
          </a:prstGeom>
          <a:solidFill>
            <a:srgbClr val="3D9FC4"/>
          </a:solidFill>
          <a:ln w="12700">
            <a:solidFill>
              <a:srgbClr val="3D9FC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9" name="Text 167"/>
          <p:cNvSpPr/>
          <p:nvPr/>
        </p:nvSpPr>
        <p:spPr>
          <a:xfrm>
            <a:off x="8604504" y="45841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DataViz principal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8604504" y="48093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0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#3D9FC4  ·  Blue Med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8275320" y="5052060"/>
            <a:ext cx="3703320" cy="477012"/>
          </a:xfrm>
          <a:prstGeom prst="rect">
            <a:avLst/>
          </a:prstGeom>
          <a:solidFill>
            <a:srgbClr val="3D3A3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2" name="Shape 170"/>
          <p:cNvSpPr/>
          <p:nvPr/>
        </p:nvSpPr>
        <p:spPr>
          <a:xfrm>
            <a:off x="8275320" y="5070348"/>
            <a:ext cx="256032" cy="440436"/>
          </a:xfrm>
          <a:prstGeom prst="rect">
            <a:avLst/>
          </a:prstGeom>
          <a:solidFill>
            <a:srgbClr val="593380"/>
          </a:solidFill>
          <a:ln w="12700">
            <a:solidFill>
              <a:srgbClr val="59338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3" name="Text 171"/>
          <p:cNvSpPr/>
          <p:nvPr/>
        </p:nvSpPr>
        <p:spPr>
          <a:xfrm>
            <a:off x="8604504" y="50794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/ opinión</a:t>
            </a:r>
            <a:endParaRPr lang="en-US" sz="750" dirty="0"/>
          </a:p>
        </p:txBody>
      </p:sp>
      <p:sp>
        <p:nvSpPr>
          <p:cNvPr id="174" name="Text 172"/>
          <p:cNvSpPr/>
          <p:nvPr/>
        </p:nvSpPr>
        <p:spPr>
          <a:xfrm>
            <a:off x="8604504" y="53046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0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#593380  ·  Purple Opinion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8275320" y="5547360"/>
            <a:ext cx="3703320" cy="477012"/>
          </a:xfrm>
          <a:prstGeom prst="rect">
            <a:avLst/>
          </a:prstGeom>
          <a:solidFill>
            <a:srgbClr val="2C2A2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6" name="Shape 174"/>
          <p:cNvSpPr/>
          <p:nvPr/>
        </p:nvSpPr>
        <p:spPr>
          <a:xfrm>
            <a:off x="8275320" y="5565648"/>
            <a:ext cx="256032" cy="440436"/>
          </a:xfrm>
          <a:prstGeom prst="rect">
            <a:avLst/>
          </a:prstGeom>
          <a:solidFill>
            <a:srgbClr val="F2E9DC"/>
          </a:solidFill>
          <a:ln w="12700">
            <a:solidFill>
              <a:srgbClr val="F2E9D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7" name="Text 175"/>
          <p:cNvSpPr/>
          <p:nvPr/>
        </p:nvSpPr>
        <p:spPr>
          <a:xfrm>
            <a:off x="8604504" y="5574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suaves / paper</a:t>
            </a:r>
            <a:endParaRPr lang="en-US" sz="750" dirty="0"/>
          </a:p>
        </p:txBody>
      </p:sp>
      <p:sp>
        <p:nvSpPr>
          <p:cNvPr id="178" name="Text 176"/>
          <p:cNvSpPr/>
          <p:nvPr/>
        </p:nvSpPr>
        <p:spPr>
          <a:xfrm>
            <a:off x="8604504" y="5799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0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#F2E9DC  ·  FT Pink Light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8275320" y="6042660"/>
            <a:ext cx="3703320" cy="477012"/>
          </a:xfrm>
          <a:prstGeom prst="rect">
            <a:avLst/>
          </a:prstGeom>
          <a:solidFill>
            <a:srgbClr val="3D3A38"/>
          </a:solidFill>
          <a:ln w="12700">
            <a:solidFill>
              <a:srgbClr val="4A454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0" name="Shape 178"/>
          <p:cNvSpPr/>
          <p:nvPr/>
        </p:nvSpPr>
        <p:spPr>
          <a:xfrm>
            <a:off x="8275320" y="6060948"/>
            <a:ext cx="256032" cy="440436"/>
          </a:xfrm>
          <a:prstGeom prst="rect">
            <a:avLst/>
          </a:prstGeom>
          <a:solidFill>
            <a:srgbClr val="A8A49D"/>
          </a:solidFill>
          <a:ln w="12700">
            <a:solidFill>
              <a:srgbClr val="A8A49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1" name="Text 179"/>
          <p:cNvSpPr/>
          <p:nvPr/>
        </p:nvSpPr>
        <p:spPr>
          <a:xfrm>
            <a:off x="8604504" y="6070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</a:t>
            </a:r>
            <a:endParaRPr lang="en-US" sz="750" dirty="0"/>
          </a:p>
        </p:txBody>
      </p:sp>
      <p:sp>
        <p:nvSpPr>
          <p:cNvPr id="182" name="Text 180"/>
          <p:cNvSpPr/>
          <p:nvPr/>
        </p:nvSpPr>
        <p:spPr>
          <a:xfrm>
            <a:off x="8604504" y="6295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0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#A8A49D  ·  Gray FT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8275320" y="6574536"/>
            <a:ext cx="3703320" cy="256032"/>
          </a:xfrm>
          <a:prstGeom prst="rect">
            <a:avLst/>
          </a:prstGeom>
          <a:solidFill>
            <a:srgbClr val="2C2A28"/>
          </a:solidFill>
          <a:ln w="12700">
            <a:solidFill>
              <a:srgbClr val="990F3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4" name="Text 182"/>
          <p:cNvSpPr/>
          <p:nvPr/>
        </p:nvSpPr>
        <p:spPr>
          <a:xfrm>
            <a:off x="8366760" y="661111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FT Pink #FFF1E5 + Claret #990F3D = periodismo financiero de autoridad global.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2C2A28"/>
          </a:solidFill>
          <a:ln w="12700">
            <a:solidFill>
              <a:srgbClr val="2C2A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6" name="Text 184"/>
          <p:cNvSpPr/>
          <p:nvPr/>
        </p:nvSpPr>
        <p:spPr>
          <a:xfrm>
            <a:off x="274320" y="6793992"/>
            <a:ext cx="914400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4A4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TIMES  ·  PALETA OFICIAL  ·  ft.com · FT Visual Vocabulary · Financial Times Design</a:t>
            </a:r>
            <a:endParaRPr lang="en-US" sz="550" dirty="0"/>
          </a:p>
        </p:txBody>
      </p:sp>
      <p:sp>
        <p:nvSpPr>
          <p:cNvPr id="187" name="Text 185"/>
          <p:cNvSpPr/>
          <p:nvPr/>
        </p:nvSpPr>
        <p:spPr>
          <a:xfrm>
            <a:off x="0" y="6793992"/>
            <a:ext cx="119786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4A4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COLORES  ·  4 SISTEMAS  ·  1 LÁMINA</a:t>
            </a:r>
            <a:endParaRPr lang="en-US" sz="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Tufte / Stephen Few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 Principles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COLORES OFICIAL  ·  Clarity · Precision · Efficiency · Minimalism · Data Ink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4320" y="795528"/>
            <a:ext cx="781812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8183880" y="73152"/>
            <a:ext cx="18288" cy="67208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7818120" cy="201168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>
            <a:off x="274320" y="841248"/>
            <a:ext cx="36576" cy="2011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65760" y="8412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TUFTE — MINIMAL CORE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" y="84124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Tufte: Visual Display of Quantitative Information · Minimal Ink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74320" y="1042416"/>
            <a:ext cx="2563368" cy="76110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338328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#111111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03517"/>
            <a:ext cx="2563368" cy="466481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338328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Tufte Black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8328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BBB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17, 17, 17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38328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principal · Ejes · Alta densidad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901696" y="1042416"/>
            <a:ext cx="2563368" cy="7611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2965704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01696" y="1803517"/>
            <a:ext cx="2563368" cy="466481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2965704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965704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BBB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255, 255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965704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absoluto · Max claridad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529072" y="1042416"/>
            <a:ext cx="2563368" cy="761101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5593080" y="1602349"/>
            <a:ext cx="2471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#333333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29072" y="1803517"/>
            <a:ext cx="2563368" cy="466481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Text 25"/>
          <p:cNvSpPr/>
          <p:nvPr/>
        </p:nvSpPr>
        <p:spPr>
          <a:xfrm>
            <a:off x="5593080" y="1830949"/>
            <a:ext cx="247192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Tufte Gray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593080" y="2008769"/>
            <a:ext cx="247192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BBB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51, 51, 51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593080" y="2125389"/>
            <a:ext cx="247192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funcional · Datos primarios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74320" y="2334006"/>
            <a:ext cx="7818120" cy="201168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Shape 29"/>
          <p:cNvSpPr/>
          <p:nvPr/>
        </p:nvSpPr>
        <p:spPr>
          <a:xfrm>
            <a:off x="274320" y="2334006"/>
            <a:ext cx="36576" cy="20116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365760" y="233400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TUFTE — GRAY SCALE SEMÁNTICO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" y="2334006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Tufte Gestalt · Data Density Principles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74320" y="2535174"/>
            <a:ext cx="1512418" cy="761101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Text 33"/>
          <p:cNvSpPr/>
          <p:nvPr/>
        </p:nvSpPr>
        <p:spPr>
          <a:xfrm>
            <a:off x="338328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#222222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296275"/>
            <a:ext cx="1512418" cy="466481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/>
          <p:nvPr/>
        </p:nvSpPr>
        <p:spPr>
          <a:xfrm>
            <a:off x="338328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Black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8328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BBB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34, 34, 34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38328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 · Datos críticos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850746" y="2535174"/>
            <a:ext cx="1512418" cy="761101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1" name="Text 39"/>
          <p:cNvSpPr/>
          <p:nvPr/>
        </p:nvSpPr>
        <p:spPr>
          <a:xfrm>
            <a:off x="1914754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#444444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50746" y="3296275"/>
            <a:ext cx="1512418" cy="466481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3" name="Text 41"/>
          <p:cNvSpPr/>
          <p:nvPr/>
        </p:nvSpPr>
        <p:spPr>
          <a:xfrm>
            <a:off x="1914754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Gray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914754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BBB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68, 68, 68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914754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cuerpo · Subtítulos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427171" y="2535174"/>
            <a:ext cx="1512418" cy="761101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7" name="Text 45"/>
          <p:cNvSpPr/>
          <p:nvPr/>
        </p:nvSpPr>
        <p:spPr>
          <a:xfrm>
            <a:off x="3491179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#666666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27171" y="3296275"/>
            <a:ext cx="1512418" cy="466481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9" name="Text 47"/>
          <p:cNvSpPr/>
          <p:nvPr/>
        </p:nvSpPr>
        <p:spPr>
          <a:xfrm>
            <a:off x="3491179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Gray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491179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BBB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102, 102, 102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491179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Leyendas · Texto secundario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5003597" y="2535174"/>
            <a:ext cx="1512418" cy="761101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3" name="Text 51"/>
          <p:cNvSpPr/>
          <p:nvPr/>
        </p:nvSpPr>
        <p:spPr>
          <a:xfrm>
            <a:off x="5067605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#888888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003597" y="3296275"/>
            <a:ext cx="1512418" cy="466481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5" name="Text 53"/>
          <p:cNvSpPr/>
          <p:nvPr/>
        </p:nvSpPr>
        <p:spPr>
          <a:xfrm>
            <a:off x="5067605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Gray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067605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BBB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136, 136, 136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067605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lines · Gridlines sutiles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6580022" y="2535174"/>
            <a:ext cx="1512418" cy="761101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9" name="Text 57"/>
          <p:cNvSpPr/>
          <p:nvPr/>
        </p:nvSpPr>
        <p:spPr>
          <a:xfrm>
            <a:off x="6644030" y="3095107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#BBBBBB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580022" y="3296275"/>
            <a:ext cx="1512418" cy="466481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1" name="Text 59"/>
          <p:cNvSpPr/>
          <p:nvPr/>
        </p:nvSpPr>
        <p:spPr>
          <a:xfrm>
            <a:off x="6644030" y="3323707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 Gray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644030" y="3501527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BBB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187, 187, 187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644030" y="3618147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Bordes · Separadores mínimos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274320" y="3826764"/>
            <a:ext cx="7818120" cy="201168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5" name="Shape 63"/>
          <p:cNvSpPr/>
          <p:nvPr/>
        </p:nvSpPr>
        <p:spPr>
          <a:xfrm>
            <a:off x="274320" y="3826764"/>
            <a:ext cx="36576" cy="201168"/>
          </a:xfrm>
          <a:prstGeom prst="rect">
            <a:avLst/>
          </a:prstGeom>
          <a:solidFill>
            <a:srgbClr val="4DAF4A"/>
          </a:solidFill>
          <a:ln w="12700">
            <a:solidFill>
              <a:srgbClr val="4DAF4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6" name="Text 64"/>
          <p:cNvSpPr/>
          <p:nvPr/>
        </p:nvSpPr>
        <p:spPr>
          <a:xfrm>
            <a:off x="365760" y="38267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DA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STEPHEN FEW — QUALITATIVE SAFE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74320" y="382676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Stephen Few: Show Me the Numbers · ColorBrewer · Perceptual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274320" y="4027932"/>
            <a:ext cx="1512418" cy="761101"/>
          </a:xfrm>
          <a:prstGeom prst="rect">
            <a:avLst/>
          </a:prstGeom>
          <a:solidFill>
            <a:srgbClr val="377EB8"/>
          </a:solidFill>
          <a:ln w="12700">
            <a:solidFill>
              <a:srgbClr val="377E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9" name="Text 67"/>
          <p:cNvSpPr/>
          <p:nvPr/>
        </p:nvSpPr>
        <p:spPr>
          <a:xfrm>
            <a:off x="338328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#377EB8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" y="4789033"/>
            <a:ext cx="1512418" cy="466481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1" name="Text 69"/>
          <p:cNvSpPr/>
          <p:nvPr/>
        </p:nvSpPr>
        <p:spPr>
          <a:xfrm>
            <a:off x="338328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 Blue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38328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BBB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55, 126, 184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338328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1 — perceptualmente distinto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1850746" y="4027932"/>
            <a:ext cx="1512418" cy="761101"/>
          </a:xfrm>
          <a:prstGeom prst="rect">
            <a:avLst/>
          </a:prstGeom>
          <a:solidFill>
            <a:srgbClr val="E41A1C"/>
          </a:solidFill>
          <a:ln w="12700">
            <a:solidFill>
              <a:srgbClr val="E41A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5" name="Text 73"/>
          <p:cNvSpPr/>
          <p:nvPr/>
        </p:nvSpPr>
        <p:spPr>
          <a:xfrm>
            <a:off x="1914754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#E41A1C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850746" y="4789033"/>
            <a:ext cx="1512418" cy="466481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7" name="Text 75"/>
          <p:cNvSpPr/>
          <p:nvPr/>
        </p:nvSpPr>
        <p:spPr>
          <a:xfrm>
            <a:off x="1914754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Red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914754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BBB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228, 26, 28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1914754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2 — alerta / contraste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3427171" y="4027932"/>
            <a:ext cx="1512418" cy="761101"/>
          </a:xfrm>
          <a:prstGeom prst="rect">
            <a:avLst/>
          </a:prstGeom>
          <a:solidFill>
            <a:srgbClr val="4DAF4A"/>
          </a:solidFill>
          <a:ln w="12700">
            <a:solidFill>
              <a:srgbClr val="4DAF4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1" name="Text 79"/>
          <p:cNvSpPr/>
          <p:nvPr/>
        </p:nvSpPr>
        <p:spPr>
          <a:xfrm>
            <a:off x="3491179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#4DAF4A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427171" y="4789033"/>
            <a:ext cx="1512418" cy="466481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3" name="Text 81"/>
          <p:cNvSpPr/>
          <p:nvPr/>
        </p:nvSpPr>
        <p:spPr>
          <a:xfrm>
            <a:off x="3491179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 Green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3491179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BBB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77, 175, 74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3491179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3 — positivo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5003597" y="4027932"/>
            <a:ext cx="1512418" cy="761101"/>
          </a:xfrm>
          <a:prstGeom prst="rect">
            <a:avLst/>
          </a:prstGeom>
          <a:solidFill>
            <a:srgbClr val="984EA3"/>
          </a:solidFill>
          <a:ln w="12700">
            <a:solidFill>
              <a:srgbClr val="984EA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7" name="Text 85"/>
          <p:cNvSpPr/>
          <p:nvPr/>
        </p:nvSpPr>
        <p:spPr>
          <a:xfrm>
            <a:off x="5067605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#984EA3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003597" y="4789033"/>
            <a:ext cx="1512418" cy="466481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9" name="Text 87"/>
          <p:cNvSpPr/>
          <p:nvPr/>
        </p:nvSpPr>
        <p:spPr>
          <a:xfrm>
            <a:off x="5067605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Amethyst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067605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BBB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152, 78, 163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5067605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4 — categoría especial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6580022" y="4027932"/>
            <a:ext cx="1512418" cy="761101"/>
          </a:xfrm>
          <a:prstGeom prst="rect">
            <a:avLst/>
          </a:prstGeom>
          <a:solidFill>
            <a:srgbClr val="FF7F00"/>
          </a:solidFill>
          <a:ln w="12700">
            <a:solidFill>
              <a:srgbClr val="FF7F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3" name="Text 91"/>
          <p:cNvSpPr/>
          <p:nvPr/>
        </p:nvSpPr>
        <p:spPr>
          <a:xfrm>
            <a:off x="6644030" y="4587865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#FF7F00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580022" y="4789033"/>
            <a:ext cx="1512418" cy="466481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5" name="Text 93"/>
          <p:cNvSpPr/>
          <p:nvPr/>
        </p:nvSpPr>
        <p:spPr>
          <a:xfrm>
            <a:off x="6644030" y="4816465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Pumpkin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6644030" y="4994285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BBB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255, 127, 0</a:t>
            </a:r>
            <a:endParaRPr lang="en-US" sz="600" dirty="0"/>
          </a:p>
        </p:txBody>
      </p:sp>
      <p:sp>
        <p:nvSpPr>
          <p:cNvPr id="97" name="Text 95"/>
          <p:cNvSpPr/>
          <p:nvPr/>
        </p:nvSpPr>
        <p:spPr>
          <a:xfrm>
            <a:off x="6644030" y="5110905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5 — warning / destaque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274320" y="5319522"/>
            <a:ext cx="7818120" cy="201168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9" name="Shape 97"/>
          <p:cNvSpPr/>
          <p:nvPr/>
        </p:nvSpPr>
        <p:spPr>
          <a:xfrm>
            <a:off x="274320" y="5319522"/>
            <a:ext cx="36576" cy="201168"/>
          </a:xfrm>
          <a:prstGeom prst="rect">
            <a:avLst/>
          </a:prstGeom>
          <a:solidFill>
            <a:srgbClr val="56B4E9"/>
          </a:solidFill>
          <a:ln w="12700">
            <a:solidFill>
              <a:srgbClr val="56B4E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0" name="Text 98"/>
          <p:cNvSpPr/>
          <p:nvPr/>
        </p:nvSpPr>
        <p:spPr>
          <a:xfrm>
            <a:off x="365760" y="531952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56B4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— SEQUENTIAL &amp; DIVERGING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274320" y="5319522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Few · ColorBrewer · Preattentive Attributes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274320" y="5520690"/>
            <a:ext cx="1512418" cy="761101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3" name="Text 101"/>
          <p:cNvSpPr/>
          <p:nvPr/>
        </p:nvSpPr>
        <p:spPr>
          <a:xfrm>
            <a:off x="338328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#F7FBFF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274320" y="6281791"/>
            <a:ext cx="1512418" cy="466481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5" name="Text 103"/>
          <p:cNvSpPr/>
          <p:nvPr/>
        </p:nvSpPr>
        <p:spPr>
          <a:xfrm>
            <a:off x="338328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Lightest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338328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BBB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247, 251, 255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338328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 · Sequential ramp</a:t>
            </a:r>
            <a:endParaRPr lang="en-US" sz="600" dirty="0"/>
          </a:p>
        </p:txBody>
      </p:sp>
      <p:sp>
        <p:nvSpPr>
          <p:cNvPr id="108" name="Shape 106"/>
          <p:cNvSpPr/>
          <p:nvPr/>
        </p:nvSpPr>
        <p:spPr>
          <a:xfrm>
            <a:off x="1850746" y="5520690"/>
            <a:ext cx="1512418" cy="761101"/>
          </a:xfrm>
          <a:prstGeom prst="rect">
            <a:avLst/>
          </a:prstGeom>
          <a:solidFill>
            <a:srgbClr val="9ECAE1"/>
          </a:solidFill>
          <a:ln w="12700">
            <a:solidFill>
              <a:srgbClr val="9ECA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9" name="Text 107"/>
          <p:cNvSpPr/>
          <p:nvPr/>
        </p:nvSpPr>
        <p:spPr>
          <a:xfrm>
            <a:off x="1914754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#9ECAE1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1850746" y="6281791"/>
            <a:ext cx="1512418" cy="466481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1" name="Text 109"/>
          <p:cNvSpPr/>
          <p:nvPr/>
        </p:nvSpPr>
        <p:spPr>
          <a:xfrm>
            <a:off x="1914754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Mid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1914754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BBB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158, 202, 225</a:t>
            </a:r>
            <a:endParaRPr lang="en-US" sz="600" dirty="0"/>
          </a:p>
        </p:txBody>
      </p:sp>
      <p:sp>
        <p:nvSpPr>
          <p:cNvPr id="113" name="Text 111"/>
          <p:cNvSpPr/>
          <p:nvPr/>
        </p:nvSpPr>
        <p:spPr>
          <a:xfrm>
            <a:off x="1914754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 sequential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3427171" y="5520690"/>
            <a:ext cx="1512418" cy="761101"/>
          </a:xfrm>
          <a:prstGeom prst="rect">
            <a:avLst/>
          </a:prstGeom>
          <a:solidFill>
            <a:srgbClr val="2171B5"/>
          </a:solidFill>
          <a:ln w="12700">
            <a:solidFill>
              <a:srgbClr val="2171B5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5" name="Text 113"/>
          <p:cNvSpPr/>
          <p:nvPr/>
        </p:nvSpPr>
        <p:spPr>
          <a:xfrm>
            <a:off x="3491179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#2171B5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3427171" y="6281791"/>
            <a:ext cx="1512418" cy="466481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7" name="Text 115"/>
          <p:cNvSpPr/>
          <p:nvPr/>
        </p:nvSpPr>
        <p:spPr>
          <a:xfrm>
            <a:off x="3491179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Dark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3491179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BBB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33, 113, 181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3491179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 sequential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5003597" y="5520690"/>
            <a:ext cx="1512418" cy="761101"/>
          </a:xfrm>
          <a:prstGeom prst="rect">
            <a:avLst/>
          </a:prstGeom>
          <a:solidFill>
            <a:srgbClr val="56B4E9"/>
          </a:solidFill>
          <a:ln w="12700">
            <a:solidFill>
              <a:srgbClr val="56B4E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1" name="Text 119"/>
          <p:cNvSpPr/>
          <p:nvPr/>
        </p:nvSpPr>
        <p:spPr>
          <a:xfrm>
            <a:off x="5067605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#56B4E9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5003597" y="6281791"/>
            <a:ext cx="1512418" cy="466481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3" name="Text 121"/>
          <p:cNvSpPr/>
          <p:nvPr/>
        </p:nvSpPr>
        <p:spPr>
          <a:xfrm>
            <a:off x="5067605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 Sky Blue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5067605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BBB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86, 180, 233</a:t>
            </a:r>
            <a:endParaRPr lang="en-US" sz="600" dirty="0"/>
          </a:p>
        </p:txBody>
      </p:sp>
      <p:sp>
        <p:nvSpPr>
          <p:cNvPr id="125" name="Text 123"/>
          <p:cNvSpPr/>
          <p:nvPr/>
        </p:nvSpPr>
        <p:spPr>
          <a:xfrm>
            <a:off x="5067605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Colorblind-safe primario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6580022" y="5520690"/>
            <a:ext cx="1512418" cy="761101"/>
          </a:xfrm>
          <a:prstGeom prst="rect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7" name="Text 125"/>
          <p:cNvSpPr/>
          <p:nvPr/>
        </p:nvSpPr>
        <p:spPr>
          <a:xfrm>
            <a:off x="6644030" y="6080623"/>
            <a:ext cx="14209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#E69F00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6580022" y="6281791"/>
            <a:ext cx="1512418" cy="466481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9" name="Text 127"/>
          <p:cNvSpPr/>
          <p:nvPr/>
        </p:nvSpPr>
        <p:spPr>
          <a:xfrm>
            <a:off x="6644030" y="6309223"/>
            <a:ext cx="1420978" cy="195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 Amber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6644030" y="6487043"/>
            <a:ext cx="1420978" cy="1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BBB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230, 159, 0</a:t>
            </a:r>
            <a:endParaRPr lang="en-US" sz="600" dirty="0"/>
          </a:p>
        </p:txBody>
      </p:sp>
      <p:sp>
        <p:nvSpPr>
          <p:cNvPr id="131" name="Text 129"/>
          <p:cNvSpPr/>
          <p:nvPr/>
        </p:nvSpPr>
        <p:spPr>
          <a:xfrm>
            <a:off x="6644030" y="6603663"/>
            <a:ext cx="1420978" cy="13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Colorblind-safe secundario</a:t>
            </a:r>
            <a:endParaRPr lang="en-US" sz="600" dirty="0"/>
          </a:p>
        </p:txBody>
      </p:sp>
      <p:sp>
        <p:nvSpPr>
          <p:cNvPr id="132" name="Text 130"/>
          <p:cNvSpPr/>
          <p:nvPr/>
        </p:nvSpPr>
        <p:spPr>
          <a:xfrm>
            <a:off x="8275320" y="914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CONFIGURACIÓN MAESTRA</a:t>
            </a:r>
            <a:endParaRPr lang="en-US" sz="1200" dirty="0"/>
          </a:p>
        </p:txBody>
      </p:sp>
      <p:sp>
        <p:nvSpPr>
          <p:cNvPr id="133" name="Text 131"/>
          <p:cNvSpPr/>
          <p:nvPr/>
        </p:nvSpPr>
        <p:spPr>
          <a:xfrm>
            <a:off x="8275320" y="34747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por función · Empresa Constructora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8275320" y="530352"/>
            <a:ext cx="370332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5" name="Shape 133"/>
          <p:cNvSpPr/>
          <p:nvPr/>
        </p:nvSpPr>
        <p:spPr>
          <a:xfrm>
            <a:off x="8275320" y="594360"/>
            <a:ext cx="3703320" cy="47701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6" name="Shape 134"/>
          <p:cNvSpPr/>
          <p:nvPr/>
        </p:nvSpPr>
        <p:spPr>
          <a:xfrm>
            <a:off x="8275320" y="612648"/>
            <a:ext cx="256032" cy="440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7" name="Text 135"/>
          <p:cNvSpPr/>
          <p:nvPr/>
        </p:nvSpPr>
        <p:spPr>
          <a:xfrm>
            <a:off x="8604504" y="621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principal</a:t>
            </a:r>
            <a:endParaRPr lang="en-US" sz="750" dirty="0"/>
          </a:p>
        </p:txBody>
      </p:sp>
      <p:sp>
        <p:nvSpPr>
          <p:cNvPr id="138" name="Text 136"/>
          <p:cNvSpPr/>
          <p:nvPr/>
        </p:nvSpPr>
        <p:spPr>
          <a:xfrm>
            <a:off x="8604504" y="846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  ·  White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8275320" y="1089660"/>
            <a:ext cx="3703320" cy="47701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0" name="Shape 138"/>
          <p:cNvSpPr/>
          <p:nvPr/>
        </p:nvSpPr>
        <p:spPr>
          <a:xfrm>
            <a:off x="8275320" y="1107948"/>
            <a:ext cx="256032" cy="440436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1" name="Text 139"/>
          <p:cNvSpPr/>
          <p:nvPr/>
        </p:nvSpPr>
        <p:spPr>
          <a:xfrm>
            <a:off x="8604504" y="1117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secundario suave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8604504" y="1342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#F8F8F8  ·  Card BG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8275320" y="1584960"/>
            <a:ext cx="3703320" cy="47701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4" name="Shape 142"/>
          <p:cNvSpPr/>
          <p:nvPr/>
        </p:nvSpPr>
        <p:spPr>
          <a:xfrm>
            <a:off x="8275320" y="1603248"/>
            <a:ext cx="256032" cy="4404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5" name="Text 143"/>
          <p:cNvSpPr/>
          <p:nvPr/>
        </p:nvSpPr>
        <p:spPr>
          <a:xfrm>
            <a:off x="8604504" y="16123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y datos primarios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8604504" y="18375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#111111  ·  Tufte Black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8275320" y="2080260"/>
            <a:ext cx="3703320" cy="47701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8" name="Shape 146"/>
          <p:cNvSpPr/>
          <p:nvPr/>
        </p:nvSpPr>
        <p:spPr>
          <a:xfrm>
            <a:off x="8275320" y="2098548"/>
            <a:ext cx="256032" cy="44043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9" name="Text 147"/>
          <p:cNvSpPr/>
          <p:nvPr/>
        </p:nvSpPr>
        <p:spPr>
          <a:xfrm>
            <a:off x="8604504" y="21076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cuerpo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8604504" y="23328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#444444  ·  Dark Gray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8275320" y="2575560"/>
            <a:ext cx="3703320" cy="47701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2" name="Shape 150"/>
          <p:cNvSpPr/>
          <p:nvPr/>
        </p:nvSpPr>
        <p:spPr>
          <a:xfrm>
            <a:off x="8275320" y="2593848"/>
            <a:ext cx="256032" cy="44043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3" name="Text 151"/>
          <p:cNvSpPr/>
          <p:nvPr/>
        </p:nvSpPr>
        <p:spPr>
          <a:xfrm>
            <a:off x="8604504" y="26029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lines (invisibles casi)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8604504" y="28281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#DDDDDD  ·  Border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8275320" y="3070860"/>
            <a:ext cx="3703320" cy="47701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6" name="Shape 154"/>
          <p:cNvSpPr/>
          <p:nvPr/>
        </p:nvSpPr>
        <p:spPr>
          <a:xfrm>
            <a:off x="8275320" y="3089148"/>
            <a:ext cx="256032" cy="440436"/>
          </a:xfrm>
          <a:prstGeom prst="rect">
            <a:avLst/>
          </a:prstGeom>
          <a:solidFill>
            <a:srgbClr val="377EB8"/>
          </a:solidFill>
          <a:ln w="12700">
            <a:solidFill>
              <a:srgbClr val="377EB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7" name="Text 155"/>
          <p:cNvSpPr/>
          <p:nvPr/>
        </p:nvSpPr>
        <p:spPr>
          <a:xfrm>
            <a:off x="8604504" y="30982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1 DataViz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8604504" y="33234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#377EB8  ·  Sky Blue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8275320" y="3566160"/>
            <a:ext cx="3703320" cy="47701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0" name="Shape 158"/>
          <p:cNvSpPr/>
          <p:nvPr/>
        </p:nvSpPr>
        <p:spPr>
          <a:xfrm>
            <a:off x="8275320" y="3584448"/>
            <a:ext cx="256032" cy="440436"/>
          </a:xfrm>
          <a:prstGeom prst="rect">
            <a:avLst/>
          </a:prstGeom>
          <a:solidFill>
            <a:srgbClr val="E41A1C"/>
          </a:solidFill>
          <a:ln w="12700">
            <a:solidFill>
              <a:srgbClr val="E41A1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1" name="Text 159"/>
          <p:cNvSpPr/>
          <p:nvPr/>
        </p:nvSpPr>
        <p:spPr>
          <a:xfrm>
            <a:off x="8604504" y="35935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2 DataViz</a:t>
            </a:r>
            <a:endParaRPr lang="en-US" sz="750" dirty="0"/>
          </a:p>
        </p:txBody>
      </p:sp>
      <p:sp>
        <p:nvSpPr>
          <p:cNvPr id="162" name="Text 160"/>
          <p:cNvSpPr/>
          <p:nvPr/>
        </p:nvSpPr>
        <p:spPr>
          <a:xfrm>
            <a:off x="8604504" y="38187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#E41A1C  ·  Fire Red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8275320" y="4061460"/>
            <a:ext cx="3703320" cy="47701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4" name="Shape 162"/>
          <p:cNvSpPr/>
          <p:nvPr/>
        </p:nvSpPr>
        <p:spPr>
          <a:xfrm>
            <a:off x="8275320" y="4079748"/>
            <a:ext cx="256032" cy="440436"/>
          </a:xfrm>
          <a:prstGeom prst="rect">
            <a:avLst/>
          </a:prstGeom>
          <a:solidFill>
            <a:srgbClr val="4DAF4A"/>
          </a:solidFill>
          <a:ln w="12700">
            <a:solidFill>
              <a:srgbClr val="4DAF4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5" name="Text 163"/>
          <p:cNvSpPr/>
          <p:nvPr/>
        </p:nvSpPr>
        <p:spPr>
          <a:xfrm>
            <a:off x="8604504" y="40888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3 DataViz</a:t>
            </a:r>
            <a:endParaRPr lang="en-US" sz="750" dirty="0"/>
          </a:p>
        </p:txBody>
      </p:sp>
      <p:sp>
        <p:nvSpPr>
          <p:cNvPr id="166" name="Text 164"/>
          <p:cNvSpPr/>
          <p:nvPr/>
        </p:nvSpPr>
        <p:spPr>
          <a:xfrm>
            <a:off x="8604504" y="43140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#4DAF4A  ·  Leaf Green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8275320" y="4556760"/>
            <a:ext cx="3703320" cy="47701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8" name="Shape 166"/>
          <p:cNvSpPr/>
          <p:nvPr/>
        </p:nvSpPr>
        <p:spPr>
          <a:xfrm>
            <a:off x="8275320" y="4575048"/>
            <a:ext cx="256032" cy="440436"/>
          </a:xfrm>
          <a:prstGeom prst="rect">
            <a:avLst/>
          </a:prstGeom>
          <a:solidFill>
            <a:srgbClr val="984EA3"/>
          </a:solidFill>
          <a:ln w="12700">
            <a:solidFill>
              <a:srgbClr val="984EA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9" name="Text 167"/>
          <p:cNvSpPr/>
          <p:nvPr/>
        </p:nvSpPr>
        <p:spPr>
          <a:xfrm>
            <a:off x="8604504" y="45841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4 DataViz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8604504" y="48093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#984EA3  ·  Amethyst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8275320" y="5052060"/>
            <a:ext cx="3703320" cy="47701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2" name="Shape 170"/>
          <p:cNvSpPr/>
          <p:nvPr/>
        </p:nvSpPr>
        <p:spPr>
          <a:xfrm>
            <a:off x="8275320" y="5070348"/>
            <a:ext cx="256032" cy="440436"/>
          </a:xfrm>
          <a:prstGeom prst="rect">
            <a:avLst/>
          </a:prstGeom>
          <a:solidFill>
            <a:srgbClr val="FF7F00"/>
          </a:solidFill>
          <a:ln w="12700">
            <a:solidFill>
              <a:srgbClr val="FF7F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3" name="Text 171"/>
          <p:cNvSpPr/>
          <p:nvPr/>
        </p:nvSpPr>
        <p:spPr>
          <a:xfrm>
            <a:off x="8604504" y="50794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5 DataViz</a:t>
            </a:r>
            <a:endParaRPr lang="en-US" sz="750" dirty="0"/>
          </a:p>
        </p:txBody>
      </p:sp>
      <p:sp>
        <p:nvSpPr>
          <p:cNvPr id="174" name="Text 172"/>
          <p:cNvSpPr/>
          <p:nvPr/>
        </p:nvSpPr>
        <p:spPr>
          <a:xfrm>
            <a:off x="8604504" y="53046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#FF7F00  ·  Pumpkin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8275320" y="5547360"/>
            <a:ext cx="3703320" cy="47701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6" name="Shape 174"/>
          <p:cNvSpPr/>
          <p:nvPr/>
        </p:nvSpPr>
        <p:spPr>
          <a:xfrm>
            <a:off x="8275320" y="5565648"/>
            <a:ext cx="256032" cy="440436"/>
          </a:xfrm>
          <a:prstGeom prst="rect">
            <a:avLst/>
          </a:prstGeom>
          <a:solidFill>
            <a:srgbClr val="56B4E9"/>
          </a:solidFill>
          <a:ln w="12700">
            <a:solidFill>
              <a:srgbClr val="56B4E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7" name="Text 175"/>
          <p:cNvSpPr/>
          <p:nvPr/>
        </p:nvSpPr>
        <p:spPr>
          <a:xfrm>
            <a:off x="8604504" y="55747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Colorblind-safe A</a:t>
            </a:r>
            <a:endParaRPr lang="en-US" sz="750" dirty="0"/>
          </a:p>
        </p:txBody>
      </p:sp>
      <p:sp>
        <p:nvSpPr>
          <p:cNvPr id="178" name="Text 176"/>
          <p:cNvSpPr/>
          <p:nvPr/>
        </p:nvSpPr>
        <p:spPr>
          <a:xfrm>
            <a:off x="8604504" y="57999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#56B4E9  ·  CB Sky Blue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8275320" y="6042660"/>
            <a:ext cx="3703320" cy="47701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0" name="Shape 178"/>
          <p:cNvSpPr/>
          <p:nvPr/>
        </p:nvSpPr>
        <p:spPr>
          <a:xfrm>
            <a:off x="8275320" y="6060948"/>
            <a:ext cx="256032" cy="440436"/>
          </a:xfrm>
          <a:prstGeom prst="rect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1" name="Text 179"/>
          <p:cNvSpPr/>
          <p:nvPr/>
        </p:nvSpPr>
        <p:spPr>
          <a:xfrm>
            <a:off x="8604504" y="6070092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Colorblind-safe B</a:t>
            </a:r>
            <a:endParaRPr lang="en-US" sz="750" dirty="0"/>
          </a:p>
        </p:txBody>
      </p:sp>
      <p:sp>
        <p:nvSpPr>
          <p:cNvPr id="182" name="Text 180"/>
          <p:cNvSpPr/>
          <p:nvPr/>
        </p:nvSpPr>
        <p:spPr>
          <a:xfrm>
            <a:off x="8604504" y="6295263"/>
            <a:ext cx="335584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#E69F00  ·  CB Amber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8275320" y="6574536"/>
            <a:ext cx="3703320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4" name="Text 182"/>
          <p:cNvSpPr/>
          <p:nvPr/>
        </p:nvSpPr>
        <p:spPr>
          <a:xfrm>
            <a:off x="8366760" y="661111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Maximiza Data-Ink Ratio. Elimina chartjunk. Un solo color ancla · grises soportan. Claridad absoluta.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6" name="Text 184"/>
          <p:cNvSpPr/>
          <p:nvPr/>
        </p:nvSpPr>
        <p:spPr>
          <a:xfrm>
            <a:off x="274320" y="6793992"/>
            <a:ext cx="914400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TUFTE / STEPHEN FEW  ·  PALETA OFICIAL  ·  Tufte: The Visual Display / Envisioning Information · Few: Show Me the Numbers</a:t>
            </a:r>
            <a:endParaRPr lang="en-US" sz="550" dirty="0"/>
          </a:p>
        </p:txBody>
      </p:sp>
      <p:sp>
        <p:nvSpPr>
          <p:cNvPr id="187" name="Text 185"/>
          <p:cNvSpPr/>
          <p:nvPr/>
        </p:nvSpPr>
        <p:spPr>
          <a:xfrm>
            <a:off x="0" y="6793992"/>
            <a:ext cx="119786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COLORES  ·  4 SISTEMAS  ·  1 LÁMINA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9443</Words>
  <Application>Microsoft Office PowerPoint</Application>
  <PresentationFormat>Panorámica</PresentationFormat>
  <Paragraphs>2268</Paragraphs>
  <Slides>20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Arial Black</vt:lpstr>
      <vt:lpstr>Courier New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Bloomberg — Paleta Oficial Completa</dc:title>
  <dc:subject>PptxGenJS Presentation</dc:subject>
  <dc:creator>PptxGenJS</dc:creator>
  <cp:lastModifiedBy>Elmer Chávez</cp:lastModifiedBy>
  <cp:revision>1</cp:revision>
  <dcterms:created xsi:type="dcterms:W3CDTF">2026-02-23T12:54:46Z</dcterms:created>
  <dcterms:modified xsi:type="dcterms:W3CDTF">2026-09-21T12:39:43Z</dcterms:modified>
</cp:coreProperties>
</file>